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Default Extension="png" ContentType="image/png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Default Extension="jpg" ContentType="image/jpg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</p:sldIdLst>
  <p:sldSz cx="7772400" cy="12801600"/>
  <p:notesSz cx="7772400" cy="128016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Relationship Id="rId172" Type="http://schemas.openxmlformats.org/officeDocument/2006/relationships/slide" Target="slides/slide167.xml"/><Relationship Id="rId173" Type="http://schemas.openxmlformats.org/officeDocument/2006/relationships/slide" Target="slides/slide168.xml"/><Relationship Id="rId174" Type="http://schemas.openxmlformats.org/officeDocument/2006/relationships/slide" Target="slides/slide169.xml"/><Relationship Id="rId175" Type="http://schemas.openxmlformats.org/officeDocument/2006/relationships/slide" Target="slides/slide170.xml"/><Relationship Id="rId176" Type="http://schemas.openxmlformats.org/officeDocument/2006/relationships/slide" Target="slides/slide171.xml"/><Relationship Id="rId177" Type="http://schemas.openxmlformats.org/officeDocument/2006/relationships/slide" Target="slides/slide172.xml"/><Relationship Id="rId178" Type="http://schemas.openxmlformats.org/officeDocument/2006/relationships/slide" Target="slides/slide173.xml"/><Relationship Id="rId179" Type="http://schemas.openxmlformats.org/officeDocument/2006/relationships/slide" Target="slides/slide174.xml"/><Relationship Id="rId180" Type="http://schemas.openxmlformats.org/officeDocument/2006/relationships/slide" Target="slides/slide175.xml"/><Relationship Id="rId181" Type="http://schemas.openxmlformats.org/officeDocument/2006/relationships/slide" Target="slides/slide176.xml"/><Relationship Id="rId182" Type="http://schemas.openxmlformats.org/officeDocument/2006/relationships/slide" Target="slides/slide177.xml"/><Relationship Id="rId183" Type="http://schemas.openxmlformats.org/officeDocument/2006/relationships/slide" Target="slides/slide178.xml"/><Relationship Id="rId184" Type="http://schemas.openxmlformats.org/officeDocument/2006/relationships/slide" Target="slides/slide179.xml"/><Relationship Id="rId185" Type="http://schemas.openxmlformats.org/officeDocument/2006/relationships/slide" Target="slides/slide180.xml"/><Relationship Id="rId186" Type="http://schemas.openxmlformats.org/officeDocument/2006/relationships/slide" Target="slides/slide181.xml"/><Relationship Id="rId187" Type="http://schemas.openxmlformats.org/officeDocument/2006/relationships/slide" Target="slides/slide182.xml"/><Relationship Id="rId188" Type="http://schemas.openxmlformats.org/officeDocument/2006/relationships/slide" Target="slides/slide183.xml"/><Relationship Id="rId189" Type="http://schemas.openxmlformats.org/officeDocument/2006/relationships/slide" Target="slides/slide184.xml"/><Relationship Id="rId190" Type="http://schemas.openxmlformats.org/officeDocument/2006/relationships/slide" Target="slides/slide185.xml"/><Relationship Id="rId191" Type="http://schemas.openxmlformats.org/officeDocument/2006/relationships/slide" Target="slides/slide186.xml"/><Relationship Id="rId192" Type="http://schemas.openxmlformats.org/officeDocument/2006/relationships/slide" Target="slides/slide187.xml"/><Relationship Id="rId193" Type="http://schemas.openxmlformats.org/officeDocument/2006/relationships/slide" Target="slides/slide188.xml"/><Relationship Id="rId194" Type="http://schemas.openxmlformats.org/officeDocument/2006/relationships/slide" Target="slides/slide189.xml"/><Relationship Id="rId195" Type="http://schemas.openxmlformats.org/officeDocument/2006/relationships/slide" Target="slides/slide190.xml"/><Relationship Id="rId196" Type="http://schemas.openxmlformats.org/officeDocument/2006/relationships/slide" Target="slides/slide191.xml"/><Relationship Id="rId197" Type="http://schemas.openxmlformats.org/officeDocument/2006/relationships/slide" Target="slides/slide192.xml"/><Relationship Id="rId198" Type="http://schemas.openxmlformats.org/officeDocument/2006/relationships/slide" Target="slides/slide193.xml"/><Relationship Id="rId199" Type="http://schemas.openxmlformats.org/officeDocument/2006/relationships/slide" Target="slides/slide194.xml"/><Relationship Id="rId200" Type="http://schemas.openxmlformats.org/officeDocument/2006/relationships/slide" Target="slides/slide195.xml"/><Relationship Id="rId201" Type="http://schemas.openxmlformats.org/officeDocument/2006/relationships/slide" Target="slides/slide196.xml"/><Relationship Id="rId202" Type="http://schemas.openxmlformats.org/officeDocument/2006/relationships/slide" Target="slides/slide197.xml"/><Relationship Id="rId203" Type="http://schemas.openxmlformats.org/officeDocument/2006/relationships/slide" Target="slides/slide198.xml"/><Relationship Id="rId204" Type="http://schemas.openxmlformats.org/officeDocument/2006/relationships/slide" Target="slides/slide199.xml"/><Relationship Id="rId205" Type="http://schemas.openxmlformats.org/officeDocument/2006/relationships/slide" Target="slides/slide200.xml"/><Relationship Id="rId206" Type="http://schemas.openxmlformats.org/officeDocument/2006/relationships/slide" Target="slides/slide20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968496"/>
            <a:ext cx="6606540" cy="26883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7168896"/>
            <a:ext cx="5440680" cy="320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944368"/>
            <a:ext cx="3380994" cy="8449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944368"/>
            <a:ext cx="3380994" cy="8449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973569" y="11835079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512064"/>
            <a:ext cx="6995160" cy="20482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944368"/>
            <a:ext cx="6995160" cy="8449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11905488"/>
            <a:ext cx="2487168" cy="640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11905488"/>
            <a:ext cx="1787652" cy="640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637657" y="11950395"/>
            <a:ext cx="1659890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jpg"/><Relationship Id="rId15" Type="http://schemas.openxmlformats.org/officeDocument/2006/relationships/image" Target="../media/image15.jpg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/Relationships>
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
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/Relationships>

</file>

<file path=ppt/slides/_rels/slide1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/Relationships>

</file>

<file path=ppt/slides/_rels/slide1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
</file>

<file path=ppt/slides/_rels/slide1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/Relationships>

</file>

<file path=ppt/slides/_rels/slide1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
</file>

<file path=ppt/slides/_rels/slide1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khanacademy.org/" TargetMode="External"/></Relationships>

</file>

<file path=ppt/slides/_rels/slide1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57200" y="678180"/>
          <a:ext cx="6862445" cy="870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2920"/>
              </a:tblGrid>
              <a:tr h="289559">
                <a:tc>
                  <a:txBody>
                    <a:bodyPr/>
                    <a:lstStyle/>
                    <a:p>
                      <a:pPr marL="68580">
                        <a:lnSpc>
                          <a:spcPts val="2075"/>
                        </a:lnSpc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MUHAMMAD</a:t>
                      </a:r>
                      <a:r>
                        <a:rPr dirty="0" sz="18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IMRAN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574802">
                <a:tc>
                  <a:txBody>
                    <a:bodyPr/>
                    <a:lstStyle/>
                    <a:p>
                      <a:pPr marL="68580">
                        <a:lnSpc>
                          <a:spcPts val="2075"/>
                        </a:lnSpc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(EDU301)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General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Methods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80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HANDOUTS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385572" y="2022601"/>
            <a:ext cx="6972300" cy="28194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01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“Concept of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Teaching”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2381757"/>
            <a:ext cx="6635115" cy="9232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Lecture</a:t>
            </a:r>
            <a:r>
              <a:rPr dirty="0" sz="12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Objectives: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6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Perceive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 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social,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political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ethical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activity.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Describe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perceptions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culturally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socially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embedded.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 metaphors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200">
                <a:latin typeface="Arial MT"/>
                <a:cs typeface="Arial MT"/>
              </a:rPr>
              <a:t>Short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interviews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three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were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taken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perspectives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endParaRPr sz="12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teachers.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65"/>
              </a:spcBef>
            </a:pP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Interview</a:t>
            </a:r>
            <a:r>
              <a:rPr dirty="0" sz="1200" spc="-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1:</a:t>
            </a:r>
            <a:endParaRPr sz="1200">
              <a:latin typeface="Arial"/>
              <a:cs typeface="Arial"/>
            </a:endParaRPr>
          </a:p>
          <a:p>
            <a:pPr algn="just" marL="18415" marR="6350" indent="36195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Teachers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the future makers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young generation. Teaching is a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respectable profession.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Regarding this, teachers have some expectations that he will </a:t>
            </a:r>
            <a:r>
              <a:rPr dirty="0" sz="1200">
                <a:latin typeface="Arial MT"/>
                <a:cs typeface="Arial MT"/>
              </a:rPr>
              <a:t>wear </a:t>
            </a:r>
            <a:r>
              <a:rPr dirty="0" sz="1200" spc="-5">
                <a:latin typeface="Arial MT"/>
                <a:cs typeface="Arial MT"/>
              </a:rPr>
              <a:t>a hat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many roles.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roles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good communicator, evaluator, decision maker, class manager and member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team 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group. Teachers must play all these roles with complete responsibility. My philosophy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choosing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 as a profession is that </a:t>
            </a:r>
            <a:r>
              <a:rPr dirty="0" sz="1200">
                <a:latin typeface="Arial MT"/>
                <a:cs typeface="Arial MT"/>
              </a:rPr>
              <a:t>I want </a:t>
            </a:r>
            <a:r>
              <a:rPr dirty="0" sz="1200" spc="-5">
                <a:latin typeface="Arial MT"/>
                <a:cs typeface="Arial MT"/>
              </a:rPr>
              <a:t>to motivate </a:t>
            </a:r>
            <a:r>
              <a:rPr dirty="0" sz="1200">
                <a:latin typeface="Arial MT"/>
                <a:cs typeface="Arial MT"/>
              </a:rPr>
              <a:t>my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learn in a </a:t>
            </a:r>
            <a:r>
              <a:rPr dirty="0" sz="1200" spc="-10">
                <a:latin typeface="Arial MT"/>
                <a:cs typeface="Arial MT"/>
              </a:rPr>
              <a:t>way </a:t>
            </a:r>
            <a:r>
              <a:rPr dirty="0" sz="1200" spc="-5">
                <a:latin typeface="Arial MT"/>
                <a:cs typeface="Arial MT"/>
              </a:rPr>
              <a:t>that has positive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influence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what they </a:t>
            </a:r>
            <a:r>
              <a:rPr dirty="0" sz="1200">
                <a:latin typeface="Arial MT"/>
                <a:cs typeface="Arial MT"/>
              </a:rPr>
              <a:t>think </a:t>
            </a:r>
            <a:r>
              <a:rPr dirty="0" sz="1200" spc="-5">
                <a:latin typeface="Arial MT"/>
                <a:cs typeface="Arial MT"/>
              </a:rPr>
              <a:t>and act.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see teacher as a gardener and teaching strategies as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fertilizer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grow the students </a:t>
            </a:r>
            <a:r>
              <a:rPr dirty="0" sz="1200">
                <a:latin typeface="Arial MT"/>
                <a:cs typeface="Arial MT"/>
              </a:rPr>
              <a:t>just </a:t>
            </a:r>
            <a:r>
              <a:rPr dirty="0" sz="1200" spc="-5">
                <a:latin typeface="Arial MT"/>
                <a:cs typeface="Arial MT"/>
              </a:rPr>
              <a:t>like a seed. </a:t>
            </a:r>
            <a:r>
              <a:rPr dirty="0" sz="1200">
                <a:latin typeface="Arial MT"/>
                <a:cs typeface="Arial MT"/>
              </a:rPr>
              <a:t>At the </a:t>
            </a:r>
            <a:r>
              <a:rPr dirty="0" sz="1200" spc="-5">
                <a:latin typeface="Arial MT"/>
                <a:cs typeface="Arial MT"/>
              </a:rPr>
              <a:t>end, </a:t>
            </a:r>
            <a:r>
              <a:rPr dirty="0" sz="1200">
                <a:latin typeface="Arial MT"/>
                <a:cs typeface="Arial MT"/>
              </a:rPr>
              <a:t>I must </a:t>
            </a:r>
            <a:r>
              <a:rPr dirty="0" sz="1200" spc="-10">
                <a:latin typeface="Arial MT"/>
                <a:cs typeface="Arial MT"/>
              </a:rPr>
              <a:t>say </a:t>
            </a:r>
            <a:r>
              <a:rPr dirty="0" sz="1200" spc="-5">
                <a:latin typeface="Arial MT"/>
                <a:cs typeface="Arial MT"/>
              </a:rPr>
              <a:t>that learning process in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never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stop.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>
                <a:latin typeface="Arial MT"/>
                <a:cs typeface="Arial MT"/>
              </a:rPr>
              <a:t> from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445"/>
              </a:spcBef>
            </a:pP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Interview</a:t>
            </a:r>
            <a:r>
              <a:rPr dirty="0" sz="1200" spc="-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2:</a:t>
            </a:r>
            <a:endParaRPr sz="1200">
              <a:latin typeface="Arial"/>
              <a:cs typeface="Arial"/>
            </a:endParaRPr>
          </a:p>
          <a:p>
            <a:pPr algn="just" marL="18415" marR="5080" indent="36195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Teaching is a noble profession. Teacher is the source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impart knowledge to the students.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teaching must be to provide the students with conceptual knowledge rather </a:t>
            </a:r>
            <a:r>
              <a:rPr dirty="0" sz="1200" spc="10">
                <a:latin typeface="Arial MT"/>
                <a:cs typeface="Arial MT"/>
              </a:rPr>
              <a:t>than </a:t>
            </a:r>
            <a:r>
              <a:rPr dirty="0" sz="1200" spc="-5">
                <a:latin typeface="Arial MT"/>
                <a:cs typeface="Arial MT"/>
              </a:rPr>
              <a:t>focusing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to </a:t>
            </a:r>
            <a:r>
              <a:rPr dirty="0" sz="1200">
                <a:latin typeface="Arial MT"/>
                <a:cs typeface="Arial MT"/>
              </a:rPr>
              <a:t>rote </a:t>
            </a:r>
            <a:r>
              <a:rPr dirty="0" sz="1200" spc="-5">
                <a:latin typeface="Arial MT"/>
                <a:cs typeface="Arial MT"/>
              </a:rPr>
              <a:t>learning </a:t>
            </a:r>
            <a:r>
              <a:rPr dirty="0" sz="1200" spc="-1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memorization,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should not face problems in their practical lives.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 are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agents who </a:t>
            </a:r>
            <a:r>
              <a:rPr dirty="0" sz="120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bring change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society. Teacher is a path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a road </a:t>
            </a:r>
            <a:r>
              <a:rPr dirty="0" sz="1200">
                <a:latin typeface="Arial MT"/>
                <a:cs typeface="Arial MT"/>
              </a:rPr>
              <a:t>map </a:t>
            </a:r>
            <a:r>
              <a:rPr dirty="0" sz="1200" spc="-5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travel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get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5">
                <a:latin typeface="Arial MT"/>
                <a:cs typeface="Arial MT"/>
              </a:rPr>
              <a:t> destination</a:t>
            </a:r>
            <a:r>
              <a:rPr dirty="0" sz="1200">
                <a:latin typeface="Arial MT"/>
                <a:cs typeface="Arial MT"/>
              </a:rPr>
              <a:t> 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goal.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470"/>
              </a:spcBef>
            </a:pP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Interview</a:t>
            </a:r>
            <a:r>
              <a:rPr dirty="0" sz="1200" spc="-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3:</a:t>
            </a:r>
            <a:endParaRPr sz="1200">
              <a:latin typeface="Arial"/>
              <a:cs typeface="Arial"/>
            </a:endParaRPr>
          </a:p>
          <a:p>
            <a:pPr algn="just" marL="18415" marR="10160" indent="36195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Teaching is a self-oriented profession which serves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guide nation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access successful future.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adopted </a:t>
            </a:r>
            <a:r>
              <a:rPr dirty="0" sz="1200">
                <a:latin typeface="Arial MT"/>
                <a:cs typeface="Arial MT"/>
              </a:rPr>
              <a:t>my </a:t>
            </a:r>
            <a:r>
              <a:rPr dirty="0" sz="1200" spc="-5">
                <a:latin typeface="Arial MT"/>
                <a:cs typeface="Arial MT"/>
              </a:rPr>
              <a:t>career as a teacher because a teacher helps the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become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-5">
                <a:latin typeface="Arial MT"/>
                <a:cs typeface="Arial MT"/>
              </a:rPr>
              <a:t>they </a:t>
            </a:r>
            <a:r>
              <a:rPr dirty="0" sz="1200">
                <a:latin typeface="Arial MT"/>
                <a:cs typeface="Arial MT"/>
              </a:rPr>
              <a:t>want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become.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expected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a teacher that he should </a:t>
            </a:r>
            <a:r>
              <a:rPr dirty="0" sz="1200">
                <a:latin typeface="Arial MT"/>
                <a:cs typeface="Arial MT"/>
              </a:rPr>
              <a:t>act </a:t>
            </a:r>
            <a:r>
              <a:rPr dirty="0" sz="1200" spc="-5">
                <a:latin typeface="Arial MT"/>
                <a:cs typeface="Arial MT"/>
              </a:rPr>
              <a:t>as a professional educator who </a:t>
            </a:r>
            <a:r>
              <a:rPr dirty="0" sz="1200">
                <a:latin typeface="Arial MT"/>
                <a:cs typeface="Arial MT"/>
              </a:rPr>
              <a:t> considers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marL="62865">
              <a:lnSpc>
                <a:spcPct val="100000"/>
              </a:lnSpc>
              <a:spcBef>
                <a:spcPts val="475"/>
              </a:spcBef>
            </a:pP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Assumptions</a:t>
            </a:r>
            <a:r>
              <a:rPr dirty="0" sz="12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about</a:t>
            </a:r>
            <a:r>
              <a:rPr dirty="0" sz="12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teaching: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50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Teaching 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noble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700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activity</a:t>
            </a:r>
            <a:r>
              <a:rPr dirty="0" sz="1200" spc="-5">
                <a:latin typeface="Arial MT"/>
                <a:cs typeface="Arial MT"/>
              </a:rPr>
              <a:t> to impart knowledge.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certain</a:t>
            </a:r>
            <a:r>
              <a:rPr dirty="0" sz="1200" spc="-5">
                <a:latin typeface="Arial MT"/>
                <a:cs typeface="Arial MT"/>
              </a:rPr>
              <a:t> desirable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8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activity. It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discipline,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teach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discipline.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35"/>
              </a:spcBef>
            </a:pP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Different</a:t>
            </a:r>
            <a:r>
              <a:rPr dirty="0" sz="12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perspectives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 of education</a:t>
            </a:r>
            <a:r>
              <a:rPr dirty="0" sz="12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in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history:</a:t>
            </a:r>
            <a:endParaRPr sz="120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755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Prophets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saints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teach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settings.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200" b="1">
                <a:latin typeface="Arial"/>
                <a:cs typeface="Arial"/>
              </a:rPr>
              <a:t>Informal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education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is education 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proper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schools. 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Buddha,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1106" y="11922962"/>
            <a:ext cx="14732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880" y="575563"/>
            <a:ext cx="6899909" cy="11156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014" marR="1472565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Pythagoras,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Jesus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Christ,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Prophet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Muhammad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(S.A.W)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Karl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Marx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did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organizations.</a:t>
            </a:r>
            <a:endParaRPr sz="1200">
              <a:latin typeface="Arial MT"/>
              <a:cs typeface="Arial MT"/>
            </a:endParaRPr>
          </a:p>
          <a:p>
            <a:pPr marL="114300">
              <a:lnSpc>
                <a:spcPct val="100000"/>
              </a:lnSpc>
              <a:spcBef>
                <a:spcPts val="660"/>
              </a:spcBef>
            </a:pPr>
            <a:r>
              <a:rPr dirty="0" sz="1200" spc="-5">
                <a:latin typeface="Arial MT"/>
                <a:cs typeface="Arial MT"/>
              </a:rPr>
              <a:t>Informal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settings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 means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Arial MT"/>
              <a:cs typeface="Arial MT"/>
            </a:endParaRPr>
          </a:p>
          <a:p>
            <a:pPr algn="just" marL="120014" marR="173355" indent="-6350">
              <a:lnSpc>
                <a:spcPct val="144200"/>
              </a:lnSpc>
            </a:pP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Apprentice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ship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model: </a:t>
            </a:r>
            <a:r>
              <a:rPr dirty="0" sz="1200" spc="-5">
                <a:latin typeface="Arial MT"/>
                <a:cs typeface="Arial MT"/>
              </a:rPr>
              <a:t>is also a way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learning.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person who </a:t>
            </a:r>
            <a:r>
              <a:rPr dirty="0" sz="1200">
                <a:latin typeface="Arial MT"/>
                <a:cs typeface="Arial MT"/>
              </a:rPr>
              <a:t>wants to </a:t>
            </a:r>
            <a:r>
              <a:rPr dirty="0" sz="1200" spc="-5">
                <a:latin typeface="Arial MT"/>
                <a:cs typeface="Arial MT"/>
              </a:rPr>
              <a:t>learn a skill spends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 period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time with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skillful person. In this way, the person who doesn’t have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skill, learn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those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endParaRPr sz="1200">
              <a:latin typeface="Arial MT"/>
              <a:cs typeface="Arial MT"/>
            </a:endParaRPr>
          </a:p>
          <a:p>
            <a:pPr marL="127635" marR="171450" indent="-6350">
              <a:lnSpc>
                <a:spcPct val="140800"/>
              </a:lnSpc>
              <a:spcBef>
                <a:spcPts val="75"/>
              </a:spcBef>
            </a:pP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based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Vygotsky’s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work,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which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involves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peers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working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closely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together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with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teacher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 joint problem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solving.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e.g.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workshops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skill-learning</a:t>
            </a:r>
            <a:r>
              <a:rPr dirty="0" sz="1200">
                <a:latin typeface="Arial MT"/>
                <a:cs typeface="Arial MT"/>
              </a:rPr>
              <a:t> centers.</a:t>
            </a:r>
            <a:endParaRPr sz="1200">
              <a:latin typeface="Arial MT"/>
              <a:cs typeface="Arial MT"/>
            </a:endParaRPr>
          </a:p>
          <a:p>
            <a:pPr marL="516890">
              <a:lnSpc>
                <a:spcPct val="100000"/>
              </a:lnSpc>
              <a:spcBef>
                <a:spcPts val="790"/>
              </a:spcBef>
            </a:pP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Assumptions:</a:t>
            </a:r>
            <a:endParaRPr sz="1200">
              <a:latin typeface="Arial"/>
              <a:cs typeface="Arial"/>
            </a:endParaRPr>
          </a:p>
          <a:p>
            <a:pPr algn="just" marL="579120" marR="170180" indent="-228600">
              <a:lnSpc>
                <a:spcPct val="144200"/>
              </a:lnSpc>
              <a:spcBef>
                <a:spcPts val="265"/>
              </a:spcBef>
              <a:buChar char="•"/>
              <a:tabLst>
                <a:tab pos="579755" algn="l"/>
              </a:tabLst>
            </a:pP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understand how things actually developed, and who the </a:t>
            </a:r>
            <a:r>
              <a:rPr dirty="0" sz="1200">
                <a:latin typeface="Arial MT"/>
                <a:cs typeface="Arial MT"/>
              </a:rPr>
              <a:t>prominent </a:t>
            </a:r>
            <a:r>
              <a:rPr dirty="0" sz="1200" spc="-5">
                <a:latin typeface="Arial MT"/>
                <a:cs typeface="Arial MT"/>
              </a:rPr>
              <a:t>people </a:t>
            </a:r>
            <a:r>
              <a:rPr dirty="0" sz="1200">
                <a:latin typeface="Arial MT"/>
                <a:cs typeface="Arial MT"/>
              </a:rPr>
              <a:t>are, </a:t>
            </a:r>
            <a:r>
              <a:rPr dirty="0" sz="1200" spc="-5">
                <a:latin typeface="Arial MT"/>
                <a:cs typeface="Arial MT"/>
              </a:rPr>
              <a:t>who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worked 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area?</a:t>
            </a:r>
            <a:endParaRPr sz="1200">
              <a:latin typeface="Arial MT"/>
              <a:cs typeface="Arial MT"/>
            </a:endParaRPr>
          </a:p>
          <a:p>
            <a:pPr algn="just" marL="579120" marR="172720" indent="-228600">
              <a:lnSpc>
                <a:spcPct val="144200"/>
              </a:lnSpc>
              <a:spcBef>
                <a:spcPts val="215"/>
              </a:spcBef>
              <a:buChar char="•"/>
              <a:tabLst>
                <a:tab pos="579755" algn="l"/>
              </a:tabLst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was 16</a:t>
            </a:r>
            <a:r>
              <a:rPr dirty="0" baseline="27777" sz="1200" spc="-7">
                <a:latin typeface="Arial MT"/>
                <a:cs typeface="Arial MT"/>
              </a:rPr>
              <a:t>th</a:t>
            </a:r>
            <a:r>
              <a:rPr dirty="0" baseline="27777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century, actually which perceptions about education, teaching and learning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developed.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past,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except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Socrates,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Plato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Aristotle,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thought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 a means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status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quo.</a:t>
            </a:r>
            <a:endParaRPr sz="1200">
              <a:latin typeface="Arial MT"/>
              <a:cs typeface="Arial MT"/>
            </a:endParaRPr>
          </a:p>
          <a:p>
            <a:pPr algn="just" marL="579120" indent="-229235">
              <a:lnSpc>
                <a:spcPct val="100000"/>
              </a:lnSpc>
              <a:spcBef>
                <a:spcPts val="880"/>
              </a:spcBef>
              <a:buChar char="•"/>
              <a:tabLst>
                <a:tab pos="579755" algn="l"/>
              </a:tabLst>
            </a:pPr>
            <a:r>
              <a:rPr dirty="0" sz="1200" spc="-5">
                <a:latin typeface="Arial MT"/>
                <a:cs typeface="Arial MT"/>
              </a:rPr>
              <a:t>Extra-curricular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always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considered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 extra.</a:t>
            </a:r>
            <a:endParaRPr sz="1200">
              <a:latin typeface="Arial MT"/>
              <a:cs typeface="Arial MT"/>
            </a:endParaRPr>
          </a:p>
          <a:p>
            <a:pPr marL="385445">
              <a:lnSpc>
                <a:spcPct val="100000"/>
              </a:lnSpc>
              <a:spcBef>
                <a:spcPts val="455"/>
              </a:spcBef>
            </a:pP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What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seems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philosophy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 of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education of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 Prophets?</a:t>
            </a:r>
            <a:endParaRPr sz="1200">
              <a:latin typeface="Arial"/>
              <a:cs typeface="Arial"/>
            </a:endParaRPr>
          </a:p>
          <a:p>
            <a:pPr marL="579120" indent="-229235">
              <a:lnSpc>
                <a:spcPct val="100000"/>
              </a:lnSpc>
              <a:spcBef>
                <a:spcPts val="850"/>
              </a:spcBef>
              <a:buChar char="•"/>
              <a:tabLst>
                <a:tab pos="579120" algn="l"/>
                <a:tab pos="579755" algn="l"/>
              </a:tabLst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equip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 basic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literacy</a:t>
            </a:r>
            <a:endParaRPr sz="1200">
              <a:latin typeface="Arial MT"/>
              <a:cs typeface="Arial MT"/>
            </a:endParaRPr>
          </a:p>
          <a:p>
            <a:pPr marL="57912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579120" algn="l"/>
                <a:tab pos="579755" algn="l"/>
              </a:tabLst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give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endParaRPr sz="1200">
              <a:latin typeface="Arial MT"/>
              <a:cs typeface="Arial MT"/>
            </a:endParaRPr>
          </a:p>
          <a:p>
            <a:pPr marL="579120" indent="-229235">
              <a:lnSpc>
                <a:spcPct val="100000"/>
              </a:lnSpc>
              <a:spcBef>
                <a:spcPts val="675"/>
              </a:spcBef>
              <a:buChar char="•"/>
              <a:tabLst>
                <a:tab pos="579120" algn="l"/>
                <a:tab pos="579755" algn="l"/>
              </a:tabLst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 skills</a:t>
            </a:r>
            <a:endParaRPr sz="1200">
              <a:latin typeface="Arial MT"/>
              <a:cs typeface="Arial MT"/>
            </a:endParaRPr>
          </a:p>
          <a:p>
            <a:pPr marL="57912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579120" algn="l"/>
                <a:tab pos="579755" algn="l"/>
              </a:tabLst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bring societal </a:t>
            </a:r>
            <a:r>
              <a:rPr dirty="0" sz="1200" spc="-10">
                <a:latin typeface="Arial MT"/>
                <a:cs typeface="Arial MT"/>
              </a:rPr>
              <a:t>change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1300">
              <a:latin typeface="Arial MT"/>
              <a:cs typeface="Arial MT"/>
            </a:endParaRPr>
          </a:p>
          <a:p>
            <a:pPr marL="112395" marR="269240">
              <a:lnSpc>
                <a:spcPct val="143400"/>
              </a:lnSpc>
            </a:pP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bringing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societal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change, then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probably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not</a:t>
            </a:r>
            <a:r>
              <a:rPr dirty="0" sz="1200" spc="-5">
                <a:latin typeface="Arial MT"/>
                <a:cs typeface="Arial MT"/>
              </a:rPr>
              <a:t> fulfilling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spirit.</a:t>
            </a:r>
            <a:r>
              <a:rPr dirty="0" sz="1200">
                <a:latin typeface="Arial MT"/>
                <a:cs typeface="Arial MT"/>
              </a:rPr>
              <a:t> If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believe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bringing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societal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 we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really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reflect 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transform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 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 MT"/>
              <a:cs typeface="Arial MT"/>
            </a:endParaRPr>
          </a:p>
          <a:p>
            <a:pPr marL="164465">
              <a:lnSpc>
                <a:spcPct val="100000"/>
              </a:lnSpc>
            </a:pP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Discussion:</a:t>
            </a:r>
            <a:endParaRPr sz="1200">
              <a:latin typeface="Arial"/>
              <a:cs typeface="Arial"/>
            </a:endParaRPr>
          </a:p>
          <a:p>
            <a:pPr marL="579120" indent="-229235">
              <a:lnSpc>
                <a:spcPct val="100000"/>
              </a:lnSpc>
              <a:spcBef>
                <a:spcPts val="865"/>
              </a:spcBef>
              <a:buChar char="•"/>
              <a:tabLst>
                <a:tab pos="579120" algn="l"/>
                <a:tab pos="579755" algn="l"/>
              </a:tabLst>
            </a:pP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takes/define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teaching?</a:t>
            </a:r>
            <a:endParaRPr sz="1200">
              <a:latin typeface="Arial MT"/>
              <a:cs typeface="Arial MT"/>
            </a:endParaRPr>
          </a:p>
          <a:p>
            <a:pPr marL="57912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579120" algn="l"/>
                <a:tab pos="579755" algn="l"/>
              </a:tabLst>
            </a:pP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 have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taken/perceive teaching?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Arial MT"/>
              <a:cs typeface="Arial MT"/>
            </a:endParaRPr>
          </a:p>
          <a:p>
            <a:pPr marL="121920" marR="1690370">
              <a:lnSpc>
                <a:spcPct val="142500"/>
              </a:lnSpc>
            </a:pPr>
            <a:r>
              <a:rPr dirty="0" sz="1200" b="1">
                <a:latin typeface="Arial"/>
                <a:cs typeface="Arial"/>
              </a:rPr>
              <a:t>In opinion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Educationists</a:t>
            </a:r>
            <a:r>
              <a:rPr dirty="0" sz="1200" b="1">
                <a:latin typeface="Arial"/>
                <a:cs typeface="Arial"/>
              </a:rPr>
              <a:t> 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other </a:t>
            </a:r>
            <a:r>
              <a:rPr dirty="0" sz="1200" spc="-5" b="1">
                <a:latin typeface="Arial"/>
                <a:cs typeface="Arial"/>
              </a:rPr>
              <a:t>people: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(about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role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teacher)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Educationist:</a:t>
            </a:r>
            <a:r>
              <a:rPr dirty="0" sz="12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  <a:p>
            <a:pPr algn="just" marL="120014" marR="175895" indent="36195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There was a focus on functions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process </a:t>
            </a:r>
            <a:r>
              <a:rPr dirty="0" sz="1200">
                <a:latin typeface="Arial MT"/>
                <a:cs typeface="Arial MT"/>
              </a:rPr>
              <a:t>of instructions </a:t>
            </a:r>
            <a:r>
              <a:rPr dirty="0" sz="1200" spc="-5">
                <a:latin typeface="Arial MT"/>
                <a:cs typeface="Arial MT"/>
              </a:rPr>
              <a:t>and behavior, but now in modern times,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teacher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expectations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attached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completely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different.</a:t>
            </a:r>
            <a:endParaRPr sz="1200">
              <a:latin typeface="Arial MT"/>
              <a:cs typeface="Arial MT"/>
            </a:endParaRPr>
          </a:p>
          <a:p>
            <a:pPr algn="just" marL="120014" marR="168910" indent="36195">
              <a:lnSpc>
                <a:spcPts val="2080"/>
              </a:lnSpc>
              <a:spcBef>
                <a:spcPts val="20"/>
              </a:spcBef>
            </a:pPr>
            <a:r>
              <a:rPr dirty="0" sz="1200" spc="-5">
                <a:latin typeface="Arial MT"/>
                <a:cs typeface="Arial MT"/>
              </a:rPr>
              <a:t>The fast and foremost is consideration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teacher being an agent </a:t>
            </a:r>
            <a:r>
              <a:rPr dirty="0" sz="1200">
                <a:latin typeface="Arial MT"/>
                <a:cs typeface="Arial MT"/>
              </a:rPr>
              <a:t>of change.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one who could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bring change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society, one who would have </a:t>
            </a:r>
            <a:r>
              <a:rPr dirty="0" sz="1200" spc="-10">
                <a:latin typeface="Arial MT"/>
                <a:cs typeface="Arial MT"/>
              </a:rPr>
              <a:t>some </a:t>
            </a:r>
            <a:r>
              <a:rPr dirty="0" sz="1200" spc="-5">
                <a:latin typeface="Arial MT"/>
                <a:cs typeface="Arial MT"/>
              </a:rPr>
              <a:t>kind of outer box thinking. </a:t>
            </a:r>
            <a:r>
              <a:rPr dirty="0" sz="1200" spc="-10">
                <a:latin typeface="Arial MT"/>
                <a:cs typeface="Arial MT"/>
              </a:rPr>
              <a:t>The role </a:t>
            </a:r>
            <a:r>
              <a:rPr dirty="0" sz="1200" spc="-5">
                <a:latin typeface="Arial MT"/>
                <a:cs typeface="Arial MT"/>
              </a:rPr>
              <a:t>also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demands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collaborator.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one-way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empty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pitchers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were filled up but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totally a </a:t>
            </a:r>
            <a:r>
              <a:rPr dirty="0" sz="1200">
                <a:latin typeface="Arial MT"/>
                <a:cs typeface="Arial MT"/>
              </a:rPr>
              <a:t>two-way </a:t>
            </a:r>
            <a:r>
              <a:rPr dirty="0" sz="1200" spc="-5">
                <a:latin typeface="Arial MT"/>
                <a:cs typeface="Arial MT"/>
              </a:rPr>
              <a:t>process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teaching and learning. And finally, the role also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demands not only of a </a:t>
            </a:r>
            <a:r>
              <a:rPr dirty="0" sz="1200">
                <a:latin typeface="Arial MT"/>
                <a:cs typeface="Arial MT"/>
              </a:rPr>
              <a:t>facilitator </a:t>
            </a:r>
            <a:r>
              <a:rPr dirty="0" sz="1200" spc="-5">
                <a:latin typeface="Arial MT"/>
                <a:cs typeface="Arial MT"/>
              </a:rPr>
              <a:t>but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person who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trigger off </a:t>
            </a:r>
            <a:r>
              <a:rPr dirty="0" sz="1200">
                <a:latin typeface="Arial MT"/>
                <a:cs typeface="Arial MT"/>
              </a:rPr>
              <a:t>higher </a:t>
            </a:r>
            <a:r>
              <a:rPr dirty="0" sz="1200" spc="-5">
                <a:latin typeface="Arial MT"/>
                <a:cs typeface="Arial MT"/>
              </a:rPr>
              <a:t>order critical thinking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  <a:spcBef>
                <a:spcPts val="1010"/>
              </a:spcBef>
            </a:pP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Educationist</a:t>
            </a:r>
            <a:r>
              <a:rPr dirty="0" sz="1200" spc="-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2: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1106" y="11922962"/>
            <a:ext cx="14732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1576" y="575563"/>
            <a:ext cx="6627495" cy="2136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6350" indent="36195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The role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teacher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important in building the character of the students and in enhancing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 natural skills.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10">
                <a:latin typeface="Arial MT"/>
                <a:cs typeface="Arial MT"/>
              </a:rPr>
              <a:t>old </a:t>
            </a:r>
            <a:r>
              <a:rPr dirty="0" sz="1200" spc="-5">
                <a:latin typeface="Arial MT"/>
                <a:cs typeface="Arial MT"/>
              </a:rPr>
              <a:t>times, the role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teacher </a:t>
            </a:r>
            <a:r>
              <a:rPr dirty="0" sz="1200" spc="-10">
                <a:latin typeface="Arial MT"/>
                <a:cs typeface="Arial MT"/>
              </a:rPr>
              <a:t>was </a:t>
            </a:r>
            <a:r>
              <a:rPr dirty="0" sz="1200">
                <a:latin typeface="Arial MT"/>
                <a:cs typeface="Arial MT"/>
              </a:rPr>
              <a:t>just to </a:t>
            </a:r>
            <a:r>
              <a:rPr dirty="0" sz="1200" spc="-5">
                <a:latin typeface="Arial MT"/>
                <a:cs typeface="Arial MT"/>
              </a:rPr>
              <a:t>come, deliver a lecture, give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tests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quizzes,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assignments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check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them,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grades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that’s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it.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modern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times,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agent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transformation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skilled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good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are also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responsible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citizens.</a:t>
            </a:r>
            <a:endParaRPr sz="1200">
              <a:latin typeface="Arial MT"/>
              <a:cs typeface="Arial MT"/>
            </a:endParaRPr>
          </a:p>
          <a:p>
            <a:pPr algn="just" marL="12700" marR="5080" indent="36195">
              <a:lnSpc>
                <a:spcPct val="1442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The role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teacher is changed from a lecturer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agent </a:t>
            </a:r>
            <a:r>
              <a:rPr dirty="0" sz="1200">
                <a:latin typeface="Arial MT"/>
                <a:cs typeface="Arial MT"/>
              </a:rPr>
              <a:t>of transformation. </a:t>
            </a:r>
            <a:r>
              <a:rPr dirty="0" sz="1200" spc="-5">
                <a:latin typeface="Arial MT"/>
                <a:cs typeface="Arial MT"/>
              </a:rPr>
              <a:t>Teachers should </a:t>
            </a:r>
            <a:r>
              <a:rPr dirty="0" sz="1200">
                <a:latin typeface="Arial MT"/>
                <a:cs typeface="Arial MT"/>
              </a:rPr>
              <a:t> interact </a:t>
            </a:r>
            <a:r>
              <a:rPr dirty="0" sz="1200" spc="-5">
                <a:latin typeface="Arial MT"/>
                <a:cs typeface="Arial MT"/>
              </a:rPr>
              <a:t>with students </a:t>
            </a:r>
            <a:r>
              <a:rPr dirty="0" sz="1200">
                <a:latin typeface="Arial MT"/>
                <a:cs typeface="Arial MT"/>
              </a:rPr>
              <a:t>more </a:t>
            </a:r>
            <a:r>
              <a:rPr dirty="0" sz="1200" spc="-10">
                <a:latin typeface="Arial MT"/>
                <a:cs typeface="Arial MT"/>
              </a:rPr>
              <a:t>than </a:t>
            </a:r>
            <a:r>
              <a:rPr dirty="0" sz="1200" spc="-5">
                <a:latin typeface="Arial MT"/>
                <a:cs typeface="Arial MT"/>
              </a:rPr>
              <a:t>they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in previous times. Now method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teaching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called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interactive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3108565"/>
            <a:ext cx="6633845" cy="5899785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1400" spc="-5" b="1">
                <a:solidFill>
                  <a:srgbClr val="FF0000"/>
                </a:solidFill>
                <a:latin typeface="Arial"/>
                <a:cs typeface="Arial"/>
              </a:rPr>
              <a:t>Teaching</a:t>
            </a:r>
            <a:r>
              <a:rPr dirty="0" sz="14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0000"/>
                </a:solidFill>
                <a:latin typeface="Arial"/>
                <a:cs typeface="Arial"/>
              </a:rPr>
              <a:t>as a</a:t>
            </a:r>
            <a:r>
              <a:rPr dirty="0" sz="14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0000"/>
                </a:solidFill>
                <a:latin typeface="Arial"/>
                <a:cs typeface="Arial"/>
              </a:rPr>
              <a:t>social, political</a:t>
            </a:r>
            <a:r>
              <a:rPr dirty="0" sz="1400" spc="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dirty="0" sz="14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0000"/>
                </a:solidFill>
                <a:latin typeface="Arial"/>
                <a:cs typeface="Arial"/>
              </a:rPr>
              <a:t>ethical activity: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Clr>
                <a:srgbClr val="000000"/>
              </a:buClr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dirty="0" sz="12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social</a:t>
            </a:r>
            <a:r>
              <a:rPr dirty="0" sz="12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activity:</a:t>
            </a:r>
            <a:endParaRPr sz="1200">
              <a:latin typeface="Arial"/>
              <a:cs typeface="Arial"/>
            </a:endParaRPr>
          </a:p>
          <a:p>
            <a:pPr algn="just" marL="934719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MT"/>
                <a:cs typeface="Arial MT"/>
              </a:rPr>
              <a:t>Man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animal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lives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people,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socializes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endParaRPr sz="1200">
              <a:latin typeface="Arial MT"/>
              <a:cs typeface="Arial MT"/>
            </a:endParaRPr>
          </a:p>
          <a:p>
            <a:pPr algn="just" marL="477520" marR="508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people.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necessary </a:t>
            </a:r>
            <a:r>
              <a:rPr dirty="0" sz="1200">
                <a:latin typeface="Arial MT"/>
                <a:cs typeface="Arial MT"/>
              </a:rPr>
              <a:t>for its </a:t>
            </a:r>
            <a:r>
              <a:rPr dirty="0" sz="1200" spc="-5">
                <a:latin typeface="Arial MT"/>
                <a:cs typeface="Arial MT"/>
              </a:rPr>
              <a:t>existence and emotional strength </a:t>
            </a:r>
            <a:r>
              <a:rPr dirty="0" sz="1200">
                <a:latin typeface="Arial MT"/>
                <a:cs typeface="Arial MT"/>
              </a:rPr>
              <a:t>to stay </a:t>
            </a:r>
            <a:r>
              <a:rPr dirty="0" sz="1200" spc="-5">
                <a:latin typeface="Arial MT"/>
                <a:cs typeface="Arial MT"/>
              </a:rPr>
              <a:t>with other </a:t>
            </a:r>
            <a:r>
              <a:rPr dirty="0" sz="1200" spc="-10">
                <a:latin typeface="Arial MT"/>
                <a:cs typeface="Arial MT"/>
              </a:rPr>
              <a:t>human </a:t>
            </a:r>
            <a:r>
              <a:rPr dirty="0" sz="1200" spc="-5">
                <a:latin typeface="Arial MT"/>
                <a:cs typeface="Arial MT"/>
              </a:rPr>
              <a:t> beings. When we say that teaching is a social </a:t>
            </a:r>
            <a:r>
              <a:rPr dirty="0" sz="1200">
                <a:latin typeface="Arial MT"/>
                <a:cs typeface="Arial MT"/>
              </a:rPr>
              <a:t>activity, it </a:t>
            </a:r>
            <a:r>
              <a:rPr dirty="0" sz="1200" spc="-5">
                <a:latin typeface="Arial MT"/>
                <a:cs typeface="Arial MT"/>
              </a:rPr>
              <a:t>means that teaching </a:t>
            </a:r>
            <a:r>
              <a:rPr dirty="0" sz="1200" spc="5">
                <a:latin typeface="Arial MT"/>
                <a:cs typeface="Arial MT"/>
              </a:rPr>
              <a:t>can’t </a:t>
            </a:r>
            <a:r>
              <a:rPr dirty="0" sz="1200" spc="-5">
                <a:latin typeface="Arial MT"/>
                <a:cs typeface="Arial MT"/>
              </a:rPr>
              <a:t>be done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isolation.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needs people with </a:t>
            </a:r>
            <a:r>
              <a:rPr dirty="0" sz="1200" spc="-10">
                <a:latin typeface="Arial MT"/>
                <a:cs typeface="Arial MT"/>
              </a:rPr>
              <a:t>whom </a:t>
            </a:r>
            <a:r>
              <a:rPr dirty="0" sz="1200" spc="-5">
                <a:latin typeface="Arial MT"/>
                <a:cs typeface="Arial MT"/>
              </a:rPr>
              <a:t>teaching can be done.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essentially a social </a:t>
            </a:r>
            <a:r>
              <a:rPr dirty="0" sz="1200">
                <a:latin typeface="Arial MT"/>
                <a:cs typeface="Arial MT"/>
              </a:rPr>
              <a:t> activity.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As a political</a:t>
            </a:r>
            <a:r>
              <a:rPr dirty="0" sz="12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activity:</a:t>
            </a:r>
            <a:endParaRPr sz="1200">
              <a:latin typeface="Arial"/>
              <a:cs typeface="Arial"/>
            </a:endParaRPr>
          </a:p>
          <a:p>
            <a:pPr algn="just" marL="934719">
              <a:lnSpc>
                <a:spcPct val="100000"/>
              </a:lnSpc>
              <a:spcBef>
                <a:spcPts val="409"/>
              </a:spcBef>
            </a:pP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3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2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 spc="2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3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political</a:t>
            </a:r>
            <a:r>
              <a:rPr dirty="0" sz="1200" spc="2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activity</a:t>
            </a:r>
            <a:r>
              <a:rPr dirty="0" sz="1200" spc="3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3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2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30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3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3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some</a:t>
            </a:r>
            <a:endParaRPr sz="1200">
              <a:latin typeface="Arial MT"/>
              <a:cs typeface="Arial MT"/>
            </a:endParaRPr>
          </a:p>
          <a:p>
            <a:pPr algn="just" marL="477520" marR="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perception and teacher need to </a:t>
            </a:r>
            <a:r>
              <a:rPr dirty="0" sz="1200">
                <a:latin typeface="Arial MT"/>
                <a:cs typeface="Arial MT"/>
              </a:rPr>
              <a:t>discuss </a:t>
            </a:r>
            <a:r>
              <a:rPr dirty="0" sz="1200" spc="-5">
                <a:latin typeface="Arial MT"/>
                <a:cs typeface="Arial MT"/>
              </a:rPr>
              <a:t>those </a:t>
            </a:r>
            <a:r>
              <a:rPr dirty="0" sz="1200">
                <a:latin typeface="Arial MT"/>
                <a:cs typeface="Arial MT"/>
              </a:rPr>
              <a:t>ideas </a:t>
            </a:r>
            <a:r>
              <a:rPr dirty="0" sz="1200" spc="-5">
                <a:latin typeface="Arial MT"/>
                <a:cs typeface="Arial MT"/>
              </a:rPr>
              <a:t>with the students. Actually both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10">
                <a:latin typeface="Arial MT"/>
                <a:cs typeface="Arial MT"/>
              </a:rPr>
              <a:t>them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 work together for a social change. Because political </a:t>
            </a:r>
            <a:r>
              <a:rPr dirty="0" sz="1200">
                <a:latin typeface="Arial MT"/>
                <a:cs typeface="Arial MT"/>
              </a:rPr>
              <a:t>ideas </a:t>
            </a:r>
            <a:r>
              <a:rPr dirty="0" sz="1200" spc="-5">
                <a:latin typeface="Arial MT"/>
                <a:cs typeface="Arial MT"/>
              </a:rPr>
              <a:t>are important not only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sense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politics, politics means a set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ideas. Teacher must share ideas with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society.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serving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just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providing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essentially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 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political</a:t>
            </a:r>
            <a:r>
              <a:rPr dirty="0" sz="1200">
                <a:latin typeface="Arial MT"/>
                <a:cs typeface="Arial MT"/>
              </a:rPr>
              <a:t> activity.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dirty="0" sz="12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ethical</a:t>
            </a:r>
            <a:r>
              <a:rPr dirty="0" sz="12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activity:</a:t>
            </a:r>
            <a:endParaRPr sz="1200">
              <a:latin typeface="Arial"/>
              <a:cs typeface="Arial"/>
            </a:endParaRPr>
          </a:p>
          <a:p>
            <a:pPr algn="just" marL="934719">
              <a:lnSpc>
                <a:spcPct val="100000"/>
              </a:lnSpc>
              <a:spcBef>
                <a:spcPts val="405"/>
              </a:spcBef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duty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5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fulfill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responsibilities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ethically.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Ethics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endParaRPr sz="1200">
              <a:latin typeface="Arial MT"/>
              <a:cs typeface="Arial MT"/>
            </a:endParaRPr>
          </a:p>
          <a:p>
            <a:pPr algn="just" marL="941069" marR="8890">
              <a:lnSpc>
                <a:spcPts val="2080"/>
              </a:lnSpc>
              <a:spcBef>
                <a:spcPts val="70"/>
              </a:spcBef>
            </a:pPr>
            <a:r>
              <a:rPr dirty="0" sz="1200" spc="-5">
                <a:latin typeface="Arial MT"/>
                <a:cs typeface="Arial MT"/>
              </a:rPr>
              <a:t>teachers need to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committed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their profession,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honest,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dedicated.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teachers are not exhibiting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above then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are not taking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as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ethical activity. </a:t>
            </a:r>
            <a:r>
              <a:rPr dirty="0" sz="1200" spc="-5">
                <a:latin typeface="Arial MT"/>
                <a:cs typeface="Arial MT"/>
              </a:rPr>
              <a:t>It is </a:t>
            </a:r>
            <a:r>
              <a:rPr dirty="0" sz="1200">
                <a:latin typeface="Arial MT"/>
                <a:cs typeface="Arial MT"/>
              </a:rPr>
              <a:t>also </a:t>
            </a:r>
            <a:r>
              <a:rPr dirty="0" sz="1200" spc="-5">
                <a:latin typeface="Arial MT"/>
                <a:cs typeface="Arial MT"/>
              </a:rPr>
              <a:t>important because teachers are role model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students.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role model is not performing these duties </a:t>
            </a:r>
            <a:r>
              <a:rPr dirty="0" sz="1200">
                <a:latin typeface="Arial MT"/>
                <a:cs typeface="Arial MT"/>
              </a:rPr>
              <a:t>ethically, </a:t>
            </a:r>
            <a:r>
              <a:rPr dirty="0" sz="1200" spc="-5">
                <a:latin typeface="Arial MT"/>
                <a:cs typeface="Arial MT"/>
              </a:rPr>
              <a:t>then definitely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role model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9543513"/>
            <a:ext cx="6632575" cy="215836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45"/>
              </a:spcBef>
            </a:pPr>
            <a:r>
              <a:rPr dirty="0" sz="1400" spc="-5" b="1">
                <a:solidFill>
                  <a:srgbClr val="FF0000"/>
                </a:solidFill>
                <a:latin typeface="Arial"/>
                <a:cs typeface="Arial"/>
              </a:rPr>
              <a:t>Teaching perceptions</a:t>
            </a:r>
            <a:r>
              <a:rPr dirty="0" sz="1400" spc="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dirty="0" sz="14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0000"/>
                </a:solidFill>
                <a:latin typeface="Arial"/>
                <a:cs typeface="Arial"/>
              </a:rPr>
              <a:t>culturally</a:t>
            </a:r>
            <a:r>
              <a:rPr dirty="0" sz="14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0000"/>
                </a:solidFill>
                <a:latin typeface="Arial"/>
                <a:cs typeface="Arial"/>
              </a:rPr>
              <a:t>and socially</a:t>
            </a:r>
            <a:r>
              <a:rPr dirty="0" sz="14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0000"/>
                </a:solidFill>
                <a:latin typeface="Arial"/>
                <a:cs typeface="Arial"/>
              </a:rPr>
              <a:t>embedded</a:t>
            </a:r>
            <a:endParaRPr sz="1400">
              <a:latin typeface="Arial"/>
              <a:cs typeface="Arial"/>
            </a:endParaRPr>
          </a:p>
          <a:p>
            <a:pPr algn="just" marL="18415" marR="9525" indent="36195">
              <a:lnSpc>
                <a:spcPts val="2080"/>
              </a:lnSpc>
              <a:spcBef>
                <a:spcPts val="80"/>
              </a:spcBef>
            </a:pPr>
            <a:r>
              <a:rPr dirty="0" sz="1200" spc="-5">
                <a:latin typeface="Arial MT"/>
                <a:cs typeface="Arial MT"/>
              </a:rPr>
              <a:t>Different cultures have different perceptions about education. The perceptions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education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 Pakistan are different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other countries. In Pakistan there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urban and rural cultures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perceptions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cultures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different.</a:t>
            </a:r>
            <a:endParaRPr sz="1200">
              <a:latin typeface="Arial MT"/>
              <a:cs typeface="Arial MT"/>
            </a:endParaRPr>
          </a:p>
          <a:p>
            <a:pPr algn="just" marL="18415" marR="5080" indent="36195">
              <a:lnSpc>
                <a:spcPts val="2080"/>
              </a:lnSpc>
            </a:pPr>
            <a:r>
              <a:rPr dirty="0" sz="1200">
                <a:latin typeface="Arial MT"/>
                <a:cs typeface="Arial MT"/>
              </a:rPr>
              <a:t>Research </a:t>
            </a:r>
            <a:r>
              <a:rPr dirty="0" sz="1200" spc="-5">
                <a:latin typeface="Arial MT"/>
                <a:cs typeface="Arial MT"/>
              </a:rPr>
              <a:t>says that the perceptions are socially and culturally embedded. Perceptions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teachers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Pakistan are different from the teachers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other countries. Although in Pakistan, there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 different cultures and people living in those cultures hold different perceptions on </a:t>
            </a:r>
            <a:r>
              <a:rPr dirty="0" sz="1200">
                <a:latin typeface="Arial MT"/>
                <a:cs typeface="Arial MT"/>
              </a:rPr>
              <a:t>education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845" cy="5393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10160" indent="36195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survey was conducted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 clarification </a:t>
            </a:r>
            <a:r>
              <a:rPr dirty="0" sz="1200">
                <a:latin typeface="Arial MT"/>
                <a:cs typeface="Arial MT"/>
              </a:rPr>
              <a:t>of this </a:t>
            </a:r>
            <a:r>
              <a:rPr dirty="0" sz="1200" spc="-5">
                <a:latin typeface="Arial MT"/>
                <a:cs typeface="Arial MT"/>
              </a:rPr>
              <a:t>concept. </a:t>
            </a:r>
            <a:r>
              <a:rPr dirty="0" sz="1200">
                <a:latin typeface="Arial MT"/>
                <a:cs typeface="Arial MT"/>
              </a:rPr>
              <a:t>In this survey, </a:t>
            </a:r>
            <a:r>
              <a:rPr dirty="0" sz="1200" spc="-5">
                <a:latin typeface="Arial MT"/>
                <a:cs typeface="Arial MT"/>
              </a:rPr>
              <a:t>some teachers were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selected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rural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urban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areas,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private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government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ideas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parents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were analyzed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whether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not.</a:t>
            </a:r>
            <a:endParaRPr sz="1200">
              <a:latin typeface="Arial MT"/>
              <a:cs typeface="Arial MT"/>
            </a:endParaRPr>
          </a:p>
          <a:p>
            <a:pPr algn="just" marL="477520" marR="5715" indent="-228600">
              <a:lnSpc>
                <a:spcPct val="144200"/>
              </a:lnSpc>
              <a:spcBef>
                <a:spcPts val="250"/>
              </a:spcBef>
              <a:buChar char="•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Firstly,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urban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responsibility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discipline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students. The same </a:t>
            </a:r>
            <a:r>
              <a:rPr dirty="0" sz="1200" spc="-10">
                <a:latin typeface="Arial MT"/>
                <a:cs typeface="Arial MT"/>
              </a:rPr>
              <a:t>was </a:t>
            </a:r>
            <a:r>
              <a:rPr dirty="0" sz="1200" spc="-5">
                <a:latin typeface="Arial MT"/>
                <a:cs typeface="Arial MT"/>
              </a:rPr>
              <a:t>the perception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parents, they say that teachers are very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respectable and must teach students discipline and behaviors. And </a:t>
            </a:r>
            <a:r>
              <a:rPr dirty="0" sz="1200">
                <a:latin typeface="Arial MT"/>
                <a:cs typeface="Arial MT"/>
              </a:rPr>
              <a:t>students must </a:t>
            </a:r>
            <a:r>
              <a:rPr dirty="0" sz="1200" spc="-10">
                <a:latin typeface="Arial MT"/>
                <a:cs typeface="Arial MT"/>
              </a:rPr>
              <a:t>obey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 algn="just" marL="477520" marR="5080" indent="-228600">
              <a:lnSpc>
                <a:spcPct val="144200"/>
              </a:lnSpc>
              <a:spcBef>
                <a:spcPts val="225"/>
              </a:spcBef>
              <a:buChar char="•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Secondly,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government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city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say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jobs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factories.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respond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their sons may get </a:t>
            </a:r>
            <a:r>
              <a:rPr dirty="0" sz="1200">
                <a:latin typeface="Arial MT"/>
                <a:cs typeface="Arial MT"/>
              </a:rPr>
              <a:t>jobs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factories </a:t>
            </a:r>
            <a:r>
              <a:rPr dirty="0" sz="1200" spc="-5">
                <a:latin typeface="Arial MT"/>
                <a:cs typeface="Arial MT"/>
              </a:rPr>
              <a:t>or some other work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they can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easily.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 potential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jobs.</a:t>
            </a:r>
            <a:endParaRPr sz="1200">
              <a:latin typeface="Arial MT"/>
              <a:cs typeface="Arial MT"/>
            </a:endParaRPr>
          </a:p>
          <a:p>
            <a:pPr algn="just" marL="477520" marR="9525" indent="-228600">
              <a:lnSpc>
                <a:spcPct val="144200"/>
              </a:lnSpc>
              <a:spcBef>
                <a:spcPts val="254"/>
              </a:spcBef>
              <a:buChar char="•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Thirdly,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opinion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private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facilitators.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responsibility is not </a:t>
            </a:r>
            <a:r>
              <a:rPr dirty="0" sz="1200" spc="-10">
                <a:latin typeface="Arial MT"/>
                <a:cs typeface="Arial MT"/>
              </a:rPr>
              <a:t>only </a:t>
            </a:r>
            <a:r>
              <a:rPr dirty="0" sz="1200" spc="-5">
                <a:latin typeface="Arial MT"/>
                <a:cs typeface="Arial MT"/>
              </a:rPr>
              <a:t>transmitting the content knowledge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students but finding their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hidden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potentials.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paying</a:t>
            </a:r>
            <a:r>
              <a:rPr dirty="0" sz="1200">
                <a:latin typeface="Arial MT"/>
                <a:cs typeface="Arial MT"/>
              </a:rPr>
              <a:t> fees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responsibility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nurture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potentials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children.</a:t>
            </a:r>
            <a:endParaRPr sz="1200">
              <a:latin typeface="Arial MT"/>
              <a:cs typeface="Arial MT"/>
            </a:endParaRPr>
          </a:p>
          <a:p>
            <a:pPr algn="just" marL="18415" marR="5715" indent="-6350">
              <a:lnSpc>
                <a:spcPct val="144200"/>
              </a:lnSpc>
              <a:spcBef>
                <a:spcPts val="15"/>
              </a:spcBef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above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survey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“Cultural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difference”.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living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status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stratified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society, </a:t>
            </a:r>
            <a:r>
              <a:rPr dirty="0" sz="1200" spc="-5">
                <a:latin typeface="Arial MT"/>
                <a:cs typeface="Arial MT"/>
              </a:rPr>
              <a:t>so the students studying in the government schools belong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low income group, their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parents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think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say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perceptions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culturally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socially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embedded.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6499445"/>
            <a:ext cx="6634480" cy="511873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400" spc="-5" b="1">
                <a:solidFill>
                  <a:srgbClr val="FF0000"/>
                </a:solidFill>
                <a:latin typeface="Arial"/>
                <a:cs typeface="Arial"/>
              </a:rPr>
              <a:t>Metaphors</a:t>
            </a:r>
            <a:r>
              <a:rPr dirty="0" sz="14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0000"/>
                </a:solidFill>
                <a:latin typeface="Arial"/>
                <a:cs typeface="Arial"/>
              </a:rPr>
              <a:t>on teaching</a:t>
            </a:r>
            <a:r>
              <a:rPr dirty="0" sz="14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0000"/>
                </a:solidFill>
                <a:latin typeface="Arial"/>
                <a:cs typeface="Arial"/>
              </a:rPr>
              <a:t>and role </a:t>
            </a:r>
            <a:r>
              <a:rPr dirty="0" sz="1400" b="1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dirty="0" sz="14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0000"/>
                </a:solidFill>
                <a:latin typeface="Arial"/>
                <a:cs typeface="Arial"/>
              </a:rPr>
              <a:t>teachers:</a:t>
            </a:r>
            <a:endParaRPr sz="1400">
              <a:latin typeface="Arial"/>
              <a:cs typeface="Arial"/>
            </a:endParaRPr>
          </a:p>
          <a:p>
            <a:pPr marL="18415" marR="13335" indent="-6350">
              <a:lnSpc>
                <a:spcPts val="208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metaphors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teaching,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metaphor.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metaphor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tells</a:t>
            </a:r>
            <a:r>
              <a:rPr dirty="0" sz="1200">
                <a:latin typeface="Arial MT"/>
                <a:cs typeface="Arial MT"/>
              </a:rPr>
              <a:t> 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teaching?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 that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90"/>
              </a:spcBef>
              <a:buClr>
                <a:srgbClr val="000000"/>
              </a:buClr>
              <a:buFont typeface="Arial MT"/>
              <a:buChar char="•"/>
              <a:tabLst>
                <a:tab pos="477520" algn="l"/>
                <a:tab pos="478155" algn="l"/>
              </a:tabLst>
            </a:pP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 a</a:t>
            </a:r>
            <a:r>
              <a:rPr dirty="0" sz="12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source</a:t>
            </a:r>
            <a:r>
              <a:rPr dirty="0" sz="120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 light:</a:t>
            </a:r>
            <a:endParaRPr sz="1200">
              <a:latin typeface="Arial"/>
              <a:cs typeface="Arial"/>
            </a:endParaRPr>
          </a:p>
          <a:p>
            <a:pPr marL="934719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MT"/>
                <a:cs typeface="Arial MT"/>
              </a:rPr>
              <a:t>Imagine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candle;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source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light.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spreading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light</a:t>
            </a:r>
            <a:endParaRPr sz="1200">
              <a:latin typeface="Arial MT"/>
              <a:cs typeface="Arial MT"/>
            </a:endParaRPr>
          </a:p>
          <a:p>
            <a:pPr marL="477520" marR="508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everywhere.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don’t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light;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giving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light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15">
                <a:latin typeface="Arial MT"/>
                <a:cs typeface="Arial MT"/>
              </a:rPr>
              <a:t>i.e.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477520" algn="l"/>
                <a:tab pos="478155" algn="l"/>
              </a:tabLst>
            </a:pP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dirty="0" sz="12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like</a:t>
            </a:r>
            <a:r>
              <a:rPr dirty="0" sz="12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12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tree</a:t>
            </a:r>
            <a:endParaRPr sz="1200">
              <a:latin typeface="Arial"/>
              <a:cs typeface="Arial"/>
            </a:endParaRPr>
          </a:p>
          <a:p>
            <a:pPr marL="977265">
              <a:lnSpc>
                <a:spcPct val="100000"/>
              </a:lnSpc>
              <a:spcBef>
                <a:spcPts val="409"/>
              </a:spcBef>
            </a:pPr>
            <a:r>
              <a:rPr dirty="0" sz="1200" spc="-5">
                <a:latin typeface="Arial MT"/>
                <a:cs typeface="Arial MT"/>
              </a:rPr>
              <a:t>Imagine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tree,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shadow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everyone.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who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</a:t>
            </a:r>
            <a:endParaRPr sz="1200">
              <a:latin typeface="Arial MT"/>
              <a:cs typeface="Arial MT"/>
            </a:endParaRPr>
          </a:p>
          <a:p>
            <a:pPr marL="941069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tree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definitely</a:t>
            </a:r>
            <a:r>
              <a:rPr dirty="0" sz="1200">
                <a:latin typeface="Arial MT"/>
                <a:cs typeface="Arial MT"/>
              </a:rPr>
              <a:t> get</a:t>
            </a:r>
            <a:r>
              <a:rPr dirty="0" sz="1200" spc="-5">
                <a:latin typeface="Arial MT"/>
                <a:cs typeface="Arial MT"/>
              </a:rPr>
              <a:t> shadow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fruit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Font typeface="Arial MT"/>
              <a:buChar char="•"/>
              <a:tabLst>
                <a:tab pos="477520" algn="l"/>
                <a:tab pos="478155" algn="l"/>
              </a:tabLst>
            </a:pP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dirty="0" sz="120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12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gardener</a:t>
            </a:r>
            <a:endParaRPr sz="1200">
              <a:latin typeface="Arial"/>
              <a:cs typeface="Arial"/>
            </a:endParaRPr>
          </a:p>
          <a:p>
            <a:pPr marL="934719">
              <a:lnSpc>
                <a:spcPct val="100000"/>
              </a:lnSpc>
              <a:spcBef>
                <a:spcPts val="409"/>
              </a:spcBef>
            </a:pP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gardener,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strategies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fertilizer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grow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endParaRPr sz="1200">
              <a:latin typeface="Arial MT"/>
              <a:cs typeface="Arial MT"/>
            </a:endParaRPr>
          </a:p>
          <a:p>
            <a:pPr marL="941069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just like 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seed.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60"/>
              </a:spcBef>
            </a:pP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Thoughts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 of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these</a:t>
            </a:r>
            <a:r>
              <a:rPr dirty="0" sz="12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Arial"/>
                <a:cs typeface="Arial"/>
              </a:rPr>
              <a:t>perceptions: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6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Is there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gain,</a:t>
            </a:r>
            <a:r>
              <a:rPr dirty="0" sz="1200">
                <a:latin typeface="Arial MT"/>
                <a:cs typeface="Arial MT"/>
              </a:rPr>
              <a:t> if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teacher?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8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 manners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behaviors.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Who</a:t>
            </a:r>
            <a:r>
              <a:rPr dirty="0" sz="1200" spc="-5">
                <a:latin typeface="Arial MT"/>
                <a:cs typeface="Arial MT"/>
              </a:rPr>
              <a:t> decides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appropriate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not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appropriate?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69468"/>
            <a:ext cx="5892800" cy="83820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Char char="•"/>
              <a:tabLst>
                <a:tab pos="240665" algn="l"/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really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discipline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schools?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Char char="•"/>
              <a:tabLst>
                <a:tab pos="240665" algn="l"/>
                <a:tab pos="241300" algn="l"/>
              </a:tabLst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comprises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basic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receives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school.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710"/>
              </a:spcBef>
              <a:buChar char="•"/>
              <a:tabLst>
                <a:tab pos="240665" algn="l"/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Informal means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unofficial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 it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outside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standard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setting.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1989073"/>
            <a:ext cx="6972300" cy="28194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02 “Teaching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Profession”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2348230"/>
            <a:ext cx="6855459" cy="928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Lecture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objectives:</a:t>
            </a:r>
            <a:endParaRPr sz="1200">
              <a:latin typeface="Arial"/>
              <a:cs typeface="Arial"/>
            </a:endParaRPr>
          </a:p>
          <a:p>
            <a:pPr marL="690880" indent="-229235">
              <a:lnSpc>
                <a:spcPct val="100000"/>
              </a:lnSpc>
              <a:spcBef>
                <a:spcPts val="850"/>
              </a:spcBef>
              <a:buChar char="•"/>
              <a:tabLst>
                <a:tab pos="690880" algn="l"/>
                <a:tab pos="691515" algn="l"/>
              </a:tabLst>
            </a:pPr>
            <a:r>
              <a:rPr dirty="0" sz="1200" spc="-5">
                <a:latin typeface="Arial MT"/>
                <a:cs typeface="Arial MT"/>
              </a:rPr>
              <a:t>Identified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misconceptions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 marL="690880" indent="-229235">
              <a:lnSpc>
                <a:spcPct val="100000"/>
              </a:lnSpc>
              <a:spcBef>
                <a:spcPts val="865"/>
              </a:spcBef>
              <a:buChar char="•"/>
              <a:tabLst>
                <a:tab pos="690880" algn="l"/>
                <a:tab pos="691515" algn="l"/>
              </a:tabLst>
            </a:pPr>
            <a:r>
              <a:rPr dirty="0" sz="1200" spc="-5">
                <a:latin typeface="Arial MT"/>
                <a:cs typeface="Arial MT"/>
              </a:rPr>
              <a:t>Reflected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“Teaching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 </a:t>
            </a:r>
            <a:r>
              <a:rPr dirty="0" sz="1200">
                <a:latin typeface="Arial MT"/>
                <a:cs typeface="Arial MT"/>
              </a:rPr>
              <a:t>Art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Science.”</a:t>
            </a:r>
            <a:endParaRPr sz="1200">
              <a:latin typeface="Arial MT"/>
              <a:cs typeface="Arial MT"/>
            </a:endParaRPr>
          </a:p>
          <a:p>
            <a:pPr marL="69088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690880" algn="l"/>
                <a:tab pos="691515" algn="l"/>
              </a:tabLst>
            </a:pPr>
            <a:r>
              <a:rPr dirty="0" sz="1200" spc="-5">
                <a:latin typeface="Arial MT"/>
                <a:cs typeface="Arial MT"/>
              </a:rPr>
              <a:t>Reflected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criteria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moral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obligation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professionals.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1000">
              <a:latin typeface="Arial MT"/>
              <a:cs typeface="Arial MT"/>
            </a:endParaRPr>
          </a:p>
          <a:p>
            <a:pPr marL="233679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Some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misconceptions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teaching: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200" b="1">
                <a:latin typeface="Arial"/>
                <a:cs typeface="Arial"/>
              </a:rPr>
              <a:t>Schools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isolated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places.</a:t>
            </a:r>
            <a:endParaRPr sz="1200">
              <a:latin typeface="Arial"/>
              <a:cs typeface="Arial"/>
            </a:endParaRPr>
          </a:p>
          <a:p>
            <a:pPr algn="just" marL="4699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MT"/>
                <a:cs typeface="Arial MT"/>
              </a:rPr>
              <a:t>Sometimes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exhibit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sometimes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endParaRPr sz="1200">
              <a:latin typeface="Arial MT"/>
              <a:cs typeface="Arial MT"/>
            </a:endParaRPr>
          </a:p>
          <a:p>
            <a:pPr algn="just" marL="469900" marR="5715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shout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themselves 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shouting.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disappointing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whenever teachers ask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not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shout, their own voice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high. </a:t>
            </a:r>
            <a:r>
              <a:rPr dirty="0" sz="1200">
                <a:latin typeface="Arial MT"/>
                <a:cs typeface="Arial MT"/>
              </a:rPr>
              <a:t> Definitely,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society;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homes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isolated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places.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believe that schools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isolated </a:t>
            </a:r>
            <a:r>
              <a:rPr dirty="0" sz="1200" spc="-5">
                <a:latin typeface="Arial MT"/>
                <a:cs typeface="Arial MT"/>
              </a:rPr>
              <a:t>places that are totally detached from the society which is not </a:t>
            </a:r>
            <a:r>
              <a:rPr dirty="0" sz="1200">
                <a:latin typeface="Arial MT"/>
                <a:cs typeface="Arial MT"/>
              </a:rPr>
              <a:t> true.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Education is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about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different subjects:</a:t>
            </a:r>
            <a:endParaRPr sz="1200">
              <a:latin typeface="Arial"/>
              <a:cs typeface="Arial"/>
            </a:endParaRPr>
          </a:p>
          <a:p>
            <a:pPr algn="just" marL="469900">
              <a:lnSpc>
                <a:spcPct val="100000"/>
              </a:lnSpc>
              <a:spcBef>
                <a:spcPts val="425"/>
              </a:spcBef>
            </a:pP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educational </a:t>
            </a:r>
            <a:r>
              <a:rPr dirty="0" sz="1200">
                <a:latin typeface="Arial MT"/>
                <a:cs typeface="Arial MT"/>
              </a:rPr>
              <a:t>view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has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vocational orientation.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word “Vocational” identifies use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job</a:t>
            </a:r>
            <a:r>
              <a:rPr dirty="0" sz="1200">
                <a:latin typeface="Arial MT"/>
                <a:cs typeface="Arial MT"/>
              </a:rPr>
              <a:t> or</a:t>
            </a:r>
            <a:endParaRPr sz="1200">
              <a:latin typeface="Arial MT"/>
              <a:cs typeface="Arial MT"/>
            </a:endParaRPr>
          </a:p>
          <a:p>
            <a:pPr algn="just" marL="476250" marR="508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utility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job market. It </a:t>
            </a:r>
            <a:r>
              <a:rPr dirty="0" sz="1200">
                <a:latin typeface="Arial MT"/>
                <a:cs typeface="Arial MT"/>
              </a:rPr>
              <a:t>means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are sending the students to schools to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different </a:t>
            </a:r>
            <a:r>
              <a:rPr dirty="0" sz="1200">
                <a:latin typeface="Arial MT"/>
                <a:cs typeface="Arial MT"/>
              </a:rPr>
              <a:t> subjects,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want </a:t>
            </a:r>
            <a:r>
              <a:rPr dirty="0" sz="1200" spc="-5">
                <a:latin typeface="Arial MT"/>
                <a:cs typeface="Arial MT"/>
              </a:rPr>
              <a:t>them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get prepared to get admissions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professional colleges. If they get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admissions in professional colleges they will become competent professionals. Education 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serving the purpose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getting </a:t>
            </a:r>
            <a:r>
              <a:rPr dirty="0" sz="1200">
                <a:latin typeface="Arial MT"/>
                <a:cs typeface="Arial MT"/>
              </a:rPr>
              <a:t>jobs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job market. Now how can we claim that teachers 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agents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social change? Most of the times we </a:t>
            </a:r>
            <a:r>
              <a:rPr dirty="0" sz="1200">
                <a:latin typeface="Arial MT"/>
                <a:cs typeface="Arial MT"/>
              </a:rPr>
              <a:t>focus </a:t>
            </a:r>
            <a:r>
              <a:rPr dirty="0" sz="1200" spc="-5">
                <a:latin typeface="Arial MT"/>
                <a:cs typeface="Arial MT"/>
              </a:rPr>
              <a:t>on teaching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different subjects and we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 students on performance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10">
                <a:latin typeface="Arial MT"/>
                <a:cs typeface="Arial MT"/>
              </a:rPr>
              <a:t>these </a:t>
            </a:r>
            <a:r>
              <a:rPr dirty="0" sz="1200" spc="-5">
                <a:latin typeface="Arial MT"/>
                <a:cs typeface="Arial MT"/>
              </a:rPr>
              <a:t>subjects.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are always </a:t>
            </a:r>
            <a:r>
              <a:rPr dirty="0" sz="1200">
                <a:latin typeface="Arial MT"/>
                <a:cs typeface="Arial MT"/>
              </a:rPr>
              <a:t>testing </a:t>
            </a:r>
            <a:r>
              <a:rPr dirty="0" sz="1200" spc="-5">
                <a:latin typeface="Arial MT"/>
                <a:cs typeface="Arial MT"/>
              </a:rPr>
              <a:t>their knowledge </a:t>
            </a:r>
            <a:r>
              <a:rPr dirty="0" sz="1200" spc="-1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 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just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forget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much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these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Arial MT"/>
              <a:cs typeface="Arial MT"/>
            </a:endParaRPr>
          </a:p>
          <a:p>
            <a:pPr marL="690880" indent="-2292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690880" algn="l"/>
                <a:tab pos="691515" algn="l"/>
              </a:tabLst>
            </a:pP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-5" b="1">
                <a:latin typeface="Arial"/>
                <a:cs typeface="Arial"/>
              </a:rPr>
              <a:t> is exploring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different</a:t>
            </a:r>
            <a:r>
              <a:rPr dirty="0" sz="1200" spc="-5" b="1">
                <a:latin typeface="Arial"/>
                <a:cs typeface="Arial"/>
              </a:rPr>
              <a:t> subjects:</a:t>
            </a:r>
            <a:endParaRPr sz="1200">
              <a:latin typeface="Arial"/>
              <a:cs typeface="Arial"/>
            </a:endParaRPr>
          </a:p>
          <a:p>
            <a:pPr algn="just" marL="4699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MT"/>
                <a:cs typeface="Arial MT"/>
              </a:rPr>
              <a:t>According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Friere: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10" b="1">
                <a:latin typeface="Arial"/>
                <a:cs typeface="Arial"/>
              </a:rPr>
              <a:t>“In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fact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created,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when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act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reflect.”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endParaRPr sz="1200">
              <a:latin typeface="Arial MT"/>
              <a:cs typeface="Arial MT"/>
            </a:endParaRPr>
          </a:p>
          <a:p>
            <a:pPr algn="just" marL="476250" marR="762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about different facts is </a:t>
            </a:r>
            <a:r>
              <a:rPr dirty="0" sz="1200">
                <a:latin typeface="Arial MT"/>
                <a:cs typeface="Arial MT"/>
              </a:rPr>
              <a:t>stratified </a:t>
            </a:r>
            <a:r>
              <a:rPr dirty="0" sz="1200" spc="-5">
                <a:latin typeface="Arial MT"/>
                <a:cs typeface="Arial MT"/>
              </a:rPr>
              <a:t>knowledge. Your objective knowledge has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10">
                <a:latin typeface="Arial MT"/>
                <a:cs typeface="Arial MT"/>
              </a:rPr>
              <a:t>own </a:t>
            </a:r>
            <a:r>
              <a:rPr dirty="0" sz="1200" spc="-5">
                <a:latin typeface="Arial MT"/>
                <a:cs typeface="Arial MT"/>
              </a:rPr>
              <a:t>importance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called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static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facts.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Subjective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Subjective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something that is learnt by reflecting, acting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5">
                <a:latin typeface="Arial MT"/>
                <a:cs typeface="Arial MT"/>
              </a:rPr>
              <a:t> something. Learning is not only about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exploring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static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facts</a:t>
            </a:r>
            <a:r>
              <a:rPr dirty="0" sz="1200">
                <a:latin typeface="Arial MT"/>
                <a:cs typeface="Arial MT"/>
              </a:rPr>
              <a:t> but it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explore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Arial MT"/>
              <a:cs typeface="Arial MT"/>
            </a:endParaRPr>
          </a:p>
          <a:p>
            <a:pPr marL="690880" indent="-229235">
              <a:lnSpc>
                <a:spcPct val="100000"/>
              </a:lnSpc>
              <a:buFont typeface="Arial MT"/>
              <a:buChar char="•"/>
              <a:tabLst>
                <a:tab pos="690880" algn="l"/>
                <a:tab pos="691515" algn="l"/>
              </a:tabLst>
            </a:pPr>
            <a:r>
              <a:rPr dirty="0" sz="1200" spc="-5" b="1">
                <a:latin typeface="Arial"/>
                <a:cs typeface="Arial"/>
              </a:rPr>
              <a:t>Drama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debates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extra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co-curricular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activities:</a:t>
            </a:r>
            <a:endParaRPr sz="1200">
              <a:latin typeface="Arial"/>
              <a:cs typeface="Arial"/>
            </a:endParaRPr>
          </a:p>
          <a:p>
            <a:pPr algn="just" marL="469900">
              <a:lnSpc>
                <a:spcPct val="100000"/>
              </a:lnSpc>
              <a:spcBef>
                <a:spcPts val="409"/>
              </a:spcBef>
            </a:pP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neither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extra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nor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co-curricular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curricular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activities.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These</a:t>
            </a:r>
            <a:endParaRPr sz="1200">
              <a:latin typeface="Arial MT"/>
              <a:cs typeface="Arial MT"/>
            </a:endParaRPr>
          </a:p>
          <a:p>
            <a:pPr algn="just" marL="476250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holistic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child.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Holistic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complete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4480" cy="10882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55270" marR="508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development;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physically,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intellectually,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ethically,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socially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spiritually.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Unfortunately, when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say that aim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schools is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teach </a:t>
            </a:r>
            <a:r>
              <a:rPr dirty="0" sz="1200" spc="-5">
                <a:latin typeface="Arial MT"/>
                <a:cs typeface="Arial MT"/>
              </a:rPr>
              <a:t>only different subjects, we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>
                <a:latin typeface="Arial MT"/>
                <a:cs typeface="Arial MT"/>
              </a:rPr>
              <a:t> focus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the holistic development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child. So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really important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us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understand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participation in these kinds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activities is not something wasting time </a:t>
            </a:r>
            <a:r>
              <a:rPr dirty="0" sz="1200">
                <a:latin typeface="Arial MT"/>
                <a:cs typeface="Arial MT"/>
              </a:rPr>
              <a:t>rather </a:t>
            </a:r>
            <a:r>
              <a:rPr dirty="0" sz="1200" spc="-5">
                <a:latin typeface="Arial MT"/>
                <a:cs typeface="Arial MT"/>
              </a:rPr>
              <a:t>it 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important </a:t>
            </a:r>
            <a:r>
              <a:rPr dirty="0" sz="1200">
                <a:latin typeface="Arial MT"/>
                <a:cs typeface="Arial MT"/>
              </a:rPr>
              <a:t> for </a:t>
            </a:r>
            <a:r>
              <a:rPr dirty="0" sz="1200" spc="-5">
                <a:latin typeface="Arial MT"/>
                <a:cs typeface="Arial MT"/>
              </a:rPr>
              <a:t>their holistic development. Holistic development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child requires participation in games,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debates,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dramas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etc.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opportunities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dramas,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 their speaking skills by participating in debates or dramas. Similarly, </a:t>
            </a:r>
            <a:r>
              <a:rPr dirty="0" sz="1200" spc="10">
                <a:latin typeface="Arial MT"/>
                <a:cs typeface="Arial MT"/>
              </a:rPr>
              <a:t>essay </a:t>
            </a:r>
            <a:r>
              <a:rPr dirty="0" sz="1200" spc="-5">
                <a:latin typeface="Arial MT"/>
                <a:cs typeface="Arial MT"/>
              </a:rPr>
              <a:t>writing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competitions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abilities.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allocate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timetable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kind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Silence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promotes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learning:</a:t>
            </a:r>
            <a:endParaRPr sz="1200">
              <a:latin typeface="Arial"/>
              <a:cs typeface="Arial"/>
            </a:endParaRPr>
          </a:p>
          <a:p>
            <a:pPr algn="just" marL="248920">
              <a:lnSpc>
                <a:spcPct val="100000"/>
              </a:lnSpc>
              <a:spcBef>
                <a:spcPts val="405"/>
              </a:spcBef>
            </a:pP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asks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talk.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misconception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“Learning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endParaRPr sz="1200">
              <a:latin typeface="Arial MT"/>
              <a:cs typeface="Arial MT"/>
            </a:endParaRPr>
          </a:p>
          <a:p>
            <a:pPr algn="just" marL="255270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silence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rather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complete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silence”.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theories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why</a:t>
            </a:r>
            <a:endParaRPr sz="1200">
              <a:latin typeface="Arial MT"/>
              <a:cs typeface="Arial MT"/>
            </a:endParaRPr>
          </a:p>
          <a:p>
            <a:pPr algn="just" marL="255270" marR="9525">
              <a:lnSpc>
                <a:spcPct val="14420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misconception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dominant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sharing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ideas. There is a concept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peer learning, children learn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1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peers, they actually learn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5">
                <a:latin typeface="Arial MT"/>
                <a:cs typeface="Arial MT"/>
              </a:rPr>
              <a:t> 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peers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Is</a:t>
            </a:r>
            <a:r>
              <a:rPr dirty="0" sz="1400" spc="-5" b="1">
                <a:latin typeface="Arial"/>
                <a:cs typeface="Arial"/>
              </a:rPr>
              <a:t> teaching </a:t>
            </a:r>
            <a:r>
              <a:rPr dirty="0" sz="1400" spc="-10" b="1">
                <a:latin typeface="Arial"/>
                <a:cs typeface="Arial"/>
              </a:rPr>
              <a:t>an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art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or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science?</a:t>
            </a:r>
            <a:endParaRPr sz="1400">
              <a:latin typeface="Arial"/>
              <a:cs typeface="Arial"/>
            </a:endParaRPr>
          </a:p>
          <a:p>
            <a:pPr algn="just" marL="248920" marR="5080">
              <a:lnSpc>
                <a:spcPts val="2080"/>
              </a:lnSpc>
              <a:spcBef>
                <a:spcPts val="95"/>
              </a:spcBef>
            </a:pPr>
            <a:r>
              <a:rPr dirty="0" sz="1200">
                <a:latin typeface="Arial MT"/>
                <a:cs typeface="Arial MT"/>
              </a:rPr>
              <a:t>Idea of </a:t>
            </a:r>
            <a:r>
              <a:rPr dirty="0" sz="1200" spc="-5" b="1">
                <a:latin typeface="Arial"/>
                <a:cs typeface="Arial"/>
              </a:rPr>
              <a:t>“Teaching </a:t>
            </a:r>
            <a:r>
              <a:rPr dirty="0" sz="1200" b="1">
                <a:latin typeface="Arial"/>
                <a:cs typeface="Arial"/>
              </a:rPr>
              <a:t>is </a:t>
            </a:r>
            <a:r>
              <a:rPr dirty="0" sz="1200" spc="-5" b="1">
                <a:latin typeface="Arial"/>
                <a:cs typeface="Arial"/>
              </a:rPr>
              <a:t>an Art”, </a:t>
            </a:r>
            <a:r>
              <a:rPr dirty="0" sz="1200" spc="-5">
                <a:latin typeface="Arial MT"/>
                <a:cs typeface="Arial MT"/>
              </a:rPr>
              <a:t>was developed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William James in 1891.So,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>
                <a:latin typeface="Arial MT"/>
                <a:cs typeface="Arial MT"/>
              </a:rPr>
              <a:t>artist </a:t>
            </a:r>
            <a:r>
              <a:rPr dirty="0" sz="1200" spc="-5">
                <a:latin typeface="Arial MT"/>
                <a:cs typeface="Arial MT"/>
              </a:rPr>
              <a:t>is 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create things.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 spc="-10">
                <a:latin typeface="Arial MT"/>
                <a:cs typeface="Arial MT"/>
              </a:rPr>
              <a:t>say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teaching is an </a:t>
            </a:r>
            <a:r>
              <a:rPr dirty="0" sz="1200" spc="-10">
                <a:latin typeface="Arial MT"/>
                <a:cs typeface="Arial MT"/>
              </a:rPr>
              <a:t>art </a:t>
            </a:r>
            <a:r>
              <a:rPr dirty="0" sz="120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we are expecting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teacher needs to be </a:t>
            </a:r>
            <a:r>
              <a:rPr dirty="0" sz="1200">
                <a:latin typeface="Arial MT"/>
                <a:cs typeface="Arial MT"/>
              </a:rPr>
              <a:t> very </a:t>
            </a:r>
            <a:r>
              <a:rPr dirty="0" sz="1200" spc="-5">
                <a:latin typeface="Arial MT"/>
                <a:cs typeface="Arial MT"/>
              </a:rPr>
              <a:t>imaginative, innovative, teacher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have the skills that an artist posses. There is also a </a:t>
            </a:r>
            <a:r>
              <a:rPr dirty="0" sz="1200">
                <a:latin typeface="Arial MT"/>
                <a:cs typeface="Arial MT"/>
              </a:rPr>
              <a:t> drawback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policy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makers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claim 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art,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born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 as artists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born artists. If teachers are born artists </a:t>
            </a:r>
            <a:r>
              <a:rPr dirty="0" sz="120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we actually deny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importance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 organizations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trainings.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say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endParaRPr sz="1200">
              <a:latin typeface="Arial MT"/>
              <a:cs typeface="Arial MT"/>
            </a:endParaRPr>
          </a:p>
          <a:p>
            <a:pPr algn="just" marL="248920">
              <a:lnSpc>
                <a:spcPct val="100000"/>
              </a:lnSpc>
              <a:spcBef>
                <a:spcPts val="445"/>
              </a:spcBef>
            </a:pP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art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birth,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innate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capabilities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could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endParaRPr sz="1200">
              <a:latin typeface="Arial MT"/>
              <a:cs typeface="Arial MT"/>
            </a:endParaRPr>
          </a:p>
          <a:p>
            <a:pPr algn="just" marL="248920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learnt.</a:t>
            </a:r>
            <a:endParaRPr sz="1200">
              <a:latin typeface="Arial MT"/>
              <a:cs typeface="Arial MT"/>
            </a:endParaRPr>
          </a:p>
          <a:p>
            <a:pPr algn="just" marL="255270" marR="5080" indent="-6350">
              <a:lnSpc>
                <a:spcPct val="144200"/>
              </a:lnSpc>
              <a:spcBef>
                <a:spcPts val="10"/>
              </a:spcBef>
            </a:pPr>
            <a:r>
              <a:rPr dirty="0" sz="1200" spc="-5" b="1">
                <a:latin typeface="Arial"/>
                <a:cs typeface="Arial"/>
              </a:rPr>
              <a:t>Science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body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body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systematic. It </a:t>
            </a:r>
            <a:r>
              <a:rPr dirty="0" sz="1200" spc="-5">
                <a:latin typeface="Arial MT"/>
                <a:cs typeface="Arial MT"/>
              </a:rPr>
              <a:t>has some research underpinnings and theoretical underpinnings. Research and </a:t>
            </a:r>
            <a:r>
              <a:rPr dirty="0" sz="1200">
                <a:latin typeface="Arial MT"/>
                <a:cs typeface="Arial MT"/>
              </a:rPr>
              <a:t> science go </a:t>
            </a:r>
            <a:r>
              <a:rPr dirty="0" sz="1200" spc="-5">
                <a:latin typeface="Arial MT"/>
                <a:cs typeface="Arial MT"/>
              </a:rPr>
              <a:t>side by side. The claim that teaching is a science;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10">
                <a:latin typeface="Arial MT"/>
                <a:cs typeface="Arial MT"/>
              </a:rPr>
              <a:t>shows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there is research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 teaching. All the theories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teaching are based upon research, research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psychology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sociology.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 </a:t>
            </a:r>
            <a:r>
              <a:rPr dirty="0" sz="1200">
                <a:latin typeface="Arial MT"/>
                <a:cs typeface="Arial MT"/>
              </a:rPr>
              <a:t>true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science.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400" spc="-5" b="1">
                <a:latin typeface="Arial"/>
                <a:cs typeface="Arial"/>
              </a:rPr>
              <a:t>The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criteria for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professional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and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moral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obligation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5" b="1">
                <a:latin typeface="Arial"/>
                <a:cs typeface="Arial"/>
              </a:rPr>
              <a:t> professionals:</a:t>
            </a:r>
            <a:endParaRPr sz="1400">
              <a:latin typeface="Arial"/>
              <a:cs typeface="Arial"/>
            </a:endParaRPr>
          </a:p>
          <a:p>
            <a:pPr marL="697230">
              <a:lnSpc>
                <a:spcPct val="100000"/>
              </a:lnSpc>
              <a:spcBef>
                <a:spcPts val="860"/>
              </a:spcBef>
            </a:pPr>
            <a:r>
              <a:rPr dirty="0" sz="1200" spc="-5">
                <a:latin typeface="Arial MT"/>
                <a:cs typeface="Arial MT"/>
              </a:rPr>
              <a:t>Like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professions,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also</a:t>
            </a:r>
            <a:r>
              <a:rPr dirty="0" sz="1200" spc="-5">
                <a:latin typeface="Arial MT"/>
                <a:cs typeface="Arial MT"/>
              </a:rPr>
              <a:t> has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standards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criteria.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470"/>
              </a:spcBef>
            </a:pPr>
            <a:r>
              <a:rPr dirty="0" sz="1200" spc="-5" b="1">
                <a:latin typeface="Arial"/>
                <a:cs typeface="Arial"/>
              </a:rPr>
              <a:t>Criteria</a:t>
            </a:r>
            <a:r>
              <a:rPr dirty="0" sz="1200" b="1">
                <a:latin typeface="Arial"/>
                <a:cs typeface="Arial"/>
              </a:rPr>
              <a:t> to be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professional:</a:t>
            </a:r>
            <a:endParaRPr sz="1200">
              <a:latin typeface="Arial"/>
              <a:cs typeface="Arial"/>
            </a:endParaRPr>
          </a:p>
          <a:p>
            <a:pPr marL="477520" marR="9525" indent="-228600">
              <a:lnSpc>
                <a:spcPct val="145800"/>
              </a:lnSpc>
              <a:spcBef>
                <a:spcPts val="229"/>
              </a:spcBef>
              <a:buFont typeface="Arial MT"/>
              <a:buChar char="•"/>
              <a:tabLst>
                <a:tab pos="477520" algn="l"/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profession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involves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many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concepts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and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principles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profession.</a:t>
            </a:r>
            <a:endParaRPr sz="1200">
              <a:latin typeface="Arial"/>
              <a:cs typeface="Arial"/>
            </a:endParaRPr>
          </a:p>
          <a:p>
            <a:pPr algn="just" marL="255270" marR="5080" indent="-6350">
              <a:lnSpc>
                <a:spcPct val="144200"/>
              </a:lnSpc>
              <a:spcBef>
                <a:spcPts val="15"/>
              </a:spcBef>
            </a:pP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example,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consider medicine as a profession then there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number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key concepts </a:t>
            </a:r>
            <a:r>
              <a:rPr dirty="0" sz="1200">
                <a:latin typeface="Arial MT"/>
                <a:cs typeface="Arial MT"/>
              </a:rPr>
              <a:t> involved </a:t>
            </a:r>
            <a:r>
              <a:rPr dirty="0" sz="1200" spc="-5">
                <a:latin typeface="Arial MT"/>
                <a:cs typeface="Arial MT"/>
              </a:rPr>
              <a:t>in it. The students learning medicine needs to understand all </a:t>
            </a:r>
            <a:r>
              <a:rPr dirty="0" sz="1200">
                <a:latin typeface="Arial MT"/>
                <a:cs typeface="Arial MT"/>
              </a:rPr>
              <a:t>the principles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compounder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doctor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compounder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basic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principles.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compounder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acquires is </a:t>
            </a:r>
            <a:r>
              <a:rPr dirty="0" sz="1200">
                <a:latin typeface="Arial MT"/>
                <a:cs typeface="Arial MT"/>
              </a:rPr>
              <a:t>far </a:t>
            </a:r>
            <a:r>
              <a:rPr dirty="0" sz="1200" spc="-5">
                <a:latin typeface="Arial MT"/>
                <a:cs typeface="Arial MT"/>
              </a:rPr>
              <a:t>less than that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doctor.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>
                <a:latin typeface="Arial MT"/>
                <a:cs typeface="Arial MT"/>
              </a:rPr>
              <a:t>when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talk </a:t>
            </a:r>
            <a:r>
              <a:rPr dirty="0" sz="1200" spc="-5">
                <a:latin typeface="Arial MT"/>
                <a:cs typeface="Arial MT"/>
              </a:rPr>
              <a:t>about a </a:t>
            </a:r>
            <a:r>
              <a:rPr dirty="0" sz="1200">
                <a:latin typeface="Arial MT"/>
                <a:cs typeface="Arial MT"/>
              </a:rPr>
              <a:t>profession, </a:t>
            </a:r>
            <a:r>
              <a:rPr dirty="0" sz="1200" spc="-5">
                <a:latin typeface="Arial MT"/>
                <a:cs typeface="Arial MT"/>
              </a:rPr>
              <a:t>we actually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assume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acquired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particular</a:t>
            </a:r>
            <a:r>
              <a:rPr dirty="0" sz="1200">
                <a:latin typeface="Arial MT"/>
                <a:cs typeface="Arial MT"/>
              </a:rPr>
              <a:t> subject.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602995"/>
            <a:ext cx="6855459" cy="111506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698500" indent="-229235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profession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body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techniques</a:t>
            </a:r>
            <a:r>
              <a:rPr dirty="0" sz="1200" spc="-5" b="1">
                <a:latin typeface="Arial"/>
                <a:cs typeface="Arial"/>
              </a:rPr>
              <a:t> and</a:t>
            </a:r>
            <a:r>
              <a:rPr dirty="0" sz="1200" b="1">
                <a:latin typeface="Arial"/>
                <a:cs typeface="Arial"/>
              </a:rPr>
              <a:t> they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may</a:t>
            </a:r>
            <a:r>
              <a:rPr dirty="0" sz="1200" b="1">
                <a:latin typeface="Arial"/>
                <a:cs typeface="Arial"/>
              </a:rPr>
              <a:t> be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transmitted:</a:t>
            </a:r>
            <a:endParaRPr sz="1200">
              <a:latin typeface="Arial"/>
              <a:cs typeface="Arial"/>
            </a:endParaRPr>
          </a:p>
          <a:p>
            <a:pPr algn="just" marL="469900">
              <a:lnSpc>
                <a:spcPct val="100000"/>
              </a:lnSpc>
              <a:spcBef>
                <a:spcPts val="420"/>
              </a:spcBef>
            </a:pPr>
            <a:r>
              <a:rPr dirty="0" sz="1200">
                <a:latin typeface="Arial MT"/>
                <a:cs typeface="Arial MT"/>
              </a:rPr>
              <a:t>Every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own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b="1">
                <a:latin typeface="Arial"/>
                <a:cs typeface="Arial"/>
              </a:rPr>
              <a:t>techniques</a:t>
            </a:r>
            <a:r>
              <a:rPr dirty="0" sz="1200">
                <a:latin typeface="Arial MT"/>
                <a:cs typeface="Arial MT"/>
              </a:rPr>
              <a:t>.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cameraman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knows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techniques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handle</a:t>
            </a:r>
            <a:endParaRPr sz="1200">
              <a:latin typeface="Arial MT"/>
              <a:cs typeface="Arial MT"/>
            </a:endParaRPr>
          </a:p>
          <a:p>
            <a:pPr algn="just" marL="476250" marR="10795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camera, a doctor or surgeon knows how to handle medical instruments. Knowledge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skill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gained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practiced,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know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“practice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makes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perfect”.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their profession.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200" spc="-5" b="1">
                <a:latin typeface="Arial"/>
                <a:cs typeface="Arial"/>
              </a:rPr>
              <a:t>Transmission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</a:t>
            </a:r>
            <a:endParaRPr sz="1200">
              <a:latin typeface="Arial"/>
              <a:cs typeface="Arial"/>
            </a:endParaRPr>
          </a:p>
          <a:p>
            <a:pPr algn="just" marL="476250" marR="10795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actually </a:t>
            </a:r>
            <a:r>
              <a:rPr dirty="0" sz="1200" spc="-5">
                <a:latin typeface="Arial MT"/>
                <a:cs typeface="Arial MT"/>
              </a:rPr>
              <a:t>believed that in professions,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senior person </a:t>
            </a:r>
            <a:r>
              <a:rPr dirty="0" sz="1200">
                <a:latin typeface="Arial MT"/>
                <a:cs typeface="Arial MT"/>
              </a:rPr>
              <a:t>has </a:t>
            </a:r>
            <a:r>
              <a:rPr dirty="0" sz="1200" spc="-5">
                <a:latin typeface="Arial MT"/>
                <a:cs typeface="Arial MT"/>
              </a:rPr>
              <a:t>acquired </a:t>
            </a:r>
            <a:r>
              <a:rPr dirty="0" sz="1200">
                <a:latin typeface="Arial MT"/>
                <a:cs typeface="Arial MT"/>
              </a:rPr>
              <a:t>certain </a:t>
            </a:r>
            <a:r>
              <a:rPr dirty="0" sz="1200" spc="-5">
                <a:latin typeface="Arial MT"/>
                <a:cs typeface="Arial MT"/>
              </a:rPr>
              <a:t>skills than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transmit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junior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Arial MT"/>
              <a:cs typeface="Arial MT"/>
            </a:endParaRPr>
          </a:p>
          <a:p>
            <a:pPr marL="698500" indent="-229235">
              <a:lnSpc>
                <a:spcPct val="100000"/>
              </a:lnSpc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profession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internally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organized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self-disciplined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(code 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ethics):</a:t>
            </a:r>
            <a:endParaRPr sz="1200">
              <a:latin typeface="Arial"/>
              <a:cs typeface="Arial"/>
            </a:endParaRPr>
          </a:p>
          <a:p>
            <a:pPr algn="just" marL="469900">
              <a:lnSpc>
                <a:spcPct val="100000"/>
              </a:lnSpc>
              <a:spcBef>
                <a:spcPts val="420"/>
              </a:spcBef>
            </a:pPr>
            <a:r>
              <a:rPr dirty="0" sz="1200" b="1">
                <a:latin typeface="Arial"/>
                <a:cs typeface="Arial"/>
              </a:rPr>
              <a:t>Internally</a:t>
            </a:r>
            <a:r>
              <a:rPr dirty="0" sz="1200" spc="1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organized</a:t>
            </a:r>
            <a:r>
              <a:rPr dirty="0" sz="1200" spc="17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organizations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tells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endParaRPr sz="1200">
              <a:latin typeface="Arial MT"/>
              <a:cs typeface="Arial MT"/>
            </a:endParaRPr>
          </a:p>
          <a:p>
            <a:pPr algn="just" marL="476250" marR="12065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professionals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do.</a:t>
            </a:r>
            <a:r>
              <a:rPr dirty="0" sz="1200">
                <a:latin typeface="Arial MT"/>
                <a:cs typeface="Arial MT"/>
              </a:rPr>
              <a:t> E.g.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Pakistan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Medical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Association,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Engineering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Council,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Institute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Accountancy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organization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tells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chartered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accountants</a:t>
            </a:r>
            <a:endParaRPr sz="1200">
              <a:latin typeface="Arial MT"/>
              <a:cs typeface="Arial MT"/>
            </a:endParaRPr>
          </a:p>
          <a:p>
            <a:pPr algn="just" marL="476250">
              <a:lnSpc>
                <a:spcPct val="100000"/>
              </a:lnSpc>
              <a:spcBef>
                <a:spcPts val="640"/>
              </a:spcBef>
            </a:pP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5">
                <a:latin typeface="Arial MT"/>
                <a:cs typeface="Arial MT"/>
              </a:rPr>
              <a:t> how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 have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profession.</a:t>
            </a:r>
            <a:endParaRPr sz="1200">
              <a:latin typeface="Arial MT"/>
              <a:cs typeface="Arial MT"/>
            </a:endParaRPr>
          </a:p>
          <a:p>
            <a:pPr algn="just" marL="476250" marR="10160" indent="-6350">
              <a:lnSpc>
                <a:spcPct val="144200"/>
              </a:lnSpc>
              <a:spcBef>
                <a:spcPts val="20"/>
              </a:spcBef>
            </a:pPr>
            <a:r>
              <a:rPr dirty="0" sz="1200" spc="-5" b="1">
                <a:latin typeface="Arial"/>
                <a:cs typeface="Arial"/>
              </a:rPr>
              <a:t>Self-Disciplined: </a:t>
            </a:r>
            <a:r>
              <a:rPr dirty="0" sz="1200" spc="-5">
                <a:latin typeface="Arial MT"/>
                <a:cs typeface="Arial MT"/>
              </a:rPr>
              <a:t>means that the professionals are ethically bound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follow some norms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rules which are set by </a:t>
            </a:r>
            <a:r>
              <a:rPr dirty="0" sz="1200">
                <a:latin typeface="Arial MT"/>
                <a:cs typeface="Arial MT"/>
              </a:rPr>
              <a:t>their organization. </a:t>
            </a:r>
            <a:r>
              <a:rPr dirty="0" sz="1200" spc="-5">
                <a:latin typeface="Arial MT"/>
                <a:cs typeface="Arial MT"/>
              </a:rPr>
              <a:t>They develop their own code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ethics and do not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violate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Arial MT"/>
              <a:cs typeface="Arial MT"/>
            </a:endParaRPr>
          </a:p>
          <a:p>
            <a:pPr marL="698500" indent="-2292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profession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social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function:</a:t>
            </a:r>
            <a:endParaRPr sz="1200">
              <a:latin typeface="Arial"/>
              <a:cs typeface="Arial"/>
            </a:endParaRPr>
          </a:p>
          <a:p>
            <a:pPr algn="just" marL="469900">
              <a:lnSpc>
                <a:spcPct val="100000"/>
              </a:lnSpc>
              <a:spcBef>
                <a:spcPts val="420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living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society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where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follow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law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order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endParaRPr sz="1200">
              <a:latin typeface="Arial MT"/>
              <a:cs typeface="Arial MT"/>
            </a:endParaRPr>
          </a:p>
          <a:p>
            <a:pPr algn="just" marL="476250" marR="6985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we really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go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court, so law profession is </a:t>
            </a:r>
            <a:r>
              <a:rPr dirty="0" sz="1200">
                <a:latin typeface="Arial MT"/>
                <a:cs typeface="Arial MT"/>
              </a:rPr>
              <a:t>important </a:t>
            </a:r>
            <a:r>
              <a:rPr dirty="0" sz="1200" spc="-5">
                <a:latin typeface="Arial MT"/>
                <a:cs typeface="Arial MT"/>
              </a:rPr>
              <a:t>as social function. When we </a:t>
            </a:r>
            <a:r>
              <a:rPr dirty="0" sz="1200">
                <a:latin typeface="Arial MT"/>
                <a:cs typeface="Arial MT"/>
              </a:rPr>
              <a:t> talk </a:t>
            </a:r>
            <a:r>
              <a:rPr dirty="0" sz="1200" spc="-5">
                <a:latin typeface="Arial MT"/>
                <a:cs typeface="Arial MT"/>
              </a:rPr>
              <a:t>about social function, those occupations are called professions which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people needs </a:t>
            </a:r>
            <a:r>
              <a:rPr dirty="0" sz="1200">
                <a:latin typeface="Arial MT"/>
                <a:cs typeface="Arial MT"/>
              </a:rPr>
              <a:t> rather </a:t>
            </a:r>
            <a:r>
              <a:rPr dirty="0" sz="1200" spc="-5">
                <a:latin typeface="Arial MT"/>
                <a:cs typeface="Arial MT"/>
              </a:rPr>
              <a:t>people cannot survive without that profession. It should be the need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10">
                <a:latin typeface="Arial MT"/>
                <a:cs typeface="Arial MT"/>
              </a:rPr>
              <a:t>people. </a:t>
            </a:r>
            <a:r>
              <a:rPr dirty="0" sz="1200" spc="-5">
                <a:latin typeface="Arial MT"/>
                <a:cs typeface="Arial MT"/>
              </a:rPr>
              <a:t>So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job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profession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based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5">
                <a:latin typeface="Arial MT"/>
                <a:cs typeface="Arial MT"/>
              </a:rPr>
              <a:t> people’s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Arial MT"/>
              <a:cs typeface="Arial MT"/>
            </a:endParaRPr>
          </a:p>
          <a:p>
            <a:pPr marL="698500" indent="-2292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profession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allows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independence</a:t>
            </a:r>
            <a:r>
              <a:rPr dirty="0" sz="1200" b="1">
                <a:latin typeface="Arial"/>
                <a:cs typeface="Arial"/>
              </a:rPr>
              <a:t> or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Autonomy: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professions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strong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internal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organizations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where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</a:t>
            </a:r>
            <a:endParaRPr sz="1200">
              <a:latin typeface="Arial MT"/>
              <a:cs typeface="Arial MT"/>
            </a:endParaRPr>
          </a:p>
          <a:p>
            <a:pPr marL="476250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decisions.</a:t>
            </a:r>
            <a:endParaRPr sz="1200">
              <a:latin typeface="Arial MT"/>
              <a:cs typeface="Arial MT"/>
            </a:endParaRPr>
          </a:p>
          <a:p>
            <a:pPr algn="just" marL="476250" marR="6350" indent="-6350">
              <a:lnSpc>
                <a:spcPct val="1442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There autonomy is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individual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as well as collective level. E.g. a doctor has the autonomy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prescribe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medicines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patients.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serious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patient,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doctors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decide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treatment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patient.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 MT"/>
              <a:cs typeface="Arial MT"/>
            </a:endParaRPr>
          </a:p>
          <a:p>
            <a:pPr marL="233679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How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can teaching </a:t>
            </a:r>
            <a:r>
              <a:rPr dirty="0" sz="1400" b="1">
                <a:latin typeface="Arial"/>
                <a:cs typeface="Arial"/>
              </a:rPr>
              <a:t>be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considered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profession?</a:t>
            </a:r>
            <a:endParaRPr sz="1400">
              <a:latin typeface="Arial"/>
              <a:cs typeface="Arial"/>
            </a:endParaRPr>
          </a:p>
          <a:p>
            <a:pPr algn="just" marL="698500" indent="-229235">
              <a:lnSpc>
                <a:spcPct val="100000"/>
              </a:lnSpc>
              <a:spcBef>
                <a:spcPts val="800"/>
              </a:spcBef>
              <a:buChar char="•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principles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profession:</a:t>
            </a:r>
            <a:endParaRPr sz="1200">
              <a:latin typeface="Arial MT"/>
              <a:cs typeface="Arial MT"/>
            </a:endParaRPr>
          </a:p>
          <a:p>
            <a:pPr algn="just" marL="1155700">
              <a:lnSpc>
                <a:spcPct val="100000"/>
              </a:lnSpc>
              <a:spcBef>
                <a:spcPts val="434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enrolled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4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B.Ed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program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curriculum.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endParaRPr sz="1200">
              <a:latin typeface="Arial MT"/>
              <a:cs typeface="Arial MT"/>
            </a:endParaRPr>
          </a:p>
          <a:p>
            <a:pPr algn="just" marL="1162050" marR="508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basically a content which is based on all the concepts and principles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>
                <a:latin typeface="Arial MT"/>
                <a:cs typeface="Arial MT"/>
              </a:rPr>
              <a:t>learnt </a:t>
            </a:r>
            <a:r>
              <a:rPr dirty="0" sz="1200" spc="-5">
                <a:latin typeface="Arial MT"/>
                <a:cs typeface="Arial MT"/>
              </a:rPr>
              <a:t>e.g.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about how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learn? Philosophy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education,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teaching, educational research, assessment </a:t>
            </a:r>
            <a:r>
              <a:rPr dirty="0" sz="1200">
                <a:latin typeface="Arial MT"/>
                <a:cs typeface="Arial MT"/>
              </a:rPr>
              <a:t>&amp; </a:t>
            </a:r>
            <a:r>
              <a:rPr dirty="0" sz="1200" spc="-5">
                <a:latin typeface="Arial MT"/>
                <a:cs typeface="Arial MT"/>
              </a:rPr>
              <a:t>evaluation etc. so </a:t>
            </a:r>
            <a:r>
              <a:rPr dirty="0" sz="1200" spc="-10">
                <a:latin typeface="Arial MT"/>
                <a:cs typeface="Arial MT"/>
              </a:rPr>
              <a:t>all </a:t>
            </a:r>
            <a:r>
              <a:rPr dirty="0" sz="1200">
                <a:latin typeface="Arial MT"/>
                <a:cs typeface="Arial MT"/>
              </a:rPr>
              <a:t>these </a:t>
            </a:r>
            <a:r>
              <a:rPr dirty="0" sz="1200" spc="-5">
                <a:latin typeface="Arial MT"/>
                <a:cs typeface="Arial MT"/>
              </a:rPr>
              <a:t>subjects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provide </a:t>
            </a:r>
            <a:r>
              <a:rPr dirty="0" sz="1200">
                <a:latin typeface="Arial MT"/>
                <a:cs typeface="Arial MT"/>
              </a:rPr>
              <a:t>them </a:t>
            </a:r>
            <a:r>
              <a:rPr dirty="0" sz="1200" spc="-5">
                <a:latin typeface="Arial MT"/>
                <a:cs typeface="Arial MT"/>
              </a:rPr>
              <a:t>the knowledge which is a core requirement to be a teaching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Arial MT"/>
              <a:cs typeface="Arial MT"/>
            </a:endParaRPr>
          </a:p>
          <a:p>
            <a:pPr algn="just" marL="698500" indent="-229235">
              <a:lnSpc>
                <a:spcPct val="100000"/>
              </a:lnSpc>
              <a:buChar char="•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The techniques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845" cy="10960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941069" marR="889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Every </a:t>
            </a:r>
            <a:r>
              <a:rPr dirty="0" sz="1200" spc="-5">
                <a:latin typeface="Arial MT"/>
                <a:cs typeface="Arial MT"/>
              </a:rPr>
              <a:t>profession has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own techniques. Some teaching techniques </a:t>
            </a:r>
            <a:r>
              <a:rPr dirty="0" sz="1200">
                <a:latin typeface="Arial MT"/>
                <a:cs typeface="Arial MT"/>
              </a:rPr>
              <a:t>are: </a:t>
            </a:r>
            <a:r>
              <a:rPr dirty="0" sz="1200" spc="-5">
                <a:latin typeface="Arial MT"/>
                <a:cs typeface="Arial MT"/>
              </a:rPr>
              <a:t>how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students?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theoretical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background?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motivational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strategy,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elders.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way, </a:t>
            </a:r>
            <a:r>
              <a:rPr dirty="0" sz="1200" spc="-5">
                <a:latin typeface="Arial MT"/>
                <a:cs typeface="Arial MT"/>
              </a:rPr>
              <a:t>a teacher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know the techniques </a:t>
            </a:r>
            <a:r>
              <a:rPr dirty="0" sz="1200">
                <a:latin typeface="Arial MT"/>
                <a:cs typeface="Arial MT"/>
              </a:rPr>
              <a:t>to teach </a:t>
            </a:r>
            <a:r>
              <a:rPr dirty="0" sz="1200" spc="-5">
                <a:latin typeface="Arial MT"/>
                <a:cs typeface="Arial MT"/>
              </a:rPr>
              <a:t>different subjects. Because each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 have different demands or flavors </a:t>
            </a:r>
            <a:r>
              <a:rPr dirty="0" sz="1200" spc="-1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teacher needs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know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difference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teaching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English,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science or mathematics and other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Arial MT"/>
              <a:cs typeface="Arial MT"/>
            </a:endParaRPr>
          </a:p>
          <a:p>
            <a:pPr algn="just" marL="477520" indent="-229235">
              <a:lnSpc>
                <a:spcPct val="100000"/>
              </a:lnSpc>
              <a:buChar char="•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internally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self-disciplined:</a:t>
            </a:r>
            <a:endParaRPr sz="1200">
              <a:latin typeface="Arial MT"/>
              <a:cs typeface="Arial MT"/>
            </a:endParaRPr>
          </a:p>
          <a:p>
            <a:pPr algn="just" marL="934719">
              <a:lnSpc>
                <a:spcPct val="100000"/>
              </a:lnSpc>
              <a:spcBef>
                <a:spcPts val="420"/>
              </a:spcBef>
            </a:pPr>
            <a:r>
              <a:rPr dirty="0" sz="1200">
                <a:latin typeface="Arial MT"/>
                <a:cs typeface="Arial MT"/>
              </a:rPr>
              <a:t>Every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organizations;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unions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Pakistan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serving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endParaRPr sz="1200">
              <a:latin typeface="Arial MT"/>
              <a:cs typeface="Arial MT"/>
            </a:endParaRPr>
          </a:p>
          <a:p>
            <a:pPr algn="just" marL="941069" marR="508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purpose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protection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teachers’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rights.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society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named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“Society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Pakistani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English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Teachers”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(SPELT)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which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workshops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programs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 MT"/>
              <a:cs typeface="Arial MT"/>
            </a:endParaRPr>
          </a:p>
          <a:p>
            <a:pPr algn="just" marL="477520" indent="-229235">
              <a:lnSpc>
                <a:spcPct val="100000"/>
              </a:lnSpc>
              <a:buChar char="•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Teaching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function:</a:t>
            </a:r>
            <a:endParaRPr sz="1200">
              <a:latin typeface="Arial MT"/>
              <a:cs typeface="Arial MT"/>
            </a:endParaRPr>
          </a:p>
          <a:p>
            <a:pPr algn="just" marL="934719">
              <a:lnSpc>
                <a:spcPct val="100000"/>
              </a:lnSpc>
              <a:spcBef>
                <a:spcPts val="445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3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3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believe</a:t>
            </a:r>
            <a:r>
              <a:rPr dirty="0" sz="1200" spc="3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3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4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3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3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3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4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3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function.</a:t>
            </a:r>
            <a:r>
              <a:rPr dirty="0" sz="1200" spc="3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3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endParaRPr sz="1200">
              <a:latin typeface="Arial MT"/>
              <a:cs typeface="Arial MT"/>
            </a:endParaRPr>
          </a:p>
          <a:p>
            <a:pPr algn="just" marL="941069" marR="508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unfortunate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especially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Pakistan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mostly</a:t>
            </a:r>
            <a:r>
              <a:rPr dirty="0" sz="1200">
                <a:latin typeface="Arial MT"/>
                <a:cs typeface="Arial MT"/>
              </a:rPr>
              <a:t> teachers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 </a:t>
            </a:r>
            <a:r>
              <a:rPr dirty="0" sz="1200">
                <a:latin typeface="Arial MT"/>
                <a:cs typeface="Arial MT"/>
              </a:rPr>
              <a:t> subjects,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concerned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grades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concerned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holistic development.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obvious that teaching has a prime social function but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unfortunately,</a:t>
            </a:r>
            <a:r>
              <a:rPr dirty="0" sz="1200">
                <a:latin typeface="Arial MT"/>
                <a:cs typeface="Arial MT"/>
              </a:rPr>
              <a:t> 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Pakistani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context.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Arial MT"/>
              <a:cs typeface="Arial MT"/>
            </a:endParaRPr>
          </a:p>
          <a:p>
            <a:pPr algn="just" marL="477520" indent="-229235">
              <a:lnSpc>
                <a:spcPct val="100000"/>
              </a:lnSpc>
              <a:buChar char="•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Pakistan have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autonomy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not?</a:t>
            </a:r>
            <a:endParaRPr sz="1200">
              <a:latin typeface="Arial MT"/>
              <a:cs typeface="Arial MT"/>
            </a:endParaRPr>
          </a:p>
          <a:p>
            <a:pPr algn="just" marL="934719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Pakistan,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don’t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autonomy.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He/she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doesn’t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powers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endParaRPr sz="1200">
              <a:latin typeface="Arial MT"/>
              <a:cs typeface="Arial MT"/>
            </a:endParaRPr>
          </a:p>
          <a:p>
            <a:pPr algn="just" marL="941069" marR="8255">
              <a:lnSpc>
                <a:spcPct val="144000"/>
              </a:lnSpc>
            </a:pPr>
            <a:r>
              <a:rPr dirty="0" sz="1200" spc="-5">
                <a:latin typeface="Arial MT"/>
                <a:cs typeface="Arial MT"/>
              </a:rPr>
              <a:t>decision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making.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representative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policy making. Curriculum is formed under Ministry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Education </a:t>
            </a:r>
            <a:r>
              <a:rPr dirty="0" sz="1200">
                <a:latin typeface="Arial MT"/>
                <a:cs typeface="Arial MT"/>
              </a:rPr>
              <a:t>many times </a:t>
            </a:r>
            <a:r>
              <a:rPr dirty="0" sz="1200" spc="-5">
                <a:latin typeface="Arial MT"/>
                <a:cs typeface="Arial MT"/>
              </a:rPr>
              <a:t>as in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2006, 2007, 2008 </a:t>
            </a:r>
            <a:r>
              <a:rPr dirty="0" sz="1200">
                <a:latin typeface="Arial MT"/>
                <a:cs typeface="Arial MT"/>
              </a:rPr>
              <a:t>etc </a:t>
            </a:r>
            <a:r>
              <a:rPr dirty="0" sz="1200" spc="-5">
                <a:latin typeface="Arial MT"/>
                <a:cs typeface="Arial MT"/>
              </a:rPr>
              <a:t>but when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curriculum is sent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schools, teachers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 supposed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that curricula. They neither are nor supposed to go beyond those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curricula. School management decides that which subjects must be taught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autonomy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given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400" b="1">
                <a:latin typeface="Arial"/>
                <a:cs typeface="Arial"/>
              </a:rPr>
              <a:t>What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future teachers actually need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to</a:t>
            </a:r>
            <a:r>
              <a:rPr dirty="0" sz="1400" spc="-5" b="1">
                <a:latin typeface="Arial"/>
                <a:cs typeface="Arial"/>
              </a:rPr>
              <a:t> learn </a:t>
            </a:r>
            <a:r>
              <a:rPr dirty="0" sz="1400" b="1">
                <a:latin typeface="Arial"/>
                <a:cs typeface="Arial"/>
              </a:rPr>
              <a:t>is:</a:t>
            </a:r>
            <a:endParaRPr sz="1400">
              <a:latin typeface="Arial"/>
              <a:cs typeface="Arial"/>
            </a:endParaRPr>
          </a:p>
          <a:p>
            <a:pPr marL="351155">
              <a:lnSpc>
                <a:spcPct val="100000"/>
              </a:lnSpc>
              <a:spcBef>
                <a:spcPts val="715"/>
              </a:spcBef>
            </a:pPr>
            <a:r>
              <a:rPr dirty="0" sz="1200" b="1">
                <a:latin typeface="Arial"/>
                <a:cs typeface="Arial"/>
              </a:rPr>
              <a:t>You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need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5" b="1">
                <a:latin typeface="Arial"/>
                <a:cs typeface="Arial"/>
              </a:rPr>
              <a:t> develop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belief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that:</a:t>
            </a:r>
            <a:endParaRPr sz="1200">
              <a:latin typeface="Arial"/>
              <a:cs typeface="Arial"/>
            </a:endParaRPr>
          </a:p>
          <a:p>
            <a:pPr algn="just" marL="477520" marR="10160" indent="-228600">
              <a:lnSpc>
                <a:spcPct val="144200"/>
              </a:lnSpc>
              <a:spcBef>
                <a:spcPts val="240"/>
              </a:spcBef>
              <a:buChar char="•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are living in a changing world, </a:t>
            </a:r>
            <a:r>
              <a:rPr dirty="0" sz="1200">
                <a:latin typeface="Arial MT"/>
                <a:cs typeface="Arial MT"/>
              </a:rPr>
              <a:t>thus </a:t>
            </a:r>
            <a:r>
              <a:rPr dirty="0" sz="1200" spc="-5">
                <a:latin typeface="Arial MT"/>
                <a:cs typeface="Arial MT"/>
              </a:rPr>
              <a:t>being professionals we constantly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upgrade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 knowledge.</a:t>
            </a:r>
            <a:endParaRPr sz="1200">
              <a:latin typeface="Arial MT"/>
              <a:cs typeface="Arial MT"/>
            </a:endParaRPr>
          </a:p>
          <a:p>
            <a:pPr algn="just" marL="941069" marR="8255" indent="-6350">
              <a:lnSpc>
                <a:spcPct val="1443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Being a teacher you really </a:t>
            </a:r>
            <a:r>
              <a:rPr dirty="0" sz="1200" spc="5">
                <a:latin typeface="Arial MT"/>
                <a:cs typeface="Arial MT"/>
              </a:rPr>
              <a:t>need </a:t>
            </a:r>
            <a:r>
              <a:rPr dirty="0" sz="1200" spc="-5">
                <a:latin typeface="Arial MT"/>
                <a:cs typeface="Arial MT"/>
              </a:rPr>
              <a:t>to equip with every new research that is coming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 motivation, pedagogy </a:t>
            </a:r>
            <a:r>
              <a:rPr dirty="0" sz="1200">
                <a:latin typeface="Arial MT"/>
                <a:cs typeface="Arial MT"/>
              </a:rPr>
              <a:t>or any </a:t>
            </a:r>
            <a:r>
              <a:rPr dirty="0" sz="1200" spc="-5">
                <a:latin typeface="Arial MT"/>
                <a:cs typeface="Arial MT"/>
              </a:rPr>
              <a:t>other.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can’t be </a:t>
            </a:r>
            <a:r>
              <a:rPr dirty="0" sz="1200">
                <a:latin typeface="Arial MT"/>
                <a:cs typeface="Arial MT"/>
              </a:rPr>
              <a:t>done </a:t>
            </a:r>
            <a:r>
              <a:rPr dirty="0" sz="1200" spc="-5">
                <a:latin typeface="Arial MT"/>
                <a:cs typeface="Arial MT"/>
              </a:rPr>
              <a:t>unless you believe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you need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said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“To</a:t>
            </a:r>
            <a:r>
              <a:rPr dirty="0" sz="1200">
                <a:latin typeface="Arial MT"/>
                <a:cs typeface="Arial MT"/>
              </a:rPr>
              <a:t> Learn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Change”</a:t>
            </a:r>
            <a:endParaRPr sz="1200">
              <a:latin typeface="Arial MT"/>
              <a:cs typeface="Arial MT"/>
            </a:endParaRPr>
          </a:p>
          <a:p>
            <a:pPr marL="477520" marR="8255" indent="-228600">
              <a:lnSpc>
                <a:spcPct val="144600"/>
              </a:lnSpc>
              <a:spcBef>
                <a:spcPts val="24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acquire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foundations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education,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pedagogical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pedagogical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>
                <a:latin typeface="Arial MT"/>
                <a:cs typeface="Arial MT"/>
              </a:rPr>
              <a:t> and </a:t>
            </a:r>
            <a:r>
              <a:rPr dirty="0" sz="1200" spc="-5">
                <a:latin typeface="Arial MT"/>
                <a:cs typeface="Arial MT"/>
              </a:rPr>
              <a:t>evaluation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techniques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endParaRPr sz="1200">
              <a:latin typeface="Arial MT"/>
              <a:cs typeface="Arial MT"/>
            </a:endParaRPr>
          </a:p>
          <a:p>
            <a:pPr algn="just" marL="972819" marR="6985" indent="-228600">
              <a:lnSpc>
                <a:spcPct val="144200"/>
              </a:lnSpc>
              <a:spcBef>
                <a:spcPts val="35"/>
              </a:spcBef>
            </a:pP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Foundation </a:t>
            </a:r>
            <a:r>
              <a:rPr dirty="0" sz="1200" b="1">
                <a:latin typeface="Arial"/>
                <a:cs typeface="Arial"/>
              </a:rPr>
              <a:t>of education</a:t>
            </a:r>
            <a:r>
              <a:rPr dirty="0" sz="1200">
                <a:latin typeface="Arial MT"/>
                <a:cs typeface="Arial MT"/>
              </a:rPr>
              <a:t>: </a:t>
            </a:r>
            <a:r>
              <a:rPr dirty="0" sz="1200" spc="-5">
                <a:latin typeface="Arial MT"/>
                <a:cs typeface="Arial MT"/>
              </a:rPr>
              <a:t>you will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4 year program </a:t>
            </a:r>
            <a:r>
              <a:rPr dirty="0" sz="1200" spc="-10">
                <a:latin typeface="Arial MT"/>
                <a:cs typeface="Arial MT"/>
              </a:rPr>
              <a:t>about </a:t>
            </a:r>
            <a:r>
              <a:rPr dirty="0" sz="1200" spc="-5">
                <a:latin typeface="Arial MT"/>
                <a:cs typeface="Arial MT"/>
              </a:rPr>
              <a:t>philosophy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psychology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etc.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foundations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4480" cy="7908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972819" marR="9525" indent="-228600">
              <a:lnSpc>
                <a:spcPct val="144200"/>
              </a:lnSpc>
              <a:spcBef>
                <a:spcPts val="100"/>
              </a:spcBef>
              <a:buFont typeface="Times New Roman"/>
              <a:buChar char="-"/>
              <a:tabLst>
                <a:tab pos="973455" algn="l"/>
              </a:tabLst>
            </a:pPr>
            <a:r>
              <a:rPr dirty="0" sz="1200" spc="-5" b="1">
                <a:latin typeface="Arial"/>
                <a:cs typeface="Arial"/>
              </a:rPr>
              <a:t>Pedagogical knowledge: </a:t>
            </a:r>
            <a:r>
              <a:rPr dirty="0" sz="1200" spc="-5">
                <a:latin typeface="Arial MT"/>
                <a:cs typeface="Arial MT"/>
              </a:rPr>
              <a:t>pedagogical </a:t>
            </a:r>
            <a:r>
              <a:rPr dirty="0" sz="1200" spc="-10">
                <a:latin typeface="Arial MT"/>
                <a:cs typeface="Arial MT"/>
              </a:rPr>
              <a:t>knowledge </a:t>
            </a:r>
            <a:r>
              <a:rPr dirty="0" sz="1200" spc="-5">
                <a:latin typeface="Arial MT"/>
                <a:cs typeface="Arial MT"/>
              </a:rPr>
              <a:t>means the </a:t>
            </a:r>
            <a:r>
              <a:rPr dirty="0" sz="1200" spc="-10">
                <a:latin typeface="Arial MT"/>
                <a:cs typeface="Arial MT"/>
              </a:rPr>
              <a:t>knowledge </a:t>
            </a:r>
            <a:r>
              <a:rPr dirty="0" sz="1200" spc="-5">
                <a:latin typeface="Arial MT"/>
                <a:cs typeface="Arial MT"/>
              </a:rPr>
              <a:t>about how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algn="just" marL="972819" marR="7620" indent="-228600">
              <a:lnSpc>
                <a:spcPct val="143300"/>
              </a:lnSpc>
              <a:spcBef>
                <a:spcPts val="35"/>
              </a:spcBef>
              <a:buFont typeface="Times New Roman"/>
              <a:buChar char="-"/>
              <a:tabLst>
                <a:tab pos="973455" algn="l"/>
              </a:tabLst>
            </a:pPr>
            <a:r>
              <a:rPr dirty="0" sz="1200" spc="-5" b="1">
                <a:latin typeface="Arial"/>
                <a:cs typeface="Arial"/>
              </a:rPr>
              <a:t>Pedagogical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content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knowledge: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own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demands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flavors,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subjects.</a:t>
            </a:r>
            <a:endParaRPr sz="1200">
              <a:latin typeface="Arial MT"/>
              <a:cs typeface="Arial MT"/>
            </a:endParaRPr>
          </a:p>
          <a:p>
            <a:pPr algn="just" marL="972819" marR="8890" indent="-228600">
              <a:lnSpc>
                <a:spcPct val="144200"/>
              </a:lnSpc>
              <a:spcBef>
                <a:spcPts val="25"/>
              </a:spcBef>
              <a:buFont typeface="Times New Roman"/>
              <a:buChar char="-"/>
              <a:tabLst>
                <a:tab pos="973455" algn="l"/>
              </a:tabLst>
            </a:pPr>
            <a:r>
              <a:rPr dirty="0" sz="1200" spc="-5" b="1">
                <a:latin typeface="Arial"/>
                <a:cs typeface="Arial"/>
              </a:rPr>
              <a:t>Assessment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Evaluation: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know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assess? 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assess? </a:t>
            </a:r>
            <a:r>
              <a:rPr dirty="0" sz="1200">
                <a:latin typeface="Arial MT"/>
                <a:cs typeface="Arial MT"/>
              </a:rPr>
              <a:t>Why </a:t>
            </a:r>
            <a:r>
              <a:rPr dirty="0" sz="1200" spc="-5">
                <a:latin typeface="Arial MT"/>
                <a:cs typeface="Arial MT"/>
              </a:rPr>
              <a:t>to assess? Similarly, 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report results? 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data?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these things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5">
                <a:latin typeface="Arial MT"/>
                <a:cs typeface="Arial MT"/>
              </a:rPr>
              <a:t> acquired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teacher.</a:t>
            </a:r>
            <a:endParaRPr sz="1200">
              <a:latin typeface="Arial MT"/>
              <a:cs typeface="Arial MT"/>
            </a:endParaRPr>
          </a:p>
          <a:p>
            <a:pPr algn="just" marL="972819" marR="6985" indent="-228600">
              <a:lnSpc>
                <a:spcPct val="144200"/>
              </a:lnSpc>
              <a:spcBef>
                <a:spcPts val="25"/>
              </a:spcBef>
              <a:buFont typeface="Times New Roman"/>
              <a:buChar char="-"/>
              <a:tabLst>
                <a:tab pos="973455" algn="l"/>
              </a:tabLst>
            </a:pPr>
            <a:r>
              <a:rPr dirty="0" sz="1200" b="1">
                <a:latin typeface="Arial"/>
                <a:cs typeface="Arial"/>
              </a:rPr>
              <a:t>Teaching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techniques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skills: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techniques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5">
                <a:latin typeface="Arial MT"/>
                <a:cs typeface="Arial MT"/>
              </a:rPr>
              <a:t> 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Arial MT"/>
              <a:cs typeface="Arial MT"/>
            </a:endParaRPr>
          </a:p>
          <a:p>
            <a:pPr marL="287020">
              <a:lnSpc>
                <a:spcPct val="100000"/>
              </a:lnSpc>
              <a:spcBef>
                <a:spcPts val="5"/>
              </a:spcBef>
            </a:pPr>
            <a:r>
              <a:rPr dirty="0" sz="1400" spc="-5" b="1">
                <a:latin typeface="Arial"/>
                <a:cs typeface="Arial"/>
              </a:rPr>
              <a:t>Things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you</a:t>
            </a:r>
            <a:r>
              <a:rPr dirty="0" sz="1400" b="1">
                <a:latin typeface="Arial"/>
                <a:cs typeface="Arial"/>
              </a:rPr>
              <a:t> have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to</a:t>
            </a:r>
            <a:r>
              <a:rPr dirty="0" sz="1400" spc="-5" b="1">
                <a:latin typeface="Arial"/>
                <a:cs typeface="Arial"/>
              </a:rPr>
              <a:t> learn,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when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you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want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to</a:t>
            </a:r>
            <a:r>
              <a:rPr dirty="0" sz="1400" b="1">
                <a:latin typeface="Arial"/>
                <a:cs typeface="Arial"/>
              </a:rPr>
              <a:t> be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professional:</a:t>
            </a:r>
            <a:endParaRPr sz="14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Teaching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skills: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77520" algn="l"/>
                <a:tab pos="478155" algn="l"/>
                <a:tab pos="2534920" algn="l"/>
              </a:tabLst>
            </a:pPr>
            <a:r>
              <a:rPr dirty="0" sz="1200" spc="-5" b="1">
                <a:latin typeface="Arial"/>
                <a:cs typeface="Arial"/>
              </a:rPr>
              <a:t>General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teaching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skills: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-	</a:t>
            </a: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lessons</a:t>
            </a:r>
            <a:endParaRPr sz="1200">
              <a:latin typeface="Arial"/>
              <a:cs typeface="Arial"/>
            </a:endParaRPr>
          </a:p>
          <a:p>
            <a:pPr lvl="1" marL="972819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972819" algn="l"/>
                <a:tab pos="973455" algn="l"/>
              </a:tabLst>
            </a:pPr>
            <a:r>
              <a:rPr dirty="0" sz="1200" b="1">
                <a:latin typeface="Arial"/>
                <a:cs typeface="Arial"/>
              </a:rPr>
              <a:t>Classroom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management:</a:t>
            </a:r>
            <a:endParaRPr sz="1200">
              <a:latin typeface="Arial"/>
              <a:cs typeface="Arial"/>
            </a:endParaRPr>
          </a:p>
          <a:p>
            <a:pPr lvl="1" marL="972819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972819" algn="l"/>
                <a:tab pos="973455" algn="l"/>
              </a:tabLst>
            </a:pPr>
            <a:r>
              <a:rPr dirty="0" sz="1200" spc="-5" b="1">
                <a:latin typeface="Arial"/>
                <a:cs typeface="Arial"/>
              </a:rPr>
              <a:t>Assessing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pupils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 lvl="1" marL="972819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972819" algn="l"/>
                <a:tab pos="973455" algn="l"/>
              </a:tabLst>
            </a:pPr>
            <a:r>
              <a:rPr dirty="0" sz="1200" spc="-5" b="1">
                <a:latin typeface="Arial"/>
                <a:cs typeface="Arial"/>
              </a:rPr>
              <a:t>Motivating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pupils</a:t>
            </a:r>
            <a:endParaRPr sz="1200">
              <a:latin typeface="Arial"/>
              <a:cs typeface="Arial"/>
            </a:endParaRPr>
          </a:p>
          <a:p>
            <a:pPr lvl="1" marL="972819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972819" algn="l"/>
                <a:tab pos="973455" algn="l"/>
              </a:tabLst>
            </a:pPr>
            <a:r>
              <a:rPr dirty="0" sz="1200" spc="-5" b="1">
                <a:latin typeface="Arial"/>
                <a:cs typeface="Arial"/>
              </a:rPr>
              <a:t>Managing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pupils’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behavior</a:t>
            </a:r>
            <a:endParaRPr sz="1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Times New Roman"/>
              <a:buChar char="-"/>
            </a:pPr>
            <a:endParaRPr sz="13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Times New Roman"/>
              <a:buChar char="-"/>
            </a:pP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Develop professional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values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and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practice:</a:t>
            </a:r>
            <a:endParaRPr sz="1400">
              <a:latin typeface="Arial"/>
              <a:cs typeface="Arial"/>
            </a:endParaRPr>
          </a:p>
          <a:p>
            <a:pPr marL="339090">
              <a:lnSpc>
                <a:spcPct val="100000"/>
              </a:lnSpc>
              <a:spcBef>
                <a:spcPts val="850"/>
              </a:spcBef>
            </a:pPr>
            <a:r>
              <a:rPr dirty="0" sz="1200" spc="-5">
                <a:latin typeface="Arial MT"/>
                <a:cs typeface="Arial MT"/>
              </a:rPr>
              <a:t>Professional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values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are: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8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Commitment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8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Honesty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70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Intellectual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honesty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700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Reflection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action.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5">
                <a:latin typeface="Arial MT"/>
                <a:cs typeface="Arial MT"/>
              </a:rPr>
              <a:t> action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There should not be gap in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-5">
                <a:latin typeface="Arial MT"/>
                <a:cs typeface="Arial MT"/>
              </a:rPr>
              <a:t>teachers say and what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do. Because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there is any gap </a:t>
            </a:r>
            <a:r>
              <a:rPr dirty="0" sz="1200">
                <a:latin typeface="Arial MT"/>
                <a:cs typeface="Arial MT"/>
              </a:rPr>
              <a:t> then </a:t>
            </a:r>
            <a:r>
              <a:rPr dirty="0" sz="1200" spc="-5">
                <a:latin typeface="Arial MT"/>
                <a:cs typeface="Arial MT"/>
              </a:rPr>
              <a:t>they would not be 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present themselves as </a:t>
            </a:r>
            <a:r>
              <a:rPr dirty="0" sz="1200">
                <a:latin typeface="Arial MT"/>
                <a:cs typeface="Arial MT"/>
              </a:rPr>
              <a:t>true </a:t>
            </a:r>
            <a:r>
              <a:rPr dirty="0" sz="1200" spc="-5">
                <a:latin typeface="Arial MT"/>
                <a:cs typeface="Arial MT"/>
              </a:rPr>
              <a:t>role models.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being professionals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 have certain knowledge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-5">
                <a:latin typeface="Arial MT"/>
                <a:cs typeface="Arial MT"/>
              </a:rPr>
              <a:t>profession.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should have skills but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the same time, we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exhibit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dispositions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 </a:t>
            </a:r>
            <a:r>
              <a:rPr dirty="0" sz="1200" spc="-5">
                <a:latin typeface="Arial MT"/>
                <a:cs typeface="Arial MT"/>
              </a:rPr>
              <a:t>good role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9021445"/>
            <a:ext cx="6979920" cy="353695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 #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03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“Professional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Behaviors and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Context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Schools”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9617202"/>
            <a:ext cx="4606925" cy="1678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Lecture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objectives: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6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Reflected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principles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80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Analyzed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educational,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collegial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context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Principles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for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professional behaviors:</a:t>
            </a:r>
            <a:endParaRPr sz="14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1019"/>
              </a:spcBef>
              <a:buSzPct val="85714"/>
              <a:buFont typeface="Arial MT"/>
              <a:buChar char="•"/>
              <a:tabLst>
                <a:tab pos="477520" algn="l"/>
                <a:tab pos="478155" algn="l"/>
              </a:tabLst>
            </a:pPr>
            <a:r>
              <a:rPr dirty="0" sz="1400" spc="-5" b="1">
                <a:latin typeface="Arial"/>
                <a:cs typeface="Arial"/>
              </a:rPr>
              <a:t>Commitment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to</a:t>
            </a:r>
            <a:r>
              <a:rPr dirty="0" sz="1400" spc="-10" b="1">
                <a:latin typeface="Arial"/>
                <a:cs typeface="Arial"/>
              </a:rPr>
              <a:t> the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students: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0080" y="575563"/>
            <a:ext cx="6720205" cy="11164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966469" marR="68580" indent="-6350">
              <a:lnSpc>
                <a:spcPct val="1442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An educator </a:t>
            </a:r>
            <a:r>
              <a:rPr dirty="0" sz="1200" spc="-5" b="1">
                <a:latin typeface="Arial"/>
                <a:cs typeface="Arial"/>
              </a:rPr>
              <a:t>needs </a:t>
            </a:r>
            <a:r>
              <a:rPr dirty="0" sz="1200" spc="-1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strive </a:t>
            </a:r>
            <a:r>
              <a:rPr dirty="0" sz="1200" b="1">
                <a:latin typeface="Arial"/>
                <a:cs typeface="Arial"/>
              </a:rPr>
              <a:t>to help </a:t>
            </a:r>
            <a:r>
              <a:rPr dirty="0" sz="1200" spc="-5" b="1">
                <a:latin typeface="Arial"/>
                <a:cs typeface="Arial"/>
              </a:rPr>
              <a:t>each student realize his/her potential as a </a:t>
            </a:r>
            <a:r>
              <a:rPr dirty="0" sz="1200" b="1">
                <a:latin typeface="Arial"/>
                <a:cs typeface="Arial"/>
              </a:rPr>
              <a:t> worthy and </a:t>
            </a:r>
            <a:r>
              <a:rPr dirty="0" sz="1200" spc="-5" b="1">
                <a:latin typeface="Arial"/>
                <a:cs typeface="Arial"/>
              </a:rPr>
              <a:t>effective member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the society.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teacher needs to </a:t>
            </a:r>
            <a:r>
              <a:rPr dirty="0" sz="1200">
                <a:latin typeface="Arial MT"/>
                <a:cs typeface="Arial MT"/>
              </a:rPr>
              <a:t>effort </a:t>
            </a:r>
            <a:r>
              <a:rPr dirty="0" sz="1200" spc="-5">
                <a:latin typeface="Arial MT"/>
                <a:cs typeface="Arial MT"/>
              </a:rPr>
              <a:t>individually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every student must realize his/her potentials and reach to the maximum level. If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are not successful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realizing the potential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every student, then </a:t>
            </a:r>
            <a:r>
              <a:rPr dirty="0" sz="1200">
                <a:latin typeface="Arial MT"/>
                <a:cs typeface="Arial MT"/>
              </a:rPr>
              <a:t>actually </a:t>
            </a:r>
            <a:r>
              <a:rPr dirty="0" sz="1200" spc="-5">
                <a:latin typeface="Arial MT"/>
                <a:cs typeface="Arial MT"/>
              </a:rPr>
              <a:t>we are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committed to the students. The level of commitment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profession must be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range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every student. In </a:t>
            </a:r>
            <a:r>
              <a:rPr dirty="0" sz="1200">
                <a:latin typeface="Arial MT"/>
                <a:cs typeface="Arial MT"/>
              </a:rPr>
              <a:t>most of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cases, </a:t>
            </a:r>
            <a:r>
              <a:rPr dirty="0" sz="1200" spc="-5">
                <a:latin typeface="Arial MT"/>
                <a:cs typeface="Arial MT"/>
              </a:rPr>
              <a:t>teacher really appreciates high </a:t>
            </a:r>
            <a:r>
              <a:rPr dirty="0" sz="1200">
                <a:latin typeface="Arial MT"/>
                <a:cs typeface="Arial MT"/>
              </a:rPr>
              <a:t> achievers. At </a:t>
            </a:r>
            <a:r>
              <a:rPr dirty="0" sz="1200" spc="-5">
                <a:latin typeface="Arial MT"/>
                <a:cs typeface="Arial MT"/>
              </a:rPr>
              <a:t>times, a teacher 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much concerned about </a:t>
            </a:r>
            <a:r>
              <a:rPr dirty="0" sz="1200">
                <a:latin typeface="Arial MT"/>
                <a:cs typeface="Arial MT"/>
              </a:rPr>
              <a:t>the learning of </a:t>
            </a:r>
            <a:r>
              <a:rPr dirty="0" sz="1200" spc="-5">
                <a:latin typeface="Arial MT"/>
                <a:cs typeface="Arial MT"/>
              </a:rPr>
              <a:t>low </a:t>
            </a:r>
            <a:r>
              <a:rPr dirty="0" sz="1200">
                <a:latin typeface="Arial MT"/>
                <a:cs typeface="Arial MT"/>
              </a:rPr>
              <a:t> achievers.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mostly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focuses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low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achievers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achievers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 the students with average learning are ignored. They also need the attention of 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low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achievers.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 MT"/>
              <a:cs typeface="Arial MT"/>
            </a:endParaRPr>
          </a:p>
          <a:p>
            <a:pPr algn="just" marL="966469" marR="65405" indent="-6350">
              <a:lnSpc>
                <a:spcPct val="144200"/>
              </a:lnSpc>
            </a:pPr>
            <a:r>
              <a:rPr dirty="0" sz="1200" b="1">
                <a:latin typeface="Arial"/>
                <a:cs typeface="Arial"/>
              </a:rPr>
              <a:t>Educators </a:t>
            </a:r>
            <a:r>
              <a:rPr dirty="0" sz="1200" spc="-5" b="1">
                <a:latin typeface="Arial"/>
                <a:cs typeface="Arial"/>
              </a:rPr>
              <a:t>work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stimulate </a:t>
            </a:r>
            <a:r>
              <a:rPr dirty="0" sz="1200" b="1">
                <a:latin typeface="Arial"/>
                <a:cs typeface="Arial"/>
              </a:rPr>
              <a:t>the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spirit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 inquiry</a:t>
            </a:r>
            <a:r>
              <a:rPr dirty="0" sz="1200" b="1">
                <a:latin typeface="Arial"/>
                <a:cs typeface="Arial"/>
              </a:rPr>
              <a:t> and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acquisition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 knowledge.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are inquisitive by </a:t>
            </a:r>
            <a:r>
              <a:rPr dirty="0" sz="1200">
                <a:latin typeface="Arial MT"/>
                <a:cs typeface="Arial MT"/>
              </a:rPr>
              <a:t>nature. </a:t>
            </a:r>
            <a:r>
              <a:rPr dirty="0" sz="1200" spc="-5">
                <a:latin typeface="Arial MT"/>
                <a:cs typeface="Arial MT"/>
              </a:rPr>
              <a:t>When a child </a:t>
            </a:r>
            <a:r>
              <a:rPr dirty="0" sz="1200">
                <a:latin typeface="Arial MT"/>
                <a:cs typeface="Arial MT"/>
              </a:rPr>
              <a:t>grows </a:t>
            </a:r>
            <a:r>
              <a:rPr dirty="0" sz="1200" spc="-5">
                <a:latin typeface="Arial MT"/>
                <a:cs typeface="Arial MT"/>
              </a:rPr>
              <a:t>up,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>
                <a:latin typeface="Arial MT"/>
                <a:cs typeface="Arial MT"/>
              </a:rPr>
              <a:t>asks many </a:t>
            </a:r>
            <a:r>
              <a:rPr dirty="0" sz="1200" spc="-5">
                <a:latin typeface="Arial MT"/>
                <a:cs typeface="Arial MT"/>
              </a:rPr>
              <a:t>questions about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surroundings.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happening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around.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sent </a:t>
            </a:r>
            <a:r>
              <a:rPr dirty="0" sz="1200" spc="-5">
                <a:latin typeface="Arial MT"/>
                <a:cs typeface="Arial MT"/>
              </a:rPr>
              <a:t>to school, normally he </a:t>
            </a:r>
            <a:r>
              <a:rPr dirty="0" sz="1200">
                <a:latin typeface="Arial MT"/>
                <a:cs typeface="Arial MT"/>
              </a:rPr>
              <a:t>asks many </a:t>
            </a:r>
            <a:r>
              <a:rPr dirty="0" sz="1200" spc="-5">
                <a:latin typeface="Arial MT"/>
                <a:cs typeface="Arial MT"/>
              </a:rPr>
              <a:t>questions but </a:t>
            </a:r>
            <a:r>
              <a:rPr dirty="0" sz="1200" spc="-10">
                <a:latin typeface="Arial MT"/>
                <a:cs typeface="Arial MT"/>
              </a:rPr>
              <a:t>those </a:t>
            </a:r>
            <a:r>
              <a:rPr dirty="0" sz="1200" spc="-5">
                <a:latin typeface="Arial MT"/>
                <a:cs typeface="Arial MT"/>
              </a:rPr>
              <a:t>questions are not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answered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properly.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educators,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keep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spirit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depth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rather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stimulate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spirit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habitual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habit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him.</a:t>
            </a:r>
            <a:endParaRPr sz="1200">
              <a:latin typeface="Arial MT"/>
              <a:cs typeface="Arial MT"/>
            </a:endParaRPr>
          </a:p>
          <a:p>
            <a:pPr algn="just" marL="966469" marR="68580" indent="-6350">
              <a:lnSpc>
                <a:spcPct val="144200"/>
              </a:lnSpc>
              <a:spcBef>
                <a:spcPts val="10"/>
              </a:spcBef>
            </a:pP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do not develop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habit then ultimately, the students </a:t>
            </a:r>
            <a:r>
              <a:rPr dirty="0" sz="1200" spc="-10">
                <a:latin typeface="Arial MT"/>
                <a:cs typeface="Arial MT"/>
              </a:rPr>
              <a:t>will </a:t>
            </a:r>
            <a:r>
              <a:rPr dirty="0" sz="1200" spc="-5">
                <a:latin typeface="Arial MT"/>
                <a:cs typeface="Arial MT"/>
              </a:rPr>
              <a:t>not enjoy their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acquisition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Everything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seems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burden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them.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educators,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 that we are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committed teachers then we really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raise the potential 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stimulate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spirit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acquisition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knowledge.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00">
              <a:latin typeface="Arial MT"/>
              <a:cs typeface="Arial MT"/>
            </a:endParaRPr>
          </a:p>
          <a:p>
            <a:pPr marL="502920" indent="-229235">
              <a:lnSpc>
                <a:spcPct val="100000"/>
              </a:lnSpc>
              <a:buSzPct val="85714"/>
              <a:buFont typeface="Arial MT"/>
              <a:buChar char="•"/>
              <a:tabLst>
                <a:tab pos="502920" algn="l"/>
                <a:tab pos="503555" algn="l"/>
              </a:tabLst>
            </a:pPr>
            <a:r>
              <a:rPr dirty="0" sz="1400" spc="-5" b="1">
                <a:latin typeface="Arial"/>
                <a:cs typeface="Arial"/>
              </a:rPr>
              <a:t>Commitment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to</a:t>
            </a:r>
            <a:r>
              <a:rPr dirty="0" sz="1400" spc="-10" b="1">
                <a:latin typeface="Arial"/>
                <a:cs typeface="Arial"/>
              </a:rPr>
              <a:t> the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profession:</a:t>
            </a:r>
            <a:endParaRPr sz="1400">
              <a:latin typeface="Arial"/>
              <a:cs typeface="Arial"/>
            </a:endParaRPr>
          </a:p>
          <a:p>
            <a:pPr lvl="1" marL="960119" indent="-229235">
              <a:lnSpc>
                <a:spcPct val="100000"/>
              </a:lnSpc>
              <a:spcBef>
                <a:spcPts val="380"/>
              </a:spcBef>
              <a:buFont typeface="Times New Roman"/>
              <a:buAutoNum type="arabicPeriod"/>
              <a:tabLst>
                <a:tab pos="960755" algn="l"/>
              </a:tabLst>
            </a:pPr>
            <a:r>
              <a:rPr dirty="0" sz="1200" b="1">
                <a:latin typeface="Arial"/>
                <a:cs typeface="Arial"/>
              </a:rPr>
              <a:t>Raising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professional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standards</a:t>
            </a:r>
            <a:endParaRPr sz="1200">
              <a:latin typeface="Arial"/>
              <a:cs typeface="Arial"/>
            </a:endParaRPr>
          </a:p>
          <a:p>
            <a:pPr lvl="1" marL="960119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960755" algn="l"/>
              </a:tabLst>
            </a:pPr>
            <a:r>
              <a:rPr dirty="0" sz="1200" spc="-5" b="1">
                <a:latin typeface="Arial"/>
                <a:cs typeface="Arial"/>
              </a:rPr>
              <a:t>Professional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judgment</a:t>
            </a:r>
            <a:endParaRPr sz="1200">
              <a:latin typeface="Arial"/>
              <a:cs typeface="Arial"/>
            </a:endParaRPr>
          </a:p>
          <a:p>
            <a:pPr lvl="1" marL="960119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960755" algn="l"/>
              </a:tabLst>
            </a:pPr>
            <a:r>
              <a:rPr dirty="0" sz="1200" b="1">
                <a:latin typeface="Arial"/>
                <a:cs typeface="Arial"/>
              </a:rPr>
              <a:t>Influencing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policies</a:t>
            </a:r>
            <a:endParaRPr sz="1200">
              <a:latin typeface="Arial"/>
              <a:cs typeface="Arial"/>
            </a:endParaRPr>
          </a:p>
          <a:p>
            <a:pPr lvl="1" marL="960119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960755" algn="l"/>
              </a:tabLst>
            </a:pPr>
            <a:r>
              <a:rPr dirty="0" sz="1200" spc="-5" b="1">
                <a:latin typeface="Arial"/>
                <a:cs typeface="Arial"/>
              </a:rPr>
              <a:t>Professional organization</a:t>
            </a:r>
            <a:endParaRPr sz="1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Times New Roman"/>
              <a:buAutoNum type="arabicPeriod"/>
            </a:pPr>
            <a:endParaRPr sz="13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Times New Roman"/>
              <a:buAutoNum type="arabicPeriod"/>
            </a:pP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educators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exert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effort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to:</a:t>
            </a:r>
            <a:endParaRPr sz="1200">
              <a:latin typeface="Arial MT"/>
              <a:cs typeface="Arial MT"/>
            </a:endParaRPr>
          </a:p>
          <a:p>
            <a:pPr marL="502920" indent="-22923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502920" algn="l"/>
                <a:tab pos="503555" algn="l"/>
              </a:tabLst>
            </a:pPr>
            <a:r>
              <a:rPr dirty="0" sz="1200" spc="-5" b="1">
                <a:latin typeface="Arial"/>
                <a:cs typeface="Arial"/>
              </a:rPr>
              <a:t>Raise professional standards: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5">
                <a:latin typeface="Arial MT"/>
                <a:cs typeface="Arial MT"/>
              </a:rPr>
              <a:t> standards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teaching?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 needs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know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 MT"/>
              <a:cs typeface="Arial MT"/>
            </a:endParaRPr>
          </a:p>
          <a:p>
            <a:pPr algn="just" marL="1417320" marR="68580" indent="-228600">
              <a:lnSpc>
                <a:spcPct val="144200"/>
              </a:lnSpc>
              <a:spcBef>
                <a:spcPts val="5"/>
              </a:spcBef>
              <a:buFont typeface="Times New Roman"/>
              <a:buChar char="-"/>
              <a:tabLst>
                <a:tab pos="1417955" algn="l"/>
              </a:tabLst>
            </a:pPr>
            <a:r>
              <a:rPr dirty="0" sz="1200" spc="-5" b="1">
                <a:latin typeface="Arial"/>
                <a:cs typeface="Arial"/>
              </a:rPr>
              <a:t>A </a:t>
            </a:r>
            <a:r>
              <a:rPr dirty="0" sz="1200" b="1">
                <a:latin typeface="Arial"/>
                <a:cs typeface="Arial"/>
              </a:rPr>
              <a:t>pedagogical </a:t>
            </a:r>
            <a:r>
              <a:rPr dirty="0" sz="1200" spc="-5" b="1">
                <a:latin typeface="Arial"/>
                <a:cs typeface="Arial"/>
              </a:rPr>
              <a:t>content </a:t>
            </a:r>
            <a:r>
              <a:rPr dirty="0" sz="1200" b="1">
                <a:latin typeface="Arial"/>
                <a:cs typeface="Arial"/>
              </a:rPr>
              <a:t>knowledge:</a:t>
            </a:r>
            <a:r>
              <a:rPr dirty="0" sz="1200" spc="33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subject a teacher is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class </a:t>
            </a:r>
            <a:r>
              <a:rPr dirty="0" sz="1200">
                <a:latin typeface="Arial MT"/>
                <a:cs typeface="Arial MT"/>
              </a:rPr>
              <a:t>8</a:t>
            </a:r>
            <a:r>
              <a:rPr dirty="0" baseline="27777" sz="1200">
                <a:latin typeface="Arial MT"/>
                <a:cs typeface="Arial MT"/>
              </a:rPr>
              <a:t>th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know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content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that subject and the methods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</a:t>
            </a:r>
            <a:r>
              <a:rPr dirty="0" sz="1200">
                <a:latin typeface="Arial MT"/>
                <a:cs typeface="Arial MT"/>
              </a:rPr>
              <a:t> that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particular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1417320" marR="63500" indent="-228600">
              <a:lnSpc>
                <a:spcPct val="144200"/>
              </a:lnSpc>
              <a:buFont typeface="Times New Roman"/>
              <a:buChar char="-"/>
              <a:tabLst>
                <a:tab pos="1417955" algn="l"/>
              </a:tabLst>
            </a:pPr>
            <a:r>
              <a:rPr dirty="0" sz="1200" b="1">
                <a:latin typeface="Arial"/>
                <a:cs typeface="Arial"/>
              </a:rPr>
              <a:t>Communication </a:t>
            </a:r>
            <a:r>
              <a:rPr dirty="0" sz="1200" spc="-5" b="1">
                <a:latin typeface="Arial"/>
                <a:cs typeface="Arial"/>
              </a:rPr>
              <a:t>skills: </a:t>
            </a:r>
            <a:r>
              <a:rPr dirty="0" sz="1200" spc="-5">
                <a:latin typeface="Arial MT"/>
                <a:cs typeface="Arial MT"/>
              </a:rPr>
              <a:t>communication skills must be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clear that a teacher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convey lecture </a:t>
            </a:r>
            <a:r>
              <a:rPr dirty="0" sz="1200">
                <a:latin typeface="Arial MT"/>
                <a:cs typeface="Arial MT"/>
              </a:rPr>
              <a:t>to the </a:t>
            </a:r>
            <a:r>
              <a:rPr dirty="0" sz="1200" spc="-5">
                <a:latin typeface="Arial MT"/>
                <a:cs typeface="Arial MT"/>
              </a:rPr>
              <a:t>students easily.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teacher must have a good </a:t>
            </a:r>
            <a:r>
              <a:rPr dirty="0" sz="1200" spc="-10">
                <a:latin typeface="Arial MT"/>
                <a:cs typeface="Arial MT"/>
              </a:rPr>
              <a:t>eye </a:t>
            </a:r>
            <a:r>
              <a:rPr dirty="0" sz="1200" spc="-5">
                <a:latin typeface="Arial MT"/>
                <a:cs typeface="Arial MT"/>
              </a:rPr>
              <a:t> contact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verbal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non-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verbal cues.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1576" y="840485"/>
            <a:ext cx="6629400" cy="1063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385570" marR="10160" indent="-228600">
              <a:lnSpc>
                <a:spcPct val="144300"/>
              </a:lnSpc>
              <a:spcBef>
                <a:spcPts val="100"/>
              </a:spcBef>
              <a:buFont typeface="Times New Roman"/>
              <a:buChar char="-"/>
              <a:tabLst>
                <a:tab pos="1386205" algn="l"/>
              </a:tabLst>
            </a:pPr>
            <a:r>
              <a:rPr dirty="0" sz="1200" spc="-5" b="1">
                <a:latin typeface="Arial"/>
                <a:cs typeface="Arial"/>
              </a:rPr>
              <a:t>Assessing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skills: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1385570" marR="7620" indent="-228600">
              <a:lnSpc>
                <a:spcPct val="143900"/>
              </a:lnSpc>
              <a:buFont typeface="Times New Roman"/>
              <a:buChar char="-"/>
              <a:tabLst>
                <a:tab pos="1386205" algn="l"/>
              </a:tabLst>
            </a:pPr>
            <a:r>
              <a:rPr dirty="0" sz="1200" spc="-5" b="1">
                <a:latin typeface="Arial"/>
                <a:cs typeface="Arial"/>
              </a:rPr>
              <a:t>How students </a:t>
            </a:r>
            <a:r>
              <a:rPr dirty="0" sz="1200" b="1">
                <a:latin typeface="Arial"/>
                <a:cs typeface="Arial"/>
              </a:rPr>
              <a:t>learn: </a:t>
            </a:r>
            <a:r>
              <a:rPr dirty="0" sz="1200" spc="-5">
                <a:latin typeface="Arial MT"/>
                <a:cs typeface="Arial MT"/>
              </a:rPr>
              <a:t>a teacher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know how students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e.g. </a:t>
            </a:r>
            <a:r>
              <a:rPr dirty="0" sz="1200">
                <a:latin typeface="Arial MT"/>
                <a:cs typeface="Arial MT"/>
              </a:rPr>
              <a:t>if I </a:t>
            </a:r>
            <a:r>
              <a:rPr dirty="0" sz="1200" spc="-5">
                <a:latin typeface="Arial MT"/>
                <a:cs typeface="Arial MT"/>
              </a:rPr>
              <a:t>am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 of language, </a:t>
            </a:r>
            <a:r>
              <a:rPr dirty="0" sz="1200">
                <a:latin typeface="Arial MT"/>
                <a:cs typeface="Arial MT"/>
              </a:rPr>
              <a:t>I must </a:t>
            </a:r>
            <a:r>
              <a:rPr dirty="0" sz="1200" spc="-5">
                <a:latin typeface="Arial MT"/>
                <a:cs typeface="Arial MT"/>
              </a:rPr>
              <a:t>know how students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>
                <a:latin typeface="Arial MT"/>
                <a:cs typeface="Arial MT"/>
              </a:rPr>
              <a:t>first </a:t>
            </a:r>
            <a:r>
              <a:rPr dirty="0" sz="1200" spc="-5">
                <a:latin typeface="Arial MT"/>
                <a:cs typeface="Arial MT"/>
              </a:rPr>
              <a:t>language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 they learn their second language.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teacher must know the learning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theories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well.</a:t>
            </a:r>
            <a:endParaRPr sz="1200">
              <a:latin typeface="Arial MT"/>
              <a:cs typeface="Arial MT"/>
            </a:endParaRPr>
          </a:p>
          <a:p>
            <a:pPr algn="just" marL="1385570" marR="6985" indent="-228600">
              <a:lnSpc>
                <a:spcPct val="144200"/>
              </a:lnSpc>
              <a:spcBef>
                <a:spcPts val="25"/>
              </a:spcBef>
              <a:buFont typeface="Times New Roman"/>
              <a:buChar char="-"/>
              <a:tabLst>
                <a:tab pos="1386205" algn="l"/>
              </a:tabLst>
            </a:pPr>
            <a:r>
              <a:rPr dirty="0" sz="1200" b="1">
                <a:latin typeface="Arial"/>
                <a:cs typeface="Arial"/>
              </a:rPr>
              <a:t>Recent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developments: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recent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related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the </a:t>
            </a:r>
            <a:r>
              <a:rPr dirty="0" sz="1200" spc="-5">
                <a:latin typeface="Arial MT"/>
                <a:cs typeface="Arial MT"/>
              </a:rPr>
              <a:t>profession. Recent development means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recent research on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theories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assess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algn="just" marL="12700" marR="6350" indent="36195">
              <a:lnSpc>
                <a:spcPct val="1442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If I </a:t>
            </a:r>
            <a:r>
              <a:rPr dirty="0" sz="1200" spc="-5">
                <a:latin typeface="Arial MT"/>
                <a:cs typeface="Arial MT"/>
              </a:rPr>
              <a:t>claim that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10">
                <a:latin typeface="Arial MT"/>
                <a:cs typeface="Arial MT"/>
              </a:rPr>
              <a:t>am </a:t>
            </a:r>
            <a:r>
              <a:rPr dirty="0" sz="1200" spc="-5">
                <a:latin typeface="Arial MT"/>
                <a:cs typeface="Arial MT"/>
              </a:rPr>
              <a:t>a professional teacher, </a:t>
            </a:r>
            <a:r>
              <a:rPr dirty="0" sz="1200" spc="-10">
                <a:latin typeface="Arial MT"/>
                <a:cs typeface="Arial MT"/>
              </a:rPr>
              <a:t>then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must come </a:t>
            </a:r>
            <a:r>
              <a:rPr dirty="0" sz="1200" spc="-10">
                <a:latin typeface="Arial MT"/>
                <a:cs typeface="Arial MT"/>
              </a:rPr>
              <a:t>up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these standards.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the point 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raise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standards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meet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meet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standards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minimum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requirement,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good professional 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one who go one </a:t>
            </a:r>
            <a:r>
              <a:rPr dirty="0" sz="1200">
                <a:latin typeface="Arial MT"/>
                <a:cs typeface="Arial MT"/>
              </a:rPr>
              <a:t>step </a:t>
            </a:r>
            <a:r>
              <a:rPr dirty="0" sz="1200" spc="-5">
                <a:latin typeface="Arial MT"/>
                <a:cs typeface="Arial MT"/>
              </a:rPr>
              <a:t>ahead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those standards.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educators really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raise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standards.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Arial MT"/>
              <a:cs typeface="Arial MT"/>
            </a:endParaRPr>
          </a:p>
          <a:p>
            <a:pPr marL="471170" indent="-229235">
              <a:lnSpc>
                <a:spcPct val="100000"/>
              </a:lnSpc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Promote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climate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that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encourages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exercise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professional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judgement:</a:t>
            </a:r>
            <a:endParaRPr sz="1200">
              <a:latin typeface="Arial"/>
              <a:cs typeface="Arial"/>
            </a:endParaRPr>
          </a:p>
          <a:p>
            <a:pPr algn="just" marL="928369">
              <a:lnSpc>
                <a:spcPct val="100000"/>
              </a:lnSpc>
              <a:spcBef>
                <a:spcPts val="409"/>
              </a:spcBef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judgement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by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himself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judgement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endParaRPr sz="1200">
              <a:latin typeface="Arial MT"/>
              <a:cs typeface="Arial MT"/>
            </a:endParaRPr>
          </a:p>
          <a:p>
            <a:pPr algn="just" marL="934719" marR="10795">
              <a:lnSpc>
                <a:spcPct val="144000"/>
              </a:lnSpc>
            </a:pP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judgement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vocabulary but he is </a:t>
            </a:r>
            <a:r>
              <a:rPr dirty="0" sz="1200">
                <a:latin typeface="Arial MT"/>
                <a:cs typeface="Arial MT"/>
              </a:rPr>
              <a:t>weak </a:t>
            </a:r>
            <a:r>
              <a:rPr dirty="0" sz="1200" spc="-5">
                <a:latin typeface="Arial MT"/>
                <a:cs typeface="Arial MT"/>
              </a:rPr>
              <a:t>in grammar. This judgement is a professional judgement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judgement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evidence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5">
                <a:latin typeface="Arial MT"/>
                <a:cs typeface="Arial MT"/>
              </a:rPr>
              <a:t> 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judgement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made.</a:t>
            </a:r>
            <a:r>
              <a:rPr dirty="0" sz="1200">
                <a:latin typeface="Arial MT"/>
                <a:cs typeface="Arial MT"/>
              </a:rPr>
              <a:t> If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judgement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made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parents,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involvement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teacher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5">
                <a:latin typeface="Arial MT"/>
                <a:cs typeface="Arial MT"/>
              </a:rPr>
              <a:t> 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professional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judgement.</a:t>
            </a:r>
            <a:endParaRPr sz="1200">
              <a:latin typeface="Arial MT"/>
              <a:cs typeface="Arial MT"/>
            </a:endParaRPr>
          </a:p>
          <a:p>
            <a:pPr algn="just" marL="934719" marR="6350" indent="-6350">
              <a:lnSpc>
                <a:spcPct val="1442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professional standard demands from </a:t>
            </a:r>
            <a:r>
              <a:rPr dirty="0" sz="1200" spc="-10">
                <a:latin typeface="Arial MT"/>
                <a:cs typeface="Arial MT"/>
              </a:rPr>
              <a:t>us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create a climate that promotes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judgement.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climate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>
                <a:latin typeface="Arial MT"/>
                <a:cs typeface="Arial MT"/>
              </a:rPr>
              <a:t> parents-teachers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meetings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where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parents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told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role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teachers,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teacher’s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expectations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the parents as </a:t>
            </a:r>
            <a:r>
              <a:rPr dirty="0" sz="1200" spc="-10">
                <a:latin typeface="Arial MT"/>
                <a:cs typeface="Arial MT"/>
              </a:rPr>
              <a:t>well </a:t>
            </a:r>
            <a:r>
              <a:rPr dirty="0" sz="1200" spc="-5">
                <a:latin typeface="Arial MT"/>
                <a:cs typeface="Arial MT"/>
              </a:rPr>
              <a:t>as students and the </a:t>
            </a:r>
            <a:r>
              <a:rPr dirty="0" sz="1200">
                <a:latin typeface="Arial MT"/>
                <a:cs typeface="Arial MT"/>
              </a:rPr>
              <a:t>community. In this </a:t>
            </a:r>
            <a:r>
              <a:rPr dirty="0" sz="1200" spc="-5">
                <a:latin typeface="Arial MT"/>
                <a:cs typeface="Arial MT"/>
              </a:rPr>
              <a:t>way, we are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educate teachers as well as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community.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cannot achieve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standard by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indifferent.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algn="just" marL="471170" marR="11430" indent="-228600">
              <a:lnSpc>
                <a:spcPct val="144200"/>
              </a:lnSpc>
              <a:spcBef>
                <a:spcPts val="860"/>
              </a:spcBef>
              <a:buFont typeface="Arial MT"/>
              <a:buChar char="•"/>
              <a:tabLst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Achieve conditions that attract persons </a:t>
            </a:r>
            <a:r>
              <a:rPr dirty="0" sz="1200" b="1">
                <a:latin typeface="Arial"/>
                <a:cs typeface="Arial"/>
              </a:rPr>
              <a:t>worthy of </a:t>
            </a:r>
            <a:r>
              <a:rPr dirty="0" sz="1200" spc="-5" b="1">
                <a:latin typeface="Arial"/>
                <a:cs typeface="Arial"/>
              </a:rPr>
              <a:t>the </a:t>
            </a:r>
            <a:r>
              <a:rPr dirty="0" sz="1200" b="1">
                <a:latin typeface="Arial"/>
                <a:cs typeface="Arial"/>
              </a:rPr>
              <a:t>trust </a:t>
            </a:r>
            <a:r>
              <a:rPr dirty="0" sz="1200" spc="-1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careers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education: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Unfortunately, our </a:t>
            </a:r>
            <a:r>
              <a:rPr dirty="0" sz="1200" spc="-10">
                <a:latin typeface="Arial MT"/>
                <a:cs typeface="Arial MT"/>
              </a:rPr>
              <a:t>own </a:t>
            </a:r>
            <a:r>
              <a:rPr dirty="0" sz="1200" spc="-5">
                <a:latin typeface="Arial MT"/>
                <a:cs typeface="Arial MT"/>
              </a:rPr>
              <a:t>self-image is that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could not get admissions in engineering </a:t>
            </a:r>
            <a:r>
              <a:rPr dirty="0" sz="1200" spc="-1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 medicine</a:t>
            </a:r>
            <a:r>
              <a:rPr dirty="0" sz="1200">
                <a:latin typeface="Arial MT"/>
                <a:cs typeface="Arial MT"/>
              </a:rPr>
              <a:t> or </a:t>
            </a:r>
            <a:r>
              <a:rPr dirty="0" sz="1200" spc="-5">
                <a:latin typeface="Arial MT"/>
                <a:cs typeface="Arial MT"/>
              </a:rPr>
              <a:t>computer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science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 teaching.</a:t>
            </a:r>
            <a:endParaRPr sz="1200">
              <a:latin typeface="Arial MT"/>
              <a:cs typeface="Arial MT"/>
            </a:endParaRPr>
          </a:p>
          <a:p>
            <a:pPr algn="just" marL="934719" marR="8890" indent="-6350">
              <a:lnSpc>
                <a:spcPct val="1442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own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self-image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regarding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 a career.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have to advocate that make teaching your </a:t>
            </a:r>
            <a:r>
              <a:rPr dirty="0" sz="1200">
                <a:latin typeface="Arial MT"/>
                <a:cs typeface="Arial MT"/>
              </a:rPr>
              <a:t>first </a:t>
            </a:r>
            <a:r>
              <a:rPr dirty="0" sz="1200" spc="-5">
                <a:latin typeface="Arial MT"/>
                <a:cs typeface="Arial MT"/>
              </a:rPr>
              <a:t>career option.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far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own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image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cannot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changed,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could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convince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teachers,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advocate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>
                <a:latin typeface="Arial MT"/>
                <a:cs typeface="Arial MT"/>
              </a:rPr>
              <a:t> 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career.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471170" marR="5080" indent="-471170">
              <a:lnSpc>
                <a:spcPct val="136700"/>
              </a:lnSpc>
              <a:spcBef>
                <a:spcPts val="965"/>
              </a:spcBef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Assist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preventing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practice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profession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unqualified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persons: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Unqualified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2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2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degrees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i.e.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B.Ed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M.Ed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considered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845" cy="10836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941069" marR="10795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teachers. </a:t>
            </a:r>
            <a:r>
              <a:rPr dirty="0" sz="1200">
                <a:latin typeface="Arial MT"/>
                <a:cs typeface="Arial MT"/>
              </a:rPr>
              <a:t>We must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stop such practices that unqualified people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replaced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qualified.</a:t>
            </a:r>
            <a:endParaRPr sz="1200">
              <a:latin typeface="Arial MT"/>
              <a:cs typeface="Arial MT"/>
            </a:endParaRPr>
          </a:p>
          <a:p>
            <a:pPr algn="just" marL="941069" marR="5715" indent="36195">
              <a:lnSpc>
                <a:spcPct val="143900"/>
              </a:lnSpc>
              <a:spcBef>
                <a:spcPts val="30"/>
              </a:spcBef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government sectors,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want to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teachers then you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get a degree in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education.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unfortunately,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private sectors and </a:t>
            </a:r>
            <a:r>
              <a:rPr dirty="0" sz="1200">
                <a:latin typeface="Arial MT"/>
                <a:cs typeface="Arial MT"/>
              </a:rPr>
              <a:t>specially </a:t>
            </a:r>
            <a:r>
              <a:rPr dirty="0" sz="1200" spc="-5">
                <a:latin typeface="Arial MT"/>
                <a:cs typeface="Arial MT"/>
              </a:rPr>
              <a:t>in street schools there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unqualified.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started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after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matriculation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intermediate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exams.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result,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no education,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Arial MT"/>
              <a:cs typeface="Arial MT"/>
            </a:endParaRPr>
          </a:p>
          <a:p>
            <a:pPr algn="just" marL="18415" marR="6985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So, if </a:t>
            </a:r>
            <a:r>
              <a:rPr dirty="0" sz="1200" spc="-5">
                <a:latin typeface="Arial MT"/>
                <a:cs typeface="Arial MT"/>
              </a:rPr>
              <a:t>we say that we are professional teachers, then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show our commitment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and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show our commitment to the profession.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need to raise professional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standards. We need to promote a climate that encourages exercise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professional judgement.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advocate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career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stop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unqualified people.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Arial"/>
                <a:cs typeface="Arial"/>
              </a:rPr>
              <a:t>Key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context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schooling:</a:t>
            </a:r>
            <a:endParaRPr sz="1400">
              <a:latin typeface="Arial"/>
              <a:cs typeface="Arial"/>
            </a:endParaRPr>
          </a:p>
          <a:p>
            <a:pPr algn="just" marL="18415" marR="10160" indent="-6350">
              <a:lnSpc>
                <a:spcPts val="2080"/>
              </a:lnSpc>
              <a:spcBef>
                <a:spcPts val="95"/>
              </a:spcBef>
            </a:pP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interviews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taken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views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schooling.</a:t>
            </a:r>
            <a:r>
              <a:rPr dirty="0" sz="1200" spc="-1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brief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view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those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interviews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25"/>
              </a:spcBef>
            </a:pPr>
            <a:r>
              <a:rPr dirty="0" sz="1200" b="1">
                <a:latin typeface="Arial"/>
                <a:cs typeface="Arial"/>
              </a:rPr>
              <a:t>Interview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(Parent):</a:t>
            </a:r>
            <a:endParaRPr sz="1200">
              <a:latin typeface="Arial"/>
              <a:cs typeface="Arial"/>
            </a:endParaRPr>
          </a:p>
          <a:p>
            <a:pPr algn="just" marL="18415" marR="8890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sent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become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better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human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right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wrong.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get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better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job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opportunities.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educated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better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job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get. </a:t>
            </a:r>
            <a:r>
              <a:rPr dirty="0" sz="1200" spc="-5">
                <a:latin typeface="Arial MT"/>
                <a:cs typeface="Arial MT"/>
              </a:rPr>
              <a:t>There are </a:t>
            </a:r>
            <a:r>
              <a:rPr dirty="0" sz="1200">
                <a:latin typeface="Arial MT"/>
                <a:cs typeface="Arial MT"/>
              </a:rPr>
              <a:t>lots of </a:t>
            </a:r>
            <a:r>
              <a:rPr dirty="0" sz="1200" spc="-5">
                <a:latin typeface="Arial MT"/>
                <a:cs typeface="Arial MT"/>
              </a:rPr>
              <a:t>activities in school. The child </a:t>
            </a:r>
            <a:r>
              <a:rPr dirty="0" sz="1200">
                <a:latin typeface="Arial MT"/>
                <a:cs typeface="Arial MT"/>
              </a:rPr>
              <a:t>learns </a:t>
            </a:r>
            <a:r>
              <a:rPr dirty="0" sz="1200" spc="-5">
                <a:latin typeface="Arial MT"/>
                <a:cs typeface="Arial MT"/>
              </a:rPr>
              <a:t>the attitudes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winning and losing.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self-confidence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25"/>
              </a:spcBef>
            </a:pPr>
            <a:r>
              <a:rPr dirty="0" sz="1200" b="1">
                <a:latin typeface="Arial"/>
                <a:cs typeface="Arial"/>
              </a:rPr>
              <a:t>Interview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2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(Student):</a:t>
            </a:r>
            <a:endParaRPr sz="1200">
              <a:latin typeface="Arial"/>
              <a:cs typeface="Arial"/>
            </a:endParaRPr>
          </a:p>
          <a:p>
            <a:pPr algn="just" marL="18415" marR="10160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like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go </a:t>
            </a:r>
            <a:r>
              <a:rPr dirty="0" sz="1200" spc="-5">
                <a:latin typeface="Arial MT"/>
                <a:cs typeface="Arial MT"/>
              </a:rPr>
              <a:t>to school because there are number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activities like coloring and painting.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like </a:t>
            </a:r>
            <a:r>
              <a:rPr dirty="0" sz="1200">
                <a:latin typeface="Arial MT"/>
                <a:cs typeface="Arial MT"/>
              </a:rPr>
              <a:t>my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speak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politely.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scold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allowed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19"/>
              </a:spcBef>
            </a:pPr>
            <a:r>
              <a:rPr dirty="0" sz="1200" b="1">
                <a:latin typeface="Arial"/>
                <a:cs typeface="Arial"/>
              </a:rPr>
              <a:t>Interview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3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(Teacher):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School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platform where children’s moral, </a:t>
            </a:r>
            <a:r>
              <a:rPr dirty="0" sz="1200">
                <a:latin typeface="Arial MT"/>
                <a:cs typeface="Arial MT"/>
              </a:rPr>
              <a:t>physical, </a:t>
            </a:r>
            <a:r>
              <a:rPr dirty="0" sz="1200" spc="-5">
                <a:latin typeface="Arial MT"/>
                <a:cs typeface="Arial MT"/>
              </a:rPr>
              <a:t>emotional </a:t>
            </a:r>
            <a:r>
              <a:rPr dirty="0" sz="120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ethical development takes </a:t>
            </a:r>
            <a:r>
              <a:rPr dirty="0" sz="1200">
                <a:latin typeface="Arial MT"/>
                <a:cs typeface="Arial MT"/>
              </a:rPr>
              <a:t> place. A </a:t>
            </a:r>
            <a:r>
              <a:rPr dirty="0" sz="1200" spc="-5">
                <a:latin typeface="Arial MT"/>
                <a:cs typeface="Arial MT"/>
              </a:rPr>
              <a:t>teacher is </a:t>
            </a:r>
            <a:r>
              <a:rPr dirty="0" sz="1200">
                <a:latin typeface="Arial MT"/>
                <a:cs typeface="Arial MT"/>
              </a:rPr>
              <a:t>responsible </a:t>
            </a:r>
            <a:r>
              <a:rPr dirty="0" sz="1200" spc="-5">
                <a:latin typeface="Arial MT"/>
                <a:cs typeface="Arial MT"/>
              </a:rPr>
              <a:t>in the cognitive development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child.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child considered school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 a new place and feel </a:t>
            </a:r>
            <a:r>
              <a:rPr dirty="0" sz="1200">
                <a:latin typeface="Arial MT"/>
                <a:cs typeface="Arial MT"/>
              </a:rPr>
              <a:t>difficulty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adjustment. But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responsibility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teacher to provide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him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environment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not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50"/>
              </a:spcBef>
            </a:pPr>
            <a:r>
              <a:rPr dirty="0" sz="1200" spc="-5">
                <a:latin typeface="Arial MT"/>
                <a:cs typeface="Arial MT"/>
              </a:rPr>
              <a:t>subjects must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taught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co-curricular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Assumptions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schooling: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Group</a:t>
            </a:r>
            <a:r>
              <a:rPr dirty="0" sz="1200" spc="-5" b="1">
                <a:latin typeface="Arial"/>
                <a:cs typeface="Arial"/>
              </a:rPr>
              <a:t> orientation activity: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430"/>
              </a:spcBef>
            </a:pPr>
            <a:r>
              <a:rPr dirty="0" sz="1200" spc="-5">
                <a:latin typeface="Arial MT"/>
                <a:cs typeface="Arial MT"/>
              </a:rPr>
              <a:t>Schooling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single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person,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orientation.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successful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625"/>
              </a:spcBef>
            </a:pPr>
            <a:r>
              <a:rPr dirty="0" sz="1200">
                <a:latin typeface="Arial MT"/>
                <a:cs typeface="Arial MT"/>
              </a:rPr>
              <a:t>whose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orientation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strong.</a:t>
            </a:r>
            <a:endParaRPr sz="1200">
              <a:latin typeface="Arial MT"/>
              <a:cs typeface="Arial MT"/>
            </a:endParaRPr>
          </a:p>
          <a:p>
            <a:pPr marL="469900" marR="9525" indent="-228600">
              <a:lnSpc>
                <a:spcPct val="145800"/>
              </a:lnSpc>
              <a:spcBef>
                <a:spcPts val="254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Schools </a:t>
            </a:r>
            <a:r>
              <a:rPr dirty="0" sz="1200" spc="-5" b="1">
                <a:latin typeface="Arial"/>
                <a:cs typeface="Arial"/>
              </a:rPr>
              <a:t>are composed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many different types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people, sects, </a:t>
            </a:r>
            <a:r>
              <a:rPr dirty="0" sz="1200" b="1">
                <a:latin typeface="Arial"/>
                <a:cs typeface="Arial"/>
              </a:rPr>
              <a:t>religion, </a:t>
            </a:r>
            <a:r>
              <a:rPr dirty="0" sz="1200" spc="-5" b="1">
                <a:latin typeface="Arial"/>
                <a:cs typeface="Arial"/>
              </a:rPr>
              <a:t>classes and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economic</a:t>
            </a:r>
            <a:r>
              <a:rPr dirty="0" sz="1200" spc="-5" b="1">
                <a:latin typeface="Arial"/>
                <a:cs typeface="Arial"/>
              </a:rPr>
              <a:t> beliefs: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845" cy="10913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9525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unfortunate that sometimes we think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wearing a same uniform will also make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thoughts uniform. They are never alike; they are diverse people coming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different </a:t>
            </a:r>
            <a:r>
              <a:rPr dirty="0" sz="1200">
                <a:latin typeface="Arial MT"/>
                <a:cs typeface="Arial MT"/>
              </a:rPr>
              <a:t>classes,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economic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beliefs,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religions.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Schools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follow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certain curriculum: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3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1000"/>
              </a:spcBef>
            </a:pPr>
            <a:r>
              <a:rPr dirty="0" sz="1200" b="1">
                <a:latin typeface="Arial"/>
                <a:cs typeface="Arial"/>
              </a:rPr>
              <a:t>Educationist</a:t>
            </a:r>
            <a:r>
              <a:rPr dirty="0" sz="1200" spc="-5" b="1">
                <a:latin typeface="Arial"/>
                <a:cs typeface="Arial"/>
              </a:rPr>
              <a:t> named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key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context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schooling</a:t>
            </a:r>
            <a:r>
              <a:rPr dirty="0" sz="1200" b="1">
                <a:latin typeface="Arial"/>
                <a:cs typeface="Arial"/>
              </a:rPr>
              <a:t> as: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Educational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Social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Collegial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(Professional)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Schooling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educational context:</a:t>
            </a:r>
            <a:endParaRPr sz="1200">
              <a:latin typeface="Arial"/>
              <a:cs typeface="Arial"/>
            </a:endParaRPr>
          </a:p>
          <a:p>
            <a:pPr algn="just" marL="18415" marR="10160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assume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called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schools.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59"/>
              </a:spcBef>
            </a:pPr>
            <a:r>
              <a:rPr dirty="0" sz="1200" spc="-5">
                <a:latin typeface="Arial MT"/>
                <a:cs typeface="Arial MT"/>
              </a:rPr>
              <a:t>subject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are:</a:t>
            </a:r>
            <a:endParaRPr sz="1200">
              <a:latin typeface="Arial MT"/>
              <a:cs typeface="Arial MT"/>
            </a:endParaRPr>
          </a:p>
          <a:p>
            <a:pPr algn="just" marL="477520" marR="10795" indent="-228600">
              <a:lnSpc>
                <a:spcPct val="144200"/>
              </a:lnSpc>
              <a:spcBef>
                <a:spcPts val="15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Literal </a:t>
            </a:r>
            <a:r>
              <a:rPr dirty="0" sz="1200" spc="-5" b="1">
                <a:latin typeface="Arial"/>
                <a:cs typeface="Arial"/>
              </a:rPr>
              <a:t>level: </a:t>
            </a:r>
            <a:r>
              <a:rPr dirty="0" sz="1200" spc="-5">
                <a:latin typeface="Arial MT"/>
                <a:cs typeface="Arial MT"/>
              </a:rPr>
              <a:t>it means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whatever you teach the students, the students get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well. E.g. If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teach them some definitions, they can learn </a:t>
            </a:r>
            <a:r>
              <a:rPr dirty="0" sz="1200">
                <a:latin typeface="Arial MT"/>
                <a:cs typeface="Arial MT"/>
              </a:rPr>
              <a:t>them. </a:t>
            </a:r>
            <a:r>
              <a:rPr dirty="0" sz="1200" spc="-5">
                <a:latin typeface="Arial MT"/>
                <a:cs typeface="Arial MT"/>
              </a:rPr>
              <a:t>If you taught them some facts, they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understand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 algn="just" marL="477520" marR="5080" indent="-228600">
              <a:lnSpc>
                <a:spcPct val="144200"/>
              </a:lnSpc>
              <a:spcBef>
                <a:spcPts val="20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Application </a:t>
            </a:r>
            <a:r>
              <a:rPr dirty="0" sz="1200" spc="-5" b="1">
                <a:latin typeface="Arial"/>
                <a:cs typeface="Arial"/>
              </a:rPr>
              <a:t>level: </a:t>
            </a:r>
            <a:r>
              <a:rPr dirty="0" sz="1200" spc="-5">
                <a:latin typeface="Arial MT"/>
                <a:cs typeface="Arial MT"/>
              </a:rPr>
              <a:t>whatever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content is taught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students, they must </a:t>
            </a:r>
            <a:r>
              <a:rPr dirty="0" sz="1200" spc="-5">
                <a:latin typeface="Arial MT"/>
                <a:cs typeface="Arial MT"/>
              </a:rPr>
              <a:t>know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application as well. E.g. you teach the students about map reading, and then you ask them </a:t>
            </a:r>
            <a:r>
              <a:rPr dirty="0" sz="1200">
                <a:latin typeface="Arial MT"/>
                <a:cs typeface="Arial MT"/>
              </a:rPr>
              <a:t> to tell </a:t>
            </a:r>
            <a:r>
              <a:rPr dirty="0" sz="1200" spc="-5">
                <a:latin typeface="Arial MT"/>
                <a:cs typeface="Arial MT"/>
              </a:rPr>
              <a:t>you what </a:t>
            </a:r>
            <a:r>
              <a:rPr dirty="0" sz="1200">
                <a:latin typeface="Arial MT"/>
                <a:cs typeface="Arial MT"/>
              </a:rPr>
              <a:t>map </a:t>
            </a:r>
            <a:r>
              <a:rPr dirty="0" sz="1200" spc="-5">
                <a:latin typeface="Arial MT"/>
                <a:cs typeface="Arial MT"/>
              </a:rPr>
              <a:t>reading is? They will </a:t>
            </a:r>
            <a:r>
              <a:rPr dirty="0" sz="1200">
                <a:latin typeface="Arial MT"/>
                <a:cs typeface="Arial MT"/>
              </a:rPr>
              <a:t>tell </a:t>
            </a:r>
            <a:r>
              <a:rPr dirty="0" sz="1200" spc="-5">
                <a:latin typeface="Arial MT"/>
                <a:cs typeface="Arial MT"/>
              </a:rPr>
              <a:t>definitely.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they find any location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map? Can they </a:t>
            </a:r>
            <a:r>
              <a:rPr dirty="0" sz="1200" spc="-10">
                <a:latin typeface="Arial MT"/>
                <a:cs typeface="Arial MT"/>
              </a:rPr>
              <a:t>use </a:t>
            </a:r>
            <a:r>
              <a:rPr dirty="0" sz="1200" spc="-5">
                <a:latin typeface="Arial MT"/>
                <a:cs typeface="Arial MT"/>
              </a:rPr>
              <a:t>the map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their practical life?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teacher’s responsibility to teach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way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they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locations using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map.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477520" marR="7620" indent="-228600">
              <a:lnSpc>
                <a:spcPct val="143900"/>
              </a:lnSpc>
              <a:buFont typeface="Times New Roman"/>
              <a:buChar char="-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Higher </a:t>
            </a:r>
            <a:r>
              <a:rPr dirty="0" sz="1200" spc="-5" b="1">
                <a:latin typeface="Arial"/>
                <a:cs typeface="Arial"/>
              </a:rPr>
              <a:t>thinking levels: </a:t>
            </a:r>
            <a:r>
              <a:rPr dirty="0" sz="1200" spc="-5">
                <a:latin typeface="Arial MT"/>
                <a:cs typeface="Arial MT"/>
              </a:rPr>
              <a:t>educational context is not about memorizing different facts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not coping things from the board or books. Educational context is much </a:t>
            </a:r>
            <a:r>
              <a:rPr dirty="0" sz="1200" spc="-10">
                <a:latin typeface="Arial MT"/>
                <a:cs typeface="Arial MT"/>
              </a:rPr>
              <a:t>more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than </a:t>
            </a:r>
            <a:r>
              <a:rPr dirty="0" sz="1200" spc="-5">
                <a:latin typeface="Arial MT"/>
                <a:cs typeface="Arial MT"/>
              </a:rPr>
              <a:t>that.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actually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about creating </a:t>
            </a:r>
            <a:r>
              <a:rPr dirty="0" sz="1200">
                <a:latin typeface="Arial MT"/>
                <a:cs typeface="Arial MT"/>
              </a:rPr>
              <a:t> creativity. 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 developing questioning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Char char="-"/>
            </a:pPr>
            <a:endParaRPr sz="125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Social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context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schooling:</a:t>
            </a:r>
            <a:endParaRPr sz="1400">
              <a:latin typeface="Arial"/>
              <a:cs typeface="Arial"/>
            </a:endParaRPr>
          </a:p>
          <a:p>
            <a:pPr marL="255270" marR="11430" indent="36195">
              <a:lnSpc>
                <a:spcPts val="2080"/>
              </a:lnSpc>
              <a:spcBef>
                <a:spcPts val="95"/>
              </a:spcBef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sign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Singapore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International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Airport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reads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“Welcome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Singapore: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where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National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Our </a:t>
            </a:r>
            <a:r>
              <a:rPr dirty="0" sz="1200" spc="-5">
                <a:latin typeface="Arial MT"/>
                <a:cs typeface="Arial MT"/>
              </a:rPr>
              <a:t>People.”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47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sign board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indicates?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2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responsibility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school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Singapore?</a:t>
            </a:r>
            <a:endParaRPr sz="1200">
              <a:latin typeface="Arial MT"/>
              <a:cs typeface="Arial MT"/>
            </a:endParaRPr>
          </a:p>
          <a:p>
            <a:pPr marL="18415" indent="-6350">
              <a:lnSpc>
                <a:spcPct val="100000"/>
              </a:lnSpc>
              <a:spcBef>
                <a:spcPts val="615"/>
              </a:spcBef>
            </a:pP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shows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valuable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building,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computer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labs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endParaRPr sz="1200">
              <a:latin typeface="Arial MT"/>
              <a:cs typeface="Arial MT"/>
            </a:endParaRPr>
          </a:p>
          <a:p>
            <a:pPr marL="18415" marR="1270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multimedia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rooms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people.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bound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capital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people,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Social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capital:</a:t>
            </a:r>
            <a:endParaRPr sz="1200">
              <a:latin typeface="Arial"/>
              <a:cs typeface="Arial"/>
            </a:endParaRPr>
          </a:p>
          <a:p>
            <a:pPr algn="just" marL="477520" marR="6985" indent="-228600">
              <a:lnSpc>
                <a:spcPts val="2080"/>
              </a:lnSpc>
              <a:spcBef>
                <a:spcPts val="145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Sum of </a:t>
            </a:r>
            <a:r>
              <a:rPr dirty="0" sz="1200" spc="-5" b="1">
                <a:latin typeface="Arial"/>
                <a:cs typeface="Arial"/>
              </a:rPr>
              <a:t>interpersonal relationships: </a:t>
            </a:r>
            <a:r>
              <a:rPr dirty="0" sz="1200" spc="-5">
                <a:latin typeface="Arial MT"/>
                <a:cs typeface="Arial MT"/>
              </a:rPr>
              <a:t>the person </a:t>
            </a:r>
            <a:r>
              <a:rPr dirty="0" sz="1200" spc="-10">
                <a:latin typeface="Arial MT"/>
                <a:cs typeface="Arial MT"/>
              </a:rPr>
              <a:t>who </a:t>
            </a:r>
            <a:r>
              <a:rPr dirty="0" sz="1200" spc="-5">
                <a:latin typeface="Arial MT"/>
                <a:cs typeface="Arial MT"/>
              </a:rPr>
              <a:t>has many contacts or relations 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considered as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has </a:t>
            </a:r>
            <a:r>
              <a:rPr dirty="0" sz="1200">
                <a:latin typeface="Arial MT"/>
                <a:cs typeface="Arial MT"/>
              </a:rPr>
              <a:t>more </a:t>
            </a:r>
            <a:r>
              <a:rPr dirty="0" sz="1200" spc="-5">
                <a:latin typeface="Arial MT"/>
                <a:cs typeface="Arial MT"/>
              </a:rPr>
              <a:t>social capital.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we live in isolation in schools? Definitely, </a:t>
            </a:r>
            <a:r>
              <a:rPr dirty="0" sz="1200" spc="-10">
                <a:latin typeface="Arial MT"/>
                <a:cs typeface="Arial MT"/>
              </a:rPr>
              <a:t>no.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group orientation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schools.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5">
                <a:latin typeface="Arial MT"/>
                <a:cs typeface="Arial MT"/>
              </a:rPr>
              <a:t> need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people.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people.</a:t>
            </a:r>
            <a:endParaRPr sz="1200">
              <a:latin typeface="Arial MT"/>
              <a:cs typeface="Arial MT"/>
            </a:endParaRPr>
          </a:p>
          <a:p>
            <a:pPr algn="just" marL="477520">
              <a:lnSpc>
                <a:spcPct val="100000"/>
              </a:lnSpc>
              <a:spcBef>
                <a:spcPts val="480"/>
              </a:spcBef>
            </a:pP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>
                <a:latin typeface="Arial MT"/>
                <a:cs typeface="Arial MT"/>
              </a:rPr>
              <a:t> 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live</a:t>
            </a:r>
            <a:r>
              <a:rPr dirty="0" sz="1200">
                <a:latin typeface="Arial MT"/>
                <a:cs typeface="Arial MT"/>
              </a:rPr>
              <a:t> in </a:t>
            </a:r>
            <a:r>
              <a:rPr dirty="0" sz="1200" spc="-5">
                <a:latin typeface="Arial MT"/>
                <a:cs typeface="Arial MT"/>
              </a:rPr>
              <a:t>isolation.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3955" y="575563"/>
            <a:ext cx="6637020" cy="11035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78790" marR="5715" indent="-228600">
              <a:lnSpc>
                <a:spcPct val="144200"/>
              </a:lnSpc>
              <a:spcBef>
                <a:spcPts val="100"/>
              </a:spcBef>
              <a:buFont typeface="Times New Roman"/>
              <a:buChar char="-"/>
              <a:tabLst>
                <a:tab pos="479425" algn="l"/>
              </a:tabLst>
            </a:pP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increase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capital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(It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responsibility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teacher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increase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capital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times,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lesson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lesson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students.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listen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lesson, they give them written work and then leave. There is no </a:t>
            </a:r>
            <a:r>
              <a:rPr dirty="0" sz="1200">
                <a:latin typeface="Arial MT"/>
                <a:cs typeface="Arial MT"/>
              </a:rPr>
              <a:t>time for </a:t>
            </a:r>
            <a:r>
              <a:rPr dirty="0" sz="1200" spc="-5">
                <a:latin typeface="Arial MT"/>
                <a:cs typeface="Arial MT"/>
              </a:rPr>
              <a:t>the students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communicate with each other except </a:t>
            </a:r>
            <a:r>
              <a:rPr dirty="0" sz="1200" spc="-10">
                <a:latin typeface="Arial MT"/>
                <a:cs typeface="Arial MT"/>
              </a:rPr>
              <a:t>in break </a:t>
            </a:r>
            <a:r>
              <a:rPr dirty="0" sz="1200" spc="-5">
                <a:latin typeface="Arial MT"/>
                <a:cs typeface="Arial MT"/>
              </a:rPr>
              <a:t>or </a:t>
            </a:r>
            <a:r>
              <a:rPr dirty="0" sz="1200">
                <a:latin typeface="Arial MT"/>
                <a:cs typeface="Arial MT"/>
              </a:rPr>
              <a:t>after </a:t>
            </a:r>
            <a:r>
              <a:rPr dirty="0" sz="1200" spc="-5">
                <a:latin typeface="Arial MT"/>
                <a:cs typeface="Arial MT"/>
              </a:rPr>
              <a:t>school. It is the responsibility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increase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social capital of students by organizing group </a:t>
            </a:r>
            <a:r>
              <a:rPr dirty="0" sz="1200">
                <a:latin typeface="Arial MT"/>
                <a:cs typeface="Arial MT"/>
              </a:rPr>
              <a:t>activities. </a:t>
            </a:r>
            <a:r>
              <a:rPr dirty="0" sz="1200" spc="-5">
                <a:latin typeface="Arial MT"/>
                <a:cs typeface="Arial MT"/>
              </a:rPr>
              <a:t>Instead of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doing things alone, they may communicate with each other.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10">
                <a:latin typeface="Arial MT"/>
                <a:cs typeface="Arial MT"/>
              </a:rPr>
              <a:t>this </a:t>
            </a:r>
            <a:r>
              <a:rPr dirty="0" sz="1200">
                <a:latin typeface="Arial MT"/>
                <a:cs typeface="Arial MT"/>
              </a:rPr>
              <a:t>way, </a:t>
            </a:r>
            <a:r>
              <a:rPr dirty="0" sz="1200" spc="-5">
                <a:latin typeface="Arial MT"/>
                <a:cs typeface="Arial MT"/>
              </a:rPr>
              <a:t>they will increase </a:t>
            </a:r>
            <a:r>
              <a:rPr dirty="0" sz="1200">
                <a:latin typeface="Arial MT"/>
                <a:cs typeface="Arial MT"/>
              </a:rPr>
              <a:t> their </a:t>
            </a:r>
            <a:r>
              <a:rPr dirty="0" sz="1200" spc="-5">
                <a:latin typeface="Arial MT"/>
                <a:cs typeface="Arial MT"/>
              </a:rPr>
              <a:t>thinking skills also.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are not teaching in a school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an individual but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 spc="5">
                <a:latin typeface="Arial MT"/>
                <a:cs typeface="Arial MT"/>
              </a:rPr>
              <a:t>actually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 oriented activity. Students must know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how to resolve conflicts? How to solve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problems? The interpersonal skills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students are improved </a:t>
            </a:r>
            <a:r>
              <a:rPr dirty="0" sz="1200">
                <a:latin typeface="Arial MT"/>
                <a:cs typeface="Arial MT"/>
              </a:rPr>
              <a:t>when </a:t>
            </a:r>
            <a:r>
              <a:rPr dirty="0" sz="1200" spc="-5">
                <a:latin typeface="Arial MT"/>
                <a:cs typeface="Arial MT"/>
              </a:rPr>
              <a:t>they work with their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opponents instead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their friends.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need to make the students learn </a:t>
            </a:r>
            <a:r>
              <a:rPr dirty="0" sz="1200" spc="5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all students are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need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 how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communicate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kinds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people.)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Char char="-"/>
            </a:pPr>
            <a:endParaRPr sz="12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Collegial context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schooling: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1000" spc="-5">
                <a:latin typeface="Arial MT"/>
                <a:cs typeface="Arial MT"/>
              </a:rPr>
              <a:t>Is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“Characterized by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or having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power and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authority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vested equally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among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colleagues:</a:t>
            </a:r>
            <a:r>
              <a:rPr dirty="0" sz="1000" i="1">
                <a:solidFill>
                  <a:srgbClr val="216499"/>
                </a:solidFill>
                <a:latin typeface="Arial"/>
                <a:cs typeface="Arial"/>
              </a:rPr>
              <a:t>"</a:t>
            </a:r>
            <a:endParaRPr sz="1000">
              <a:latin typeface="Arial"/>
              <a:cs typeface="Arial"/>
            </a:endParaRPr>
          </a:p>
          <a:p>
            <a:pPr marL="20320" marR="7620" indent="-6350">
              <a:lnSpc>
                <a:spcPct val="144200"/>
              </a:lnSpc>
              <a:spcBef>
                <a:spcPts val="65"/>
              </a:spcBef>
            </a:pPr>
            <a:r>
              <a:rPr dirty="0" sz="1200">
                <a:latin typeface="Arial MT"/>
                <a:cs typeface="Arial MT"/>
              </a:rPr>
              <a:t>Collegial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context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emphasizes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power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decision-making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should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shared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>
                <a:latin typeface="Arial MT"/>
                <a:cs typeface="Arial MT"/>
              </a:rPr>
              <a:t> 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members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organization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(Bush,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2003).</a:t>
            </a:r>
            <a:endParaRPr sz="1200">
              <a:latin typeface="Arial MT"/>
              <a:cs typeface="Arial MT"/>
            </a:endParaRPr>
          </a:p>
          <a:p>
            <a:pPr marL="20320" marR="12700" indent="-6350">
              <a:lnSpc>
                <a:spcPct val="1442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Power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members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organization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thought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aims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institution.</a:t>
            </a:r>
            <a:endParaRPr sz="12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645"/>
              </a:spcBef>
            </a:pPr>
            <a:r>
              <a:rPr dirty="0" sz="1200" spc="-5">
                <a:latin typeface="Arial MT"/>
                <a:cs typeface="Arial MT"/>
              </a:rPr>
              <a:t>Reflect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following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displayed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staffrooms: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Arial MT"/>
              <a:cs typeface="Arial MT"/>
            </a:endParaRPr>
          </a:p>
          <a:p>
            <a:pPr algn="just" marL="478790" marR="5080" indent="-228600">
              <a:lnSpc>
                <a:spcPct val="144100"/>
              </a:lnSpc>
              <a:buFont typeface="Times New Roman"/>
              <a:buChar char="-"/>
              <a:tabLst>
                <a:tab pos="479425" algn="l"/>
              </a:tabLst>
            </a:pPr>
            <a:r>
              <a:rPr dirty="0" sz="1200" b="1">
                <a:latin typeface="Arial"/>
                <a:cs typeface="Arial"/>
              </a:rPr>
              <a:t>“School </a:t>
            </a:r>
            <a:r>
              <a:rPr dirty="0" sz="1200" spc="-5" b="1">
                <a:latin typeface="Arial"/>
                <a:cs typeface="Arial"/>
              </a:rPr>
              <a:t>business </a:t>
            </a:r>
            <a:r>
              <a:rPr dirty="0" sz="1200" b="1">
                <a:latin typeface="Arial"/>
                <a:cs typeface="Arial"/>
              </a:rPr>
              <a:t>is not </a:t>
            </a:r>
            <a:r>
              <a:rPr dirty="0" sz="1200" spc="-5" b="1">
                <a:latin typeface="Arial"/>
                <a:cs typeface="Arial"/>
              </a:rPr>
              <a:t>discussed here”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the matters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schools are not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discussed in the staffroom. People don’t like to talk about textbooks, students, </a:t>
            </a:r>
            <a:r>
              <a:rPr dirty="0" sz="1200">
                <a:latin typeface="Arial MT"/>
                <a:cs typeface="Arial MT"/>
              </a:rPr>
              <a:t>performance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students,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examination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papers,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issues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management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staffroom.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that in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school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collegial context is too </a:t>
            </a:r>
            <a:r>
              <a:rPr dirty="0" sz="1200">
                <a:latin typeface="Arial MT"/>
                <a:cs typeface="Arial MT"/>
              </a:rPr>
              <a:t>weak. </a:t>
            </a:r>
            <a:r>
              <a:rPr dirty="0" sz="1200" spc="-5">
                <a:latin typeface="Arial MT"/>
                <a:cs typeface="Arial MT"/>
              </a:rPr>
              <a:t>Colleagues are not support of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 development. Whenever we go into profession, we </a:t>
            </a:r>
            <a:r>
              <a:rPr dirty="0" sz="1200">
                <a:latin typeface="Arial MT"/>
                <a:cs typeface="Arial MT"/>
              </a:rPr>
              <a:t>always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to learn </a:t>
            </a:r>
            <a:r>
              <a:rPr dirty="0" sz="1200" spc="-5">
                <a:latin typeface="Arial MT"/>
                <a:cs typeface="Arial MT"/>
              </a:rPr>
              <a:t>from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people, the seniors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our assets. If they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discuss the things with us how can we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 professionally? People in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school are not ready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grow </a:t>
            </a:r>
            <a:r>
              <a:rPr dirty="0" sz="1200" spc="-10">
                <a:latin typeface="Arial MT"/>
                <a:cs typeface="Arial MT"/>
              </a:rPr>
              <a:t>as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statement in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staffroom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shows.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-"/>
            </a:pPr>
            <a:endParaRPr sz="1300">
              <a:latin typeface="Arial MT"/>
              <a:cs typeface="Arial MT"/>
            </a:endParaRPr>
          </a:p>
          <a:p>
            <a:pPr algn="just" marL="478790" marR="8890" indent="-228600">
              <a:lnSpc>
                <a:spcPct val="144200"/>
              </a:lnSpc>
              <a:buFont typeface="Times New Roman"/>
              <a:buChar char="-"/>
              <a:tabLst>
                <a:tab pos="479425" algn="l"/>
              </a:tabLst>
            </a:pPr>
            <a:r>
              <a:rPr dirty="0" sz="1200" spc="-5" b="1">
                <a:latin typeface="Arial"/>
                <a:cs typeface="Arial"/>
              </a:rPr>
              <a:t>“We believe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sharing </a:t>
            </a:r>
            <a:r>
              <a:rPr dirty="0" sz="1200" b="1">
                <a:latin typeface="Arial"/>
                <a:cs typeface="Arial"/>
              </a:rPr>
              <a:t>ideas, work and </a:t>
            </a:r>
            <a:r>
              <a:rPr dirty="0" sz="1200" spc="-5" b="1">
                <a:latin typeface="Arial"/>
                <a:cs typeface="Arial"/>
              </a:rPr>
              <a:t>food”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statement shows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the teachers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good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colleagues.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want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each other. They </a:t>
            </a:r>
            <a:r>
              <a:rPr dirty="0" sz="1200">
                <a:latin typeface="Arial MT"/>
                <a:cs typeface="Arial MT"/>
              </a:rPr>
              <a:t>want to </a:t>
            </a:r>
            <a:r>
              <a:rPr dirty="0" sz="1200" spc="-5">
                <a:latin typeface="Arial MT"/>
                <a:cs typeface="Arial MT"/>
              </a:rPr>
              <a:t>share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work habits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that they become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support for </a:t>
            </a:r>
            <a:r>
              <a:rPr dirty="0" sz="1200">
                <a:latin typeface="Arial MT"/>
                <a:cs typeface="Arial MT"/>
              </a:rPr>
              <a:t> their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colleagues.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478790" marR="9525" indent="-228600">
              <a:lnSpc>
                <a:spcPct val="144200"/>
              </a:lnSpc>
              <a:buFont typeface="Times New Roman"/>
              <a:buChar char="-"/>
              <a:tabLst>
                <a:tab pos="479425" algn="l"/>
              </a:tabLst>
            </a:pPr>
            <a:r>
              <a:rPr dirty="0" sz="1200" b="1">
                <a:latin typeface="Arial"/>
                <a:cs typeface="Arial"/>
              </a:rPr>
              <a:t>“Let’s </a:t>
            </a:r>
            <a:r>
              <a:rPr dirty="0" sz="1200" spc="-5" b="1">
                <a:latin typeface="Arial"/>
                <a:cs typeface="Arial"/>
              </a:rPr>
              <a:t>establish </a:t>
            </a:r>
            <a:r>
              <a:rPr dirty="0" sz="1200" b="1">
                <a:latin typeface="Arial"/>
                <a:cs typeface="Arial"/>
              </a:rPr>
              <a:t>a </a:t>
            </a:r>
            <a:r>
              <a:rPr dirty="0" sz="1200" spc="-5" b="1">
                <a:latin typeface="Arial"/>
                <a:cs typeface="Arial"/>
              </a:rPr>
              <a:t>learning </a:t>
            </a:r>
            <a:r>
              <a:rPr dirty="0" sz="1200" b="1">
                <a:latin typeface="Arial"/>
                <a:cs typeface="Arial"/>
              </a:rPr>
              <a:t>community”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shows that the community working in a school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community.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other.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the class. </a:t>
            </a:r>
            <a:r>
              <a:rPr dirty="0" sz="1200" spc="-5">
                <a:latin typeface="Arial MT"/>
                <a:cs typeface="Arial MT"/>
              </a:rPr>
              <a:t>Because he has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explore the realities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every student. Their intellectual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abilities and how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>
                <a:latin typeface="Arial MT"/>
                <a:cs typeface="Arial MT"/>
              </a:rPr>
              <a:t>has to </a:t>
            </a:r>
            <a:r>
              <a:rPr dirty="0" sz="1200" spc="-5">
                <a:latin typeface="Arial MT"/>
                <a:cs typeface="Arial MT"/>
              </a:rPr>
              <a:t>enhance </a:t>
            </a:r>
            <a:r>
              <a:rPr dirty="0" sz="1200">
                <a:latin typeface="Arial MT"/>
                <a:cs typeface="Arial MT"/>
              </a:rPr>
              <a:t>them. A </a:t>
            </a:r>
            <a:r>
              <a:rPr dirty="0" sz="1200" spc="-5">
                <a:latin typeface="Arial MT"/>
                <a:cs typeface="Arial MT"/>
              </a:rPr>
              <a:t>good teacher 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one who actually strives 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 each student achieve their maximum potential.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times, we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unable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identify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realities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every student and we need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support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our colleagues. And in a learning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community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support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colleagues</a:t>
            </a:r>
            <a:r>
              <a:rPr dirty="0" sz="1200">
                <a:latin typeface="Arial MT"/>
                <a:cs typeface="Arial MT"/>
              </a:rPr>
              <a:t> very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656335"/>
            <a:ext cx="6631940" cy="3644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752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easily.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 MT"/>
              <a:cs typeface="Arial MT"/>
            </a:endParaRPr>
          </a:p>
          <a:p>
            <a:pPr algn="just" marL="477520" marR="5080" indent="-228600">
              <a:lnSpc>
                <a:spcPct val="144200"/>
              </a:lnSpc>
              <a:buFont typeface="Times New Roman"/>
              <a:buChar char="-"/>
              <a:tabLst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“My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colleagues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my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mentors”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shows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respect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mentors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 </a:t>
            </a:r>
            <a:r>
              <a:rPr dirty="0" sz="1200">
                <a:latin typeface="Arial MT"/>
                <a:cs typeface="Arial MT"/>
              </a:rPr>
              <a:t>them.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again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indicates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ideas.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477520" marR="5715" indent="-228600">
              <a:lnSpc>
                <a:spcPct val="144200"/>
              </a:lnSpc>
              <a:spcBef>
                <a:spcPts val="5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“Relaxing time” </a:t>
            </a:r>
            <a:r>
              <a:rPr dirty="0" sz="1200" spc="-5">
                <a:latin typeface="Arial MT"/>
                <a:cs typeface="Arial MT"/>
              </a:rPr>
              <a:t>this statement also indicates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the first statement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school business 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discussed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here.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relax.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talk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raise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 standards. When we wrote in staffroom that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 relaxing time, we are not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meeting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standards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even how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raise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professional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standards.</a:t>
            </a:r>
            <a:endParaRPr sz="1200">
              <a:latin typeface="Arial MT"/>
              <a:cs typeface="Arial MT"/>
            </a:endParaRPr>
          </a:p>
          <a:p>
            <a:pPr marL="18415" marR="5715" indent="-6350">
              <a:lnSpc>
                <a:spcPct val="144200"/>
              </a:lnSpc>
              <a:spcBef>
                <a:spcPts val="20"/>
              </a:spcBef>
            </a:pPr>
            <a:r>
              <a:rPr dirty="0" sz="1200" spc="-5">
                <a:latin typeface="Arial MT"/>
                <a:cs typeface="Arial MT"/>
              </a:rPr>
              <a:t>So </a:t>
            </a:r>
            <a:r>
              <a:rPr dirty="0" sz="1200">
                <a:latin typeface="Arial MT"/>
                <a:cs typeface="Arial MT"/>
              </a:rPr>
              <a:t>when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talk </a:t>
            </a:r>
            <a:r>
              <a:rPr dirty="0" sz="1200" spc="-5">
                <a:latin typeface="Arial MT"/>
                <a:cs typeface="Arial MT"/>
              </a:rPr>
              <a:t>about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collegial context,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ensure that we are going </a:t>
            </a:r>
            <a:r>
              <a:rPr dirty="0" sz="1200">
                <a:latin typeface="Arial MT"/>
                <a:cs typeface="Arial MT"/>
              </a:rPr>
              <a:t>to learn </a:t>
            </a:r>
            <a:r>
              <a:rPr dirty="0" sz="1200" spc="-5">
                <a:latin typeface="Arial MT"/>
                <a:cs typeface="Arial MT"/>
              </a:rPr>
              <a:t>from our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colleagues.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>
                <a:latin typeface="Arial MT"/>
                <a:cs typeface="Arial MT"/>
              </a:rPr>
              <a:t> 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our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strength.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grow </a:t>
            </a:r>
            <a:r>
              <a:rPr dirty="0" sz="1200" spc="-5">
                <a:latin typeface="Arial MT"/>
                <a:cs typeface="Arial MT"/>
              </a:rPr>
              <a:t>professionally.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200">
                <a:latin typeface="Arial MT"/>
                <a:cs typeface="Arial MT"/>
              </a:rPr>
              <a:t>Collegial context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>
                <a:latin typeface="Arial MT"/>
                <a:cs typeface="Arial MT"/>
              </a:rPr>
              <a:t>restricted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become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web based.</a:t>
            </a:r>
            <a:endParaRPr sz="1200">
              <a:latin typeface="Arial MT"/>
              <a:cs typeface="Arial MT"/>
            </a:endParaRPr>
          </a:p>
          <a:p>
            <a:pPr marL="18415" marR="7620" indent="-6350">
              <a:lnSpc>
                <a:spcPts val="2080"/>
              </a:lnSpc>
              <a:spcBef>
                <a:spcPts val="80"/>
              </a:spcBef>
            </a:pP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professionals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ensure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maximize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collegial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context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 from each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4862195"/>
            <a:ext cx="6979920" cy="352425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04</a:t>
            </a:r>
            <a:r>
              <a:rPr dirty="0" sz="16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“Incentives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Responsibilities</a:t>
            </a:r>
            <a:r>
              <a:rPr dirty="0" sz="16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Teachers”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5456046"/>
            <a:ext cx="6633845" cy="6257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Lecture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6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Analyzed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teachers’ incentives</a:t>
            </a:r>
            <a:r>
              <a:rPr dirty="0" sz="1200">
                <a:latin typeface="Arial MT"/>
                <a:cs typeface="Arial MT"/>
              </a:rPr>
              <a:t> and</a:t>
            </a:r>
            <a:r>
              <a:rPr dirty="0" sz="1200" spc="-5">
                <a:latin typeface="Arial MT"/>
                <a:cs typeface="Arial MT"/>
              </a:rPr>
              <a:t> their level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functioning.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68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Reflected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teachers’ decision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making and</a:t>
            </a:r>
            <a:r>
              <a:rPr dirty="0" sz="1200" spc="-5">
                <a:latin typeface="Arial MT"/>
                <a:cs typeface="Arial MT"/>
              </a:rPr>
              <a:t> responsibility.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70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Analyzed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terms: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Teachers’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efficacy 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reflective</a:t>
            </a:r>
            <a:r>
              <a:rPr dirty="0" sz="1200" spc="-5">
                <a:latin typeface="Arial MT"/>
                <a:cs typeface="Arial MT"/>
              </a:rPr>
              <a:t> practitioner.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Incentives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for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teachers: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200" spc="-5">
                <a:latin typeface="Arial MT"/>
                <a:cs typeface="Arial MT"/>
              </a:rPr>
              <a:t>According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research, </a:t>
            </a:r>
            <a:r>
              <a:rPr dirty="0" sz="1200">
                <a:latin typeface="Arial MT"/>
                <a:cs typeface="Arial MT"/>
              </a:rPr>
              <a:t>following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incentives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rial MT"/>
              <a:cs typeface="Arial MT"/>
            </a:endParaRPr>
          </a:p>
          <a:p>
            <a:pPr algn="just" marL="469900" marR="6350" indent="-228600">
              <a:lnSpc>
                <a:spcPct val="144200"/>
              </a:lnSpc>
              <a:buFont typeface="Arial MT"/>
              <a:buChar char="•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Recognition</a:t>
            </a:r>
            <a:r>
              <a:rPr dirty="0" sz="1200" b="1">
                <a:latin typeface="Arial"/>
                <a:cs typeface="Arial"/>
              </a:rPr>
              <a:t> as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excellent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(reflected</a:t>
            </a:r>
            <a:r>
              <a:rPr dirty="0" sz="1200" b="1">
                <a:latin typeface="Arial"/>
                <a:cs typeface="Arial"/>
              </a:rPr>
              <a:t> 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students’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warmth,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enthusiasm,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appreciation). </a:t>
            </a:r>
            <a:r>
              <a:rPr dirty="0" sz="1200" spc="-5">
                <a:latin typeface="Arial MT"/>
                <a:cs typeface="Arial MT"/>
              </a:rPr>
              <a:t>The question here is the recognition </a:t>
            </a:r>
            <a:r>
              <a:rPr dirty="0" sz="1200">
                <a:latin typeface="Arial MT"/>
                <a:cs typeface="Arial MT"/>
              </a:rPr>
              <a:t>to the </a:t>
            </a:r>
            <a:r>
              <a:rPr dirty="0" sz="1200" spc="-5">
                <a:latin typeface="Arial MT"/>
                <a:cs typeface="Arial MT"/>
              </a:rPr>
              <a:t>teachers should be given </a:t>
            </a:r>
            <a:r>
              <a:rPr dirty="0" sz="1200" spc="-1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 government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Pakistan?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schools?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According</a:t>
            </a:r>
            <a:r>
              <a:rPr dirty="0" u="sng" sz="1200" spc="4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to</a:t>
            </a:r>
            <a:r>
              <a:rPr dirty="0" u="sng" sz="1200" spc="4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research,</a:t>
            </a:r>
            <a:r>
              <a:rPr dirty="0" u="sng" sz="1200" spc="5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the</a:t>
            </a:r>
            <a:r>
              <a:rPr dirty="0" u="sng" sz="1200" spc="4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best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recognition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is got from students</a:t>
            </a:r>
            <a:r>
              <a:rPr dirty="0" sz="1200" spc="-5">
                <a:latin typeface="Arial MT"/>
                <a:cs typeface="Arial MT"/>
              </a:rPr>
              <a:t> and not from the government or the school administrators. The warmth,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respect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appreciation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eyes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recognition.</a:t>
            </a:r>
            <a:r>
              <a:rPr dirty="0" sz="1200">
                <a:latin typeface="Arial MT"/>
                <a:cs typeface="Arial MT"/>
              </a:rPr>
              <a:t> This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recognition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appreciating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energizes.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300">
              <a:latin typeface="Arial MT"/>
              <a:cs typeface="Arial MT"/>
            </a:endParaRPr>
          </a:p>
          <a:p>
            <a:pPr algn="just" marL="469900" marR="5080" indent="-228600">
              <a:lnSpc>
                <a:spcPct val="144200"/>
              </a:lnSpc>
              <a:spcBef>
                <a:spcPts val="1090"/>
              </a:spcBef>
              <a:buFont typeface="Arial MT"/>
              <a:buChar char="•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Respect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colleagues: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</a:t>
            </a:r>
            <a:r>
              <a:rPr dirty="0" sz="1200" spc="-5">
                <a:latin typeface="Arial MT"/>
                <a:cs typeface="Arial MT"/>
              </a:rPr>
              <a:t> organization,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following </a:t>
            </a:r>
            <a:r>
              <a:rPr dirty="0" sz="1200">
                <a:latin typeface="Arial MT"/>
                <a:cs typeface="Arial MT"/>
              </a:rPr>
              <a:t> statement:</a:t>
            </a:r>
            <a:endParaRPr sz="1200">
              <a:latin typeface="Arial MT"/>
              <a:cs typeface="Arial MT"/>
            </a:endParaRPr>
          </a:p>
          <a:p>
            <a:pPr algn="just" marL="483870" indent="43815">
              <a:lnSpc>
                <a:spcPct val="100000"/>
              </a:lnSpc>
              <a:spcBef>
                <a:spcPts val="640"/>
              </a:spcBef>
            </a:pPr>
            <a:r>
              <a:rPr dirty="0" sz="1400" spc="-5">
                <a:latin typeface="Arial MT"/>
                <a:cs typeface="Arial MT"/>
              </a:rPr>
              <a:t>“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esteem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our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colleague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foundation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spc="5" b="1">
                <a:latin typeface="Arial"/>
                <a:cs typeface="Arial"/>
              </a:rPr>
              <a:t>power</a:t>
            </a:r>
            <a:r>
              <a:rPr dirty="0" sz="1400" spc="5">
                <a:latin typeface="Arial MT"/>
                <a:cs typeface="Arial MT"/>
              </a:rPr>
              <a:t>”</a:t>
            </a:r>
            <a:r>
              <a:rPr dirty="0" sz="14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If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powerful</a:t>
            </a:r>
            <a:endParaRPr sz="1200">
              <a:latin typeface="Arial MT"/>
              <a:cs typeface="Arial MT"/>
            </a:endParaRPr>
          </a:p>
          <a:p>
            <a:pPr algn="just" marL="483870" marR="5080">
              <a:lnSpc>
                <a:spcPct val="144200"/>
              </a:lnSpc>
              <a:spcBef>
                <a:spcPts val="130"/>
              </a:spcBef>
            </a:pP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want to asset then you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have respect and your esteem should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very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high. Actually when you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doing someone’s esteem high, then there is another </a:t>
            </a:r>
            <a:r>
              <a:rPr dirty="0" sz="1200" spc="5">
                <a:latin typeface="Arial MT"/>
                <a:cs typeface="Arial MT"/>
              </a:rPr>
              <a:t>feeling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efficacy. </a:t>
            </a:r>
            <a:r>
              <a:rPr dirty="0" sz="1200" spc="-5">
                <a:latin typeface="Arial MT"/>
                <a:cs typeface="Arial MT"/>
              </a:rPr>
              <a:t>Feeling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efficacy 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important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 teachers e.g. there are number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 in schools </a:t>
            </a:r>
            <a:r>
              <a:rPr dirty="0" sz="1200" spc="-10">
                <a:latin typeface="Arial MT"/>
                <a:cs typeface="Arial MT"/>
              </a:rPr>
              <a:t>like </a:t>
            </a:r>
            <a:r>
              <a:rPr dirty="0" sz="1200" spc="-5">
                <a:latin typeface="Arial MT"/>
                <a:cs typeface="Arial MT"/>
              </a:rPr>
              <a:t>morning assembly, debates, games, plays </a:t>
            </a:r>
            <a:r>
              <a:rPr dirty="0" sz="1200">
                <a:latin typeface="Arial MT"/>
                <a:cs typeface="Arial MT"/>
              </a:rPr>
              <a:t>etc. </a:t>
            </a:r>
            <a:r>
              <a:rPr dirty="0" sz="1200" spc="-5">
                <a:latin typeface="Arial MT"/>
                <a:cs typeface="Arial MT"/>
              </a:rPr>
              <a:t>teachers are very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competent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school,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10">
                <a:latin typeface="Arial MT"/>
                <a:cs typeface="Arial MT"/>
              </a:rPr>
              <a:t>but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4480" cy="11147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83870" marR="1143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organize </a:t>
            </a:r>
            <a:r>
              <a:rPr dirty="0" sz="1200">
                <a:latin typeface="Arial MT"/>
                <a:cs typeface="Arial MT"/>
              </a:rPr>
              <a:t>such </a:t>
            </a:r>
            <a:r>
              <a:rPr dirty="0" sz="1200" spc="-5">
                <a:latin typeface="Arial MT"/>
                <a:cs typeface="Arial MT"/>
              </a:rPr>
              <a:t>activities they feel that they can’t </a:t>
            </a:r>
            <a:r>
              <a:rPr dirty="0" sz="120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it well. But if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colleagues start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motivating them and </a:t>
            </a:r>
            <a:r>
              <a:rPr dirty="0" sz="1200" spc="-10">
                <a:latin typeface="Arial MT"/>
                <a:cs typeface="Arial MT"/>
              </a:rPr>
              <a:t>say </a:t>
            </a:r>
            <a:r>
              <a:rPr dirty="0" sz="1200" spc="-5">
                <a:latin typeface="Arial MT"/>
                <a:cs typeface="Arial MT"/>
              </a:rPr>
              <a:t>that you are 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organize such activities.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feeling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efficacy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great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>
                <a:latin typeface="Arial MT"/>
                <a:cs typeface="Arial MT"/>
              </a:rPr>
              <a:t> colleagues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feeling.</a:t>
            </a:r>
            <a:endParaRPr sz="1200">
              <a:latin typeface="Arial MT"/>
              <a:cs typeface="Arial MT"/>
            </a:endParaRPr>
          </a:p>
          <a:p>
            <a:pPr algn="just" marL="483870" marR="13335" indent="-6350">
              <a:lnSpc>
                <a:spcPct val="144200"/>
              </a:lnSpc>
              <a:spcBef>
                <a:spcPts val="10"/>
              </a:spcBef>
            </a:pP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feeling is also an incentive. Teachers </a:t>
            </a:r>
            <a:r>
              <a:rPr dirty="0" sz="1200" spc="-10">
                <a:latin typeface="Arial MT"/>
                <a:cs typeface="Arial MT"/>
              </a:rPr>
              <a:t>who </a:t>
            </a:r>
            <a:r>
              <a:rPr dirty="0" sz="1200" spc="-5">
                <a:latin typeface="Arial MT"/>
                <a:cs typeface="Arial MT"/>
              </a:rPr>
              <a:t>do not get this incentive actually leave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 quite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early.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algn="just" marL="469900" marR="5080" indent="-228600">
              <a:lnSpc>
                <a:spcPct val="144200"/>
              </a:lnSpc>
              <a:spcBef>
                <a:spcPts val="844"/>
              </a:spcBef>
              <a:buFont typeface="Arial MT"/>
              <a:buChar char="•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Working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with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other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professionals: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incentive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opportunity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 with </a:t>
            </a:r>
            <a:r>
              <a:rPr dirty="0" sz="1200">
                <a:latin typeface="Arial MT"/>
                <a:cs typeface="Arial MT"/>
              </a:rPr>
              <a:t>other </a:t>
            </a:r>
            <a:r>
              <a:rPr dirty="0" sz="1200" spc="-5">
                <a:latin typeface="Arial MT"/>
                <a:cs typeface="Arial MT"/>
              </a:rPr>
              <a:t>professionals, you will </a:t>
            </a:r>
            <a:r>
              <a:rPr dirty="0" sz="1200">
                <a:latin typeface="Arial MT"/>
                <a:cs typeface="Arial MT"/>
              </a:rPr>
              <a:t>feel </a:t>
            </a:r>
            <a:r>
              <a:rPr dirty="0" sz="1200" spc="-5">
                <a:latin typeface="Arial MT"/>
                <a:cs typeface="Arial MT"/>
              </a:rPr>
              <a:t>energize. </a:t>
            </a:r>
            <a:r>
              <a:rPr dirty="0" sz="1200">
                <a:latin typeface="Arial MT"/>
                <a:cs typeface="Arial MT"/>
              </a:rPr>
              <a:t>But if </a:t>
            </a:r>
            <a:r>
              <a:rPr dirty="0" sz="1200" spc="-5">
                <a:latin typeface="Arial MT"/>
                <a:cs typeface="Arial MT"/>
              </a:rPr>
              <a:t>you are working in such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 organization where you are not allowed to work with other professionals like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are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math’s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math’s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if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language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have to work with </a:t>
            </a:r>
            <a:r>
              <a:rPr dirty="0" sz="1200">
                <a:latin typeface="Arial MT"/>
                <a:cs typeface="Arial MT"/>
              </a:rPr>
              <a:t>other </a:t>
            </a:r>
            <a:r>
              <a:rPr dirty="0" sz="1200" spc="-5">
                <a:latin typeface="Arial MT"/>
                <a:cs typeface="Arial MT"/>
              </a:rPr>
              <a:t>language teachers but not with other professionals.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 spc="-10">
                <a:latin typeface="Arial MT"/>
                <a:cs typeface="Arial MT"/>
              </a:rPr>
              <a:t>may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00">
              <a:latin typeface="Arial MT"/>
              <a:cs typeface="Arial MT"/>
            </a:endParaRPr>
          </a:p>
          <a:p>
            <a:pPr marL="18415" marR="777875" indent="-6350">
              <a:lnSpc>
                <a:spcPct val="142100"/>
              </a:lnSpc>
            </a:pPr>
            <a:r>
              <a:rPr dirty="0" sz="1400" b="1">
                <a:latin typeface="Arial"/>
                <a:cs typeface="Arial"/>
              </a:rPr>
              <a:t>What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are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different motivating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factors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and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incentives for our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Pakistani </a:t>
            </a:r>
            <a:r>
              <a:rPr dirty="0" sz="1400" spc="-37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teachers?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Arial"/>
              <a:cs typeface="Arial"/>
            </a:endParaRPr>
          </a:p>
          <a:p>
            <a:pPr algn="just" marL="18415" marR="12700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Some interviews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taken from the teachers in Pakistan to know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motivation factors. These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discussed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below: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Interview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1:</a:t>
            </a:r>
            <a:endParaRPr sz="1200">
              <a:latin typeface="Arial"/>
              <a:cs typeface="Arial"/>
            </a:endParaRPr>
          </a:p>
          <a:p>
            <a:pPr algn="just" marL="18415" marR="1079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Money is only a motivating factor that insists you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go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your job in routine regularly.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incentives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primary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secondary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sources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59"/>
              </a:spcBef>
            </a:pPr>
            <a:r>
              <a:rPr dirty="0" sz="1200">
                <a:latin typeface="Arial MT"/>
                <a:cs typeface="Arial MT"/>
              </a:rPr>
              <a:t>interact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every aspect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life.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feel affiliation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affiliated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endParaRPr sz="1200">
              <a:latin typeface="Arial MT"/>
              <a:cs typeface="Arial MT"/>
            </a:endParaRPr>
          </a:p>
          <a:p>
            <a:pPr algn="just" marL="18415" marR="508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in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many aspects. We get an opportunity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develop </a:t>
            </a:r>
            <a:r>
              <a:rPr dirty="0" sz="1200">
                <a:latin typeface="Arial MT"/>
                <a:cs typeface="Arial MT"/>
              </a:rPr>
              <a:t>competence </a:t>
            </a:r>
            <a:r>
              <a:rPr dirty="0" sz="1200" spc="-5">
                <a:latin typeface="Arial MT"/>
                <a:cs typeface="Arial MT"/>
              </a:rPr>
              <a:t>not only in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ourselves but the students as well. You are the source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motivation </a:t>
            </a:r>
            <a:r>
              <a:rPr dirty="0" sz="1200">
                <a:latin typeface="Arial MT"/>
                <a:cs typeface="Arial MT"/>
              </a:rPr>
              <a:t>for the </a:t>
            </a:r>
            <a:r>
              <a:rPr dirty="0" sz="1200" spc="-5">
                <a:latin typeface="Arial MT"/>
                <a:cs typeface="Arial MT"/>
              </a:rPr>
              <a:t>students not only in </a:t>
            </a:r>
            <a:r>
              <a:rPr dirty="0" sz="1200">
                <a:latin typeface="Arial MT"/>
                <a:cs typeface="Arial MT"/>
              </a:rPr>
              <a:t> terms of </a:t>
            </a:r>
            <a:r>
              <a:rPr dirty="0" sz="1200" spc="-5">
                <a:latin typeface="Arial MT"/>
                <a:cs typeface="Arial MT"/>
              </a:rPr>
              <a:t>your profession </a:t>
            </a:r>
            <a:r>
              <a:rPr dirty="0" sz="1200">
                <a:latin typeface="Arial MT"/>
                <a:cs typeface="Arial MT"/>
              </a:rPr>
              <a:t>rather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are also </a:t>
            </a:r>
            <a:r>
              <a:rPr dirty="0" sz="1200" spc="-5">
                <a:latin typeface="Arial MT"/>
                <a:cs typeface="Arial MT"/>
              </a:rPr>
              <a:t>helping them in their daily life routines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well.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biggest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achievement</a:t>
            </a:r>
            <a:r>
              <a:rPr dirty="0" sz="1200">
                <a:latin typeface="Arial MT"/>
                <a:cs typeface="Arial MT"/>
              </a:rPr>
              <a:t> 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teacher.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Interview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2:</a:t>
            </a:r>
            <a:endParaRPr sz="1200">
              <a:latin typeface="Arial"/>
              <a:cs typeface="Arial"/>
            </a:endParaRPr>
          </a:p>
          <a:p>
            <a:pPr algn="just" marL="18415" marR="10795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a teacher trainer,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feel that motivation factor is something when student gain positive change 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thinking, behavior and attitude.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the end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-5">
                <a:latin typeface="Arial MT"/>
                <a:cs typeface="Arial MT"/>
              </a:rPr>
              <a:t>day,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feel happy that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help them in bringing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 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Interview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3: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40"/>
              </a:spcBef>
            </a:pPr>
            <a:r>
              <a:rPr dirty="0" sz="1200" spc="-5">
                <a:latin typeface="Arial MT"/>
                <a:cs typeface="Arial MT"/>
              </a:rPr>
              <a:t>When there is no motivation,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cannot work properly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your working place.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teacher should </a:t>
            </a:r>
            <a:r>
              <a:rPr dirty="0" sz="1200" spc="-15">
                <a:latin typeface="Arial MT"/>
                <a:cs typeface="Arial MT"/>
              </a:rPr>
              <a:t>be 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self-motivated.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 spc="-10">
                <a:latin typeface="Arial MT"/>
                <a:cs typeface="Arial MT"/>
              </a:rPr>
              <a:t>person </a:t>
            </a:r>
            <a:r>
              <a:rPr dirty="0" sz="1200" spc="-5">
                <a:latin typeface="Arial MT"/>
                <a:cs typeface="Arial MT"/>
              </a:rPr>
              <a:t>is not self-motivated, then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could not </a:t>
            </a:r>
            <a:r>
              <a:rPr dirty="0" sz="1200">
                <a:latin typeface="Arial MT"/>
                <a:cs typeface="Arial MT"/>
              </a:rPr>
              <a:t>perform </a:t>
            </a:r>
            <a:r>
              <a:rPr dirty="0" sz="1200" spc="-5">
                <a:latin typeface="Arial MT"/>
                <a:cs typeface="Arial MT"/>
              </a:rPr>
              <a:t>a variety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tasks.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organization,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things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Besides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workshops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seminars also play a very important role in motivation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-5">
                <a:latin typeface="Arial MT"/>
                <a:cs typeface="Arial MT"/>
              </a:rPr>
              <a:t>teachers. These </a:t>
            </a:r>
            <a:r>
              <a:rPr dirty="0" sz="1200">
                <a:latin typeface="Arial MT"/>
                <a:cs typeface="Arial MT"/>
              </a:rPr>
              <a:t>tell us </a:t>
            </a:r>
            <a:r>
              <a:rPr dirty="0" sz="1200" spc="-5">
                <a:latin typeface="Arial MT"/>
                <a:cs typeface="Arial MT"/>
              </a:rPr>
              <a:t>where we </a:t>
            </a:r>
            <a:r>
              <a:rPr dirty="0" sz="1200">
                <a:latin typeface="Arial MT"/>
                <a:cs typeface="Arial MT"/>
              </a:rPr>
              <a:t> stand </a:t>
            </a:r>
            <a:r>
              <a:rPr dirty="0" sz="1200" spc="-5">
                <a:latin typeface="Arial MT"/>
                <a:cs typeface="Arial MT"/>
              </a:rPr>
              <a:t>and what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can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from </a:t>
            </a:r>
            <a:r>
              <a:rPr dirty="0" sz="1200">
                <a:latin typeface="Arial MT"/>
                <a:cs typeface="Arial MT"/>
              </a:rPr>
              <a:t>others. </a:t>
            </a:r>
            <a:r>
              <a:rPr dirty="0" sz="1200" spc="-5">
                <a:latin typeface="Arial MT"/>
                <a:cs typeface="Arial MT"/>
              </a:rPr>
              <a:t>Recognition as a teacher is also motivating. Students </a:t>
            </a:r>
            <a:r>
              <a:rPr dirty="0" sz="1200">
                <a:latin typeface="Arial MT"/>
                <a:cs typeface="Arial MT"/>
              </a:rPr>
              <a:t> come </a:t>
            </a:r>
            <a:r>
              <a:rPr dirty="0" sz="1200" spc="-5">
                <a:latin typeface="Arial MT"/>
                <a:cs typeface="Arial MT"/>
              </a:rPr>
              <a:t>to you and they feel satisfied </a:t>
            </a:r>
            <a:r>
              <a:rPr dirty="0" sz="1200">
                <a:latin typeface="Arial MT"/>
                <a:cs typeface="Arial MT"/>
              </a:rPr>
              <a:t>after </a:t>
            </a:r>
            <a:r>
              <a:rPr dirty="0" sz="1200" spc="-5">
                <a:latin typeface="Arial MT"/>
                <a:cs typeface="Arial MT"/>
              </a:rPr>
              <a:t>you answer their questions.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shows that </a:t>
            </a:r>
            <a:r>
              <a:rPr dirty="0" sz="1200" spc="-10">
                <a:latin typeface="Arial MT"/>
                <a:cs typeface="Arial MT"/>
              </a:rPr>
              <a:t>you are </a:t>
            </a:r>
            <a:r>
              <a:rPr dirty="0" sz="1200" spc="-5">
                <a:latin typeface="Arial MT"/>
                <a:cs typeface="Arial MT"/>
              </a:rPr>
              <a:t>there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help somebody out. The students, the way they benefit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you, the way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seek help </a:t>
            </a:r>
            <a:r>
              <a:rPr dirty="0" sz="1200" spc="-1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 you 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motivation.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941323"/>
            <a:ext cx="6634480" cy="10488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Common assumptions from the above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interviews: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Arial"/>
              <a:cs typeface="Arial"/>
            </a:endParaRPr>
          </a:p>
          <a:p>
            <a:pPr algn="just" marL="477520" indent="-229235">
              <a:lnSpc>
                <a:spcPct val="100000"/>
              </a:lnSpc>
              <a:buSzPct val="116666"/>
              <a:buFont typeface="Arial MT"/>
              <a:buChar char="•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Recognition: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recognition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teachers.</a:t>
            </a:r>
            <a:endParaRPr sz="1200">
              <a:latin typeface="Arial MT"/>
              <a:cs typeface="Arial MT"/>
            </a:endParaRPr>
          </a:p>
          <a:p>
            <a:pPr algn="just" marL="477520" marR="7620" indent="-228600">
              <a:lnSpc>
                <a:spcPct val="144200"/>
              </a:lnSpc>
              <a:spcBef>
                <a:spcPts val="515"/>
              </a:spcBef>
              <a:buSzPct val="116666"/>
              <a:buFont typeface="Arial MT"/>
              <a:buChar char="•"/>
              <a:tabLst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Esteem: </a:t>
            </a:r>
            <a:r>
              <a:rPr dirty="0" sz="1200">
                <a:latin typeface="Arial MT"/>
                <a:cs typeface="Arial MT"/>
              </a:rPr>
              <a:t>where </a:t>
            </a:r>
            <a:r>
              <a:rPr dirty="0" sz="1200" spc="-5">
                <a:latin typeface="Arial MT"/>
                <a:cs typeface="Arial MT"/>
              </a:rPr>
              <a:t>the teachers think that their </a:t>
            </a:r>
            <a:r>
              <a:rPr dirty="0" sz="1200">
                <a:latin typeface="Arial MT"/>
                <a:cs typeface="Arial MT"/>
              </a:rPr>
              <a:t>self-esteem </a:t>
            </a:r>
            <a:r>
              <a:rPr dirty="0" sz="1200" spc="-5">
                <a:latin typeface="Arial MT"/>
                <a:cs typeface="Arial MT"/>
              </a:rPr>
              <a:t>is becoming lower, they </a:t>
            </a:r>
            <a:r>
              <a:rPr dirty="0" sz="1200">
                <a:latin typeface="Arial MT"/>
                <a:cs typeface="Arial MT"/>
              </a:rPr>
              <a:t>don’t </a:t>
            </a:r>
            <a:r>
              <a:rPr dirty="0" sz="1200" spc="-10">
                <a:latin typeface="Arial MT"/>
                <a:cs typeface="Arial MT"/>
              </a:rPr>
              <a:t>want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>
                <a:latin typeface="Arial MT"/>
                <a:cs typeface="Arial MT"/>
              </a:rPr>
              <a:t> 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place.</a:t>
            </a:r>
            <a:endParaRPr sz="1200">
              <a:latin typeface="Arial MT"/>
              <a:cs typeface="Arial MT"/>
            </a:endParaRPr>
          </a:p>
          <a:p>
            <a:pPr algn="just" marL="477520" marR="6350" indent="-228600">
              <a:lnSpc>
                <a:spcPct val="144000"/>
              </a:lnSpc>
              <a:spcBef>
                <a:spcPts val="540"/>
              </a:spcBef>
              <a:buSzPct val="116666"/>
              <a:buFont typeface="Arial MT"/>
              <a:buChar char="•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Growth (working with </a:t>
            </a:r>
            <a:r>
              <a:rPr dirty="0" sz="1200" spc="-5" b="1">
                <a:latin typeface="Arial"/>
                <a:cs typeface="Arial"/>
              </a:rPr>
              <a:t>other professionals):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 </a:t>
            </a:r>
            <a:r>
              <a:rPr dirty="0" sz="1200">
                <a:latin typeface="Arial MT"/>
                <a:cs typeface="Arial MT"/>
              </a:rPr>
              <a:t>want </a:t>
            </a:r>
            <a:r>
              <a:rPr dirty="0" sz="1200" spc="-5">
                <a:latin typeface="Arial MT"/>
                <a:cs typeface="Arial MT"/>
              </a:rPr>
              <a:t>career growth. They </a:t>
            </a:r>
            <a:r>
              <a:rPr dirty="0" sz="1200" spc="-10">
                <a:latin typeface="Arial MT"/>
                <a:cs typeface="Arial MT"/>
              </a:rPr>
              <a:t>want </a:t>
            </a:r>
            <a:r>
              <a:rPr dirty="0" sz="1200" spc="-5">
                <a:latin typeface="Arial MT"/>
                <a:cs typeface="Arial MT"/>
              </a:rPr>
              <a:t> growth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their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new methods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teaching, </a:t>
            </a:r>
            <a:r>
              <a:rPr dirty="0" sz="1200" spc="-5">
                <a:latin typeface="Arial MT"/>
                <a:cs typeface="Arial MT"/>
              </a:rPr>
              <a:t>classroom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management and other new </a:t>
            </a:r>
            <a:r>
              <a:rPr dirty="0" sz="1200">
                <a:latin typeface="Arial MT"/>
                <a:cs typeface="Arial MT"/>
              </a:rPr>
              <a:t>activities. E.g.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an educational institute,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may </a:t>
            </a:r>
            <a:r>
              <a:rPr dirty="0" sz="1200" spc="-5">
                <a:latin typeface="Arial MT"/>
                <a:cs typeface="Arial MT"/>
              </a:rPr>
              <a:t>start </a:t>
            </a:r>
            <a:r>
              <a:rPr dirty="0" sz="1200" spc="-10">
                <a:latin typeface="Arial MT"/>
                <a:cs typeface="Arial MT"/>
              </a:rPr>
              <a:t>your </a:t>
            </a:r>
            <a:r>
              <a:rPr dirty="0" sz="1200" spc="-5">
                <a:latin typeface="Arial MT"/>
                <a:cs typeface="Arial MT"/>
              </a:rPr>
              <a:t> career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lecturer,</a:t>
            </a:r>
            <a:r>
              <a:rPr dirty="0" sz="1200">
                <a:latin typeface="Arial MT"/>
                <a:cs typeface="Arial MT"/>
              </a:rPr>
              <a:t> then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move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assistant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professor,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associate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professor.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unfortunately,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>
                <a:latin typeface="Arial MT"/>
                <a:cs typeface="Arial MT"/>
              </a:rPr>
              <a:t> professional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growth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Teacher’s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levels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of functioning:</a:t>
            </a:r>
            <a:endParaRPr sz="14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5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Intentionally Disinviting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Unintentionally Disinviting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7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Unintentionally Inviting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Intentionally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Inviting</a:t>
            </a:r>
            <a:endParaRPr sz="1200">
              <a:latin typeface="Arial MT"/>
              <a:cs typeface="Arial MT"/>
            </a:endParaRPr>
          </a:p>
          <a:p>
            <a:pPr lvl="1" marL="934719" indent="-229235">
              <a:lnSpc>
                <a:spcPct val="100000"/>
              </a:lnSpc>
              <a:spcBef>
                <a:spcPts val="695"/>
              </a:spcBef>
              <a:buFont typeface="Times New Roman"/>
              <a:buAutoNum type="arabicPeriod"/>
              <a:tabLst>
                <a:tab pos="935355" algn="l"/>
              </a:tabLst>
            </a:pPr>
            <a:r>
              <a:rPr dirty="0" sz="1200" b="1">
                <a:latin typeface="Arial"/>
                <a:cs typeface="Arial"/>
              </a:rPr>
              <a:t>Intentionally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Disinviting:</a:t>
            </a:r>
            <a:endParaRPr sz="1200">
              <a:latin typeface="Arial"/>
              <a:cs typeface="Arial"/>
            </a:endParaRPr>
          </a:p>
          <a:p>
            <a:pPr algn="just" marL="941069" marR="5715" indent="36195">
              <a:lnSpc>
                <a:spcPts val="2080"/>
              </a:lnSpc>
              <a:spcBef>
                <a:spcPts val="135"/>
              </a:spcBef>
            </a:pPr>
            <a:r>
              <a:rPr dirty="0" sz="1200">
                <a:latin typeface="Arial MT"/>
                <a:cs typeface="Arial MT"/>
              </a:rPr>
              <a:t>In this </a:t>
            </a:r>
            <a:r>
              <a:rPr dirty="0" sz="1200" spc="-5">
                <a:latin typeface="Arial MT"/>
                <a:cs typeface="Arial MT"/>
              </a:rPr>
              <a:t>state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functioning, a teacher does not invite people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give </a:t>
            </a:r>
            <a:r>
              <a:rPr dirty="0" sz="1200" spc="-5">
                <a:latin typeface="Arial MT"/>
                <a:cs typeface="Arial MT"/>
              </a:rPr>
              <a:t>you suggestions.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 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ideas.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Arial MT"/>
              <a:cs typeface="Arial MT"/>
            </a:endParaRPr>
          </a:p>
          <a:p>
            <a:pPr lvl="1" marL="934719" indent="-229235">
              <a:lnSpc>
                <a:spcPct val="100000"/>
              </a:lnSpc>
              <a:buFont typeface="Times New Roman"/>
              <a:buAutoNum type="arabicPeriod" startAt="2"/>
              <a:tabLst>
                <a:tab pos="935355" algn="l"/>
              </a:tabLst>
            </a:pPr>
            <a:r>
              <a:rPr dirty="0" sz="1200" spc="-5" b="1">
                <a:latin typeface="Arial"/>
                <a:cs typeface="Arial"/>
              </a:rPr>
              <a:t>Unintentionally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Disinviting:</a:t>
            </a:r>
            <a:endParaRPr sz="1200">
              <a:latin typeface="Arial"/>
              <a:cs typeface="Arial"/>
            </a:endParaRPr>
          </a:p>
          <a:p>
            <a:pPr marL="712470" marR="12065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long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time.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realize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norm,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-5">
                <a:latin typeface="Arial MT"/>
                <a:cs typeface="Arial MT"/>
              </a:rPr>
              <a:t> 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sharing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share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advice.</a:t>
            </a:r>
            <a:endParaRPr sz="1200">
              <a:latin typeface="Arial MT"/>
              <a:cs typeface="Arial MT"/>
            </a:endParaRPr>
          </a:p>
          <a:p>
            <a:pPr lvl="1" marL="934719" indent="-229235">
              <a:lnSpc>
                <a:spcPct val="100000"/>
              </a:lnSpc>
              <a:spcBef>
                <a:spcPts val="484"/>
              </a:spcBef>
              <a:buFont typeface="Times New Roman"/>
              <a:buAutoNum type="arabicPeriod" startAt="3"/>
              <a:tabLst>
                <a:tab pos="935355" algn="l"/>
              </a:tabLst>
            </a:pPr>
            <a:r>
              <a:rPr dirty="0" sz="1200" spc="-5" b="1">
                <a:latin typeface="Arial"/>
                <a:cs typeface="Arial"/>
              </a:rPr>
              <a:t>Unintentionally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inviting:</a:t>
            </a:r>
            <a:endParaRPr sz="1200">
              <a:latin typeface="Arial"/>
              <a:cs typeface="Arial"/>
            </a:endParaRPr>
          </a:p>
          <a:p>
            <a:pPr algn="just" marL="941069" marR="5080" indent="-6350">
              <a:lnSpc>
                <a:spcPts val="2080"/>
              </a:lnSpc>
              <a:spcBef>
                <a:spcPts val="135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cases,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>
                <a:latin typeface="Arial MT"/>
                <a:cs typeface="Arial MT"/>
              </a:rPr>
              <a:t> start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>
                <a:latin typeface="Arial MT"/>
                <a:cs typeface="Arial MT"/>
              </a:rPr>
              <a:t> management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 unintentionally.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that they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want to share but share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things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 others unintentionally. E.g.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a staffroom, a teacher is saying that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could not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finish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lesson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time which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have planned. You also </a:t>
            </a:r>
            <a:r>
              <a:rPr dirty="0" sz="1200">
                <a:latin typeface="Arial MT"/>
                <a:cs typeface="Arial MT"/>
              </a:rPr>
              <a:t>become the part of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conversation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happens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sometimes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Now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invite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suggestions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resolve</a:t>
            </a:r>
            <a:r>
              <a:rPr dirty="0" sz="1200">
                <a:latin typeface="Arial MT"/>
                <a:cs typeface="Arial MT"/>
              </a:rPr>
              <a:t> this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unintentionally.</a:t>
            </a:r>
            <a:endParaRPr sz="1200">
              <a:latin typeface="Arial MT"/>
              <a:cs typeface="Arial MT"/>
            </a:endParaRPr>
          </a:p>
          <a:p>
            <a:pPr lvl="1" marL="934719" indent="-229235">
              <a:lnSpc>
                <a:spcPct val="100000"/>
              </a:lnSpc>
              <a:spcBef>
                <a:spcPts val="465"/>
              </a:spcBef>
              <a:buFont typeface="Times New Roman"/>
              <a:buAutoNum type="arabicPeriod" startAt="4"/>
              <a:tabLst>
                <a:tab pos="935355" algn="l"/>
              </a:tabLst>
            </a:pPr>
            <a:r>
              <a:rPr dirty="0" sz="1200" b="1">
                <a:latin typeface="Arial"/>
                <a:cs typeface="Arial"/>
              </a:rPr>
              <a:t>Intentionally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inviting:</a:t>
            </a:r>
            <a:endParaRPr sz="1200">
              <a:latin typeface="Arial"/>
              <a:cs typeface="Arial"/>
            </a:endParaRPr>
          </a:p>
          <a:p>
            <a:pPr marL="941069" indent="-6350">
              <a:lnSpc>
                <a:spcPct val="100000"/>
              </a:lnSpc>
              <a:spcBef>
                <a:spcPts val="610"/>
              </a:spcBef>
            </a:pP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highest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come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15">
                <a:latin typeface="Arial MT"/>
                <a:cs typeface="Arial MT"/>
              </a:rPr>
              <a:t>to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realize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endParaRPr sz="1200">
              <a:latin typeface="Arial MT"/>
              <a:cs typeface="Arial MT"/>
            </a:endParaRPr>
          </a:p>
          <a:p>
            <a:pPr marL="941069" marR="9525">
              <a:lnSpc>
                <a:spcPct val="1442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didn’t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everything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flows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mistakes.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advice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colleagues.</a:t>
            </a:r>
            <a:endParaRPr sz="1200">
              <a:latin typeface="Arial MT"/>
              <a:cs typeface="Arial MT"/>
            </a:endParaRPr>
          </a:p>
          <a:p>
            <a:pPr marL="934719">
              <a:lnSpc>
                <a:spcPct val="100000"/>
              </a:lnSpc>
              <a:spcBef>
                <a:spcPts val="645"/>
              </a:spcBef>
            </a:pP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intentionally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inviting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advice</a:t>
            </a:r>
            <a:r>
              <a:rPr dirty="0" sz="1200">
                <a:latin typeface="Arial MT"/>
                <a:cs typeface="Arial MT"/>
              </a:rPr>
              <a:t> you.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Teacher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decision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maker:</a:t>
            </a:r>
            <a:endParaRPr sz="1400">
              <a:latin typeface="Arial"/>
              <a:cs typeface="Arial"/>
            </a:endParaRPr>
          </a:p>
          <a:p>
            <a:pPr marL="18415" marR="10160" indent="-6350">
              <a:lnSpc>
                <a:spcPts val="2080"/>
              </a:lnSpc>
              <a:spcBef>
                <a:spcPts val="95"/>
              </a:spcBef>
            </a:pP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some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show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whether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power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decision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making</a:t>
            </a:r>
            <a:r>
              <a:rPr dirty="0" sz="1200">
                <a:latin typeface="Arial MT"/>
                <a:cs typeface="Arial MT"/>
              </a:rPr>
              <a:t> 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 questions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discussed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below</a:t>
            </a:r>
            <a:r>
              <a:rPr dirty="0" sz="1200" spc="-5">
                <a:latin typeface="Arial MT"/>
                <a:cs typeface="Arial MT"/>
              </a:rPr>
              <a:t> one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one.</a:t>
            </a:r>
            <a:endParaRPr sz="1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470"/>
              </a:spcBef>
            </a:pPr>
            <a:r>
              <a:rPr dirty="0" sz="1200" b="1">
                <a:latin typeface="Times New Roman"/>
                <a:cs typeface="Times New Roman"/>
              </a:rPr>
              <a:t>1.</a:t>
            </a:r>
            <a:r>
              <a:rPr dirty="0" sz="1200" spc="29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 teach?(No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autonomy)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209" cy="9874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941069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autonomy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decided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selected.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teacher is working in a </a:t>
            </a:r>
            <a:r>
              <a:rPr dirty="0" sz="1200">
                <a:latin typeface="Arial MT"/>
                <a:cs typeface="Arial MT"/>
              </a:rPr>
              <a:t>school system, </a:t>
            </a:r>
            <a:r>
              <a:rPr dirty="0" sz="1200" spc="-5">
                <a:latin typeface="Arial MT"/>
                <a:cs typeface="Arial MT"/>
              </a:rPr>
              <a:t>then the school decides that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-5">
                <a:latin typeface="Arial MT"/>
                <a:cs typeface="Arial MT"/>
              </a:rPr>
              <a:t>content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taught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 particular class. If we talk about government </a:t>
            </a:r>
            <a:r>
              <a:rPr dirty="0" sz="1200">
                <a:latin typeface="Arial MT"/>
                <a:cs typeface="Arial MT"/>
              </a:rPr>
              <a:t>sector, the </a:t>
            </a:r>
            <a:r>
              <a:rPr dirty="0" sz="1200" spc="-5">
                <a:latin typeface="Arial MT"/>
                <a:cs typeface="Arial MT"/>
              </a:rPr>
              <a:t>books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published by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Punjab textbook board or the content 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decided by the </a:t>
            </a:r>
            <a:r>
              <a:rPr dirty="0" sz="1200">
                <a:latin typeface="Arial MT"/>
                <a:cs typeface="Arial MT"/>
              </a:rPr>
              <a:t> ministry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taught.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autonomy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AutoNum type="arabicPeriod" startAt="2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teach?(Autonomy)</a:t>
            </a:r>
            <a:endParaRPr sz="1200">
              <a:latin typeface="Arial"/>
              <a:cs typeface="Arial"/>
            </a:endParaRPr>
          </a:p>
          <a:p>
            <a:pPr marL="941069" marR="9525" indent="-6350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autonomy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teach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class.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decide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480"/>
              </a:spcBef>
              <a:buFont typeface="Times New Roman"/>
              <a:buAutoNum type="arabicPeriod" startAt="3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manage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class?(Autonomy)</a:t>
            </a:r>
            <a:endParaRPr sz="1200">
              <a:latin typeface="Arial"/>
              <a:cs typeface="Arial"/>
            </a:endParaRPr>
          </a:p>
          <a:p>
            <a:pPr marL="934719" marR="540385">
              <a:lnSpc>
                <a:spcPts val="2060"/>
              </a:lnSpc>
              <a:spcBef>
                <a:spcPts val="165"/>
              </a:spcBef>
            </a:pP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autonomy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he can</a:t>
            </a:r>
            <a:r>
              <a:rPr dirty="0" sz="1200" spc="-5">
                <a:latin typeface="Arial MT"/>
                <a:cs typeface="Arial MT"/>
              </a:rPr>
              <a:t> manage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feels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feasible.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505"/>
              </a:spcBef>
              <a:buFont typeface="Times New Roman"/>
              <a:buAutoNum type="arabicPeriod" startAt="4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-5" b="1">
                <a:latin typeface="Arial"/>
                <a:cs typeface="Arial"/>
              </a:rPr>
              <a:t> assess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pupil’s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learning?(Autonomy)</a:t>
            </a:r>
            <a:endParaRPr sz="1200">
              <a:latin typeface="Arial"/>
              <a:cs typeface="Arial"/>
            </a:endParaRPr>
          </a:p>
          <a:p>
            <a:pPr marL="941069" marR="9525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Teacher has the </a:t>
            </a:r>
            <a:r>
              <a:rPr dirty="0" sz="1200" spc="-5">
                <a:latin typeface="Arial MT"/>
                <a:cs typeface="Arial MT"/>
              </a:rPr>
              <a:t>autonomy in this context also. He can </a:t>
            </a:r>
            <a:r>
              <a:rPr dirty="0" sz="1200">
                <a:latin typeface="Arial MT"/>
                <a:cs typeface="Arial MT"/>
              </a:rPr>
              <a:t>assess </a:t>
            </a:r>
            <a:r>
              <a:rPr dirty="0" sz="1200" spc="-5">
                <a:latin typeface="Arial MT"/>
                <a:cs typeface="Arial MT"/>
              </a:rPr>
              <a:t>the students’ learning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methods</a:t>
            </a:r>
            <a:r>
              <a:rPr dirty="0" sz="1200">
                <a:latin typeface="Arial MT"/>
                <a:cs typeface="Arial MT"/>
              </a:rPr>
              <a:t> 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1110"/>
              </a:spcBef>
              <a:buFont typeface="Times New Roman"/>
              <a:buAutoNum type="arabicPeriod" startAt="5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feedback?(Autonomy)</a:t>
            </a:r>
            <a:endParaRPr sz="1200">
              <a:latin typeface="Arial"/>
              <a:cs typeface="Arial"/>
            </a:endParaRPr>
          </a:p>
          <a:p>
            <a:pPr marL="941069" marR="8890" indent="-6350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feedback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directly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his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Arial MT"/>
              <a:cs typeface="Arial MT"/>
            </a:endParaRPr>
          </a:p>
          <a:p>
            <a:pPr algn="just" marL="469900" marR="9525" indent="-228600">
              <a:lnSpc>
                <a:spcPct val="143700"/>
              </a:lnSpc>
              <a:buFont typeface="Times New Roman"/>
              <a:buAutoNum type="arabicPeriod" startAt="6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Which resources </a:t>
            </a:r>
            <a:r>
              <a:rPr dirty="0" sz="1200" b="1">
                <a:latin typeface="Arial"/>
                <a:cs typeface="Arial"/>
              </a:rPr>
              <a:t>to be used in </a:t>
            </a:r>
            <a:r>
              <a:rPr dirty="0" sz="1200" spc="-5" b="1">
                <a:latin typeface="Arial"/>
                <a:cs typeface="Arial"/>
              </a:rPr>
              <a:t>classroom learning?(Autonomy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certain extent)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 spc="-10">
                <a:latin typeface="Arial MT"/>
                <a:cs typeface="Arial MT"/>
              </a:rPr>
              <a:t>here </a:t>
            </a:r>
            <a:r>
              <a:rPr dirty="0" sz="1200" spc="-5">
                <a:latin typeface="Arial MT"/>
                <a:cs typeface="Arial MT"/>
              </a:rPr>
              <a:t>also have the autonomy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certain extent because resources are provided by 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administration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now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teacher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accordingly.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AutoNum type="arabicPeriod" startAt="6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AutoNum type="arabicPeriod" startAt="6"/>
            </a:pPr>
            <a:endParaRPr sz="11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AutoNum type="arabicPeriod" startAt="6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Which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be</a:t>
            </a:r>
            <a:r>
              <a:rPr dirty="0" sz="1200" spc="-5" b="1">
                <a:latin typeface="Arial"/>
                <a:cs typeface="Arial"/>
              </a:rPr>
              <a:t> used?(Autonomy)</a:t>
            </a:r>
            <a:endParaRPr sz="1200">
              <a:latin typeface="Arial"/>
              <a:cs typeface="Arial"/>
            </a:endParaRPr>
          </a:p>
          <a:p>
            <a:pPr algn="just" marL="941069" marR="7620" indent="-6350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Teacher can manage different activities in the school for the moral, social and ethical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child.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10">
                <a:latin typeface="Arial MT"/>
                <a:cs typeface="Arial MT"/>
              </a:rPr>
              <a:t>use </a:t>
            </a:r>
            <a:r>
              <a:rPr dirty="0" sz="1200" spc="-5">
                <a:latin typeface="Arial MT"/>
                <a:cs typeface="Arial MT"/>
              </a:rPr>
              <a:t>only those activities which maximize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 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Teacher’s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responsibilities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decision maker:</a:t>
            </a:r>
            <a:endParaRPr sz="1400">
              <a:latin typeface="Arial"/>
              <a:cs typeface="Arial"/>
            </a:endParaRPr>
          </a:p>
          <a:p>
            <a:pPr marL="386080">
              <a:lnSpc>
                <a:spcPct val="100000"/>
              </a:lnSpc>
              <a:spcBef>
                <a:spcPts val="860"/>
              </a:spcBef>
            </a:pP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teacher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to:</a:t>
            </a:r>
            <a:endParaRPr sz="1200">
              <a:latin typeface="Arial MT"/>
              <a:cs typeface="Arial MT"/>
            </a:endParaRPr>
          </a:p>
          <a:p>
            <a:pPr marL="477520" marR="457200" indent="-228600">
              <a:lnSpc>
                <a:spcPts val="2060"/>
              </a:lnSpc>
              <a:spcBef>
                <a:spcPts val="3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styles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strategies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styles.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49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Manage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maximize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pupil’s learning.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Give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feedback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maximize learning.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7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strategies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maximize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relevant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10976609"/>
            <a:ext cx="16554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Reflective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practice: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5115" cy="7413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11430" indent="36195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explain reflective </a:t>
            </a:r>
            <a:r>
              <a:rPr dirty="0" sz="1200">
                <a:latin typeface="Arial MT"/>
                <a:cs typeface="Arial MT"/>
              </a:rPr>
              <a:t>practice, I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first </a:t>
            </a:r>
            <a:r>
              <a:rPr dirty="0" sz="1200" spc="-5">
                <a:latin typeface="Arial MT"/>
                <a:cs typeface="Arial MT"/>
              </a:rPr>
              <a:t>explain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light of reflection. The light of reflection 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“bouncing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back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light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image.”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reflection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related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light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better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reflection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reflective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practice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200">
                <a:latin typeface="Arial MT"/>
                <a:cs typeface="Arial MT"/>
              </a:rPr>
              <a:t>is: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“Answering some </a:t>
            </a:r>
            <a:r>
              <a:rPr dirty="0" sz="1200">
                <a:latin typeface="Arial MT"/>
                <a:cs typeface="Arial MT"/>
              </a:rPr>
              <a:t>key </a:t>
            </a:r>
            <a:r>
              <a:rPr dirty="0" sz="1200" spc="-5">
                <a:latin typeface="Arial MT"/>
                <a:cs typeface="Arial MT"/>
              </a:rPr>
              <a:t>questions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create </a:t>
            </a:r>
            <a:r>
              <a:rPr dirty="0" sz="120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image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classroom teaching and learning.”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definition means that there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certain questions that teacher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answer by himself.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must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notice his classroom environment that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there are </a:t>
            </a:r>
            <a:r>
              <a:rPr dirty="0" sz="1200" spc="-10">
                <a:latin typeface="Arial MT"/>
                <a:cs typeface="Arial MT"/>
              </a:rPr>
              <a:t>30 </a:t>
            </a:r>
            <a:r>
              <a:rPr dirty="0" sz="1200" spc="-5">
                <a:latin typeface="Arial MT"/>
                <a:cs typeface="Arial MT"/>
              </a:rPr>
              <a:t>students in a </a:t>
            </a:r>
            <a:r>
              <a:rPr dirty="0" sz="1200">
                <a:latin typeface="Arial MT"/>
                <a:cs typeface="Arial MT"/>
              </a:rPr>
              <a:t>class, </a:t>
            </a:r>
            <a:r>
              <a:rPr dirty="0" sz="1200" spc="-5">
                <a:latin typeface="Arial MT"/>
                <a:cs typeface="Arial MT"/>
              </a:rPr>
              <a:t>how </a:t>
            </a:r>
            <a:r>
              <a:rPr dirty="0" sz="1200">
                <a:latin typeface="Arial MT"/>
                <a:cs typeface="Arial MT"/>
              </a:rPr>
              <a:t>much </a:t>
            </a:r>
            <a:r>
              <a:rPr dirty="0" sz="1200" spc="-5">
                <a:latin typeface="Arial MT"/>
                <a:cs typeface="Arial MT"/>
              </a:rPr>
              <a:t>students 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answering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asked</a:t>
            </a:r>
            <a:r>
              <a:rPr dirty="0" sz="1200">
                <a:latin typeface="Arial MT"/>
                <a:cs typeface="Arial MT"/>
              </a:rPr>
              <a:t> 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end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participate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discussion? How many students participate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activities? These questions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answered </a:t>
            </a:r>
            <a:r>
              <a:rPr dirty="0" sz="1200" spc="25">
                <a:latin typeface="Arial MT"/>
                <a:cs typeface="Arial MT"/>
              </a:rPr>
              <a:t>by 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teacher himself.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answers to these questions will actually </a:t>
            </a:r>
            <a:r>
              <a:rPr dirty="0" sz="1200">
                <a:latin typeface="Arial MT"/>
                <a:cs typeface="Arial MT"/>
              </a:rPr>
              <a:t>tell the </a:t>
            </a:r>
            <a:r>
              <a:rPr dirty="0" sz="1200" spc="-5">
                <a:latin typeface="Arial MT"/>
                <a:cs typeface="Arial MT"/>
              </a:rPr>
              <a:t>teacher that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environment of his </a:t>
            </a:r>
            <a:r>
              <a:rPr dirty="0" sz="1200" spc="-10">
                <a:latin typeface="Arial MT"/>
                <a:cs typeface="Arial MT"/>
              </a:rPr>
              <a:t>class </a:t>
            </a:r>
            <a:r>
              <a:rPr dirty="0" sz="1200">
                <a:latin typeface="Arial MT"/>
                <a:cs typeface="Arial MT"/>
              </a:rPr>
              <a:t>was. </a:t>
            </a:r>
            <a:r>
              <a:rPr dirty="0" sz="1200" spc="-5">
                <a:latin typeface="Arial MT"/>
                <a:cs typeface="Arial MT"/>
              </a:rPr>
              <a:t>So, </a:t>
            </a:r>
            <a:r>
              <a:rPr dirty="0" sz="1200" spc="-5" b="1">
                <a:latin typeface="Arial"/>
                <a:cs typeface="Arial"/>
              </a:rPr>
              <a:t>reflective practice </a:t>
            </a:r>
            <a:r>
              <a:rPr dirty="0" sz="1200" spc="-5">
                <a:latin typeface="Arial MT"/>
                <a:cs typeface="Arial MT"/>
              </a:rPr>
              <a:t>is very important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a teacher. Being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professional,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raise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standard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my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reflective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definitely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standards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teaching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 MT"/>
              <a:cs typeface="Arial MT"/>
            </a:endParaRPr>
          </a:p>
          <a:p>
            <a:pPr algn="r" marR="4885690">
              <a:lnSpc>
                <a:spcPct val="100000"/>
              </a:lnSpc>
            </a:pPr>
            <a:r>
              <a:rPr dirty="0" sz="1200" spc="-5">
                <a:latin typeface="Arial MT"/>
                <a:cs typeface="Arial MT"/>
              </a:rPr>
              <a:t>Reflection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two</a:t>
            </a:r>
            <a:r>
              <a:rPr dirty="0" sz="1200" spc="-5">
                <a:latin typeface="Arial MT"/>
                <a:cs typeface="Arial MT"/>
              </a:rPr>
              <a:t> types:</a:t>
            </a:r>
            <a:endParaRPr sz="1200">
              <a:latin typeface="Arial MT"/>
              <a:cs typeface="Arial MT"/>
            </a:endParaRPr>
          </a:p>
          <a:p>
            <a:pPr algn="r" marL="228600" marR="4860925" indent="-228600">
              <a:lnSpc>
                <a:spcPct val="100000"/>
              </a:lnSpc>
              <a:spcBef>
                <a:spcPts val="670"/>
              </a:spcBef>
              <a:buFont typeface="Times New Roman"/>
              <a:buAutoNum type="arabicPeriod"/>
              <a:tabLst>
                <a:tab pos="228600" algn="l"/>
              </a:tabLst>
            </a:pPr>
            <a:r>
              <a:rPr dirty="0" sz="1200" spc="-5">
                <a:latin typeface="Arial MT"/>
                <a:cs typeface="Arial MT"/>
              </a:rPr>
              <a:t>Reflection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action</a:t>
            </a:r>
            <a:endParaRPr sz="1200">
              <a:latin typeface="Arial MT"/>
              <a:cs typeface="Arial MT"/>
            </a:endParaRPr>
          </a:p>
          <a:p>
            <a:pPr algn="r" marL="228600" marR="4810760" indent="-228600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228600" algn="l"/>
              </a:tabLst>
            </a:pPr>
            <a:r>
              <a:rPr dirty="0" sz="1200" spc="-5">
                <a:latin typeface="Arial MT"/>
                <a:cs typeface="Arial MT"/>
              </a:rPr>
              <a:t>Reflection</a:t>
            </a:r>
            <a:r>
              <a:rPr dirty="0" sz="1200">
                <a:latin typeface="Arial MT"/>
                <a:cs typeface="Arial MT"/>
              </a:rPr>
              <a:t> on</a:t>
            </a:r>
            <a:r>
              <a:rPr dirty="0" sz="1200" spc="-5">
                <a:latin typeface="Arial MT"/>
                <a:cs typeface="Arial MT"/>
              </a:rPr>
              <a:t> action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Arial MT"/>
              <a:cs typeface="Arial MT"/>
            </a:endParaRPr>
          </a:p>
          <a:p>
            <a:pPr algn="just" marL="477520" marR="8255" indent="-228600">
              <a:lnSpc>
                <a:spcPct val="144200"/>
              </a:lnSpc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Reflection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action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environment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>
                <a:latin typeface="Arial MT"/>
                <a:cs typeface="Arial MT"/>
              </a:rPr>
              <a:t> was.</a:t>
            </a:r>
            <a:endParaRPr sz="1200">
              <a:latin typeface="Arial MT"/>
              <a:cs typeface="Arial MT"/>
            </a:endParaRPr>
          </a:p>
          <a:p>
            <a:pPr algn="just" marL="477520" marR="10160" indent="-228600">
              <a:lnSpc>
                <a:spcPct val="144200"/>
              </a:lnSpc>
              <a:spcBef>
                <a:spcPts val="1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Reflection in action </a:t>
            </a:r>
            <a:r>
              <a:rPr dirty="0" sz="1200" spc="-5">
                <a:latin typeface="Arial MT"/>
                <a:cs typeface="Arial MT"/>
              </a:rPr>
              <a:t>comes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experience. </a:t>
            </a:r>
            <a:r>
              <a:rPr dirty="0" sz="1200">
                <a:latin typeface="Arial MT"/>
                <a:cs typeface="Arial MT"/>
              </a:rPr>
              <a:t>Once </a:t>
            </a:r>
            <a:r>
              <a:rPr dirty="0" sz="1200" spc="-5">
                <a:latin typeface="Arial MT"/>
                <a:cs typeface="Arial MT"/>
              </a:rPr>
              <a:t>a teacher is in </a:t>
            </a:r>
            <a:r>
              <a:rPr dirty="0" sz="1200">
                <a:latin typeface="Arial MT"/>
                <a:cs typeface="Arial MT"/>
              </a:rPr>
              <a:t>class, </a:t>
            </a:r>
            <a:r>
              <a:rPr dirty="0" sz="1200" spc="-5">
                <a:latin typeface="Arial MT"/>
                <a:cs typeface="Arial MT"/>
              </a:rPr>
              <a:t>she/he needs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reflect </a:t>
            </a:r>
            <a:r>
              <a:rPr dirty="0" sz="1200" spc="-5">
                <a:latin typeface="Arial MT"/>
                <a:cs typeface="Arial MT"/>
              </a:rPr>
              <a:t>on all his/her actions. The reflection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every </a:t>
            </a:r>
            <a:r>
              <a:rPr dirty="0" sz="1200">
                <a:latin typeface="Arial MT"/>
                <a:cs typeface="Arial MT"/>
              </a:rPr>
              <a:t>action </a:t>
            </a:r>
            <a:r>
              <a:rPr dirty="0" sz="1200" spc="-5">
                <a:latin typeface="Arial MT"/>
                <a:cs typeface="Arial MT"/>
              </a:rPr>
              <a:t>at the same moment when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 action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 MT"/>
              <a:cs typeface="Arial MT"/>
            </a:endParaRPr>
          </a:p>
          <a:p>
            <a:pPr algn="just" marL="255270" marR="6350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Basically,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reflection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dialogue.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dialogue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himself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as a result he knows his strengths and weaknesses. Reflective </a:t>
            </a:r>
            <a:r>
              <a:rPr dirty="0" sz="1200" spc="5">
                <a:latin typeface="Arial MT"/>
                <a:cs typeface="Arial MT"/>
              </a:rPr>
              <a:t>practice </a:t>
            </a:r>
            <a:r>
              <a:rPr dirty="0" sz="1200" spc="-5">
                <a:latin typeface="Arial MT"/>
                <a:cs typeface="Arial MT"/>
              </a:rPr>
              <a:t>is an important </a:t>
            </a:r>
            <a:r>
              <a:rPr dirty="0" sz="1200">
                <a:latin typeface="Arial MT"/>
                <a:cs typeface="Arial MT"/>
              </a:rPr>
              <a:t> thing </a:t>
            </a:r>
            <a:r>
              <a:rPr dirty="0" sz="1200" spc="-5">
                <a:latin typeface="Arial MT"/>
                <a:cs typeface="Arial MT"/>
              </a:rPr>
              <a:t>which we need to develop.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a reflective practitioner, means a lot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hard work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attitude 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8533765"/>
            <a:ext cx="6979920" cy="673735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 #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05</a:t>
            </a:r>
            <a:r>
              <a:rPr dirty="0" sz="16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“Conceptual Change,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theories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 Modeling</a:t>
            </a:r>
            <a:endParaRPr sz="1600">
              <a:latin typeface="Arial"/>
              <a:cs typeface="Arial"/>
            </a:endParaRPr>
          </a:p>
          <a:p>
            <a:pPr marL="71120">
              <a:lnSpc>
                <a:spcPct val="100000"/>
              </a:lnSpc>
              <a:spcBef>
                <a:spcPts val="6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Process”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9644633"/>
            <a:ext cx="3683000" cy="165163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710"/>
              </a:spcBef>
            </a:pPr>
            <a:r>
              <a:rPr dirty="0" sz="1200" spc="-5" b="1">
                <a:latin typeface="Arial"/>
                <a:cs typeface="Arial"/>
              </a:rPr>
              <a:t>Lecture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upon: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86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 conceptual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70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formula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teacher’s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growth.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Theories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 how children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68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cognitivism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modeling.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653287"/>
            <a:ext cx="6634480" cy="3648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Outline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of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the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lecture: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16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Conceptual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change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growth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humans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Beliefs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Modeling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effects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Modeling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</a:t>
            </a:r>
            <a:r>
              <a:rPr dirty="0" sz="1200" spc="40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• </a:t>
            </a:r>
            <a:r>
              <a:rPr dirty="0" sz="1200" b="1">
                <a:latin typeface="Arial"/>
                <a:cs typeface="Arial"/>
              </a:rPr>
              <a:t>Social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cognitivism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times,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required memorization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facts</a:t>
            </a:r>
            <a:r>
              <a:rPr dirty="0" sz="1200" spc="-5">
                <a:latin typeface="Arial MT"/>
                <a:cs typeface="Arial MT"/>
              </a:rPr>
              <a:t> 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200" b="1">
                <a:latin typeface="Arial"/>
                <a:cs typeface="Arial"/>
              </a:rPr>
              <a:t>Howard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Gardner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famous because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5">
                <a:latin typeface="Arial MT"/>
                <a:cs typeface="Arial MT"/>
              </a:rPr>
              <a:t> his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multiple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intelligences.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says,</a:t>
            </a:r>
            <a:endParaRPr sz="1200">
              <a:latin typeface="Arial MT"/>
              <a:cs typeface="Arial MT"/>
            </a:endParaRPr>
          </a:p>
          <a:p>
            <a:pPr marL="934719">
              <a:lnSpc>
                <a:spcPct val="100000"/>
              </a:lnSpc>
              <a:spcBef>
                <a:spcPts val="625"/>
              </a:spcBef>
            </a:pPr>
            <a:r>
              <a:rPr dirty="0" sz="1200">
                <a:latin typeface="Arial MT"/>
                <a:cs typeface="Arial MT"/>
              </a:rPr>
              <a:t>“Even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been well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trained 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exhibit all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signs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success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  <a:p>
            <a:pPr marL="941069" marR="12065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.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.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typically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display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adequate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working.”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4829147"/>
            <a:ext cx="6635115" cy="701040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400" spc="-5" b="1">
                <a:latin typeface="Arial"/>
                <a:cs typeface="Arial"/>
              </a:rPr>
              <a:t>Conceptual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change:</a:t>
            </a:r>
            <a:endParaRPr sz="1400">
              <a:latin typeface="Arial"/>
              <a:cs typeface="Arial"/>
            </a:endParaRPr>
          </a:p>
          <a:p>
            <a:pPr algn="just" marL="18415" marR="7620" indent="-6350">
              <a:lnSpc>
                <a:spcPts val="2080"/>
              </a:lnSpc>
              <a:spcBef>
                <a:spcPts val="80"/>
              </a:spcBef>
            </a:pP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5" b="1">
                <a:latin typeface="Arial"/>
                <a:cs typeface="Arial"/>
              </a:rPr>
              <a:t>missing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instead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conceptual change. Conceptual </a:t>
            </a:r>
            <a:r>
              <a:rPr dirty="0" sz="1200" spc="-10">
                <a:latin typeface="Arial MT"/>
                <a:cs typeface="Arial MT"/>
              </a:rPr>
              <a:t>change </a:t>
            </a:r>
            <a:r>
              <a:rPr dirty="0" sz="1200" spc="-5">
                <a:latin typeface="Arial MT"/>
                <a:cs typeface="Arial MT"/>
              </a:rPr>
              <a:t>is important but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does require time. It is </a:t>
            </a:r>
            <a:r>
              <a:rPr dirty="0" sz="1200">
                <a:latin typeface="Arial MT"/>
                <a:cs typeface="Arial MT"/>
              </a:rPr>
              <a:t>difficult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accomplish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conceptual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superficial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deep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conceptual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change.</a:t>
            </a:r>
            <a:endParaRPr sz="1200">
              <a:latin typeface="Arial MT"/>
              <a:cs typeface="Arial MT"/>
            </a:endParaRPr>
          </a:p>
          <a:p>
            <a:pPr algn="just" marL="18415" marR="13970" indent="-6350">
              <a:lnSpc>
                <a:spcPts val="208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(Teacher is more interested in covering the syllabus instead of bringing conceptual </a:t>
            </a:r>
            <a:r>
              <a:rPr dirty="0" sz="1200" spc="-10">
                <a:latin typeface="Arial MT"/>
                <a:cs typeface="Arial MT"/>
              </a:rPr>
              <a:t>change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Teacher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growth:</a:t>
            </a:r>
            <a:endParaRPr sz="14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50"/>
              </a:spcBef>
            </a:pP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growth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conceptual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change: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35"/>
              </a:spcBef>
            </a:pPr>
            <a:r>
              <a:rPr dirty="0" sz="1200" spc="-5" b="1">
                <a:latin typeface="Arial"/>
                <a:cs typeface="Arial"/>
              </a:rPr>
              <a:t>Knowledge</a:t>
            </a:r>
            <a:r>
              <a:rPr dirty="0" sz="1200" b="1">
                <a:latin typeface="Arial"/>
                <a:cs typeface="Arial"/>
              </a:rPr>
              <a:t> + </a:t>
            </a:r>
            <a:r>
              <a:rPr dirty="0" sz="1200" spc="-5" b="1">
                <a:latin typeface="Arial"/>
                <a:cs typeface="Arial"/>
              </a:rPr>
              <a:t>Experience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+ </a:t>
            </a:r>
            <a:r>
              <a:rPr dirty="0" sz="1200" spc="-5" b="1">
                <a:latin typeface="Arial"/>
                <a:cs typeface="Arial"/>
              </a:rPr>
              <a:t>Reflection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=</a:t>
            </a:r>
            <a:r>
              <a:rPr dirty="0" sz="1200" spc="-5" b="1">
                <a:latin typeface="Arial"/>
                <a:cs typeface="Arial"/>
              </a:rPr>
              <a:t> Growth</a:t>
            </a:r>
            <a:endParaRPr sz="1200">
              <a:latin typeface="Arial"/>
              <a:cs typeface="Arial"/>
            </a:endParaRPr>
          </a:p>
          <a:p>
            <a:pPr algn="just" marL="18415" marR="8255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any single element is eliminated or </a:t>
            </a:r>
            <a:r>
              <a:rPr dirty="0" sz="1200">
                <a:latin typeface="Arial MT"/>
                <a:cs typeface="Arial MT"/>
              </a:rPr>
              <a:t>missed </a:t>
            </a:r>
            <a:r>
              <a:rPr dirty="0" sz="1200" spc="-5">
                <a:latin typeface="Arial MT"/>
                <a:cs typeface="Arial MT"/>
              </a:rPr>
              <a:t>from the above statement then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not growth.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knowledge and experience,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necessary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growth that whatever you have gained from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 experience you must reflect on that. E.g.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 spc="-10">
                <a:latin typeface="Arial MT"/>
                <a:cs typeface="Arial MT"/>
              </a:rPr>
              <a:t>teach </a:t>
            </a:r>
            <a:r>
              <a:rPr dirty="0" sz="1200" spc="-5">
                <a:latin typeface="Arial MT"/>
                <a:cs typeface="Arial MT"/>
              </a:rPr>
              <a:t>mathematics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grade 2 students a year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supposed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teach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again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next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grade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2.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endParaRPr sz="1200">
              <a:latin typeface="Arial MT"/>
              <a:cs typeface="Arial MT"/>
            </a:endParaRPr>
          </a:p>
          <a:p>
            <a:pPr algn="just" marL="18415" marR="8255">
              <a:lnSpc>
                <a:spcPts val="2060"/>
              </a:lnSpc>
            </a:pPr>
            <a:r>
              <a:rPr dirty="0" sz="1200">
                <a:latin typeface="Arial MT"/>
                <a:cs typeface="Arial MT"/>
              </a:rPr>
              <a:t>notes </a:t>
            </a:r>
            <a:r>
              <a:rPr dirty="0" sz="1200" spc="-5">
                <a:latin typeface="Arial MT"/>
                <a:cs typeface="Arial MT"/>
              </a:rPr>
              <a:t>and textbooks that you used earlier. You teach mathematics to grade 2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 next 5 years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way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growth.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just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change.</a:t>
            </a:r>
            <a:endParaRPr sz="1200">
              <a:latin typeface="Arial MT"/>
              <a:cs typeface="Arial MT"/>
            </a:endParaRPr>
          </a:p>
          <a:p>
            <a:pPr algn="just" marL="18415" marR="5080">
              <a:lnSpc>
                <a:spcPts val="208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But if </a:t>
            </a:r>
            <a:r>
              <a:rPr dirty="0" sz="1200" spc="-5">
                <a:latin typeface="Arial MT"/>
                <a:cs typeface="Arial MT"/>
              </a:rPr>
              <a:t>a teacher gains experience to teach mathematics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grade 2 students and </a:t>
            </a:r>
            <a:r>
              <a:rPr dirty="0" sz="1200">
                <a:latin typeface="Arial MT"/>
                <a:cs typeface="Arial MT"/>
              </a:rPr>
              <a:t>at the </a:t>
            </a:r>
            <a:r>
              <a:rPr dirty="0" sz="1200" spc="-5">
                <a:latin typeface="Arial MT"/>
                <a:cs typeface="Arial MT"/>
              </a:rPr>
              <a:t>end, </a:t>
            </a:r>
            <a:r>
              <a:rPr dirty="0" sz="1200">
                <a:latin typeface="Arial MT"/>
                <a:cs typeface="Arial MT"/>
              </a:rPr>
              <a:t>reflect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 his experience is actually </a:t>
            </a:r>
            <a:r>
              <a:rPr dirty="0" sz="1200">
                <a:latin typeface="Arial MT"/>
                <a:cs typeface="Arial MT"/>
              </a:rPr>
              <a:t>growth. By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end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year, he will </a:t>
            </a:r>
            <a:r>
              <a:rPr dirty="0" sz="1200">
                <a:latin typeface="Arial MT"/>
                <a:cs typeface="Arial MT"/>
              </a:rPr>
              <a:t>think that </a:t>
            </a:r>
            <a:r>
              <a:rPr dirty="0" sz="1200" spc="-5">
                <a:latin typeface="Arial MT"/>
                <a:cs typeface="Arial MT"/>
              </a:rPr>
              <a:t>what techniques </a:t>
            </a:r>
            <a:r>
              <a:rPr dirty="0" sz="1200">
                <a:latin typeface="Arial MT"/>
                <a:cs typeface="Arial MT"/>
              </a:rPr>
              <a:t> must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use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improve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motivational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strategies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strategies </a:t>
            </a:r>
            <a:r>
              <a:rPr dirty="0" sz="1200" spc="-5">
                <a:latin typeface="Arial MT"/>
                <a:cs typeface="Arial MT"/>
              </a:rPr>
              <a:t>do not </a:t>
            </a:r>
            <a:r>
              <a:rPr dirty="0" sz="1200">
                <a:latin typeface="Arial MT"/>
                <a:cs typeface="Arial MT"/>
              </a:rPr>
              <a:t>work. </a:t>
            </a:r>
            <a:r>
              <a:rPr dirty="0" sz="1200" spc="-5">
                <a:latin typeface="Arial MT"/>
                <a:cs typeface="Arial MT"/>
              </a:rPr>
              <a:t>These things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actually </a:t>
            </a:r>
            <a:r>
              <a:rPr dirty="0" sz="1200">
                <a:latin typeface="Arial MT"/>
                <a:cs typeface="Arial MT"/>
              </a:rPr>
              <a:t>part of </a:t>
            </a:r>
            <a:r>
              <a:rPr dirty="0" sz="1200" spc="-5">
                <a:latin typeface="Arial MT"/>
                <a:cs typeface="Arial MT"/>
              </a:rPr>
              <a:t>your reflection.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are reflecting on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things, it </a:t>
            </a:r>
            <a:r>
              <a:rPr dirty="0" sz="1200" spc="-5">
                <a:latin typeface="Arial MT"/>
                <a:cs typeface="Arial MT"/>
              </a:rPr>
              <a:t>means that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will teach the students the next year in a </a:t>
            </a:r>
            <a:r>
              <a:rPr dirty="0" sz="1200">
                <a:latin typeface="Arial MT"/>
                <a:cs typeface="Arial MT"/>
              </a:rPr>
              <a:t>much </a:t>
            </a:r>
            <a:r>
              <a:rPr dirty="0" sz="1200" spc="-5">
                <a:latin typeface="Arial MT"/>
                <a:cs typeface="Arial MT"/>
              </a:rPr>
              <a:t>improved way. It means </a:t>
            </a:r>
            <a:r>
              <a:rPr dirty="0" sz="1200">
                <a:latin typeface="Arial MT"/>
                <a:cs typeface="Arial MT"/>
              </a:rPr>
              <a:t> that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are developing yourself professionally.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teacher growth is also a conceptual change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requires three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elements.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are: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knowledge, </a:t>
            </a:r>
            <a:r>
              <a:rPr dirty="0" sz="1200" spc="-5">
                <a:latin typeface="Arial MT"/>
                <a:cs typeface="Arial MT"/>
              </a:rPr>
              <a:t>experience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5" b="1">
                <a:latin typeface="Arial"/>
                <a:cs typeface="Arial"/>
              </a:rPr>
              <a:t>How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do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humans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learn?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845" cy="11254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10795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Before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theories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some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consideration.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answers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theories.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5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does</a:t>
            </a:r>
            <a:r>
              <a:rPr dirty="0" sz="1200" spc="-5" b="1">
                <a:latin typeface="Arial"/>
                <a:cs typeface="Arial"/>
              </a:rPr>
              <a:t> 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talk?</a:t>
            </a:r>
            <a:endParaRPr sz="1200">
              <a:latin typeface="Arial"/>
              <a:cs typeface="Arial"/>
            </a:endParaRPr>
          </a:p>
          <a:p>
            <a:pPr marL="469900" marR="10160" indent="-228600">
              <a:lnSpc>
                <a:spcPts val="2060"/>
              </a:lnSpc>
              <a:spcBef>
                <a:spcPts val="15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did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you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different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like</a:t>
            </a:r>
            <a:r>
              <a:rPr dirty="0" sz="1200" spc="1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cooking/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gardening/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stitching/</a:t>
            </a:r>
            <a:r>
              <a:rPr dirty="0" sz="1200" spc="1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cycling/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using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dictionary?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48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people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debate?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How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people</a:t>
            </a:r>
            <a:r>
              <a:rPr dirty="0" sz="1200" spc="-5" b="1">
                <a:latin typeface="Arial"/>
                <a:cs typeface="Arial"/>
              </a:rPr>
              <a:t> learn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perform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drama?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Did you </a:t>
            </a:r>
            <a:r>
              <a:rPr dirty="0" sz="1200" spc="-5" b="1">
                <a:latin typeface="Arial"/>
                <a:cs typeface="Arial"/>
              </a:rPr>
              <a:t>learn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multiplication</a:t>
            </a:r>
            <a:r>
              <a:rPr dirty="0" sz="1200" b="1">
                <a:latin typeface="Arial"/>
                <a:cs typeface="Arial"/>
              </a:rPr>
              <a:t> before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addition?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1300">
              <a:latin typeface="Arial"/>
              <a:cs typeface="Arial"/>
            </a:endParaRPr>
          </a:p>
          <a:p>
            <a:pPr marL="477520">
              <a:lnSpc>
                <a:spcPct val="100000"/>
              </a:lnSpc>
              <a:spcBef>
                <a:spcPts val="1160"/>
              </a:spcBef>
            </a:pPr>
            <a:r>
              <a:rPr dirty="0" sz="1200" b="1">
                <a:latin typeface="Arial"/>
                <a:cs typeface="Arial"/>
              </a:rPr>
              <a:t>Nolan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Francis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(1992)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believe </a:t>
            </a:r>
            <a:r>
              <a:rPr dirty="0" sz="1200" b="1">
                <a:latin typeface="Arial"/>
                <a:cs typeface="Arial"/>
              </a:rPr>
              <a:t>that: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79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Knowledge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5" b="1">
                <a:latin typeface="Arial"/>
                <a:cs typeface="Arial"/>
              </a:rPr>
              <a:t> actively</a:t>
            </a:r>
            <a:r>
              <a:rPr dirty="0" sz="1200" b="1">
                <a:latin typeface="Arial"/>
                <a:cs typeface="Arial"/>
              </a:rPr>
              <a:t> constructed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by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learners.</a:t>
            </a:r>
            <a:endParaRPr sz="1200">
              <a:latin typeface="Arial"/>
              <a:cs typeface="Arial"/>
            </a:endParaRPr>
          </a:p>
          <a:p>
            <a:pPr algn="just" marL="18415" marR="6985" indent="-6350">
              <a:lnSpc>
                <a:spcPct val="144200"/>
              </a:lnSpc>
              <a:spcBef>
                <a:spcPts val="1000"/>
              </a:spcBef>
            </a:pP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look at </a:t>
            </a:r>
            <a:r>
              <a:rPr dirty="0" sz="1200" spc="-5">
                <a:latin typeface="Arial MT"/>
                <a:cs typeface="Arial MT"/>
              </a:rPr>
              <a:t>the question # </a:t>
            </a:r>
            <a:r>
              <a:rPr dirty="0" sz="1200">
                <a:latin typeface="Arial MT"/>
                <a:cs typeface="Arial MT"/>
              </a:rPr>
              <a:t>2, </a:t>
            </a:r>
            <a:r>
              <a:rPr dirty="0" sz="1200" spc="-10">
                <a:latin typeface="Arial MT"/>
                <a:cs typeface="Arial MT"/>
              </a:rPr>
              <a:t>can you </a:t>
            </a:r>
            <a:r>
              <a:rPr dirty="0" sz="1200" spc="-5">
                <a:latin typeface="Arial MT"/>
                <a:cs typeface="Arial MT"/>
              </a:rPr>
              <a:t>learn cooking without you cook? Can you learn stitching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without doing it? Can you learn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use </a:t>
            </a:r>
            <a:r>
              <a:rPr dirty="0" sz="1200" spc="-5">
                <a:latin typeface="Arial MT"/>
                <a:cs typeface="Arial MT"/>
              </a:rPr>
              <a:t>dictionary without using it? </a:t>
            </a:r>
            <a:r>
              <a:rPr dirty="0" sz="1200">
                <a:latin typeface="Arial MT"/>
                <a:cs typeface="Arial MT"/>
              </a:rPr>
              <a:t>Definitely, </a:t>
            </a:r>
            <a:r>
              <a:rPr dirty="0" sz="1200" spc="-5">
                <a:latin typeface="Arial MT"/>
                <a:cs typeface="Arial MT"/>
              </a:rPr>
              <a:t>no.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true that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actively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learners.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10">
                <a:latin typeface="Arial MT"/>
                <a:cs typeface="Arial MT"/>
              </a:rPr>
              <a:t>we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start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just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listening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lecture;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actively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involved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 algn="just" marL="18415" marR="6350" indent="-6350">
              <a:lnSpc>
                <a:spcPct val="144200"/>
              </a:lnSpc>
              <a:spcBef>
                <a:spcPts val="10"/>
              </a:spcBef>
            </a:pP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look at </a:t>
            </a:r>
            <a:r>
              <a:rPr dirty="0" sz="1200" spc="-5">
                <a:latin typeface="Arial MT"/>
                <a:cs typeface="Arial MT"/>
              </a:rPr>
              <a:t>the question # </a:t>
            </a:r>
            <a:r>
              <a:rPr dirty="0" sz="1200">
                <a:latin typeface="Arial MT"/>
                <a:cs typeface="Arial MT"/>
              </a:rPr>
              <a:t>1, that </a:t>
            </a:r>
            <a:r>
              <a:rPr dirty="0" sz="1200" spc="-5">
                <a:latin typeface="Arial MT"/>
                <a:cs typeface="Arial MT"/>
              </a:rPr>
              <a:t>is how a child does learn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talk?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do </a:t>
            </a:r>
            <a:r>
              <a:rPr dirty="0" sz="1200" spc="2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allow a child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talk </a:t>
            </a:r>
            <a:r>
              <a:rPr dirty="0" sz="1200" spc="-5">
                <a:latin typeface="Arial MT"/>
                <a:cs typeface="Arial MT"/>
              </a:rPr>
              <a:t>or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explore different words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vocabulary, he cannot lean a language.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again shows that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constructed</a:t>
            </a:r>
            <a:r>
              <a:rPr dirty="0" sz="1200">
                <a:latin typeface="Arial MT"/>
                <a:cs typeface="Arial MT"/>
              </a:rPr>
              <a:t> by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learners.</a:t>
            </a:r>
            <a:endParaRPr sz="1200">
              <a:latin typeface="Arial MT"/>
              <a:cs typeface="Arial MT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Prior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greatly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influences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learning.</a:t>
            </a:r>
            <a:endParaRPr sz="1200">
              <a:latin typeface="Arial"/>
              <a:cs typeface="Arial"/>
            </a:endParaRPr>
          </a:p>
          <a:p>
            <a:pPr algn="just" marL="18415" marR="5715" indent="-6350">
              <a:lnSpc>
                <a:spcPct val="144100"/>
              </a:lnSpc>
              <a:spcBef>
                <a:spcPts val="985"/>
              </a:spcBef>
            </a:pPr>
            <a:r>
              <a:rPr dirty="0" sz="1200">
                <a:latin typeface="Arial MT"/>
                <a:cs typeface="Arial MT"/>
              </a:rPr>
              <a:t>Why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necessary to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addition before </a:t>
            </a:r>
            <a:r>
              <a:rPr dirty="0" sz="1200">
                <a:latin typeface="Arial MT"/>
                <a:cs typeface="Arial MT"/>
              </a:rPr>
              <a:t>multiplication? </a:t>
            </a:r>
            <a:r>
              <a:rPr dirty="0" sz="1200" spc="-5">
                <a:latin typeface="Arial MT"/>
                <a:cs typeface="Arial MT"/>
              </a:rPr>
              <a:t>Because multiplication is repeated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addition. If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child does </a:t>
            </a:r>
            <a:r>
              <a:rPr dirty="0" sz="120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know addition, then he can’t learn multiplication. </a:t>
            </a:r>
            <a:r>
              <a:rPr dirty="0" sz="1200">
                <a:latin typeface="Arial MT"/>
                <a:cs typeface="Arial MT"/>
              </a:rPr>
              <a:t>If a </a:t>
            </a:r>
            <a:r>
              <a:rPr dirty="0" sz="1200" spc="-5">
                <a:latin typeface="Arial MT"/>
                <a:cs typeface="Arial MT"/>
              </a:rPr>
              <a:t>prior learning </a:t>
            </a:r>
            <a:r>
              <a:rPr dirty="0" sz="1200">
                <a:latin typeface="Arial MT"/>
                <a:cs typeface="Arial MT"/>
              </a:rPr>
              <a:t>of a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 is good, </a:t>
            </a:r>
            <a:r>
              <a:rPr dirty="0" sz="1200" spc="-10">
                <a:latin typeface="Arial MT"/>
                <a:cs typeface="Arial MT"/>
              </a:rPr>
              <a:t>then you </a:t>
            </a:r>
            <a:r>
              <a:rPr dirty="0" sz="1200" spc="-5">
                <a:latin typeface="Arial MT"/>
                <a:cs typeface="Arial MT"/>
              </a:rPr>
              <a:t>can bring conceptual change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easily.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important for a teacher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existing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influences learning.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student has </a:t>
            </a:r>
            <a:r>
              <a:rPr dirty="0" sz="1200" spc="-10">
                <a:latin typeface="Arial MT"/>
                <a:cs typeface="Arial MT"/>
              </a:rPr>
              <a:t>no </a:t>
            </a:r>
            <a:r>
              <a:rPr dirty="0" sz="1200" spc="-5">
                <a:latin typeface="Arial MT"/>
                <a:cs typeface="Arial MT"/>
              </a:rPr>
              <a:t>prior knowledge about a concept, then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take more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time </a:t>
            </a:r>
            <a:r>
              <a:rPr dirty="0" sz="1200" spc="-5">
                <a:latin typeface="Arial MT"/>
                <a:cs typeface="Arial MT"/>
              </a:rPr>
              <a:t>in getting </a:t>
            </a:r>
            <a:r>
              <a:rPr dirty="0" sz="1200">
                <a:latin typeface="Arial MT"/>
                <a:cs typeface="Arial MT"/>
              </a:rPr>
              <a:t>it. </a:t>
            </a:r>
            <a:r>
              <a:rPr dirty="0" sz="1200" spc="-5">
                <a:latin typeface="Arial MT"/>
                <a:cs typeface="Arial MT"/>
              </a:rPr>
              <a:t>E.g. </a:t>
            </a:r>
            <a:r>
              <a:rPr dirty="0" sz="1200" spc="-1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person has seen 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use </a:t>
            </a:r>
            <a:r>
              <a:rPr dirty="0" sz="1200" spc="-5">
                <a:latin typeface="Arial MT"/>
                <a:cs typeface="Arial MT"/>
              </a:rPr>
              <a:t>injection, and you </a:t>
            </a:r>
            <a:r>
              <a:rPr dirty="0" sz="1200" spc="5">
                <a:latin typeface="Arial MT"/>
                <a:cs typeface="Arial MT"/>
              </a:rPr>
              <a:t>teach </a:t>
            </a:r>
            <a:r>
              <a:rPr dirty="0" sz="1200" spc="-5">
                <a:latin typeface="Arial MT"/>
                <a:cs typeface="Arial MT"/>
              </a:rPr>
              <a:t>him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use </a:t>
            </a:r>
            <a:r>
              <a:rPr dirty="0" sz="1200">
                <a:latin typeface="Arial MT"/>
                <a:cs typeface="Arial MT"/>
              </a:rPr>
              <a:t>it.</a:t>
            </a:r>
            <a:r>
              <a:rPr dirty="0" sz="1200" spc="3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quickly as compare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one who has never seen an injection.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prior knowledge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influences 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 MT"/>
              <a:cs typeface="Arial MT"/>
            </a:endParaRPr>
          </a:p>
          <a:p>
            <a:pPr lvl="1" marL="706120" marR="10160" indent="-228600">
              <a:lnSpc>
                <a:spcPct val="142500"/>
              </a:lnSpc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there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when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teachers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try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help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learners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change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cognitive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structures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instead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focusing</a:t>
            </a:r>
            <a:r>
              <a:rPr dirty="0" sz="1200" b="1">
                <a:latin typeface="Arial"/>
                <a:cs typeface="Arial"/>
              </a:rPr>
              <a:t> on their </a:t>
            </a:r>
            <a:r>
              <a:rPr dirty="0" sz="1200" spc="-5" b="1">
                <a:latin typeface="Arial"/>
                <a:cs typeface="Arial"/>
              </a:rPr>
              <a:t>own</a:t>
            </a:r>
            <a:r>
              <a:rPr dirty="0" sz="1200" b="1">
                <a:latin typeface="Arial"/>
                <a:cs typeface="Arial"/>
              </a:rPr>
              <a:t> teaching.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484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judge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prior knowledge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-5">
                <a:latin typeface="Arial MT"/>
                <a:cs typeface="Arial MT"/>
              </a:rPr>
              <a:t>students and help them in learning new concepts by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recognizing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prior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knowledge.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deep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 we teachers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that we focus </a:t>
            </a:r>
            <a:r>
              <a:rPr dirty="0" sz="120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our own teaching </a:t>
            </a:r>
            <a:r>
              <a:rPr dirty="0" sz="1200">
                <a:latin typeface="Arial MT"/>
                <a:cs typeface="Arial MT"/>
              </a:rPr>
              <a:t>e.g. </a:t>
            </a:r>
            <a:r>
              <a:rPr dirty="0" sz="1200" spc="-5">
                <a:latin typeface="Arial MT"/>
                <a:cs typeface="Arial MT"/>
              </a:rPr>
              <a:t>a teacher is asked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cover the syllabus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2 </a:t>
            </a:r>
            <a:r>
              <a:rPr dirty="0" sz="1200">
                <a:latin typeface="Arial MT"/>
                <a:cs typeface="Arial MT"/>
              </a:rPr>
              <a:t>weeks, </a:t>
            </a:r>
            <a:r>
              <a:rPr dirty="0" sz="1200" spc="-5">
                <a:latin typeface="Arial MT"/>
                <a:cs typeface="Arial MT"/>
              </a:rPr>
              <a:t>his </a:t>
            </a:r>
            <a:r>
              <a:rPr dirty="0" sz="1200">
                <a:latin typeface="Arial MT"/>
                <a:cs typeface="Arial MT"/>
              </a:rPr>
              <a:t>focus </a:t>
            </a:r>
            <a:r>
              <a:rPr dirty="0" sz="1200" spc="-5">
                <a:latin typeface="Arial MT"/>
                <a:cs typeface="Arial MT"/>
              </a:rPr>
              <a:t>will be on covering the syllabus and not on the learning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students. </a:t>
            </a:r>
            <a:r>
              <a:rPr dirty="0" sz="1200" spc="-5">
                <a:latin typeface="Arial MT"/>
                <a:cs typeface="Arial MT"/>
              </a:rPr>
              <a:t>So,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 shift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 a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social endeavor.</a:t>
            </a:r>
            <a:endParaRPr sz="1200">
              <a:latin typeface="Arial"/>
              <a:cs typeface="Arial"/>
            </a:endParaRPr>
          </a:p>
          <a:p>
            <a:pPr algn="just" marL="18415" marR="5715" indent="-6350">
              <a:lnSpc>
                <a:spcPct val="144200"/>
              </a:lnSpc>
              <a:spcBef>
                <a:spcPts val="980"/>
              </a:spcBef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said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 b="1">
                <a:latin typeface="Arial"/>
                <a:cs typeface="Arial"/>
              </a:rPr>
              <a:t>“Learning </a:t>
            </a:r>
            <a:r>
              <a:rPr dirty="0" sz="1200" b="1">
                <a:latin typeface="Arial"/>
                <a:cs typeface="Arial"/>
              </a:rPr>
              <a:t>is social by </a:t>
            </a:r>
            <a:r>
              <a:rPr dirty="0" sz="1200" spc="-5" b="1">
                <a:latin typeface="Arial"/>
                <a:cs typeface="Arial"/>
              </a:rPr>
              <a:t>nature.”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because learning is enhanced when you are </a:t>
            </a:r>
            <a:r>
              <a:rPr dirty="0" sz="1200">
                <a:latin typeface="Arial MT"/>
                <a:cs typeface="Arial MT"/>
              </a:rPr>
              <a:t> learning </a:t>
            </a:r>
            <a:r>
              <a:rPr dirty="0" sz="1200" spc="-5">
                <a:latin typeface="Arial MT"/>
                <a:cs typeface="Arial MT"/>
              </a:rPr>
              <a:t>in a group. We </a:t>
            </a:r>
            <a:r>
              <a:rPr dirty="0" sz="1200">
                <a:latin typeface="Arial MT"/>
                <a:cs typeface="Arial MT"/>
              </a:rPr>
              <a:t>said </a:t>
            </a:r>
            <a:r>
              <a:rPr dirty="0" sz="1200" spc="-5">
                <a:latin typeface="Arial MT"/>
                <a:cs typeface="Arial MT"/>
              </a:rPr>
              <a:t>in previous lectures that schools have group </a:t>
            </a:r>
            <a:r>
              <a:rPr dirty="0" sz="1200">
                <a:latin typeface="Arial MT"/>
                <a:cs typeface="Arial MT"/>
              </a:rPr>
              <a:t>orientation. It </a:t>
            </a:r>
            <a:r>
              <a:rPr dirty="0" sz="1200" spc="-5">
                <a:latin typeface="Arial MT"/>
                <a:cs typeface="Arial MT"/>
              </a:rPr>
              <a:t>is because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groups.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many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individually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21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4480" cy="10816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8255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groups.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one in one process, a student made a mistake that is corrected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the tutor individually. </a:t>
            </a:r>
            <a:r>
              <a:rPr dirty="0" sz="1200">
                <a:latin typeface="Arial MT"/>
                <a:cs typeface="Arial MT"/>
              </a:rPr>
              <a:t> But </a:t>
            </a:r>
            <a:r>
              <a:rPr dirty="0" sz="1200" spc="-5">
                <a:latin typeface="Arial MT"/>
                <a:cs typeface="Arial MT"/>
              </a:rPr>
              <a:t>when a student makes a mistake in a class, </a:t>
            </a:r>
            <a:r>
              <a:rPr dirty="0" sz="1200">
                <a:latin typeface="Arial MT"/>
                <a:cs typeface="Arial MT"/>
              </a:rPr>
              <a:t>many </a:t>
            </a:r>
            <a:r>
              <a:rPr dirty="0" sz="1200" spc="-5">
                <a:latin typeface="Arial MT"/>
                <a:cs typeface="Arial MT"/>
              </a:rPr>
              <a:t>students learn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that mistake. </a:t>
            </a:r>
            <a:r>
              <a:rPr dirty="0" sz="1200">
                <a:latin typeface="Arial MT"/>
                <a:cs typeface="Arial MT"/>
              </a:rPr>
              <a:t>Whether it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mistake or not but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learn from them also.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in a social environment.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definitely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social </a:t>
            </a:r>
            <a:r>
              <a:rPr dirty="0" sz="1200" spc="-5">
                <a:latin typeface="Arial MT"/>
                <a:cs typeface="Arial MT"/>
              </a:rPr>
              <a:t>process.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Social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cognitivism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and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modeling:</a:t>
            </a:r>
            <a:endParaRPr sz="1400">
              <a:latin typeface="Arial"/>
              <a:cs typeface="Arial"/>
            </a:endParaRPr>
          </a:p>
          <a:p>
            <a:pPr marL="18415" marR="12065" indent="-6350">
              <a:lnSpc>
                <a:spcPts val="2080"/>
              </a:lnSpc>
              <a:spcBef>
                <a:spcPts val="85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modeling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cognitivism.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consideration: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48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How </a:t>
            </a:r>
            <a:r>
              <a:rPr dirty="0" sz="1200">
                <a:latin typeface="Arial MT"/>
                <a:cs typeface="Arial MT"/>
              </a:rPr>
              <a:t>does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hold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spoon?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>
                <a:latin typeface="Arial MT"/>
                <a:cs typeface="Arial MT"/>
              </a:rPr>
              <a:t> does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 learn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wear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clothes?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How </a:t>
            </a:r>
            <a:r>
              <a:rPr dirty="0" sz="1200">
                <a:latin typeface="Arial MT"/>
                <a:cs typeface="Arial MT"/>
              </a:rPr>
              <a:t>does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play?</a:t>
            </a:r>
            <a:endParaRPr sz="1200">
              <a:latin typeface="Arial MT"/>
              <a:cs typeface="Arial MT"/>
            </a:endParaRPr>
          </a:p>
          <a:p>
            <a:pPr algn="just" marL="18415" marR="10795" indent="-6350">
              <a:lnSpc>
                <a:spcPct val="144300"/>
              </a:lnSpc>
              <a:spcBef>
                <a:spcPts val="969"/>
              </a:spcBef>
            </a:pPr>
            <a:r>
              <a:rPr dirty="0" sz="1200" spc="-5">
                <a:latin typeface="Arial MT"/>
                <a:cs typeface="Arial MT"/>
              </a:rPr>
              <a:t>The answer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these questions can be formulated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a video in which a child is copying an adult 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studying, playing and praying. But according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assumptions and from books, the answer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these </a:t>
            </a:r>
            <a:r>
              <a:rPr dirty="0" sz="1200" spc="-5">
                <a:latin typeface="Arial MT"/>
                <a:cs typeface="Arial MT"/>
              </a:rPr>
              <a:t> questions </a:t>
            </a:r>
            <a:r>
              <a:rPr dirty="0" sz="1200">
                <a:latin typeface="Arial MT"/>
                <a:cs typeface="Arial MT"/>
              </a:rPr>
              <a:t>is:</a:t>
            </a:r>
            <a:endParaRPr sz="12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660"/>
              </a:spcBef>
            </a:pPr>
            <a:r>
              <a:rPr dirty="0" sz="1200" spc="-5">
                <a:latin typeface="Arial MT"/>
                <a:cs typeface="Arial MT"/>
              </a:rPr>
              <a:t>“Much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human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 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learnt</a:t>
            </a:r>
            <a:r>
              <a:rPr dirty="0" sz="1200">
                <a:latin typeface="Arial MT"/>
                <a:cs typeface="Arial MT"/>
              </a:rPr>
              <a:t> by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behavior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others (Bandura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1978).”</a:t>
            </a:r>
            <a:endParaRPr sz="1200">
              <a:latin typeface="Arial MT"/>
              <a:cs typeface="Arial MT"/>
            </a:endParaRPr>
          </a:p>
          <a:p>
            <a:pPr algn="just" marL="18415" marR="11430" indent="-6350">
              <a:lnSpc>
                <a:spcPts val="2080"/>
              </a:lnSpc>
              <a:spcBef>
                <a:spcPts val="160"/>
              </a:spcBef>
            </a:pPr>
            <a:r>
              <a:rPr dirty="0" sz="1200" spc="-5">
                <a:latin typeface="Arial MT"/>
                <a:cs typeface="Arial MT"/>
              </a:rPr>
              <a:t>There are </a:t>
            </a:r>
            <a:r>
              <a:rPr dirty="0" sz="1200">
                <a:latin typeface="Arial MT"/>
                <a:cs typeface="Arial MT"/>
              </a:rPr>
              <a:t>few </a:t>
            </a:r>
            <a:r>
              <a:rPr dirty="0" sz="1200" spc="-5">
                <a:latin typeface="Arial MT"/>
                <a:cs typeface="Arial MT"/>
              </a:rPr>
              <a:t>things that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learnt by observing others. According to Bandura, there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three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things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modeling: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48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Observational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Inhibitory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7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Disinhibitory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Observational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learning:</a:t>
            </a:r>
            <a:endParaRPr sz="1200">
              <a:latin typeface="Arial"/>
              <a:cs typeface="Arial"/>
            </a:endParaRPr>
          </a:p>
          <a:p>
            <a:pPr algn="just" marL="941069" marR="8890" indent="-6350">
              <a:lnSpc>
                <a:spcPct val="144200"/>
              </a:lnSpc>
              <a:spcBef>
                <a:spcPts val="965"/>
              </a:spcBef>
            </a:pPr>
            <a:r>
              <a:rPr dirty="0" sz="1200" spc="-5">
                <a:latin typeface="Arial MT"/>
                <a:cs typeface="Arial MT"/>
              </a:rPr>
              <a:t>Observational learning is something that we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by observing others. There 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number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people </a:t>
            </a:r>
            <a:r>
              <a:rPr dirty="0" sz="1200" spc="-10">
                <a:latin typeface="Arial MT"/>
                <a:cs typeface="Arial MT"/>
              </a:rPr>
              <a:t>who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things by just observing other people.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someone 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cooking,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cook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cycling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observing, you can learn using computers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observing others.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that we </a:t>
            </a:r>
            <a:r>
              <a:rPr dirty="0" sz="1200">
                <a:latin typeface="Arial MT"/>
                <a:cs typeface="Arial MT"/>
              </a:rPr>
              <a:t>can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 many </a:t>
            </a:r>
            <a:r>
              <a:rPr dirty="0" sz="1200" spc="-5">
                <a:latin typeface="Arial MT"/>
                <a:cs typeface="Arial MT"/>
              </a:rPr>
              <a:t>things by observation. Teachers are said to be role models because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whatever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do,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copy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small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survey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conducted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impressions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shows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whose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 on the board, his students’ handwriting was also very good </a:t>
            </a:r>
            <a:r>
              <a:rPr dirty="0" sz="1200">
                <a:latin typeface="Arial MT"/>
                <a:cs typeface="Arial MT"/>
              </a:rPr>
              <a:t>and clear. But a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average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poor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handwriting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board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shows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poor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hand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 observing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AutoNum type="arabicPeriod" startAt="2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Inhibitory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effect:</a:t>
            </a:r>
            <a:endParaRPr sz="1200">
              <a:latin typeface="Arial"/>
              <a:cs typeface="Arial"/>
            </a:endParaRPr>
          </a:p>
          <a:p>
            <a:pPr algn="just" marL="941069" marR="5080" indent="-6350">
              <a:lnSpc>
                <a:spcPts val="2080"/>
              </a:lnSpc>
              <a:spcBef>
                <a:spcPts val="50"/>
              </a:spcBef>
            </a:pPr>
            <a:r>
              <a:rPr dirty="0" sz="1200" spc="-5">
                <a:latin typeface="Arial MT"/>
                <a:cs typeface="Arial MT"/>
              </a:rPr>
              <a:t>When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learn something, and </a:t>
            </a:r>
            <a:r>
              <a:rPr dirty="0" sz="1200" spc="-1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observe others,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think that </a:t>
            </a:r>
            <a:r>
              <a:rPr dirty="0" sz="1200" spc="-1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not right.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 you </a:t>
            </a:r>
            <a:r>
              <a:rPr dirty="0" sz="1200">
                <a:latin typeface="Arial MT"/>
                <a:cs typeface="Arial MT"/>
              </a:rPr>
              <a:t>left </a:t>
            </a:r>
            <a:r>
              <a:rPr dirty="0" sz="1200" spc="-5">
                <a:latin typeface="Arial MT"/>
                <a:cs typeface="Arial MT"/>
              </a:rPr>
              <a:t>that thing. E.g.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person </a:t>
            </a:r>
            <a:r>
              <a:rPr dirty="0" sz="1200" spc="-5">
                <a:latin typeface="Arial MT"/>
                <a:cs typeface="Arial MT"/>
              </a:rPr>
              <a:t>is wearing new </a:t>
            </a:r>
            <a:r>
              <a:rPr dirty="0" sz="1200">
                <a:latin typeface="Arial MT"/>
                <a:cs typeface="Arial MT"/>
              </a:rPr>
              <a:t>style </a:t>
            </a:r>
            <a:r>
              <a:rPr dirty="0" sz="1200" spc="-5">
                <a:latin typeface="Arial MT"/>
                <a:cs typeface="Arial MT"/>
              </a:rPr>
              <a:t>clothes, you have bought the </a:t>
            </a:r>
            <a:r>
              <a:rPr dirty="0" sz="1200">
                <a:latin typeface="Arial MT"/>
                <a:cs typeface="Arial MT"/>
              </a:rPr>
              <a:t> same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dress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dress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not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looking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nice,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yourself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think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might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suits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stop </a:t>
            </a:r>
            <a:r>
              <a:rPr dirty="0" sz="1200" spc="-5">
                <a:latin typeface="Arial MT"/>
                <a:cs typeface="Arial MT"/>
              </a:rPr>
              <a:t>doing </a:t>
            </a:r>
            <a:r>
              <a:rPr dirty="0" sz="1200">
                <a:latin typeface="Arial MT"/>
                <a:cs typeface="Arial MT"/>
              </a:rPr>
              <a:t>it. This </a:t>
            </a:r>
            <a:r>
              <a:rPr dirty="0" sz="1200" spc="-5">
                <a:latin typeface="Arial MT"/>
                <a:cs typeface="Arial MT"/>
              </a:rPr>
              <a:t>is not a </a:t>
            </a:r>
            <a:r>
              <a:rPr dirty="0" sz="1200">
                <a:latin typeface="Arial MT"/>
                <a:cs typeface="Arial MT"/>
              </a:rPr>
              <a:t>new </a:t>
            </a:r>
            <a:r>
              <a:rPr dirty="0" sz="1200" spc="-5">
                <a:latin typeface="Arial MT"/>
                <a:cs typeface="Arial MT"/>
              </a:rPr>
              <a:t>learning.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-5">
                <a:latin typeface="Arial MT"/>
                <a:cs typeface="Arial MT"/>
              </a:rPr>
              <a:t>you leave by observing others.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unlearn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 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21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8611"/>
            <a:ext cx="6629400" cy="186690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710"/>
              </a:spcBef>
            </a:pPr>
            <a:r>
              <a:rPr dirty="0" sz="1200" b="1">
                <a:latin typeface="Times New Roman"/>
                <a:cs typeface="Times New Roman"/>
              </a:rPr>
              <a:t>3.</a:t>
            </a:r>
            <a:r>
              <a:rPr dirty="0" sz="1200" spc="29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Disinhibitory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effect:</a:t>
            </a:r>
            <a:endParaRPr sz="1200">
              <a:latin typeface="Arial"/>
              <a:cs typeface="Arial"/>
            </a:endParaRPr>
          </a:p>
          <a:p>
            <a:pPr algn="just" marL="941069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Disinhibitory </a:t>
            </a:r>
            <a:r>
              <a:rPr dirty="0" sz="1200" spc="-5">
                <a:latin typeface="Arial MT"/>
                <a:cs typeface="Arial MT"/>
              </a:rPr>
              <a:t>effect takes place when you think that whatever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have learnt is right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can carry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with </a:t>
            </a:r>
            <a:r>
              <a:rPr dirty="0" sz="1200">
                <a:latin typeface="Arial MT"/>
                <a:cs typeface="Arial MT"/>
              </a:rPr>
              <a:t>it. That </a:t>
            </a:r>
            <a:r>
              <a:rPr dirty="0" sz="1200" spc="-5">
                <a:latin typeface="Arial MT"/>
                <a:cs typeface="Arial MT"/>
              </a:rPr>
              <a:t>is not a new learning. E.g. when a child is writing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alphabet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wrong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way.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gets</a:t>
            </a:r>
            <a:endParaRPr sz="1200">
              <a:latin typeface="Arial MT"/>
              <a:cs typeface="Arial MT"/>
            </a:endParaRPr>
          </a:p>
          <a:p>
            <a:pPr algn="just" marL="941069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ensure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right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</a:t>
            </a:r>
            <a:endParaRPr sz="1200">
              <a:latin typeface="Arial MT"/>
              <a:cs typeface="Arial MT"/>
            </a:endParaRPr>
          </a:p>
          <a:p>
            <a:pPr algn="just" marL="941069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strong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this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way.</a:t>
            </a:r>
            <a:endParaRPr sz="12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645"/>
              </a:spcBef>
            </a:pPr>
            <a:r>
              <a:rPr dirty="0" sz="120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claim that modeling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affect </a:t>
            </a:r>
            <a:r>
              <a:rPr dirty="0" sz="1200" spc="-5">
                <a:latin typeface="Arial MT"/>
                <a:cs typeface="Arial MT"/>
              </a:rPr>
              <a:t>children’s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2961864"/>
            <a:ext cx="6633845" cy="879411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400" spc="-5" b="1">
                <a:latin typeface="Arial"/>
                <a:cs typeface="Arial"/>
              </a:rPr>
              <a:t>Modeling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processes:</a:t>
            </a:r>
            <a:endParaRPr sz="1400">
              <a:latin typeface="Arial"/>
              <a:cs typeface="Arial"/>
            </a:endParaRPr>
          </a:p>
          <a:p>
            <a:pPr marL="18415" marR="8890" indent="-6350">
              <a:lnSpc>
                <a:spcPts val="2080"/>
              </a:lnSpc>
              <a:spcBef>
                <a:spcPts val="80"/>
              </a:spcBef>
            </a:pP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4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modeling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established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are:</a:t>
            </a:r>
            <a:endParaRPr sz="1200">
              <a:latin typeface="Arial MT"/>
              <a:cs typeface="Arial MT"/>
            </a:endParaRPr>
          </a:p>
          <a:p>
            <a:pPr marL="706120" indent="-229235">
              <a:lnSpc>
                <a:spcPct val="100000"/>
              </a:lnSpc>
              <a:spcBef>
                <a:spcPts val="484"/>
              </a:spcBef>
              <a:buFont typeface="Times New Roman"/>
              <a:buAutoNum type="arabicPeriod"/>
              <a:tabLst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Attention</a:t>
            </a:r>
            <a:endParaRPr sz="1200">
              <a:latin typeface="Arial"/>
              <a:cs typeface="Arial"/>
            </a:endParaRPr>
          </a:p>
          <a:p>
            <a:pPr algn="just" marL="468630" marR="5080" indent="456565">
              <a:lnSpc>
                <a:spcPct val="142500"/>
              </a:lnSpc>
              <a:spcBef>
                <a:spcPts val="985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In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order</a:t>
            </a:r>
            <a:r>
              <a:rPr dirty="0" sz="12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learn,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you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need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dirty="0" sz="12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be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paying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attention.</a:t>
            </a:r>
            <a:r>
              <a:rPr dirty="0" sz="12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Anything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that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detracts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your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attention </a:t>
            </a:r>
            <a:r>
              <a:rPr dirty="0" sz="1200" spc="-3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is going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have a negative effect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on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observational learning. If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the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model interesting or there </a:t>
            </a:r>
            <a:r>
              <a:rPr dirty="0" sz="1200" spc="-3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is a novel aspect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the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situation, you are far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more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likely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 dedicate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your full attention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 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Arial MT"/>
              <a:cs typeface="Arial MT"/>
            </a:endParaRPr>
          </a:p>
          <a:p>
            <a:pPr marL="706120" indent="-229235">
              <a:lnSpc>
                <a:spcPct val="100000"/>
              </a:lnSpc>
              <a:buFont typeface="Times New Roman"/>
              <a:buAutoNum type="arabicPeriod" startAt="2"/>
              <a:tabLst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Retention</a:t>
            </a:r>
            <a:endParaRPr sz="1200">
              <a:latin typeface="Arial"/>
              <a:cs typeface="Arial"/>
            </a:endParaRPr>
          </a:p>
          <a:p>
            <a:pPr algn="just" marL="477520" marR="10795" indent="456565">
              <a:lnSpc>
                <a:spcPct val="144200"/>
              </a:lnSpc>
              <a:spcBef>
                <a:spcPts val="960"/>
              </a:spcBef>
            </a:pPr>
            <a:r>
              <a:rPr dirty="0" sz="1200" spc="-5">
                <a:latin typeface="Arial MT"/>
                <a:cs typeface="Arial MT"/>
              </a:rPr>
              <a:t>The ability </a:t>
            </a:r>
            <a:r>
              <a:rPr dirty="0" sz="1200">
                <a:latin typeface="Arial MT"/>
                <a:cs typeface="Arial MT"/>
              </a:rPr>
              <a:t>to store </a:t>
            </a:r>
            <a:r>
              <a:rPr dirty="0" sz="1200" spc="-5">
                <a:latin typeface="Arial MT"/>
                <a:cs typeface="Arial MT"/>
              </a:rPr>
              <a:t>information is also an important part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learning process.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Retention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be affected by a number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factors, but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ability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pull up information later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vital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Arial MT"/>
              <a:cs typeface="Arial MT"/>
            </a:endParaRPr>
          </a:p>
          <a:p>
            <a:pPr marL="706120" indent="-229235">
              <a:lnSpc>
                <a:spcPct val="100000"/>
              </a:lnSpc>
              <a:buFont typeface="Times New Roman"/>
              <a:buAutoNum type="arabicPeriod" startAt="3"/>
              <a:tabLst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Production</a:t>
            </a:r>
            <a:endParaRPr sz="1200">
              <a:latin typeface="Arial"/>
              <a:cs typeface="Arial"/>
            </a:endParaRPr>
          </a:p>
          <a:p>
            <a:pPr algn="just" marL="477520" marR="10795" indent="456565">
              <a:lnSpc>
                <a:spcPct val="144200"/>
              </a:lnSpc>
              <a:spcBef>
                <a:spcPts val="960"/>
              </a:spcBef>
            </a:pPr>
            <a:r>
              <a:rPr dirty="0" sz="1200">
                <a:latin typeface="Arial MT"/>
                <a:cs typeface="Arial MT"/>
              </a:rPr>
              <a:t>Once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have paid attention to the model and retained the information,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time </a:t>
            </a:r>
            <a:r>
              <a:rPr dirty="0" sz="1200" spc="-15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 perform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behavior you observed. </a:t>
            </a:r>
            <a:r>
              <a:rPr dirty="0" sz="1200">
                <a:latin typeface="Arial MT"/>
                <a:cs typeface="Arial MT"/>
              </a:rPr>
              <a:t>Further </a:t>
            </a:r>
            <a:r>
              <a:rPr dirty="0" sz="1200" spc="-5">
                <a:latin typeface="Arial MT"/>
                <a:cs typeface="Arial MT"/>
              </a:rPr>
              <a:t>practice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learned </a:t>
            </a:r>
            <a:r>
              <a:rPr dirty="0" sz="1200" spc="-5">
                <a:latin typeface="Arial MT"/>
                <a:cs typeface="Arial MT"/>
              </a:rPr>
              <a:t>behavior leads 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improvement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advancement.</a:t>
            </a:r>
            <a:endParaRPr sz="1200">
              <a:latin typeface="Arial MT"/>
              <a:cs typeface="Arial MT"/>
            </a:endParaRPr>
          </a:p>
          <a:p>
            <a:pPr marL="7061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 startAt="4"/>
              <a:tabLst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Motivation</a:t>
            </a:r>
            <a:endParaRPr sz="1200">
              <a:latin typeface="Arial"/>
              <a:cs typeface="Arial"/>
            </a:endParaRPr>
          </a:p>
          <a:p>
            <a:pPr marL="451484" marR="10160" indent="1149985">
              <a:lnSpc>
                <a:spcPct val="146900"/>
              </a:lnSpc>
              <a:spcBef>
                <a:spcPts val="919"/>
              </a:spcBef>
              <a:tabLst>
                <a:tab pos="1496695" algn="l"/>
                <a:tab pos="2021839" algn="l"/>
                <a:tab pos="2858135" algn="l"/>
                <a:tab pos="3445510" algn="l"/>
                <a:tab pos="4403725" algn="l"/>
                <a:tab pos="5038090" algn="l"/>
                <a:tab pos="5662930" algn="l"/>
              </a:tabLst>
            </a:pPr>
            <a:r>
              <a:rPr dirty="0" sz="1200" spc="-5">
                <a:latin typeface="Arial MT"/>
                <a:cs typeface="Arial MT"/>
              </a:rPr>
              <a:t>Finally,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order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successful,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motivated	</a:t>
            </a:r>
            <a:r>
              <a:rPr dirty="0" sz="1200">
                <a:latin typeface="Arial MT"/>
                <a:cs typeface="Arial MT"/>
              </a:rPr>
              <a:t>to	</a:t>
            </a:r>
            <a:r>
              <a:rPr dirty="0" sz="1200" spc="-5">
                <a:latin typeface="Arial MT"/>
                <a:cs typeface="Arial MT"/>
              </a:rPr>
              <a:t>imitate	</a:t>
            </a:r>
            <a:r>
              <a:rPr dirty="0" sz="1200">
                <a:latin typeface="Arial MT"/>
                <a:cs typeface="Arial MT"/>
              </a:rPr>
              <a:t>the	</a:t>
            </a:r>
            <a:r>
              <a:rPr dirty="0" sz="1200" spc="-5">
                <a:latin typeface="Arial MT"/>
                <a:cs typeface="Arial MT"/>
              </a:rPr>
              <a:t>behavior	</a:t>
            </a:r>
            <a:r>
              <a:rPr dirty="0" sz="1200">
                <a:latin typeface="Arial MT"/>
                <a:cs typeface="Arial MT"/>
              </a:rPr>
              <a:t>that	</a:t>
            </a:r>
            <a:r>
              <a:rPr dirty="0" sz="1200" spc="-5">
                <a:latin typeface="Arial MT"/>
                <a:cs typeface="Arial MT"/>
              </a:rPr>
              <a:t>has	been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modeled.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Reinforcement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punishment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play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motivation.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experiencing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motivators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highly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effective,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observing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other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 </a:t>
            </a:r>
            <a:r>
              <a:rPr dirty="0" sz="1200">
                <a:latin typeface="Arial MT"/>
                <a:cs typeface="Arial MT"/>
              </a:rPr>
              <a:t> some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type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reinforcement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punishment?</a:t>
            </a:r>
            <a:endParaRPr sz="1200">
              <a:latin typeface="Arial MT"/>
              <a:cs typeface="Arial MT"/>
            </a:endParaRPr>
          </a:p>
          <a:p>
            <a:pPr marL="18415" marR="12700" indent="-6350">
              <a:lnSpc>
                <a:spcPct val="1442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Modeling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made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effective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take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care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four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things.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attention,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retention,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motivation.</a:t>
            </a:r>
            <a:endParaRPr sz="1200">
              <a:latin typeface="Arial MT"/>
              <a:cs typeface="Arial MT"/>
            </a:endParaRPr>
          </a:p>
          <a:p>
            <a:pPr marL="18415" marR="10160" indent="-6350">
              <a:lnSpc>
                <a:spcPct val="1442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 or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attention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retention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initial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levels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process.</a:t>
            </a:r>
            <a:endParaRPr sz="1200">
              <a:latin typeface="Arial MT"/>
              <a:cs typeface="Arial MT"/>
            </a:endParaRPr>
          </a:p>
          <a:p>
            <a:pPr marL="18415" marR="10795" indent="-6350">
              <a:lnSpc>
                <a:spcPct val="1442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single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strategies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attentive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motivated.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400" spc="-5" b="1">
                <a:latin typeface="Arial"/>
                <a:cs typeface="Arial"/>
              </a:rPr>
              <a:t>Social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cognitivism: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21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1940" cy="38055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discuss in the learning theories that learning is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active process. Basically, students can get </a:t>
            </a:r>
            <a:r>
              <a:rPr dirty="0" sz="1200">
                <a:latin typeface="Arial MT"/>
                <a:cs typeface="Arial MT"/>
              </a:rPr>
              <a:t> involved </a:t>
            </a:r>
            <a:r>
              <a:rPr dirty="0" sz="1200" spc="-5">
                <a:latin typeface="Arial MT"/>
                <a:cs typeface="Arial MT"/>
              </a:rPr>
              <a:t>actively alone but the social process is still necessary. Because we are social beings,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human beings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social animal and we live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groups. So when we live in groups, our </a:t>
            </a:r>
            <a:r>
              <a:rPr dirty="0" sz="1200">
                <a:latin typeface="Arial MT"/>
                <a:cs typeface="Arial MT"/>
              </a:rPr>
              <a:t>learning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 enhanced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due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orientation.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Comments:</a:t>
            </a:r>
            <a:endParaRPr sz="1200">
              <a:latin typeface="Arial"/>
              <a:cs typeface="Arial"/>
            </a:endParaRPr>
          </a:p>
          <a:p>
            <a:pPr algn="just" marL="473075" marR="5080" indent="-228600">
              <a:lnSpc>
                <a:spcPct val="144100"/>
              </a:lnSpc>
              <a:spcBef>
                <a:spcPts val="705"/>
              </a:spcBef>
              <a:buFont typeface="Arial MT"/>
              <a:buChar char="•"/>
              <a:tabLst>
                <a:tab pos="473709" algn="l"/>
              </a:tabLst>
            </a:pPr>
            <a:r>
              <a:rPr dirty="0" sz="1200" b="1">
                <a:latin typeface="Arial"/>
                <a:cs typeface="Arial"/>
              </a:rPr>
              <a:t>Social </a:t>
            </a:r>
            <a:r>
              <a:rPr dirty="0" sz="1200" spc="-5" b="1">
                <a:latin typeface="Arial"/>
                <a:cs typeface="Arial"/>
              </a:rPr>
              <a:t>cognitive theory</a:t>
            </a:r>
            <a:r>
              <a:rPr dirty="0" sz="1200" spc="-5">
                <a:latin typeface="Arial MT"/>
                <a:cs typeface="Arial MT"/>
              </a:rPr>
              <a:t>, used in psychology, education, and communication, posits that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portions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an individual's knowledge acquisition can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directly related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observing others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within the context of social interactions, experiences, and outside media influences. In other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words, people do not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new behaviors solely by trying them and either succeeding or </a:t>
            </a:r>
            <a:r>
              <a:rPr dirty="0" sz="1200">
                <a:latin typeface="Arial MT"/>
                <a:cs typeface="Arial MT"/>
              </a:rPr>
              <a:t> failing,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rather,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survival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humanity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dependent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replication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actions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Depending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whether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rewarded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punished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outcome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behavior,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behavior </a:t>
            </a:r>
            <a:r>
              <a:rPr dirty="0" sz="1200">
                <a:latin typeface="Arial MT"/>
                <a:cs typeface="Arial MT"/>
              </a:rPr>
              <a:t>may </a:t>
            </a:r>
            <a:r>
              <a:rPr dirty="0" sz="1200" spc="-5">
                <a:latin typeface="Arial MT"/>
                <a:cs typeface="Arial MT"/>
              </a:rPr>
              <a:t>be modeled. Further, media provide models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vast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array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environmental</a:t>
            </a:r>
            <a:r>
              <a:rPr dirty="0" sz="1200">
                <a:latin typeface="Arial MT"/>
                <a:cs typeface="Arial MT"/>
              </a:rPr>
              <a:t> settings.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4561967"/>
            <a:ext cx="7002780" cy="47117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 marL="71120" marR="480695">
              <a:lnSpc>
                <a:spcPts val="1730"/>
              </a:lnSpc>
              <a:spcBef>
                <a:spcPts val="40"/>
              </a:spcBef>
            </a:pPr>
            <a:r>
              <a:rPr dirty="0" sz="12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2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FFFF"/>
                </a:solidFill>
                <a:latin typeface="Arial"/>
                <a:cs typeface="Arial"/>
              </a:rPr>
              <a:t>#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06</a:t>
            </a:r>
            <a:r>
              <a:rPr dirty="0" sz="12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“Learning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 Children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4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Perspectives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4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Instructional</a:t>
            </a:r>
            <a:r>
              <a:rPr dirty="0" sz="14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Decision </a:t>
            </a:r>
            <a:r>
              <a:rPr dirty="0" sz="1400" spc="-3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making”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5274691"/>
            <a:ext cx="6633845" cy="6144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Lecture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objectives:</a:t>
            </a:r>
            <a:endParaRPr sz="1200">
              <a:latin typeface="Arial"/>
              <a:cs typeface="Arial"/>
            </a:endParaRPr>
          </a:p>
          <a:p>
            <a:pPr marL="473075" indent="-229235">
              <a:lnSpc>
                <a:spcPct val="100000"/>
              </a:lnSpc>
              <a:spcBef>
                <a:spcPts val="860"/>
              </a:spcBef>
              <a:buChar char="•"/>
              <a:tabLst>
                <a:tab pos="473075" algn="l"/>
                <a:tab pos="473709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context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conditions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 marL="473075" indent="-229235">
              <a:lnSpc>
                <a:spcPct val="100000"/>
              </a:lnSpc>
              <a:spcBef>
                <a:spcPts val="685"/>
              </a:spcBef>
              <a:buChar char="•"/>
              <a:tabLst>
                <a:tab pos="473075" algn="l"/>
                <a:tab pos="473709" algn="l"/>
              </a:tabLst>
            </a:pPr>
            <a:r>
              <a:rPr dirty="0" sz="1200" spc="-5">
                <a:latin typeface="Arial MT"/>
                <a:cs typeface="Arial MT"/>
              </a:rPr>
              <a:t>Language,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interwoven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areas.</a:t>
            </a:r>
            <a:endParaRPr sz="1200">
              <a:latin typeface="Arial MT"/>
              <a:cs typeface="Arial MT"/>
            </a:endParaRPr>
          </a:p>
          <a:p>
            <a:pPr marL="473075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73075" algn="l"/>
                <a:tab pos="473709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perspectives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decision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making:</a:t>
            </a:r>
            <a:endParaRPr sz="1200">
              <a:latin typeface="Arial MT"/>
              <a:cs typeface="Arial MT"/>
            </a:endParaRPr>
          </a:p>
          <a:p>
            <a:pPr lvl="1" marL="706120" indent="-229235">
              <a:lnSpc>
                <a:spcPct val="100000"/>
              </a:lnSpc>
              <a:spcBef>
                <a:spcPts val="60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>
                <a:latin typeface="Arial MT"/>
                <a:cs typeface="Arial MT"/>
              </a:rPr>
              <a:t>Developmental</a:t>
            </a:r>
            <a:endParaRPr sz="1200">
              <a:latin typeface="Arial MT"/>
              <a:cs typeface="Arial MT"/>
            </a:endParaRPr>
          </a:p>
          <a:p>
            <a:pPr lvl="1" marL="706120" indent="-229235">
              <a:lnSpc>
                <a:spcPct val="100000"/>
              </a:lnSpc>
              <a:spcBef>
                <a:spcPts val="79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>
                <a:latin typeface="Arial MT"/>
                <a:cs typeface="Arial MT"/>
              </a:rPr>
              <a:t>Behavioral</a:t>
            </a:r>
            <a:endParaRPr sz="1200">
              <a:latin typeface="Arial MT"/>
              <a:cs typeface="Arial MT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>
                <a:latin typeface="Arial MT"/>
                <a:cs typeface="Arial MT"/>
              </a:rPr>
              <a:t>Cognitive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Font typeface="Times New Roman"/>
              <a:buChar char="-"/>
            </a:pPr>
            <a:endParaRPr sz="14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Outline:</a:t>
            </a:r>
            <a:endParaRPr sz="1200">
              <a:latin typeface="Arial"/>
              <a:cs typeface="Arial"/>
            </a:endParaRPr>
          </a:p>
          <a:p>
            <a:pPr marL="473075" indent="-229235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473075" algn="l"/>
                <a:tab pos="473709" algn="l"/>
              </a:tabLst>
            </a:pPr>
            <a:r>
              <a:rPr dirty="0" sz="1200" b="1">
                <a:latin typeface="Arial"/>
                <a:cs typeface="Arial"/>
              </a:rPr>
              <a:t>Prior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social</a:t>
            </a:r>
            <a:r>
              <a:rPr dirty="0" sz="1200" spc="-5" b="1">
                <a:latin typeface="Arial"/>
                <a:cs typeface="Arial"/>
              </a:rPr>
              <a:t> context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 essential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conditions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learning.</a:t>
            </a:r>
            <a:endParaRPr sz="1200">
              <a:latin typeface="Arial"/>
              <a:cs typeface="Arial"/>
            </a:endParaRPr>
          </a:p>
          <a:p>
            <a:pPr marL="473075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73075" algn="l"/>
                <a:tab pos="473709" algn="l"/>
              </a:tabLst>
            </a:pPr>
            <a:r>
              <a:rPr dirty="0" sz="1200" b="1">
                <a:latin typeface="Arial"/>
                <a:cs typeface="Arial"/>
              </a:rPr>
              <a:t>Zone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Proximal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(ZPD)</a:t>
            </a:r>
            <a:endParaRPr sz="1200">
              <a:latin typeface="Arial"/>
              <a:cs typeface="Arial"/>
            </a:endParaRPr>
          </a:p>
          <a:p>
            <a:pPr marL="473075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73075" algn="l"/>
                <a:tab pos="473709" algn="l"/>
              </a:tabLst>
            </a:pPr>
            <a:r>
              <a:rPr dirty="0" sz="1200" spc="-5" b="1">
                <a:latin typeface="Arial"/>
                <a:cs typeface="Arial"/>
              </a:rPr>
              <a:t>Active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 marL="473075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73075" algn="l"/>
                <a:tab pos="473709" algn="l"/>
              </a:tabLst>
            </a:pPr>
            <a:r>
              <a:rPr dirty="0" sz="1200" spc="-5" b="1">
                <a:latin typeface="Arial"/>
                <a:cs typeface="Arial"/>
              </a:rPr>
              <a:t>Perspectives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instructional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decision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making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0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Developmental perspective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Behavioural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perspective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Cognitive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perspective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985"/>
              </a:spcBef>
            </a:pPr>
            <a:r>
              <a:rPr dirty="0" sz="1200" spc="-5">
                <a:latin typeface="Arial MT"/>
                <a:cs typeface="Arial MT"/>
              </a:rPr>
              <a:t>There is a </a:t>
            </a:r>
            <a:r>
              <a:rPr dirty="0" sz="1200">
                <a:latin typeface="Arial MT"/>
                <a:cs typeface="Arial MT"/>
              </a:rPr>
              <a:t>video </a:t>
            </a:r>
            <a:r>
              <a:rPr dirty="0" sz="1200" spc="-5">
                <a:latin typeface="Arial MT"/>
                <a:cs typeface="Arial MT"/>
              </a:rPr>
              <a:t>that shows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learning.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this </a:t>
            </a:r>
            <a:r>
              <a:rPr dirty="0" sz="1200">
                <a:latin typeface="Arial MT"/>
                <a:cs typeface="Arial MT"/>
              </a:rPr>
              <a:t>video </a:t>
            </a:r>
            <a:r>
              <a:rPr dirty="0" sz="1200" spc="-5">
                <a:latin typeface="Arial MT"/>
                <a:cs typeface="Arial MT"/>
              </a:rPr>
              <a:t>the teachers ask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make </a:t>
            </a:r>
            <a:r>
              <a:rPr dirty="0" sz="1200" spc="-5">
                <a:latin typeface="Arial MT"/>
                <a:cs typeface="Arial MT"/>
              </a:rPr>
              <a:t>words </a:t>
            </a:r>
            <a:r>
              <a:rPr dirty="0" sz="1200">
                <a:latin typeface="Arial MT"/>
                <a:cs typeface="Arial MT"/>
              </a:rPr>
              <a:t>using </a:t>
            </a:r>
            <a:r>
              <a:rPr dirty="0" sz="1200" spc="-5">
                <a:latin typeface="Arial MT"/>
                <a:cs typeface="Arial MT"/>
              </a:rPr>
              <a:t>different sounds. We will </a:t>
            </a:r>
            <a:r>
              <a:rPr dirty="0" sz="1200">
                <a:latin typeface="Arial MT"/>
                <a:cs typeface="Arial MT"/>
              </a:rPr>
              <a:t>relate this </a:t>
            </a:r>
            <a:r>
              <a:rPr dirty="0" sz="1200" spc="-5">
                <a:latin typeface="Arial MT"/>
                <a:cs typeface="Arial MT"/>
              </a:rPr>
              <a:t>video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Vygotsky’s theory. Vygotsky was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Russian psychologist. He worked a lot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the theories of </a:t>
            </a:r>
            <a:r>
              <a:rPr dirty="0" sz="1200">
                <a:latin typeface="Arial MT"/>
                <a:cs typeface="Arial MT"/>
              </a:rPr>
              <a:t>social </a:t>
            </a:r>
            <a:r>
              <a:rPr dirty="0" sz="1200" spc="-5">
                <a:latin typeface="Arial MT"/>
                <a:cs typeface="Arial MT"/>
              </a:rPr>
              <a:t>constructivism. Vygotsky’s </a:t>
            </a:r>
            <a:r>
              <a:rPr dirty="0" sz="1200">
                <a:latin typeface="Arial MT"/>
                <a:cs typeface="Arial MT"/>
              </a:rPr>
              <a:t>theory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social </a:t>
            </a:r>
            <a:r>
              <a:rPr dirty="0" sz="1200" spc="-5">
                <a:latin typeface="Arial MT"/>
                <a:cs typeface="Arial MT"/>
              </a:rPr>
              <a:t>context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major </a:t>
            </a:r>
            <a:r>
              <a:rPr dirty="0" sz="1200" spc="-5">
                <a:latin typeface="Arial MT"/>
                <a:cs typeface="Arial MT"/>
              </a:rPr>
              <a:t>ideas.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are:</a:t>
            </a:r>
            <a:endParaRPr sz="1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650"/>
              </a:spcBef>
            </a:pPr>
            <a:r>
              <a:rPr dirty="0" sz="1200" b="1">
                <a:latin typeface="Times New Roman"/>
                <a:cs typeface="Times New Roman"/>
              </a:rPr>
              <a:t>1.</a:t>
            </a:r>
            <a:r>
              <a:rPr dirty="0" sz="1200" spc="30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Children </a:t>
            </a:r>
            <a:r>
              <a:rPr dirty="0" sz="1200" b="1">
                <a:latin typeface="Arial"/>
                <a:cs typeface="Arial"/>
              </a:rPr>
              <a:t>construct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own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knowledge.</a:t>
            </a:r>
            <a:endParaRPr sz="1200">
              <a:latin typeface="Arial"/>
              <a:cs typeface="Arial"/>
            </a:endParaRPr>
          </a:p>
          <a:p>
            <a:pPr marL="941069" marR="8255" indent="-6350">
              <a:lnSpc>
                <a:spcPts val="2080"/>
              </a:lnSpc>
              <a:spcBef>
                <a:spcPts val="65"/>
              </a:spcBef>
            </a:pP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book,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acquire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Vygotsky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says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21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5115" cy="10882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941069" marR="12065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do not acquire knowledge in that way rather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construct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own knowledge. </a:t>
            </a:r>
            <a:r>
              <a:rPr dirty="0" sz="1200">
                <a:latin typeface="Arial MT"/>
                <a:cs typeface="Arial MT"/>
              </a:rPr>
              <a:t> Students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cram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endParaRPr sz="1200">
              <a:latin typeface="Arial MT"/>
              <a:cs typeface="Arial MT"/>
            </a:endParaRPr>
          </a:p>
          <a:p>
            <a:pPr algn="just" marL="941069" marR="8890" indent="-6350">
              <a:lnSpc>
                <a:spcPct val="143300"/>
              </a:lnSpc>
              <a:spcBef>
                <a:spcPts val="35"/>
              </a:spcBef>
            </a:pPr>
            <a:r>
              <a:rPr dirty="0" sz="1200">
                <a:latin typeface="Arial MT"/>
                <a:cs typeface="Arial MT"/>
              </a:rPr>
              <a:t>Vygotsky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mark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following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statement: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construction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by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learnt?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 startAt="2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Language</a:t>
            </a:r>
            <a:r>
              <a:rPr dirty="0" sz="1200" spc="-5" b="1">
                <a:latin typeface="Arial"/>
                <a:cs typeface="Arial"/>
              </a:rPr>
              <a:t> plays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</a:t>
            </a:r>
            <a:r>
              <a:rPr dirty="0" sz="1200" spc="-5" b="1">
                <a:latin typeface="Arial"/>
                <a:cs typeface="Arial"/>
              </a:rPr>
              <a:t> important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role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child’s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learning.</a:t>
            </a:r>
            <a:endParaRPr sz="1200">
              <a:latin typeface="Arial"/>
              <a:cs typeface="Arial"/>
            </a:endParaRPr>
          </a:p>
          <a:p>
            <a:pPr algn="just" marL="941069" marR="571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Language is </a:t>
            </a:r>
            <a:r>
              <a:rPr dirty="0" sz="120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important medium for learning. When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child doesn’t understand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 then how can he learn a concept? </a:t>
            </a:r>
            <a:r>
              <a:rPr dirty="0" sz="1200">
                <a:latin typeface="Arial MT"/>
                <a:cs typeface="Arial MT"/>
              </a:rPr>
              <a:t>Vygotsky </a:t>
            </a:r>
            <a:r>
              <a:rPr dirty="0" sz="1200" spc="-5">
                <a:latin typeface="Arial MT"/>
                <a:cs typeface="Arial MT"/>
              </a:rPr>
              <a:t>says that when a child </a:t>
            </a:r>
            <a:r>
              <a:rPr dirty="0" sz="1200" spc="-10">
                <a:latin typeface="Arial MT"/>
                <a:cs typeface="Arial MT"/>
              </a:rPr>
              <a:t>born; </a:t>
            </a:r>
            <a:r>
              <a:rPr dirty="0" sz="1200" spc="-5">
                <a:latin typeface="Arial MT"/>
                <a:cs typeface="Arial MT"/>
              </a:rPr>
              <a:t> his ultimate purpose is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he wants to communicate with the people around </a:t>
            </a:r>
            <a:r>
              <a:rPr dirty="0" sz="1200">
                <a:latin typeface="Arial MT"/>
                <a:cs typeface="Arial MT"/>
              </a:rPr>
              <a:t>him.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starts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communicating,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like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mama,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baba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etc.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Before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communicate,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starts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weeping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hungry,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sleep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etc. </a:t>
            </a:r>
            <a:r>
              <a:rPr dirty="0" sz="1200" spc="-5">
                <a:latin typeface="Arial MT"/>
                <a:cs typeface="Arial MT"/>
              </a:rPr>
              <a:t>he communicates in weeping. But as the child grows up,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needs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learn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communication.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Vygotsky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unless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language,</a:t>
            </a:r>
            <a:endParaRPr sz="1200">
              <a:latin typeface="Arial MT"/>
              <a:cs typeface="Arial MT"/>
            </a:endParaRPr>
          </a:p>
          <a:p>
            <a:pPr algn="just" marL="941069">
              <a:lnSpc>
                <a:spcPct val="100000"/>
              </a:lnSpc>
              <a:spcBef>
                <a:spcPts val="440"/>
              </a:spcBef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difficult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him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anything.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basically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developmental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Times New Roman"/>
              <a:buAutoNum type="arabicPeriod" startAt="3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 lead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development:</a:t>
            </a:r>
            <a:endParaRPr sz="1200">
              <a:latin typeface="Arial"/>
              <a:cs typeface="Arial"/>
            </a:endParaRPr>
          </a:p>
          <a:p>
            <a:pPr algn="just" marL="941069" marR="5715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Learning may be defined as behavioral change or any </a:t>
            </a:r>
            <a:r>
              <a:rPr dirty="0" sz="1200" spc="5">
                <a:latin typeface="Arial MT"/>
                <a:cs typeface="Arial MT"/>
              </a:rPr>
              <a:t>other </a:t>
            </a:r>
            <a:r>
              <a:rPr dirty="0" sz="1200" spc="-5">
                <a:latin typeface="Arial MT"/>
                <a:cs typeface="Arial MT"/>
              </a:rPr>
              <a:t>change like thinking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etc.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Vygotsky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says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when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i.e.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60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years;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endParaRPr sz="1200">
              <a:latin typeface="Arial MT"/>
              <a:cs typeface="Arial MT"/>
            </a:endParaRPr>
          </a:p>
          <a:p>
            <a:pPr algn="just" marL="941069" marR="5715">
              <a:lnSpc>
                <a:spcPts val="206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mature than the other. The one who is more developed seems more </a:t>
            </a:r>
            <a:r>
              <a:rPr dirty="0" sz="1200">
                <a:latin typeface="Arial MT"/>
                <a:cs typeface="Arial MT"/>
              </a:rPr>
              <a:t>mature. </a:t>
            </a:r>
            <a:r>
              <a:rPr dirty="0" sz="1200" spc="-5">
                <a:latin typeface="Arial MT"/>
                <a:cs typeface="Arial MT"/>
              </a:rPr>
              <a:t>His </a:t>
            </a:r>
            <a:r>
              <a:rPr dirty="0" sz="1200">
                <a:latin typeface="Arial MT"/>
                <a:cs typeface="Arial MT"/>
              </a:rPr>
              <a:t> learning</a:t>
            </a:r>
            <a:r>
              <a:rPr dirty="0" sz="1200" spc="3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3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experiences</a:t>
            </a:r>
            <a:r>
              <a:rPr dirty="0" sz="1200" spc="3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3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 spc="3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 spc="3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3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person.</a:t>
            </a:r>
            <a:r>
              <a:rPr dirty="0" sz="1200" spc="3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3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3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result</a:t>
            </a:r>
            <a:r>
              <a:rPr dirty="0" sz="1200" spc="3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3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endParaRPr sz="1200">
              <a:latin typeface="Arial MT"/>
              <a:cs typeface="Arial MT"/>
            </a:endParaRPr>
          </a:p>
          <a:p>
            <a:pPr algn="just" marL="941069" marR="12700">
              <a:lnSpc>
                <a:spcPts val="208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experiences,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think </a:t>
            </a:r>
            <a:r>
              <a:rPr dirty="0" sz="1200">
                <a:latin typeface="Arial MT"/>
                <a:cs typeface="Arial MT"/>
              </a:rPr>
              <a:t>that this </a:t>
            </a:r>
            <a:r>
              <a:rPr dirty="0" sz="1200" spc="-5">
                <a:latin typeface="Arial MT"/>
                <a:cs typeface="Arial MT"/>
              </a:rPr>
              <a:t>person is more mature. </a:t>
            </a:r>
            <a:r>
              <a:rPr dirty="0" sz="1200">
                <a:latin typeface="Arial MT"/>
                <a:cs typeface="Arial MT"/>
              </a:rPr>
              <a:t>On the </a:t>
            </a:r>
            <a:r>
              <a:rPr dirty="0" sz="1200" spc="-5">
                <a:latin typeface="Arial MT"/>
                <a:cs typeface="Arial MT"/>
              </a:rPr>
              <a:t>other hand, a </a:t>
            </a:r>
            <a:r>
              <a:rPr dirty="0" sz="1200" spc="-10">
                <a:latin typeface="Arial MT"/>
                <a:cs typeface="Arial MT"/>
              </a:rPr>
              <a:t>person </a:t>
            </a:r>
            <a:r>
              <a:rPr dirty="0" sz="1200" spc="-5">
                <a:latin typeface="Arial MT"/>
                <a:cs typeface="Arial MT"/>
              </a:rPr>
              <a:t> 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fewer experiences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seems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mature.</a:t>
            </a:r>
            <a:endParaRPr sz="1200">
              <a:latin typeface="Arial MT"/>
              <a:cs typeface="Arial MT"/>
            </a:endParaRPr>
          </a:p>
          <a:p>
            <a:pPr algn="just" marL="941069" indent="-6350">
              <a:lnSpc>
                <a:spcPct val="100000"/>
              </a:lnSpc>
              <a:spcBef>
                <a:spcPts val="480"/>
              </a:spcBef>
            </a:pP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misconception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Pakistani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context,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said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males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endParaRPr sz="1200">
              <a:latin typeface="Arial MT"/>
              <a:cs typeface="Arial MT"/>
            </a:endParaRPr>
          </a:p>
          <a:p>
            <a:pPr algn="just" marL="941069" marR="762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mature, experienced and developed as compare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females. It does not mean </a:t>
            </a:r>
            <a:r>
              <a:rPr dirty="0" sz="1200">
                <a:latin typeface="Arial MT"/>
                <a:cs typeface="Arial MT"/>
              </a:rPr>
              <a:t> that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females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have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intellect.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developed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 they </a:t>
            </a:r>
            <a:r>
              <a:rPr dirty="0" sz="1200" spc="-5">
                <a:latin typeface="Arial MT"/>
                <a:cs typeface="Arial MT"/>
              </a:rPr>
              <a:t>are given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equal opportunity to </a:t>
            </a:r>
            <a:r>
              <a:rPr dirty="0" sz="1200">
                <a:latin typeface="Arial MT"/>
                <a:cs typeface="Arial MT"/>
              </a:rPr>
              <a:t>experience </a:t>
            </a:r>
            <a:r>
              <a:rPr dirty="0" sz="1200" spc="-5">
                <a:latin typeface="Arial MT"/>
                <a:cs typeface="Arial MT"/>
              </a:rPr>
              <a:t>learning, and create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social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capital. Their experiences will be equal to that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males and they </a:t>
            </a:r>
            <a:r>
              <a:rPr dirty="0" sz="1200">
                <a:latin typeface="Arial MT"/>
                <a:cs typeface="Arial MT"/>
              </a:rPr>
              <a:t>would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equally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developed. So,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leads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 algn="just" marL="470534" marR="5080" indent="-470534">
              <a:lnSpc>
                <a:spcPct val="143800"/>
              </a:lnSpc>
              <a:buFont typeface="Times New Roman"/>
              <a:buAutoNum type="arabicPeriod" startAt="4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Learning/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cannot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separated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from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social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context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which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occur: </a:t>
            </a:r>
            <a:r>
              <a:rPr dirty="0" sz="1200" spc="-325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In the </a:t>
            </a:r>
            <a:r>
              <a:rPr dirty="0" sz="1200" spc="-5">
                <a:latin typeface="Arial MT"/>
                <a:cs typeface="Arial MT"/>
              </a:rPr>
              <a:t>video, you have observed that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who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know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English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language, don’t </a:t>
            </a:r>
            <a:r>
              <a:rPr dirty="0" sz="1200">
                <a:latin typeface="Arial MT"/>
                <a:cs typeface="Arial MT"/>
              </a:rPr>
              <a:t>know </a:t>
            </a:r>
            <a:r>
              <a:rPr dirty="0" sz="1200" spc="-5">
                <a:latin typeface="Arial MT"/>
                <a:cs typeface="Arial MT"/>
              </a:rPr>
              <a:t>what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words producing sound </a:t>
            </a:r>
            <a:r>
              <a:rPr dirty="0" sz="1200">
                <a:latin typeface="Arial MT"/>
                <a:cs typeface="Arial MT"/>
              </a:rPr>
              <a:t>of “pla”.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 when </a:t>
            </a:r>
            <a:r>
              <a:rPr dirty="0" sz="1200">
                <a:latin typeface="Arial MT"/>
                <a:cs typeface="Arial MT"/>
              </a:rPr>
              <a:t>her </a:t>
            </a:r>
            <a:r>
              <a:rPr dirty="0" sz="1200" spc="-5">
                <a:latin typeface="Arial MT"/>
                <a:cs typeface="Arial MT"/>
              </a:rPr>
              <a:t>peer </a:t>
            </a:r>
            <a:r>
              <a:rPr dirty="0" sz="1200">
                <a:latin typeface="Arial MT"/>
                <a:cs typeface="Arial MT"/>
              </a:rPr>
              <a:t> told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her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those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words,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understood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well.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context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important. Prior knowledge is also very important. Teacher </a:t>
            </a:r>
            <a:r>
              <a:rPr dirty="0" sz="1200">
                <a:latin typeface="Arial MT"/>
                <a:cs typeface="Arial MT"/>
              </a:rPr>
              <a:t>must try </a:t>
            </a:r>
            <a:r>
              <a:rPr dirty="0" sz="1200" spc="-5">
                <a:latin typeface="Arial MT"/>
                <a:cs typeface="Arial MT"/>
              </a:rPr>
              <a:t>to know 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necessary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30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class, all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them have the same prior knowledge.</a:t>
            </a:r>
            <a:r>
              <a:rPr dirty="0" sz="1200" spc="6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teacher tries to teach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all</a:t>
            </a:r>
            <a:r>
              <a:rPr dirty="0" sz="1200" spc="-5">
                <a:latin typeface="Arial MT"/>
                <a:cs typeface="Arial MT"/>
              </a:rPr>
              <a:t> 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benefit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Zone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5" b="1">
                <a:latin typeface="Arial"/>
                <a:cs typeface="Arial"/>
              </a:rPr>
              <a:t> Proximal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Development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(ZPD):</a:t>
            </a:r>
            <a:endParaRPr sz="1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50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gap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potential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Zone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Proximal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 MT"/>
                <a:cs typeface="Arial MT"/>
              </a:rPr>
              <a:t>Vygotsky</a:t>
            </a:r>
            <a:r>
              <a:rPr dirty="0" sz="1200" spc="-5">
                <a:latin typeface="Arial MT"/>
                <a:cs typeface="Arial MT"/>
              </a:rPr>
              <a:t> is very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famous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5">
                <a:latin typeface="Arial MT"/>
                <a:cs typeface="Arial MT"/>
              </a:rPr>
              <a:t> 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>
                <a:latin typeface="Arial MT"/>
                <a:cs typeface="Arial MT"/>
              </a:rPr>
              <a:t> theory.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21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209" cy="371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457200">
              <a:lnSpc>
                <a:spcPct val="1441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Actual </a:t>
            </a:r>
            <a:r>
              <a:rPr dirty="0" sz="1200" spc="-5">
                <a:latin typeface="Arial MT"/>
                <a:cs typeface="Arial MT"/>
              </a:rPr>
              <a:t>level is the </a:t>
            </a:r>
            <a:r>
              <a:rPr dirty="0" sz="1200" spc="-10">
                <a:latin typeface="Arial MT"/>
                <a:cs typeface="Arial MT"/>
              </a:rPr>
              <a:t>initial </a:t>
            </a:r>
            <a:r>
              <a:rPr dirty="0" sz="1200" spc="-5">
                <a:latin typeface="Arial MT"/>
                <a:cs typeface="Arial MT"/>
              </a:rPr>
              <a:t>level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child’s learning and potential level 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level where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child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stand. The potential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is usually one </a:t>
            </a:r>
            <a:r>
              <a:rPr dirty="0" sz="1200">
                <a:latin typeface="Arial MT"/>
                <a:cs typeface="Arial MT"/>
              </a:rPr>
              <a:t>step </a:t>
            </a:r>
            <a:r>
              <a:rPr dirty="0" sz="1200" spc="-5">
                <a:latin typeface="Arial MT"/>
                <a:cs typeface="Arial MT"/>
              </a:rPr>
              <a:t>ahead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actual </a:t>
            </a:r>
            <a:r>
              <a:rPr dirty="0" sz="1200">
                <a:latin typeface="Arial MT"/>
                <a:cs typeface="Arial MT"/>
              </a:rPr>
              <a:t>level. If </a:t>
            </a:r>
            <a:r>
              <a:rPr dirty="0" sz="1200" spc="-5">
                <a:latin typeface="Arial MT"/>
                <a:cs typeface="Arial MT"/>
              </a:rPr>
              <a:t>student is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the actual </a:t>
            </a:r>
            <a:r>
              <a:rPr dirty="0" sz="1200">
                <a:latin typeface="Arial MT"/>
                <a:cs typeface="Arial MT"/>
              </a:rPr>
              <a:t> level,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potential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potential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he/she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reach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potential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easily.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easier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go </a:t>
            </a:r>
            <a:r>
              <a:rPr dirty="0" sz="1200" spc="-5">
                <a:latin typeface="Arial MT"/>
                <a:cs typeface="Arial MT"/>
              </a:rPr>
              <a:t>one step ahead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level. </a:t>
            </a:r>
            <a:r>
              <a:rPr dirty="0" sz="1200" spc="-5">
                <a:latin typeface="Arial MT"/>
                <a:cs typeface="Arial MT"/>
              </a:rPr>
              <a:t>When a student is standing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10">
                <a:latin typeface="Arial MT"/>
                <a:cs typeface="Arial MT"/>
              </a:rPr>
              <a:t>his </a:t>
            </a:r>
            <a:r>
              <a:rPr dirty="0" sz="1200" spc="-5">
                <a:latin typeface="Arial MT"/>
                <a:cs typeface="Arial MT"/>
              </a:rPr>
              <a:t>potential </a:t>
            </a:r>
            <a:r>
              <a:rPr dirty="0" sz="1200">
                <a:latin typeface="Arial MT"/>
                <a:cs typeface="Arial MT"/>
              </a:rPr>
              <a:t>level, he </a:t>
            </a:r>
            <a:r>
              <a:rPr dirty="0" sz="1200" spc="-5">
                <a:latin typeface="Arial MT"/>
                <a:cs typeface="Arial MT"/>
              </a:rPr>
              <a:t>is one step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ahead of the previous and needs the support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his adults or teachers again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go ahead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potential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as well. E.g.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are teaching mathematics to a student, you teaches </a:t>
            </a:r>
            <a:r>
              <a:rPr dirty="0" sz="1200" spc="-10">
                <a:latin typeface="Arial MT"/>
                <a:cs typeface="Arial MT"/>
              </a:rPr>
              <a:t>him </a:t>
            </a:r>
            <a:r>
              <a:rPr dirty="0" sz="1200" spc="-5">
                <a:latin typeface="Arial MT"/>
                <a:cs typeface="Arial MT"/>
              </a:rPr>
              <a:t>about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one-digit addition. You cannot take him straight to the </a:t>
            </a:r>
            <a:r>
              <a:rPr dirty="0" sz="1200">
                <a:latin typeface="Arial MT"/>
                <a:cs typeface="Arial MT"/>
              </a:rPr>
              <a:t>concept of </a:t>
            </a:r>
            <a:r>
              <a:rPr dirty="0" sz="1200" spc="-5">
                <a:latin typeface="Arial MT"/>
                <a:cs typeface="Arial MT"/>
              </a:rPr>
              <a:t>two-digit addition </a:t>
            </a:r>
            <a:r>
              <a:rPr dirty="0" sz="1200" spc="-10">
                <a:latin typeface="Arial MT"/>
                <a:cs typeface="Arial MT"/>
              </a:rPr>
              <a:t>unless </a:t>
            </a:r>
            <a:r>
              <a:rPr dirty="0" sz="1200" spc="-5">
                <a:latin typeface="Arial MT"/>
                <a:cs typeface="Arial MT"/>
              </a:rPr>
              <a:t>he 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expert in one-digit addition by practicing </a:t>
            </a:r>
            <a:r>
              <a:rPr dirty="0" sz="1200">
                <a:latin typeface="Arial MT"/>
                <a:cs typeface="Arial MT"/>
              </a:rPr>
              <a:t>it. </a:t>
            </a:r>
            <a:r>
              <a:rPr dirty="0" sz="1200" spc="-5">
                <a:latin typeface="Arial MT"/>
                <a:cs typeface="Arial MT"/>
              </a:rPr>
              <a:t>You teach him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concept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ones and tens here. After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one-digit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addition,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couldn’t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start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two-digit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addition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himself.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 of his elders or teacher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help him. Now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 has </a:t>
            </a:r>
            <a:r>
              <a:rPr dirty="0" sz="1200">
                <a:latin typeface="Arial MT"/>
                <a:cs typeface="Arial MT"/>
              </a:rPr>
              <a:t>jumped </a:t>
            </a:r>
            <a:r>
              <a:rPr dirty="0" sz="1200" spc="-5">
                <a:latin typeface="Arial MT"/>
                <a:cs typeface="Arial MT"/>
              </a:rPr>
              <a:t>from the actual level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potential level </a:t>
            </a:r>
            <a:r>
              <a:rPr dirty="0" sz="1200">
                <a:latin typeface="Arial MT"/>
                <a:cs typeface="Arial MT"/>
              </a:rPr>
              <a:t>i.e. </a:t>
            </a:r>
            <a:r>
              <a:rPr dirty="0" sz="1200" spc="-5">
                <a:latin typeface="Arial MT"/>
                <a:cs typeface="Arial MT"/>
              </a:rPr>
              <a:t>from one-digit addition to twodigit addition. </a:t>
            </a:r>
            <a:r>
              <a:rPr dirty="0" sz="1200">
                <a:latin typeface="Arial MT"/>
                <a:cs typeface="Arial MT"/>
              </a:rPr>
              <a:t>After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give him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concept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ones,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tens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hundreds,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third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 </a:t>
            </a:r>
            <a:r>
              <a:rPr dirty="0" sz="1200">
                <a:latin typeface="Arial MT"/>
                <a:cs typeface="Arial MT"/>
              </a:rPr>
              <a:t>himself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i.e.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three-digit addition.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4719041"/>
            <a:ext cx="6633209" cy="670560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400" spc="-5" b="1">
                <a:latin typeface="Arial"/>
                <a:cs typeface="Arial"/>
              </a:rPr>
              <a:t>Perspectives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on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Instructional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Decision-making:</a:t>
            </a:r>
            <a:endParaRPr sz="1400">
              <a:latin typeface="Arial"/>
              <a:cs typeface="Arial"/>
            </a:endParaRPr>
          </a:p>
          <a:p>
            <a:pPr marL="706120" indent="-229235">
              <a:lnSpc>
                <a:spcPct val="100000"/>
              </a:lnSpc>
              <a:spcBef>
                <a:spcPts val="77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400" spc="-5" b="1">
                <a:latin typeface="Arial"/>
                <a:cs typeface="Arial"/>
              </a:rPr>
              <a:t>Developmental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perspective</a:t>
            </a:r>
            <a:endParaRPr sz="1400">
              <a:latin typeface="Arial"/>
              <a:cs typeface="Arial"/>
            </a:endParaRPr>
          </a:p>
          <a:p>
            <a:pPr marL="706120" indent="-229235">
              <a:lnSpc>
                <a:spcPct val="100000"/>
              </a:lnSpc>
              <a:spcBef>
                <a:spcPts val="76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400" spc="-5" b="1">
                <a:latin typeface="Arial"/>
                <a:cs typeface="Arial"/>
              </a:rPr>
              <a:t>Behavioral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perspective</a:t>
            </a:r>
            <a:endParaRPr sz="1400">
              <a:latin typeface="Arial"/>
              <a:cs typeface="Arial"/>
            </a:endParaRPr>
          </a:p>
          <a:p>
            <a:pPr marL="706120" indent="-229235">
              <a:lnSpc>
                <a:spcPct val="100000"/>
              </a:lnSpc>
              <a:spcBef>
                <a:spcPts val="79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400" spc="-5" b="1">
                <a:latin typeface="Arial"/>
                <a:cs typeface="Arial"/>
              </a:rPr>
              <a:t>Cognitive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perspective</a:t>
            </a:r>
            <a:endParaRPr sz="1400">
              <a:latin typeface="Arial"/>
              <a:cs typeface="Arial"/>
            </a:endParaRPr>
          </a:p>
          <a:p>
            <a:pPr algn="just" marL="18415" marR="5080" indent="36195">
              <a:lnSpc>
                <a:spcPct val="144100"/>
              </a:lnSpc>
              <a:spcBef>
                <a:spcPts val="885"/>
              </a:spcBef>
            </a:pPr>
            <a:r>
              <a:rPr dirty="0" sz="1200">
                <a:latin typeface="Arial MT"/>
                <a:cs typeface="Arial MT"/>
              </a:rPr>
              <a:t>If I </a:t>
            </a:r>
            <a:r>
              <a:rPr dirty="0" sz="1200" spc="-10">
                <a:latin typeface="Arial MT"/>
                <a:cs typeface="Arial MT"/>
              </a:rPr>
              <a:t>am </a:t>
            </a:r>
            <a:r>
              <a:rPr dirty="0" sz="1200" spc="-5">
                <a:latin typeface="Arial MT"/>
                <a:cs typeface="Arial MT"/>
              </a:rPr>
              <a:t>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teach </a:t>
            </a:r>
            <a:r>
              <a:rPr dirty="0" sz="1200" spc="-5">
                <a:latin typeface="Arial MT"/>
                <a:cs typeface="Arial MT"/>
              </a:rPr>
              <a:t>in a </a:t>
            </a:r>
            <a:r>
              <a:rPr dirty="0" sz="1200">
                <a:latin typeface="Arial MT"/>
                <a:cs typeface="Arial MT"/>
              </a:rPr>
              <a:t>class, I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decide that what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10">
                <a:latin typeface="Arial MT"/>
                <a:cs typeface="Arial MT"/>
              </a:rPr>
              <a:t>am </a:t>
            </a:r>
            <a:r>
              <a:rPr dirty="0" sz="1200" spc="-5">
                <a:latin typeface="Arial MT"/>
                <a:cs typeface="Arial MT"/>
              </a:rPr>
              <a:t>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and how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should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 taught? How should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assess the students? How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manage the classroom? All these things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the </a:t>
            </a:r>
            <a:r>
              <a:rPr dirty="0" sz="1200">
                <a:latin typeface="Arial MT"/>
                <a:cs typeface="Arial MT"/>
              </a:rPr>
              <a:t>part </a:t>
            </a:r>
            <a:r>
              <a:rPr dirty="0" sz="1200" spc="-5">
                <a:latin typeface="Arial MT"/>
                <a:cs typeface="Arial MT"/>
              </a:rPr>
              <a:t>of instructional decision-making. The perspectives beyond these decision-making 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developmental, behavioral and cognitive. Piaget and Vygotsky are the key people who developed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theories. These perspectives are important for the teachers because whatever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are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teach </a:t>
            </a:r>
            <a:r>
              <a:rPr dirty="0" sz="1200" spc="-5">
                <a:latin typeface="Arial MT"/>
                <a:cs typeface="Arial MT"/>
              </a:rPr>
              <a:t>to the students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can </a:t>
            </a:r>
            <a:r>
              <a:rPr dirty="0" sz="1200">
                <a:latin typeface="Arial MT"/>
                <a:cs typeface="Arial MT"/>
              </a:rPr>
              <a:t>make </a:t>
            </a:r>
            <a:r>
              <a:rPr dirty="0" sz="1200" spc="-5">
                <a:latin typeface="Arial MT"/>
                <a:cs typeface="Arial MT"/>
              </a:rPr>
              <a:t>decisions accordingly. When teachers will take decisions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these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perspectives, 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will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>
                <a:latin typeface="Arial MT"/>
                <a:cs typeface="Arial MT"/>
              </a:rPr>
              <a:t>eyes.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Developmental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perspective:</a:t>
            </a:r>
            <a:endParaRPr sz="14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take </a:t>
            </a:r>
            <a:r>
              <a:rPr dirty="0" sz="1200" spc="-5">
                <a:latin typeface="Arial MT"/>
                <a:cs typeface="Arial MT"/>
              </a:rPr>
              <a:t>decisions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 according </a:t>
            </a:r>
            <a:r>
              <a:rPr dirty="0" sz="1200">
                <a:latin typeface="Arial MT"/>
                <a:cs typeface="Arial MT"/>
              </a:rPr>
              <a:t>to the </a:t>
            </a:r>
            <a:r>
              <a:rPr dirty="0" sz="1200" spc="-5">
                <a:latin typeface="Arial MT"/>
                <a:cs typeface="Arial MT"/>
              </a:rPr>
              <a:t>developmental perspective </a:t>
            </a:r>
            <a:r>
              <a:rPr dirty="0" sz="1200" spc="15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notices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theories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Piaget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Vygotsky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conclude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following.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40"/>
              </a:spcBef>
            </a:pPr>
            <a:r>
              <a:rPr dirty="0" sz="1200" b="1">
                <a:latin typeface="Arial"/>
                <a:cs typeface="Arial"/>
              </a:rPr>
              <a:t>Piaget’s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theory:</a:t>
            </a:r>
            <a:endParaRPr sz="1200">
              <a:latin typeface="Arial"/>
              <a:cs typeface="Arial"/>
            </a:endParaRPr>
          </a:p>
          <a:p>
            <a:pPr algn="just" marL="18415" marR="6350" indent="-6350">
              <a:lnSpc>
                <a:spcPts val="2080"/>
              </a:lnSpc>
              <a:spcBef>
                <a:spcPts val="45"/>
              </a:spcBef>
            </a:pP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followed by </a:t>
            </a:r>
            <a:r>
              <a:rPr dirty="0" sz="1200">
                <a:latin typeface="Arial MT"/>
                <a:cs typeface="Arial MT"/>
              </a:rPr>
              <a:t>his </a:t>
            </a:r>
            <a:r>
              <a:rPr dirty="0" sz="1200" spc="-5">
                <a:latin typeface="Arial MT"/>
                <a:cs typeface="Arial MT"/>
              </a:rPr>
              <a:t>theory, we will say that a </a:t>
            </a:r>
            <a:r>
              <a:rPr dirty="0" sz="1200" spc="-10">
                <a:latin typeface="Arial MT"/>
                <a:cs typeface="Arial MT"/>
              </a:rPr>
              <a:t>child </a:t>
            </a:r>
            <a:r>
              <a:rPr dirty="0" sz="1200">
                <a:latin typeface="Arial MT"/>
                <a:cs typeface="Arial MT"/>
              </a:rPr>
              <a:t>learns </a:t>
            </a:r>
            <a:r>
              <a:rPr dirty="0" sz="1200" spc="-5">
                <a:latin typeface="Arial MT"/>
                <a:cs typeface="Arial MT"/>
              </a:rPr>
              <a:t>by himself.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play with the things, get into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 experiences and as a result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learns. </a:t>
            </a:r>
            <a:r>
              <a:rPr dirty="0" sz="1200">
                <a:latin typeface="Arial MT"/>
                <a:cs typeface="Arial MT"/>
              </a:rPr>
              <a:t>Piaget’s </a:t>
            </a:r>
            <a:r>
              <a:rPr dirty="0" sz="1200" spc="-5">
                <a:latin typeface="Arial MT"/>
                <a:cs typeface="Arial MT"/>
              </a:rPr>
              <a:t>perspective is </a:t>
            </a:r>
            <a:r>
              <a:rPr dirty="0" sz="1200">
                <a:latin typeface="Arial MT"/>
                <a:cs typeface="Arial MT"/>
              </a:rPr>
              <a:t>stage-wise i.e. </a:t>
            </a:r>
            <a:r>
              <a:rPr dirty="0" sz="1200" spc="-5">
                <a:latin typeface="Arial MT"/>
                <a:cs typeface="Arial MT"/>
              </a:rPr>
              <a:t>a child will </a:t>
            </a:r>
            <a:r>
              <a:rPr dirty="0" sz="1200">
                <a:latin typeface="Arial MT"/>
                <a:cs typeface="Arial MT"/>
              </a:rPr>
              <a:t> learn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moves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like-wise. </a:t>
            </a:r>
            <a:r>
              <a:rPr dirty="0" sz="1200">
                <a:latin typeface="Arial MT"/>
                <a:cs typeface="Arial MT"/>
              </a:rPr>
              <a:t>E.g. </a:t>
            </a:r>
            <a:r>
              <a:rPr dirty="0" sz="1200" spc="-5">
                <a:latin typeface="Arial MT"/>
                <a:cs typeface="Arial MT"/>
              </a:rPr>
              <a:t>when a child born, he </a:t>
            </a:r>
            <a:r>
              <a:rPr dirty="0" sz="1200">
                <a:latin typeface="Arial MT"/>
                <a:cs typeface="Arial MT"/>
              </a:rPr>
              <a:t>learns to sit at the first </a:t>
            </a:r>
            <a:r>
              <a:rPr dirty="0" sz="1200" spc="-5">
                <a:latin typeface="Arial MT"/>
                <a:cs typeface="Arial MT"/>
              </a:rPr>
              <a:t>level. Then </a:t>
            </a:r>
            <a:r>
              <a:rPr dirty="0" sz="1200">
                <a:latin typeface="Arial MT"/>
                <a:cs typeface="Arial MT"/>
              </a:rPr>
              <a:t>at the </a:t>
            </a:r>
            <a:r>
              <a:rPr dirty="0" sz="1200" spc="-5">
                <a:latin typeface="Arial MT"/>
                <a:cs typeface="Arial MT"/>
              </a:rPr>
              <a:t>second level, his </a:t>
            </a:r>
            <a:r>
              <a:rPr dirty="0" sz="1200">
                <a:latin typeface="Arial MT"/>
                <a:cs typeface="Arial MT"/>
              </a:rPr>
              <a:t> muscles </a:t>
            </a:r>
            <a:r>
              <a:rPr dirty="0" sz="1200" spc="-5">
                <a:latin typeface="Arial MT"/>
                <a:cs typeface="Arial MT"/>
              </a:rPr>
              <a:t>get strong and he </a:t>
            </a:r>
            <a:r>
              <a:rPr dirty="0" sz="1200">
                <a:latin typeface="Arial MT"/>
                <a:cs typeface="Arial MT"/>
              </a:rPr>
              <a:t>starts </a:t>
            </a:r>
            <a:r>
              <a:rPr dirty="0" sz="1200" spc="-5">
                <a:latin typeface="Arial MT"/>
                <a:cs typeface="Arial MT"/>
              </a:rPr>
              <a:t>crawling, </a:t>
            </a:r>
            <a:r>
              <a:rPr dirty="0" sz="1200">
                <a:latin typeface="Arial MT"/>
                <a:cs typeface="Arial MT"/>
              </a:rPr>
              <a:t>after </a:t>
            </a:r>
            <a:r>
              <a:rPr dirty="0" sz="1200" spc="-5">
                <a:latin typeface="Arial MT"/>
                <a:cs typeface="Arial MT"/>
              </a:rPr>
              <a:t>that when his muscles get stronger,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starts </a:t>
            </a:r>
            <a:r>
              <a:rPr dirty="0" sz="1200">
                <a:latin typeface="Arial MT"/>
                <a:cs typeface="Arial MT"/>
              </a:rPr>
              <a:t> walking. </a:t>
            </a:r>
            <a:r>
              <a:rPr dirty="0" sz="1200" spc="-5">
                <a:latin typeface="Arial MT"/>
                <a:cs typeface="Arial MT"/>
              </a:rPr>
              <a:t>When his muscles get stronger </a:t>
            </a:r>
            <a:r>
              <a:rPr dirty="0" sz="1200" spc="-1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he starts running. These are linear stages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learning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particular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learn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thing</a:t>
            </a:r>
            <a:r>
              <a:rPr dirty="0" sz="1200" spc="-5">
                <a:latin typeface="Arial MT"/>
                <a:cs typeface="Arial MT"/>
              </a:rPr>
              <a:t> and the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next</a:t>
            </a:r>
            <a:r>
              <a:rPr dirty="0" sz="1200">
                <a:latin typeface="Arial MT"/>
                <a:cs typeface="Arial MT"/>
              </a:rPr>
              <a:t> level.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21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8611"/>
            <a:ext cx="6635750" cy="1099566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710"/>
              </a:spcBef>
            </a:pPr>
            <a:r>
              <a:rPr dirty="0" sz="1200" spc="-5" b="1">
                <a:latin typeface="Arial"/>
                <a:cs typeface="Arial"/>
              </a:rPr>
              <a:t>Vygotsky’s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theory:</a:t>
            </a:r>
            <a:endParaRPr sz="1200">
              <a:latin typeface="Arial"/>
              <a:cs typeface="Arial"/>
            </a:endParaRPr>
          </a:p>
          <a:p>
            <a:pPr algn="just" marL="18415" marR="13335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Vygotsky </a:t>
            </a:r>
            <a:r>
              <a:rPr dirty="0" sz="1200" spc="-5">
                <a:latin typeface="Arial MT"/>
                <a:cs typeface="Arial MT"/>
              </a:rPr>
              <a:t>also </a:t>
            </a:r>
            <a:r>
              <a:rPr dirty="0" sz="1200">
                <a:latin typeface="Arial MT"/>
                <a:cs typeface="Arial MT"/>
              </a:rPr>
              <a:t>says </a:t>
            </a:r>
            <a:r>
              <a:rPr dirty="0" sz="1200" spc="-5">
                <a:latin typeface="Arial MT"/>
                <a:cs typeface="Arial MT"/>
              </a:rPr>
              <a:t>that a child construct his own knowledge.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according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him, social context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linear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stage-wise.</a:t>
            </a:r>
            <a:endParaRPr sz="1200">
              <a:latin typeface="Arial MT"/>
              <a:cs typeface="Arial MT"/>
            </a:endParaRPr>
          </a:p>
          <a:p>
            <a:pPr algn="just" marL="18415" marR="7620" indent="-6350">
              <a:lnSpc>
                <a:spcPts val="208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child’s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context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enriched</a:t>
            </a:r>
            <a:r>
              <a:rPr dirty="0" sz="1200">
                <a:latin typeface="Arial MT"/>
                <a:cs typeface="Arial MT"/>
              </a:rPr>
              <a:t> then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environment.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Whenever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Vygotsky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theory,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judge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prior knowledge. Unless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don’t know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where the students </a:t>
            </a:r>
            <a:r>
              <a:rPr dirty="0" sz="1200" spc="5">
                <a:latin typeface="Arial MT"/>
                <a:cs typeface="Arial MT"/>
              </a:rPr>
              <a:t>stand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can’t help them in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5" b="1">
                <a:latin typeface="Arial"/>
                <a:cs typeface="Arial"/>
              </a:rPr>
              <a:t>Behavioral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perspective:</a:t>
            </a:r>
            <a:endParaRPr sz="1400">
              <a:latin typeface="Arial"/>
              <a:cs typeface="Arial"/>
            </a:endParaRPr>
          </a:p>
          <a:p>
            <a:pPr algn="just" marL="18415" indent="-6350">
              <a:lnSpc>
                <a:spcPct val="100000"/>
              </a:lnSpc>
              <a:spcBef>
                <a:spcPts val="560"/>
              </a:spcBef>
            </a:pPr>
            <a:r>
              <a:rPr dirty="0" sz="1200" spc="-5">
                <a:latin typeface="Arial MT"/>
                <a:cs typeface="Arial MT"/>
              </a:rPr>
              <a:t>Behavioral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perspective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behavior.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endParaRPr sz="1200">
              <a:latin typeface="Arial MT"/>
              <a:cs typeface="Arial MT"/>
            </a:endParaRPr>
          </a:p>
          <a:p>
            <a:pPr algn="just" marL="18415" marR="5715">
              <a:lnSpc>
                <a:spcPct val="144100"/>
              </a:lnSpc>
            </a:pPr>
            <a:r>
              <a:rPr dirty="0" sz="1200" spc="-5">
                <a:latin typeface="Arial MT"/>
                <a:cs typeface="Arial MT"/>
              </a:rPr>
              <a:t>you are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 student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measureable and can be seen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his behavior that 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certain concept </a:t>
            </a:r>
            <a:r>
              <a:rPr dirty="0" sz="1200" spc="-10">
                <a:latin typeface="Arial MT"/>
                <a:cs typeface="Arial MT"/>
              </a:rPr>
              <a:t>has </a:t>
            </a:r>
            <a:r>
              <a:rPr dirty="0" sz="1200" spc="-5">
                <a:latin typeface="Arial MT"/>
                <a:cs typeface="Arial MT"/>
              </a:rPr>
              <a:t>been taught. E.g.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taught the students about rural and urban life, after </a:t>
            </a:r>
            <a:r>
              <a:rPr dirty="0" sz="1200">
                <a:latin typeface="Arial MT"/>
                <a:cs typeface="Arial MT"/>
              </a:rPr>
              <a:t> that </a:t>
            </a:r>
            <a:r>
              <a:rPr dirty="0" sz="1200" spc="-5">
                <a:latin typeface="Arial MT"/>
                <a:cs typeface="Arial MT"/>
              </a:rPr>
              <a:t>their observable behavior will be </a:t>
            </a:r>
            <a:r>
              <a:rPr dirty="0" sz="1200" spc="-10">
                <a:latin typeface="Arial MT"/>
                <a:cs typeface="Arial MT"/>
              </a:rPr>
              <a:t>seen </a:t>
            </a:r>
            <a:r>
              <a:rPr dirty="0" sz="1200" spc="-5">
                <a:latin typeface="Arial MT"/>
                <a:cs typeface="Arial MT"/>
              </a:rPr>
              <a:t>when you give them the </a:t>
            </a:r>
            <a:r>
              <a:rPr dirty="0" sz="1200">
                <a:latin typeface="Arial MT"/>
                <a:cs typeface="Arial MT"/>
              </a:rPr>
              <a:t>task to </a:t>
            </a:r>
            <a:r>
              <a:rPr dirty="0" sz="1200" spc="-5">
                <a:latin typeface="Arial MT"/>
                <a:cs typeface="Arial MT"/>
              </a:rPr>
              <a:t>differentiate between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urban and rural </a:t>
            </a:r>
            <a:r>
              <a:rPr dirty="0" sz="1200">
                <a:latin typeface="Arial MT"/>
                <a:cs typeface="Arial MT"/>
              </a:rPr>
              <a:t>life. </a:t>
            </a:r>
            <a:r>
              <a:rPr dirty="0" sz="1200" spc="-5">
                <a:latin typeface="Arial MT"/>
                <a:cs typeface="Arial MT"/>
              </a:rPr>
              <a:t>Whatever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difference a child will explain,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will show his behavioral change.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 a </a:t>
            </a:r>
            <a:r>
              <a:rPr dirty="0" sz="1200" spc="-5">
                <a:latin typeface="Arial MT"/>
                <a:cs typeface="Arial MT"/>
              </a:rPr>
              <a:t>child doesn’t </a:t>
            </a:r>
            <a:r>
              <a:rPr dirty="0" sz="1200" spc="-10">
                <a:latin typeface="Arial MT"/>
                <a:cs typeface="Arial MT"/>
              </a:rPr>
              <a:t>know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differences before, </a:t>
            </a:r>
            <a:r>
              <a:rPr dirty="0" sz="120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notice </a:t>
            </a:r>
            <a:r>
              <a:rPr dirty="0" sz="1200" spc="-5">
                <a:latin typeface="Arial MT"/>
                <a:cs typeface="Arial MT"/>
              </a:rPr>
              <a:t>the change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the child was not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aware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differences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now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identify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differences.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learnt. </a:t>
            </a:r>
            <a:r>
              <a:rPr dirty="0" sz="1200" spc="-5">
                <a:latin typeface="Arial MT"/>
                <a:cs typeface="Arial MT"/>
              </a:rPr>
              <a:t>If being a teacher,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take </a:t>
            </a:r>
            <a:r>
              <a:rPr dirty="0" sz="1200" spc="-5">
                <a:latin typeface="Arial MT"/>
                <a:cs typeface="Arial MT"/>
              </a:rPr>
              <a:t>decisions according </a:t>
            </a:r>
            <a:r>
              <a:rPr dirty="0" sz="1200">
                <a:latin typeface="Arial MT"/>
                <a:cs typeface="Arial MT"/>
              </a:rPr>
              <a:t>to the </a:t>
            </a:r>
            <a:r>
              <a:rPr dirty="0" sz="1200" spc="-5">
                <a:latin typeface="Arial MT"/>
                <a:cs typeface="Arial MT"/>
              </a:rPr>
              <a:t>behavioral perspective then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 merely focus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the direct instruction.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will teach the students in such a way that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the end they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show that particular behavior or </a:t>
            </a:r>
            <a:r>
              <a:rPr dirty="0" sz="1200">
                <a:latin typeface="Arial MT"/>
                <a:cs typeface="Arial MT"/>
              </a:rPr>
              <a:t>change </a:t>
            </a:r>
            <a:r>
              <a:rPr dirty="0" sz="1200" spc="-5">
                <a:latin typeface="Arial MT"/>
                <a:cs typeface="Arial MT"/>
              </a:rPr>
              <a:t>in behavior.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preferred teaching methods 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perspective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classes,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teacher’s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decision-making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comes</a:t>
            </a:r>
            <a:r>
              <a:rPr dirty="0" sz="1200">
                <a:latin typeface="Arial MT"/>
                <a:cs typeface="Arial MT"/>
              </a:rPr>
              <a:t> from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perspective.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time,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becomes </a:t>
            </a:r>
            <a:r>
              <a:rPr dirty="0" sz="1200">
                <a:latin typeface="Arial MT"/>
                <a:cs typeface="Arial MT"/>
              </a:rPr>
              <a:t>difficult for </a:t>
            </a:r>
            <a:r>
              <a:rPr dirty="0" sz="1200" spc="-10">
                <a:latin typeface="Arial MT"/>
                <a:cs typeface="Arial MT"/>
              </a:rPr>
              <a:t>us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take decisions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developmental </a:t>
            </a:r>
            <a:r>
              <a:rPr dirty="0" sz="1200">
                <a:latin typeface="Arial MT"/>
                <a:cs typeface="Arial MT"/>
              </a:rPr>
              <a:t>level. </a:t>
            </a:r>
            <a:r>
              <a:rPr dirty="0" sz="1200" spc="-5">
                <a:latin typeface="Arial MT"/>
                <a:cs typeface="Arial MT"/>
              </a:rPr>
              <a:t>Lecturing is done with adults, </a:t>
            </a:r>
            <a:r>
              <a:rPr dirty="0" sz="1200" spc="-1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 lecturing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children,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useful.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Cognitive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perspective:</a:t>
            </a:r>
            <a:endParaRPr sz="14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85"/>
              </a:spcBef>
            </a:pPr>
            <a:r>
              <a:rPr dirty="0" sz="1200" spc="-5">
                <a:latin typeface="Arial MT"/>
                <a:cs typeface="Arial MT"/>
              </a:rPr>
              <a:t>Cognitive perspective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develop students’ academic and thinking skills from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5">
                <a:latin typeface="Arial MT"/>
                <a:cs typeface="Arial MT"/>
              </a:rPr>
              <a:t>novice </a:t>
            </a:r>
            <a:r>
              <a:rPr dirty="0" sz="1200" spc="-5">
                <a:latin typeface="Arial MT"/>
                <a:cs typeface="Arial MT"/>
              </a:rPr>
              <a:t>level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 more </a:t>
            </a:r>
            <a:r>
              <a:rPr dirty="0" sz="1200" spc="-5">
                <a:latin typeface="Arial MT"/>
                <a:cs typeface="Arial MT"/>
              </a:rPr>
              <a:t>expert level. Cognitive perspective can </a:t>
            </a:r>
            <a:r>
              <a:rPr dirty="0" sz="120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related to ZPD but in that </a:t>
            </a:r>
            <a:r>
              <a:rPr dirty="0" sz="120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adult’s presence 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cognitive perspective, presence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adult is not necessary but complexity of </a:t>
            </a:r>
            <a:r>
              <a:rPr dirty="0" sz="1200">
                <a:latin typeface="Arial MT"/>
                <a:cs typeface="Arial MT"/>
              </a:rPr>
              <a:t>task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target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improve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child’s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such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kind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child will </a:t>
            </a:r>
            <a:r>
              <a:rPr dirty="0" sz="1200">
                <a:latin typeface="Arial MT"/>
                <a:cs typeface="Arial MT"/>
              </a:rPr>
              <a:t>learn from </a:t>
            </a:r>
            <a:r>
              <a:rPr dirty="0" sz="1200" spc="-5">
                <a:latin typeface="Arial MT"/>
                <a:cs typeface="Arial MT"/>
              </a:rPr>
              <a:t>them. E.g.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write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board and ask the students to copy that on copies,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if we </a:t>
            </a:r>
            <a:r>
              <a:rPr dirty="0" sz="1200">
                <a:latin typeface="Arial MT"/>
                <a:cs typeface="Arial MT"/>
              </a:rPr>
              <a:t>say </a:t>
            </a:r>
            <a:r>
              <a:rPr dirty="0" sz="1200" spc="-5">
                <a:latin typeface="Arial MT"/>
                <a:cs typeface="Arial MT"/>
              </a:rPr>
              <a:t>that these </a:t>
            </a:r>
            <a:r>
              <a:rPr dirty="0" sz="1200">
                <a:latin typeface="Arial MT"/>
                <a:cs typeface="Arial MT"/>
              </a:rPr>
              <a:t>things are </a:t>
            </a:r>
            <a:r>
              <a:rPr dirty="0" sz="1200" spc="-5">
                <a:latin typeface="Arial MT"/>
                <a:cs typeface="Arial MT"/>
              </a:rPr>
              <a:t>written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your books, learn </a:t>
            </a:r>
            <a:r>
              <a:rPr dirty="0" sz="1200">
                <a:latin typeface="Arial MT"/>
                <a:cs typeface="Arial MT"/>
              </a:rPr>
              <a:t>them, </a:t>
            </a:r>
            <a:r>
              <a:rPr dirty="0" sz="1200" spc="-5">
                <a:latin typeface="Arial MT"/>
                <a:cs typeface="Arial MT"/>
              </a:rPr>
              <a:t>both are very low </a:t>
            </a:r>
            <a:r>
              <a:rPr dirty="0" sz="1200" spc="5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tasks.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improve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 skill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have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projects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459"/>
              </a:spcBef>
            </a:pP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never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improved,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unless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put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situation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where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endParaRPr sz="1200">
              <a:latin typeface="Arial MT"/>
              <a:cs typeface="Arial MT"/>
            </a:endParaRPr>
          </a:p>
          <a:p>
            <a:pPr algn="just" marL="18415" marR="1016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supposed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think. If a person has high problem solving skill,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that he has experienced </a:t>
            </a:r>
            <a:r>
              <a:rPr dirty="0" sz="1200">
                <a:latin typeface="Arial MT"/>
                <a:cs typeface="Arial MT"/>
              </a:rPr>
              <a:t> many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situations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where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solved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result,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higher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solving skill.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cognitive perspective </a:t>
            </a:r>
            <a:r>
              <a:rPr dirty="0" sz="1200">
                <a:latin typeface="Arial MT"/>
                <a:cs typeface="Arial MT"/>
              </a:rPr>
              <a:t>says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teacher want </a:t>
            </a:r>
            <a:r>
              <a:rPr dirty="0" sz="1200">
                <a:latin typeface="Arial MT"/>
                <a:cs typeface="Arial MT"/>
              </a:rPr>
              <a:t>to take </a:t>
            </a:r>
            <a:r>
              <a:rPr dirty="0" sz="1200" spc="-5">
                <a:latin typeface="Arial MT"/>
                <a:cs typeface="Arial MT"/>
              </a:rPr>
              <a:t>his/her child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 certain </a:t>
            </a:r>
            <a:r>
              <a:rPr dirty="0" sz="1200">
                <a:latin typeface="Arial MT"/>
                <a:cs typeface="Arial MT"/>
              </a:rPr>
              <a:t> level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need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range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perspective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like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portfolios,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projects,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tasks,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etc.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perspective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cognitive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Arial"/>
                <a:cs typeface="Arial"/>
              </a:rPr>
              <a:t>Active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learning: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21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5115" cy="8058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10795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Active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where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human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mind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actively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involved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 a teacher is teaching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class, this </a:t>
            </a:r>
            <a:r>
              <a:rPr dirty="0" sz="1200" spc="-5">
                <a:latin typeface="Arial MT"/>
                <a:cs typeface="Arial MT"/>
              </a:rPr>
              <a:t>is not active learning unless there is no questioning </a:t>
            </a:r>
            <a:r>
              <a:rPr dirty="0" sz="1200" spc="-20">
                <a:latin typeface="Arial MT"/>
                <a:cs typeface="Arial MT"/>
              </a:rPr>
              <a:t>in 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class.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meanings.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good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who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engages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active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45"/>
              </a:spcBef>
            </a:pPr>
            <a:r>
              <a:rPr dirty="0" sz="1200" spc="-5" b="1">
                <a:latin typeface="Arial"/>
                <a:cs typeface="Arial"/>
              </a:rPr>
              <a:t>Summary:</a:t>
            </a:r>
            <a:endParaRPr sz="1200">
              <a:latin typeface="Arial"/>
              <a:cs typeface="Arial"/>
            </a:endParaRPr>
          </a:p>
          <a:p>
            <a:pPr marL="706120" marR="10160" indent="-228600">
              <a:lnSpc>
                <a:spcPts val="2060"/>
              </a:lnSpc>
              <a:spcBef>
                <a:spcPts val="16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order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make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something,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teachers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must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first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understand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how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representing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</a:t>
            </a:r>
            <a:r>
              <a:rPr dirty="0" sz="1200" b="1">
                <a:latin typeface="Arial"/>
                <a:cs typeface="Arial"/>
              </a:rPr>
              <a:t>given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</a:t>
            </a:r>
            <a:r>
              <a:rPr dirty="0" sz="1200" b="1">
                <a:latin typeface="Arial"/>
                <a:cs typeface="Arial"/>
              </a:rPr>
              <a:t> or </a:t>
            </a:r>
            <a:r>
              <a:rPr dirty="0" sz="1200" spc="-5" b="1">
                <a:latin typeface="Arial"/>
                <a:cs typeface="Arial"/>
              </a:rPr>
              <a:t>procedure.</a:t>
            </a:r>
            <a:endParaRPr sz="1200">
              <a:latin typeface="Arial"/>
              <a:cs typeface="Arial"/>
            </a:endParaRPr>
          </a:p>
          <a:p>
            <a:pPr algn="just" marL="515620">
              <a:lnSpc>
                <a:spcPct val="100000"/>
              </a:lnSpc>
              <a:spcBef>
                <a:spcPts val="445"/>
              </a:spcBef>
            </a:pP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existing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endParaRPr sz="1200">
              <a:latin typeface="Arial MT"/>
              <a:cs typeface="Arial MT"/>
            </a:endParaRPr>
          </a:p>
          <a:p>
            <a:pPr algn="just" marL="521970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easily.</a:t>
            </a:r>
            <a:endParaRPr sz="1200">
              <a:latin typeface="Arial MT"/>
              <a:cs typeface="Arial MT"/>
            </a:endParaRPr>
          </a:p>
          <a:p>
            <a:pPr marL="706120" marR="9525" indent="-228600">
              <a:lnSpc>
                <a:spcPct val="142500"/>
              </a:lnSpc>
              <a:spcBef>
                <a:spcPts val="5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Children</a:t>
            </a:r>
            <a:r>
              <a:rPr dirty="0" sz="1200" spc="3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3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have</a:t>
            </a:r>
            <a:r>
              <a:rPr dirty="0" sz="1200" spc="3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3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prior</a:t>
            </a:r>
            <a:r>
              <a:rPr dirty="0" sz="1200" spc="3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conceptions</a:t>
            </a:r>
            <a:r>
              <a:rPr dirty="0" sz="1200" spc="3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3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being</a:t>
            </a:r>
            <a:r>
              <a:rPr dirty="0" sz="1200" spc="3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teachers</a:t>
            </a:r>
            <a:r>
              <a:rPr dirty="0" sz="1200" spc="3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</a:t>
            </a:r>
            <a:r>
              <a:rPr dirty="0" sz="1200" spc="3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should</a:t>
            </a:r>
            <a:r>
              <a:rPr dirty="0" sz="1200" spc="3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first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explore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prior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conceptions.</a:t>
            </a:r>
            <a:endParaRPr sz="1200">
              <a:latin typeface="Arial"/>
              <a:cs typeface="Arial"/>
            </a:endParaRPr>
          </a:p>
          <a:p>
            <a:pPr marL="706120" marR="8890" indent="-228600">
              <a:lnSpc>
                <a:spcPct val="142500"/>
              </a:lnSpc>
              <a:spcBef>
                <a:spcPts val="4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Speech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powerful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psychological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tool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lays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heavy" sz="1200" spc="9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foundation</a:t>
            </a:r>
            <a:r>
              <a:rPr dirty="0" u="heavy" sz="1200" spc="8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dirty="0" u="heavy" sz="1200" spc="9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basic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structures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of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thinking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later in </a:t>
            </a:r>
            <a:r>
              <a:rPr dirty="0" sz="1200" spc="-5" b="1">
                <a:latin typeface="Arial"/>
                <a:cs typeface="Arial"/>
              </a:rPr>
              <a:t>one’s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development.</a:t>
            </a:r>
            <a:endParaRPr sz="1200">
              <a:latin typeface="Arial"/>
              <a:cs typeface="Arial"/>
            </a:endParaRPr>
          </a:p>
          <a:p>
            <a:pPr algn="just" marL="483870" marR="12700" indent="-6350">
              <a:lnSpc>
                <a:spcPct val="144200"/>
              </a:lnSpc>
              <a:spcBef>
                <a:spcPts val="950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have learnt </a:t>
            </a:r>
            <a:r>
              <a:rPr dirty="0" sz="1200">
                <a:latin typeface="Arial MT"/>
                <a:cs typeface="Arial MT"/>
              </a:rPr>
              <a:t>from Vygotsky’s </a:t>
            </a:r>
            <a:r>
              <a:rPr dirty="0" sz="1200" spc="-5">
                <a:latin typeface="Arial MT"/>
                <a:cs typeface="Arial MT"/>
              </a:rPr>
              <a:t>theory that </a:t>
            </a:r>
            <a:r>
              <a:rPr dirty="0" sz="1200">
                <a:latin typeface="Arial MT"/>
                <a:cs typeface="Arial MT"/>
              </a:rPr>
              <a:t>speech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tool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brick is </a:t>
            </a:r>
            <a:r>
              <a:rPr dirty="0" sz="1200">
                <a:latin typeface="Arial MT"/>
                <a:cs typeface="Arial MT"/>
              </a:rPr>
              <a:t>the tool for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foundation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building;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similarly,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speech/language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higher</a:t>
            </a:r>
            <a:r>
              <a:rPr dirty="0" sz="1200" spc="5">
                <a:latin typeface="Arial MT"/>
                <a:cs typeface="Arial MT"/>
              </a:rPr>
              <a:t> level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thinking.</a:t>
            </a:r>
            <a:endParaRPr sz="1200">
              <a:latin typeface="Arial MT"/>
              <a:cs typeface="Arial MT"/>
            </a:endParaRPr>
          </a:p>
          <a:p>
            <a:pPr marL="706120" marR="8890" indent="-228600">
              <a:lnSpc>
                <a:spcPct val="142500"/>
              </a:lnSpc>
              <a:spcBef>
                <a:spcPts val="5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Speech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initially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arises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out 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need for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 to </a:t>
            </a:r>
            <a:r>
              <a:rPr dirty="0" sz="1200" spc="-5" b="1">
                <a:latin typeface="Arial"/>
                <a:cs typeface="Arial"/>
              </a:rPr>
              <a:t>communicate</a:t>
            </a:r>
            <a:r>
              <a:rPr dirty="0" sz="1200" b="1">
                <a:latin typeface="Arial"/>
                <a:cs typeface="Arial"/>
              </a:rPr>
              <a:t> with </a:t>
            </a:r>
            <a:r>
              <a:rPr dirty="0" sz="1200" spc="-5" b="1">
                <a:latin typeface="Arial"/>
                <a:cs typeface="Arial"/>
              </a:rPr>
              <a:t>others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who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share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his/her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environment.</a:t>
            </a:r>
            <a:endParaRPr sz="1200">
              <a:latin typeface="Arial"/>
              <a:cs typeface="Arial"/>
            </a:endParaRPr>
          </a:p>
          <a:p>
            <a:pPr algn="just" marL="483870" marR="14604" indent="-6350">
              <a:lnSpc>
                <a:spcPct val="144200"/>
              </a:lnSpc>
              <a:spcBef>
                <a:spcPts val="944"/>
              </a:spcBef>
            </a:pP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child speaks by his need. He speaks with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people who are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in his immediate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environment.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stranger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comes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usually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talk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front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him.</a:t>
            </a:r>
            <a:endParaRPr sz="1200">
              <a:latin typeface="Arial MT"/>
              <a:cs typeface="Arial MT"/>
            </a:endParaRPr>
          </a:p>
          <a:p>
            <a:pPr marL="706120" marR="10160" indent="-228600">
              <a:lnSpc>
                <a:spcPct val="141700"/>
              </a:lnSpc>
              <a:spcBef>
                <a:spcPts val="60"/>
              </a:spcBef>
            </a:pPr>
            <a:r>
              <a:rPr dirty="0" sz="1200">
                <a:latin typeface="Arial MT"/>
                <a:cs typeface="Arial MT"/>
              </a:rPr>
              <a:t>- </a:t>
            </a:r>
            <a:r>
              <a:rPr dirty="0" sz="1200" spc="-5" b="1">
                <a:latin typeface="Arial"/>
                <a:cs typeface="Arial"/>
              </a:rPr>
              <a:t>As a teacher, </a:t>
            </a:r>
            <a:r>
              <a:rPr dirty="0" sz="1200" b="1">
                <a:latin typeface="Arial"/>
                <a:cs typeface="Arial"/>
              </a:rPr>
              <a:t>we </a:t>
            </a:r>
            <a:r>
              <a:rPr dirty="0" sz="1200" spc="-5" b="1">
                <a:latin typeface="Arial"/>
                <a:cs typeface="Arial"/>
              </a:rPr>
              <a:t>should speak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we should use this </a:t>
            </a:r>
            <a:r>
              <a:rPr dirty="0" sz="1200" spc="-10" b="1">
                <a:latin typeface="Arial"/>
                <a:cs typeface="Arial"/>
              </a:rPr>
              <a:t>speech </a:t>
            </a:r>
            <a:r>
              <a:rPr dirty="0" sz="1200" spc="-5" b="1">
                <a:latin typeface="Arial"/>
                <a:cs typeface="Arial"/>
              </a:rPr>
              <a:t>as a tool for learning.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 </a:t>
            </a:r>
            <a:r>
              <a:rPr dirty="0" sz="1200" b="1">
                <a:latin typeface="Arial"/>
                <a:cs typeface="Arial"/>
              </a:rPr>
              <a:t>should talk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we</a:t>
            </a:r>
            <a:r>
              <a:rPr dirty="0" sz="1200" b="1">
                <a:latin typeface="Arial"/>
                <a:cs typeface="Arial"/>
              </a:rPr>
              <a:t> should </a:t>
            </a:r>
            <a:r>
              <a:rPr dirty="0" sz="1200" spc="-5" b="1">
                <a:latin typeface="Arial"/>
                <a:cs typeface="Arial"/>
              </a:rPr>
              <a:t>let</a:t>
            </a:r>
            <a:r>
              <a:rPr dirty="0" sz="1200" b="1">
                <a:latin typeface="Arial"/>
                <a:cs typeface="Arial"/>
              </a:rPr>
              <a:t> our</a:t>
            </a:r>
            <a:r>
              <a:rPr dirty="0" sz="1200" spc="-5" b="1">
                <a:latin typeface="Arial"/>
                <a:cs typeface="Arial"/>
              </a:rPr>
              <a:t> children</a:t>
            </a:r>
            <a:r>
              <a:rPr dirty="0" sz="1200" b="1">
                <a:latin typeface="Arial"/>
                <a:cs typeface="Arial"/>
              </a:rPr>
              <a:t> talk.</a:t>
            </a:r>
            <a:endParaRPr sz="1200">
              <a:latin typeface="Arial"/>
              <a:cs typeface="Arial"/>
            </a:endParaRPr>
          </a:p>
          <a:p>
            <a:pPr algn="just" marL="483870" marR="11430" indent="-6350">
              <a:lnSpc>
                <a:spcPct val="144200"/>
              </a:lnSpc>
              <a:spcBef>
                <a:spcPts val="965"/>
              </a:spcBef>
            </a:pP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never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happen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silence.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Where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silence,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Vygotsky’s theory, language, learning </a:t>
            </a:r>
            <a:r>
              <a:rPr dirty="0" sz="1200" spc="-1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environment is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social context. </a:t>
            </a:r>
            <a:r>
              <a:rPr dirty="0" sz="1200">
                <a:latin typeface="Arial MT"/>
                <a:cs typeface="Arial MT"/>
              </a:rPr>
              <a:t>They are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interlinked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60"/>
              </a:spcBef>
            </a:pPr>
            <a:r>
              <a:rPr dirty="0" sz="1200" b="1">
                <a:latin typeface="Arial"/>
                <a:cs typeface="Arial"/>
              </a:rPr>
              <a:t>COMMENTS:</a:t>
            </a:r>
            <a:endParaRPr sz="1200">
              <a:latin typeface="Arial"/>
              <a:cs typeface="Arial"/>
            </a:endParaRPr>
          </a:p>
          <a:p>
            <a:pPr algn="just" marL="469900" marR="5080" indent="-228600">
              <a:lnSpc>
                <a:spcPct val="144200"/>
              </a:lnSpc>
              <a:spcBef>
                <a:spcPts val="215"/>
              </a:spcBef>
              <a:buFont typeface="Arial MT"/>
              <a:buChar char="•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Complexity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task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independently.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independently and will get cognition accordingly.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give students </a:t>
            </a:r>
            <a:r>
              <a:rPr dirty="0" sz="1200">
                <a:latin typeface="Arial MT"/>
                <a:cs typeface="Arial MT"/>
              </a:rPr>
              <a:t>easy tasks, </a:t>
            </a:r>
            <a:r>
              <a:rPr dirty="0" sz="1200" spc="-5">
                <a:latin typeface="Arial MT"/>
                <a:cs typeface="Arial MT"/>
              </a:rPr>
              <a:t>he will get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 development slowly. But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give </a:t>
            </a:r>
            <a:r>
              <a:rPr dirty="0" sz="1200" spc="-10">
                <a:latin typeface="Arial MT"/>
                <a:cs typeface="Arial MT"/>
              </a:rPr>
              <a:t>him </a:t>
            </a:r>
            <a:r>
              <a:rPr dirty="0" sz="1200" spc="-5">
                <a:latin typeface="Arial MT"/>
                <a:cs typeface="Arial MT"/>
              </a:rPr>
              <a:t>complex </a:t>
            </a:r>
            <a:r>
              <a:rPr dirty="0" sz="1200">
                <a:latin typeface="Arial MT"/>
                <a:cs typeface="Arial MT"/>
              </a:rPr>
              <a:t>tasks, </a:t>
            </a:r>
            <a:r>
              <a:rPr dirty="0" sz="1200" spc="-5">
                <a:latin typeface="Arial MT"/>
                <a:cs typeface="Arial MT"/>
              </a:rPr>
              <a:t>he will </a:t>
            </a:r>
            <a:r>
              <a:rPr dirty="0" sz="1200">
                <a:latin typeface="Arial MT"/>
                <a:cs typeface="Arial MT"/>
              </a:rPr>
              <a:t>ultimately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 higher</a:t>
            </a:r>
            <a:r>
              <a:rPr dirty="0" sz="1200" spc="-5">
                <a:latin typeface="Arial MT"/>
                <a:cs typeface="Arial MT"/>
              </a:rPr>
              <a:t> thinking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8840089"/>
            <a:ext cx="6979920" cy="756285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 # 07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“Kinds of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Assumptions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  <a:p>
            <a:pPr marL="71120">
              <a:lnSpc>
                <a:spcPct val="100000"/>
              </a:lnSpc>
              <a:spcBef>
                <a:spcPts val="685"/>
              </a:spcBef>
            </a:pP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Teachers”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9758933"/>
            <a:ext cx="6628765" cy="166878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710"/>
              </a:spcBef>
            </a:pPr>
            <a:r>
              <a:rPr dirty="0" sz="1200" spc="-5" b="1">
                <a:latin typeface="Arial"/>
                <a:cs typeface="Arial"/>
              </a:rPr>
              <a:t>Lecture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lesson, 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have: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87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Identified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kinds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i.e.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declarative,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procedural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metacognitive.</a:t>
            </a:r>
            <a:endParaRPr sz="1200">
              <a:latin typeface="Arial MT"/>
              <a:cs typeface="Arial MT"/>
            </a:endParaRPr>
          </a:p>
          <a:p>
            <a:pPr marL="469900" marR="5080" indent="-228600">
              <a:lnSpc>
                <a:spcPct val="144200"/>
              </a:lnSpc>
              <a:spcBef>
                <a:spcPts val="6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Identified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lecturing,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methods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useful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methods.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86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Identified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>
                <a:latin typeface="Arial MT"/>
                <a:cs typeface="Arial MT"/>
              </a:rPr>
              <a:t> key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assumptions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21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32750"/>
            <a:ext cx="6631940" cy="3411220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1400" spc="-5" b="1">
                <a:latin typeface="Arial"/>
                <a:cs typeface="Arial"/>
              </a:rPr>
              <a:t>Outline: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Declarative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Procedural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Metacognitive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Teaching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methods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use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declarative,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procedural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metacognitive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Key assumptions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If </a:t>
            </a:r>
            <a:r>
              <a:rPr dirty="0" sz="1200" spc="-5" b="1">
                <a:latin typeface="Arial"/>
                <a:cs typeface="Arial"/>
              </a:rPr>
              <a:t>teachers</a:t>
            </a:r>
            <a:r>
              <a:rPr dirty="0" sz="1200" b="1">
                <a:latin typeface="Arial"/>
                <a:cs typeface="Arial"/>
              </a:rPr>
              <a:t> do not</a:t>
            </a:r>
            <a:r>
              <a:rPr dirty="0" sz="1200" spc="-5" b="1">
                <a:latin typeface="Arial"/>
                <a:cs typeface="Arial"/>
              </a:rPr>
              <a:t> teach,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b="1">
                <a:latin typeface="Arial"/>
                <a:cs typeface="Arial"/>
              </a:rPr>
              <a:t> do not </a:t>
            </a:r>
            <a:r>
              <a:rPr dirty="0" sz="1200" spc="-5" b="1">
                <a:latin typeface="Arial"/>
                <a:cs typeface="Arial"/>
              </a:rPr>
              <a:t>learn.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Learners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 best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working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alone.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Learners </a:t>
            </a:r>
            <a:r>
              <a:rPr dirty="0" sz="1200" b="1">
                <a:latin typeface="Arial"/>
                <a:cs typeface="Arial"/>
              </a:rPr>
              <a:t>need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feedback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everything </a:t>
            </a:r>
            <a:r>
              <a:rPr dirty="0" sz="1200" b="1">
                <a:latin typeface="Arial"/>
                <a:cs typeface="Arial"/>
              </a:rPr>
              <a:t>they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do.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Students’ </a:t>
            </a:r>
            <a:r>
              <a:rPr dirty="0" sz="1200" b="1">
                <a:latin typeface="Arial"/>
                <a:cs typeface="Arial"/>
              </a:rPr>
              <a:t>tests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indicate </a:t>
            </a:r>
            <a:r>
              <a:rPr dirty="0" sz="1200" b="1">
                <a:latin typeface="Arial"/>
                <a:cs typeface="Arial"/>
              </a:rPr>
              <a:t>their </a:t>
            </a:r>
            <a:r>
              <a:rPr dirty="0" sz="1200" spc="-5" b="1">
                <a:latin typeface="Arial"/>
                <a:cs typeface="Arial"/>
              </a:rPr>
              <a:t>learning.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Intelligence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fixed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capacity.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People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same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way.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4314570"/>
            <a:ext cx="6632575" cy="747077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just" marL="20320">
              <a:lnSpc>
                <a:spcPct val="100000"/>
              </a:lnSpc>
              <a:spcBef>
                <a:spcPts val="700"/>
              </a:spcBef>
            </a:pPr>
            <a:r>
              <a:rPr dirty="0" sz="1200" b="1">
                <a:latin typeface="Arial"/>
                <a:cs typeface="Arial"/>
              </a:rPr>
              <a:t>Look </a:t>
            </a:r>
            <a:r>
              <a:rPr dirty="0" sz="1200" spc="-5" b="1">
                <a:latin typeface="Arial"/>
                <a:cs typeface="Arial"/>
              </a:rPr>
              <a:t>at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following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place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them</a:t>
            </a:r>
            <a:r>
              <a:rPr dirty="0" sz="1200" b="1">
                <a:latin typeface="Arial"/>
                <a:cs typeface="Arial"/>
              </a:rPr>
              <a:t> 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three </a:t>
            </a:r>
            <a:r>
              <a:rPr dirty="0" sz="1200" b="1">
                <a:latin typeface="Arial"/>
                <a:cs typeface="Arial"/>
              </a:rPr>
              <a:t>different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categories: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dictionary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7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Types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pollution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Dissecting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frog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7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History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Pakistan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Community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service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Research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 school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pollutants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Solving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7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Working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teams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000"/>
              </a:lnSpc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category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1: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pollution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types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pollution,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whether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are reading books or a teacher is telling you that these are different </a:t>
            </a:r>
            <a:r>
              <a:rPr dirty="0" sz="1200">
                <a:latin typeface="Arial MT"/>
                <a:cs typeface="Arial MT"/>
              </a:rPr>
              <a:t>kinds of </a:t>
            </a:r>
            <a:r>
              <a:rPr dirty="0" sz="1200" spc="-5">
                <a:latin typeface="Arial MT"/>
                <a:cs typeface="Arial MT"/>
              </a:rPr>
              <a:t>pollutants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environmental pollution is caused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these things. </a:t>
            </a:r>
            <a:r>
              <a:rPr dirty="0" sz="1200" spc="5">
                <a:latin typeface="Arial MT"/>
                <a:cs typeface="Arial MT"/>
              </a:rPr>
              <a:t>These </a:t>
            </a:r>
            <a:r>
              <a:rPr dirty="0" sz="1200" spc="-5">
                <a:latin typeface="Arial MT"/>
                <a:cs typeface="Arial MT"/>
              </a:rPr>
              <a:t>are different ways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stop environmental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pollution. These </a:t>
            </a:r>
            <a:r>
              <a:rPr dirty="0" sz="1200">
                <a:latin typeface="Arial MT"/>
                <a:cs typeface="Arial MT"/>
              </a:rPr>
              <a:t>things that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studying are becoming </a:t>
            </a:r>
            <a:r>
              <a:rPr dirty="0" sz="1200">
                <a:latin typeface="Arial MT"/>
                <a:cs typeface="Arial MT"/>
              </a:rPr>
              <a:t>part </a:t>
            </a:r>
            <a:r>
              <a:rPr dirty="0" sz="1200" spc="-5">
                <a:latin typeface="Arial MT"/>
                <a:cs typeface="Arial MT"/>
              </a:rPr>
              <a:t>of your </a:t>
            </a:r>
            <a:r>
              <a:rPr dirty="0" sz="1200">
                <a:latin typeface="Arial MT"/>
                <a:cs typeface="Arial MT"/>
              </a:rPr>
              <a:t>memory. </a:t>
            </a:r>
            <a:r>
              <a:rPr dirty="0" sz="1200" spc="-5">
                <a:latin typeface="Arial MT"/>
                <a:cs typeface="Arial MT"/>
              </a:rPr>
              <a:t>In the same way,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history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Pakistan. </a:t>
            </a:r>
            <a:r>
              <a:rPr dirty="0" sz="1200">
                <a:latin typeface="Arial MT"/>
                <a:cs typeface="Arial MT"/>
              </a:rPr>
              <a:t>To learn </a:t>
            </a:r>
            <a:r>
              <a:rPr dirty="0" sz="1200" spc="-5">
                <a:latin typeface="Arial MT"/>
                <a:cs typeface="Arial MT"/>
              </a:rPr>
              <a:t>different </a:t>
            </a:r>
            <a:r>
              <a:rPr dirty="0" sz="1200">
                <a:latin typeface="Arial MT"/>
                <a:cs typeface="Arial MT"/>
              </a:rPr>
              <a:t>facts </a:t>
            </a:r>
            <a:r>
              <a:rPr dirty="0" sz="1200" spc="-5">
                <a:latin typeface="Arial MT"/>
                <a:cs typeface="Arial MT"/>
              </a:rPr>
              <a:t>and concepts are part of your knowledge.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kind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 is </a:t>
            </a:r>
            <a:r>
              <a:rPr dirty="0" sz="1200">
                <a:latin typeface="Arial MT"/>
                <a:cs typeface="Arial MT"/>
              </a:rPr>
              <a:t>called </a:t>
            </a:r>
            <a:r>
              <a:rPr dirty="0" sz="1200" spc="-5" b="1">
                <a:latin typeface="Arial"/>
                <a:cs typeface="Arial"/>
              </a:rPr>
              <a:t>Lecturing </a:t>
            </a:r>
            <a:r>
              <a:rPr dirty="0" sz="1200" b="1">
                <a:latin typeface="Arial"/>
                <a:cs typeface="Arial"/>
              </a:rPr>
              <a:t>– </a:t>
            </a:r>
            <a:r>
              <a:rPr dirty="0" sz="1200" spc="-5" b="1">
                <a:latin typeface="Arial"/>
                <a:cs typeface="Arial"/>
              </a:rPr>
              <a:t>Declarative Knowledge. </a:t>
            </a:r>
            <a:r>
              <a:rPr dirty="0" sz="1200" spc="-5">
                <a:latin typeface="Arial MT"/>
                <a:cs typeface="Arial MT"/>
              </a:rPr>
              <a:t>When you are learning in such a way </a:t>
            </a:r>
            <a:r>
              <a:rPr dirty="0" sz="1200">
                <a:latin typeface="Arial MT"/>
                <a:cs typeface="Arial MT"/>
              </a:rPr>
              <a:t> that </a:t>
            </a:r>
            <a:r>
              <a:rPr dirty="0" sz="1200" spc="-5">
                <a:latin typeface="Arial MT"/>
                <a:cs typeface="Arial MT"/>
              </a:rPr>
              <a:t>you are declaring knowledge. Knowledge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has been declared either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form </a:t>
            </a:r>
            <a:r>
              <a:rPr dirty="0" sz="1200">
                <a:latin typeface="Arial MT"/>
                <a:cs typeface="Arial MT"/>
              </a:rPr>
              <a:t>of facts </a:t>
            </a:r>
            <a:r>
              <a:rPr dirty="0" sz="1200" spc="-5">
                <a:latin typeface="Arial MT"/>
                <a:cs typeface="Arial MT"/>
              </a:rPr>
              <a:t>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category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2: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two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dissection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frog</a:t>
            </a:r>
            <a:r>
              <a:rPr dirty="0" sz="1200" spc="-5">
                <a:latin typeface="Arial MT"/>
                <a:cs typeface="Arial MT"/>
              </a:rPr>
              <a:t> 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dictionary.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 b="1">
                <a:latin typeface="Arial"/>
                <a:cs typeface="Arial"/>
              </a:rPr>
              <a:t>Dir]ect </a:t>
            </a:r>
            <a:r>
              <a:rPr dirty="0" sz="1200" spc="-5" b="1">
                <a:latin typeface="Arial"/>
                <a:cs typeface="Arial"/>
              </a:rPr>
              <a:t>instruction </a:t>
            </a:r>
            <a:r>
              <a:rPr dirty="0" sz="1200" b="1">
                <a:latin typeface="Arial"/>
                <a:cs typeface="Arial"/>
              </a:rPr>
              <a:t>– </a:t>
            </a:r>
            <a:r>
              <a:rPr dirty="0" sz="1200" spc="-5" b="1">
                <a:latin typeface="Arial"/>
                <a:cs typeface="Arial"/>
              </a:rPr>
              <a:t>Procedural knowledge.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want to search any meaning from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dictionary, </a:t>
            </a:r>
            <a:r>
              <a:rPr dirty="0" sz="1200" spc="-5">
                <a:latin typeface="Arial MT"/>
                <a:cs typeface="Arial MT"/>
              </a:rPr>
              <a:t>you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follow a certain procedure.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10">
                <a:latin typeface="Arial MT"/>
                <a:cs typeface="Arial MT"/>
              </a:rPr>
              <a:t>same </a:t>
            </a:r>
            <a:r>
              <a:rPr dirty="0" sz="1200" spc="-5">
                <a:latin typeface="Arial MT"/>
                <a:cs typeface="Arial MT"/>
              </a:rPr>
              <a:t>way,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want to dissect a </a:t>
            </a:r>
            <a:r>
              <a:rPr dirty="0" sz="1200">
                <a:latin typeface="Arial MT"/>
                <a:cs typeface="Arial MT"/>
              </a:rPr>
              <a:t>frog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follow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instructions.</a:t>
            </a:r>
            <a:endParaRPr sz="1200">
              <a:latin typeface="Arial MT"/>
              <a:cs typeface="Arial MT"/>
            </a:endParaRPr>
          </a:p>
          <a:p>
            <a:pPr algn="just" marL="18415" marR="6985" indent="-6350">
              <a:lnSpc>
                <a:spcPct val="144200"/>
              </a:lnSpc>
              <a:spcBef>
                <a:spcPts val="10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category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3: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solving,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community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service,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pollutants.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a knowledge or skill that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problem has occurred in </a:t>
            </a:r>
            <a:r>
              <a:rPr dirty="0" sz="1200">
                <a:latin typeface="Arial MT"/>
                <a:cs typeface="Arial MT"/>
              </a:rPr>
              <a:t>front </a:t>
            </a:r>
            <a:r>
              <a:rPr dirty="0" sz="1200" spc="-5">
                <a:latin typeface="Arial MT"/>
                <a:cs typeface="Arial MT"/>
              </a:rPr>
              <a:t>of you </a:t>
            </a:r>
            <a:r>
              <a:rPr dirty="0" sz="1200" spc="-10">
                <a:latin typeface="Arial MT"/>
                <a:cs typeface="Arial MT"/>
              </a:rPr>
              <a:t>then you </a:t>
            </a:r>
            <a:r>
              <a:rPr dirty="0" sz="1200" spc="-5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 to solve that problem. Working </a:t>
            </a:r>
            <a:r>
              <a:rPr dirty="0" sz="1200">
                <a:latin typeface="Arial MT"/>
                <a:cs typeface="Arial MT"/>
              </a:rPr>
              <a:t>with </a:t>
            </a:r>
            <a:r>
              <a:rPr dirty="0" sz="1200" spc="-5">
                <a:latin typeface="Arial MT"/>
                <a:cs typeface="Arial MT"/>
              </a:rPr>
              <a:t>others doesn’t mean that you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working in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group. But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have to solve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problems while working with new kind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people. Similarly, when you 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a community service, then you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working with the people.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have learnt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live with 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handle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community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service.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Research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mind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21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1576" y="575563"/>
            <a:ext cx="6629400" cy="11268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16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conduct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way.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practically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conducting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groups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-</a:t>
            </a:r>
            <a:r>
              <a:rPr dirty="0" sz="1200" spc="-5" b="1">
                <a:latin typeface="Arial"/>
                <a:cs typeface="Arial"/>
              </a:rPr>
              <a:t> metacognitive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knowledge.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  <a:tabLst>
                <a:tab pos="471805" algn="l"/>
              </a:tabLst>
            </a:pPr>
            <a:r>
              <a:rPr dirty="0" sz="1400" spc="-5" b="1">
                <a:latin typeface="Arial"/>
                <a:cs typeface="Arial"/>
              </a:rPr>
              <a:t>Lecturing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Declarative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knowledge:</a:t>
            </a:r>
            <a:endParaRPr sz="1400">
              <a:latin typeface="Arial"/>
              <a:cs typeface="Arial"/>
            </a:endParaRPr>
          </a:p>
          <a:p>
            <a:pPr algn="just" marL="477520" marR="7620" indent="-6350">
              <a:lnSpc>
                <a:spcPts val="2080"/>
              </a:lnSpc>
              <a:spcBef>
                <a:spcPts val="95"/>
              </a:spcBef>
            </a:pP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the knowledge that is declared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books, research papers, newspapers or you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acquired that knowledge from your elders/teachers. There are </a:t>
            </a:r>
            <a:r>
              <a:rPr dirty="0" sz="1200" spc="-10">
                <a:latin typeface="Arial MT"/>
                <a:cs typeface="Arial MT"/>
              </a:rPr>
              <a:t>two </a:t>
            </a:r>
            <a:r>
              <a:rPr dirty="0" sz="1200">
                <a:latin typeface="Arial MT"/>
                <a:cs typeface="Arial MT"/>
              </a:rPr>
              <a:t>parts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knowledge: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facts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concepts</a:t>
            </a:r>
            <a:r>
              <a:rPr dirty="0" sz="1200" spc="-5">
                <a:latin typeface="Arial MT"/>
                <a:cs typeface="Arial MT"/>
              </a:rPr>
              <a:t>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Facts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memorize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Pakistan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came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14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august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1947,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>
                <a:latin typeface="Arial MT"/>
                <a:cs typeface="Arial MT"/>
              </a:rPr>
              <a:t> it is.</a:t>
            </a:r>
            <a:endParaRPr sz="1200">
              <a:latin typeface="Arial MT"/>
              <a:cs typeface="Arial MT"/>
            </a:endParaRPr>
          </a:p>
          <a:p>
            <a:pPr algn="just" marL="514350">
              <a:lnSpc>
                <a:spcPct val="100000"/>
              </a:lnSpc>
              <a:spcBef>
                <a:spcPts val="459"/>
              </a:spcBef>
            </a:pP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facts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books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elementary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level,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called</a:t>
            </a:r>
            <a:endParaRPr sz="1200">
              <a:latin typeface="Arial MT"/>
              <a:cs typeface="Arial MT"/>
            </a:endParaRPr>
          </a:p>
          <a:p>
            <a:pPr algn="just" marL="477520" marR="5715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declarative knowledge because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the collection of different facts and students memorize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it. </a:t>
            </a:r>
            <a:r>
              <a:rPr dirty="0" sz="1200" spc="-5" b="1">
                <a:latin typeface="Arial"/>
                <a:cs typeface="Arial"/>
              </a:rPr>
              <a:t>Concepts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Newton’s law, </a:t>
            </a:r>
            <a:r>
              <a:rPr dirty="0" sz="1200">
                <a:latin typeface="Arial MT"/>
                <a:cs typeface="Arial MT"/>
              </a:rPr>
              <a:t>rules of </a:t>
            </a:r>
            <a:r>
              <a:rPr dirty="0" sz="1200" spc="-5">
                <a:latin typeface="Arial MT"/>
                <a:cs typeface="Arial MT"/>
              </a:rPr>
              <a:t>grammar, writing patterns, </a:t>
            </a:r>
            <a:r>
              <a:rPr dirty="0" sz="120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we say that these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also part of our declarative knowledge. Unfortunately, we very much focus on this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declarative knowledge.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think that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the most important knowledge and we </a:t>
            </a:r>
            <a:r>
              <a:rPr dirty="0" sz="1200" spc="10">
                <a:latin typeface="Arial MT"/>
                <a:cs typeface="Arial MT"/>
              </a:rPr>
              <a:t>used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>
                <a:latin typeface="Arial MT"/>
                <a:cs typeface="Arial MT"/>
              </a:rPr>
              <a:t> test</a:t>
            </a:r>
            <a:r>
              <a:rPr dirty="0" sz="1200" spc="-5">
                <a:latin typeface="Arial MT"/>
                <a:cs typeface="Arial MT"/>
              </a:rPr>
              <a:t> 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marL="471170" indent="-229235">
              <a:lnSpc>
                <a:spcPct val="100000"/>
              </a:lnSpc>
              <a:buFont typeface="Times New Roman"/>
              <a:buAutoNum type="arabicPeriod" startAt="2"/>
              <a:tabLst>
                <a:tab pos="471805" algn="l"/>
              </a:tabLst>
            </a:pPr>
            <a:r>
              <a:rPr dirty="0" sz="1400" b="1">
                <a:latin typeface="Arial"/>
                <a:cs typeface="Arial"/>
              </a:rPr>
              <a:t>Direct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Instruction </a:t>
            </a:r>
            <a:r>
              <a:rPr dirty="0" sz="1400" b="1">
                <a:latin typeface="Arial"/>
                <a:cs typeface="Arial"/>
              </a:rPr>
              <a:t>– </a:t>
            </a:r>
            <a:r>
              <a:rPr dirty="0" sz="1400" spc="-5" b="1">
                <a:latin typeface="Arial"/>
                <a:cs typeface="Arial"/>
              </a:rPr>
              <a:t>Procedural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knowledge:</a:t>
            </a:r>
            <a:endParaRPr sz="1400">
              <a:latin typeface="Arial"/>
              <a:cs typeface="Arial"/>
            </a:endParaRPr>
          </a:p>
          <a:p>
            <a:pPr algn="just" marL="477520" marR="5080" indent="-6350">
              <a:lnSpc>
                <a:spcPct val="144100"/>
              </a:lnSpc>
              <a:spcBef>
                <a:spcPts val="910"/>
              </a:spcBef>
            </a:pP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step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ahead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declarative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acquired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knowledge but still you need to know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procedures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well. E.g. </a:t>
            </a:r>
            <a:r>
              <a:rPr dirty="0" sz="1200">
                <a:latin typeface="Arial MT"/>
                <a:cs typeface="Arial MT"/>
              </a:rPr>
              <a:t>you told </a:t>
            </a:r>
            <a:r>
              <a:rPr dirty="0" sz="1200" spc="-5">
                <a:latin typeface="Arial MT"/>
                <a:cs typeface="Arial MT"/>
              </a:rPr>
              <a:t>a student that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frog </a:t>
            </a:r>
            <a:r>
              <a:rPr dirty="0" sz="1200" spc="-5">
                <a:latin typeface="Arial MT"/>
                <a:cs typeface="Arial MT"/>
              </a:rPr>
              <a:t>is dissected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such a way, and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steps as well. And then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ask him about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by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written test that “what procedure is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followed while dissecting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frog.”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student gives 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answer by stating all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steps </a:t>
            </a:r>
            <a:r>
              <a:rPr dirty="0" sz="1200">
                <a:latin typeface="Arial MT"/>
                <a:cs typeface="Arial MT"/>
              </a:rPr>
              <a:t>of dissection. But </a:t>
            </a:r>
            <a:r>
              <a:rPr dirty="0" sz="1200" spc="-5">
                <a:latin typeface="Arial MT"/>
                <a:cs typeface="Arial MT"/>
              </a:rPr>
              <a:t>procedural knowledge doesn’t mean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knowing the procedure, </a:t>
            </a:r>
            <a:r>
              <a:rPr dirty="0" sz="1200">
                <a:latin typeface="Arial MT"/>
                <a:cs typeface="Arial MT"/>
              </a:rPr>
              <a:t>e.g.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know many recipes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baking, may be you have read them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books or </a:t>
            </a:r>
            <a:r>
              <a:rPr dirty="0" sz="1200" spc="-5">
                <a:latin typeface="Arial MT"/>
                <a:cs typeface="Arial MT"/>
              </a:rPr>
              <a:t>listened from anyone.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doesn’t mean that </a:t>
            </a:r>
            <a:r>
              <a:rPr dirty="0" sz="120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can cook them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well. Every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 has different potential of </a:t>
            </a:r>
            <a:r>
              <a:rPr dirty="0" sz="1200">
                <a:latin typeface="Arial MT"/>
                <a:cs typeface="Arial MT"/>
              </a:rPr>
              <a:t>learning. </a:t>
            </a:r>
            <a:r>
              <a:rPr dirty="0" sz="1200" spc="-5">
                <a:latin typeface="Arial MT"/>
                <a:cs typeface="Arial MT"/>
              </a:rPr>
              <a:t>If you teach them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use dictionary, all students </a:t>
            </a:r>
            <a:r>
              <a:rPr dirty="0" sz="1200">
                <a:latin typeface="Arial MT"/>
                <a:cs typeface="Arial MT"/>
              </a:rPr>
              <a:t> may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>
                <a:latin typeface="Arial MT"/>
                <a:cs typeface="Arial MT"/>
              </a:rPr>
              <a:t>use </a:t>
            </a:r>
            <a:r>
              <a:rPr dirty="0" sz="1200" spc="-5">
                <a:latin typeface="Arial MT"/>
                <a:cs typeface="Arial MT"/>
              </a:rPr>
              <a:t>it in the same way. Some students </a:t>
            </a:r>
            <a:r>
              <a:rPr dirty="0" sz="1200">
                <a:latin typeface="Arial MT"/>
                <a:cs typeface="Arial MT"/>
              </a:rPr>
              <a:t>may find </a:t>
            </a:r>
            <a:r>
              <a:rPr dirty="0" sz="1200" spc="-5">
                <a:latin typeface="Arial MT"/>
                <a:cs typeface="Arial MT"/>
              </a:rPr>
              <a:t>the word </a:t>
            </a:r>
            <a:r>
              <a:rPr dirty="0" sz="1200">
                <a:latin typeface="Arial MT"/>
                <a:cs typeface="Arial MT"/>
              </a:rPr>
              <a:t>“Alter” by </a:t>
            </a:r>
            <a:r>
              <a:rPr dirty="0" sz="1200" spc="-5">
                <a:latin typeface="Arial MT"/>
                <a:cs typeface="Arial MT"/>
              </a:rPr>
              <a:t>going through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page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alphabet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A.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some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directly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browse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page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where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start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 and will find </a:t>
            </a:r>
            <a:r>
              <a:rPr dirty="0" sz="1200">
                <a:latin typeface="Arial MT"/>
                <a:cs typeface="Arial MT"/>
              </a:rPr>
              <a:t>the word. </a:t>
            </a:r>
            <a:r>
              <a:rPr dirty="0" sz="1200" spc="-5">
                <a:latin typeface="Arial MT"/>
                <a:cs typeface="Arial MT"/>
              </a:rPr>
              <a:t>So, every student has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own procedure to learn something and </a:t>
            </a:r>
            <a:r>
              <a:rPr dirty="0" sz="1200">
                <a:latin typeface="Arial MT"/>
                <a:cs typeface="Arial MT"/>
              </a:rPr>
              <a:t> 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peculiar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memorizing the procedures but which you have acquired through doing that procedure.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Another thing that is involved in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practicing.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more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practice, the stronger will be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 procedural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endParaRPr sz="1200">
              <a:latin typeface="Arial MT"/>
              <a:cs typeface="Arial MT"/>
            </a:endParaRPr>
          </a:p>
          <a:p>
            <a:pPr algn="just" marL="477520" marR="6350" indent="-6350">
              <a:lnSpc>
                <a:spcPct val="1442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Teachers are </a:t>
            </a:r>
            <a:r>
              <a:rPr dirty="0" sz="1200" spc="-5">
                <a:latin typeface="Arial MT"/>
                <a:cs typeface="Arial MT"/>
              </a:rPr>
              <a:t>just concentrating </a:t>
            </a:r>
            <a:r>
              <a:rPr dirty="0" sz="120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covering the syllabus; they don’t </a:t>
            </a:r>
            <a:r>
              <a:rPr dirty="0" sz="1200">
                <a:latin typeface="Arial MT"/>
                <a:cs typeface="Arial MT"/>
              </a:rPr>
              <a:t>take </a:t>
            </a:r>
            <a:r>
              <a:rPr dirty="0" sz="1200" spc="-5">
                <a:latin typeface="Arial MT"/>
                <a:cs typeface="Arial MT"/>
              </a:rPr>
              <a:t>the students </a:t>
            </a:r>
            <a:r>
              <a:rPr dirty="0" sz="1200">
                <a:latin typeface="Arial MT"/>
                <a:cs typeface="Arial MT"/>
              </a:rPr>
              <a:t> towards </a:t>
            </a:r>
            <a:r>
              <a:rPr dirty="0" sz="1200" spc="-5">
                <a:latin typeface="Arial MT"/>
                <a:cs typeface="Arial MT"/>
              </a:rPr>
              <a:t>procedural knowledge even.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do not allow the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use the scientific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apparatus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labs.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show them the things in the classroom </a:t>
            </a:r>
            <a:r>
              <a:rPr dirty="0" sz="1200" spc="-1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demonstrating we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 afraid that the students </a:t>
            </a:r>
            <a:r>
              <a:rPr dirty="0" sz="1200">
                <a:latin typeface="Arial MT"/>
                <a:cs typeface="Arial MT"/>
              </a:rPr>
              <a:t>may </a:t>
            </a:r>
            <a:r>
              <a:rPr dirty="0" sz="1200" spc="-5">
                <a:latin typeface="Arial MT"/>
                <a:cs typeface="Arial MT"/>
              </a:rPr>
              <a:t>not handle the apparatus carefully and </a:t>
            </a:r>
            <a:r>
              <a:rPr dirty="0" sz="1200">
                <a:latin typeface="Arial MT"/>
                <a:cs typeface="Arial MT"/>
              </a:rPr>
              <a:t>it may </a:t>
            </a:r>
            <a:r>
              <a:rPr dirty="0" sz="1200" spc="-5">
                <a:latin typeface="Arial MT"/>
                <a:cs typeface="Arial MT"/>
              </a:rPr>
              <a:t>broke. Unless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 not allow them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use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apparatus, </a:t>
            </a:r>
            <a:r>
              <a:rPr dirty="0" sz="1200" spc="-1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is no </a:t>
            </a:r>
            <a:r>
              <a:rPr dirty="0" sz="1200">
                <a:latin typeface="Arial MT"/>
                <a:cs typeface="Arial MT"/>
              </a:rPr>
              <a:t>procedural </a:t>
            </a:r>
            <a:r>
              <a:rPr dirty="0" sz="1200" spc="-5">
                <a:latin typeface="Arial MT"/>
                <a:cs typeface="Arial MT"/>
              </a:rPr>
              <a:t>knowledge. All the skills are </a:t>
            </a:r>
            <a:r>
              <a:rPr dirty="0" sz="1200">
                <a:latin typeface="Arial MT"/>
                <a:cs typeface="Arial MT"/>
              </a:rPr>
              <a:t> part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these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 doing.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Arial MT"/>
              <a:cs typeface="Arial MT"/>
            </a:endParaRPr>
          </a:p>
          <a:p>
            <a:pPr marL="471170" indent="-229235">
              <a:lnSpc>
                <a:spcPct val="100000"/>
              </a:lnSpc>
              <a:buFont typeface="Times New Roman"/>
              <a:buAutoNum type="arabicPeriod" startAt="3"/>
              <a:tabLst>
                <a:tab pos="471805" algn="l"/>
              </a:tabLst>
            </a:pPr>
            <a:r>
              <a:rPr dirty="0" sz="1400" spc="-5" b="1">
                <a:latin typeface="Arial"/>
                <a:cs typeface="Arial"/>
              </a:rPr>
              <a:t>Cooperative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groups</a:t>
            </a:r>
            <a:r>
              <a:rPr dirty="0" sz="1400" b="1">
                <a:latin typeface="Arial"/>
                <a:cs typeface="Arial"/>
              </a:rPr>
              <a:t> –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Metacognition:</a:t>
            </a:r>
            <a:endParaRPr sz="1400">
              <a:latin typeface="Arial"/>
              <a:cs typeface="Arial"/>
            </a:endParaRPr>
          </a:p>
          <a:p>
            <a:pPr algn="just" marL="471170">
              <a:lnSpc>
                <a:spcPct val="100000"/>
              </a:lnSpc>
              <a:spcBef>
                <a:spcPts val="560"/>
              </a:spcBef>
            </a:pPr>
            <a:r>
              <a:rPr dirty="0" sz="1200" spc="-5">
                <a:latin typeface="Arial MT"/>
                <a:cs typeface="Arial MT"/>
              </a:rPr>
              <a:t>According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Wikipedia:</a:t>
            </a:r>
            <a:endParaRPr sz="1200">
              <a:latin typeface="Arial MT"/>
              <a:cs typeface="Arial MT"/>
            </a:endParaRPr>
          </a:p>
          <a:p>
            <a:pPr algn="just" marL="477520" marR="6985" indent="-6350">
              <a:lnSpc>
                <a:spcPts val="2080"/>
              </a:lnSpc>
              <a:spcBef>
                <a:spcPts val="80"/>
              </a:spcBef>
            </a:pPr>
            <a:r>
              <a:rPr dirty="0" sz="1200" spc="-5">
                <a:latin typeface="Arial MT"/>
                <a:cs typeface="Arial MT"/>
              </a:rPr>
              <a:t>“Metacognition is cognition about cognition.” E.g.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child </a:t>
            </a:r>
            <a:r>
              <a:rPr dirty="0" sz="1200">
                <a:latin typeface="Arial MT"/>
                <a:cs typeface="Arial MT"/>
              </a:rPr>
              <a:t>does </a:t>
            </a:r>
            <a:r>
              <a:rPr dirty="0" sz="1200" spc="-5">
                <a:latin typeface="Arial MT"/>
                <a:cs typeface="Arial MT"/>
              </a:rPr>
              <a:t>not know the </a:t>
            </a:r>
            <a:r>
              <a:rPr dirty="0" sz="1200">
                <a:latin typeface="Arial MT"/>
                <a:cs typeface="Arial MT"/>
              </a:rPr>
              <a:t>concept 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evaporation,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concept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evaporation.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5115" cy="10902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83870" marR="5715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is metacognition.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categorizes this knowledge and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that the first </a:t>
            </a:r>
            <a:r>
              <a:rPr dirty="0" sz="1200">
                <a:latin typeface="Arial MT"/>
                <a:cs typeface="Arial MT"/>
              </a:rPr>
              <a:t>thing </a:t>
            </a:r>
            <a:r>
              <a:rPr dirty="0" sz="1200" spc="-5">
                <a:latin typeface="Arial MT"/>
                <a:cs typeface="Arial MT"/>
              </a:rPr>
              <a:t>was problem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solving,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great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declarative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 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10">
                <a:latin typeface="Arial MT"/>
                <a:cs typeface="Arial MT"/>
              </a:rPr>
              <a:t>can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solver. Problem solving is your </a:t>
            </a:r>
            <a:r>
              <a:rPr dirty="0" sz="1200">
                <a:latin typeface="Arial MT"/>
                <a:cs typeface="Arial MT"/>
              </a:rPr>
              <a:t>part of </a:t>
            </a:r>
            <a:r>
              <a:rPr dirty="0" sz="1200" spc="-5">
                <a:latin typeface="Arial MT"/>
                <a:cs typeface="Arial MT"/>
              </a:rPr>
              <a:t>metacognition and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in a new situation,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can apply/use </a:t>
            </a:r>
            <a:r>
              <a:rPr dirty="0" sz="1200" spc="-10">
                <a:latin typeface="Arial MT"/>
                <a:cs typeface="Arial MT"/>
              </a:rPr>
              <a:t>your </a:t>
            </a:r>
            <a:r>
              <a:rPr dirty="0" sz="1200" spc="-5">
                <a:latin typeface="Arial MT"/>
                <a:cs typeface="Arial MT"/>
              </a:rPr>
              <a:t>declarative knowledge. You can transfer your learning in a new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situation.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>
                <a:latin typeface="Arial MT"/>
                <a:cs typeface="Arial MT"/>
              </a:rPr>
              <a:t> this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called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transferable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skill.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call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application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application. Creativity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also a part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metacognition. Learning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learn is metacognition.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Metacognitive knowledge is actually of least </a:t>
            </a:r>
            <a:r>
              <a:rPr dirty="0" sz="1200">
                <a:latin typeface="Arial MT"/>
                <a:cs typeface="Arial MT"/>
              </a:rPr>
              <a:t>focus </a:t>
            </a:r>
            <a:r>
              <a:rPr dirty="0" sz="1200" spc="-5">
                <a:latin typeface="Arial MT"/>
                <a:cs typeface="Arial MT"/>
              </a:rPr>
              <a:t>in our schools. There is </a:t>
            </a:r>
            <a:r>
              <a:rPr dirty="0" sz="1200" spc="-10">
                <a:latin typeface="Arial MT"/>
                <a:cs typeface="Arial MT"/>
              </a:rPr>
              <a:t>no </a:t>
            </a:r>
            <a:r>
              <a:rPr dirty="0" sz="1200" spc="-5">
                <a:latin typeface="Arial MT"/>
                <a:cs typeface="Arial MT"/>
              </a:rPr>
              <a:t>focus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metacognitive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aware</a:t>
            </a:r>
            <a:r>
              <a:rPr dirty="0" sz="1200">
                <a:latin typeface="Arial MT"/>
                <a:cs typeface="Arial MT"/>
              </a:rPr>
              <a:t> of</a:t>
            </a:r>
            <a:endParaRPr sz="120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  <a:spcBef>
                <a:spcPts val="645"/>
              </a:spcBef>
            </a:pPr>
            <a:r>
              <a:rPr dirty="0" sz="1200">
                <a:latin typeface="Arial MT"/>
                <a:cs typeface="Arial MT"/>
              </a:rPr>
              <a:t>that.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What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are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the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methods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to</a:t>
            </a:r>
            <a:r>
              <a:rPr dirty="0" sz="1400" spc="-5" b="1">
                <a:latin typeface="Arial"/>
                <a:cs typeface="Arial"/>
              </a:rPr>
              <a:t> promote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these </a:t>
            </a:r>
            <a:r>
              <a:rPr dirty="0" sz="1400" spc="-5" b="1">
                <a:latin typeface="Arial"/>
                <a:cs typeface="Arial"/>
              </a:rPr>
              <a:t>three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kinds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knowledge?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algn="just" marL="477520" marR="5715" indent="-228600">
              <a:lnSpc>
                <a:spcPct val="144200"/>
              </a:lnSpc>
              <a:spcBef>
                <a:spcPts val="1140"/>
              </a:spcBef>
              <a:buSzPct val="116666"/>
              <a:buChar char="•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Lecturing is the procedure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gain declarative knowledge. Because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just </a:t>
            </a:r>
            <a:r>
              <a:rPr dirty="0" sz="1200" spc="-5">
                <a:latin typeface="Arial MT"/>
                <a:cs typeface="Arial MT"/>
              </a:rPr>
              <a:t>need to deliver </a:t>
            </a:r>
            <a:r>
              <a:rPr dirty="0" sz="1200">
                <a:latin typeface="Arial MT"/>
                <a:cs typeface="Arial MT"/>
              </a:rPr>
              <a:t> facts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 declarative knowledge </a:t>
            </a:r>
            <a:r>
              <a:rPr dirty="0" sz="1200" spc="-10">
                <a:latin typeface="Arial MT"/>
                <a:cs typeface="Arial MT"/>
              </a:rPr>
              <a:t>can be </a:t>
            </a:r>
            <a:r>
              <a:rPr dirty="0" sz="1200" spc="-5">
                <a:latin typeface="Arial MT"/>
                <a:cs typeface="Arial MT"/>
              </a:rPr>
              <a:t>gained through discussion also. Through </a:t>
            </a:r>
            <a:r>
              <a:rPr dirty="0" sz="1200">
                <a:latin typeface="Arial MT"/>
                <a:cs typeface="Arial MT"/>
              </a:rPr>
              <a:t>discussion,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 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metacognition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1100">
              <a:latin typeface="Arial MT"/>
              <a:cs typeface="Arial MT"/>
            </a:endParaRPr>
          </a:p>
          <a:p>
            <a:pPr algn="just" marL="477520" marR="5080" indent="-228600">
              <a:lnSpc>
                <a:spcPct val="144200"/>
              </a:lnSpc>
              <a:buSzPct val="116666"/>
              <a:buChar char="•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Procedural knowledge is gained through direct instruction. You have </a:t>
            </a:r>
            <a:r>
              <a:rPr dirty="0" sz="1200">
                <a:latin typeface="Arial MT"/>
                <a:cs typeface="Arial MT"/>
              </a:rPr>
              <a:t>to tell </a:t>
            </a:r>
            <a:r>
              <a:rPr dirty="0" sz="1200" spc="-5">
                <a:latin typeface="Arial MT"/>
                <a:cs typeface="Arial MT"/>
              </a:rPr>
              <a:t>the student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directly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schools,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alphabets.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teacher is telling </a:t>
            </a:r>
            <a:r>
              <a:rPr dirty="0" sz="1200">
                <a:latin typeface="Arial MT"/>
                <a:cs typeface="Arial MT"/>
              </a:rPr>
              <a:t>them </a:t>
            </a:r>
            <a:r>
              <a:rPr dirty="0" sz="1200" spc="-5">
                <a:latin typeface="Arial MT"/>
                <a:cs typeface="Arial MT"/>
              </a:rPr>
              <a:t>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write </a:t>
            </a:r>
            <a:r>
              <a:rPr dirty="0" sz="1200">
                <a:latin typeface="Arial MT"/>
                <a:cs typeface="Arial MT"/>
              </a:rPr>
              <a:t>different </a:t>
            </a:r>
            <a:r>
              <a:rPr dirty="0" sz="1200" spc="-5">
                <a:latin typeface="Arial MT"/>
                <a:cs typeface="Arial MT"/>
              </a:rPr>
              <a:t>alphabets.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child who is newly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admission in the school could not follow the teacher, </a:t>
            </a:r>
            <a:r>
              <a:rPr dirty="0" sz="1200">
                <a:latin typeface="Arial MT"/>
                <a:cs typeface="Arial MT"/>
              </a:rPr>
              <a:t>if the </a:t>
            </a:r>
            <a:r>
              <a:rPr dirty="0" sz="1200" spc="-5">
                <a:latin typeface="Arial MT"/>
                <a:cs typeface="Arial MT"/>
              </a:rPr>
              <a:t>teacher writes all alphabets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 board and ask them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copy. But he has to </a:t>
            </a:r>
            <a:r>
              <a:rPr dirty="0" sz="1200" spc="-10">
                <a:latin typeface="Arial MT"/>
                <a:cs typeface="Arial MT"/>
              </a:rPr>
              <a:t>tell </a:t>
            </a:r>
            <a:r>
              <a:rPr dirty="0" sz="1200" spc="-5">
                <a:latin typeface="Arial MT"/>
                <a:cs typeface="Arial MT"/>
              </a:rPr>
              <a:t>them by holding hand that </a:t>
            </a:r>
            <a:r>
              <a:rPr dirty="0" sz="1200" spc="15">
                <a:latin typeface="Arial MT"/>
                <a:cs typeface="Arial MT"/>
              </a:rPr>
              <a:t>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write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alphabets. Hand writing is a skill and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teach </a:t>
            </a:r>
            <a:r>
              <a:rPr dirty="0" sz="1200" spc="-5">
                <a:latin typeface="Arial MT"/>
                <a:cs typeface="Arial MT"/>
              </a:rPr>
              <a:t>this skill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students, teachers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give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holding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them.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useful </a:t>
            </a:r>
            <a:r>
              <a:rPr dirty="0" sz="1200" spc="-5">
                <a:latin typeface="Arial MT"/>
                <a:cs typeface="Arial MT"/>
              </a:rPr>
              <a:t>when you want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give procedural knowledge. You can </a:t>
            </a:r>
            <a:r>
              <a:rPr dirty="0" sz="1200" spc="-10">
                <a:latin typeface="Arial MT"/>
                <a:cs typeface="Arial MT"/>
              </a:rPr>
              <a:t>never </a:t>
            </a:r>
            <a:r>
              <a:rPr dirty="0" sz="1200" spc="-5">
                <a:latin typeface="Arial MT"/>
                <a:cs typeface="Arial MT"/>
              </a:rPr>
              <a:t>give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procedural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lecturing.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Equipment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handling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 You have to guide every student that 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handle or use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equipment.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 not </a:t>
            </a:r>
            <a:r>
              <a:rPr dirty="0" sz="1200" spc="-5">
                <a:latin typeface="Arial MT"/>
                <a:cs typeface="Arial MT"/>
              </a:rPr>
              <a:t>only that teacher shows them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use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apparatus. </a:t>
            </a:r>
            <a:r>
              <a:rPr dirty="0" sz="1200" spc="-5">
                <a:latin typeface="Arial MT"/>
                <a:cs typeface="Arial MT"/>
              </a:rPr>
              <a:t>Procedural knowledge is acquired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 through practice. So when we are expecting a child to do something or his skills should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improve,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give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 instruction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feedback.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100">
              <a:latin typeface="Arial MT"/>
              <a:cs typeface="Arial MT"/>
            </a:endParaRPr>
          </a:p>
          <a:p>
            <a:pPr algn="just" marL="477520" marR="6985" indent="-228600">
              <a:lnSpc>
                <a:spcPct val="144100"/>
              </a:lnSpc>
              <a:buSzPct val="116666"/>
              <a:buChar char="•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Metacognition is gained through problem solving. Definitely,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do not give the students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problems, they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never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to solve the problems. So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give students such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 or tasks that involve their thinking and practical application as well. </a:t>
            </a:r>
            <a:r>
              <a:rPr dirty="0" sz="1200" spc="-10">
                <a:latin typeface="Arial MT"/>
                <a:cs typeface="Arial MT"/>
              </a:rPr>
              <a:t>Team </a:t>
            </a:r>
            <a:r>
              <a:rPr dirty="0" sz="1200" spc="-5">
                <a:latin typeface="Arial MT"/>
                <a:cs typeface="Arial MT"/>
              </a:rPr>
              <a:t>work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 an important skill/knowledge that is metacognitive knowledge and </a:t>
            </a:r>
            <a:r>
              <a:rPr dirty="0" sz="1200">
                <a:latin typeface="Arial MT"/>
                <a:cs typeface="Arial MT"/>
              </a:rPr>
              <a:t>it should </a:t>
            </a:r>
            <a:r>
              <a:rPr dirty="0" sz="1200" spc="-5">
                <a:latin typeface="Arial MT"/>
                <a:cs typeface="Arial MT"/>
              </a:rPr>
              <a:t>be taught to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 You can never give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knowledge unless you do not allow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work in groups.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through team work you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how to work in </a:t>
            </a:r>
            <a:r>
              <a:rPr dirty="0" sz="1200" spc="-10">
                <a:latin typeface="Arial MT"/>
                <a:cs typeface="Arial MT"/>
              </a:rPr>
              <a:t>groups, </a:t>
            </a:r>
            <a:r>
              <a:rPr dirty="0" sz="1200" spc="-5">
                <a:latin typeface="Arial MT"/>
                <a:cs typeface="Arial MT"/>
              </a:rPr>
              <a:t>how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resolve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conflicts.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Whenever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groups,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conflicts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disagreements.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Metacognition is based on metacognition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declarative knowledge and metacognition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procedural knowledge.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384" y="654811"/>
            <a:ext cx="6405245" cy="11063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Teacher’s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assumptions: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025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If </a:t>
            </a:r>
            <a:r>
              <a:rPr dirty="0" sz="1200" spc="-5" b="1">
                <a:latin typeface="Arial"/>
                <a:cs typeface="Arial"/>
              </a:rPr>
              <a:t>teachers</a:t>
            </a:r>
            <a:r>
              <a:rPr dirty="0" sz="1200" b="1">
                <a:latin typeface="Arial"/>
                <a:cs typeface="Arial"/>
              </a:rPr>
              <a:t> do not</a:t>
            </a:r>
            <a:r>
              <a:rPr dirty="0" sz="1200" spc="-5" b="1">
                <a:latin typeface="Arial"/>
                <a:cs typeface="Arial"/>
              </a:rPr>
              <a:t> teach,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b="1">
                <a:latin typeface="Arial"/>
                <a:cs typeface="Arial"/>
              </a:rPr>
              <a:t> do not </a:t>
            </a:r>
            <a:r>
              <a:rPr dirty="0" sz="1200" spc="-5" b="1">
                <a:latin typeface="Arial"/>
                <a:cs typeface="Arial"/>
              </a:rPr>
              <a:t>learn.</a:t>
            </a:r>
            <a:endParaRPr sz="1200">
              <a:latin typeface="Arial"/>
              <a:cs typeface="Arial"/>
            </a:endParaRPr>
          </a:p>
          <a:p>
            <a:pPr algn="just" marL="254635" marR="5080" indent="-6350">
              <a:lnSpc>
                <a:spcPts val="2080"/>
              </a:lnSpc>
              <a:spcBef>
                <a:spcPts val="135"/>
              </a:spcBef>
            </a:pPr>
            <a:r>
              <a:rPr dirty="0" sz="1200">
                <a:latin typeface="Arial MT"/>
                <a:cs typeface="Arial MT"/>
              </a:rPr>
              <a:t>Research says </a:t>
            </a:r>
            <a:r>
              <a:rPr dirty="0" sz="1200" spc="-5">
                <a:latin typeface="Arial MT"/>
                <a:cs typeface="Arial MT"/>
              </a:rPr>
              <a:t>that students can learn by themselves,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there is no teacher.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 responsibility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maximize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facilitate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they can </a:t>
            </a:r>
            <a:r>
              <a:rPr dirty="0" sz="1200">
                <a:latin typeface="Arial MT"/>
                <a:cs typeface="Arial MT"/>
              </a:rPr>
              <a:t>reach to the </a:t>
            </a:r>
            <a:r>
              <a:rPr dirty="0" sz="1200" spc="-5">
                <a:latin typeface="Arial MT"/>
                <a:cs typeface="Arial MT"/>
              </a:rPr>
              <a:t>maximum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their potential.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assumption is not true and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misconception,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prior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test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prior knowledge,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do not participate actively in learning.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think that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 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 the 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5">
                <a:latin typeface="Arial MT"/>
                <a:cs typeface="Arial MT"/>
              </a:rPr>
              <a:t> beginning</a:t>
            </a:r>
            <a:r>
              <a:rPr dirty="0" sz="1200">
                <a:latin typeface="Arial MT"/>
                <a:cs typeface="Arial MT"/>
              </a:rPr>
              <a:t> but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seems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meaningless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080"/>
              </a:spcBef>
              <a:buFont typeface="Times New Roman"/>
              <a:buAutoNum type="arabicPeriod" startAt="2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Learners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 best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working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alone.</a:t>
            </a:r>
            <a:endParaRPr sz="1200">
              <a:latin typeface="Arial"/>
              <a:cs typeface="Arial"/>
            </a:endParaRPr>
          </a:p>
          <a:p>
            <a:pPr algn="just" marL="254635" indent="-6350">
              <a:lnSpc>
                <a:spcPct val="100000"/>
              </a:lnSpc>
              <a:spcBef>
                <a:spcPts val="615"/>
              </a:spcBef>
            </a:pPr>
            <a:r>
              <a:rPr dirty="0" sz="1200" spc="-5">
                <a:latin typeface="Arial MT"/>
                <a:cs typeface="Arial MT"/>
              </a:rPr>
              <a:t>Whenever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assign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task,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individually.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If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</a:t>
            </a:r>
            <a:endParaRPr sz="1200">
              <a:latin typeface="Arial MT"/>
              <a:cs typeface="Arial MT"/>
            </a:endParaRPr>
          </a:p>
          <a:p>
            <a:pPr algn="just" marL="254635" marR="508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not know something, we say that ask me, not your peers.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do not allow them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work in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groups. There are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attitudes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teachers; firstly, we know that students </a:t>
            </a:r>
            <a:r>
              <a:rPr dirty="0" sz="1200" spc="5">
                <a:latin typeface="Arial MT"/>
                <a:cs typeface="Arial MT"/>
              </a:rPr>
              <a:t>cannot </a:t>
            </a:r>
            <a:r>
              <a:rPr dirty="0" sz="1200" spc="-5">
                <a:latin typeface="Arial MT"/>
                <a:cs typeface="Arial MT"/>
              </a:rPr>
              <a:t>learn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without a teacher, being a teacher we are in a superiority complex that we know everything.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Secondly, we say that students can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individually or by working alone. We should </a:t>
            </a:r>
            <a:r>
              <a:rPr dirty="0" sz="1200" spc="-1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 hold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assumption; we should hold this assumption that </a:t>
            </a:r>
            <a:r>
              <a:rPr dirty="0" sz="1200">
                <a:latin typeface="Arial MT"/>
                <a:cs typeface="Arial MT"/>
              </a:rPr>
              <a:t>learning </a:t>
            </a:r>
            <a:r>
              <a:rPr dirty="0" sz="1200" spc="-5">
                <a:latin typeface="Arial MT"/>
                <a:cs typeface="Arial MT"/>
              </a:rPr>
              <a:t>takes place best </a:t>
            </a:r>
            <a:r>
              <a:rPr dirty="0" sz="1200" spc="-10">
                <a:latin typeface="Arial MT"/>
                <a:cs typeface="Arial MT"/>
              </a:rPr>
              <a:t>when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is some social or group orientation.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study </a:t>
            </a:r>
            <a:r>
              <a:rPr dirty="0" sz="1200" spc="-5">
                <a:latin typeface="Arial MT"/>
                <a:cs typeface="Arial MT"/>
              </a:rPr>
              <a:t>earlier that </a:t>
            </a:r>
            <a:r>
              <a:rPr dirty="0" sz="1200" spc="-5" b="1">
                <a:latin typeface="Arial"/>
                <a:cs typeface="Arial"/>
              </a:rPr>
              <a:t>learning </a:t>
            </a:r>
            <a:r>
              <a:rPr dirty="0" sz="1200" b="1">
                <a:latin typeface="Arial"/>
                <a:cs typeface="Arial"/>
              </a:rPr>
              <a:t>is </a:t>
            </a:r>
            <a:r>
              <a:rPr dirty="0" sz="1200" spc="-5" b="1">
                <a:latin typeface="Arial"/>
                <a:cs typeface="Arial"/>
              </a:rPr>
              <a:t>a social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</a:t>
            </a:r>
            <a:r>
              <a:rPr dirty="0" sz="1200" spc="-5">
                <a:latin typeface="Arial MT"/>
                <a:cs typeface="Arial MT"/>
              </a:rPr>
              <a:t>, </a:t>
            </a:r>
            <a:r>
              <a:rPr dirty="0" sz="1200">
                <a:latin typeface="Arial MT"/>
                <a:cs typeface="Arial MT"/>
              </a:rPr>
              <a:t>if learning </a:t>
            </a:r>
            <a:r>
              <a:rPr dirty="0" sz="1200" spc="-5">
                <a:latin typeface="Arial MT"/>
                <a:cs typeface="Arial MT"/>
              </a:rPr>
              <a:t>is a social process then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believe that </a:t>
            </a:r>
            <a:r>
              <a:rPr dirty="0" sz="1200">
                <a:latin typeface="Arial MT"/>
                <a:cs typeface="Arial MT"/>
              </a:rPr>
              <a:t>learning </a:t>
            </a:r>
            <a:r>
              <a:rPr dirty="0" sz="1200" spc="-5">
                <a:latin typeface="Arial MT"/>
                <a:cs typeface="Arial MT"/>
              </a:rPr>
              <a:t>takes place </a:t>
            </a:r>
            <a:r>
              <a:rPr dirty="0" sz="1200">
                <a:latin typeface="Arial MT"/>
                <a:cs typeface="Arial MT"/>
              </a:rPr>
              <a:t> when </a:t>
            </a:r>
            <a:r>
              <a:rPr dirty="0" sz="1200" spc="-5">
                <a:latin typeface="Arial MT"/>
                <a:cs typeface="Arial MT"/>
              </a:rPr>
              <a:t>children work in groups.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students are </a:t>
            </a:r>
            <a:r>
              <a:rPr dirty="0" sz="1200">
                <a:latin typeface="Arial MT"/>
                <a:cs typeface="Arial MT"/>
              </a:rPr>
              <a:t>working </a:t>
            </a:r>
            <a:r>
              <a:rPr dirty="0" sz="1200" spc="-5">
                <a:latin typeface="Arial MT"/>
                <a:cs typeface="Arial MT"/>
              </a:rPr>
              <a:t>alone and they </a:t>
            </a:r>
            <a:r>
              <a:rPr dirty="0" sz="120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succeed. </a:t>
            </a:r>
            <a:r>
              <a:rPr dirty="0" sz="1200" spc="-10">
                <a:latin typeface="Arial MT"/>
                <a:cs typeface="Arial MT"/>
              </a:rPr>
              <a:t>Their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self-esteem becomes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low; they think that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cannot have the </a:t>
            </a:r>
            <a:r>
              <a:rPr dirty="0" sz="1200">
                <a:latin typeface="Arial MT"/>
                <a:cs typeface="Arial MT"/>
              </a:rPr>
              <a:t>things </a:t>
            </a:r>
            <a:r>
              <a:rPr dirty="0" sz="1200" spc="-5">
                <a:latin typeface="Arial MT"/>
                <a:cs typeface="Arial MT"/>
              </a:rPr>
              <a:t>done.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they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hand,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self-esteem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becomes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buFont typeface="Times New Roman"/>
              <a:buAutoNum type="arabicPeriod" startAt="3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Learners </a:t>
            </a:r>
            <a:r>
              <a:rPr dirty="0" sz="1200" b="1">
                <a:latin typeface="Arial"/>
                <a:cs typeface="Arial"/>
              </a:rPr>
              <a:t>need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feedback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everything </a:t>
            </a:r>
            <a:r>
              <a:rPr dirty="0" sz="1200" b="1">
                <a:latin typeface="Arial"/>
                <a:cs typeface="Arial"/>
              </a:rPr>
              <a:t>they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do.</a:t>
            </a:r>
            <a:endParaRPr sz="1200">
              <a:latin typeface="Arial"/>
              <a:cs typeface="Arial"/>
            </a:endParaRPr>
          </a:p>
          <a:p>
            <a:pPr algn="just" marL="254635" marR="6350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always </a:t>
            </a:r>
            <a:r>
              <a:rPr dirty="0" sz="1200">
                <a:latin typeface="Arial MT"/>
                <a:cs typeface="Arial MT"/>
              </a:rPr>
              <a:t>try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>
                <a:latin typeface="Arial MT"/>
                <a:cs typeface="Arial MT"/>
              </a:rPr>
              <a:t>give </a:t>
            </a:r>
            <a:r>
              <a:rPr dirty="0" sz="1200" spc="-5">
                <a:latin typeface="Arial MT"/>
                <a:cs typeface="Arial MT"/>
              </a:rPr>
              <a:t>students feedback and that feedback is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very low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that has </a:t>
            </a:r>
            <a:r>
              <a:rPr dirty="0" sz="1200" spc="-15">
                <a:latin typeface="Arial MT"/>
                <a:cs typeface="Arial MT"/>
              </a:rPr>
              <a:t>no 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educational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value.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e.g.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poor,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excellent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feedback.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assume that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do not give feedback, the students cannot learn. We develop attitude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 students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feedback,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think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check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homework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why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 it.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because we cannot make learning enjoyable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them. Learning </a:t>
            </a:r>
            <a:r>
              <a:rPr dirty="0" sz="1200">
                <a:latin typeface="Arial MT"/>
                <a:cs typeface="Arial MT"/>
              </a:rPr>
              <a:t>itself </a:t>
            </a:r>
            <a:r>
              <a:rPr dirty="0" sz="1200" spc="-5">
                <a:latin typeface="Arial MT"/>
                <a:cs typeface="Arial MT"/>
              </a:rPr>
              <a:t>is a </a:t>
            </a:r>
            <a:r>
              <a:rPr dirty="0" sz="1200">
                <a:latin typeface="Arial MT"/>
                <a:cs typeface="Arial MT"/>
              </a:rPr>
              <a:t> pleasure </a:t>
            </a:r>
            <a:r>
              <a:rPr dirty="0" sz="1200" spc="-5">
                <a:latin typeface="Arial MT"/>
                <a:cs typeface="Arial MT"/>
              </a:rPr>
              <a:t>process.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 students will do everything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getting good feedback </a:t>
            </a:r>
            <a:r>
              <a:rPr dirty="0" sz="1200" spc="1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definitely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habit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life-long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10">
                <a:latin typeface="Arial MT"/>
                <a:cs typeface="Arial MT"/>
              </a:rPr>
              <a:t> we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life-long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self-motivated.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075"/>
              </a:spcBef>
              <a:buFont typeface="Times New Roman"/>
              <a:buAutoNum type="arabicPeriod" startAt="4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Students’ </a:t>
            </a:r>
            <a:r>
              <a:rPr dirty="0" sz="1200" b="1">
                <a:latin typeface="Arial"/>
                <a:cs typeface="Arial"/>
              </a:rPr>
              <a:t>tests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indicate </a:t>
            </a:r>
            <a:r>
              <a:rPr dirty="0" sz="1200" b="1">
                <a:latin typeface="Arial"/>
                <a:cs typeface="Arial"/>
              </a:rPr>
              <a:t>their </a:t>
            </a:r>
            <a:r>
              <a:rPr dirty="0" sz="1200" spc="-5" b="1">
                <a:latin typeface="Arial"/>
                <a:cs typeface="Arial"/>
              </a:rPr>
              <a:t>learning.</a:t>
            </a:r>
            <a:endParaRPr sz="1200">
              <a:latin typeface="Arial"/>
              <a:cs typeface="Arial"/>
            </a:endParaRPr>
          </a:p>
          <a:p>
            <a:pPr algn="just" marL="254635" marR="6350" indent="-6350">
              <a:lnSpc>
                <a:spcPts val="2080"/>
              </a:lnSpc>
              <a:spcBef>
                <a:spcPts val="40"/>
              </a:spcBef>
            </a:pPr>
            <a:r>
              <a:rPr dirty="0" sz="1200" spc="-5">
                <a:latin typeface="Arial MT"/>
                <a:cs typeface="Arial MT"/>
              </a:rPr>
              <a:t>What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in classes; there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tests on </a:t>
            </a:r>
            <a:r>
              <a:rPr dirty="0" sz="1200">
                <a:latin typeface="Arial MT"/>
                <a:cs typeface="Arial MT"/>
              </a:rPr>
              <a:t>our </a:t>
            </a:r>
            <a:r>
              <a:rPr dirty="0" sz="1200" spc="5">
                <a:latin typeface="Arial MT"/>
                <a:cs typeface="Arial MT"/>
              </a:rPr>
              <a:t>mind </a:t>
            </a:r>
            <a:r>
              <a:rPr dirty="0" sz="1200" spc="-5">
                <a:latin typeface="Arial MT"/>
                <a:cs typeface="Arial MT"/>
              </a:rPr>
              <a:t>every time i.e. </a:t>
            </a:r>
            <a:r>
              <a:rPr dirty="0" sz="1200">
                <a:latin typeface="Arial MT"/>
                <a:cs typeface="Arial MT"/>
              </a:rPr>
              <a:t>weekly </a:t>
            </a:r>
            <a:r>
              <a:rPr dirty="0" sz="1200" spc="-5">
                <a:latin typeface="Arial MT"/>
                <a:cs typeface="Arial MT"/>
              </a:rPr>
              <a:t>tests, monthly </a:t>
            </a:r>
            <a:r>
              <a:rPr dirty="0" sz="1200">
                <a:latin typeface="Arial MT"/>
                <a:cs typeface="Arial MT"/>
              </a:rPr>
              <a:t> tests,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mid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terms,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final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etc.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unfortunately,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examination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tests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factual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conceptual knowledge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students. And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think </a:t>
            </a:r>
            <a:r>
              <a:rPr dirty="0" sz="1200" spc="-5">
                <a:latin typeface="Arial MT"/>
                <a:cs typeface="Arial MT"/>
              </a:rPr>
              <a:t>that we know who the brilliant students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our class </a:t>
            </a:r>
            <a:r>
              <a:rPr dirty="0" sz="1200">
                <a:latin typeface="Arial MT"/>
                <a:cs typeface="Arial MT"/>
              </a:rPr>
              <a:t>are. It </a:t>
            </a:r>
            <a:r>
              <a:rPr dirty="0" sz="1200" spc="-5">
                <a:latin typeface="Arial MT"/>
                <a:cs typeface="Arial MT"/>
              </a:rPr>
              <a:t>is not </a:t>
            </a:r>
            <a:r>
              <a:rPr dirty="0" sz="1200">
                <a:latin typeface="Arial MT"/>
                <a:cs typeface="Arial MT"/>
              </a:rPr>
              <a:t>true </a:t>
            </a:r>
            <a:r>
              <a:rPr dirty="0" sz="1200" spc="-5">
                <a:latin typeface="Arial MT"/>
                <a:cs typeface="Arial MT"/>
              </a:rPr>
              <a:t>because these tests are </a:t>
            </a:r>
            <a:r>
              <a:rPr dirty="0" sz="120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associated with their learning. </a:t>
            </a:r>
            <a:r>
              <a:rPr dirty="0" sz="1200" spc="-1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test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possible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ways,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judge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art,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ask him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draw </a:t>
            </a:r>
            <a:r>
              <a:rPr dirty="0" sz="1200" spc="-5">
                <a:latin typeface="Arial MT"/>
                <a:cs typeface="Arial MT"/>
              </a:rPr>
              <a:t>something on the paper </a:t>
            </a:r>
            <a:r>
              <a:rPr dirty="0" sz="1200">
                <a:latin typeface="Arial MT"/>
                <a:cs typeface="Arial MT"/>
              </a:rPr>
              <a:t>rather </a:t>
            </a:r>
            <a:r>
              <a:rPr dirty="0" sz="1200" spc="-5">
                <a:latin typeface="Arial MT"/>
                <a:cs typeface="Arial MT"/>
              </a:rPr>
              <a:t>we ask </a:t>
            </a:r>
            <a:r>
              <a:rPr dirty="0" sz="1200" spc="-10">
                <a:latin typeface="Arial MT"/>
                <a:cs typeface="Arial MT"/>
              </a:rPr>
              <a:t>him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write down on the paper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 to draw things. Similarly,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want to know how </a:t>
            </a:r>
            <a:r>
              <a:rPr dirty="0" sz="1200" spc="-10">
                <a:latin typeface="Arial MT"/>
                <a:cs typeface="Arial MT"/>
              </a:rPr>
              <a:t>good </a:t>
            </a:r>
            <a:r>
              <a:rPr dirty="0" sz="1200" spc="-5">
                <a:latin typeface="Arial MT"/>
                <a:cs typeface="Arial MT"/>
              </a:rPr>
              <a:t>a student can present, then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 will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him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way,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judge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communication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30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384" y="575563"/>
            <a:ext cx="6404610" cy="7949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54635" marR="508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presentation skill.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said that English language teaching focuses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four things; speaking,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listening, reading and writing. But in </a:t>
            </a:r>
            <a:r>
              <a:rPr dirty="0" sz="1200">
                <a:latin typeface="Arial MT"/>
                <a:cs typeface="Arial MT"/>
              </a:rPr>
              <a:t>our </a:t>
            </a:r>
            <a:r>
              <a:rPr dirty="0" sz="1200" spc="-5">
                <a:latin typeface="Arial MT"/>
                <a:cs typeface="Arial MT"/>
              </a:rPr>
              <a:t>board exams, students’ reading comprehension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ability 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judged.</a:t>
            </a:r>
            <a:endParaRPr sz="1200">
              <a:latin typeface="Arial MT"/>
              <a:cs typeface="Arial MT"/>
            </a:endParaRPr>
          </a:p>
          <a:p>
            <a:pPr algn="just" marL="254635" marR="6985" indent="-6350">
              <a:lnSpc>
                <a:spcPct val="144200"/>
              </a:lnSpc>
              <a:spcBef>
                <a:spcPts val="10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only </a:t>
            </a:r>
            <a:r>
              <a:rPr dirty="0" sz="1200" spc="-10">
                <a:latin typeface="Arial MT"/>
                <a:cs typeface="Arial MT"/>
              </a:rPr>
              <a:t>judge </a:t>
            </a:r>
            <a:r>
              <a:rPr dirty="0" sz="1200" spc="-5">
                <a:latin typeface="Arial MT"/>
                <a:cs typeface="Arial MT"/>
              </a:rPr>
              <a:t>their writing skill and never allowed them to speak in English, then how they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have command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English speaking skill. This is also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misconception that students’ </a:t>
            </a:r>
            <a:r>
              <a:rPr dirty="0" sz="1200">
                <a:latin typeface="Arial MT"/>
                <a:cs typeface="Arial MT"/>
              </a:rPr>
              <a:t> learning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always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tests.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buFont typeface="Times New Roman"/>
              <a:buAutoNum type="arabicPeriod" startAt="5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Intelligence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fixed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capacity.</a:t>
            </a:r>
            <a:endParaRPr sz="1200">
              <a:latin typeface="Arial"/>
              <a:cs typeface="Arial"/>
            </a:endParaRPr>
          </a:p>
          <a:p>
            <a:pPr algn="just" marL="254635" marR="6985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Research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says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IQ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enough.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multiple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intelligence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theories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own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intelligence.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special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intelligence,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have interpersonal intelligence. There is a major focus on emotional intelligence.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expected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emotional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intelligence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endParaRPr sz="1200">
              <a:latin typeface="Arial MT"/>
              <a:cs typeface="Arial MT"/>
            </a:endParaRPr>
          </a:p>
          <a:p>
            <a:pPr algn="just" marL="254635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well.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IQ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redundant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term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these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days.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ranking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endParaRPr sz="1200">
              <a:latin typeface="Arial MT"/>
              <a:cs typeface="Arial MT"/>
            </a:endParaRPr>
          </a:p>
          <a:p>
            <a:pPr algn="just" marL="254635" marR="508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these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brilliant,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average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intelligence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low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achievers.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mostly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satisfied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that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‘slow learners’. </a:t>
            </a:r>
            <a:r>
              <a:rPr dirty="0" sz="1200">
                <a:latin typeface="Arial MT"/>
                <a:cs typeface="Arial MT"/>
              </a:rPr>
              <a:t>Learning </a:t>
            </a:r>
            <a:r>
              <a:rPr dirty="0" sz="1200" spc="-5">
                <a:latin typeface="Arial MT"/>
                <a:cs typeface="Arial MT"/>
              </a:rPr>
              <a:t>depends on prior learning; everyone </a:t>
            </a:r>
            <a:r>
              <a:rPr dirty="0" sz="1200">
                <a:latin typeface="Arial MT"/>
                <a:cs typeface="Arial MT"/>
              </a:rPr>
              <a:t>can be a slow </a:t>
            </a:r>
            <a:r>
              <a:rPr dirty="0" sz="1200" spc="-5">
                <a:latin typeface="Arial MT"/>
                <a:cs typeface="Arial MT"/>
              </a:rPr>
              <a:t>learner in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 situation.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buFont typeface="Times New Roman"/>
              <a:buAutoNum type="arabicPeriod" startAt="6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People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same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way.</a:t>
            </a:r>
            <a:endParaRPr sz="1200">
              <a:latin typeface="Arial"/>
              <a:cs typeface="Arial"/>
            </a:endParaRPr>
          </a:p>
          <a:p>
            <a:pPr algn="just" marL="254635" marR="1016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People have different </a:t>
            </a:r>
            <a:r>
              <a:rPr dirty="0" sz="1200">
                <a:latin typeface="Arial MT"/>
                <a:cs typeface="Arial MT"/>
              </a:rPr>
              <a:t>learning </a:t>
            </a:r>
            <a:r>
              <a:rPr dirty="0" sz="1200" spc="-5">
                <a:latin typeface="Arial MT"/>
                <a:cs typeface="Arial MT"/>
              </a:rPr>
              <a:t>styles. But we teachers assume that all students learn in a </a:t>
            </a:r>
            <a:r>
              <a:rPr dirty="0" sz="1200">
                <a:latin typeface="Arial MT"/>
                <a:cs typeface="Arial MT"/>
              </a:rPr>
              <a:t> same </a:t>
            </a:r>
            <a:r>
              <a:rPr dirty="0" sz="1200" spc="-5">
                <a:latin typeface="Arial MT"/>
                <a:cs typeface="Arial MT"/>
              </a:rPr>
              <a:t>way.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use the same teaching method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 and assume that every student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 got the </a:t>
            </a:r>
            <a:r>
              <a:rPr dirty="0" sz="1200">
                <a:latin typeface="Arial MT"/>
                <a:cs typeface="Arial MT"/>
              </a:rPr>
              <a:t>lesson </a:t>
            </a:r>
            <a:r>
              <a:rPr dirty="0" sz="1200" spc="-5">
                <a:latin typeface="Arial MT"/>
                <a:cs typeface="Arial MT"/>
              </a:rPr>
              <a:t>according to our expectations.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are diverse people, we have diverse </a:t>
            </a:r>
            <a:r>
              <a:rPr dirty="0" sz="1200">
                <a:latin typeface="Arial MT"/>
                <a:cs typeface="Arial MT"/>
              </a:rPr>
              <a:t> learning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styles.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responsibility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those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endParaRPr sz="1200">
              <a:latin typeface="Arial MT"/>
              <a:cs typeface="Arial MT"/>
            </a:endParaRPr>
          </a:p>
          <a:p>
            <a:pPr algn="just" marL="254635">
              <a:lnSpc>
                <a:spcPct val="100000"/>
              </a:lnSpc>
              <a:spcBef>
                <a:spcPts val="450"/>
              </a:spcBef>
            </a:pP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decision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makers;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autonomy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decide</a:t>
            </a:r>
            <a:endParaRPr sz="1200">
              <a:latin typeface="Arial MT"/>
              <a:cs typeface="Arial MT"/>
            </a:endParaRPr>
          </a:p>
          <a:p>
            <a:pPr algn="just" marL="254635" marR="889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fulfill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responsibility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justice.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50">
              <a:latin typeface="Arial MT"/>
              <a:cs typeface="Arial MT"/>
            </a:endParaRPr>
          </a:p>
          <a:p>
            <a:pPr marL="248285" marR="8890">
              <a:lnSpc>
                <a:spcPct val="145000"/>
              </a:lnSpc>
            </a:pP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some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assumptions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challenged.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have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ourselves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necessary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growth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8605392"/>
            <a:ext cx="7002780" cy="314325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 # 08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“Educational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Equity”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objectives: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8900540"/>
            <a:ext cx="6628130" cy="2844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 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 </a:t>
            </a:r>
            <a:r>
              <a:rPr dirty="0" sz="120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will have: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86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Reflected upon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‘educational equity’</a:t>
            </a:r>
            <a:endParaRPr sz="1200">
              <a:latin typeface="Arial MT"/>
              <a:cs typeface="Arial MT"/>
            </a:endParaRPr>
          </a:p>
          <a:p>
            <a:pPr marL="469900" marR="5715" indent="-228600">
              <a:lnSpc>
                <a:spcPct val="144200"/>
              </a:lnSpc>
              <a:spcBef>
                <a:spcPts val="7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Reflected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dimensions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diversity,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dimensions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are: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socioeconomic,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physical,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language, ability,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gender.</a:t>
            </a:r>
            <a:endParaRPr sz="1200">
              <a:latin typeface="Arial MT"/>
              <a:cs typeface="Arial MT"/>
            </a:endParaRPr>
          </a:p>
          <a:p>
            <a:pPr marL="469900" marR="5080" indent="-228600">
              <a:lnSpc>
                <a:spcPct val="144200"/>
              </a:lnSpc>
              <a:spcBef>
                <a:spcPts val="229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Devised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promote socioeconomic, physical,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language, ability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gender equity 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 school.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Outline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of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the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lesson: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Educational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equity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Kinds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diversity</a:t>
            </a:r>
            <a:endParaRPr sz="1200">
              <a:latin typeface="Arial"/>
              <a:cs typeface="Arial"/>
            </a:endParaRPr>
          </a:p>
          <a:p>
            <a:pPr marL="477520">
              <a:lnSpc>
                <a:spcPct val="100000"/>
              </a:lnSpc>
              <a:spcBef>
                <a:spcPts val="610"/>
              </a:spcBef>
              <a:tabLst>
                <a:tab pos="706120" algn="l"/>
              </a:tabLst>
            </a:pPr>
            <a:r>
              <a:rPr dirty="0" sz="1200" b="1">
                <a:latin typeface="Times New Roman"/>
                <a:cs typeface="Times New Roman"/>
              </a:rPr>
              <a:t>-	</a:t>
            </a:r>
            <a:r>
              <a:rPr dirty="0" sz="1200" spc="-5" b="1">
                <a:latin typeface="Arial"/>
                <a:cs typeface="Arial"/>
              </a:rPr>
              <a:t>Socioeconomic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diversity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1454" y="11922962"/>
            <a:ext cx="1689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33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54227"/>
            <a:ext cx="6635115" cy="1120267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706120" indent="-229235">
              <a:lnSpc>
                <a:spcPct val="100000"/>
              </a:lnSpc>
              <a:spcBef>
                <a:spcPts val="9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Physical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diversity</a:t>
            </a:r>
            <a:endParaRPr sz="1200">
              <a:latin typeface="Arial"/>
              <a:cs typeface="Arial"/>
            </a:endParaRPr>
          </a:p>
          <a:p>
            <a:pPr marL="70612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Ability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diversity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Categories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exceptionality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Intellectual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Communicative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Sensory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Behavioral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Physical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Multiple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Language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diversity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Strategies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integrate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address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language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diversity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Gender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diversity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Gender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equity</a:t>
            </a:r>
            <a:r>
              <a:rPr dirty="0" sz="1200" b="1">
                <a:latin typeface="Arial"/>
                <a:cs typeface="Arial"/>
              </a:rPr>
              <a:t> –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Stereotypes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Research </a:t>
            </a:r>
            <a:r>
              <a:rPr dirty="0" sz="1200" b="1">
                <a:latin typeface="Arial"/>
                <a:cs typeface="Arial"/>
              </a:rPr>
              <a:t>on </a:t>
            </a:r>
            <a:r>
              <a:rPr dirty="0" sz="1200" spc="-5" b="1">
                <a:latin typeface="Arial"/>
                <a:cs typeface="Arial"/>
              </a:rPr>
              <a:t>language </a:t>
            </a:r>
            <a:r>
              <a:rPr dirty="0" sz="1200" b="1">
                <a:latin typeface="Arial"/>
                <a:cs typeface="Arial"/>
              </a:rPr>
              <a:t>equity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stereotypes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Strategies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avoid </a:t>
            </a:r>
            <a:r>
              <a:rPr dirty="0" sz="1200" spc="-5" b="1">
                <a:latin typeface="Arial"/>
                <a:cs typeface="Arial"/>
              </a:rPr>
              <a:t>gender-bias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2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Encouraging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equity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classrooms.</a:t>
            </a:r>
            <a:endParaRPr sz="1200">
              <a:latin typeface="Arial"/>
              <a:cs typeface="Arial"/>
            </a:endParaRPr>
          </a:p>
          <a:p>
            <a:pPr algn="just" marL="18415" marR="7620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(Observe a </a:t>
            </a:r>
            <a:r>
              <a:rPr dirty="0" sz="1200">
                <a:latin typeface="Arial MT"/>
                <a:cs typeface="Arial MT"/>
              </a:rPr>
              <a:t>moss </a:t>
            </a:r>
            <a:r>
              <a:rPr dirty="0" sz="1200" spc="-10">
                <a:latin typeface="Arial MT"/>
                <a:cs typeface="Arial MT"/>
              </a:rPr>
              <a:t>ace in </a:t>
            </a:r>
            <a:r>
              <a:rPr dirty="0" sz="1200" spc="-5">
                <a:latin typeface="Arial MT"/>
                <a:cs typeface="Arial MT"/>
              </a:rPr>
              <a:t>the video lecture that is made by 7 year old children.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10">
                <a:latin typeface="Arial MT"/>
                <a:cs typeface="Arial MT"/>
              </a:rPr>
              <a:t>was </a:t>
            </a:r>
            <a:r>
              <a:rPr dirty="0" sz="1200" spc="-5">
                <a:latin typeface="Arial MT"/>
                <a:cs typeface="Arial MT"/>
              </a:rPr>
              <a:t>a 10/12 feet </a:t>
            </a:r>
            <a:r>
              <a:rPr dirty="0" sz="1200">
                <a:latin typeface="Arial MT"/>
                <a:cs typeface="Arial MT"/>
              </a:rPr>
              <a:t> moss ace; </a:t>
            </a:r>
            <a:r>
              <a:rPr dirty="0" sz="1200" spc="-5">
                <a:latin typeface="Arial MT"/>
                <a:cs typeface="Arial MT"/>
              </a:rPr>
              <a:t>every student was given </a:t>
            </a:r>
            <a:r>
              <a:rPr dirty="0" sz="1200" spc="-10">
                <a:latin typeface="Arial MT"/>
                <a:cs typeface="Arial MT"/>
              </a:rPr>
              <a:t>A4 </a:t>
            </a:r>
            <a:r>
              <a:rPr dirty="0" sz="1200" spc="-5">
                <a:latin typeface="Arial MT"/>
                <a:cs typeface="Arial MT"/>
              </a:rPr>
              <a:t>size paper </a:t>
            </a:r>
            <a:r>
              <a:rPr dirty="0" sz="1200" spc="15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draw different things. </a:t>
            </a:r>
            <a:r>
              <a:rPr dirty="0" sz="1200">
                <a:latin typeface="Arial MT"/>
                <a:cs typeface="Arial MT"/>
              </a:rPr>
              <a:t>Every </a:t>
            </a:r>
            <a:r>
              <a:rPr dirty="0" sz="1200" spc="-5">
                <a:latin typeface="Arial MT"/>
                <a:cs typeface="Arial MT"/>
              </a:rPr>
              <a:t>student draws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differently. You will observe that whole moss ace was made up of different components.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same way, </a:t>
            </a:r>
            <a:r>
              <a:rPr dirty="0" sz="1200" spc="-5">
                <a:latin typeface="Arial MT"/>
                <a:cs typeface="Arial MT"/>
              </a:rPr>
              <a:t>society is made up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different components/people.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All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components of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moss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ace were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-5">
                <a:latin typeface="Arial MT"/>
                <a:cs typeface="Arial MT"/>
              </a:rPr>
              <a:t>same </a:t>
            </a:r>
            <a:r>
              <a:rPr dirty="0" sz="1200">
                <a:latin typeface="Arial MT"/>
                <a:cs typeface="Arial MT"/>
              </a:rPr>
              <a:t>size. </a:t>
            </a:r>
            <a:r>
              <a:rPr dirty="0" sz="1200" spc="-5">
                <a:latin typeface="Arial MT"/>
                <a:cs typeface="Arial MT"/>
              </a:rPr>
              <a:t>Every student used the </a:t>
            </a:r>
            <a:r>
              <a:rPr dirty="0" sz="1200" spc="-10">
                <a:latin typeface="Arial MT"/>
                <a:cs typeface="Arial MT"/>
              </a:rPr>
              <a:t>A4 </a:t>
            </a:r>
            <a:r>
              <a:rPr dirty="0" sz="1200" spc="-5">
                <a:latin typeface="Arial MT"/>
                <a:cs typeface="Arial MT"/>
              </a:rPr>
              <a:t>size paper.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were same in the size but 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pattern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component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-10">
                <a:latin typeface="Arial MT"/>
                <a:cs typeface="Arial MT"/>
              </a:rPr>
              <a:t> we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think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differently,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45"/>
              </a:spcBef>
            </a:pPr>
            <a:r>
              <a:rPr dirty="0" sz="1200">
                <a:latin typeface="Arial MT"/>
                <a:cs typeface="Arial MT"/>
              </a:rPr>
              <a:t>came</a:t>
            </a:r>
            <a:r>
              <a:rPr dirty="0" sz="1200" spc="-5">
                <a:latin typeface="Arial MT"/>
                <a:cs typeface="Arial MT"/>
              </a:rPr>
              <a:t> up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designs.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 more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coloring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every drawing</a:t>
            </a:r>
            <a:endParaRPr sz="1200">
              <a:latin typeface="Arial MT"/>
              <a:cs typeface="Arial MT"/>
            </a:endParaRPr>
          </a:p>
          <a:p>
            <a:pPr algn="just" marL="18415" marR="10795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colored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smoothly,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white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spaces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drawing.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same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have</a:t>
            </a:r>
            <a:r>
              <a:rPr dirty="0" sz="1200" spc="-5">
                <a:latin typeface="Arial MT"/>
                <a:cs typeface="Arial MT"/>
              </a:rPr>
              <a:t> different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abilities).</a:t>
            </a:r>
            <a:endParaRPr sz="12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  <a:spcBef>
                <a:spcPts val="645"/>
              </a:spcBef>
            </a:pPr>
            <a:r>
              <a:rPr dirty="0" sz="1200" b="1">
                <a:latin typeface="Arial"/>
                <a:cs typeface="Arial"/>
              </a:rPr>
              <a:t>Lessons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from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picture: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79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whole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made</a:t>
            </a:r>
            <a:r>
              <a:rPr dirty="0" sz="1200" spc="-10" b="1">
                <a:latin typeface="Arial"/>
                <a:cs typeface="Arial"/>
              </a:rPr>
              <a:t> up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components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Though components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same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size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but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different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patterns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colors.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Children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think</a:t>
            </a:r>
            <a:r>
              <a:rPr dirty="0" sz="1200" spc="-5" b="1">
                <a:latin typeface="Arial"/>
                <a:cs typeface="Arial"/>
              </a:rPr>
              <a:t> differently.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Children vary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coloring </a:t>
            </a:r>
            <a:r>
              <a:rPr dirty="0" sz="1200" spc="-5" b="1">
                <a:latin typeface="Arial"/>
                <a:cs typeface="Arial"/>
              </a:rPr>
              <a:t>ability.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ct val="144300"/>
              </a:lnSpc>
              <a:spcBef>
                <a:spcPts val="980"/>
              </a:spcBef>
            </a:pPr>
            <a:r>
              <a:rPr dirty="0" sz="1200" spc="-5">
                <a:latin typeface="Arial MT"/>
                <a:cs typeface="Arial MT"/>
              </a:rPr>
              <a:t>(Observe another picture in which the teacher is teaching the students some steps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do.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 is composed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different kinds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people. Try to identify diversity and multiplicity.) </a:t>
            </a:r>
            <a:r>
              <a:rPr dirty="0" sz="1200" b="1">
                <a:latin typeface="Arial"/>
                <a:cs typeface="Arial"/>
              </a:rPr>
              <a:t>Lesson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learnt</a:t>
            </a:r>
            <a:r>
              <a:rPr dirty="0" sz="1200" spc="-5" b="1">
                <a:latin typeface="Arial"/>
                <a:cs typeface="Arial"/>
              </a:rPr>
              <a:t> from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second</a:t>
            </a:r>
            <a:r>
              <a:rPr dirty="0" sz="1200" b="1">
                <a:latin typeface="Arial"/>
                <a:cs typeface="Arial"/>
              </a:rPr>
              <a:t> picture: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660"/>
              </a:spcBef>
            </a:pP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vary</a:t>
            </a:r>
            <a:r>
              <a:rPr dirty="0" sz="1200" spc="-5">
                <a:latin typeface="Arial MT"/>
                <a:cs typeface="Arial MT"/>
              </a:rPr>
              <a:t> in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their: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77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Height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Color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79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Gender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Responses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Moods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79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Dressing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656335"/>
            <a:ext cx="6633845" cy="10677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77520" indent="-229235">
              <a:lnSpc>
                <a:spcPct val="100000"/>
              </a:lnSpc>
              <a:spcBef>
                <a:spcPts val="100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>
                <a:latin typeface="Arial MT"/>
                <a:cs typeface="Arial MT"/>
              </a:rPr>
              <a:t> can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>
                <a:latin typeface="Arial MT"/>
                <a:cs typeface="Arial MT"/>
              </a:rPr>
              <a:t> perform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same?</a:t>
            </a:r>
            <a:endParaRPr sz="1200">
              <a:latin typeface="Arial MT"/>
              <a:cs typeface="Arial MT"/>
            </a:endParaRPr>
          </a:p>
          <a:p>
            <a:pPr algn="just" marL="18415" marR="7620" indent="-6350">
              <a:lnSpc>
                <a:spcPct val="144200"/>
              </a:lnSpc>
              <a:spcBef>
                <a:spcPts val="1005"/>
              </a:spcBef>
            </a:pP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there is such variation/diversity, how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we expect them to think the same or perform </a:t>
            </a:r>
            <a:r>
              <a:rPr dirty="0" sz="1200" spc="-10">
                <a:latin typeface="Arial MT"/>
                <a:cs typeface="Arial MT"/>
              </a:rPr>
              <a:t>same? </a:t>
            </a:r>
            <a:r>
              <a:rPr dirty="0" sz="1200" spc="-5">
                <a:latin typeface="Arial MT"/>
                <a:cs typeface="Arial MT"/>
              </a:rPr>
              <a:t> When they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different, </a:t>
            </a:r>
            <a:r>
              <a:rPr dirty="0" sz="1200">
                <a:latin typeface="Arial MT"/>
                <a:cs typeface="Arial MT"/>
              </a:rPr>
              <a:t>they are </a:t>
            </a:r>
            <a:r>
              <a:rPr dirty="0" sz="1200" spc="-5">
                <a:latin typeface="Arial MT"/>
                <a:cs typeface="Arial MT"/>
              </a:rPr>
              <a:t>different in their height, colour, gender, dressing, moods etc.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definitely impossible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expect from them </a:t>
            </a:r>
            <a:r>
              <a:rPr dirty="0" sz="1200">
                <a:latin typeface="Arial MT"/>
                <a:cs typeface="Arial MT"/>
              </a:rPr>
              <a:t>to perform </a:t>
            </a:r>
            <a:r>
              <a:rPr dirty="0" sz="1200" spc="-5">
                <a:latin typeface="Arial MT"/>
                <a:cs typeface="Arial MT"/>
              </a:rPr>
              <a:t>alike. Being teachers, we need to know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thing</a:t>
            </a:r>
            <a:r>
              <a:rPr dirty="0" sz="1200" spc="-5">
                <a:latin typeface="Arial MT"/>
                <a:cs typeface="Arial MT"/>
              </a:rPr>
              <a:t> 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believe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diversity.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400" spc="-5" b="1">
                <a:latin typeface="Arial"/>
                <a:cs typeface="Arial"/>
              </a:rPr>
              <a:t>Educational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Equity</a:t>
            </a:r>
            <a:endParaRPr sz="14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45"/>
              </a:spcBef>
            </a:pPr>
            <a:r>
              <a:rPr dirty="0" sz="1200">
                <a:latin typeface="Arial MT"/>
                <a:cs typeface="Arial MT"/>
              </a:rPr>
              <a:t>Let’s </a:t>
            </a:r>
            <a:r>
              <a:rPr dirty="0" sz="1200" spc="-5">
                <a:latin typeface="Arial MT"/>
                <a:cs typeface="Arial MT"/>
              </a:rPr>
              <a:t>discuss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view point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educationists:</a:t>
            </a:r>
            <a:endParaRPr sz="1200">
              <a:latin typeface="Arial MT"/>
              <a:cs typeface="Arial MT"/>
            </a:endParaRPr>
          </a:p>
          <a:p>
            <a:pPr algn="just" marL="477520" indent="-229235">
              <a:lnSpc>
                <a:spcPct val="100000"/>
              </a:lnSpc>
              <a:spcBef>
                <a:spcPts val="780"/>
              </a:spcBef>
              <a:buFont typeface="Times New Roman"/>
              <a:buChar char="-"/>
              <a:tabLst>
                <a:tab pos="478155" algn="l"/>
                <a:tab pos="5278755" algn="l"/>
              </a:tabLst>
            </a:pP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only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raise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	(Sausa,2003)</a:t>
            </a:r>
            <a:endParaRPr sz="1200">
              <a:latin typeface="Arial MT"/>
              <a:cs typeface="Arial MT"/>
            </a:endParaRPr>
          </a:p>
          <a:p>
            <a:pPr marL="450215" marR="382905" indent="-201295">
              <a:lnSpc>
                <a:spcPts val="2260"/>
              </a:lnSpc>
              <a:spcBef>
                <a:spcPts val="200"/>
              </a:spcBef>
              <a:buFont typeface="Times New Roman"/>
              <a:buChar char="-"/>
              <a:tabLst>
                <a:tab pos="477520" algn="l"/>
                <a:tab pos="478155" algn="l"/>
                <a:tab pos="4681220" algn="l"/>
              </a:tabLst>
            </a:pPr>
            <a:r>
              <a:rPr dirty="0"/>
              <a:t>	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taught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affects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ways</a:t>
            </a:r>
            <a:r>
              <a:rPr dirty="0" sz="1200">
                <a:latin typeface="Arial MT"/>
                <a:cs typeface="Arial MT"/>
              </a:rPr>
              <a:t> they</a:t>
            </a:r>
            <a:r>
              <a:rPr dirty="0" sz="1200" spc="-5">
                <a:latin typeface="Arial MT"/>
                <a:cs typeface="Arial MT"/>
              </a:rPr>
              <a:t> will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thereafter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treat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others.	</a:t>
            </a:r>
            <a:r>
              <a:rPr dirty="0" sz="1200" spc="-5">
                <a:latin typeface="Arial MT"/>
                <a:cs typeface="Arial MT"/>
              </a:rPr>
              <a:t>(Schlesinger,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1993)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equity,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necessary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diversity first.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60"/>
              </a:spcBef>
            </a:pPr>
            <a:r>
              <a:rPr dirty="0" sz="1200" b="1">
                <a:latin typeface="Arial"/>
                <a:cs typeface="Arial"/>
              </a:rPr>
              <a:t>Equity </a:t>
            </a:r>
            <a:r>
              <a:rPr dirty="0" sz="1200" spc="-5" b="1">
                <a:latin typeface="Arial"/>
                <a:cs typeface="Arial"/>
              </a:rPr>
              <a:t>means that all students are treated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equally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well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that </a:t>
            </a:r>
            <a:r>
              <a:rPr dirty="0" sz="1200" b="1">
                <a:latin typeface="Arial"/>
                <a:cs typeface="Arial"/>
              </a:rPr>
              <a:t>all school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resources </a:t>
            </a:r>
            <a:r>
              <a:rPr dirty="0" u="heavy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are 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shared equally.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So, equity does not mean treating people equally by snubbing or scolding them. </a:t>
            </a:r>
            <a:r>
              <a:rPr dirty="0" sz="1200">
                <a:latin typeface="Arial MT"/>
                <a:cs typeface="Arial MT"/>
              </a:rPr>
              <a:t> But it </a:t>
            </a:r>
            <a:r>
              <a:rPr dirty="0" sz="1200" spc="-5">
                <a:latin typeface="Arial MT"/>
                <a:cs typeface="Arial MT"/>
              </a:rPr>
              <a:t>means that we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treat them well. Similarly, sharing of resources is also necessary and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400" spc="-5" b="1">
                <a:latin typeface="Arial"/>
                <a:cs typeface="Arial"/>
              </a:rPr>
              <a:t>Kinds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Diversity: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Socioeconomic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diversity</a:t>
            </a:r>
            <a:endParaRPr sz="1200">
              <a:latin typeface="Arial"/>
              <a:cs typeface="Arial"/>
            </a:endParaRPr>
          </a:p>
          <a:p>
            <a:pPr marL="47752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MT"/>
                <a:cs typeface="Arial MT"/>
              </a:rPr>
              <a:t>Socio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related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society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economic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financially.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socioeconomic</a:t>
            </a:r>
            <a:endParaRPr sz="1200">
              <a:latin typeface="Arial MT"/>
              <a:cs typeface="Arial MT"/>
            </a:endParaRPr>
          </a:p>
          <a:p>
            <a:pPr marL="483870" marR="1016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diversity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diversity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family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income,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parental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education,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parental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occupation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status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community.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5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Physical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diversity</a:t>
            </a:r>
            <a:endParaRPr sz="1200">
              <a:latin typeface="Arial"/>
              <a:cs typeface="Arial"/>
            </a:endParaRPr>
          </a:p>
          <a:p>
            <a:pPr marL="477520">
              <a:lnSpc>
                <a:spcPct val="100000"/>
              </a:lnSpc>
              <a:spcBef>
                <a:spcPts val="409"/>
              </a:spcBef>
            </a:pPr>
            <a:r>
              <a:rPr dirty="0" sz="1200">
                <a:latin typeface="Arial MT"/>
                <a:cs typeface="Arial MT"/>
              </a:rPr>
              <a:t>Elements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physical diversity </a:t>
            </a:r>
            <a:r>
              <a:rPr dirty="0" sz="1200">
                <a:latin typeface="Arial MT"/>
                <a:cs typeface="Arial MT"/>
              </a:rPr>
              <a:t>are:</a:t>
            </a:r>
            <a:endParaRPr sz="1200">
              <a:latin typeface="Arial MT"/>
              <a:cs typeface="Arial MT"/>
            </a:endParaRPr>
          </a:p>
          <a:p>
            <a:pPr algn="just" marL="477520" indent="-229235">
              <a:lnSpc>
                <a:spcPct val="100000"/>
              </a:lnSpc>
              <a:spcBef>
                <a:spcPts val="780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Age:</a:t>
            </a:r>
            <a:r>
              <a:rPr dirty="0" sz="1200" spc="-5">
                <a:latin typeface="Arial MT"/>
                <a:cs typeface="Arial MT"/>
              </a:rPr>
              <a:t> children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 </a:t>
            </a:r>
            <a:r>
              <a:rPr dirty="0" sz="1200">
                <a:latin typeface="Arial MT"/>
                <a:cs typeface="Arial MT"/>
              </a:rPr>
              <a:t>vary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ages.</a:t>
            </a:r>
            <a:endParaRPr sz="1200">
              <a:latin typeface="Arial MT"/>
              <a:cs typeface="Arial MT"/>
            </a:endParaRPr>
          </a:p>
          <a:p>
            <a:pPr algn="just" marL="47752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Physical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attributes: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vary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physically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i.e.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height,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weight,</a:t>
            </a:r>
            <a:r>
              <a:rPr dirty="0" sz="1200">
                <a:latin typeface="Arial MT"/>
                <a:cs typeface="Arial MT"/>
              </a:rPr>
              <a:t> colour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etc.</a:t>
            </a:r>
            <a:endParaRPr sz="1200">
              <a:latin typeface="Arial MT"/>
              <a:cs typeface="Arial MT"/>
            </a:endParaRPr>
          </a:p>
          <a:p>
            <a:pPr algn="just" marL="477520" marR="5080" indent="-228600">
              <a:lnSpc>
                <a:spcPct val="144200"/>
              </a:lnSpc>
              <a:spcBef>
                <a:spcPts val="60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Impairment and disabilities: some students </a:t>
            </a:r>
            <a:r>
              <a:rPr dirty="0" sz="1200">
                <a:latin typeface="Arial MT"/>
                <a:cs typeface="Arial MT"/>
              </a:rPr>
              <a:t>may </a:t>
            </a:r>
            <a:r>
              <a:rPr dirty="0" sz="1200" spc="-5">
                <a:latin typeface="Arial MT"/>
                <a:cs typeface="Arial MT"/>
              </a:rPr>
              <a:t>have weak </a:t>
            </a:r>
            <a:r>
              <a:rPr dirty="0" sz="1200" spc="-10">
                <a:latin typeface="Arial MT"/>
                <a:cs typeface="Arial MT"/>
              </a:rPr>
              <a:t>eye </a:t>
            </a:r>
            <a:r>
              <a:rPr dirty="0" sz="1200" spc="-5">
                <a:latin typeface="Arial MT"/>
                <a:cs typeface="Arial MT"/>
              </a:rPr>
              <a:t>sight;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that they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 spc="-10">
                <a:latin typeface="Arial MT"/>
                <a:cs typeface="Arial MT"/>
              </a:rPr>
              <a:t>eye </a:t>
            </a:r>
            <a:r>
              <a:rPr dirty="0" sz="1200" spc="-5">
                <a:latin typeface="Arial MT"/>
                <a:cs typeface="Arial MT"/>
              </a:rPr>
              <a:t>sight impairment. Some students are unable to walk appropriately or any other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impairment or disability.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being teachers,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important for us to know that people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 different physically. Our </a:t>
            </a:r>
            <a:r>
              <a:rPr dirty="0" sz="1200">
                <a:latin typeface="Arial MT"/>
                <a:cs typeface="Arial MT"/>
              </a:rPr>
              <a:t>full </a:t>
            </a:r>
            <a:r>
              <a:rPr dirty="0" sz="1200" spc="-5">
                <a:latin typeface="Arial MT"/>
                <a:cs typeface="Arial MT"/>
              </a:rPr>
              <a:t>attention should not be to the students who </a:t>
            </a:r>
            <a:r>
              <a:rPr dirty="0" sz="1200" spc="15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alike in some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 or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other but we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know that all students are not equal and provide them with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equal facilities in education.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have some children who have physical impairments 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disabilities,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address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needs.</a:t>
            </a:r>
            <a:endParaRPr sz="1200">
              <a:latin typeface="Arial MT"/>
              <a:cs typeface="Arial MT"/>
            </a:endParaRPr>
          </a:p>
          <a:p>
            <a:pPr marL="337185" indent="-96520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337820" algn="l"/>
              </a:tabLst>
            </a:pPr>
            <a:r>
              <a:rPr dirty="0" sz="1200" spc="-5" b="1">
                <a:latin typeface="Arial"/>
                <a:cs typeface="Arial"/>
              </a:rPr>
              <a:t>Ability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diversity</a:t>
            </a:r>
            <a:endParaRPr sz="1200">
              <a:latin typeface="Arial"/>
              <a:cs typeface="Arial"/>
            </a:endParaRPr>
          </a:p>
          <a:p>
            <a:pPr marL="47752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MT"/>
                <a:cs typeface="Arial MT"/>
              </a:rPr>
              <a:t>Ability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diversity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low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IQ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IQ</a:t>
            </a:r>
            <a:endParaRPr sz="1200">
              <a:latin typeface="Arial MT"/>
              <a:cs typeface="Arial MT"/>
            </a:endParaRPr>
          </a:p>
          <a:p>
            <a:pPr marL="483870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also</a:t>
            </a:r>
            <a:r>
              <a:rPr dirty="0" sz="1200" spc="-5">
                <a:latin typeface="Arial MT"/>
                <a:cs typeface="Arial MT"/>
              </a:rPr>
              <a:t> seem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context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exceptionality</a:t>
            </a:r>
            <a:r>
              <a:rPr dirty="0" sz="1200" spc="-5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  <a:p>
            <a:pPr marL="483870" marR="5080" indent="-6350">
              <a:lnSpc>
                <a:spcPct val="1442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exceptional.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 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 definitions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exceptionality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25">
                <a:latin typeface="Arial MT"/>
                <a:cs typeface="Arial MT"/>
              </a:rPr>
              <a:t>up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27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categories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it.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are: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400" spc="-5" b="1">
                <a:latin typeface="Arial"/>
                <a:cs typeface="Arial"/>
              </a:rPr>
              <a:t>Categories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exceptionality: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8611"/>
            <a:ext cx="6635115" cy="1115695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7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Intellectual</a:t>
            </a:r>
            <a:endParaRPr sz="1200">
              <a:latin typeface="Arial"/>
              <a:cs typeface="Arial"/>
            </a:endParaRPr>
          </a:p>
          <a:p>
            <a:pPr algn="just" marL="483870" marR="698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Being teachers, we assume that there is lot of intellectual diversity in our class.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not true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 people have different experiences, IQ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is not much diverse.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say that </a:t>
            </a:r>
            <a:r>
              <a:rPr dirty="0" sz="1200" spc="-10">
                <a:latin typeface="Arial MT"/>
                <a:cs typeface="Arial MT"/>
              </a:rPr>
              <a:t>these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IQ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low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IQ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10">
                <a:latin typeface="Arial MT"/>
                <a:cs typeface="Arial MT"/>
              </a:rPr>
              <a:t>we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label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with</a:t>
            </a:r>
            <a:endParaRPr sz="1200">
              <a:latin typeface="Arial MT"/>
              <a:cs typeface="Arial MT"/>
            </a:endParaRPr>
          </a:p>
          <a:p>
            <a:pPr algn="just" marL="483870">
              <a:lnSpc>
                <a:spcPct val="100000"/>
              </a:lnSpc>
              <a:spcBef>
                <a:spcPts val="455"/>
              </a:spcBef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‘slow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learners’.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accept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intellectual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diversity,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know</a:t>
            </a:r>
            <a:endParaRPr sz="1200">
              <a:latin typeface="Arial MT"/>
              <a:cs typeface="Arial MT"/>
            </a:endParaRPr>
          </a:p>
          <a:p>
            <a:pPr algn="just" marL="483870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5">
                <a:latin typeface="Arial MT"/>
                <a:cs typeface="Arial MT"/>
              </a:rPr>
              <a:t> how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-5">
                <a:latin typeface="Arial MT"/>
                <a:cs typeface="Arial MT"/>
              </a:rPr>
              <a:t> going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measure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intellectual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ability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our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Times New Roman"/>
              <a:buAutoNum type="arabicPeriod" startAt="2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Communicative</a:t>
            </a:r>
            <a:endParaRPr sz="1200">
              <a:latin typeface="Arial"/>
              <a:cs typeface="Arial"/>
            </a:endParaRPr>
          </a:p>
          <a:p>
            <a:pPr algn="just" marL="483870" indent="-6350">
              <a:lnSpc>
                <a:spcPct val="100000"/>
              </a:lnSpc>
              <a:spcBef>
                <a:spcPts val="610"/>
              </a:spcBef>
            </a:pPr>
            <a:r>
              <a:rPr dirty="0" sz="1200" spc="-5">
                <a:latin typeface="Arial MT"/>
                <a:cs typeface="Arial MT"/>
              </a:rPr>
              <a:t>Communicative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diversity means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vary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in</a:t>
            </a:r>
            <a:r>
              <a:rPr dirty="0" sz="1200" spc="-5">
                <a:latin typeface="Arial MT"/>
                <a:cs typeface="Arial MT"/>
              </a:rPr>
              <a:t> communication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endParaRPr sz="1200">
              <a:latin typeface="Arial MT"/>
              <a:cs typeface="Arial MT"/>
            </a:endParaRPr>
          </a:p>
          <a:p>
            <a:pPr algn="just" marL="483870" marR="11430">
              <a:lnSpc>
                <a:spcPct val="144000"/>
              </a:lnSpc>
            </a:pPr>
            <a:r>
              <a:rPr dirty="0" sz="1200">
                <a:latin typeface="Arial MT"/>
                <a:cs typeface="Arial MT"/>
              </a:rPr>
              <a:t>some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 spc="-10">
                <a:latin typeface="Arial MT"/>
                <a:cs typeface="Arial MT"/>
              </a:rPr>
              <a:t>who </a:t>
            </a:r>
            <a:r>
              <a:rPr dirty="0" sz="1200" spc="-5">
                <a:latin typeface="Arial MT"/>
                <a:cs typeface="Arial MT"/>
              </a:rPr>
              <a:t>stemmer very fluently, but the teacher needs to know that the students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can’t </a:t>
            </a:r>
            <a:r>
              <a:rPr dirty="0" sz="120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that.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responsibility </a:t>
            </a:r>
            <a:r>
              <a:rPr dirty="0" sz="1200">
                <a:latin typeface="Arial MT"/>
                <a:cs typeface="Arial MT"/>
              </a:rPr>
              <a:t>of a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some extent to do speech therapy of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 students. But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not possible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 spc="-10">
                <a:latin typeface="Arial MT"/>
                <a:cs typeface="Arial MT"/>
              </a:rPr>
              <a:t>teacher </a:t>
            </a:r>
            <a:r>
              <a:rPr dirty="0" sz="1200" spc="-5">
                <a:latin typeface="Arial MT"/>
                <a:cs typeface="Arial MT"/>
              </a:rPr>
              <a:t>in a great context.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student is feeling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embraced in speaking while standing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 </a:t>
            </a:r>
            <a:r>
              <a:rPr dirty="0" sz="120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he should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allowed to do written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AutoNum type="arabicPeriod" startAt="3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Sensory</a:t>
            </a:r>
            <a:endParaRPr sz="1200">
              <a:latin typeface="Arial"/>
              <a:cs typeface="Arial"/>
            </a:endParaRPr>
          </a:p>
          <a:p>
            <a:pPr algn="just" marL="483870" marR="698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Sensory diversity means that is related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your </a:t>
            </a:r>
            <a:r>
              <a:rPr dirty="0" sz="1200" spc="-5">
                <a:latin typeface="Arial MT"/>
                <a:cs typeface="Arial MT"/>
              </a:rPr>
              <a:t>senses. There are some students, </a:t>
            </a:r>
            <a:r>
              <a:rPr dirty="0" sz="1200" spc="-10">
                <a:latin typeface="Arial MT"/>
                <a:cs typeface="Arial MT"/>
              </a:rPr>
              <a:t>who </a:t>
            </a:r>
            <a:r>
              <a:rPr dirty="0" sz="1200" spc="-5">
                <a:latin typeface="Arial MT"/>
                <a:cs typeface="Arial MT"/>
              </a:rPr>
              <a:t>listen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loud; </a:t>
            </a:r>
            <a:r>
              <a:rPr dirty="0" sz="1200" spc="-5">
                <a:latin typeface="Arial MT"/>
                <a:cs typeface="Arial MT"/>
              </a:rPr>
              <a:t>some become threatened because </a:t>
            </a:r>
            <a:r>
              <a:rPr dirty="0" sz="1200">
                <a:latin typeface="Arial MT"/>
                <a:cs typeface="Arial MT"/>
              </a:rPr>
              <a:t>of loud </a:t>
            </a:r>
            <a:r>
              <a:rPr dirty="0" sz="1200" spc="-5">
                <a:latin typeface="Arial MT"/>
                <a:cs typeface="Arial MT"/>
              </a:rPr>
              <a:t>voice.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must know that there can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 sensory diversity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1095"/>
              </a:spcBef>
              <a:buFont typeface="Times New Roman"/>
              <a:buAutoNum type="arabicPeriod" startAt="4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Behavioral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 startAt="4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Physical</a:t>
            </a:r>
            <a:endParaRPr sz="1200">
              <a:latin typeface="Arial"/>
              <a:cs typeface="Arial"/>
            </a:endParaRPr>
          </a:p>
          <a:p>
            <a:pPr algn="just" marL="483870" marR="1079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Physical diversity means that students </a:t>
            </a:r>
            <a:r>
              <a:rPr dirty="0" sz="1200">
                <a:latin typeface="Arial MT"/>
                <a:cs typeface="Arial MT"/>
              </a:rPr>
              <a:t>vary </a:t>
            </a:r>
            <a:r>
              <a:rPr dirty="0" sz="1200" spc="-5">
                <a:latin typeface="Arial MT"/>
                <a:cs typeface="Arial MT"/>
              </a:rPr>
              <a:t>physically i.e. in their height, weight, color etc.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physical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diversity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comes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ability.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470"/>
              </a:spcBef>
              <a:buFont typeface="Times New Roman"/>
              <a:buAutoNum type="arabicPeriod" startAt="6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Multiple</a:t>
            </a:r>
            <a:endParaRPr sz="1200">
              <a:latin typeface="Arial"/>
              <a:cs typeface="Arial"/>
            </a:endParaRPr>
          </a:p>
          <a:p>
            <a:pPr algn="just" marL="483870" marR="9525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In multiple </a:t>
            </a:r>
            <a:r>
              <a:rPr dirty="0" sz="1200" spc="-5">
                <a:latin typeface="Arial MT"/>
                <a:cs typeface="Arial MT"/>
              </a:rPr>
              <a:t>diversity, dyslexia is included. It is a broader term, some students are </a:t>
            </a:r>
            <a:r>
              <a:rPr dirty="0" sz="1200">
                <a:latin typeface="Arial MT"/>
                <a:cs typeface="Arial MT"/>
              </a:rPr>
              <a:t>more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dyslexic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dyslexic.</a:t>
            </a:r>
            <a:endParaRPr sz="1200">
              <a:latin typeface="Arial MT"/>
              <a:cs typeface="Arial MT"/>
            </a:endParaRPr>
          </a:p>
          <a:p>
            <a:pPr algn="just" marL="483870" marR="5080" indent="-6350">
              <a:lnSpc>
                <a:spcPts val="2080"/>
              </a:lnSpc>
              <a:spcBef>
                <a:spcPts val="15"/>
              </a:spcBef>
            </a:pP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common thing that is seen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dyslexic </a:t>
            </a:r>
            <a:r>
              <a:rPr dirty="0" sz="1200" spc="-5">
                <a:latin typeface="Arial MT"/>
                <a:cs typeface="Arial MT"/>
              </a:rPr>
              <a:t>children that some used to write ‘B’ instead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10">
                <a:latin typeface="Arial MT"/>
                <a:cs typeface="Arial MT"/>
              </a:rPr>
              <a:t>‘D’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some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confused with ‘P’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‘9’.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feel that these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the problems with students </a:t>
            </a:r>
            <a:r>
              <a:rPr dirty="0" sz="1200">
                <a:latin typeface="Arial MT"/>
                <a:cs typeface="Arial MT"/>
              </a:rPr>
              <a:t> then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address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If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grade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2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grade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3,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mistakes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doesn’t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dyslexic.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developmental stage. So information of right and left brain is mixing up. This mixing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force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mistakes.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difficult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dyslexia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before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8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years.</a:t>
            </a:r>
            <a:endParaRPr sz="1200">
              <a:latin typeface="Arial MT"/>
              <a:cs typeface="Arial MT"/>
            </a:endParaRPr>
          </a:p>
          <a:p>
            <a:pPr algn="just" marL="483870">
              <a:lnSpc>
                <a:spcPct val="100000"/>
              </a:lnSpc>
              <a:spcBef>
                <a:spcPts val="445"/>
              </a:spcBef>
            </a:pP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need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there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certain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dyslexia.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Language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diversity:</a:t>
            </a:r>
            <a:endParaRPr sz="1400">
              <a:latin typeface="Arial"/>
              <a:cs typeface="Arial"/>
            </a:endParaRPr>
          </a:p>
          <a:p>
            <a:pPr algn="just" marL="12700" marR="13335">
              <a:lnSpc>
                <a:spcPts val="2060"/>
              </a:lnSpc>
              <a:spcBef>
                <a:spcPts val="115"/>
              </a:spcBef>
            </a:pPr>
            <a:r>
              <a:rPr dirty="0" sz="1200">
                <a:latin typeface="Arial MT"/>
                <a:cs typeface="Arial MT"/>
              </a:rPr>
              <a:t>Every </a:t>
            </a:r>
            <a:r>
              <a:rPr dirty="0" sz="1200" spc="-5">
                <a:latin typeface="Arial MT"/>
                <a:cs typeface="Arial MT"/>
              </a:rPr>
              <a:t>child has </a:t>
            </a:r>
            <a:r>
              <a:rPr dirty="0" sz="1200">
                <a:latin typeface="Arial MT"/>
                <a:cs typeface="Arial MT"/>
              </a:rPr>
              <a:t>his </a:t>
            </a:r>
            <a:r>
              <a:rPr dirty="0" sz="1200" spc="-10">
                <a:latin typeface="Arial MT"/>
                <a:cs typeface="Arial MT"/>
              </a:rPr>
              <a:t>own </a:t>
            </a:r>
            <a:r>
              <a:rPr dirty="0" sz="1200" spc="-5">
                <a:latin typeface="Arial MT"/>
                <a:cs typeface="Arial MT"/>
              </a:rPr>
              <a:t>first language. Some </a:t>
            </a:r>
            <a:r>
              <a:rPr dirty="0" sz="1200">
                <a:latin typeface="Arial MT"/>
                <a:cs typeface="Arial MT"/>
              </a:rPr>
              <a:t>have </a:t>
            </a:r>
            <a:r>
              <a:rPr dirty="0" sz="1200" spc="-5">
                <a:latin typeface="Arial MT"/>
                <a:cs typeface="Arial MT"/>
              </a:rPr>
              <a:t>Punjabi as their first language, some have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Pashto,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some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balochi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etc.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comes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language,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some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learn</a:t>
            </a:r>
            <a:endParaRPr sz="1200">
              <a:latin typeface="Arial MT"/>
              <a:cs typeface="Arial MT"/>
            </a:endParaRPr>
          </a:p>
          <a:p>
            <a:pPr algn="just" marL="18415" marR="8255">
              <a:lnSpc>
                <a:spcPts val="2080"/>
              </a:lnSpc>
            </a:pPr>
            <a:r>
              <a:rPr dirty="0" sz="1200" spc="-5">
                <a:latin typeface="Arial MT"/>
                <a:cs typeface="Arial MT"/>
              </a:rPr>
              <a:t>English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foreign language.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diversity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definitely present in our classrooms.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most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books are written in a foreign language then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 </a:t>
            </a:r>
            <a:r>
              <a:rPr dirty="0" sz="1200">
                <a:latin typeface="Arial MT"/>
                <a:cs typeface="Arial MT"/>
              </a:rPr>
              <a:t>it may </a:t>
            </a:r>
            <a:r>
              <a:rPr dirty="0" sz="1200" spc="-5">
                <a:latin typeface="Arial MT"/>
                <a:cs typeface="Arial MT"/>
              </a:rPr>
              <a:t>be taught? Students are not 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understand science concepts; the problem is that </a:t>
            </a:r>
            <a:r>
              <a:rPr dirty="0" sz="1200">
                <a:latin typeface="Arial MT"/>
                <a:cs typeface="Arial MT"/>
              </a:rPr>
              <a:t> they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those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presented.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6384" cy="11132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language you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>
                <a:latin typeface="Arial MT"/>
                <a:cs typeface="Arial MT"/>
              </a:rPr>
              <a:t>bilingual, </a:t>
            </a:r>
            <a:r>
              <a:rPr dirty="0" sz="1200" spc="-5">
                <a:latin typeface="Arial MT"/>
                <a:cs typeface="Arial MT"/>
              </a:rPr>
              <a:t>(bilingual means that </a:t>
            </a:r>
            <a:r>
              <a:rPr dirty="0" sz="1200">
                <a:latin typeface="Arial MT"/>
                <a:cs typeface="Arial MT"/>
              </a:rPr>
              <a:t>if you are </a:t>
            </a:r>
            <a:r>
              <a:rPr dirty="0" sz="1200" spc="-5">
                <a:latin typeface="Arial MT"/>
                <a:cs typeface="Arial MT"/>
              </a:rPr>
              <a:t>teaching them English and they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Urdu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use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Urdu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English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class).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this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bilingual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mood</a:t>
            </a:r>
            <a:r>
              <a:rPr dirty="0" sz="1200">
                <a:latin typeface="Arial MT"/>
                <a:cs typeface="Arial MT"/>
              </a:rPr>
              <a:t> may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ineffective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 spc="-5">
                <a:latin typeface="Arial MT"/>
                <a:cs typeface="Arial MT"/>
              </a:rPr>
              <a:t> another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15">
                <a:latin typeface="Arial MT"/>
                <a:cs typeface="Arial MT"/>
              </a:rPr>
              <a:t>was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presented.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immersion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model.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It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immerse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situation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language.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model </a:t>
            </a:r>
            <a:r>
              <a:rPr dirty="0" sz="1200">
                <a:latin typeface="Arial MT"/>
                <a:cs typeface="Arial MT"/>
              </a:rPr>
              <a:t>says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are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teach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Urdu language </a:t>
            </a:r>
            <a:r>
              <a:rPr dirty="0" sz="1200">
                <a:latin typeface="Arial MT"/>
                <a:cs typeface="Arial MT"/>
              </a:rPr>
              <a:t> then </a:t>
            </a:r>
            <a:r>
              <a:rPr dirty="0" sz="1200" spc="-5">
                <a:latin typeface="Arial MT"/>
                <a:cs typeface="Arial MT"/>
              </a:rPr>
              <a:t>you should not </a:t>
            </a:r>
            <a:r>
              <a:rPr dirty="0" sz="1200" spc="-10">
                <a:latin typeface="Arial MT"/>
                <a:cs typeface="Arial MT"/>
              </a:rPr>
              <a:t>talk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them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>
                <a:latin typeface="Arial MT"/>
                <a:cs typeface="Arial MT"/>
              </a:rPr>
              <a:t>first </a:t>
            </a:r>
            <a:r>
              <a:rPr dirty="0" sz="1200" spc="-5">
                <a:latin typeface="Arial MT"/>
                <a:cs typeface="Arial MT"/>
              </a:rPr>
              <a:t>language. When you will use Urdu language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class they </a:t>
            </a:r>
            <a:r>
              <a:rPr dirty="0" sz="1200" spc="-5">
                <a:latin typeface="Arial MT"/>
                <a:cs typeface="Arial MT"/>
              </a:rPr>
              <a:t>will listen and </a:t>
            </a:r>
            <a:r>
              <a:rPr dirty="0" sz="1200">
                <a:latin typeface="Arial MT"/>
                <a:cs typeface="Arial MT"/>
              </a:rPr>
              <a:t>try to </a:t>
            </a:r>
            <a:r>
              <a:rPr dirty="0" sz="1200" spc="-5">
                <a:latin typeface="Arial MT"/>
                <a:cs typeface="Arial MT"/>
              </a:rPr>
              <a:t>speak in </a:t>
            </a:r>
            <a:r>
              <a:rPr dirty="0" sz="1200" spc="-10">
                <a:latin typeface="Arial MT"/>
                <a:cs typeface="Arial MT"/>
              </a:rPr>
              <a:t>Urdu.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Vygotsky </a:t>
            </a:r>
            <a:r>
              <a:rPr dirty="0" sz="1200">
                <a:latin typeface="Arial MT"/>
                <a:cs typeface="Arial MT"/>
              </a:rPr>
              <a:t>says: “</a:t>
            </a:r>
            <a:r>
              <a:rPr dirty="0" sz="1200" b="1">
                <a:latin typeface="Arial"/>
                <a:cs typeface="Arial"/>
              </a:rPr>
              <a:t>Language </a:t>
            </a:r>
            <a:r>
              <a:rPr dirty="0" sz="1200" spc="-5" b="1">
                <a:latin typeface="Arial"/>
                <a:cs typeface="Arial"/>
              </a:rPr>
              <a:t>plays </a:t>
            </a:r>
            <a:r>
              <a:rPr dirty="0" sz="1200" b="1">
                <a:latin typeface="Arial"/>
                <a:cs typeface="Arial"/>
              </a:rPr>
              <a:t>an </a:t>
            </a:r>
            <a:r>
              <a:rPr dirty="0" sz="1200" spc="-5" b="1">
                <a:latin typeface="Arial"/>
                <a:cs typeface="Arial"/>
              </a:rPr>
              <a:t>important </a:t>
            </a:r>
            <a:r>
              <a:rPr dirty="0" sz="1200" b="1">
                <a:latin typeface="Arial"/>
                <a:cs typeface="Arial"/>
              </a:rPr>
              <a:t> role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5">
                <a:latin typeface="Arial MT"/>
                <a:cs typeface="Arial MT"/>
              </a:rPr>
              <a:t>”.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 diversity 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 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address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Strategies</a:t>
            </a:r>
            <a:r>
              <a:rPr dirty="0" sz="1400" b="1">
                <a:latin typeface="Arial"/>
                <a:cs typeface="Arial"/>
              </a:rPr>
              <a:t> to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integrate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address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language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diversity: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56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Avoid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forcing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pupils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speak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up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immediately.</a:t>
            </a:r>
            <a:endParaRPr sz="1200">
              <a:latin typeface="Arial"/>
              <a:cs typeface="Arial"/>
            </a:endParaRPr>
          </a:p>
          <a:p>
            <a:pPr algn="just" marL="483870" marR="12700" indent="-6350">
              <a:lnSpc>
                <a:spcPts val="2080"/>
              </a:lnSpc>
              <a:spcBef>
                <a:spcPts val="140"/>
              </a:spcBef>
            </a:pP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want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students a new language. Then you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>
                <a:latin typeface="Arial MT"/>
                <a:cs typeface="Arial MT"/>
              </a:rPr>
              <a:t>force </a:t>
            </a:r>
            <a:r>
              <a:rPr dirty="0" sz="1200" spc="-5">
                <a:latin typeface="Arial MT"/>
                <a:cs typeface="Arial MT"/>
              </a:rPr>
              <a:t>them to get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immediately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Give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think.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1110"/>
              </a:spcBef>
              <a:buFont typeface="Times New Roman"/>
              <a:buAutoNum type="arabicPeriod" startAt="2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Give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them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some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print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material.</a:t>
            </a:r>
            <a:endParaRPr sz="1200">
              <a:latin typeface="Arial"/>
              <a:cs typeface="Arial"/>
            </a:endParaRPr>
          </a:p>
          <a:p>
            <a:pPr algn="just" marL="483870" marR="10795" indent="36195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strategy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some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written/print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material.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going to learn a second language, then a child comprehends more on reading material.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are providing them with reading material then </a:t>
            </a:r>
            <a:r>
              <a:rPr dirty="0" sz="1200">
                <a:latin typeface="Arial MT"/>
                <a:cs typeface="Arial MT"/>
              </a:rPr>
              <a:t>actually </a:t>
            </a:r>
            <a:r>
              <a:rPr dirty="0" sz="1200" spc="-5">
                <a:latin typeface="Arial MT"/>
                <a:cs typeface="Arial MT"/>
              </a:rPr>
              <a:t>you are facilitating them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also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vocabulary.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1100"/>
              </a:spcBef>
              <a:buFont typeface="Times New Roman"/>
              <a:buAutoNum type="arabicPeriod" startAt="3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Try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talk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individually</a:t>
            </a:r>
            <a:r>
              <a:rPr dirty="0" sz="1200" b="1">
                <a:latin typeface="Arial"/>
                <a:cs typeface="Arial"/>
              </a:rPr>
              <a:t> to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students.</a:t>
            </a:r>
            <a:endParaRPr sz="1200">
              <a:latin typeface="Arial"/>
              <a:cs typeface="Arial"/>
            </a:endParaRPr>
          </a:p>
          <a:p>
            <a:pPr algn="just" marL="483870" marR="12700" indent="-6350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There is language diversity in your class in terms </a:t>
            </a:r>
            <a:r>
              <a:rPr dirty="0" sz="1200">
                <a:latin typeface="Arial MT"/>
                <a:cs typeface="Arial MT"/>
              </a:rPr>
              <a:t>of first </a:t>
            </a:r>
            <a:r>
              <a:rPr dirty="0" sz="1200" spc="-5">
                <a:latin typeface="Arial MT"/>
                <a:cs typeface="Arial MT"/>
              </a:rPr>
              <a:t>language of the students and </a:t>
            </a:r>
            <a:r>
              <a:rPr dirty="0" sz="1200" spc="-1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 language ability. When </a:t>
            </a:r>
            <a:r>
              <a:rPr dirty="0" sz="1200">
                <a:latin typeface="Arial MT"/>
                <a:cs typeface="Arial MT"/>
              </a:rPr>
              <a:t>you are </a:t>
            </a:r>
            <a:r>
              <a:rPr dirty="0" sz="1200" spc="-5">
                <a:latin typeface="Arial MT"/>
                <a:cs typeface="Arial MT"/>
              </a:rPr>
              <a:t>addressing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a whole </a:t>
            </a:r>
            <a:r>
              <a:rPr dirty="0" sz="1200" spc="-1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probably students are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develop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language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ability. You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teach them</a:t>
            </a:r>
            <a:r>
              <a:rPr dirty="0" sz="1200">
                <a:latin typeface="Arial MT"/>
                <a:cs typeface="Arial MT"/>
              </a:rPr>
              <a:t> 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one </a:t>
            </a:r>
            <a:r>
              <a:rPr dirty="0" sz="1200">
                <a:latin typeface="Arial MT"/>
                <a:cs typeface="Arial MT"/>
              </a:rPr>
              <a:t>basis.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1110"/>
              </a:spcBef>
              <a:buFont typeface="Times New Roman"/>
              <a:buAutoNum type="arabicPeriod" startAt="4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Start</a:t>
            </a:r>
            <a:r>
              <a:rPr dirty="0" sz="1200" spc="-5" b="1">
                <a:latin typeface="Arial"/>
                <a:cs typeface="Arial"/>
              </a:rPr>
              <a:t> lesson</a:t>
            </a:r>
            <a:r>
              <a:rPr dirty="0" sz="1200" b="1">
                <a:latin typeface="Arial"/>
                <a:cs typeface="Arial"/>
              </a:rPr>
              <a:t> with</a:t>
            </a:r>
            <a:r>
              <a:rPr dirty="0" sz="1200" spc="-5" b="1">
                <a:latin typeface="Arial"/>
                <a:cs typeface="Arial"/>
              </a:rPr>
              <a:t> simple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questions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having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‘yes’</a:t>
            </a:r>
            <a:r>
              <a:rPr dirty="0" sz="1200" b="1">
                <a:latin typeface="Arial"/>
                <a:cs typeface="Arial"/>
              </a:rPr>
              <a:t> or ‘no’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answer.</a:t>
            </a:r>
            <a:endParaRPr sz="1200">
              <a:latin typeface="Arial"/>
              <a:cs typeface="Arial"/>
            </a:endParaRPr>
          </a:p>
          <a:p>
            <a:pPr algn="just" marL="483870" marR="12700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doesn’t mean that students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learning only </a:t>
            </a:r>
            <a:r>
              <a:rPr dirty="0" sz="1200">
                <a:latin typeface="Arial MT"/>
                <a:cs typeface="Arial MT"/>
              </a:rPr>
              <a:t>yes or </a:t>
            </a:r>
            <a:r>
              <a:rPr dirty="0" sz="1200" spc="-5">
                <a:latin typeface="Arial MT"/>
                <a:cs typeface="Arial MT"/>
              </a:rPr>
              <a:t>no in the language but actually </a:t>
            </a:r>
            <a:r>
              <a:rPr dirty="0" sz="1200" spc="-10">
                <a:latin typeface="Arial MT"/>
                <a:cs typeface="Arial MT"/>
              </a:rPr>
              <a:t>when </a:t>
            </a:r>
            <a:r>
              <a:rPr dirty="0" sz="1200" spc="-5">
                <a:latin typeface="Arial MT"/>
                <a:cs typeface="Arial MT"/>
              </a:rPr>
              <a:t> you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asking those questions, they are listening </a:t>
            </a:r>
            <a:r>
              <a:rPr dirty="0" sz="1200">
                <a:latin typeface="Arial MT"/>
                <a:cs typeface="Arial MT"/>
              </a:rPr>
              <a:t>to the whole </a:t>
            </a:r>
            <a:r>
              <a:rPr dirty="0" sz="1200" spc="-5">
                <a:latin typeface="Arial MT"/>
                <a:cs typeface="Arial MT"/>
              </a:rPr>
              <a:t>question and they 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focusing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vocabulary. They will learn how to ask questions and secondly, they </a:t>
            </a:r>
            <a:r>
              <a:rPr dirty="0" sz="1200" spc="-10">
                <a:latin typeface="Arial MT"/>
                <a:cs typeface="Arial MT"/>
              </a:rPr>
              <a:t>will </a:t>
            </a:r>
            <a:r>
              <a:rPr dirty="0" sz="1200" spc="-5">
                <a:latin typeface="Arial MT"/>
                <a:cs typeface="Arial MT"/>
              </a:rPr>
              <a:t> develop confidence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1100"/>
              </a:spcBef>
              <a:buFont typeface="Times New Roman"/>
              <a:buAutoNum type="arabicPeriod" startAt="5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possible,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satisfactory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unsatisfactory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grading.</a:t>
            </a:r>
            <a:endParaRPr sz="1200">
              <a:latin typeface="Arial"/>
              <a:cs typeface="Arial"/>
            </a:endParaRPr>
          </a:p>
          <a:p>
            <a:pPr algn="just" marL="483870" indent="-6350">
              <a:lnSpc>
                <a:spcPct val="100000"/>
              </a:lnSpc>
              <a:spcBef>
                <a:spcPts val="615"/>
              </a:spcBef>
            </a:pPr>
            <a:r>
              <a:rPr dirty="0" sz="1200">
                <a:latin typeface="Arial MT"/>
                <a:cs typeface="Arial MT"/>
              </a:rPr>
              <a:t>Grade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satisfactory 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unsatisfactory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instead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‘fail’ because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word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‘fail’</a:t>
            </a:r>
            <a:endParaRPr sz="1200">
              <a:latin typeface="Arial MT"/>
              <a:cs typeface="Arial MT"/>
            </a:endParaRPr>
          </a:p>
          <a:p>
            <a:pPr algn="just" marL="483870" marR="17145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has a negative effect on the learning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students. When children come </a:t>
            </a:r>
            <a:r>
              <a:rPr dirty="0" sz="1200" spc="-10">
                <a:latin typeface="Arial MT"/>
                <a:cs typeface="Arial MT"/>
              </a:rPr>
              <a:t>up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 certain </a:t>
            </a:r>
            <a:r>
              <a:rPr dirty="0" sz="1200">
                <a:latin typeface="Arial MT"/>
                <a:cs typeface="Arial MT"/>
              </a:rPr>
              <a:t> level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improvement then use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grading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pass</a:t>
            </a:r>
            <a:r>
              <a:rPr dirty="0" sz="1200" spc="-5">
                <a:latin typeface="Arial MT"/>
                <a:cs typeface="Arial MT"/>
              </a:rPr>
              <a:t> 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fail</a:t>
            </a:r>
            <a:r>
              <a:rPr dirty="0" sz="1200">
                <a:latin typeface="Arial MT"/>
                <a:cs typeface="Arial MT"/>
              </a:rPr>
              <a:t> or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grades </a:t>
            </a:r>
            <a:r>
              <a:rPr dirty="0" sz="1200">
                <a:latin typeface="Arial MT"/>
                <a:cs typeface="Arial MT"/>
              </a:rPr>
              <a:t>A,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etc.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Gender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diversity:</a:t>
            </a:r>
            <a:endParaRPr sz="14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50"/>
              </a:spcBef>
            </a:pPr>
            <a:r>
              <a:rPr dirty="0" sz="1200" spc="-5">
                <a:latin typeface="Arial MT"/>
                <a:cs typeface="Arial MT"/>
              </a:rPr>
              <a:t>Gender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diversity means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difference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gender.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35"/>
              </a:spcBef>
            </a:pPr>
            <a:r>
              <a:rPr dirty="0" sz="1200" b="1">
                <a:latin typeface="Arial"/>
                <a:cs typeface="Arial"/>
              </a:rPr>
              <a:t>Gender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Equity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–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Stereotypes: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Girls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start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speaking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early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boys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later, boys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become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sharp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intelligent.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Girls/women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gossipy.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Girls 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committed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carriers.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2515"/>
            <a:ext cx="6633845" cy="1125283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477520" indent="-229235">
              <a:lnSpc>
                <a:spcPct val="100000"/>
              </a:lnSpc>
              <a:spcBef>
                <a:spcPts val="760"/>
              </a:spcBef>
              <a:buFont typeface="Times New Roman"/>
              <a:buAutoNum type="arabicPeriod" startAt="4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Girls</a:t>
            </a:r>
            <a:r>
              <a:rPr dirty="0" sz="1200">
                <a:latin typeface="Arial MT"/>
                <a:cs typeface="Arial MT"/>
              </a:rPr>
              <a:t> perform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science.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 startAt="4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Girls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lack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decision-making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hold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key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positions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institutes,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societies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clubs.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Gender Equity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–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Research</a:t>
            </a:r>
            <a:r>
              <a:rPr dirty="0" sz="1200" b="1">
                <a:latin typeface="Arial"/>
                <a:cs typeface="Arial"/>
              </a:rPr>
              <a:t> 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above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stereotypes:</a:t>
            </a:r>
            <a:endParaRPr sz="1200">
              <a:latin typeface="Arial"/>
              <a:cs typeface="Arial"/>
            </a:endParaRPr>
          </a:p>
          <a:p>
            <a:pPr marL="477520" marR="5080" indent="-228600">
              <a:lnSpc>
                <a:spcPct val="145000"/>
              </a:lnSpc>
              <a:spcBef>
                <a:spcPts val="21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administrators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Zealand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were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shown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films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 and asked who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talking more,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overwhelming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‘girls’.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reality,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boys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film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‘out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talked’ girls</a:t>
            </a:r>
            <a:r>
              <a:rPr dirty="0" sz="1200">
                <a:latin typeface="Arial MT"/>
                <a:cs typeface="Arial MT"/>
              </a:rPr>
              <a:t> at a </a:t>
            </a:r>
            <a:r>
              <a:rPr dirty="0" sz="1200" spc="-5">
                <a:latin typeface="Arial MT"/>
                <a:cs typeface="Arial MT"/>
              </a:rPr>
              <a:t>ratio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3:1.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7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study,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 also shown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men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speak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fluently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interrupt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women.</a:t>
            </a:r>
            <a:endParaRPr sz="1200">
              <a:latin typeface="Arial MT"/>
              <a:cs typeface="Arial MT"/>
            </a:endParaRPr>
          </a:p>
          <a:p>
            <a:pPr marL="477520" marR="10795" indent="-228600">
              <a:lnSpc>
                <a:spcPct val="144200"/>
              </a:lnSpc>
              <a:spcBef>
                <a:spcPts val="60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scientist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Magazine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reports: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‘For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part,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basic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architecture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brain,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its fundamental workings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thought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same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sexes.’</a:t>
            </a:r>
            <a:endParaRPr sz="1200">
              <a:latin typeface="Arial MT"/>
              <a:cs typeface="Arial MT"/>
            </a:endParaRPr>
          </a:p>
          <a:p>
            <a:pPr marL="477520" marR="5715" indent="-228600">
              <a:lnSpc>
                <a:spcPct val="144200"/>
              </a:lnSpc>
              <a:spcBef>
                <a:spcPts val="240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Parts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frontal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lobe,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houses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decision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making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solving,</a:t>
            </a:r>
            <a:r>
              <a:rPr dirty="0" sz="1200" spc="10">
                <a:latin typeface="Arial MT"/>
                <a:cs typeface="Arial MT"/>
              </a:rPr>
              <a:t> are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proportionally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larger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women.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(Research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Harvard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Medical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Strategies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avoid </a:t>
            </a:r>
            <a:r>
              <a:rPr dirty="0" sz="1200" spc="-5" b="1">
                <a:latin typeface="Arial"/>
                <a:cs typeface="Arial"/>
              </a:rPr>
              <a:t>gender-bias: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75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Call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girls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often</a:t>
            </a:r>
            <a:r>
              <a:rPr dirty="0" sz="1200" spc="-10">
                <a:latin typeface="Arial MT"/>
                <a:cs typeface="Arial MT"/>
              </a:rPr>
              <a:t> as</a:t>
            </a:r>
            <a:r>
              <a:rPr dirty="0" sz="1200">
                <a:latin typeface="Arial MT"/>
                <a:cs typeface="Arial MT"/>
              </a:rPr>
              <a:t> you </a:t>
            </a:r>
            <a:r>
              <a:rPr dirty="0" sz="1200" spc="-5">
                <a:latin typeface="Arial MT"/>
                <a:cs typeface="Arial MT"/>
              </a:rPr>
              <a:t>call </a:t>
            </a:r>
            <a:r>
              <a:rPr dirty="0" sz="1200">
                <a:latin typeface="Arial MT"/>
                <a:cs typeface="Arial MT"/>
              </a:rPr>
              <a:t>boys.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Pick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texts,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movies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gender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discrimination.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79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Rotating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responsibilities.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 opportunities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boys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girls.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-"/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Encouraging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equity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classrooms:</a:t>
            </a:r>
            <a:endParaRPr sz="1400">
              <a:latin typeface="Arial"/>
              <a:cs typeface="Arial"/>
            </a:endParaRPr>
          </a:p>
          <a:p>
            <a:pPr algn="just" marL="477520" marR="5715" indent="-228600">
              <a:lnSpc>
                <a:spcPts val="2080"/>
              </a:lnSpc>
              <a:spcBef>
                <a:spcPts val="85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Observe carefully: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 student is performing a </a:t>
            </a:r>
            <a:r>
              <a:rPr dirty="0" sz="1200">
                <a:latin typeface="Arial MT"/>
                <a:cs typeface="Arial MT"/>
              </a:rPr>
              <a:t>task,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observe carefully about his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5">
                <a:latin typeface="Arial MT"/>
                <a:cs typeface="Arial MT"/>
              </a:rPr>
              <a:t> identify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 diversity,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physical</a:t>
            </a:r>
            <a:r>
              <a:rPr dirty="0" sz="1200" spc="-5">
                <a:latin typeface="Arial MT"/>
                <a:cs typeface="Arial MT"/>
              </a:rPr>
              <a:t> ability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behaviour.</a:t>
            </a:r>
            <a:endParaRPr sz="1200">
              <a:latin typeface="Arial MT"/>
              <a:cs typeface="Arial MT"/>
            </a:endParaRPr>
          </a:p>
          <a:p>
            <a:pPr algn="just" marL="477520" marR="11430" indent="-228600">
              <a:lnSpc>
                <a:spcPts val="2080"/>
              </a:lnSpc>
              <a:spcBef>
                <a:spcPts val="15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Set the tone: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say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teacher is a role model, he is promoting educational equity. </a:t>
            </a:r>
            <a:r>
              <a:rPr dirty="0" sz="1200" spc="-1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others</a:t>
            </a:r>
            <a:r>
              <a:rPr dirty="0" sz="1200" spc="-5">
                <a:latin typeface="Arial MT"/>
                <a:cs typeface="Arial MT"/>
              </a:rPr>
              <a:t> will</a:t>
            </a:r>
            <a:r>
              <a:rPr dirty="0" sz="1200">
                <a:latin typeface="Arial MT"/>
                <a:cs typeface="Arial MT"/>
              </a:rPr>
              <a:t> learn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5">
                <a:latin typeface="Arial MT"/>
                <a:cs typeface="Arial MT"/>
              </a:rPr>
              <a:t> him.</a:t>
            </a:r>
            <a:endParaRPr sz="1200">
              <a:latin typeface="Arial MT"/>
              <a:cs typeface="Arial MT"/>
            </a:endParaRPr>
          </a:p>
          <a:p>
            <a:pPr algn="just" marL="477520" marR="5080" indent="-228600">
              <a:lnSpc>
                <a:spcPts val="2080"/>
              </a:lnSpc>
              <a:spcBef>
                <a:spcPts val="5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Involve </a:t>
            </a:r>
            <a:r>
              <a:rPr dirty="0" sz="1200" spc="-5" b="1">
                <a:latin typeface="Arial"/>
                <a:cs typeface="Arial"/>
              </a:rPr>
              <a:t>others: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involve others in </a:t>
            </a:r>
            <a:r>
              <a:rPr dirty="0" sz="1200">
                <a:latin typeface="Arial MT"/>
                <a:cs typeface="Arial MT"/>
              </a:rPr>
              <a:t>learning. </a:t>
            </a:r>
            <a:r>
              <a:rPr dirty="0" sz="1200" spc="-5">
                <a:latin typeface="Arial MT"/>
                <a:cs typeface="Arial MT"/>
              </a:rPr>
              <a:t>Unless you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involve them they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feel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E.g.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-10">
                <a:latin typeface="Arial MT"/>
                <a:cs typeface="Arial MT"/>
              </a:rPr>
              <a:t> 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visually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impaired,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make </a:t>
            </a:r>
            <a:r>
              <a:rPr dirty="0" sz="1200" spc="-5">
                <a:latin typeface="Arial MT"/>
                <a:cs typeface="Arial MT"/>
              </a:rPr>
              <a:t>enlarged photo copies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them and </a:t>
            </a:r>
            <a:r>
              <a:rPr dirty="0" sz="1200">
                <a:latin typeface="Arial MT"/>
                <a:cs typeface="Arial MT"/>
              </a:rPr>
              <a:t>for this </a:t>
            </a:r>
            <a:r>
              <a:rPr dirty="0" sz="1200" spc="-5">
                <a:latin typeface="Arial MT"/>
                <a:cs typeface="Arial MT"/>
              </a:rPr>
              <a:t>purpose you </a:t>
            </a:r>
            <a:r>
              <a:rPr dirty="0" sz="1200" spc="-10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involve other </a:t>
            </a:r>
            <a:r>
              <a:rPr dirty="0" sz="1200" spc="-5">
                <a:latin typeface="Arial MT"/>
                <a:cs typeface="Arial MT"/>
              </a:rPr>
              <a:t>people.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address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-"/>
            </a:pPr>
            <a:endParaRPr sz="1150">
              <a:latin typeface="Arial MT"/>
              <a:cs typeface="Arial MT"/>
            </a:endParaRPr>
          </a:p>
          <a:p>
            <a:pPr algn="just" marL="477520" marR="10160" indent="-228600">
              <a:lnSpc>
                <a:spcPct val="144200"/>
              </a:lnSpc>
              <a:buFont typeface="Times New Roman"/>
              <a:buChar char="-"/>
              <a:tabLst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Promote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autonomy: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make</a:t>
            </a:r>
            <a:r>
              <a:rPr dirty="0" sz="1200" spc="-5">
                <a:latin typeface="Arial MT"/>
                <a:cs typeface="Arial MT"/>
              </a:rPr>
              <a:t> people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independent;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educational equity. If you keep people dependent,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that you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not promoting </a:t>
            </a:r>
            <a:r>
              <a:rPr dirty="0" sz="1200">
                <a:latin typeface="Arial MT"/>
                <a:cs typeface="Arial MT"/>
              </a:rPr>
              <a:t> equity.</a:t>
            </a:r>
            <a:endParaRPr sz="1200">
              <a:latin typeface="Arial MT"/>
              <a:cs typeface="Arial MT"/>
            </a:endParaRPr>
          </a:p>
          <a:p>
            <a:pPr algn="just" marL="477520" marR="8255" indent="-228600">
              <a:lnSpc>
                <a:spcPct val="144200"/>
              </a:lnSpc>
              <a:spcBef>
                <a:spcPts val="20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Organize </a:t>
            </a:r>
            <a:r>
              <a:rPr dirty="0" sz="1200" spc="-5" b="1">
                <a:latin typeface="Arial"/>
                <a:cs typeface="Arial"/>
              </a:rPr>
              <a:t>support groups: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are facing any issue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diversity, then you will find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solution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support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other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people.</a:t>
            </a:r>
            <a:endParaRPr sz="1200">
              <a:latin typeface="Arial MT"/>
              <a:cs typeface="Arial MT"/>
            </a:endParaRPr>
          </a:p>
          <a:p>
            <a:pPr algn="just" marL="477520" marR="8255" indent="-228600">
              <a:lnSpc>
                <a:spcPct val="144200"/>
              </a:lnSpc>
              <a:spcBef>
                <a:spcPts val="15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Celebrate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learning: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celebrate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appreciate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 algn="just" marL="477520" marR="8890" indent="-228600">
              <a:lnSpc>
                <a:spcPct val="144200"/>
              </a:lnSpc>
              <a:spcBef>
                <a:spcPts val="25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Celebrate diversity: </a:t>
            </a:r>
            <a:r>
              <a:rPr dirty="0" sz="1200" spc="-5">
                <a:latin typeface="Arial MT"/>
                <a:cs typeface="Arial MT"/>
              </a:rPr>
              <a:t>we have made uniform compulsory in the schools and expect that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also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 uniform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>
                <a:latin typeface="Arial MT"/>
                <a:cs typeface="Arial MT"/>
              </a:rPr>
              <a:t>thinking.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we need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celebrate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diversity.</a:t>
            </a:r>
            <a:endParaRPr sz="1200">
              <a:latin typeface="Arial MT"/>
              <a:cs typeface="Arial MT"/>
            </a:endParaRPr>
          </a:p>
          <a:p>
            <a:pPr algn="just" marL="477520" marR="6350" indent="-228600">
              <a:lnSpc>
                <a:spcPct val="144200"/>
              </a:lnSpc>
              <a:spcBef>
                <a:spcPts val="10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Instill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pride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workmanship: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workmanship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competent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-5">
                <a:latin typeface="Arial MT"/>
                <a:cs typeface="Arial MT"/>
              </a:rPr>
              <a:t> can reach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excellence. 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-5">
                <a:latin typeface="Arial MT"/>
                <a:cs typeface="Arial MT"/>
              </a:rPr>
              <a:t> have </a:t>
            </a:r>
            <a:r>
              <a:rPr dirty="0" sz="1200">
                <a:latin typeface="Arial MT"/>
                <a:cs typeface="Arial MT"/>
              </a:rPr>
              <a:t>to take </a:t>
            </a:r>
            <a:r>
              <a:rPr dirty="0" sz="1200" spc="-5">
                <a:latin typeface="Arial MT"/>
                <a:cs typeface="Arial MT"/>
              </a:rPr>
              <a:t>students towards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excellence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diversity.</a:t>
            </a:r>
            <a:endParaRPr sz="1200">
              <a:latin typeface="Arial MT"/>
              <a:cs typeface="Arial MT"/>
            </a:endParaRPr>
          </a:p>
          <a:p>
            <a:pPr algn="just" marL="255270" marR="10795" indent="-6350">
              <a:lnSpc>
                <a:spcPct val="144100"/>
              </a:lnSpc>
              <a:spcBef>
                <a:spcPts val="985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are different beings,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is diversity. Being teachers,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celebrate diversity.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promote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equity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schools.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36317"/>
            <a:ext cx="6637020" cy="10810240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400" spc="-5" b="1">
                <a:latin typeface="Arial"/>
                <a:cs typeface="Arial"/>
              </a:rPr>
              <a:t>Comments:</a:t>
            </a:r>
            <a:endParaRPr sz="1400">
              <a:latin typeface="Arial"/>
              <a:cs typeface="Arial"/>
            </a:endParaRPr>
          </a:p>
          <a:p>
            <a:pPr algn="just" marL="477520" marR="5715" indent="-228600">
              <a:lnSpc>
                <a:spcPct val="142600"/>
              </a:lnSpc>
              <a:spcBef>
                <a:spcPts val="175"/>
              </a:spcBef>
              <a:buClr>
                <a:srgbClr val="333333"/>
              </a:buClr>
              <a:buChar char="•"/>
              <a:tabLst>
                <a:tab pos="351790" algn="l"/>
              </a:tabLst>
            </a:pPr>
            <a:r>
              <a:rPr dirty="0" sz="1200" spc="-5">
                <a:latin typeface="Arial MT"/>
                <a:cs typeface="Arial MT"/>
              </a:rPr>
              <a:t>The term </a:t>
            </a:r>
            <a:r>
              <a:rPr dirty="0" sz="1200" spc="-5" b="1">
                <a:latin typeface="Arial"/>
                <a:cs typeface="Arial"/>
              </a:rPr>
              <a:t>Dyslexia </a:t>
            </a:r>
            <a:r>
              <a:rPr dirty="0" sz="1200" spc="-5">
                <a:latin typeface="Arial MT"/>
                <a:cs typeface="Arial MT"/>
              </a:rPr>
              <a:t>is used while explaining </a:t>
            </a:r>
            <a:r>
              <a:rPr dirty="0" sz="1200">
                <a:latin typeface="Arial MT"/>
                <a:cs typeface="Arial MT"/>
              </a:rPr>
              <a:t>multiple </a:t>
            </a:r>
            <a:r>
              <a:rPr dirty="0" sz="1200" spc="-5">
                <a:latin typeface="Arial MT"/>
                <a:cs typeface="Arial MT"/>
              </a:rPr>
              <a:t>diversity among people. But this term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 not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explained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clearly.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Dyslexia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means: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Problems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with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reading,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writing,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spelling,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symbols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and </a:t>
            </a:r>
            <a:r>
              <a:rPr dirty="0" sz="1200" spc="-3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numbers,</a:t>
            </a:r>
            <a:r>
              <a:rPr dirty="0" sz="12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because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12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brain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misinterprets</a:t>
            </a:r>
            <a:r>
              <a:rPr dirty="0" sz="12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what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it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sees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(visual)</a:t>
            </a:r>
            <a:r>
              <a:rPr dirty="0" sz="12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dirty="0" sz="12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hears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(auditory).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Dyslexia </a:t>
            </a:r>
            <a:r>
              <a:rPr dirty="0" sz="1200" spc="-3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DOES NOT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affect the intelligence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 person; in fact many dyslexics are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highly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intelligent.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Dyslexia is a disorder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the brain which causes the person to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have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trouble reading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and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writing.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Although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person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is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actually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smart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can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comprehend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basics,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when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it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comes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 </a:t>
            </a:r>
            <a:r>
              <a:rPr dirty="0" sz="1200" spc="-3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reading, the letters look jumbled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up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and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writing is even worse.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It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is manageable and a lot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 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famous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people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have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it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have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gotten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past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it.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If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someone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has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it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they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need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help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learning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and </a:t>
            </a:r>
            <a:r>
              <a:rPr dirty="0" sz="1200" spc="-3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eventually, they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can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overcome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it.</a:t>
            </a:r>
            <a:endParaRPr sz="1200">
              <a:latin typeface="Arial MT"/>
              <a:cs typeface="Arial MT"/>
            </a:endParaRPr>
          </a:p>
          <a:p>
            <a:pPr marL="468630" marR="2011680">
              <a:lnSpc>
                <a:spcPct val="284400"/>
              </a:lnSpc>
              <a:spcBef>
                <a:spcPts val="30"/>
              </a:spcBef>
            </a:pP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CATEGORIES</a:t>
            </a:r>
            <a:r>
              <a:rPr dirty="0" sz="1200" spc="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dirty="0" sz="1200" spc="-1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EXCEPTIONALITIES</a:t>
            </a:r>
            <a:r>
              <a:rPr dirty="0" sz="1200" spc="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dirty="0" sz="1200" spc="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DEFINITIONS </a:t>
            </a:r>
            <a:r>
              <a:rPr dirty="0" sz="1200" spc="-32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BEHAVIOUR</a:t>
            </a:r>
            <a:endParaRPr sz="1200">
              <a:latin typeface="Arial"/>
              <a:cs typeface="Arial"/>
            </a:endParaRPr>
          </a:p>
          <a:p>
            <a:pPr algn="just" marL="474345" marR="10795" indent="-6350">
              <a:lnSpc>
                <a:spcPts val="2050"/>
              </a:lnSpc>
              <a:spcBef>
                <a:spcPts val="160"/>
              </a:spcBef>
            </a:pP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–</a:t>
            </a:r>
            <a:r>
              <a:rPr dirty="0" sz="1200" spc="-4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learning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disorder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characterized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by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specific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behavior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problems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over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such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period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time, </a:t>
            </a:r>
            <a:r>
              <a:rPr dirty="0" sz="1200" spc="-3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and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such a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marked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degree, and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such a nature, as to adversely affect educational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performance,</a:t>
            </a:r>
            <a:r>
              <a:rPr dirty="0" sz="1200" spc="-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dirty="0" sz="1200" spc="-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that</a:t>
            </a:r>
            <a:r>
              <a:rPr dirty="0" sz="1200" spc="3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may</a:t>
            </a:r>
            <a:r>
              <a:rPr dirty="0" sz="1200" spc="-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be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accompanied</a:t>
            </a:r>
            <a:r>
              <a:rPr dirty="0" sz="1200" spc="-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by one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or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more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1200" spc="30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following:</a:t>
            </a:r>
            <a:r>
              <a:rPr dirty="0" sz="1200" spc="-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a)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an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inability</a:t>
            </a:r>
            <a:endParaRPr sz="1200">
              <a:latin typeface="Arial MT"/>
              <a:cs typeface="Arial MT"/>
            </a:endParaRPr>
          </a:p>
          <a:p>
            <a:pPr algn="just" marL="474345" marR="6985">
              <a:lnSpc>
                <a:spcPts val="2050"/>
              </a:lnSpc>
              <a:spcBef>
                <a:spcPts val="20"/>
              </a:spcBef>
            </a:pP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build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or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maintain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interpersonal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relationships;</a:t>
            </a:r>
            <a:r>
              <a:rPr dirty="0" sz="1200" spc="-4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b)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excessive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fears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or</a:t>
            </a:r>
            <a:r>
              <a:rPr dirty="0" sz="12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anxieties;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c)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tendency </a:t>
            </a:r>
            <a:r>
              <a:rPr dirty="0" sz="1200" spc="-3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dirty="0" sz="12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compulsive</a:t>
            </a:r>
            <a:r>
              <a:rPr dirty="0" sz="12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reaction;</a:t>
            </a:r>
            <a:r>
              <a:rPr dirty="0" sz="1200" spc="-8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or</a:t>
            </a:r>
            <a:r>
              <a:rPr dirty="0" sz="1200" spc="-8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d)</a:t>
            </a:r>
            <a:r>
              <a:rPr dirty="0" sz="12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</a:t>
            </a:r>
            <a:r>
              <a:rPr dirty="0" sz="12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inability</a:t>
            </a:r>
            <a:r>
              <a:rPr dirty="0" sz="12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dirty="0" sz="12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learn</a:t>
            </a:r>
            <a:r>
              <a:rPr dirty="0" sz="12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that</a:t>
            </a:r>
            <a:r>
              <a:rPr dirty="0" sz="12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cannot</a:t>
            </a:r>
            <a:r>
              <a:rPr dirty="0" sz="12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be</a:t>
            </a:r>
            <a:r>
              <a:rPr dirty="0" sz="12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traced</a:t>
            </a:r>
            <a:r>
              <a:rPr dirty="0" sz="1200" spc="-8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dirty="0" sz="1200" spc="-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intellectual,</a:t>
            </a:r>
            <a:r>
              <a:rPr dirty="0" sz="1200" spc="-7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sensory, </a:t>
            </a:r>
            <a:r>
              <a:rPr dirty="0" sz="1200" spc="-3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or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other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health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factors,</a:t>
            </a:r>
            <a:r>
              <a:rPr dirty="0" sz="1200" spc="-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or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any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combination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thereof.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468630">
              <a:lnSpc>
                <a:spcPct val="100000"/>
              </a:lnSpc>
              <a:spcBef>
                <a:spcPts val="1015"/>
              </a:spcBef>
            </a:pP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COMMUNICATION</a:t>
            </a:r>
            <a:endParaRPr sz="1200">
              <a:latin typeface="Arial"/>
              <a:cs typeface="Arial"/>
            </a:endParaRPr>
          </a:p>
          <a:p>
            <a:pPr marL="474345" indent="-6350">
              <a:lnSpc>
                <a:spcPct val="100000"/>
              </a:lnSpc>
              <a:spcBef>
                <a:spcPts val="600"/>
              </a:spcBef>
            </a:pP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Autism–</a:t>
            </a:r>
            <a:r>
              <a:rPr dirty="0" sz="1200" spc="22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1200" spc="2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severe</a:t>
            </a:r>
            <a:r>
              <a:rPr dirty="0" sz="1200" spc="2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learning</a:t>
            </a:r>
            <a:r>
              <a:rPr dirty="0" sz="1200" spc="2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disorder</a:t>
            </a:r>
            <a:r>
              <a:rPr dirty="0" sz="1200" spc="2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that</a:t>
            </a:r>
            <a:r>
              <a:rPr dirty="0" sz="1200" spc="2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is</a:t>
            </a:r>
            <a:r>
              <a:rPr dirty="0" sz="1200" spc="2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characterized</a:t>
            </a:r>
            <a:r>
              <a:rPr dirty="0" sz="1200" spc="2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by”</a:t>
            </a:r>
            <a:r>
              <a:rPr dirty="0" sz="1200" spc="2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a)</a:t>
            </a:r>
            <a:r>
              <a:rPr dirty="0" sz="1200" spc="2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disturbances</a:t>
            </a:r>
            <a:r>
              <a:rPr dirty="0" sz="1200" spc="2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in</a:t>
            </a:r>
            <a:r>
              <a:rPr dirty="0" sz="1200" spc="2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rate</a:t>
            </a:r>
            <a:r>
              <a:rPr dirty="0" sz="1200" spc="2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endParaRPr sz="1200">
              <a:latin typeface="Arial MT"/>
              <a:cs typeface="Arial MT"/>
            </a:endParaRPr>
          </a:p>
          <a:p>
            <a:pPr marL="474345" marR="7620">
              <a:lnSpc>
                <a:spcPct val="142500"/>
              </a:lnSpc>
            </a:pP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educational</a:t>
            </a:r>
            <a:r>
              <a:rPr dirty="0" sz="1200" spc="9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development;</a:t>
            </a:r>
            <a:r>
              <a:rPr dirty="0" sz="1200" spc="8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ability</a:t>
            </a:r>
            <a:r>
              <a:rPr dirty="0" sz="1200" spc="1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dirty="0" sz="1200" spc="9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relate</a:t>
            </a:r>
            <a:r>
              <a:rPr dirty="0" sz="1200" spc="9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dirty="0" sz="1200" spc="9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1200" spc="8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environment;</a:t>
            </a:r>
            <a:r>
              <a:rPr dirty="0" sz="1200" spc="8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mobility;</a:t>
            </a:r>
            <a:r>
              <a:rPr dirty="0" sz="1200" spc="1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perception;</a:t>
            </a:r>
            <a:r>
              <a:rPr dirty="0" sz="1200" spc="8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speech </a:t>
            </a:r>
            <a:r>
              <a:rPr dirty="0" sz="1200" spc="-3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language;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b)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lack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of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representational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symbolic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behaviour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that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precedes</a:t>
            </a:r>
            <a:r>
              <a:rPr dirty="0" sz="1200" spc="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language.</a:t>
            </a:r>
            <a:endParaRPr sz="1200">
              <a:latin typeface="Arial MT"/>
              <a:cs typeface="Arial MT"/>
            </a:endParaRPr>
          </a:p>
          <a:p>
            <a:pPr marL="474345" marR="12065" indent="-6350">
              <a:lnSpc>
                <a:spcPct val="142500"/>
              </a:lnSpc>
              <a:spcBef>
                <a:spcPts val="15"/>
              </a:spcBef>
            </a:pP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Deaf</a:t>
            </a:r>
            <a:r>
              <a:rPr dirty="0" sz="1200" spc="3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dirty="0" sz="1200" spc="4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Hard</a:t>
            </a:r>
            <a:r>
              <a:rPr dirty="0" sz="1200" spc="4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dirty="0" sz="1200" spc="3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Hearing</a:t>
            </a:r>
            <a:r>
              <a:rPr dirty="0" sz="1200" spc="6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–</a:t>
            </a:r>
            <a:r>
              <a:rPr dirty="0" sz="1200" spc="4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impairment</a:t>
            </a:r>
            <a:r>
              <a:rPr dirty="0" sz="1200" spc="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characterized</a:t>
            </a:r>
            <a:r>
              <a:rPr dirty="0" sz="1200" spc="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by</a:t>
            </a:r>
            <a:r>
              <a:rPr dirty="0" sz="1200" spc="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deficits</a:t>
            </a:r>
            <a:r>
              <a:rPr dirty="0" sz="1200" spc="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in</a:t>
            </a:r>
            <a:r>
              <a:rPr dirty="0" sz="1200" spc="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language</a:t>
            </a:r>
            <a:r>
              <a:rPr dirty="0" sz="1200" spc="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dirty="0" sz="1200" spc="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speech </a:t>
            </a:r>
            <a:r>
              <a:rPr dirty="0" sz="1200" spc="-3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development because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 diminished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or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non-existent auditory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response</a:t>
            </a:r>
            <a:r>
              <a:rPr dirty="0" sz="1200" spc="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sound.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Arial MT"/>
              <a:cs typeface="Arial MT"/>
            </a:endParaRPr>
          </a:p>
          <a:p>
            <a:pPr algn="just" marL="474345" marR="5080" indent="-6350">
              <a:lnSpc>
                <a:spcPct val="142700"/>
              </a:lnSpc>
              <a:spcBef>
                <a:spcPts val="5"/>
              </a:spcBef>
            </a:pP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Language</a:t>
            </a:r>
            <a:r>
              <a:rPr dirty="0" sz="1200" spc="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Impairment</a:t>
            </a: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–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learning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disorder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characterized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by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impairment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in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comprehension and/or use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verbal communication for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the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written or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other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symbol system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of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communication, which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may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be associated with neurological, psychological,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physical,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or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sensory factors, and which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may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a)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involve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one or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more of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the form,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content,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and function of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language in communication; and b) include one or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more of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the following: Language delay,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disfluency, voice and articulation development, which may or may not be organically or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functionally based.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Arial MT"/>
              <a:cs typeface="Arial MT"/>
            </a:endParaRPr>
          </a:p>
          <a:p>
            <a:pPr algn="just" marL="474345" marR="10160" indent="-6350">
              <a:lnSpc>
                <a:spcPct val="142500"/>
              </a:lnSpc>
            </a:pP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Speech </a:t>
            </a: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Impairment </a:t>
            </a: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–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disorder in language formulation that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may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be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associated with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neurological, psychological, physical or sensory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factors;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that involves perceptual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motor 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aspects of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transmitting oral messages; and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that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may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be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characterized by impairment in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articulation,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rhythm,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stress.</a:t>
            </a:r>
            <a:endParaRPr sz="1200">
              <a:latin typeface="Arial MT"/>
              <a:cs typeface="Arial MT"/>
            </a:endParaRPr>
          </a:p>
          <a:p>
            <a:pPr marL="468630">
              <a:lnSpc>
                <a:spcPct val="100000"/>
              </a:lnSpc>
              <a:spcBef>
                <a:spcPts val="635"/>
              </a:spcBef>
            </a:pP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INTELLECTUAL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1460" y="578611"/>
            <a:ext cx="6179820" cy="75888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8415" marR="12065" indent="-6350">
              <a:lnSpc>
                <a:spcPct val="142600"/>
              </a:lnSpc>
              <a:spcBef>
                <a:spcPts val="95"/>
              </a:spcBef>
            </a:pP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Giftedness </a:t>
            </a: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–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 unusually advanced degree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general intellectual ability that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required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differentiated learning experiences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 depth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and breadth beyond those normally provided </a:t>
            </a:r>
            <a:r>
              <a:rPr dirty="0" sz="1200" spc="-3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in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their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regular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school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program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satisfy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the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level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educational</a:t>
            </a:r>
            <a:r>
              <a:rPr dirty="0" sz="1200" spc="-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potential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indicated.</a:t>
            </a:r>
            <a:endParaRPr sz="1200">
              <a:latin typeface="Arial MT"/>
              <a:cs typeface="Arial MT"/>
            </a:endParaRPr>
          </a:p>
          <a:p>
            <a:pPr algn="just" marL="18415" marR="10795" indent="-6350">
              <a:lnSpc>
                <a:spcPct val="142500"/>
              </a:lnSpc>
              <a:spcBef>
                <a:spcPts val="15"/>
              </a:spcBef>
            </a:pP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Mild Intellectual Disability </a:t>
            </a: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-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learning disorder characterized by: a) an ability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profit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educationally within a regular class with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the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aid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considerable curriculum modification and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supportive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service; b) an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ability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to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profit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educationally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within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regular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class</a:t>
            </a:r>
            <a:endParaRPr sz="1200">
              <a:latin typeface="Arial MT"/>
              <a:cs typeface="Arial MT"/>
            </a:endParaRPr>
          </a:p>
          <a:p>
            <a:pPr algn="just" marL="18415" marR="11430" indent="-6350">
              <a:lnSpc>
                <a:spcPct val="142500"/>
              </a:lnSpc>
              <a:spcBef>
                <a:spcPts val="25"/>
              </a:spcBef>
            </a:pP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Because of slow intellectual development;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c)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 potential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for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academic learning, independent </a:t>
            </a:r>
            <a:r>
              <a:rPr dirty="0" sz="1200" spc="-3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social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adjustment,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economic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self-support.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2600"/>
              </a:lnSpc>
            </a:pP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Developmental Disability </a:t>
            </a: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–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severe learning disorder characterized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by: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a)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an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inability to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profit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from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special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education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program</a:t>
            </a:r>
            <a:r>
              <a:rPr dirty="0" sz="1200" spc="-4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for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students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with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mild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intellectual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disabilities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because </a:t>
            </a:r>
            <a:r>
              <a:rPr dirty="0" sz="1200" spc="-3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slow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intellectual</a:t>
            </a:r>
            <a:r>
              <a:rPr dirty="0" sz="1200" spc="-6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develo0pment’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b)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an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ability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profit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from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special</a:t>
            </a:r>
            <a:r>
              <a:rPr dirty="0" sz="1200" spc="-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education</a:t>
            </a:r>
            <a:r>
              <a:rPr dirty="0" sz="1200" spc="-5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program</a:t>
            </a:r>
            <a:r>
              <a:rPr dirty="0" sz="1200" spc="-5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that </a:t>
            </a:r>
            <a:r>
              <a:rPr dirty="0" sz="1200" spc="-3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is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designed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to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accommodate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slow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intellectual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development;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c)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limited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potential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for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academic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learning,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independent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social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adjustment,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economic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support.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PHYSICAL</a:t>
            </a:r>
            <a:endParaRPr sz="1200">
              <a:latin typeface="Arial"/>
              <a:cs typeface="Arial"/>
            </a:endParaRPr>
          </a:p>
          <a:p>
            <a:pPr algn="just" marL="18415" marR="6985" indent="-6350">
              <a:lnSpc>
                <a:spcPts val="2050"/>
              </a:lnSpc>
              <a:spcBef>
                <a:spcPts val="160"/>
              </a:spcBef>
            </a:pP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Physical Disability </a:t>
            </a: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–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condition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such severe physical limitation or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deficiency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as to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require special assistance in learning situation to provide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the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opportunity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for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educational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achievement equivalent to that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pupils without exceptionalities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who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are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the name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and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age</a:t>
            </a:r>
            <a:r>
              <a:rPr dirty="0" sz="1200" spc="-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or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developmental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level.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Arial MT"/>
              <a:cs typeface="Arial MT"/>
            </a:endParaRPr>
          </a:p>
          <a:p>
            <a:pPr algn="just" marL="18415" marR="9525" indent="-6350">
              <a:lnSpc>
                <a:spcPct val="142500"/>
              </a:lnSpc>
            </a:pP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Blind</a:t>
            </a:r>
            <a:r>
              <a:rPr dirty="0" sz="1200" spc="-2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dirty="0" sz="1200" spc="-2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Low</a:t>
            </a:r>
            <a:r>
              <a:rPr dirty="0" sz="1200" spc="-3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Vision</a:t>
            </a:r>
            <a:r>
              <a:rPr dirty="0" sz="1200" spc="-2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–</a:t>
            </a:r>
            <a:r>
              <a:rPr dirty="0" sz="1200" spc="-1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condition</a:t>
            </a:r>
            <a:r>
              <a:rPr dirty="0" sz="1200" spc="-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partial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or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total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impairment</a:t>
            </a:r>
            <a:r>
              <a:rPr dirty="0" sz="1200" spc="-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of</a:t>
            </a:r>
            <a:r>
              <a:rPr dirty="0" sz="1200" spc="-3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sight</a:t>
            </a:r>
            <a:r>
              <a:rPr dirty="0" sz="1200" spc="-3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or</a:t>
            </a:r>
            <a:r>
              <a:rPr dirty="0" sz="1200" spc="-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vision</a:t>
            </a:r>
            <a:r>
              <a:rPr dirty="0" sz="1200" spc="-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that</a:t>
            </a:r>
            <a:r>
              <a:rPr dirty="0" sz="1200" spc="-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even </a:t>
            </a:r>
            <a:r>
              <a:rPr dirty="0" sz="1200" spc="-32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with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correction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affects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educational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performance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adversely.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MULTIPLE</a:t>
            </a:r>
            <a:endParaRPr sz="1200">
              <a:latin typeface="Arial"/>
              <a:cs typeface="Arial"/>
            </a:endParaRPr>
          </a:p>
          <a:p>
            <a:pPr algn="just" marL="18415" marR="10160" indent="-6350">
              <a:lnSpc>
                <a:spcPts val="2050"/>
              </a:lnSpc>
              <a:spcBef>
                <a:spcPts val="95"/>
              </a:spcBef>
            </a:pPr>
            <a:r>
              <a:rPr dirty="0" sz="1200" spc="-5" b="1">
                <a:solidFill>
                  <a:srgbClr val="333333"/>
                </a:solidFill>
                <a:latin typeface="Arial"/>
                <a:cs typeface="Arial"/>
              </a:rPr>
              <a:t>Multiple Exceptionalities </a:t>
            </a: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–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combination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learning disorders, impairments, or physical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disabilities, that is of such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nature as to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require, for educational achievement, the services of </a:t>
            </a:r>
            <a:r>
              <a:rPr dirty="0" sz="1200" spc="-32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one or more teachers holding qualification in special education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and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the provision of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support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 services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appropriate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for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such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disorders,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impairments,</a:t>
            </a:r>
            <a:r>
              <a:rPr dirty="0" sz="1200" spc="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or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disabilities.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8248777"/>
            <a:ext cx="6972300" cy="53340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71120" marR="67945">
              <a:lnSpc>
                <a:spcPts val="1980"/>
              </a:lnSpc>
              <a:spcBef>
                <a:spcPts val="35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400" spc="2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400" spc="2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09</a:t>
            </a:r>
            <a:r>
              <a:rPr dirty="0" sz="1400" spc="2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“Planning</a:t>
            </a:r>
            <a:r>
              <a:rPr dirty="0" sz="1600" spc="3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600" spc="3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600" spc="3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Tool</a:t>
            </a:r>
            <a:r>
              <a:rPr dirty="0" sz="1600" spc="3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600" spc="3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Successful</a:t>
            </a:r>
            <a:r>
              <a:rPr dirty="0" sz="1600" spc="3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Instruction”</a:t>
            </a:r>
            <a:r>
              <a:rPr dirty="0" sz="1600" spc="3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 </a:t>
            </a:r>
            <a:r>
              <a:rPr dirty="0" sz="1600" spc="-4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objectives: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8859392"/>
            <a:ext cx="5660390" cy="2800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lesson, 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have: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87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Reflected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successful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70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Identified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elements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Identified</a:t>
            </a:r>
            <a:r>
              <a:rPr dirty="0" sz="1200">
                <a:latin typeface="Arial MT"/>
                <a:cs typeface="Arial MT"/>
              </a:rPr>
              <a:t> three </a:t>
            </a:r>
            <a:r>
              <a:rPr dirty="0" sz="1200" spc="-5">
                <a:latin typeface="Arial MT"/>
                <a:cs typeface="Arial MT"/>
              </a:rPr>
              <a:t>domains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i.e.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psychomotor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affective.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12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Outline: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successful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instruction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Key terms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used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planning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Goals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2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Instructional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656335"/>
            <a:ext cx="6634480" cy="10890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7520">
              <a:lnSpc>
                <a:spcPct val="100000"/>
              </a:lnSpc>
              <a:spcBef>
                <a:spcPts val="100"/>
              </a:spcBef>
              <a:tabLst>
                <a:tab pos="706120" algn="l"/>
              </a:tabLst>
            </a:pPr>
            <a:r>
              <a:rPr dirty="0" sz="1200" b="1">
                <a:latin typeface="Times New Roman"/>
                <a:cs typeface="Times New Roman"/>
              </a:rPr>
              <a:t>-	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strategy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2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about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decision making?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Elements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planning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Topic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Grade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Goal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Instructional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Cognitive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check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Students’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characteristics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Resources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Assignments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homework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2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Assessments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Additional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needs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9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Time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allotted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Domains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learning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(CAP)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61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Cognitive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Affective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61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Psychomotor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-"/>
            </a:pP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Planning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for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successful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instruction:</a:t>
            </a:r>
            <a:endParaRPr sz="1400">
              <a:latin typeface="Arial"/>
              <a:cs typeface="Arial"/>
            </a:endParaRPr>
          </a:p>
          <a:p>
            <a:pPr marL="477520" marR="10160" indent="-228600">
              <a:lnSpc>
                <a:spcPts val="2080"/>
              </a:lnSpc>
              <a:spcBef>
                <a:spcPts val="9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Why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need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plan?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characteristics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master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Master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traits: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79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well-organized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planning.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effectively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high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expectations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their students.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4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What to </a:t>
            </a: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-5" b="1">
                <a:latin typeface="Arial"/>
                <a:cs typeface="Arial"/>
              </a:rPr>
              <a:t> as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teacher?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plan?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-"/>
            </a:pP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Arial"/>
                <a:cs typeface="Arial"/>
              </a:rPr>
              <a:t>Key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terms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used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planning:</a:t>
            </a:r>
            <a:endParaRPr sz="1400">
              <a:latin typeface="Arial"/>
              <a:cs typeface="Arial"/>
            </a:endParaRPr>
          </a:p>
          <a:p>
            <a:pPr algn="just" marL="477520" marR="5080" indent="-228600">
              <a:lnSpc>
                <a:spcPct val="144400"/>
              </a:lnSpc>
              <a:spcBef>
                <a:spcPts val="114"/>
              </a:spcBef>
              <a:buSzPct val="85714"/>
              <a:buFont typeface="Times New Roman"/>
              <a:buChar char="-"/>
              <a:tabLst>
                <a:tab pos="478155" algn="l"/>
              </a:tabLst>
            </a:pPr>
            <a:r>
              <a:rPr dirty="0" sz="1400" spc="-5" b="1">
                <a:latin typeface="Arial"/>
                <a:cs typeface="Arial"/>
              </a:rPr>
              <a:t>Goals: </a:t>
            </a:r>
            <a:r>
              <a:rPr dirty="0" sz="1200" spc="-5">
                <a:latin typeface="Arial MT"/>
                <a:cs typeface="Arial MT"/>
              </a:rPr>
              <a:t>Statement of intent stated in broad term. </a:t>
            </a:r>
            <a:r>
              <a:rPr dirty="0" sz="1200">
                <a:latin typeface="Arial MT"/>
                <a:cs typeface="Arial MT"/>
              </a:rPr>
              <a:t>Goal of a </a:t>
            </a:r>
            <a:r>
              <a:rPr dirty="0" sz="1200" spc="-5">
                <a:latin typeface="Arial MT"/>
                <a:cs typeface="Arial MT"/>
              </a:rPr>
              <a:t>teacher is </a:t>
            </a:r>
            <a:r>
              <a:rPr dirty="0" sz="1200">
                <a:latin typeface="Arial MT"/>
                <a:cs typeface="Arial MT"/>
              </a:rPr>
              <a:t>“A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 responsible to produce good citizen.” Can we produce good citizens in 40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45 minutes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lecture? Definitely no. but daily class lecture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45 minutes can make a long </a:t>
            </a:r>
            <a:r>
              <a:rPr dirty="0" sz="1200">
                <a:latin typeface="Arial MT"/>
                <a:cs typeface="Arial MT"/>
              </a:rPr>
              <a:t>time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>
                <a:latin typeface="Arial MT"/>
                <a:cs typeface="Arial MT"/>
              </a:rPr>
              <a:t>achieve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goal.</a:t>
            </a:r>
            <a:endParaRPr sz="1200">
              <a:latin typeface="Arial MT"/>
              <a:cs typeface="Arial MT"/>
            </a:endParaRPr>
          </a:p>
          <a:p>
            <a:pPr marL="477520" marR="8255" indent="-228600">
              <a:lnSpc>
                <a:spcPct val="138300"/>
              </a:lnSpc>
              <a:spcBef>
                <a:spcPts val="10"/>
              </a:spcBef>
              <a:buSzPct val="85714"/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400" spc="-5" b="1">
                <a:latin typeface="Arial"/>
                <a:cs typeface="Arial"/>
              </a:rPr>
              <a:t>Objectives: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series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small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steps which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needed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achieve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desired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steps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integrated,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series.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talk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series,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could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disturb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step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missed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ultimately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could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achieve</a:t>
            </a:r>
            <a:endParaRPr sz="1200">
              <a:latin typeface="Arial MT"/>
              <a:cs typeface="Arial MT"/>
            </a:endParaRPr>
          </a:p>
          <a:p>
            <a:pPr marL="483870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goal.</a:t>
            </a:r>
            <a:endParaRPr sz="1200">
              <a:latin typeface="Arial MT"/>
              <a:cs typeface="Arial MT"/>
            </a:endParaRPr>
          </a:p>
          <a:p>
            <a:pPr marL="477520" marR="9525" indent="-228600">
              <a:lnSpc>
                <a:spcPts val="2240"/>
              </a:lnSpc>
              <a:spcBef>
                <a:spcPts val="145"/>
              </a:spcBef>
              <a:buSzPct val="85714"/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400" spc="-5" b="1">
                <a:latin typeface="Arial"/>
                <a:cs typeface="Arial"/>
              </a:rPr>
              <a:t>Instructional</a:t>
            </a:r>
            <a:r>
              <a:rPr dirty="0" sz="1400" spc="7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objectives:</a:t>
            </a:r>
            <a:r>
              <a:rPr dirty="0" sz="1400" spc="8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39883"/>
            <a:ext cx="6634480" cy="111118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477520" marR="5715" indent="-228600">
              <a:lnSpc>
                <a:spcPct val="144900"/>
              </a:lnSpc>
              <a:spcBef>
                <a:spcPts val="240"/>
              </a:spcBef>
            </a:pPr>
            <a:r>
              <a:rPr dirty="0" sz="1200" b="1">
                <a:latin typeface="Times New Roman"/>
                <a:cs typeface="Times New Roman"/>
              </a:rPr>
              <a:t>-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Arial"/>
                <a:cs typeface="Arial"/>
              </a:rPr>
              <a:t>A strategy: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understand what strategy is, you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know the difference between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 and a strategy; </a:t>
            </a:r>
            <a:r>
              <a:rPr dirty="0" sz="1200" b="1">
                <a:latin typeface="Arial"/>
                <a:cs typeface="Arial"/>
              </a:rPr>
              <a:t>METHOD: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certain content to the students. </a:t>
            </a:r>
            <a:r>
              <a:rPr dirty="0" sz="1200" spc="-5" b="1">
                <a:latin typeface="Arial"/>
                <a:cs typeface="Arial"/>
              </a:rPr>
              <a:t>Strategy: </a:t>
            </a:r>
            <a:r>
              <a:rPr dirty="0" sz="1200" spc="-5">
                <a:latin typeface="Arial MT"/>
                <a:cs typeface="Arial MT"/>
              </a:rPr>
              <a:t>It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 method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achieve </a:t>
            </a:r>
            <a:r>
              <a:rPr dirty="0" sz="1200">
                <a:latin typeface="Arial MT"/>
                <a:cs typeface="Arial MT"/>
              </a:rPr>
              <a:t>your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Is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planning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about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decision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making?</a:t>
            </a:r>
            <a:endParaRPr sz="1400">
              <a:latin typeface="Arial"/>
              <a:cs typeface="Arial"/>
            </a:endParaRPr>
          </a:p>
          <a:p>
            <a:pPr algn="just" marL="18415" marR="12065" indent="-6350">
              <a:lnSpc>
                <a:spcPts val="2080"/>
              </a:lnSpc>
              <a:spcBef>
                <a:spcPts val="95"/>
              </a:spcBef>
            </a:pPr>
            <a:r>
              <a:rPr dirty="0" sz="1200" spc="-5">
                <a:latin typeface="Arial MT"/>
                <a:cs typeface="Arial MT"/>
              </a:rPr>
              <a:t>When a teacher is planning something, is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>
                <a:latin typeface="Arial MT"/>
                <a:cs typeface="Arial MT"/>
              </a:rPr>
              <a:t>taking </a:t>
            </a:r>
            <a:r>
              <a:rPr dirty="0" sz="1200" spc="-5">
                <a:latin typeface="Arial MT"/>
                <a:cs typeface="Arial MT"/>
              </a:rPr>
              <a:t>decisions or not? The process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planning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much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decision making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Firstly,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decides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teach?</a:t>
            </a:r>
            <a:endParaRPr sz="1200">
              <a:latin typeface="Arial MT"/>
              <a:cs typeface="Arial MT"/>
            </a:endParaRPr>
          </a:p>
          <a:p>
            <a:pPr algn="just" marL="18415" marR="6985" indent="-6350">
              <a:lnSpc>
                <a:spcPts val="208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What students will be 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the end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-5">
                <a:latin typeface="Arial MT"/>
                <a:cs typeface="Arial MT"/>
              </a:rPr>
              <a:t>lesson? Secondly,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has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decide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 are required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achieve certain goal? Which methods will be followed to teach certain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content? You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decide which strategies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followed </a:t>
            </a:r>
            <a:r>
              <a:rPr dirty="0" sz="1200">
                <a:latin typeface="Arial MT"/>
                <a:cs typeface="Arial MT"/>
              </a:rPr>
              <a:t>to achieve </a:t>
            </a:r>
            <a:r>
              <a:rPr dirty="0" sz="1200" spc="-5">
                <a:latin typeface="Arial MT"/>
                <a:cs typeface="Arial MT"/>
              </a:rPr>
              <a:t>the objectives? And most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importantly, you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decide how </a:t>
            </a:r>
            <a:r>
              <a:rPr dirty="0" sz="1200">
                <a:latin typeface="Arial MT"/>
                <a:cs typeface="Arial MT"/>
              </a:rPr>
              <a:t>much time </a:t>
            </a:r>
            <a:r>
              <a:rPr dirty="0" sz="1200" spc="-5">
                <a:latin typeface="Arial MT"/>
                <a:cs typeface="Arial MT"/>
              </a:rPr>
              <a:t>will be given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 certain step in the lesson? You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decide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homework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students?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decide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students?</a:t>
            </a:r>
            <a:r>
              <a:rPr dirty="0" sz="1200" spc="3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planning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decision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process.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decisions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45"/>
              </a:spcBef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teacher,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 is 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such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decisions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ultimately,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suffer.</a:t>
            </a:r>
            <a:endParaRPr sz="1200">
              <a:latin typeface="Arial MT"/>
              <a:cs typeface="Arial MT"/>
            </a:endParaRPr>
          </a:p>
          <a:p>
            <a:pPr algn="just" marL="18415" marR="508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Because students will not achieve anything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class. The 40 or </a:t>
            </a:r>
            <a:r>
              <a:rPr dirty="0" sz="1200" spc="-10">
                <a:latin typeface="Arial MT"/>
                <a:cs typeface="Arial MT"/>
              </a:rPr>
              <a:t>45 </a:t>
            </a:r>
            <a:r>
              <a:rPr dirty="0" sz="1200" spc="-5">
                <a:latin typeface="Arial MT"/>
                <a:cs typeface="Arial MT"/>
              </a:rPr>
              <a:t>minutes period will not serve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purpose and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time is not maximizing students’ learning. All these decisions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part 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decision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Elements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planning:</a:t>
            </a:r>
            <a:endParaRPr sz="1400">
              <a:latin typeface="Arial"/>
              <a:cs typeface="Arial"/>
            </a:endParaRPr>
          </a:p>
          <a:p>
            <a:pPr algn="just" marL="477520" indent="-229235">
              <a:lnSpc>
                <a:spcPct val="100000"/>
              </a:lnSpc>
              <a:spcBef>
                <a:spcPts val="5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Topic: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What teacher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going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teach?</a:t>
            </a:r>
            <a:endParaRPr sz="1200">
              <a:latin typeface="Arial MT"/>
              <a:cs typeface="Arial MT"/>
            </a:endParaRPr>
          </a:p>
          <a:p>
            <a:pPr algn="just" marL="477520" marR="6350" indent="-228600">
              <a:lnSpc>
                <a:spcPct val="144200"/>
              </a:lnSpc>
              <a:spcBef>
                <a:spcPts val="3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Grade </a:t>
            </a:r>
            <a:r>
              <a:rPr dirty="0" sz="1200" spc="-5" b="1">
                <a:latin typeface="Arial"/>
                <a:cs typeface="Arial"/>
              </a:rPr>
              <a:t>level: </a:t>
            </a:r>
            <a:r>
              <a:rPr dirty="0" sz="1200" spc="-5">
                <a:latin typeface="Arial MT"/>
                <a:cs typeface="Arial MT"/>
              </a:rPr>
              <a:t>methods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sentence making to primary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students will be different </a:t>
            </a:r>
            <a:r>
              <a:rPr dirty="0" sz="1200">
                <a:latin typeface="Arial MT"/>
                <a:cs typeface="Arial MT"/>
              </a:rPr>
              <a:t> from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secondary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 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teacher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grade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level.</a:t>
            </a:r>
            <a:endParaRPr sz="1200">
              <a:latin typeface="Arial MT"/>
              <a:cs typeface="Arial MT"/>
            </a:endParaRPr>
          </a:p>
          <a:p>
            <a:pPr algn="just" marL="477520" marR="7620" indent="-228600">
              <a:lnSpc>
                <a:spcPct val="144200"/>
              </a:lnSpc>
              <a:spcBef>
                <a:spcPts val="1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Goal: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specific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ultimate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purpose?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expect from the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able to? </a:t>
            </a:r>
            <a:r>
              <a:rPr dirty="0" sz="1200">
                <a:latin typeface="Arial MT"/>
                <a:cs typeface="Arial MT"/>
              </a:rPr>
              <a:t>Whatever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goals you </a:t>
            </a:r>
            <a:r>
              <a:rPr dirty="0" sz="1200">
                <a:latin typeface="Arial MT"/>
                <a:cs typeface="Arial MT"/>
              </a:rPr>
              <a:t>have </a:t>
            </a:r>
            <a:r>
              <a:rPr dirty="0" sz="1200" spc="-5">
                <a:latin typeface="Arial MT"/>
                <a:cs typeface="Arial MT"/>
              </a:rPr>
              <a:t>selected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student-oriented.</a:t>
            </a:r>
            <a:endParaRPr sz="1200">
              <a:latin typeface="Arial MT"/>
              <a:cs typeface="Arial MT"/>
            </a:endParaRPr>
          </a:p>
          <a:p>
            <a:pPr algn="just"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Instructional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objectives: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</a:t>
            </a:r>
            <a:endParaRPr sz="1200">
              <a:latin typeface="Arial MT"/>
              <a:cs typeface="Arial MT"/>
            </a:endParaRPr>
          </a:p>
          <a:p>
            <a:pPr algn="just" marL="477520" marR="889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E.g. at </a:t>
            </a:r>
            <a:r>
              <a:rPr dirty="0" sz="1200" spc="-5">
                <a:latin typeface="Arial MT"/>
                <a:cs typeface="Arial MT"/>
              </a:rPr>
              <a:t>the end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lesson student will be able to label a diagram, or label four </a:t>
            </a:r>
            <a:r>
              <a:rPr dirty="0" sz="1200">
                <a:latin typeface="Arial MT"/>
                <a:cs typeface="Arial MT"/>
              </a:rPr>
              <a:t>parts of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plant </a:t>
            </a:r>
            <a:r>
              <a:rPr dirty="0" sz="1200">
                <a:latin typeface="Arial MT"/>
                <a:cs typeface="Arial MT"/>
              </a:rPr>
              <a:t>etc. </a:t>
            </a:r>
            <a:r>
              <a:rPr dirty="0" sz="1200" spc="-5">
                <a:latin typeface="Arial MT"/>
                <a:cs typeface="Arial MT"/>
              </a:rPr>
              <a:t>Instructional objectives provide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a guideline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selecting teaching method,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specific,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measureable,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attainable,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realistic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timed.</a:t>
            </a:r>
            <a:endParaRPr sz="1200">
              <a:latin typeface="Arial MT"/>
              <a:cs typeface="Arial MT"/>
            </a:endParaRPr>
          </a:p>
          <a:p>
            <a:pPr algn="just" marL="477520" marR="5080" indent="-228600">
              <a:lnSpc>
                <a:spcPct val="144200"/>
              </a:lnSpc>
              <a:spcBef>
                <a:spcPts val="15"/>
              </a:spcBef>
            </a:pPr>
            <a:r>
              <a:rPr dirty="0" sz="1200" b="1">
                <a:latin typeface="Times New Roman"/>
                <a:cs typeface="Times New Roman"/>
              </a:rPr>
              <a:t>5.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Cognitive level check: </a:t>
            </a:r>
            <a:r>
              <a:rPr dirty="0" sz="1200" spc="-5">
                <a:latin typeface="Arial MT"/>
                <a:cs typeface="Arial MT"/>
              </a:rPr>
              <a:t>being teachers, when we plan a lesson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also decide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strategy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 which we can </a:t>
            </a:r>
            <a:r>
              <a:rPr dirty="0" sz="1200" spc="-10">
                <a:latin typeface="Arial MT"/>
                <a:cs typeface="Arial MT"/>
              </a:rPr>
              <a:t>know </a:t>
            </a:r>
            <a:r>
              <a:rPr dirty="0" sz="1200">
                <a:latin typeface="Arial MT"/>
                <a:cs typeface="Arial MT"/>
              </a:rPr>
              <a:t>that what </a:t>
            </a:r>
            <a:r>
              <a:rPr dirty="0" sz="1200" spc="-5">
                <a:latin typeface="Arial MT"/>
                <a:cs typeface="Arial MT"/>
              </a:rPr>
              <a:t>students have learnt till a certain period of time.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 teacher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know that what prior knowledge the students have. Teacher </a:t>
            </a:r>
            <a:r>
              <a:rPr dirty="0" sz="1200" spc="-10">
                <a:latin typeface="Arial MT"/>
                <a:cs typeface="Arial MT"/>
              </a:rPr>
              <a:t>use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many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strategies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check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use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questioning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brainstorming.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brainstorming,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questions in a circle and </a:t>
            </a:r>
            <a:r>
              <a:rPr dirty="0" sz="1200">
                <a:latin typeface="Arial MT"/>
                <a:cs typeface="Arial MT"/>
              </a:rPr>
              <a:t>asks </a:t>
            </a:r>
            <a:r>
              <a:rPr dirty="0" sz="1200" spc="-5">
                <a:latin typeface="Arial MT"/>
                <a:cs typeface="Arial MT"/>
              </a:rPr>
              <a:t>the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response. Students come up with </a:t>
            </a:r>
            <a:r>
              <a:rPr dirty="0" sz="1200" spc="5">
                <a:latin typeface="Arial MT"/>
                <a:cs typeface="Arial MT"/>
              </a:rPr>
              <a:t>different 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responses.</a:t>
            </a:r>
            <a:endParaRPr sz="1200">
              <a:latin typeface="Arial MT"/>
              <a:cs typeface="Arial MT"/>
            </a:endParaRPr>
          </a:p>
          <a:p>
            <a:pPr algn="just" marL="483870" marR="7620" indent="-6350">
              <a:lnSpc>
                <a:spcPct val="144200"/>
              </a:lnSpc>
              <a:spcBef>
                <a:spcPts val="20"/>
              </a:spcBef>
            </a:pP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omit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anything,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5">
                <a:latin typeface="Arial MT"/>
                <a:cs typeface="Arial MT"/>
              </a:rPr>
              <a:t> 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beneficial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teachers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check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cognitive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also encouraging for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that whatever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speak, teacher writes on board. In higher </a:t>
            </a:r>
            <a:r>
              <a:rPr dirty="0" sz="1200">
                <a:latin typeface="Arial MT"/>
                <a:cs typeface="Arial MT"/>
              </a:rPr>
              <a:t>classes, </a:t>
            </a:r>
            <a:r>
              <a:rPr dirty="0" sz="1200" spc="-5">
                <a:latin typeface="Arial MT"/>
                <a:cs typeface="Arial MT"/>
              </a:rPr>
              <a:t>questioning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frequently used for this purpose. So,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important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 teacher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identify the strategy 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check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75563"/>
            <a:ext cx="6397625" cy="10850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6985" indent="-228600">
              <a:lnSpc>
                <a:spcPct val="144200"/>
              </a:lnSpc>
              <a:spcBef>
                <a:spcPts val="100"/>
              </a:spcBef>
              <a:buFont typeface="Times New Roman"/>
              <a:buAutoNum type="arabicPeriod" startAt="6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Students’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characteristics: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own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characteristics,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very good in doing </a:t>
            </a:r>
            <a:r>
              <a:rPr dirty="0" sz="1200">
                <a:latin typeface="Arial MT"/>
                <a:cs typeface="Arial MT"/>
              </a:rPr>
              <a:t>things </a:t>
            </a:r>
            <a:r>
              <a:rPr dirty="0" sz="1200" spc="-5">
                <a:latin typeface="Arial MT"/>
                <a:cs typeface="Arial MT"/>
              </a:rPr>
              <a:t>or they are kinesthetic learners. Some students can learn only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 observing. Some students love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listen </a:t>
            </a:r>
            <a:r>
              <a:rPr dirty="0" sz="1200">
                <a:latin typeface="Arial MT"/>
                <a:cs typeface="Arial MT"/>
              </a:rPr>
              <a:t>to their </a:t>
            </a:r>
            <a:r>
              <a:rPr dirty="0" sz="1200" spc="-5">
                <a:latin typeface="Arial MT"/>
                <a:cs typeface="Arial MT"/>
              </a:rPr>
              <a:t>peers; they </a:t>
            </a:r>
            <a:r>
              <a:rPr dirty="0" sz="1200">
                <a:latin typeface="Arial MT"/>
                <a:cs typeface="Arial MT"/>
              </a:rPr>
              <a:t>learn from </a:t>
            </a:r>
            <a:r>
              <a:rPr dirty="0" sz="1200" spc="-5">
                <a:latin typeface="Arial MT"/>
                <a:cs typeface="Arial MT"/>
              </a:rPr>
              <a:t>their peers, they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auditory</a:t>
            </a:r>
            <a:r>
              <a:rPr dirty="0" sz="1200">
                <a:latin typeface="Arial MT"/>
                <a:cs typeface="Arial MT"/>
              </a:rPr>
              <a:t> learners.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know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characteristics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 characteristics </a:t>
            </a:r>
            <a:r>
              <a:rPr dirty="0" sz="1200">
                <a:latin typeface="Arial MT"/>
                <a:cs typeface="Arial MT"/>
              </a:rPr>
              <a:t>are the </a:t>
            </a:r>
            <a:r>
              <a:rPr dirty="0" sz="1200" spc="-5">
                <a:latin typeface="Arial MT"/>
                <a:cs typeface="Arial MT"/>
              </a:rPr>
              <a:t>important elements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planning. It means that we need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decide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-5">
                <a:latin typeface="Arial MT"/>
                <a:cs typeface="Arial MT"/>
              </a:rPr>
              <a:t>we teachers are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provide for auditory learners, visual learners 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kinesthetic learners.</a:t>
            </a:r>
            <a:endParaRPr sz="1200">
              <a:latin typeface="Arial MT"/>
              <a:cs typeface="Arial MT"/>
            </a:endParaRPr>
          </a:p>
          <a:p>
            <a:pPr algn="just" marL="241300" marR="6350" indent="-228600">
              <a:lnSpc>
                <a:spcPct val="144200"/>
              </a:lnSpc>
              <a:spcBef>
                <a:spcPts val="10"/>
              </a:spcBef>
              <a:buFont typeface="Times New Roman"/>
              <a:buAutoNum type="arabicPeriod" startAt="6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Resources: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important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 teacher </a:t>
            </a:r>
            <a:r>
              <a:rPr dirty="0" sz="1200">
                <a:latin typeface="Arial MT"/>
                <a:cs typeface="Arial MT"/>
              </a:rPr>
              <a:t>to identify the </a:t>
            </a:r>
            <a:r>
              <a:rPr dirty="0" sz="1200" spc="-5">
                <a:latin typeface="Arial MT"/>
                <a:cs typeface="Arial MT"/>
              </a:rPr>
              <a:t>resources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will be used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 teaching.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board,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sheets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multimedia,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natural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 etc.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plan a lesson </a:t>
            </a:r>
            <a:r>
              <a:rPr dirty="0" sz="1200" spc="-10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identify </a:t>
            </a:r>
            <a:r>
              <a:rPr dirty="0" sz="1200" spc="-5">
                <a:latin typeface="Arial MT"/>
                <a:cs typeface="Arial MT"/>
              </a:rPr>
              <a:t>resources </a:t>
            </a:r>
            <a:r>
              <a:rPr dirty="0" sz="1200" spc="-1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ultimately, when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 are in class you will be in trouble. Your students will </a:t>
            </a:r>
            <a:r>
              <a:rPr dirty="0" sz="1200">
                <a:latin typeface="Arial MT"/>
                <a:cs typeface="Arial MT"/>
              </a:rPr>
              <a:t>talk </a:t>
            </a:r>
            <a:r>
              <a:rPr dirty="0" sz="1200" spc="-5">
                <a:latin typeface="Arial MT"/>
                <a:cs typeface="Arial MT"/>
              </a:rPr>
              <a:t>a lot and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might </a:t>
            </a:r>
            <a:r>
              <a:rPr dirty="0" sz="1200">
                <a:latin typeface="Arial MT"/>
                <a:cs typeface="Arial MT"/>
              </a:rPr>
              <a:t>face </a:t>
            </a:r>
            <a:r>
              <a:rPr dirty="0" sz="1200" spc="-5">
                <a:latin typeface="Arial MT"/>
                <a:cs typeface="Arial MT"/>
              </a:rPr>
              <a:t>discipline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problem.</a:t>
            </a:r>
            <a:endParaRPr sz="1200">
              <a:latin typeface="Arial MT"/>
              <a:cs typeface="Arial MT"/>
            </a:endParaRPr>
          </a:p>
          <a:p>
            <a:pPr algn="just" marL="241300" marR="6350" indent="-228600">
              <a:lnSpc>
                <a:spcPct val="144200"/>
              </a:lnSpc>
              <a:spcBef>
                <a:spcPts val="25"/>
              </a:spcBef>
              <a:buFont typeface="Times New Roman"/>
              <a:buAutoNum type="arabicPeriod" startAt="6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Assignments or </a:t>
            </a:r>
            <a:r>
              <a:rPr dirty="0" sz="1200" spc="-5" b="1">
                <a:latin typeface="Arial"/>
                <a:cs typeface="Arial"/>
              </a:rPr>
              <a:t>homework: </a:t>
            </a:r>
            <a:r>
              <a:rPr dirty="0" sz="1200" spc="-5">
                <a:latin typeface="Arial MT"/>
                <a:cs typeface="Arial MT"/>
              </a:rPr>
              <a:t>teacher has to plan what assignments he/she is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give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his/her students. What actually happen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our </a:t>
            </a:r>
            <a:r>
              <a:rPr dirty="0" sz="1200">
                <a:latin typeface="Arial MT"/>
                <a:cs typeface="Arial MT"/>
              </a:rPr>
              <a:t>classes,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teach certain things and </a:t>
            </a:r>
            <a:r>
              <a:rPr dirty="0" sz="1200" spc="-10">
                <a:latin typeface="Arial MT"/>
                <a:cs typeface="Arial MT"/>
              </a:rPr>
              <a:t>ask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complete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whole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exercise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class,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unable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so. Being a teacher,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will ask them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complete the </a:t>
            </a:r>
            <a:r>
              <a:rPr dirty="0" sz="1200">
                <a:latin typeface="Arial MT"/>
                <a:cs typeface="Arial MT"/>
              </a:rPr>
              <a:t>rest of </a:t>
            </a:r>
            <a:r>
              <a:rPr dirty="0" sz="1200" spc="-5">
                <a:latin typeface="Arial MT"/>
                <a:cs typeface="Arial MT"/>
              </a:rPr>
              <a:t>the questions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home. </a:t>
            </a:r>
            <a:r>
              <a:rPr dirty="0" sz="1200">
                <a:latin typeface="Arial MT"/>
                <a:cs typeface="Arial MT"/>
              </a:rPr>
              <a:t> Homework </a:t>
            </a:r>
            <a:r>
              <a:rPr dirty="0" sz="1200" spc="-5">
                <a:latin typeface="Arial MT"/>
                <a:cs typeface="Arial MT"/>
              </a:rPr>
              <a:t>should be a pre-planned thing;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should not cover the things that students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 unable to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students are unable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finish the exercise in class then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teacher’s </a:t>
            </a:r>
            <a:r>
              <a:rPr dirty="0" sz="1200">
                <a:latin typeface="Arial MT"/>
                <a:cs typeface="Arial MT"/>
              </a:rPr>
              <a:t>duty to </a:t>
            </a:r>
            <a:r>
              <a:rPr dirty="0" sz="1200" spc="-5">
                <a:latin typeface="Arial MT"/>
                <a:cs typeface="Arial MT"/>
              </a:rPr>
              <a:t>help them complete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exercise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next lesson.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should not expect </a:t>
            </a:r>
            <a:r>
              <a:rPr dirty="0" sz="1200">
                <a:latin typeface="Arial MT"/>
                <a:cs typeface="Arial MT"/>
              </a:rPr>
              <a:t> from </a:t>
            </a:r>
            <a:r>
              <a:rPr dirty="0" sz="1200" spc="-5">
                <a:latin typeface="Arial MT"/>
                <a:cs typeface="Arial MT"/>
              </a:rPr>
              <a:t>parents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help their children learn new things. Teachers are responsible to teach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 things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algn="just" marL="241300" marR="5080" indent="-228600">
              <a:lnSpc>
                <a:spcPct val="144200"/>
              </a:lnSpc>
              <a:spcBef>
                <a:spcPts val="15"/>
              </a:spcBef>
              <a:buFont typeface="Times New Roman"/>
              <a:buAutoNum type="arabicPeriod" startAt="6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Assessments: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also </a:t>
            </a:r>
            <a:r>
              <a:rPr dirty="0" sz="1200" spc="-10">
                <a:latin typeface="Arial MT"/>
                <a:cs typeface="Arial MT"/>
              </a:rPr>
              <a:t>need </a:t>
            </a:r>
            <a:r>
              <a:rPr dirty="0" sz="1200" spc="-5">
                <a:latin typeface="Arial MT"/>
                <a:cs typeface="Arial MT"/>
              </a:rPr>
              <a:t>to decide that how we will assess the students. What we do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 test the students through questioning. We </a:t>
            </a:r>
            <a:r>
              <a:rPr dirty="0" sz="1200">
                <a:latin typeface="Arial MT"/>
                <a:cs typeface="Arial MT"/>
              </a:rPr>
              <a:t>try </a:t>
            </a:r>
            <a:r>
              <a:rPr dirty="0" sz="1200" spc="-5">
                <a:latin typeface="Arial MT"/>
                <a:cs typeface="Arial MT"/>
              </a:rPr>
              <a:t>to assess every kind of learning through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questioning. </a:t>
            </a:r>
            <a:r>
              <a:rPr dirty="0" sz="1200">
                <a:latin typeface="Arial MT"/>
                <a:cs typeface="Arial MT"/>
              </a:rPr>
              <a:t>But it </a:t>
            </a:r>
            <a:r>
              <a:rPr dirty="0" sz="1200" spc="-5">
                <a:latin typeface="Arial MT"/>
                <a:cs typeface="Arial MT"/>
              </a:rPr>
              <a:t>is not possible. E.g.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want to </a:t>
            </a:r>
            <a:r>
              <a:rPr dirty="0" sz="1200" spc="-5">
                <a:latin typeface="Arial MT"/>
                <a:cs typeface="Arial MT"/>
              </a:rPr>
              <a:t>assess how </a:t>
            </a:r>
            <a:r>
              <a:rPr dirty="0" sz="1200" spc="-10">
                <a:latin typeface="Arial MT"/>
                <a:cs typeface="Arial MT"/>
              </a:rPr>
              <a:t>good </a:t>
            </a:r>
            <a:r>
              <a:rPr dirty="0" sz="1200" spc="-5">
                <a:latin typeface="Arial MT"/>
                <a:cs typeface="Arial MT"/>
              </a:rPr>
              <a:t>your students are at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sketching,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cannot ask certain questions from </a:t>
            </a:r>
            <a:r>
              <a:rPr dirty="0" sz="1200">
                <a:latin typeface="Arial MT"/>
                <a:cs typeface="Arial MT"/>
              </a:rPr>
              <a:t>them. </a:t>
            </a:r>
            <a:r>
              <a:rPr dirty="0" sz="1200" spc="-5">
                <a:latin typeface="Arial MT"/>
                <a:cs typeface="Arial MT"/>
              </a:rPr>
              <a:t>You ask a student that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 procedure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sketching </a:t>
            </a:r>
            <a:r>
              <a:rPr dirty="0" sz="1200">
                <a:latin typeface="Arial MT"/>
                <a:cs typeface="Arial MT"/>
              </a:rPr>
              <a:t>is.</a:t>
            </a:r>
            <a:endParaRPr sz="1200">
              <a:latin typeface="Arial MT"/>
              <a:cs typeface="Arial MT"/>
            </a:endParaRPr>
          </a:p>
          <a:p>
            <a:pPr algn="just" marL="247015" marR="8890" indent="-6350">
              <a:lnSpc>
                <a:spcPct val="144200"/>
              </a:lnSpc>
              <a:spcBef>
                <a:spcPts val="20"/>
              </a:spcBef>
            </a:pP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student tells you accurate </a:t>
            </a:r>
            <a:r>
              <a:rPr dirty="0" sz="1200">
                <a:latin typeface="Arial MT"/>
                <a:cs typeface="Arial MT"/>
              </a:rPr>
              <a:t>answer </a:t>
            </a:r>
            <a:r>
              <a:rPr dirty="0" sz="1200" spc="-5">
                <a:latin typeface="Arial MT"/>
                <a:cs typeface="Arial MT"/>
              </a:rPr>
              <a:t>it doesn’t mean that </a:t>
            </a:r>
            <a:r>
              <a:rPr dirty="0" sz="120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is 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make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sketch. So,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cannot assess the students through questioning, different kind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learning requires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strategy.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strategy.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criteria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endParaRPr sz="1200">
              <a:latin typeface="Arial MT"/>
              <a:cs typeface="Arial MT"/>
            </a:endParaRPr>
          </a:p>
          <a:p>
            <a:pPr algn="just" marL="241300" marR="5080" indent="-228600">
              <a:lnSpc>
                <a:spcPct val="144200"/>
              </a:lnSpc>
              <a:spcBef>
                <a:spcPts val="15"/>
              </a:spcBef>
              <a:buFont typeface="Times New Roman"/>
              <a:buAutoNum type="arabicPeriod" startAt="10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Additional learning needs: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students who have additional learning needs; </a:t>
            </a:r>
            <a:r>
              <a:rPr dirty="0" sz="1200" spc="-1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 are some students </a:t>
            </a:r>
            <a:r>
              <a:rPr dirty="0" sz="1200" spc="-10">
                <a:latin typeface="Arial MT"/>
                <a:cs typeface="Arial MT"/>
              </a:rPr>
              <a:t>who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weak </a:t>
            </a:r>
            <a:r>
              <a:rPr dirty="0" sz="1200" spc="-5">
                <a:latin typeface="Arial MT"/>
                <a:cs typeface="Arial MT"/>
              </a:rPr>
              <a:t>eye sight, so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plan accordingly. You have to </a:t>
            </a:r>
            <a:r>
              <a:rPr dirty="0" sz="1200">
                <a:latin typeface="Arial MT"/>
                <a:cs typeface="Arial MT"/>
              </a:rPr>
              <a:t> make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font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worksheets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larger.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notice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eye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sight,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be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work in the </a:t>
            </a:r>
            <a:r>
              <a:rPr dirty="0" sz="1200">
                <a:latin typeface="Arial MT"/>
                <a:cs typeface="Arial MT"/>
              </a:rPr>
              <a:t>class, </a:t>
            </a:r>
            <a:r>
              <a:rPr dirty="0" sz="1200" spc="-5">
                <a:latin typeface="Arial MT"/>
                <a:cs typeface="Arial MT"/>
              </a:rPr>
              <a:t>readability is not there.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not the fault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student but of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resources. Whenever we are planning lessons,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take care </a:t>
            </a:r>
            <a:r>
              <a:rPr dirty="0" sz="1200">
                <a:latin typeface="Arial MT"/>
                <a:cs typeface="Arial MT"/>
              </a:rPr>
              <a:t>of additional </a:t>
            </a:r>
            <a:r>
              <a:rPr dirty="0" sz="1200" spc="-5">
                <a:latin typeface="Arial MT"/>
                <a:cs typeface="Arial MT"/>
              </a:rPr>
              <a:t>learning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needs.</a:t>
            </a:r>
            <a:endParaRPr sz="1200">
              <a:latin typeface="Arial MT"/>
              <a:cs typeface="Arial MT"/>
            </a:endParaRPr>
          </a:p>
          <a:p>
            <a:pPr algn="just" marL="241300" marR="7620" indent="-228600">
              <a:lnSpc>
                <a:spcPct val="144200"/>
              </a:lnSpc>
              <a:spcBef>
                <a:spcPts val="20"/>
              </a:spcBef>
              <a:buFont typeface="Times New Roman"/>
              <a:buAutoNum type="arabicPeriod" startAt="10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Time allotted: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that </a:t>
            </a:r>
            <a:r>
              <a:rPr dirty="0" sz="1200">
                <a:latin typeface="Arial MT"/>
                <a:cs typeface="Arial MT"/>
              </a:rPr>
              <a:t>if at </a:t>
            </a:r>
            <a:r>
              <a:rPr dirty="0" sz="1200" spc="-5">
                <a:latin typeface="Arial MT"/>
                <a:cs typeface="Arial MT"/>
              </a:rPr>
              <a:t>the start of the </a:t>
            </a:r>
            <a:r>
              <a:rPr dirty="0" sz="1200">
                <a:latin typeface="Arial MT"/>
                <a:cs typeface="Arial MT"/>
              </a:rPr>
              <a:t>class, </a:t>
            </a:r>
            <a:r>
              <a:rPr dirty="0" sz="1200" spc="-5">
                <a:latin typeface="Arial MT"/>
                <a:cs typeface="Arial MT"/>
              </a:rPr>
              <a:t>we are doing brainstorming in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 class then we should decide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time. Will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5 minutes or 10 minutes? </a:t>
            </a:r>
            <a:r>
              <a:rPr dirty="0" sz="1200">
                <a:latin typeface="Arial MT"/>
                <a:cs typeface="Arial MT"/>
              </a:rPr>
              <a:t>Or if </a:t>
            </a:r>
            <a:r>
              <a:rPr dirty="0" sz="1200" spc="-5">
                <a:latin typeface="Arial MT"/>
                <a:cs typeface="Arial MT"/>
              </a:rPr>
              <a:t>we want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 spc="-10">
                <a:latin typeface="Arial MT"/>
                <a:cs typeface="Arial MT"/>
              </a:rPr>
              <a:t>some </a:t>
            </a:r>
            <a:r>
              <a:rPr dirty="0" sz="1200" spc="-5">
                <a:latin typeface="Arial MT"/>
                <a:cs typeface="Arial MT"/>
              </a:rPr>
              <a:t>written </a:t>
            </a:r>
            <a:r>
              <a:rPr dirty="0" sz="1200" spc="-10">
                <a:latin typeface="Arial MT"/>
                <a:cs typeface="Arial MT"/>
              </a:rPr>
              <a:t>task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class, you 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decide that a written task will be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10">
                <a:latin typeface="Arial MT"/>
                <a:cs typeface="Arial MT"/>
              </a:rPr>
              <a:t>20 </a:t>
            </a:r>
            <a:r>
              <a:rPr dirty="0" sz="1200" spc="-5">
                <a:latin typeface="Arial MT"/>
                <a:cs typeface="Arial MT"/>
              </a:rPr>
              <a:t> minutes in the class. So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have to allocate time for every activity in the class. </a:t>
            </a:r>
            <a:r>
              <a:rPr dirty="0" sz="1200" spc="-10">
                <a:latin typeface="Arial MT"/>
                <a:cs typeface="Arial MT"/>
              </a:rPr>
              <a:t>Time </a:t>
            </a:r>
            <a:r>
              <a:rPr dirty="0" sz="1200" spc="-5">
                <a:latin typeface="Arial MT"/>
                <a:cs typeface="Arial MT"/>
              </a:rPr>
              <a:t> allocation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flexible.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task,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209" cy="1081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77520" marR="8255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can always give them </a:t>
            </a:r>
            <a:r>
              <a:rPr dirty="0" sz="1200">
                <a:latin typeface="Arial MT"/>
                <a:cs typeface="Arial MT"/>
              </a:rPr>
              <a:t>some more </a:t>
            </a:r>
            <a:r>
              <a:rPr dirty="0" sz="1200" spc="-5">
                <a:latin typeface="Arial MT"/>
                <a:cs typeface="Arial MT"/>
              </a:rPr>
              <a:t>time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that task.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there should </a:t>
            </a:r>
            <a:r>
              <a:rPr dirty="0" sz="1200" spc="-10">
                <a:latin typeface="Arial MT"/>
                <a:cs typeface="Arial MT"/>
              </a:rPr>
              <a:t>be some </a:t>
            </a:r>
            <a:r>
              <a:rPr dirty="0" sz="1200" spc="-5">
                <a:latin typeface="Arial MT"/>
                <a:cs typeface="Arial MT"/>
              </a:rPr>
              <a:t>kind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time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allocation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 planning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</a:t>
            </a:r>
            <a:endParaRPr sz="1200">
              <a:latin typeface="Arial MT"/>
              <a:cs typeface="Arial MT"/>
            </a:endParaRPr>
          </a:p>
          <a:p>
            <a:pPr algn="just" marL="255270" marR="11430" indent="-6350">
              <a:lnSpc>
                <a:spcPct val="144200"/>
              </a:lnSpc>
              <a:spcBef>
                <a:spcPts val="985"/>
              </a:spcBef>
            </a:pP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know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key elements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planning, because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do not know elements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 then probably we will not be 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plan good lessons. Sometimes we </a:t>
            </a:r>
            <a:r>
              <a:rPr dirty="0" sz="1200">
                <a:latin typeface="Arial MT"/>
                <a:cs typeface="Arial MT"/>
              </a:rPr>
              <a:t>miss very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elements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Domains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learning:</a:t>
            </a:r>
            <a:endParaRPr sz="1400">
              <a:latin typeface="Arial"/>
              <a:cs typeface="Arial"/>
            </a:endParaRPr>
          </a:p>
          <a:p>
            <a:pPr marL="553720" indent="-229235">
              <a:lnSpc>
                <a:spcPct val="100000"/>
              </a:lnSpc>
              <a:spcBef>
                <a:spcPts val="550"/>
              </a:spcBef>
              <a:buFont typeface="Times New Roman"/>
              <a:buAutoNum type="arabicPeriod"/>
              <a:tabLst>
                <a:tab pos="554355" algn="l"/>
              </a:tabLst>
            </a:pPr>
            <a:r>
              <a:rPr dirty="0" sz="1200" spc="-5" b="1">
                <a:latin typeface="Arial"/>
                <a:cs typeface="Arial"/>
              </a:rPr>
              <a:t>Cognitive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(Intellectual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development)</a:t>
            </a:r>
            <a:endParaRPr sz="1200">
              <a:latin typeface="Arial"/>
              <a:cs typeface="Arial"/>
            </a:endParaRPr>
          </a:p>
          <a:p>
            <a:pPr marL="553720" marR="7620" indent="-228600">
              <a:lnSpc>
                <a:spcPct val="141700"/>
              </a:lnSpc>
              <a:spcBef>
                <a:spcPts val="10"/>
              </a:spcBef>
              <a:buFont typeface="Times New Roman"/>
              <a:buAutoNum type="arabicPeriod"/>
              <a:tabLst>
                <a:tab pos="554355" algn="l"/>
              </a:tabLst>
            </a:pPr>
            <a:r>
              <a:rPr dirty="0" sz="1200" spc="-5" b="1">
                <a:latin typeface="Arial"/>
                <a:cs typeface="Arial"/>
              </a:rPr>
              <a:t>Affective</a:t>
            </a:r>
            <a:r>
              <a:rPr dirty="0" sz="1200" spc="3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(Feelings/attitudes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holistic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metacognition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also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comes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under</a:t>
            </a:r>
            <a:r>
              <a:rPr dirty="0" sz="1200" spc="-5" b="1">
                <a:latin typeface="Arial"/>
                <a:cs typeface="Arial"/>
              </a:rPr>
              <a:t> this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category)</a:t>
            </a:r>
            <a:endParaRPr sz="1200">
              <a:latin typeface="Arial"/>
              <a:cs typeface="Arial"/>
            </a:endParaRPr>
          </a:p>
          <a:p>
            <a:pPr marL="5537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554355" algn="l"/>
              </a:tabLst>
            </a:pPr>
            <a:r>
              <a:rPr dirty="0" sz="1200" spc="-5" b="1">
                <a:latin typeface="Arial"/>
                <a:cs typeface="Arial"/>
              </a:rPr>
              <a:t>Psychomotor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(Procedural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knowledge)</a:t>
            </a:r>
            <a:endParaRPr sz="1200">
              <a:latin typeface="Arial"/>
              <a:cs typeface="Arial"/>
            </a:endParaRPr>
          </a:p>
          <a:p>
            <a:pPr marL="560070" marR="10795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domains.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simplicity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CAP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class.</a:t>
            </a:r>
            <a:endParaRPr sz="1200">
              <a:latin typeface="Arial MT"/>
              <a:cs typeface="Arial MT"/>
            </a:endParaRPr>
          </a:p>
          <a:p>
            <a:pPr marL="553720">
              <a:lnSpc>
                <a:spcPct val="100000"/>
              </a:lnSpc>
              <a:spcBef>
                <a:spcPts val="480"/>
              </a:spcBef>
            </a:pPr>
            <a:r>
              <a:rPr dirty="0" sz="1200" spc="-5" b="1">
                <a:latin typeface="Arial"/>
                <a:cs typeface="Arial"/>
              </a:rPr>
              <a:t>CAP: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Cognitive,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Affective 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Psychomotor.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look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following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try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put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these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kinds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endParaRPr sz="12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domains:</a:t>
            </a:r>
            <a:endParaRPr sz="1200">
              <a:latin typeface="Arial MT"/>
              <a:cs typeface="Arial MT"/>
            </a:endParaRPr>
          </a:p>
          <a:p>
            <a:pPr marL="18415" marR="7620" indent="-6350">
              <a:lnSpc>
                <a:spcPct val="1442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Riding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bicycle,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stitching,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Essay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writing,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Speaking,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Cooperating,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Accommodating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Respecting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 other,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dictionary,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Memorizing</a:t>
            </a:r>
            <a:r>
              <a:rPr dirty="0" sz="1200">
                <a:latin typeface="Arial MT"/>
                <a:cs typeface="Arial MT"/>
              </a:rPr>
              <a:t> facts,</a:t>
            </a:r>
            <a:r>
              <a:rPr dirty="0" sz="1200" spc="-5">
                <a:latin typeface="Arial MT"/>
                <a:cs typeface="Arial MT"/>
              </a:rPr>
              <a:t> solving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sums.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Cognitive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domain:</a:t>
            </a:r>
            <a:endParaRPr sz="1200">
              <a:latin typeface="Arial"/>
              <a:cs typeface="Arial"/>
            </a:endParaRPr>
          </a:p>
          <a:p>
            <a:pPr algn="just" marL="18415" marR="12065" indent="-6350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Use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dictionary, Memorizing facts, Solving mathematics sums, </a:t>
            </a:r>
            <a:r>
              <a:rPr dirty="0" sz="1200">
                <a:latin typeface="Arial MT"/>
                <a:cs typeface="Arial MT"/>
              </a:rPr>
              <a:t>Essay </a:t>
            </a:r>
            <a:r>
              <a:rPr dirty="0" sz="1200" spc="-5">
                <a:latin typeface="Arial MT"/>
                <a:cs typeface="Arial MT"/>
              </a:rPr>
              <a:t>writing. These are all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intellectual skills. And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are important for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and teachers and most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our teaching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 goes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domain.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50"/>
              </a:spcBef>
            </a:pPr>
            <a:r>
              <a:rPr dirty="0" sz="1200" spc="-5" b="1">
                <a:latin typeface="Arial"/>
                <a:cs typeface="Arial"/>
              </a:rPr>
              <a:t>Affective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domain:</a:t>
            </a:r>
            <a:endParaRPr sz="1200">
              <a:latin typeface="Arial"/>
              <a:cs typeface="Arial"/>
            </a:endParaRPr>
          </a:p>
          <a:p>
            <a:pPr algn="just" marL="18415" marR="6985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Cooperating, Accommodating different ideas, respecting each other.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important for every </a:t>
            </a:r>
            <a:r>
              <a:rPr dirty="0" sz="1200">
                <a:latin typeface="Arial MT"/>
                <a:cs typeface="Arial MT"/>
              </a:rPr>
              <a:t>single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being, related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any profession.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 spc="-10">
                <a:latin typeface="Arial MT"/>
                <a:cs typeface="Arial MT"/>
              </a:rPr>
              <a:t>spending </a:t>
            </a:r>
            <a:r>
              <a:rPr dirty="0" sz="1200" spc="-5">
                <a:latin typeface="Arial MT"/>
                <a:cs typeface="Arial MT"/>
              </a:rPr>
              <a:t>the life these things are really important.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living in isolation, we work with others and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do not have </a:t>
            </a:r>
            <a:r>
              <a:rPr dirty="0" sz="1200" spc="-10">
                <a:latin typeface="Arial MT"/>
                <a:cs typeface="Arial MT"/>
              </a:rPr>
              <a:t>life </a:t>
            </a:r>
            <a:r>
              <a:rPr dirty="0" sz="1200" spc="-5">
                <a:latin typeface="Arial MT"/>
                <a:cs typeface="Arial MT"/>
              </a:rPr>
              <a:t>skills, we will not be able to </a:t>
            </a:r>
            <a:r>
              <a:rPr dirty="0" sz="1200">
                <a:latin typeface="Arial MT"/>
                <a:cs typeface="Arial MT"/>
              </a:rPr>
              <a:t> interact </a:t>
            </a:r>
            <a:r>
              <a:rPr dirty="0" sz="1200" spc="-5">
                <a:latin typeface="Arial MT"/>
                <a:cs typeface="Arial MT"/>
              </a:rPr>
              <a:t>with each other.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not able to communicate appropriately with them, our learning 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deficient.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15"/>
              </a:spcBef>
            </a:pPr>
            <a:r>
              <a:rPr dirty="0" sz="1200" spc="-5" b="1">
                <a:latin typeface="Arial"/>
                <a:cs typeface="Arial"/>
              </a:rPr>
              <a:t>Psychomotor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domain:</a:t>
            </a:r>
            <a:endParaRPr sz="1200">
              <a:latin typeface="Arial"/>
              <a:cs typeface="Arial"/>
            </a:endParaRPr>
          </a:p>
          <a:p>
            <a:pPr algn="just" marL="18415" indent="-6350">
              <a:lnSpc>
                <a:spcPct val="100000"/>
              </a:lnSpc>
              <a:spcBef>
                <a:spcPts val="610"/>
              </a:spcBef>
            </a:pPr>
            <a:r>
              <a:rPr dirty="0" sz="1200" spc="-5">
                <a:latin typeface="Arial MT"/>
                <a:cs typeface="Arial MT"/>
              </a:rPr>
              <a:t>Riding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bicycle,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Stitching.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oriented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where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motor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muscles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endParaRPr sz="1200">
              <a:latin typeface="Arial MT"/>
              <a:cs typeface="Arial MT"/>
            </a:endParaRPr>
          </a:p>
          <a:p>
            <a:pPr algn="just" marL="18415" marR="10795">
              <a:lnSpc>
                <a:spcPct val="14420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involved.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anything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motor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muscles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called</a:t>
            </a:r>
            <a:r>
              <a:rPr dirty="0" sz="1200" spc="-5">
                <a:latin typeface="Arial MT"/>
                <a:cs typeface="Arial MT"/>
              </a:rPr>
              <a:t> 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psychomotor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domain.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Whatever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do, in </a:t>
            </a:r>
            <a:r>
              <a:rPr dirty="0" sz="1200" spc="-10">
                <a:latin typeface="Arial MT"/>
                <a:cs typeface="Arial MT"/>
              </a:rPr>
              <a:t>all </a:t>
            </a:r>
            <a:r>
              <a:rPr dirty="0" sz="1200" spc="-5">
                <a:latin typeface="Arial MT"/>
                <a:cs typeface="Arial MT"/>
              </a:rPr>
              <a:t>physical activities </a:t>
            </a:r>
            <a:r>
              <a:rPr dirty="0" sz="1200" spc="-10">
                <a:latin typeface="Arial MT"/>
                <a:cs typeface="Arial MT"/>
              </a:rPr>
              <a:t>our </a:t>
            </a:r>
            <a:r>
              <a:rPr dirty="0" sz="1200">
                <a:latin typeface="Arial MT"/>
                <a:cs typeface="Arial MT"/>
              </a:rPr>
              <a:t>mind </a:t>
            </a:r>
            <a:r>
              <a:rPr dirty="0" sz="1200" spc="-5">
                <a:latin typeface="Arial MT"/>
                <a:cs typeface="Arial MT"/>
              </a:rPr>
              <a:t>is always working. This is the domain which </a:t>
            </a:r>
            <a:r>
              <a:rPr dirty="0" sz="1200">
                <a:latin typeface="Arial MT"/>
                <a:cs typeface="Arial MT"/>
              </a:rPr>
              <a:t> involves</a:t>
            </a:r>
            <a:r>
              <a:rPr dirty="0" sz="1200" spc="-5">
                <a:latin typeface="Arial MT"/>
                <a:cs typeface="Arial MT"/>
              </a:rPr>
              <a:t> physical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mental</a:t>
            </a:r>
            <a:r>
              <a:rPr dirty="0" sz="1200">
                <a:latin typeface="Arial MT"/>
                <a:cs typeface="Arial MT"/>
              </a:rPr>
              <a:t> work.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5" b="1">
                <a:latin typeface="Arial"/>
                <a:cs typeface="Arial"/>
              </a:rPr>
              <a:t>Comments:</a:t>
            </a:r>
            <a:endParaRPr sz="1400">
              <a:latin typeface="Arial"/>
              <a:cs typeface="Arial"/>
            </a:endParaRPr>
          </a:p>
          <a:p>
            <a:pPr marL="469900" marR="10795" indent="-228600">
              <a:lnSpc>
                <a:spcPct val="144200"/>
              </a:lnSpc>
              <a:spcBef>
                <a:spcPts val="715"/>
              </a:spcBef>
              <a:buSzPct val="116666"/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‘Master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Teacher’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has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expertise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ensures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quality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384" y="599947"/>
            <a:ext cx="6401435" cy="1078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5080" indent="-228600">
              <a:lnSpc>
                <a:spcPct val="143900"/>
              </a:lnSpc>
              <a:spcBef>
                <a:spcPts val="100"/>
              </a:spcBef>
              <a:buSzPct val="116666"/>
              <a:buFont typeface="Arial MT"/>
              <a:buChar char="•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Kinesthetic learning </a:t>
            </a:r>
            <a:r>
              <a:rPr dirty="0" sz="1200" spc="-5">
                <a:latin typeface="Arial MT"/>
                <a:cs typeface="Arial MT"/>
              </a:rPr>
              <a:t>(also known as </a:t>
            </a:r>
            <a:r>
              <a:rPr dirty="0" sz="1200" spc="-5" b="1">
                <a:latin typeface="Arial"/>
                <a:cs typeface="Arial"/>
              </a:rPr>
              <a:t>tactile </a:t>
            </a: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>
                <a:latin typeface="Arial MT"/>
                <a:cs typeface="Arial MT"/>
              </a:rPr>
              <a:t>) </a:t>
            </a:r>
            <a:r>
              <a:rPr dirty="0" sz="1200" spc="-5">
                <a:latin typeface="Arial MT"/>
                <a:cs typeface="Arial MT"/>
              </a:rPr>
              <a:t>is a learning </a:t>
            </a:r>
            <a:r>
              <a:rPr dirty="0" sz="1200">
                <a:latin typeface="Arial MT"/>
                <a:cs typeface="Arial MT"/>
              </a:rPr>
              <a:t>style </a:t>
            </a:r>
            <a:r>
              <a:rPr dirty="0" sz="1200" spc="-5">
                <a:latin typeface="Arial MT"/>
                <a:cs typeface="Arial MT"/>
              </a:rPr>
              <a:t>in which learning </a:t>
            </a:r>
            <a:r>
              <a:rPr dirty="0" sz="1200">
                <a:latin typeface="Arial MT"/>
                <a:cs typeface="Arial MT"/>
              </a:rPr>
              <a:t> takes </a:t>
            </a:r>
            <a:r>
              <a:rPr dirty="0" sz="1200" spc="-5">
                <a:latin typeface="Arial MT"/>
                <a:cs typeface="Arial MT"/>
              </a:rPr>
              <a:t>place by the student </a:t>
            </a:r>
            <a:r>
              <a:rPr dirty="0" sz="1200">
                <a:latin typeface="Arial MT"/>
                <a:cs typeface="Arial MT"/>
              </a:rPr>
              <a:t>carrying </a:t>
            </a:r>
            <a:r>
              <a:rPr dirty="0" sz="1200" spc="-5">
                <a:latin typeface="Arial MT"/>
                <a:cs typeface="Arial MT"/>
              </a:rPr>
              <a:t>out a physical </a:t>
            </a:r>
            <a:r>
              <a:rPr dirty="0" sz="1200">
                <a:latin typeface="Arial MT"/>
                <a:cs typeface="Arial MT"/>
              </a:rPr>
              <a:t>activity, </a:t>
            </a:r>
            <a:r>
              <a:rPr dirty="0" sz="1200" spc="-5">
                <a:latin typeface="Arial MT"/>
                <a:cs typeface="Arial MT"/>
              </a:rPr>
              <a:t>rather than listening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 lecture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watching a demonstration. People with a kinesthetic learning style are also commonly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"do-ers".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1763522"/>
            <a:ext cx="6972300" cy="315595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dirty="0" sz="16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“Bloom’s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 Taxonomy”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8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objectives: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3955" y="2060896"/>
            <a:ext cx="6635750" cy="952246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just" marL="13970">
              <a:lnSpc>
                <a:spcPct val="100000"/>
              </a:lnSpc>
              <a:spcBef>
                <a:spcPts val="835"/>
              </a:spcBef>
            </a:pP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have:</a:t>
            </a:r>
            <a:endParaRPr sz="1200">
              <a:latin typeface="Arial MT"/>
              <a:cs typeface="Arial MT"/>
            </a:endParaRPr>
          </a:p>
          <a:p>
            <a:pPr marL="471170" indent="-229235">
              <a:lnSpc>
                <a:spcPct val="100000"/>
              </a:lnSpc>
              <a:spcBef>
                <a:spcPts val="1070"/>
              </a:spcBef>
              <a:buSzPct val="116666"/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Reflected </a:t>
            </a:r>
            <a:r>
              <a:rPr dirty="0" sz="1200" b="1">
                <a:latin typeface="Arial"/>
                <a:cs typeface="Arial"/>
              </a:rPr>
              <a:t>upon 6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Bloom’s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Taxonomy</a:t>
            </a:r>
            <a:r>
              <a:rPr dirty="0" sz="1200" b="1">
                <a:latin typeface="Arial"/>
                <a:cs typeface="Arial"/>
              </a:rPr>
              <a:t> of cognitive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domain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15"/>
              </a:spcBef>
              <a:buSzPct val="116666"/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Come</a:t>
            </a:r>
            <a:r>
              <a:rPr dirty="0" sz="1200" b="1">
                <a:latin typeface="Arial"/>
                <a:cs typeface="Arial"/>
              </a:rPr>
              <a:t> up with </a:t>
            </a:r>
            <a:r>
              <a:rPr dirty="0" sz="1200" spc="-5" b="1">
                <a:latin typeface="Arial"/>
                <a:cs typeface="Arial"/>
              </a:rPr>
              <a:t>examples</a:t>
            </a:r>
            <a:r>
              <a:rPr dirty="0" sz="1200" b="1">
                <a:latin typeface="Arial"/>
                <a:cs typeface="Arial"/>
              </a:rPr>
              <a:t> of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at </a:t>
            </a:r>
            <a:r>
              <a:rPr dirty="0" sz="1200" spc="-5" b="1">
                <a:latin typeface="Arial"/>
                <a:cs typeface="Arial"/>
              </a:rPr>
              <a:t>different levels</a:t>
            </a:r>
            <a:r>
              <a:rPr dirty="0" sz="1200" b="1">
                <a:latin typeface="Arial"/>
                <a:cs typeface="Arial"/>
              </a:rPr>
              <a:t> of </a:t>
            </a:r>
            <a:r>
              <a:rPr dirty="0" sz="1200" spc="-5" b="1">
                <a:latin typeface="Arial"/>
                <a:cs typeface="Arial"/>
              </a:rPr>
              <a:t>Bloom’s Taxonomy.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13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Outline:</a:t>
            </a:r>
            <a:endParaRPr sz="14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994"/>
              </a:spcBef>
              <a:buSzPct val="116666"/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Bloom’s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taxonomy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05"/>
              </a:spcBef>
              <a:buSzPct val="116666"/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Knowledge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795"/>
              </a:spcBef>
              <a:buSzPct val="116666"/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Comprehension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00"/>
              </a:spcBef>
              <a:buSzPct val="116666"/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Application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795"/>
              </a:spcBef>
              <a:buSzPct val="116666"/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Analysis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05"/>
              </a:spcBef>
              <a:buSzPct val="116666"/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Synthesis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00"/>
              </a:spcBef>
              <a:buSzPct val="116666"/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Evaluation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</a:t>
            </a:r>
            <a:endParaRPr sz="1200">
              <a:latin typeface="Arial"/>
              <a:cs typeface="Arial"/>
            </a:endParaRPr>
          </a:p>
          <a:p>
            <a:pPr algn="just" marL="20320" marR="13335" indent="-6350">
              <a:lnSpc>
                <a:spcPct val="144200"/>
              </a:lnSpc>
              <a:spcBef>
                <a:spcPts val="780"/>
              </a:spcBef>
            </a:pPr>
            <a:r>
              <a:rPr dirty="0" sz="1200" spc="-5">
                <a:latin typeface="Arial MT"/>
                <a:cs typeface="Arial MT"/>
              </a:rPr>
              <a:t>First, </a:t>
            </a:r>
            <a:r>
              <a:rPr dirty="0" sz="1200">
                <a:latin typeface="Arial MT"/>
                <a:cs typeface="Arial MT"/>
              </a:rPr>
              <a:t>you have to </a:t>
            </a:r>
            <a:r>
              <a:rPr dirty="0" sz="1200" spc="-5">
                <a:latin typeface="Arial MT"/>
                <a:cs typeface="Arial MT"/>
              </a:rPr>
              <a:t>understand what Bloom’s Taxonomy actually is? Here </a:t>
            </a:r>
            <a:r>
              <a:rPr dirty="0" sz="1200">
                <a:latin typeface="Arial MT"/>
                <a:cs typeface="Arial MT"/>
              </a:rPr>
              <a:t>are 6 </a:t>
            </a:r>
            <a:r>
              <a:rPr dirty="0" sz="1200" spc="-5">
                <a:latin typeface="Arial MT"/>
                <a:cs typeface="Arial MT"/>
              </a:rPr>
              <a:t>different types of </a:t>
            </a:r>
            <a:r>
              <a:rPr dirty="0" sz="1200">
                <a:latin typeface="Arial MT"/>
                <a:cs typeface="Arial MT"/>
              </a:rPr>
              <a:t> learnings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below,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try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it.</a:t>
            </a:r>
            <a:endParaRPr sz="1200">
              <a:latin typeface="Arial MT"/>
              <a:cs typeface="Arial MT"/>
            </a:endParaRPr>
          </a:p>
          <a:p>
            <a:pPr marL="471170" indent="-229235">
              <a:lnSpc>
                <a:spcPct val="100000"/>
              </a:lnSpc>
              <a:spcBef>
                <a:spcPts val="1070"/>
              </a:spcBef>
              <a:buSzPct val="116666"/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Recalling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key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names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Pakistan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movement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05"/>
              </a:spcBef>
              <a:buSzPct val="116666"/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Defining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noun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790"/>
              </a:spcBef>
              <a:buSzPct val="116666"/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Defining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solubility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05"/>
              </a:spcBef>
              <a:buSzPct val="116666"/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Telling counting 1 </a:t>
            </a:r>
            <a:r>
              <a:rPr dirty="0" sz="1200" b="1">
                <a:latin typeface="Arial"/>
                <a:cs typeface="Arial"/>
              </a:rPr>
              <a:t>–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20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795"/>
              </a:spcBef>
              <a:buSzPct val="116666"/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Naming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7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continents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15"/>
              </a:spcBef>
              <a:buSzPct val="116666"/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tell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Newton’s </a:t>
            </a:r>
            <a:r>
              <a:rPr dirty="0" sz="1200" b="1">
                <a:latin typeface="Arial"/>
                <a:cs typeface="Arial"/>
              </a:rPr>
              <a:t>third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law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motion</a:t>
            </a:r>
            <a:endParaRPr sz="1200">
              <a:latin typeface="Arial"/>
              <a:cs typeface="Arial"/>
            </a:endParaRPr>
          </a:p>
          <a:p>
            <a:pPr algn="just" marL="20320" marR="5080" indent="-6350">
              <a:lnSpc>
                <a:spcPct val="144200"/>
              </a:lnSpc>
              <a:spcBef>
                <a:spcPts val="765"/>
              </a:spcBef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all the above, the child has cram the things that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>
                <a:latin typeface="Arial MT"/>
                <a:cs typeface="Arial MT"/>
              </a:rPr>
              <a:t>tells. It </a:t>
            </a:r>
            <a:r>
              <a:rPr dirty="0" sz="1200" spc="-10">
                <a:latin typeface="Arial MT"/>
                <a:cs typeface="Arial MT"/>
              </a:rPr>
              <a:t>does </a:t>
            </a:r>
            <a:r>
              <a:rPr dirty="0" sz="1200" spc="-5">
                <a:latin typeface="Arial MT"/>
                <a:cs typeface="Arial MT"/>
              </a:rPr>
              <a:t>not involve high </a:t>
            </a:r>
            <a:r>
              <a:rPr dirty="0" sz="1200" spc="-1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thinking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skill. These are the facts or principles that he </a:t>
            </a:r>
            <a:r>
              <a:rPr dirty="0" sz="1200">
                <a:latin typeface="Arial MT"/>
                <a:cs typeface="Arial MT"/>
              </a:rPr>
              <a:t>has </a:t>
            </a:r>
            <a:r>
              <a:rPr dirty="0" sz="1200" spc="-5">
                <a:latin typeface="Arial MT"/>
                <a:cs typeface="Arial MT"/>
              </a:rPr>
              <a:t>memorized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learning.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ask a </a:t>
            </a:r>
            <a:r>
              <a:rPr dirty="0" sz="1200" spc="5">
                <a:latin typeface="Arial MT"/>
                <a:cs typeface="Arial MT"/>
              </a:rPr>
              <a:t>student </a:t>
            </a:r>
            <a:r>
              <a:rPr dirty="0" sz="1200" spc="-5">
                <a:latin typeface="Arial MT"/>
                <a:cs typeface="Arial MT"/>
              </a:rPr>
              <a:t>any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definition and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is using the same words as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book, there is no </a:t>
            </a:r>
            <a:r>
              <a:rPr dirty="0" sz="1200">
                <a:latin typeface="Arial MT"/>
                <a:cs typeface="Arial MT"/>
              </a:rPr>
              <a:t>thinking </a:t>
            </a:r>
            <a:r>
              <a:rPr dirty="0" sz="1200" spc="-5">
                <a:latin typeface="Arial MT"/>
                <a:cs typeface="Arial MT"/>
              </a:rPr>
              <a:t>involved. He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telling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 memorized.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Bloom’s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Taxonomy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called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“Knowledge level.”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790"/>
              </a:spcBef>
            </a:pPr>
            <a:r>
              <a:rPr dirty="0" sz="1400" spc="-5" b="1">
                <a:latin typeface="Arial"/>
                <a:cs typeface="Arial"/>
              </a:rPr>
              <a:t>Bloom’s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Taxonomy:</a:t>
            </a:r>
            <a:endParaRPr sz="1400">
              <a:latin typeface="Arial"/>
              <a:cs typeface="Arial"/>
            </a:endParaRPr>
          </a:p>
          <a:p>
            <a:pPr algn="just" marL="20320" marR="5715" indent="-6350">
              <a:lnSpc>
                <a:spcPts val="208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Bloom was an educationist; he has a lot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contributions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6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identifying different levels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learning. </a:t>
            </a:r>
            <a:r>
              <a:rPr dirty="0" sz="1200">
                <a:latin typeface="Arial MT"/>
                <a:cs typeface="Arial MT"/>
              </a:rPr>
              <a:t> In </a:t>
            </a:r>
            <a:r>
              <a:rPr dirty="0" sz="1200" spc="-5">
                <a:latin typeface="Arial MT"/>
                <a:cs typeface="Arial MT"/>
              </a:rPr>
              <a:t>1956, he developed his taxonomy but after 55 years, no learning objectives are forms without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following his taxonomy.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word ‘Taxonomy’ shows </a:t>
            </a:r>
            <a:r>
              <a:rPr dirty="0" sz="1200">
                <a:latin typeface="Arial MT"/>
                <a:cs typeface="Arial MT"/>
              </a:rPr>
              <a:t>classification. </a:t>
            </a:r>
            <a:r>
              <a:rPr dirty="0" sz="1200" spc="-5">
                <a:latin typeface="Arial MT"/>
                <a:cs typeface="Arial MT"/>
              </a:rPr>
              <a:t>He </a:t>
            </a:r>
            <a:r>
              <a:rPr dirty="0" sz="1200">
                <a:latin typeface="Arial MT"/>
                <a:cs typeface="Arial MT"/>
              </a:rPr>
              <a:t>says that learning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>
                <a:latin typeface="Arial MT"/>
                <a:cs typeface="Arial MT"/>
              </a:rPr>
              <a:t>take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 </a:t>
            </a:r>
            <a:r>
              <a:rPr dirty="0" sz="1200">
                <a:latin typeface="Arial MT"/>
                <a:cs typeface="Arial MT"/>
              </a:rPr>
              <a:t>at 6 </a:t>
            </a:r>
            <a:r>
              <a:rPr dirty="0" sz="1200" spc="-5">
                <a:latin typeface="Arial MT"/>
                <a:cs typeface="Arial MT"/>
              </a:rPr>
              <a:t>different levels and these levels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hierarchical.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the first level of Bloom’s Taxonomy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or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recall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level,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where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recall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new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thing</a:t>
            </a:r>
            <a:r>
              <a:rPr dirty="0" sz="1200" spc="-5">
                <a:latin typeface="Arial MT"/>
                <a:cs typeface="Arial MT"/>
              </a:rPr>
              <a:t> but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memorized,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recall </a:t>
            </a:r>
            <a:r>
              <a:rPr dirty="0" sz="1200">
                <a:latin typeface="Arial MT"/>
                <a:cs typeface="Arial MT"/>
              </a:rPr>
              <a:t>it.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Knowledge</a:t>
            </a:r>
            <a:r>
              <a:rPr dirty="0" u="heavy" sz="140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level: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54227"/>
            <a:ext cx="6634480" cy="1121791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9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about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recalling</a:t>
            </a:r>
            <a:r>
              <a:rPr dirty="0" sz="1200" spc="-10" b="1">
                <a:latin typeface="Arial"/>
                <a:cs typeface="Arial"/>
              </a:rPr>
              <a:t> of </a:t>
            </a:r>
            <a:r>
              <a:rPr dirty="0" sz="1200" b="1">
                <a:latin typeface="Arial"/>
                <a:cs typeface="Arial"/>
              </a:rPr>
              <a:t>information.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 about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data, </a:t>
            </a:r>
            <a:r>
              <a:rPr dirty="0" sz="1200" spc="-5" b="1">
                <a:latin typeface="Arial"/>
                <a:cs typeface="Arial"/>
              </a:rPr>
              <a:t>events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places.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9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Knowledge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major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ideas.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Mastery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subject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matter.</a:t>
            </a:r>
            <a:endParaRPr sz="1200">
              <a:latin typeface="Arial"/>
              <a:cs typeface="Arial"/>
            </a:endParaRPr>
          </a:p>
          <a:p>
            <a:pPr algn="just" marL="255270" marR="8255" indent="-6350">
              <a:lnSpc>
                <a:spcPct val="144200"/>
              </a:lnSpc>
              <a:spcBef>
                <a:spcPts val="994"/>
              </a:spcBef>
            </a:pPr>
            <a:r>
              <a:rPr dirty="0" sz="1200" spc="-5">
                <a:latin typeface="Arial MT"/>
                <a:cs typeface="Arial MT"/>
              </a:rPr>
              <a:t>According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Bloom, </a:t>
            </a:r>
            <a:r>
              <a:rPr dirty="0" sz="1200" spc="-1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the lowest level of </a:t>
            </a:r>
            <a:r>
              <a:rPr dirty="0" sz="1200">
                <a:latin typeface="Arial MT"/>
                <a:cs typeface="Arial MT"/>
              </a:rPr>
              <a:t>learning. In </a:t>
            </a:r>
            <a:r>
              <a:rPr dirty="0" sz="1200" spc="-5">
                <a:latin typeface="Arial MT"/>
                <a:cs typeface="Arial MT"/>
              </a:rPr>
              <a:t>schools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mostly focus on testing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level.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book is given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name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‘General knowledge.’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contains </a:t>
            </a:r>
            <a:r>
              <a:rPr dirty="0" sz="1200">
                <a:latin typeface="Arial MT"/>
                <a:cs typeface="Arial MT"/>
              </a:rPr>
              <a:t>facts and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figures and we say to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memorize </a:t>
            </a:r>
            <a:r>
              <a:rPr dirty="0" sz="1200">
                <a:latin typeface="Arial MT"/>
                <a:cs typeface="Arial MT"/>
              </a:rPr>
              <a:t>it. </a:t>
            </a:r>
            <a:r>
              <a:rPr dirty="0" sz="1200" spc="-5">
                <a:latin typeface="Arial MT"/>
                <a:cs typeface="Arial MT"/>
              </a:rPr>
              <a:t>So, we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5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deny the importance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knowledge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but teachers tend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over use </a:t>
            </a:r>
            <a:r>
              <a:rPr dirty="0" sz="1200">
                <a:latin typeface="Arial MT"/>
                <a:cs typeface="Arial MT"/>
              </a:rPr>
              <a:t>it, </a:t>
            </a:r>
            <a:r>
              <a:rPr dirty="0" sz="1200" spc="-5">
                <a:latin typeface="Arial MT"/>
                <a:cs typeface="Arial MT"/>
              </a:rPr>
              <a:t>and the student who is not good </a:t>
            </a:r>
            <a:r>
              <a:rPr dirty="0" sz="1200">
                <a:latin typeface="Arial MT"/>
                <a:cs typeface="Arial MT"/>
              </a:rPr>
              <a:t> 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memorizing,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suffer.</a:t>
            </a:r>
            <a:endParaRPr sz="120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  <a:spcBef>
                <a:spcPts val="795"/>
              </a:spcBef>
            </a:pPr>
            <a:r>
              <a:rPr dirty="0" sz="1400" spc="-5" b="1">
                <a:latin typeface="Arial"/>
                <a:cs typeface="Arial"/>
              </a:rPr>
              <a:t>Question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cues:</a:t>
            </a:r>
            <a:endParaRPr sz="1400">
              <a:latin typeface="Arial"/>
              <a:cs typeface="Arial"/>
            </a:endParaRPr>
          </a:p>
          <a:p>
            <a:pPr algn="just" marL="248920">
              <a:lnSpc>
                <a:spcPct val="100000"/>
              </a:lnSpc>
              <a:spcBef>
                <a:spcPts val="560"/>
              </a:spcBef>
            </a:pPr>
            <a:r>
              <a:rPr dirty="0" sz="1200" spc="-5">
                <a:latin typeface="Arial MT"/>
                <a:cs typeface="Arial MT"/>
              </a:rPr>
              <a:t>Following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 the </a:t>
            </a:r>
            <a:r>
              <a:rPr dirty="0" sz="1200" spc="-5">
                <a:latin typeface="Arial MT"/>
                <a:cs typeface="Arial MT"/>
              </a:rPr>
              <a:t>words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indicate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List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Define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Tell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Describe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Identify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Show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Label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Who,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When,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Where.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</a:pP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Comprehension:</a:t>
            </a:r>
            <a:endParaRPr sz="1400">
              <a:latin typeface="Arial"/>
              <a:cs typeface="Arial"/>
            </a:endParaRPr>
          </a:p>
          <a:p>
            <a:pPr algn="just" marL="248920">
              <a:lnSpc>
                <a:spcPct val="100000"/>
              </a:lnSpc>
              <a:spcBef>
                <a:spcPts val="550"/>
              </a:spcBef>
            </a:pPr>
            <a:r>
              <a:rPr dirty="0" sz="1200" spc="-5">
                <a:latin typeface="Arial MT"/>
                <a:cs typeface="Arial MT"/>
              </a:rPr>
              <a:t>Again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here 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try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Describe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two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nation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theory?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State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differences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between human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eye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camera?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functions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plant,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root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stem?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Goldilock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do, </a:t>
            </a:r>
            <a:r>
              <a:rPr dirty="0" sz="1200" b="1">
                <a:latin typeface="Arial"/>
                <a:cs typeface="Arial"/>
              </a:rPr>
              <a:t>when</a:t>
            </a:r>
            <a:r>
              <a:rPr dirty="0" sz="1200" spc="-5" b="1">
                <a:latin typeface="Arial"/>
                <a:cs typeface="Arial"/>
              </a:rPr>
              <a:t> she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bear’s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house?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our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rights</a:t>
            </a:r>
            <a:r>
              <a:rPr dirty="0" sz="1200" spc="-5" b="1">
                <a:latin typeface="Arial"/>
                <a:cs typeface="Arial"/>
              </a:rPr>
              <a:t> 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responsibilities </a:t>
            </a:r>
            <a:r>
              <a:rPr dirty="0" sz="1200" b="1">
                <a:latin typeface="Arial"/>
                <a:cs typeface="Arial"/>
              </a:rPr>
              <a:t>as</a:t>
            </a:r>
            <a:r>
              <a:rPr dirty="0" sz="1200" spc="-5" b="1">
                <a:latin typeface="Arial"/>
                <a:cs typeface="Arial"/>
              </a:rPr>
              <a:t> Pakistani </a:t>
            </a:r>
            <a:r>
              <a:rPr dirty="0" sz="1200" b="1">
                <a:latin typeface="Arial"/>
                <a:cs typeface="Arial"/>
              </a:rPr>
              <a:t>citizens?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765"/>
              </a:spcBef>
            </a:pPr>
            <a:r>
              <a:rPr dirty="0" sz="1200" spc="-5">
                <a:latin typeface="Arial MT"/>
                <a:cs typeface="Arial MT"/>
              </a:rPr>
              <a:t>The common thing in all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above is that the students are provided with the information about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either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getting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books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source.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now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asked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reproduce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information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their own words.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students do not </a:t>
            </a:r>
            <a:r>
              <a:rPr dirty="0" sz="1200" spc="-10">
                <a:latin typeface="Arial MT"/>
                <a:cs typeface="Arial MT"/>
              </a:rPr>
              <a:t>use </a:t>
            </a:r>
            <a:r>
              <a:rPr dirty="0" sz="1200" spc="-5">
                <a:latin typeface="Arial MT"/>
                <a:cs typeface="Arial MT"/>
              </a:rPr>
              <a:t>their own words, how can we know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students have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understood a certain concept or not?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the level of </a:t>
            </a:r>
            <a:r>
              <a:rPr dirty="0" sz="1200" spc="-5">
                <a:latin typeface="Arial MT"/>
                <a:cs typeface="Arial MT"/>
              </a:rPr>
              <a:t>understanding and in </a:t>
            </a:r>
            <a:r>
              <a:rPr dirty="0" sz="1200">
                <a:latin typeface="Arial MT"/>
                <a:cs typeface="Arial MT"/>
              </a:rPr>
              <a:t>this level, </a:t>
            </a:r>
            <a:r>
              <a:rPr dirty="0" sz="1200" spc="-5">
                <a:latin typeface="Arial MT"/>
                <a:cs typeface="Arial MT"/>
              </a:rPr>
              <a:t>we expect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the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use their own words. E.g. the </a:t>
            </a:r>
            <a:r>
              <a:rPr dirty="0" sz="1200">
                <a:latin typeface="Arial MT"/>
                <a:cs typeface="Arial MT"/>
              </a:rPr>
              <a:t>translation </a:t>
            </a:r>
            <a:r>
              <a:rPr dirty="0" sz="1200" spc="-5">
                <a:latin typeface="Arial MT"/>
                <a:cs typeface="Arial MT"/>
              </a:rPr>
              <a:t>from Urdu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English or English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Urdu also comes in the comprehension </a:t>
            </a:r>
            <a:r>
              <a:rPr dirty="0" sz="1200" spc="-1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because </a:t>
            </a:r>
            <a:r>
              <a:rPr dirty="0" sz="1200" spc="-10">
                <a:latin typeface="Arial MT"/>
                <a:cs typeface="Arial MT"/>
              </a:rPr>
              <a:t>we can </a:t>
            </a:r>
            <a:r>
              <a:rPr dirty="0" sz="1200" spc="-5">
                <a:latin typeface="Arial MT"/>
                <a:cs typeface="Arial MT"/>
              </a:rPr>
              <a:t>check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understanding of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words are translated one by one </a:t>
            </a:r>
            <a:r>
              <a:rPr dirty="0" sz="1200">
                <a:latin typeface="Arial MT"/>
                <a:cs typeface="Arial MT"/>
              </a:rPr>
              <a:t>then it </a:t>
            </a:r>
            <a:r>
              <a:rPr dirty="0" sz="1200" spc="-5">
                <a:latin typeface="Arial MT"/>
                <a:cs typeface="Arial MT"/>
              </a:rPr>
              <a:t>is not a comprehension </a:t>
            </a:r>
            <a:r>
              <a:rPr dirty="0" sz="1200">
                <a:latin typeface="Arial MT"/>
                <a:cs typeface="Arial MT"/>
              </a:rPr>
              <a:t>level, </a:t>
            </a:r>
            <a:r>
              <a:rPr dirty="0" sz="1200" spc="-5">
                <a:latin typeface="Arial MT"/>
                <a:cs typeface="Arial MT"/>
              </a:rPr>
              <a:t>comprehension </a:t>
            </a:r>
            <a:r>
              <a:rPr dirty="0" sz="1200">
                <a:latin typeface="Arial MT"/>
                <a:cs typeface="Arial MT"/>
              </a:rPr>
              <a:t> level </a:t>
            </a:r>
            <a:r>
              <a:rPr dirty="0" sz="1200" spc="-5">
                <a:latin typeface="Arial MT"/>
                <a:cs typeface="Arial MT"/>
              </a:rPr>
              <a:t>expects the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read the text carefully, understand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and then translate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into a new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(In </a:t>
            </a:r>
            <a:r>
              <a:rPr dirty="0" sz="1200" spc="-5">
                <a:latin typeface="Arial MT"/>
                <a:cs typeface="Arial MT"/>
              </a:rPr>
              <a:t>knowledge level, we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expect from the students to use their own words while explaining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anything. But in comprehension, </a:t>
            </a:r>
            <a:r>
              <a:rPr dirty="0" sz="1200">
                <a:latin typeface="Arial MT"/>
                <a:cs typeface="Arial MT"/>
              </a:rPr>
              <a:t>first </a:t>
            </a:r>
            <a:r>
              <a:rPr dirty="0" sz="1200" spc="-5">
                <a:latin typeface="Arial MT"/>
                <a:cs typeface="Arial MT"/>
              </a:rPr>
              <a:t>students get certain information 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 something 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5">
                <a:latin typeface="Arial MT"/>
                <a:cs typeface="Arial MT"/>
              </a:rPr>
              <a:t> them.)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3955" y="823081"/>
            <a:ext cx="6634480" cy="10880090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Comprehension</a:t>
            </a:r>
            <a:r>
              <a:rPr dirty="0" u="heavy" sz="140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level:</a:t>
            </a:r>
            <a:endParaRPr sz="14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695"/>
              </a:spcBef>
            </a:pPr>
            <a:r>
              <a:rPr dirty="0" sz="1200" spc="-5" b="1">
                <a:latin typeface="Arial"/>
                <a:cs typeface="Arial"/>
              </a:rPr>
              <a:t>Words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often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found</a:t>
            </a:r>
            <a:r>
              <a:rPr dirty="0" sz="1200" b="1">
                <a:latin typeface="Arial"/>
                <a:cs typeface="Arial"/>
              </a:rPr>
              <a:t> 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comprehension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questions: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600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Describe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Rephrase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Put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your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own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words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Contrast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Explain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main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idea</a:t>
            </a:r>
            <a:endParaRPr sz="1200">
              <a:latin typeface="Arial"/>
              <a:cs typeface="Arial"/>
            </a:endParaRPr>
          </a:p>
          <a:p>
            <a:pPr marL="227965" marR="5158105" indent="-22796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227965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-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Compare</a:t>
            </a:r>
            <a:endParaRPr sz="1200">
              <a:latin typeface="Arial"/>
              <a:cs typeface="Arial"/>
            </a:endParaRPr>
          </a:p>
          <a:p>
            <a:pPr algn="ctr" marR="5128260">
              <a:lnSpc>
                <a:spcPct val="100000"/>
              </a:lnSpc>
              <a:spcBef>
                <a:spcPts val="590"/>
              </a:spcBef>
            </a:pP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Application</a:t>
            </a:r>
            <a:r>
              <a:rPr dirty="0" u="heavy" sz="1400" spc="-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level:</a:t>
            </a:r>
            <a:endParaRPr sz="1400">
              <a:latin typeface="Arial"/>
              <a:cs typeface="Arial"/>
            </a:endParaRPr>
          </a:p>
          <a:p>
            <a:pPr algn="just" marL="13970">
              <a:lnSpc>
                <a:spcPct val="100000"/>
              </a:lnSpc>
              <a:spcBef>
                <a:spcPts val="550"/>
              </a:spcBef>
            </a:pPr>
            <a:r>
              <a:rPr dirty="0" sz="1200" spc="-5">
                <a:latin typeface="Arial MT"/>
                <a:cs typeface="Arial MT"/>
              </a:rPr>
              <a:t>Again 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questions;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 </a:t>
            </a:r>
            <a:r>
              <a:rPr dirty="0" sz="1200">
                <a:latin typeface="Arial MT"/>
                <a:cs typeface="Arial MT"/>
              </a:rPr>
              <a:t>things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questions:</a:t>
            </a:r>
            <a:endParaRPr sz="1200">
              <a:latin typeface="Arial MT"/>
              <a:cs typeface="Arial MT"/>
            </a:endParaRPr>
          </a:p>
          <a:p>
            <a:pPr marL="471170" indent="-229235">
              <a:lnSpc>
                <a:spcPct val="100000"/>
              </a:lnSpc>
              <a:spcBef>
                <a:spcPts val="910"/>
              </a:spcBef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Classify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following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materials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transparent,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translucent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and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opaque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objects.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Classify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given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foods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vegetables,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fruits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meat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group.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Use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formula.</a:t>
            </a:r>
            <a:endParaRPr sz="1200">
              <a:latin typeface="Arial"/>
              <a:cs typeface="Arial"/>
            </a:endParaRPr>
          </a:p>
          <a:p>
            <a:pPr marL="478790">
              <a:lnSpc>
                <a:spcPct val="100000"/>
              </a:lnSpc>
              <a:spcBef>
                <a:spcPts val="430"/>
              </a:spcBef>
            </a:pPr>
            <a:r>
              <a:rPr dirty="0" sz="1200" spc="-5" b="1">
                <a:latin typeface="Arial"/>
                <a:cs typeface="Arial"/>
              </a:rPr>
              <a:t>Breadth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x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Length</a:t>
            </a:r>
            <a:r>
              <a:rPr dirty="0" sz="1200" b="1">
                <a:latin typeface="Arial"/>
                <a:cs typeface="Arial"/>
              </a:rPr>
              <a:t> =</a:t>
            </a:r>
            <a:r>
              <a:rPr dirty="0" sz="1200" spc="-5" b="1">
                <a:latin typeface="Arial"/>
                <a:cs typeface="Arial"/>
              </a:rPr>
              <a:t> Area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(to</a:t>
            </a:r>
            <a:r>
              <a:rPr dirty="0" sz="1200" b="1">
                <a:latin typeface="Arial"/>
                <a:cs typeface="Arial"/>
              </a:rPr>
              <a:t> find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out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area</a:t>
            </a:r>
            <a:r>
              <a:rPr dirty="0" sz="1200" spc="-10" b="1">
                <a:latin typeface="Arial"/>
                <a:cs typeface="Arial"/>
              </a:rPr>
              <a:t> of</a:t>
            </a:r>
            <a:r>
              <a:rPr dirty="0" sz="1200" b="1">
                <a:latin typeface="Arial"/>
                <a:cs typeface="Arial"/>
              </a:rPr>
              <a:t> your geometry </a:t>
            </a:r>
            <a:r>
              <a:rPr dirty="0" sz="1200" spc="-5" b="1">
                <a:latin typeface="Arial"/>
                <a:cs typeface="Arial"/>
              </a:rPr>
              <a:t>box).</a:t>
            </a:r>
            <a:endParaRPr sz="1200">
              <a:latin typeface="Arial"/>
              <a:cs typeface="Arial"/>
            </a:endParaRPr>
          </a:p>
          <a:p>
            <a:pPr algn="just" marL="20320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Children have learnt about transparent, translucent and opaque objects, teacher </a:t>
            </a:r>
            <a:r>
              <a:rPr dirty="0" sz="1200">
                <a:latin typeface="Arial MT"/>
                <a:cs typeface="Arial MT"/>
              </a:rPr>
              <a:t>told </a:t>
            </a:r>
            <a:r>
              <a:rPr dirty="0" sz="1200" spc="-5">
                <a:latin typeface="Arial MT"/>
                <a:cs typeface="Arial MT"/>
              </a:rPr>
              <a:t>them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objects through which light could not pass are opaque objects. The objects through which the </a:t>
            </a:r>
            <a:r>
              <a:rPr dirty="0" sz="1200">
                <a:latin typeface="Arial MT"/>
                <a:cs typeface="Arial MT"/>
              </a:rPr>
              <a:t>light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pass are transparent objects and the object which </a:t>
            </a:r>
            <a:r>
              <a:rPr dirty="0" sz="1200" spc="5">
                <a:latin typeface="Arial MT"/>
                <a:cs typeface="Arial MT"/>
              </a:rPr>
              <a:t>allows </a:t>
            </a:r>
            <a:r>
              <a:rPr dirty="0" sz="1200">
                <a:latin typeface="Arial MT"/>
                <a:cs typeface="Arial MT"/>
              </a:rPr>
              <a:t>some </a:t>
            </a:r>
            <a:r>
              <a:rPr dirty="0" sz="1200" spc="-5">
                <a:latin typeface="Arial MT"/>
                <a:cs typeface="Arial MT"/>
              </a:rPr>
              <a:t>light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pass through 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translucent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level. If </a:t>
            </a:r>
            <a:r>
              <a:rPr dirty="0" sz="1200" spc="-5">
                <a:latin typeface="Arial MT"/>
                <a:cs typeface="Arial MT"/>
              </a:rPr>
              <a:t>he tells by </a:t>
            </a:r>
            <a:r>
              <a:rPr dirty="0" sz="1200" spc="-10">
                <a:latin typeface="Arial MT"/>
                <a:cs typeface="Arial MT"/>
              </a:rPr>
              <a:t>using </a:t>
            </a:r>
            <a:r>
              <a:rPr dirty="0" sz="1200" spc="-5">
                <a:latin typeface="Arial MT"/>
                <a:cs typeface="Arial MT"/>
              </a:rPr>
              <a:t>his own words then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comprehension level. </a:t>
            </a:r>
            <a:r>
              <a:rPr dirty="0" sz="1200">
                <a:latin typeface="Arial MT"/>
                <a:cs typeface="Arial MT"/>
              </a:rPr>
              <a:t>But to </a:t>
            </a:r>
            <a:r>
              <a:rPr dirty="0" sz="1200" spc="-5">
                <a:latin typeface="Arial MT"/>
                <a:cs typeface="Arial MT"/>
              </a:rPr>
              <a:t>use the knowledge 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new situation is application level. Now you </a:t>
            </a:r>
            <a:r>
              <a:rPr dirty="0" sz="1200">
                <a:latin typeface="Arial MT"/>
                <a:cs typeface="Arial MT"/>
              </a:rPr>
              <a:t>give five </a:t>
            </a:r>
            <a:r>
              <a:rPr dirty="0" sz="1200" spc="-5">
                <a:latin typeface="Arial MT"/>
                <a:cs typeface="Arial MT"/>
              </a:rPr>
              <a:t>things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identify these </a:t>
            </a:r>
            <a:r>
              <a:rPr dirty="0" sz="1200">
                <a:latin typeface="Arial MT"/>
                <a:cs typeface="Arial MT"/>
              </a:rPr>
              <a:t>three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kinds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objects.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These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are: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Cellophane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sheet,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paper,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table,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book,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wall.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Now,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endParaRPr sz="12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  <a:spcBef>
                <a:spcPts val="434"/>
              </a:spcBef>
            </a:pP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2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opaque,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transparent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translucent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objects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2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endParaRPr sz="12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acquiring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application level.</a:t>
            </a:r>
            <a:endParaRPr sz="1200">
              <a:latin typeface="Arial MT"/>
              <a:cs typeface="Arial MT"/>
            </a:endParaRPr>
          </a:p>
          <a:p>
            <a:pPr algn="just" marL="20320" marR="8890" indent="-6350">
              <a:lnSpc>
                <a:spcPct val="143900"/>
              </a:lnSpc>
              <a:spcBef>
                <a:spcPts val="30"/>
              </a:spcBef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second question, children are told about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food groups and then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are given different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examples </a:t>
            </a:r>
            <a:r>
              <a:rPr dirty="0" sz="1200">
                <a:latin typeface="Arial MT"/>
                <a:cs typeface="Arial MT"/>
              </a:rPr>
              <a:t>of fruits, </a:t>
            </a:r>
            <a:r>
              <a:rPr dirty="0" sz="1200" spc="-5">
                <a:latin typeface="Arial MT"/>
                <a:cs typeface="Arial MT"/>
              </a:rPr>
              <a:t>vegetables and </a:t>
            </a:r>
            <a:r>
              <a:rPr dirty="0" sz="1200">
                <a:latin typeface="Arial MT"/>
                <a:cs typeface="Arial MT"/>
              </a:rPr>
              <a:t>meat </a:t>
            </a:r>
            <a:r>
              <a:rPr dirty="0" sz="1200" spc="-5">
                <a:latin typeface="Arial MT"/>
                <a:cs typeface="Arial MT"/>
              </a:rPr>
              <a:t>and they are ask to </a:t>
            </a:r>
            <a:r>
              <a:rPr dirty="0" sz="1200">
                <a:latin typeface="Arial MT"/>
                <a:cs typeface="Arial MT"/>
              </a:rPr>
              <a:t>classify them. If the </a:t>
            </a:r>
            <a:r>
              <a:rPr dirty="0" sz="1200" spc="-5">
                <a:latin typeface="Arial MT"/>
                <a:cs typeface="Arial MT"/>
              </a:rPr>
              <a:t>children know 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exact </a:t>
            </a:r>
            <a:r>
              <a:rPr dirty="0" sz="1200" spc="-5">
                <a:latin typeface="Arial MT"/>
                <a:cs typeface="Arial MT"/>
              </a:rPr>
              <a:t>difference between </a:t>
            </a:r>
            <a:r>
              <a:rPr dirty="0" sz="1200">
                <a:latin typeface="Arial MT"/>
                <a:cs typeface="Arial MT"/>
              </a:rPr>
              <a:t>fruits </a:t>
            </a:r>
            <a:r>
              <a:rPr dirty="0" sz="1200" spc="-5">
                <a:latin typeface="Arial MT"/>
                <a:cs typeface="Arial MT"/>
              </a:rPr>
              <a:t>and vegetables, </a:t>
            </a:r>
            <a:r>
              <a:rPr dirty="0" sz="1200" spc="-1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they will apply their knowledge and can </a:t>
            </a:r>
            <a:r>
              <a:rPr dirty="0" sz="1200">
                <a:latin typeface="Arial MT"/>
                <a:cs typeface="Arial MT"/>
              </a:rPr>
              <a:t> classify them.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</a:t>
            </a:r>
            <a:r>
              <a:rPr dirty="0" sz="1200">
                <a:latin typeface="Arial MT"/>
                <a:cs typeface="Arial MT"/>
              </a:rPr>
              <a:t> not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able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classify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</a:t>
            </a:r>
            <a:r>
              <a:rPr dirty="0" sz="1200">
                <a:latin typeface="Arial MT"/>
                <a:cs typeface="Arial MT"/>
              </a:rPr>
              <a:t> items.</a:t>
            </a:r>
            <a:endParaRPr sz="1200">
              <a:latin typeface="Arial MT"/>
              <a:cs typeface="Arial MT"/>
            </a:endParaRPr>
          </a:p>
          <a:p>
            <a:pPr algn="just" marL="20320" marR="5080" indent="-6350">
              <a:lnSpc>
                <a:spcPct val="1442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third question, there is a formula to find area. If the students are </a:t>
            </a:r>
            <a:r>
              <a:rPr dirty="0" sz="1200">
                <a:latin typeface="Arial MT"/>
                <a:cs typeface="Arial MT"/>
              </a:rPr>
              <a:t>asked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 spc="10">
                <a:latin typeface="Arial MT"/>
                <a:cs typeface="Arial MT"/>
              </a:rPr>
              <a:t>tell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formula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find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area, then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knowledge </a:t>
            </a:r>
            <a:r>
              <a:rPr dirty="0" sz="1200">
                <a:latin typeface="Arial MT"/>
                <a:cs typeface="Arial MT"/>
              </a:rPr>
              <a:t>level.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child knows the formula. But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teacher is </a:t>
            </a:r>
            <a:r>
              <a:rPr dirty="0" sz="1200">
                <a:latin typeface="Arial MT"/>
                <a:cs typeface="Arial MT"/>
              </a:rPr>
              <a:t>saying,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 know the formula but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not enough they must know how to calculate the area, </a:t>
            </a:r>
            <a:r>
              <a:rPr dirty="0" sz="1200" spc="-10">
                <a:latin typeface="Arial MT"/>
                <a:cs typeface="Arial MT"/>
              </a:rPr>
              <a:t>so he </a:t>
            </a:r>
            <a:r>
              <a:rPr dirty="0" sz="1200" spc="-5">
                <a:latin typeface="Arial MT"/>
                <a:cs typeface="Arial MT"/>
              </a:rPr>
              <a:t>ass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to calculate the area of their geometry box. It is application level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learning. </a:t>
            </a:r>
            <a:r>
              <a:rPr dirty="0" sz="1200">
                <a:latin typeface="Arial MT"/>
                <a:cs typeface="Arial MT"/>
              </a:rPr>
              <a:t>Only </a:t>
            </a:r>
            <a:r>
              <a:rPr dirty="0" sz="1200" spc="-5">
                <a:latin typeface="Arial MT"/>
                <a:cs typeface="Arial MT"/>
              </a:rPr>
              <a:t>knowing is </a:t>
            </a:r>
            <a:r>
              <a:rPr dirty="0" sz="1200">
                <a:latin typeface="Arial MT"/>
                <a:cs typeface="Arial MT"/>
              </a:rPr>
              <a:t> not</a:t>
            </a:r>
            <a:r>
              <a:rPr dirty="0" sz="1200" spc="-5">
                <a:latin typeface="Arial MT"/>
                <a:cs typeface="Arial MT"/>
              </a:rPr>
              <a:t> important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apply</a:t>
            </a:r>
            <a:r>
              <a:rPr dirty="0" sz="1200">
                <a:latin typeface="Arial MT"/>
                <a:cs typeface="Arial MT"/>
              </a:rPr>
              <a:t> it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new </a:t>
            </a:r>
            <a:r>
              <a:rPr dirty="0" sz="1200" spc="-5">
                <a:latin typeface="Arial MT"/>
                <a:cs typeface="Arial MT"/>
              </a:rPr>
              <a:t>situation.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Application</a:t>
            </a:r>
            <a:r>
              <a:rPr dirty="0" u="heavy" sz="140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level:</a:t>
            </a:r>
            <a:endParaRPr sz="14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550"/>
              </a:spcBef>
            </a:pPr>
            <a:r>
              <a:rPr dirty="0" sz="1200" spc="-5" b="1">
                <a:latin typeface="Arial"/>
                <a:cs typeface="Arial"/>
              </a:rPr>
              <a:t>Words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often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found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application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questions: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780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Apply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Show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Demonstrate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610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Choose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Illustrate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3955" y="554227"/>
            <a:ext cx="6635115" cy="11024235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471170" indent="-229235">
              <a:lnSpc>
                <a:spcPct val="100000"/>
              </a:lnSpc>
              <a:spcBef>
                <a:spcPts val="90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Classify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Use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19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Write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Draw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diagram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2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Observe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record</a:t>
            </a:r>
            <a:endParaRPr sz="1200">
              <a:latin typeface="Arial"/>
              <a:cs typeface="Arial"/>
            </a:endParaRPr>
          </a:p>
          <a:p>
            <a:pPr algn="just" marL="20320" marR="9525" indent="-6350">
              <a:lnSpc>
                <a:spcPct val="144200"/>
              </a:lnSpc>
              <a:spcBef>
                <a:spcPts val="994"/>
              </a:spcBef>
            </a:pPr>
            <a:r>
              <a:rPr dirty="0" sz="1200" spc="-5">
                <a:latin typeface="Arial MT"/>
                <a:cs typeface="Arial MT"/>
              </a:rPr>
              <a:t>The three </a:t>
            </a:r>
            <a:r>
              <a:rPr dirty="0" sz="1200">
                <a:latin typeface="Arial MT"/>
                <a:cs typeface="Arial MT"/>
              </a:rPr>
              <a:t>levels </a:t>
            </a:r>
            <a:r>
              <a:rPr dirty="0" sz="1200" spc="-5">
                <a:latin typeface="Arial MT"/>
                <a:cs typeface="Arial MT"/>
              </a:rPr>
              <a:t>discussed above are usually called as lower levels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learning. Students feel </a:t>
            </a:r>
            <a:r>
              <a:rPr dirty="0" sz="1200">
                <a:latin typeface="Arial MT"/>
                <a:cs typeface="Arial MT"/>
              </a:rPr>
              <a:t> difficulty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>
                <a:latin typeface="Arial MT"/>
                <a:cs typeface="Arial MT"/>
              </a:rPr>
              <a:t> there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application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it.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educationists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>
                <a:latin typeface="Arial MT"/>
                <a:cs typeface="Arial MT"/>
              </a:rPr>
              <a:t> that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application level learning is also a lower level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learning.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although advance from knowledge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comprehension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advance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Analysis</a:t>
            </a:r>
            <a:r>
              <a:rPr dirty="0" u="heavy" sz="140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level:</a:t>
            </a:r>
            <a:endParaRPr sz="1400">
              <a:latin typeface="Arial"/>
              <a:cs typeface="Arial"/>
            </a:endParaRPr>
          </a:p>
          <a:p>
            <a:pPr algn="r" marR="325755">
              <a:lnSpc>
                <a:spcPct val="100000"/>
              </a:lnSpc>
              <a:spcBef>
                <a:spcPts val="550"/>
              </a:spcBef>
            </a:pPr>
            <a:r>
              <a:rPr dirty="0" sz="1200" spc="-5">
                <a:latin typeface="Arial MT"/>
                <a:cs typeface="Arial MT"/>
              </a:rPr>
              <a:t>Again 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questions;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-5">
                <a:latin typeface="Arial MT"/>
                <a:cs typeface="Arial MT"/>
              </a:rPr>
              <a:t> 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</a:t>
            </a:r>
            <a:r>
              <a:rPr dirty="0" sz="1200">
                <a:latin typeface="Arial MT"/>
                <a:cs typeface="Arial MT"/>
              </a:rPr>
              <a:t> things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questions:</a:t>
            </a:r>
            <a:endParaRPr sz="1200">
              <a:latin typeface="Arial MT"/>
              <a:cs typeface="Arial MT"/>
            </a:endParaRPr>
          </a:p>
          <a:p>
            <a:pPr marL="471170" indent="-229235">
              <a:lnSpc>
                <a:spcPct val="100000"/>
              </a:lnSpc>
              <a:spcBef>
                <a:spcPts val="695"/>
              </a:spcBef>
              <a:buFont typeface="Times New Roman"/>
              <a:buAutoNum type="arabicPeriod"/>
              <a:tabLst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factors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did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influence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Quaid-e-Azam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to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formulate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fourteen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points?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Why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need balanced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diet?</a:t>
            </a:r>
            <a:endParaRPr sz="1200">
              <a:latin typeface="Arial"/>
              <a:cs typeface="Arial"/>
            </a:endParaRPr>
          </a:p>
          <a:p>
            <a:pPr marL="471170" marR="9525" indent="-228600">
              <a:lnSpc>
                <a:spcPts val="2050"/>
              </a:lnSpc>
              <a:spcBef>
                <a:spcPts val="160"/>
              </a:spcBef>
              <a:buFont typeface="Times New Roman"/>
              <a:buAutoNum type="arabicPeriod"/>
              <a:tabLst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footprints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left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astronauts,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Neil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Armstrong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Edwin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Aldrin,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moon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1969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 </a:t>
            </a:r>
            <a:r>
              <a:rPr dirty="0" sz="1200" b="1">
                <a:latin typeface="Arial"/>
                <a:cs typeface="Arial"/>
              </a:rPr>
              <a:t>still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there.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</a:t>
            </a:r>
            <a:r>
              <a:rPr dirty="0" sz="1200" b="1">
                <a:latin typeface="Arial"/>
                <a:cs typeface="Arial"/>
              </a:rPr>
              <a:t> you </a:t>
            </a:r>
            <a:r>
              <a:rPr dirty="0" sz="1200" spc="-5" b="1">
                <a:latin typeface="Arial"/>
                <a:cs typeface="Arial"/>
              </a:rPr>
              <a:t>explain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why?</a:t>
            </a:r>
            <a:endParaRPr sz="1200">
              <a:latin typeface="Arial"/>
              <a:cs typeface="Arial"/>
            </a:endParaRPr>
          </a:p>
          <a:p>
            <a:pPr marL="471170" marR="10795" indent="-228600">
              <a:lnSpc>
                <a:spcPts val="2050"/>
              </a:lnSpc>
              <a:spcBef>
                <a:spcPts val="50"/>
              </a:spcBef>
              <a:buFont typeface="Times New Roman"/>
              <a:buAutoNum type="arabicPeriod"/>
              <a:tabLst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After</a:t>
            </a:r>
            <a:r>
              <a:rPr dirty="0" sz="1200" spc="1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studying</a:t>
            </a:r>
            <a:r>
              <a:rPr dirty="0" sz="1200" spc="1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about</a:t>
            </a:r>
            <a:r>
              <a:rPr dirty="0" sz="1200" spc="1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developments</a:t>
            </a:r>
            <a:r>
              <a:rPr dirty="0" sz="1200" spc="1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1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Malaysia,</a:t>
            </a:r>
            <a:r>
              <a:rPr dirty="0" sz="1200" spc="1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1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</a:t>
            </a:r>
            <a:r>
              <a:rPr dirty="0" sz="1200" spc="1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you</a:t>
            </a:r>
            <a:r>
              <a:rPr dirty="0" sz="1200" spc="1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conclude</a:t>
            </a:r>
            <a:r>
              <a:rPr dirty="0" sz="1200" spc="1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about</a:t>
            </a:r>
            <a:r>
              <a:rPr dirty="0" sz="1200" spc="17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the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various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causes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developments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a country?</a:t>
            </a:r>
            <a:endParaRPr sz="1200">
              <a:latin typeface="Arial"/>
              <a:cs typeface="Arial"/>
            </a:endParaRPr>
          </a:p>
          <a:p>
            <a:pPr algn="just" marL="256540" marR="5080" indent="-6350">
              <a:lnSpc>
                <a:spcPct val="144200"/>
              </a:lnSpc>
              <a:spcBef>
                <a:spcPts val="780"/>
              </a:spcBef>
            </a:pPr>
            <a:r>
              <a:rPr dirty="0" sz="1200">
                <a:latin typeface="Arial MT"/>
                <a:cs typeface="Arial MT"/>
              </a:rPr>
              <a:t>In the first three </a:t>
            </a:r>
            <a:r>
              <a:rPr dirty="0" sz="1200" spc="-5">
                <a:latin typeface="Arial MT"/>
                <a:cs typeface="Arial MT"/>
              </a:rPr>
              <a:t>questions, we are asking about the reasons. The reason why </a:t>
            </a:r>
            <a:r>
              <a:rPr dirty="0" sz="1200">
                <a:latin typeface="Arial MT"/>
                <a:cs typeface="Arial MT"/>
              </a:rPr>
              <a:t>Quaid-e-Azam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formulate fourteen points? The reason </a:t>
            </a:r>
            <a:r>
              <a:rPr dirty="0" sz="1200" spc="5">
                <a:latin typeface="Arial MT"/>
                <a:cs typeface="Arial MT"/>
              </a:rPr>
              <a:t>why </a:t>
            </a:r>
            <a:r>
              <a:rPr dirty="0" sz="1200" spc="-5">
                <a:latin typeface="Arial MT"/>
                <a:cs typeface="Arial MT"/>
              </a:rPr>
              <a:t>balanced diet is important? The reason </a:t>
            </a:r>
            <a:r>
              <a:rPr dirty="0" sz="1200" spc="-10">
                <a:latin typeface="Arial MT"/>
                <a:cs typeface="Arial MT"/>
              </a:rPr>
              <a:t>why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footprints are still on the moon?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in the fourth question, reason is not asked. Here you 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conclude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after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seeing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causes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development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Malaysia.</a:t>
            </a:r>
            <a:endParaRPr sz="1200">
              <a:latin typeface="Arial MT"/>
              <a:cs typeface="Arial MT"/>
            </a:endParaRPr>
          </a:p>
          <a:p>
            <a:pPr marL="242570">
              <a:lnSpc>
                <a:spcPct val="100000"/>
              </a:lnSpc>
              <a:spcBef>
                <a:spcPts val="660"/>
              </a:spcBef>
            </a:pPr>
            <a:r>
              <a:rPr dirty="0" sz="1200" spc="-5" b="1">
                <a:latin typeface="Arial"/>
                <a:cs typeface="Arial"/>
              </a:rPr>
              <a:t>After</a:t>
            </a:r>
            <a:r>
              <a:rPr dirty="0" sz="1200" b="1">
                <a:latin typeface="Arial"/>
                <a:cs typeface="Arial"/>
              </a:rPr>
              <a:t> reading </a:t>
            </a:r>
            <a:r>
              <a:rPr dirty="0" sz="1200" spc="-5" b="1">
                <a:latin typeface="Arial"/>
                <a:cs typeface="Arial"/>
              </a:rPr>
              <a:t>this story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how would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you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categorize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hero’s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background?</a:t>
            </a:r>
            <a:endParaRPr sz="1200">
              <a:latin typeface="Arial"/>
              <a:cs typeface="Arial"/>
            </a:endParaRPr>
          </a:p>
          <a:p>
            <a:pPr algn="r" marR="339725">
              <a:lnSpc>
                <a:spcPct val="100000"/>
              </a:lnSpc>
              <a:spcBef>
                <a:spcPts val="610"/>
              </a:spcBef>
            </a:pPr>
            <a:r>
              <a:rPr dirty="0" sz="1200" spc="-5">
                <a:latin typeface="Arial MT"/>
                <a:cs typeface="Arial MT"/>
              </a:rPr>
              <a:t>Again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conclusions about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hero’s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background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influences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him.</a:t>
            </a:r>
            <a:endParaRPr sz="1200">
              <a:latin typeface="Arial MT"/>
              <a:cs typeface="Arial MT"/>
            </a:endParaRPr>
          </a:p>
          <a:p>
            <a:pPr marL="471170" indent="-229235">
              <a:lnSpc>
                <a:spcPct val="100000"/>
              </a:lnSpc>
              <a:spcBef>
                <a:spcPts val="685"/>
              </a:spcBef>
              <a:buFont typeface="Times New Roman"/>
              <a:buAutoNum type="arabicPeriod" startAt="5"/>
              <a:tabLst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Vaccination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cures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body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against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various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diseases.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How?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 startAt="5"/>
              <a:tabLst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Why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fish</a:t>
            </a:r>
            <a:r>
              <a:rPr dirty="0" sz="1200" spc="-5" b="1">
                <a:latin typeface="Arial"/>
                <a:cs typeface="Arial"/>
              </a:rPr>
              <a:t> survive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better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cool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water?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 startAt="5"/>
              <a:tabLst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Human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beings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polluting </a:t>
            </a:r>
            <a:r>
              <a:rPr dirty="0" sz="1200" b="1">
                <a:latin typeface="Arial"/>
                <a:cs typeface="Arial"/>
              </a:rPr>
              <a:t>air. How?</a:t>
            </a:r>
            <a:endParaRPr sz="1200">
              <a:latin typeface="Arial"/>
              <a:cs typeface="Arial"/>
            </a:endParaRPr>
          </a:p>
          <a:p>
            <a:pPr algn="just" marL="256540" marR="6350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The above three questions are </a:t>
            </a:r>
            <a:r>
              <a:rPr dirty="0" sz="1200">
                <a:latin typeface="Arial MT"/>
                <a:cs typeface="Arial MT"/>
              </a:rPr>
              <a:t>results. </a:t>
            </a:r>
            <a:r>
              <a:rPr dirty="0" sz="1200" spc="-5">
                <a:latin typeface="Arial MT"/>
                <a:cs typeface="Arial MT"/>
              </a:rPr>
              <a:t>E.g. we all know that vaccination cures body against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diseases, but the students have to analyze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reasons.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different from the </a:t>
            </a:r>
            <a:r>
              <a:rPr dirty="0" sz="1200">
                <a:latin typeface="Arial MT"/>
                <a:cs typeface="Arial MT"/>
              </a:rPr>
              <a:t>first </a:t>
            </a:r>
            <a:r>
              <a:rPr dirty="0" sz="1200" spc="-5">
                <a:latin typeface="Arial MT"/>
                <a:cs typeface="Arial MT"/>
              </a:rPr>
              <a:t>three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 in the sense that in them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were asked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identify reasons and conclusions were </a:t>
            </a:r>
            <a:r>
              <a:rPr dirty="0" sz="1200">
                <a:latin typeface="Arial MT"/>
                <a:cs typeface="Arial MT"/>
              </a:rPr>
              <a:t> not </a:t>
            </a:r>
            <a:r>
              <a:rPr dirty="0" sz="1200" spc="-5">
                <a:latin typeface="Arial MT"/>
                <a:cs typeface="Arial MT"/>
              </a:rPr>
              <a:t>given. And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last </a:t>
            </a:r>
            <a:r>
              <a:rPr dirty="0" sz="1200" spc="-5">
                <a:latin typeface="Arial MT"/>
                <a:cs typeface="Arial MT"/>
              </a:rPr>
              <a:t>three questions, conclusions are given and students were asked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give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reasons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conclusions.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said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analysis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higher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thinking.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talk</a:t>
            </a:r>
            <a:endParaRPr sz="1200">
              <a:latin typeface="Arial MT"/>
              <a:cs typeface="Arial MT"/>
            </a:endParaRPr>
          </a:p>
          <a:p>
            <a:pPr algn="just" marL="256540">
              <a:lnSpc>
                <a:spcPct val="100000"/>
              </a:lnSpc>
              <a:spcBef>
                <a:spcPts val="450"/>
              </a:spcBef>
            </a:pP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analysis,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kind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analysis.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said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analysis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identifying</a:t>
            </a:r>
            <a:endParaRPr sz="1200">
              <a:latin typeface="Arial MT"/>
              <a:cs typeface="Arial MT"/>
            </a:endParaRPr>
          </a:p>
          <a:p>
            <a:pPr algn="just" marL="256540" marR="1143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causes. </a:t>
            </a:r>
            <a:r>
              <a:rPr dirty="0" sz="1200" spc="-5">
                <a:latin typeface="Arial MT"/>
                <a:cs typeface="Arial MT"/>
              </a:rPr>
              <a:t>There are causes but conclusions are also important and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reasons for those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conclusions.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these</a:t>
            </a:r>
            <a:r>
              <a:rPr dirty="0" sz="1200">
                <a:latin typeface="Arial MT"/>
                <a:cs typeface="Arial MT"/>
              </a:rPr>
              <a:t> go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analysis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marL="25019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Defining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analysis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level:</a:t>
            </a:r>
            <a:endParaRPr sz="1400">
              <a:latin typeface="Arial"/>
              <a:cs typeface="Arial"/>
            </a:endParaRPr>
          </a:p>
          <a:p>
            <a:pPr algn="just" marL="256540" marR="7620" indent="-6350">
              <a:lnSpc>
                <a:spcPts val="208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“Analysis level questions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higher-order questions that require students to </a:t>
            </a:r>
            <a:r>
              <a:rPr dirty="0" sz="1200">
                <a:latin typeface="Arial MT"/>
                <a:cs typeface="Arial MT"/>
              </a:rPr>
              <a:t>think </a:t>
            </a:r>
            <a:r>
              <a:rPr dirty="0" sz="1200" spc="-5">
                <a:latin typeface="Arial MT"/>
                <a:cs typeface="Arial MT"/>
              </a:rPr>
              <a:t>critically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depth.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Several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possible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analysis-question.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Analysis-questions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reasons,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conclusions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analyze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conclusions.”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3955" y="575563"/>
            <a:ext cx="6634480" cy="1103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56540" marR="5715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analyze means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set </a:t>
            </a:r>
            <a:r>
              <a:rPr dirty="0" sz="1200">
                <a:latin typeface="Arial MT"/>
                <a:cs typeface="Arial MT"/>
              </a:rPr>
              <a:t>things apart. </a:t>
            </a:r>
            <a:r>
              <a:rPr dirty="0" sz="1200" spc="-5">
                <a:latin typeface="Arial MT"/>
                <a:cs typeface="Arial MT"/>
              </a:rPr>
              <a:t>E.g. </a:t>
            </a:r>
            <a:r>
              <a:rPr dirty="0" sz="1200" spc="-1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teach students about addition, subtraction,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multiplication and then division. And while teaching division, you </a:t>
            </a:r>
            <a:r>
              <a:rPr dirty="0" sz="1200" spc="-10">
                <a:latin typeface="Arial MT"/>
                <a:cs typeface="Arial MT"/>
              </a:rPr>
              <a:t>ask </a:t>
            </a:r>
            <a:r>
              <a:rPr dirty="0" sz="1200" spc="-5">
                <a:latin typeface="Arial MT"/>
                <a:cs typeface="Arial MT"/>
              </a:rPr>
              <a:t>them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-5">
                <a:latin typeface="Arial MT"/>
                <a:cs typeface="Arial MT"/>
              </a:rPr>
              <a:t>mathematical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operations are involved in division?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analysis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question, in which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will </a:t>
            </a:r>
            <a:r>
              <a:rPr dirty="0" sz="1200">
                <a:latin typeface="Arial MT"/>
                <a:cs typeface="Arial MT"/>
              </a:rPr>
              <a:t>tell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multiplication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subtraction 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division.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Arial MT"/>
              <a:cs typeface="Arial MT"/>
            </a:endParaRPr>
          </a:p>
          <a:p>
            <a:pPr marL="25019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Word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prompts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used in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analysis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level:</a:t>
            </a:r>
            <a:endParaRPr sz="14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720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Identify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motives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Why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Compare/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Contrast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2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Draw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conclusions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Investigate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10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Analyze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2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Summarize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Deduce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Support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Synthesis</a:t>
            </a:r>
            <a:r>
              <a:rPr dirty="0" u="heavy" sz="140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level:</a:t>
            </a:r>
            <a:endParaRPr sz="14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545"/>
              </a:spcBef>
            </a:pPr>
            <a:r>
              <a:rPr dirty="0" sz="1200" spc="-5">
                <a:latin typeface="Arial MT"/>
                <a:cs typeface="Arial MT"/>
              </a:rPr>
              <a:t>Again 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questions;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 </a:t>
            </a:r>
            <a:r>
              <a:rPr dirty="0" sz="1200">
                <a:latin typeface="Arial MT"/>
                <a:cs typeface="Arial MT"/>
              </a:rPr>
              <a:t>things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questions:</a:t>
            </a:r>
            <a:endParaRPr sz="1200">
              <a:latin typeface="Arial MT"/>
              <a:cs typeface="Arial MT"/>
            </a:endParaRPr>
          </a:p>
          <a:p>
            <a:pPr marL="509270" indent="-267335">
              <a:lnSpc>
                <a:spcPct val="100000"/>
              </a:lnSpc>
              <a:spcBef>
                <a:spcPts val="695"/>
              </a:spcBef>
              <a:buFont typeface="Times New Roman"/>
              <a:buAutoNum type="arabicPeriod"/>
              <a:tabLst>
                <a:tab pos="509270" algn="l"/>
                <a:tab pos="509905" algn="l"/>
              </a:tabLst>
            </a:pPr>
            <a:r>
              <a:rPr dirty="0" sz="1200" spc="-5" b="1">
                <a:latin typeface="Arial"/>
                <a:cs typeface="Arial"/>
              </a:rPr>
              <a:t>Write </a:t>
            </a:r>
            <a:r>
              <a:rPr dirty="0" sz="1200" b="1">
                <a:latin typeface="Arial"/>
                <a:cs typeface="Arial"/>
              </a:rPr>
              <a:t>an </a:t>
            </a:r>
            <a:r>
              <a:rPr dirty="0" sz="1200" spc="-5" b="1">
                <a:latin typeface="Arial"/>
                <a:cs typeface="Arial"/>
              </a:rPr>
              <a:t>appropriate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title</a:t>
            </a:r>
            <a:r>
              <a:rPr dirty="0" sz="1200" b="1">
                <a:latin typeface="Arial"/>
                <a:cs typeface="Arial"/>
              </a:rPr>
              <a:t> for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text.</a:t>
            </a:r>
            <a:endParaRPr sz="1200">
              <a:latin typeface="Arial"/>
              <a:cs typeface="Arial"/>
            </a:endParaRPr>
          </a:p>
          <a:p>
            <a:pPr marL="509270" indent="-2673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509270" algn="l"/>
                <a:tab pos="509905" algn="l"/>
              </a:tabLst>
            </a:pPr>
            <a:r>
              <a:rPr dirty="0" sz="1200" spc="-5" b="1">
                <a:latin typeface="Arial"/>
                <a:cs typeface="Arial"/>
              </a:rPr>
              <a:t>Draw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painting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show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pollution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</a:t>
            </a:r>
            <a:r>
              <a:rPr dirty="0" sz="1200" b="1">
                <a:latin typeface="Arial"/>
                <a:cs typeface="Arial"/>
              </a:rPr>
              <a:t>burning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issue.</a:t>
            </a:r>
            <a:endParaRPr sz="1200">
              <a:latin typeface="Arial"/>
              <a:cs typeface="Arial"/>
            </a:endParaRPr>
          </a:p>
          <a:p>
            <a:pPr algn="just" marL="256540" marR="5080" indent="-6350">
              <a:lnSpc>
                <a:spcPct val="144200"/>
              </a:lnSpc>
              <a:spcBef>
                <a:spcPts val="975"/>
              </a:spcBef>
            </a:pPr>
            <a:r>
              <a:rPr dirty="0" sz="1200" spc="-5">
                <a:latin typeface="Arial MT"/>
                <a:cs typeface="Arial MT"/>
              </a:rPr>
              <a:t>Here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again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he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own.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10">
                <a:latin typeface="Arial MT"/>
                <a:cs typeface="Arial MT"/>
              </a:rPr>
              <a:t> you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30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class,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might </a:t>
            </a:r>
            <a:r>
              <a:rPr dirty="0" sz="1200" spc="-5">
                <a:latin typeface="Arial MT"/>
                <a:cs typeface="Arial MT"/>
              </a:rPr>
              <a:t>get 30 different </a:t>
            </a:r>
            <a:r>
              <a:rPr dirty="0" sz="1200">
                <a:latin typeface="Arial MT"/>
                <a:cs typeface="Arial MT"/>
              </a:rPr>
              <a:t>titles </a:t>
            </a:r>
            <a:r>
              <a:rPr dirty="0" sz="1200" spc="-5">
                <a:latin typeface="Arial MT"/>
                <a:cs typeface="Arial MT"/>
              </a:rPr>
              <a:t>to the text. There will not be a </a:t>
            </a:r>
            <a:r>
              <a:rPr dirty="0" sz="1200">
                <a:latin typeface="Arial MT"/>
                <a:cs typeface="Arial MT"/>
              </a:rPr>
              <a:t>single </a:t>
            </a:r>
            <a:r>
              <a:rPr dirty="0" sz="1200" spc="10">
                <a:latin typeface="Arial MT"/>
                <a:cs typeface="Arial MT"/>
              </a:rPr>
              <a:t>title 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may </a:t>
            </a:r>
            <a:r>
              <a:rPr dirty="0" sz="1200" spc="-5">
                <a:latin typeface="Arial MT"/>
                <a:cs typeface="Arial MT"/>
              </a:rPr>
              <a:t>say is wrong. Because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title </a:t>
            </a:r>
            <a:r>
              <a:rPr dirty="0" sz="1200" spc="-5">
                <a:latin typeface="Arial MT"/>
                <a:cs typeface="Arial MT"/>
              </a:rPr>
              <a:t>is related to the </a:t>
            </a:r>
            <a:r>
              <a:rPr dirty="0" sz="1200">
                <a:latin typeface="Arial MT"/>
                <a:cs typeface="Arial MT"/>
              </a:rPr>
              <a:t>text </a:t>
            </a:r>
            <a:r>
              <a:rPr dirty="0" sz="1200" spc="-1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all the titles 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acceptable.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level is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level of creativity. Similarly, in second question, each students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come </a:t>
            </a:r>
            <a:r>
              <a:rPr dirty="0" sz="1200" spc="-5">
                <a:latin typeface="Arial MT"/>
                <a:cs typeface="Arial MT"/>
              </a:rPr>
              <a:t>up with the different idea about pollution is a </a:t>
            </a:r>
            <a:r>
              <a:rPr dirty="0" sz="1200">
                <a:latin typeface="Arial MT"/>
                <a:cs typeface="Arial MT"/>
              </a:rPr>
              <a:t>burning </a:t>
            </a:r>
            <a:r>
              <a:rPr dirty="0" sz="1200" spc="-5">
                <a:latin typeface="Arial MT"/>
                <a:cs typeface="Arial MT"/>
              </a:rPr>
              <a:t>issue. There is not a single </a:t>
            </a:r>
            <a:r>
              <a:rPr dirty="0" sz="1200" spc="-10">
                <a:latin typeface="Arial MT"/>
                <a:cs typeface="Arial MT"/>
              </a:rPr>
              <a:t>right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answer,</a:t>
            </a:r>
            <a:endParaRPr sz="1200">
              <a:latin typeface="Arial MT"/>
              <a:cs typeface="Arial MT"/>
            </a:endParaRPr>
          </a:p>
          <a:p>
            <a:pPr marL="509270" marR="9525" indent="-266700">
              <a:lnSpc>
                <a:spcPct val="142500"/>
              </a:lnSpc>
              <a:spcBef>
                <a:spcPts val="35"/>
              </a:spcBef>
              <a:buFont typeface="Times New Roman"/>
              <a:buAutoNum type="arabicPeriod" startAt="3"/>
              <a:tabLst>
                <a:tab pos="509270" algn="l"/>
                <a:tab pos="509905" algn="l"/>
              </a:tabLst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1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would</a:t>
            </a:r>
            <a:r>
              <a:rPr dirty="0" sz="1200" spc="20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happen</a:t>
            </a:r>
            <a:r>
              <a:rPr dirty="0" sz="1200" spc="20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2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our</a:t>
            </a:r>
            <a:r>
              <a:rPr dirty="0" sz="1200" spc="20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city</a:t>
            </a:r>
            <a:r>
              <a:rPr dirty="0" sz="1200" spc="20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20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next</a:t>
            </a:r>
            <a:r>
              <a:rPr dirty="0" sz="1200" spc="1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5</a:t>
            </a:r>
            <a:r>
              <a:rPr dirty="0" sz="1200" spc="2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years</a:t>
            </a:r>
            <a:r>
              <a:rPr dirty="0" sz="1200" spc="2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if</a:t>
            </a:r>
            <a:r>
              <a:rPr dirty="0" sz="1200" spc="20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steps</a:t>
            </a:r>
            <a:r>
              <a:rPr dirty="0" sz="1200" spc="2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1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not</a:t>
            </a:r>
            <a:r>
              <a:rPr dirty="0" sz="1200" spc="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taken</a:t>
            </a:r>
            <a:r>
              <a:rPr dirty="0" sz="1200" spc="2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stop</a:t>
            </a:r>
            <a:r>
              <a:rPr dirty="0" sz="1200" spc="20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air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pollution?</a:t>
            </a:r>
            <a:endParaRPr sz="1200">
              <a:latin typeface="Arial"/>
              <a:cs typeface="Arial"/>
            </a:endParaRPr>
          </a:p>
          <a:p>
            <a:pPr marL="509270" indent="-2673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 startAt="3"/>
              <a:tabLst>
                <a:tab pos="509270" algn="l"/>
                <a:tab pos="509905" algn="l"/>
              </a:tabLst>
            </a:pPr>
            <a:r>
              <a:rPr dirty="0" sz="1200" spc="-5" b="1">
                <a:latin typeface="Arial"/>
                <a:cs typeface="Arial"/>
              </a:rPr>
              <a:t>What </a:t>
            </a:r>
            <a:r>
              <a:rPr dirty="0" sz="1200" b="1">
                <a:latin typeface="Arial"/>
                <a:cs typeface="Arial"/>
              </a:rPr>
              <a:t>would happen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to</a:t>
            </a:r>
            <a:r>
              <a:rPr dirty="0" sz="1200" b="1">
                <a:latin typeface="Arial"/>
                <a:cs typeface="Arial"/>
              </a:rPr>
              <a:t> raw </a:t>
            </a:r>
            <a:r>
              <a:rPr dirty="0" sz="1200" spc="-5" b="1">
                <a:latin typeface="Arial"/>
                <a:cs typeface="Arial"/>
              </a:rPr>
              <a:t>milk</a:t>
            </a:r>
            <a:r>
              <a:rPr dirty="0" sz="1200" b="1">
                <a:latin typeface="Arial"/>
                <a:cs typeface="Arial"/>
              </a:rPr>
              <a:t> if it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 put </a:t>
            </a:r>
            <a:r>
              <a:rPr dirty="0" sz="1200" spc="-10" b="1">
                <a:latin typeface="Arial"/>
                <a:cs typeface="Arial"/>
              </a:rPr>
              <a:t>in</a:t>
            </a:r>
            <a:r>
              <a:rPr dirty="0" sz="1200" b="1">
                <a:latin typeface="Arial"/>
                <a:cs typeface="Arial"/>
              </a:rPr>
              <a:t> iron</a:t>
            </a:r>
            <a:r>
              <a:rPr dirty="0" sz="1200" spc="-5" b="1">
                <a:latin typeface="Arial"/>
                <a:cs typeface="Arial"/>
              </a:rPr>
              <a:t> containers</a:t>
            </a:r>
            <a:r>
              <a:rPr dirty="0" sz="1200" b="1">
                <a:latin typeface="Arial"/>
                <a:cs typeface="Arial"/>
              </a:rPr>
              <a:t> for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long time?</a:t>
            </a:r>
            <a:endParaRPr sz="1200">
              <a:latin typeface="Arial"/>
              <a:cs typeface="Arial"/>
            </a:endParaRPr>
          </a:p>
          <a:p>
            <a:pPr marL="509270" indent="-2673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 startAt="3"/>
              <a:tabLst>
                <a:tab pos="509270" algn="l"/>
                <a:tab pos="509905" algn="l"/>
              </a:tabLst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b="1">
                <a:latin typeface="Arial"/>
                <a:cs typeface="Arial"/>
              </a:rPr>
              <a:t> will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happen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if </a:t>
            </a:r>
            <a:r>
              <a:rPr dirty="0" sz="1200" spc="-5" b="1">
                <a:latin typeface="Arial"/>
                <a:cs typeface="Arial"/>
              </a:rPr>
              <a:t>stomach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does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produce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hydrochloric acid?</a:t>
            </a:r>
            <a:endParaRPr sz="1200">
              <a:latin typeface="Arial"/>
              <a:cs typeface="Arial"/>
            </a:endParaRPr>
          </a:p>
          <a:p>
            <a:pPr algn="just" marL="256540" marR="7620" indent="-6350">
              <a:lnSpc>
                <a:spcPct val="144200"/>
              </a:lnSpc>
              <a:spcBef>
                <a:spcPts val="960"/>
              </a:spcBef>
            </a:pPr>
            <a:r>
              <a:rPr dirty="0" sz="1200" spc="-5">
                <a:latin typeface="Arial MT"/>
                <a:cs typeface="Arial MT"/>
              </a:rPr>
              <a:t>There is higher level of thinking involved in </a:t>
            </a:r>
            <a:r>
              <a:rPr dirty="0" sz="1200">
                <a:latin typeface="Arial MT"/>
                <a:cs typeface="Arial MT"/>
              </a:rPr>
              <a:t>all </a:t>
            </a:r>
            <a:r>
              <a:rPr dirty="0" sz="1200" spc="-5">
                <a:latin typeface="Arial MT"/>
                <a:cs typeface="Arial MT"/>
              </a:rPr>
              <a:t>the questions given at synthesis level. </a:t>
            </a:r>
            <a:r>
              <a:rPr dirty="0" sz="1200">
                <a:latin typeface="Arial MT"/>
                <a:cs typeface="Arial MT"/>
              </a:rPr>
              <a:t>In the first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questions,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asked the students to create something, weather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 </a:t>
            </a:r>
            <a:r>
              <a:rPr dirty="0" sz="1200">
                <a:latin typeface="Arial MT"/>
                <a:cs typeface="Arial MT"/>
              </a:rPr>
              <a:t>title of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text </a:t>
            </a:r>
            <a:r>
              <a:rPr dirty="0" sz="1200" spc="-5">
                <a:latin typeface="Arial MT"/>
                <a:cs typeface="Arial MT"/>
              </a:rPr>
              <a:t>or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painting.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next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prediction.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happen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our </a:t>
            </a:r>
            <a:r>
              <a:rPr dirty="0" sz="1200">
                <a:latin typeface="Arial MT"/>
                <a:cs typeface="Arial MT"/>
              </a:rPr>
              <a:t>city, if </a:t>
            </a:r>
            <a:r>
              <a:rPr dirty="0" sz="1200" spc="-5">
                <a:latin typeface="Arial MT"/>
                <a:cs typeface="Arial MT"/>
              </a:rPr>
              <a:t>air pollution is not stopped? Or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-5">
                <a:latin typeface="Arial MT"/>
                <a:cs typeface="Arial MT"/>
              </a:rPr>
              <a:t>will happen </a:t>
            </a:r>
            <a:r>
              <a:rPr dirty="0" sz="1200">
                <a:latin typeface="Arial MT"/>
                <a:cs typeface="Arial MT"/>
              </a:rPr>
              <a:t>to milk, if it </a:t>
            </a:r>
            <a:r>
              <a:rPr dirty="0" sz="1200" spc="-5">
                <a:latin typeface="Arial MT"/>
                <a:cs typeface="Arial MT"/>
              </a:rPr>
              <a:t>is put in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iron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container? Etc.</a:t>
            </a:r>
            <a:endParaRPr sz="1200">
              <a:latin typeface="Arial MT"/>
              <a:cs typeface="Arial MT"/>
            </a:endParaRPr>
          </a:p>
          <a:p>
            <a:pPr marL="509270" indent="-2673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 startAt="6"/>
              <a:tabLst>
                <a:tab pos="509270" algn="l"/>
                <a:tab pos="509905" algn="l"/>
              </a:tabLst>
            </a:pPr>
            <a:r>
              <a:rPr dirty="0" sz="1200" spc="-5" b="1">
                <a:latin typeface="Arial"/>
                <a:cs typeface="Arial"/>
              </a:rPr>
              <a:t>Summarize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5" b="1">
                <a:latin typeface="Arial"/>
                <a:cs typeface="Arial"/>
              </a:rPr>
              <a:t> story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including its</a:t>
            </a:r>
            <a:r>
              <a:rPr dirty="0" sz="1200" spc="-5" b="1">
                <a:latin typeface="Arial"/>
                <a:cs typeface="Arial"/>
              </a:rPr>
              <a:t> main idea.</a:t>
            </a:r>
            <a:endParaRPr sz="1200">
              <a:latin typeface="Arial"/>
              <a:cs typeface="Arial"/>
            </a:endParaRPr>
          </a:p>
          <a:p>
            <a:pPr algn="just" marL="256540" marR="10795" indent="-6350">
              <a:lnSpc>
                <a:spcPct val="144100"/>
              </a:lnSpc>
              <a:spcBef>
                <a:spcPts val="950"/>
              </a:spcBef>
            </a:pPr>
            <a:r>
              <a:rPr dirty="0" sz="1200" spc="-5">
                <a:latin typeface="Arial MT"/>
                <a:cs typeface="Arial MT"/>
              </a:rPr>
              <a:t>How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summary is different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comprehension and analysis.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because you </a:t>
            </a:r>
            <a:r>
              <a:rPr dirty="0" sz="1200" spc="-10">
                <a:latin typeface="Arial MT"/>
                <a:cs typeface="Arial MT"/>
              </a:rPr>
              <a:t>ask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overall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summary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including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main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idea.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8100" y="575563"/>
            <a:ext cx="6390005" cy="55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Now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two,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creativity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384" y="1110742"/>
            <a:ext cx="139700" cy="80454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200" b="1">
                <a:latin typeface="Times New Roman"/>
                <a:cs typeface="Times New Roman"/>
              </a:rPr>
              <a:t>7.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200" b="1">
                <a:latin typeface="Times New Roman"/>
                <a:cs typeface="Times New Roman"/>
              </a:rPr>
              <a:t>8.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200" b="1">
                <a:latin typeface="Times New Roman"/>
                <a:cs typeface="Times New Roman"/>
              </a:rPr>
              <a:t>9.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1084" y="1110742"/>
            <a:ext cx="5003165" cy="80454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government </a:t>
            </a:r>
            <a:r>
              <a:rPr dirty="0" sz="1200" b="1">
                <a:latin typeface="Arial"/>
                <a:cs typeface="Arial"/>
              </a:rPr>
              <a:t>solve</a:t>
            </a:r>
            <a:r>
              <a:rPr dirty="0" sz="1200" spc="-5" b="1">
                <a:latin typeface="Arial"/>
                <a:cs typeface="Arial"/>
              </a:rPr>
              <a:t> a</a:t>
            </a:r>
            <a:r>
              <a:rPr dirty="0" sz="1200" b="1">
                <a:latin typeface="Arial"/>
                <a:cs typeface="Arial"/>
              </a:rPr>
              <a:t> problem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narcotics?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2050"/>
              </a:lnSpc>
              <a:spcBef>
                <a:spcPts val="90"/>
              </a:spcBef>
            </a:pPr>
            <a:r>
              <a:rPr dirty="0" sz="1200" b="1">
                <a:latin typeface="Arial"/>
                <a:cs typeface="Arial"/>
              </a:rPr>
              <a:t>Design an </a:t>
            </a:r>
            <a:r>
              <a:rPr dirty="0" sz="1200" spc="-5" b="1">
                <a:latin typeface="Arial"/>
                <a:cs typeface="Arial"/>
              </a:rPr>
              <a:t>experiment to </a:t>
            </a:r>
            <a:r>
              <a:rPr dirty="0" sz="1200" b="1">
                <a:latin typeface="Arial"/>
                <a:cs typeface="Arial"/>
              </a:rPr>
              <a:t>prove that light </a:t>
            </a:r>
            <a:r>
              <a:rPr dirty="0" sz="1200" spc="-5" b="1">
                <a:latin typeface="Arial"/>
                <a:cs typeface="Arial"/>
              </a:rPr>
              <a:t>rays travel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straight </a:t>
            </a:r>
            <a:r>
              <a:rPr dirty="0" sz="1200" b="1">
                <a:latin typeface="Arial"/>
                <a:cs typeface="Arial"/>
              </a:rPr>
              <a:t>lines?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solve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problem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indoor and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outdoor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air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pollution?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1889506"/>
            <a:ext cx="6634480" cy="984885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710"/>
              </a:spcBef>
            </a:pPr>
            <a:r>
              <a:rPr dirty="0" sz="1200" b="1">
                <a:latin typeface="Times New Roman"/>
                <a:cs typeface="Times New Roman"/>
              </a:rPr>
              <a:t>10.</a:t>
            </a:r>
            <a:r>
              <a:rPr dirty="0" sz="1200" spc="30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remove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energy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crisis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Pakistan?</a:t>
            </a:r>
            <a:endParaRPr sz="1200">
              <a:latin typeface="Arial"/>
              <a:cs typeface="Arial"/>
            </a:endParaRPr>
          </a:p>
          <a:p>
            <a:pPr algn="just" marL="255270" marR="698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All </a:t>
            </a:r>
            <a:r>
              <a:rPr dirty="0" sz="1200">
                <a:latin typeface="Arial MT"/>
                <a:cs typeface="Arial MT"/>
              </a:rPr>
              <a:t>these </a:t>
            </a:r>
            <a:r>
              <a:rPr dirty="0" sz="1200" spc="-5">
                <a:latin typeface="Arial MT"/>
                <a:cs typeface="Arial MT"/>
              </a:rPr>
              <a:t>questions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related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problem solving, weather they are about suggestions, 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making designs etc. </a:t>
            </a:r>
            <a:r>
              <a:rPr dirty="0" sz="1200" spc="-10">
                <a:latin typeface="Arial MT"/>
                <a:cs typeface="Arial MT"/>
              </a:rPr>
              <a:t>all </a:t>
            </a:r>
            <a:r>
              <a:rPr dirty="0" sz="1200" spc="-5">
                <a:latin typeface="Arial MT"/>
                <a:cs typeface="Arial MT"/>
              </a:rPr>
              <a:t>students can never give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10">
                <a:latin typeface="Arial MT"/>
                <a:cs typeface="Arial MT"/>
              </a:rPr>
              <a:t>same </a:t>
            </a:r>
            <a:r>
              <a:rPr dirty="0" sz="1200" spc="-5">
                <a:latin typeface="Arial MT"/>
                <a:cs typeface="Arial MT"/>
              </a:rPr>
              <a:t>solution to these problems.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beauty of synthesis level that every student comes up with </a:t>
            </a:r>
            <a:r>
              <a:rPr dirty="0" sz="1200" spc="10">
                <a:latin typeface="Arial MT"/>
                <a:cs typeface="Arial MT"/>
              </a:rPr>
              <a:t>his </a:t>
            </a:r>
            <a:r>
              <a:rPr dirty="0" sz="1200" spc="-5">
                <a:latin typeface="Arial MT"/>
                <a:cs typeface="Arial MT"/>
              </a:rPr>
              <a:t>own thinking. Important thing in </a:t>
            </a:r>
            <a:r>
              <a:rPr dirty="0" sz="1200">
                <a:latin typeface="Arial MT"/>
                <a:cs typeface="Arial MT"/>
              </a:rPr>
              <a:t> synthesis level </a:t>
            </a:r>
            <a:r>
              <a:rPr dirty="0" sz="1200" spc="-5">
                <a:latin typeface="Arial MT"/>
                <a:cs typeface="Arial MT"/>
              </a:rPr>
              <a:t>is that students solve problems, predict future happenings and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10">
                <a:latin typeface="Arial MT"/>
                <a:cs typeface="Arial MT"/>
              </a:rPr>
              <a:t>same </a:t>
            </a:r>
            <a:r>
              <a:rPr dirty="0" sz="1200">
                <a:latin typeface="Arial MT"/>
                <a:cs typeface="Arial MT"/>
              </a:rPr>
              <a:t>time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create certain things.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has a distinction with analysis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that analysis </a:t>
            </a:r>
            <a:r>
              <a:rPr dirty="0" sz="1200">
                <a:latin typeface="Arial MT"/>
                <a:cs typeface="Arial MT"/>
              </a:rPr>
              <a:t>level says to set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apart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synthesis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together.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problem,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firstly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analyze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remember,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endParaRPr sz="1200">
              <a:latin typeface="Arial MT"/>
              <a:cs typeface="Arial MT"/>
            </a:endParaRPr>
          </a:p>
          <a:p>
            <a:pPr algn="just" marL="255270">
              <a:lnSpc>
                <a:spcPct val="100000"/>
              </a:lnSpc>
              <a:spcBef>
                <a:spcPts val="434"/>
              </a:spcBef>
            </a:pPr>
            <a:r>
              <a:rPr dirty="0" sz="1200" spc="-5">
                <a:latin typeface="Arial MT"/>
                <a:cs typeface="Arial MT"/>
              </a:rPr>
              <a:t>solving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too,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single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right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while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synthesis</a:t>
            </a:r>
            <a:endParaRPr sz="1200">
              <a:latin typeface="Arial MT"/>
              <a:cs typeface="Arial MT"/>
            </a:endParaRPr>
          </a:p>
          <a:p>
            <a:pPr algn="just" marL="255270">
              <a:lnSpc>
                <a:spcPct val="100000"/>
              </a:lnSpc>
              <a:spcBef>
                <a:spcPts val="640"/>
              </a:spcBef>
            </a:pP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right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 MT"/>
              <a:cs typeface="Arial MT"/>
            </a:endParaRPr>
          </a:p>
          <a:p>
            <a:pPr marL="291465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Word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prompts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used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synthesis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level: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Predict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Construct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improve?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Produce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Invent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Imagine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Create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would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happen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if…?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Design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Can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you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devise..?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Synthesize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solve?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965"/>
              </a:spcBef>
            </a:pP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Evaluation</a:t>
            </a:r>
            <a:r>
              <a:rPr dirty="0" u="heavy" sz="14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level: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200" spc="-5">
                <a:latin typeface="Arial MT"/>
                <a:cs typeface="Arial MT"/>
              </a:rPr>
              <a:t>Again 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questions;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 </a:t>
            </a:r>
            <a:r>
              <a:rPr dirty="0" sz="1200">
                <a:latin typeface="Arial MT"/>
                <a:cs typeface="Arial MT"/>
              </a:rPr>
              <a:t>things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questions: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68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Which</a:t>
            </a:r>
            <a:r>
              <a:rPr dirty="0" sz="1200" b="1">
                <a:latin typeface="Arial"/>
                <a:cs typeface="Arial"/>
              </a:rPr>
              <a:t> Prime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Minister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Pakistan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was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most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successful?</a:t>
            </a:r>
            <a:r>
              <a:rPr dirty="0" sz="1200" b="1">
                <a:latin typeface="Arial"/>
                <a:cs typeface="Arial"/>
              </a:rPr>
              <a:t> Why?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Discuss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that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not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good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citizens?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you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agree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that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finances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would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help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raise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literacy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rate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Pakistan?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Prove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that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smoking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harmful?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Discuss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that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pollution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individual, national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well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global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issue?</a:t>
            </a:r>
            <a:endParaRPr sz="1200">
              <a:latin typeface="Arial"/>
              <a:cs typeface="Arial"/>
            </a:endParaRPr>
          </a:p>
          <a:p>
            <a:pPr algn="just" marL="255270" marR="5080" indent="-6350">
              <a:lnSpc>
                <a:spcPct val="144200"/>
              </a:lnSpc>
              <a:spcBef>
                <a:spcPts val="960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argue?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logical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argue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best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habit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argue,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then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higher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order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thinking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developed.in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question,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1940" cy="475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55270" marR="508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students that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not a conclusion;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an argument that we are not good </a:t>
            </a:r>
            <a:r>
              <a:rPr dirty="0" sz="1200">
                <a:latin typeface="Arial MT"/>
                <a:cs typeface="Arial MT"/>
              </a:rPr>
              <a:t>citizens </a:t>
            </a:r>
            <a:r>
              <a:rPr dirty="0" sz="1200" spc="-5">
                <a:latin typeface="Arial MT"/>
                <a:cs typeface="Arial MT"/>
              </a:rPr>
              <a:t>and students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to discuss </a:t>
            </a:r>
            <a:r>
              <a:rPr dirty="0" sz="1200">
                <a:latin typeface="Arial MT"/>
                <a:cs typeface="Arial MT"/>
              </a:rPr>
              <a:t>it.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 is not a proven thing;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different from analysis level.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analysis we give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conclusion </a:t>
            </a:r>
            <a:r>
              <a:rPr dirty="0" sz="120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then students 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analyze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conclusion. But evaluation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is different;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here is </a:t>
            </a:r>
            <a:r>
              <a:rPr dirty="0" sz="120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opinion on which you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generate a discussion </a:t>
            </a:r>
            <a:r>
              <a:rPr dirty="0" sz="120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opinions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basis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arguments.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opinions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discuss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arguments.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Word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prompts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used in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evaluation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level: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Judge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Verify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Give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your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opinion…?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you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agree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9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Assess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Would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better..?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Conclude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Argue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Evaluate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5723254"/>
            <a:ext cx="6972300" cy="59944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77470" marR="66675" indent="-6350">
              <a:lnSpc>
                <a:spcPts val="2230"/>
              </a:lnSpc>
              <a:spcBef>
                <a:spcPts val="25"/>
              </a:spcBef>
              <a:tabLst>
                <a:tab pos="944244" algn="l"/>
                <a:tab pos="1198245" algn="l"/>
                <a:tab pos="1567815" algn="l"/>
                <a:tab pos="2799080" algn="l"/>
                <a:tab pos="3357879" algn="l"/>
                <a:tab pos="4969510" algn="l"/>
                <a:tab pos="6072505" algn="l"/>
              </a:tabLst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“Aff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cti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e	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d	P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moto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r	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Dom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”	Le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ture 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objectives: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6397878"/>
            <a:ext cx="6351270" cy="5306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lesson, 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have: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Revised Bloom’s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taxonomy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-5" b="1">
                <a:latin typeface="Arial"/>
                <a:cs typeface="Arial"/>
              </a:rPr>
              <a:t> Cognitive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Domain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Reflected</a:t>
            </a:r>
            <a:r>
              <a:rPr dirty="0" sz="1200" b="1">
                <a:latin typeface="Arial"/>
                <a:cs typeface="Arial"/>
              </a:rPr>
              <a:t> upon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Simpson’s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taxonomy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Psychomotor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Domain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Reflected</a:t>
            </a:r>
            <a:r>
              <a:rPr dirty="0" sz="1200" b="1">
                <a:latin typeface="Arial"/>
                <a:cs typeface="Arial"/>
              </a:rPr>
              <a:t> upon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5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Krathwohl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Bloom’s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taxonomy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Affected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Domain.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Reflected</a:t>
            </a:r>
            <a:r>
              <a:rPr dirty="0" sz="1200" b="1">
                <a:latin typeface="Arial"/>
                <a:cs typeface="Arial"/>
              </a:rPr>
              <a:t> upon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use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taxonomies as 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tool.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Outline: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Bloom’s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Taxonomy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Psychomotor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Domain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Hierarchical levels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Simpson’s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psychomotor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domain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Perception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Set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Guided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Response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Mechanism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2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Complex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overt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response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Adaptation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Origination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Affective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Domain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Hierarchical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levels</a:t>
            </a:r>
            <a:r>
              <a:rPr dirty="0" sz="1200" b="1">
                <a:latin typeface="Arial"/>
                <a:cs typeface="Arial"/>
              </a:rPr>
              <a:t> of </a:t>
            </a:r>
            <a:r>
              <a:rPr dirty="0" sz="1200" spc="-5" b="1">
                <a:latin typeface="Arial"/>
                <a:cs typeface="Arial"/>
              </a:rPr>
              <a:t>Bloom’s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Krathwohl’s</a:t>
            </a:r>
            <a:r>
              <a:rPr dirty="0" sz="1200" b="1">
                <a:latin typeface="Arial"/>
                <a:cs typeface="Arial"/>
              </a:rPr>
              <a:t> taxonomy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affective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domain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Receiving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54227"/>
            <a:ext cx="6634480" cy="971169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706120" indent="-229235">
              <a:lnSpc>
                <a:spcPct val="100000"/>
              </a:lnSpc>
              <a:spcBef>
                <a:spcPts val="9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Responding</a:t>
            </a:r>
            <a:endParaRPr sz="1200">
              <a:latin typeface="Arial"/>
              <a:cs typeface="Arial"/>
            </a:endParaRPr>
          </a:p>
          <a:p>
            <a:pPr marL="70612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Valuing</a:t>
            </a:r>
            <a:endParaRPr sz="1200">
              <a:latin typeface="Arial"/>
              <a:cs typeface="Arial"/>
            </a:endParaRPr>
          </a:p>
          <a:p>
            <a:pPr marL="706120" indent="-229235">
              <a:lnSpc>
                <a:spcPct val="100000"/>
              </a:lnSpc>
              <a:spcBef>
                <a:spcPts val="819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Organization</a:t>
            </a:r>
            <a:endParaRPr sz="1200">
              <a:latin typeface="Arial"/>
              <a:cs typeface="Arial"/>
            </a:endParaRPr>
          </a:p>
          <a:p>
            <a:pPr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Characterization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2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Using </a:t>
            </a:r>
            <a:r>
              <a:rPr dirty="0" sz="1200" spc="-5" b="1">
                <a:latin typeface="Arial"/>
                <a:cs typeface="Arial"/>
              </a:rPr>
              <a:t>taxonomies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 </a:t>
            </a:r>
            <a:r>
              <a:rPr dirty="0" sz="1200" b="1">
                <a:latin typeface="Arial"/>
                <a:cs typeface="Arial"/>
              </a:rPr>
              <a:t>planning </a:t>
            </a:r>
            <a:r>
              <a:rPr dirty="0" sz="1200" spc="-5" b="1">
                <a:latin typeface="Arial"/>
                <a:cs typeface="Arial"/>
              </a:rPr>
              <a:t>tools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Taxonomies may</a:t>
            </a:r>
            <a:r>
              <a:rPr dirty="0" sz="1200">
                <a:latin typeface="Arial MT"/>
                <a:cs typeface="Arial MT"/>
              </a:rPr>
              <a:t> be</a:t>
            </a:r>
            <a:r>
              <a:rPr dirty="0" sz="1200" spc="-5">
                <a:latin typeface="Arial MT"/>
                <a:cs typeface="Arial MT"/>
              </a:rPr>
              <a:t> used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to:</a:t>
            </a:r>
            <a:endParaRPr sz="1200">
              <a:latin typeface="Arial MT"/>
              <a:cs typeface="Arial MT"/>
            </a:endParaRPr>
          </a:p>
          <a:p>
            <a:pPr lvl="1" marL="70612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Formulate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sequence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Develop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questions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Constructing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evaluating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material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Taxonomies </a:t>
            </a:r>
            <a:r>
              <a:rPr dirty="0" sz="1200" b="1">
                <a:latin typeface="Arial"/>
                <a:cs typeface="Arial"/>
              </a:rPr>
              <a:t>provide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cognitive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structure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Bloom’s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taxonomy:</a:t>
            </a:r>
            <a:endParaRPr sz="1400">
              <a:latin typeface="Arial"/>
              <a:cs typeface="Arial"/>
            </a:endParaRPr>
          </a:p>
          <a:p>
            <a:pPr algn="just" marL="18415" indent="-6350">
              <a:lnSpc>
                <a:spcPct val="100000"/>
              </a:lnSpc>
              <a:spcBef>
                <a:spcPts val="550"/>
              </a:spcBef>
            </a:pP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6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levels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Bloom’s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taxonomy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domain.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level,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endParaRPr sz="1200">
              <a:latin typeface="Arial MT"/>
              <a:cs typeface="Arial MT"/>
            </a:endParaRPr>
          </a:p>
          <a:p>
            <a:pPr algn="just" marL="18415" marR="762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comprehension,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application.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categorized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lower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next </a:t>
            </a:r>
            <a:r>
              <a:rPr dirty="0" sz="1200" spc="-5">
                <a:latin typeface="Arial MT"/>
                <a:cs typeface="Arial MT"/>
              </a:rPr>
              <a:t>three levels, </a:t>
            </a:r>
            <a:r>
              <a:rPr dirty="0" sz="1200">
                <a:latin typeface="Arial MT"/>
                <a:cs typeface="Arial MT"/>
              </a:rPr>
              <a:t>i.e. </a:t>
            </a:r>
            <a:r>
              <a:rPr dirty="0" sz="1200" spc="-5">
                <a:latin typeface="Arial MT"/>
                <a:cs typeface="Arial MT"/>
              </a:rPr>
              <a:t>analysis, synthesis and </a:t>
            </a:r>
            <a:r>
              <a:rPr dirty="0" sz="1200">
                <a:latin typeface="Arial MT"/>
                <a:cs typeface="Arial MT"/>
              </a:rPr>
              <a:t>evaluation are </a:t>
            </a:r>
            <a:r>
              <a:rPr dirty="0" sz="1200" spc="-5">
                <a:latin typeface="Arial MT"/>
                <a:cs typeface="Arial MT"/>
              </a:rPr>
              <a:t>categorized as the </a:t>
            </a:r>
            <a:r>
              <a:rPr dirty="0" sz="1200">
                <a:latin typeface="Arial MT"/>
                <a:cs typeface="Arial MT"/>
              </a:rPr>
              <a:t>higher level 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 Bloom’s taxonomy is </a:t>
            </a:r>
            <a:r>
              <a:rPr dirty="0" sz="1200">
                <a:latin typeface="Arial MT"/>
                <a:cs typeface="Arial MT"/>
              </a:rPr>
              <a:t>still </a:t>
            </a:r>
            <a:r>
              <a:rPr dirty="0" sz="1200" spc="-5">
                <a:latin typeface="Arial MT"/>
                <a:cs typeface="Arial MT"/>
              </a:rPr>
              <a:t>teach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students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there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many </a:t>
            </a:r>
            <a:r>
              <a:rPr dirty="0" sz="1200" spc="-5">
                <a:latin typeface="Arial MT"/>
                <a:cs typeface="Arial MT"/>
              </a:rPr>
              <a:t>adaptations of it. One 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10">
                <a:latin typeface="Arial MT"/>
                <a:cs typeface="Arial MT"/>
              </a:rPr>
              <a:t>these </a:t>
            </a:r>
            <a:r>
              <a:rPr dirty="0" sz="1200">
                <a:latin typeface="Arial MT"/>
                <a:cs typeface="Arial MT"/>
              </a:rPr>
              <a:t>is: </a:t>
            </a:r>
            <a:r>
              <a:rPr dirty="0" sz="1200" spc="-5">
                <a:latin typeface="Arial MT"/>
                <a:cs typeface="Arial MT"/>
              </a:rPr>
              <a:t>the three levels, which are knowledge, comprehension and application, are in hierarchy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levels: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analysis,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synthesis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evaluation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hierarchical.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difficult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higher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other.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adaptation,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three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placed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hierarchy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said 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higher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order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200" spc="-5">
                <a:latin typeface="Arial MT"/>
                <a:cs typeface="Arial MT"/>
              </a:rPr>
              <a:t>skills.</a:t>
            </a:r>
            <a:endParaRPr sz="1200">
              <a:latin typeface="Arial MT"/>
              <a:cs typeface="Arial MT"/>
            </a:endParaRPr>
          </a:p>
          <a:p>
            <a:pPr algn="just" marL="18415" marR="7620" indent="-6350">
              <a:lnSpc>
                <a:spcPts val="2080"/>
              </a:lnSpc>
              <a:spcBef>
                <a:spcPts val="160"/>
              </a:spcBef>
            </a:pP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never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focus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higher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few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take </a:t>
            </a:r>
            <a:r>
              <a:rPr dirty="0" sz="1200" spc="-5">
                <a:latin typeface="Arial MT"/>
                <a:cs typeface="Arial MT"/>
              </a:rPr>
              <a:t>their students to the level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higher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thinking. Mostly, what happens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schools is that we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asked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memorize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things.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mathematics,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asked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apply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learnt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formulas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solve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problems.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Analysis,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synthesis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evaluation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never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taken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consideration.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endParaRPr sz="1200">
              <a:latin typeface="Arial MT"/>
              <a:cs typeface="Arial MT"/>
            </a:endParaRPr>
          </a:p>
          <a:p>
            <a:pPr algn="just" marL="18415" marR="508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maximum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want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easier,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right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copy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checking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be easy </a:t>
            </a:r>
            <a:r>
              <a:rPr dirty="0" sz="1200">
                <a:latin typeface="Arial MT"/>
                <a:cs typeface="Arial MT"/>
              </a:rPr>
              <a:t>for us. This </a:t>
            </a:r>
            <a:r>
              <a:rPr dirty="0" sz="1200" spc="-5">
                <a:latin typeface="Arial MT"/>
                <a:cs typeface="Arial MT"/>
              </a:rPr>
              <a:t>is a </a:t>
            </a:r>
            <a:r>
              <a:rPr dirty="0" sz="1200">
                <a:latin typeface="Arial MT"/>
                <a:cs typeface="Arial MT"/>
              </a:rPr>
              <a:t>major </a:t>
            </a:r>
            <a:r>
              <a:rPr dirty="0" sz="1200" spc="-5">
                <a:latin typeface="Arial MT"/>
                <a:cs typeface="Arial MT"/>
              </a:rPr>
              <a:t>reason why </a:t>
            </a:r>
            <a:r>
              <a:rPr dirty="0" sz="1200">
                <a:latin typeface="Arial MT"/>
                <a:cs typeface="Arial MT"/>
              </a:rPr>
              <a:t>teachers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allow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work on the </a:t>
            </a:r>
            <a:r>
              <a:rPr dirty="0" sz="1200">
                <a:latin typeface="Arial MT"/>
                <a:cs typeface="Arial MT"/>
              </a:rPr>
              <a:t> higher level </a:t>
            </a:r>
            <a:r>
              <a:rPr dirty="0" sz="1200" spc="-5">
                <a:latin typeface="Arial MT"/>
                <a:cs typeface="Arial MT"/>
              </a:rPr>
              <a:t>learning skills.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being a good teacher, </a:t>
            </a:r>
            <a:r>
              <a:rPr dirty="0" sz="1200">
                <a:latin typeface="Arial MT"/>
                <a:cs typeface="Arial MT"/>
              </a:rPr>
              <a:t>my focus </a:t>
            </a:r>
            <a:r>
              <a:rPr dirty="0" sz="1200" spc="-5">
                <a:latin typeface="Arial MT"/>
                <a:cs typeface="Arial MT"/>
              </a:rPr>
              <a:t>must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on students learning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the easiness </a:t>
            </a:r>
            <a:r>
              <a:rPr dirty="0" sz="1200">
                <a:latin typeface="Arial MT"/>
                <a:cs typeface="Arial MT"/>
              </a:rPr>
              <a:t>of us. </a:t>
            </a:r>
            <a:r>
              <a:rPr dirty="0" sz="1200" spc="-5">
                <a:latin typeface="Arial MT"/>
                <a:cs typeface="Arial MT"/>
              </a:rPr>
              <a:t>We must take the students towards their intellectual </a:t>
            </a:r>
            <a:r>
              <a:rPr dirty="0" sz="1200" spc="5">
                <a:latin typeface="Arial MT"/>
                <a:cs typeface="Arial MT"/>
              </a:rPr>
              <a:t>growth. </a:t>
            </a:r>
            <a:r>
              <a:rPr dirty="0" sz="1200" spc="-5">
                <a:latin typeface="Arial MT"/>
                <a:cs typeface="Arial MT"/>
              </a:rPr>
              <a:t>Intellectual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growth cannot </a:t>
            </a:r>
            <a:r>
              <a:rPr dirty="0" sz="1200">
                <a:latin typeface="Arial MT"/>
                <a:cs typeface="Arial MT"/>
              </a:rPr>
              <a:t>take </a:t>
            </a:r>
            <a:r>
              <a:rPr dirty="0" sz="1200" spc="-5">
                <a:latin typeface="Arial MT"/>
                <a:cs typeface="Arial MT"/>
              </a:rPr>
              <a:t>place unless we do not provide opportunities to our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think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high </a:t>
            </a:r>
            <a:r>
              <a:rPr dirty="0" sz="1200">
                <a:latin typeface="Arial MT"/>
                <a:cs typeface="Arial MT"/>
              </a:rPr>
              <a:t> level.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Arial MT"/>
              <a:cs typeface="Arial MT"/>
            </a:endParaRPr>
          </a:p>
          <a:p>
            <a:pPr marL="1934845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“Psychomotor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Domain”</a:t>
            </a:r>
            <a:endParaRPr sz="1400">
              <a:latin typeface="Arial"/>
              <a:cs typeface="Arial"/>
            </a:endParaRPr>
          </a:p>
          <a:p>
            <a:pPr algn="just" marL="18415" marR="9525" indent="-6350">
              <a:lnSpc>
                <a:spcPts val="2080"/>
              </a:lnSpc>
            </a:pPr>
            <a:r>
              <a:rPr dirty="0" sz="1200" spc="-5">
                <a:latin typeface="Arial MT"/>
                <a:cs typeface="Arial MT"/>
              </a:rPr>
              <a:t>Psychomotor domain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domain where your body movements are involved. There is </a:t>
            </a:r>
            <a:r>
              <a:rPr dirty="0" sz="1200">
                <a:latin typeface="Arial MT"/>
                <a:cs typeface="Arial MT"/>
              </a:rPr>
              <a:t>learning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also,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drawing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painting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something,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muscles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involved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not,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opportunities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5">
                <a:latin typeface="Arial MT"/>
                <a:cs typeface="Arial MT"/>
              </a:rPr>
              <a:t> 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domain.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10721565"/>
            <a:ext cx="4697095" cy="10947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400" spc="-5" b="1">
                <a:latin typeface="Arial"/>
                <a:cs typeface="Arial"/>
              </a:rPr>
              <a:t>Hierarchical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levels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of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Simpson’s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Psychomotor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Domain: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54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Perception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Set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Guided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Response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384" y="578611"/>
            <a:ext cx="6405245" cy="1109599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Times New Roman"/>
              <a:buAutoNum type="arabicPeriod" startAt="4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Mechanism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 startAt="4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Complex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overt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Response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 startAt="4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Adaptation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 startAt="4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Origination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AutoNum type="arabicPeriod" startAt="4"/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 startAt="4"/>
            </a:pPr>
            <a:endParaRPr sz="1050">
              <a:latin typeface="Arial"/>
              <a:cs typeface="Arial"/>
            </a:endParaRPr>
          </a:p>
          <a:p>
            <a:pPr lvl="1" marL="476884" indent="-229235"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  <a:tabLst>
                <a:tab pos="477520" algn="l"/>
              </a:tabLst>
            </a:pPr>
            <a:r>
              <a:rPr dirty="0" sz="1200" spc="-5" b="1">
                <a:latin typeface="Arial"/>
                <a:cs typeface="Arial"/>
              </a:rPr>
              <a:t>Perception:</a:t>
            </a:r>
            <a:endParaRPr sz="1200">
              <a:latin typeface="Arial"/>
              <a:cs typeface="Arial"/>
            </a:endParaRPr>
          </a:p>
          <a:p>
            <a:pPr algn="just" marL="483234" marR="5080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Perception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attending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stimulus.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happening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surrounding, and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are noticing that stimulus. E.g.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are listening,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that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attending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stimulus.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theoretical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applying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Simpson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identified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starts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body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movement.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drive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notice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someone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else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driving, or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will ask someone 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drive?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will actually attend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that stimulus </a:t>
            </a:r>
            <a:r>
              <a:rPr dirty="0" sz="1200" spc="-1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listening.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lvl="1" marL="476884" indent="-229235">
              <a:lnSpc>
                <a:spcPct val="100000"/>
              </a:lnSpc>
              <a:spcBef>
                <a:spcPts val="1080"/>
              </a:spcBef>
              <a:buFont typeface="Times New Roman"/>
              <a:buAutoNum type="arabicPeriod" startAt="2"/>
              <a:tabLst>
                <a:tab pos="477520" algn="l"/>
              </a:tabLst>
            </a:pPr>
            <a:r>
              <a:rPr dirty="0" sz="1200" b="1">
                <a:latin typeface="Arial"/>
                <a:cs typeface="Arial"/>
              </a:rPr>
              <a:t>Set:</a:t>
            </a:r>
            <a:endParaRPr sz="1200">
              <a:latin typeface="Arial"/>
              <a:cs typeface="Arial"/>
            </a:endParaRPr>
          </a:p>
          <a:p>
            <a:pPr algn="just" marL="483234" marR="6985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Set </a:t>
            </a:r>
            <a:r>
              <a:rPr dirty="0" sz="1200" spc="-5">
                <a:latin typeface="Arial MT"/>
                <a:cs typeface="Arial MT"/>
              </a:rPr>
              <a:t>is a readiness for action. You show </a:t>
            </a:r>
            <a:r>
              <a:rPr dirty="0" sz="1200">
                <a:latin typeface="Arial MT"/>
                <a:cs typeface="Arial MT"/>
              </a:rPr>
              <a:t>willingness </a:t>
            </a:r>
            <a:r>
              <a:rPr dirty="0" sz="1200" spc="-5">
                <a:latin typeface="Arial MT"/>
                <a:cs typeface="Arial MT"/>
              </a:rPr>
              <a:t>to do a particular task.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child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 understanding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comprehending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trying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demonstrate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way.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a house,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there are people who are interested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studying, a child will notice them. If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 father is reading newspaper,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will notice him (Perception stage). He will </a:t>
            </a:r>
            <a:r>
              <a:rPr dirty="0" sz="1200">
                <a:latin typeface="Arial MT"/>
                <a:cs typeface="Arial MT"/>
              </a:rPr>
              <a:t>try 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imitate, although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could not read the newspaper but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is trying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read. </a:t>
            </a:r>
            <a:r>
              <a:rPr dirty="0" sz="1200" spc="-5">
                <a:latin typeface="Arial MT"/>
                <a:cs typeface="Arial MT"/>
              </a:rPr>
              <a:t>There is a </a:t>
            </a:r>
            <a:r>
              <a:rPr dirty="0" sz="1200">
                <a:latin typeface="Arial MT"/>
                <a:cs typeface="Arial MT"/>
              </a:rPr>
              <a:t> level </a:t>
            </a:r>
            <a:r>
              <a:rPr dirty="0" sz="1200" spc="-5">
                <a:latin typeface="Arial MT"/>
                <a:cs typeface="Arial MT"/>
              </a:rPr>
              <a:t>in between perception and imitation that he takes the book or newspaper in his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hands.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readiness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 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action.</a:t>
            </a:r>
            <a:endParaRPr sz="1200">
              <a:latin typeface="Arial MT"/>
              <a:cs typeface="Arial MT"/>
            </a:endParaRPr>
          </a:p>
          <a:p>
            <a:pPr algn="just" marL="476884">
              <a:lnSpc>
                <a:spcPct val="100000"/>
              </a:lnSpc>
              <a:spcBef>
                <a:spcPts val="445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two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levels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Simpson’s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hierarchy,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notice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physical</a:t>
            </a:r>
            <a:endParaRPr sz="1200">
              <a:latin typeface="Arial MT"/>
              <a:cs typeface="Arial MT"/>
            </a:endParaRPr>
          </a:p>
          <a:p>
            <a:pPr algn="just" marL="483234">
              <a:lnSpc>
                <a:spcPct val="100000"/>
              </a:lnSpc>
              <a:spcBef>
                <a:spcPts val="640"/>
              </a:spcBef>
            </a:pPr>
            <a:r>
              <a:rPr dirty="0" sz="1200">
                <a:latin typeface="Arial MT"/>
                <a:cs typeface="Arial MT"/>
              </a:rPr>
              <a:t>activity </a:t>
            </a:r>
            <a:r>
              <a:rPr dirty="0" sz="1200" spc="-5">
                <a:latin typeface="Arial MT"/>
                <a:cs typeface="Arial MT"/>
              </a:rPr>
              <a:t>involved.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physical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lvl="1" marL="476884" indent="-229235">
              <a:lnSpc>
                <a:spcPct val="100000"/>
              </a:lnSpc>
              <a:buFont typeface="Times New Roman"/>
              <a:buAutoNum type="arabicPeriod" startAt="3"/>
              <a:tabLst>
                <a:tab pos="477520" algn="l"/>
              </a:tabLst>
            </a:pPr>
            <a:r>
              <a:rPr dirty="0" sz="1200" b="1">
                <a:latin typeface="Arial"/>
                <a:cs typeface="Arial"/>
              </a:rPr>
              <a:t>Guided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Response/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Imitation:</a:t>
            </a:r>
            <a:endParaRPr sz="1200">
              <a:latin typeface="Arial"/>
              <a:cs typeface="Arial"/>
            </a:endParaRPr>
          </a:p>
          <a:p>
            <a:pPr algn="just" marL="483234" marR="6985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word ‘guided’ indicate something,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child is responding in the form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action but this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action is not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independent </a:t>
            </a:r>
            <a:r>
              <a:rPr dirty="0" sz="1200">
                <a:latin typeface="Arial MT"/>
                <a:cs typeface="Arial MT"/>
              </a:rPr>
              <a:t>action. This </a:t>
            </a:r>
            <a:r>
              <a:rPr dirty="0" sz="1200" spc="-5">
                <a:latin typeface="Arial MT"/>
                <a:cs typeface="Arial MT"/>
              </a:rPr>
              <a:t>action is a guided action. </a:t>
            </a:r>
            <a:r>
              <a:rPr dirty="0" sz="1200">
                <a:latin typeface="Arial MT"/>
                <a:cs typeface="Arial MT"/>
              </a:rPr>
              <a:t>E.g. </a:t>
            </a:r>
            <a:r>
              <a:rPr dirty="0" sz="1200" spc="-5">
                <a:latin typeface="Arial MT"/>
                <a:cs typeface="Arial MT"/>
              </a:rPr>
              <a:t>when a child </a:t>
            </a:r>
            <a:r>
              <a:rPr dirty="0" sz="1200">
                <a:latin typeface="Arial MT"/>
                <a:cs typeface="Arial MT"/>
              </a:rPr>
              <a:t> starts </a:t>
            </a:r>
            <a:r>
              <a:rPr dirty="0" sz="1200" spc="-5">
                <a:latin typeface="Arial MT"/>
                <a:cs typeface="Arial MT"/>
              </a:rPr>
              <a:t>writing alphabets,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could not write them by himself. Sometimes a teacher had 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hold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child’s hand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him 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write alphabets in the beginning. Unless you </a:t>
            </a:r>
            <a:r>
              <a:rPr dirty="0" sz="1200">
                <a:latin typeface="Arial MT"/>
                <a:cs typeface="Arial MT"/>
              </a:rPr>
              <a:t>do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provide a child with guided response, he could not work independently. So, this is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guided response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imitates,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tries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action,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endParaRPr sz="1200">
              <a:latin typeface="Arial MT"/>
              <a:cs typeface="Arial MT"/>
            </a:endParaRPr>
          </a:p>
          <a:p>
            <a:pPr marL="483234">
              <a:lnSpc>
                <a:spcPct val="100000"/>
              </a:lnSpc>
              <a:spcBef>
                <a:spcPts val="425"/>
              </a:spcBef>
            </a:pPr>
            <a:r>
              <a:rPr dirty="0" sz="1200">
                <a:latin typeface="Arial MT"/>
                <a:cs typeface="Arial MT"/>
              </a:rPr>
              <a:t>way.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Arial MT"/>
              <a:cs typeface="Arial MT"/>
            </a:endParaRPr>
          </a:p>
          <a:p>
            <a:pPr lvl="1" marL="476884" indent="-229235">
              <a:lnSpc>
                <a:spcPct val="100000"/>
              </a:lnSpc>
              <a:buFont typeface="Times New Roman"/>
              <a:buAutoNum type="arabicPeriod" startAt="4"/>
              <a:tabLst>
                <a:tab pos="477520" algn="l"/>
              </a:tabLst>
            </a:pPr>
            <a:r>
              <a:rPr dirty="0" sz="1200" spc="-5" b="1">
                <a:latin typeface="Arial"/>
                <a:cs typeface="Arial"/>
              </a:rPr>
              <a:t>Mechanism:</a:t>
            </a:r>
            <a:endParaRPr sz="1200">
              <a:latin typeface="Arial"/>
              <a:cs typeface="Arial"/>
            </a:endParaRPr>
          </a:p>
          <a:p>
            <a:pPr algn="just" marL="483234" marR="1206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There are different mechanics </a:t>
            </a:r>
            <a:r>
              <a:rPr dirty="0" sz="1200">
                <a:latin typeface="Arial MT"/>
                <a:cs typeface="Arial MT"/>
              </a:rPr>
              <a:t>to do </a:t>
            </a:r>
            <a:r>
              <a:rPr dirty="0" sz="1200" spc="-5">
                <a:latin typeface="Arial MT"/>
                <a:cs typeface="Arial MT"/>
              </a:rPr>
              <a:t>different </a:t>
            </a:r>
            <a:r>
              <a:rPr dirty="0" sz="1200">
                <a:latin typeface="Arial MT"/>
                <a:cs typeface="Arial MT"/>
              </a:rPr>
              <a:t>things. </a:t>
            </a:r>
            <a:r>
              <a:rPr dirty="0" sz="1200" spc="-5">
                <a:latin typeface="Arial MT"/>
                <a:cs typeface="Arial MT"/>
              </a:rPr>
              <a:t>Mechanism indicates that a child 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 </a:t>
            </a:r>
            <a:r>
              <a:rPr dirty="0" sz="1200">
                <a:latin typeface="Arial MT"/>
                <a:cs typeface="Arial MT"/>
              </a:rPr>
              <a:t>to do </a:t>
            </a:r>
            <a:r>
              <a:rPr dirty="0" sz="1200" spc="-5">
                <a:latin typeface="Arial MT"/>
                <a:cs typeface="Arial MT"/>
              </a:rPr>
              <a:t>a task by following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mechanics.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child </a:t>
            </a:r>
            <a:r>
              <a:rPr dirty="0" sz="1200">
                <a:latin typeface="Arial MT"/>
                <a:cs typeface="Arial MT"/>
              </a:rPr>
              <a:t>may </a:t>
            </a:r>
            <a:r>
              <a:rPr dirty="0" sz="1200" spc="-5">
                <a:latin typeface="Arial MT"/>
                <a:cs typeface="Arial MT"/>
              </a:rPr>
              <a:t>not be </a:t>
            </a:r>
            <a:r>
              <a:rPr dirty="0" sz="1200">
                <a:latin typeface="Arial MT"/>
                <a:cs typeface="Arial MT"/>
              </a:rPr>
              <a:t>able </a:t>
            </a:r>
            <a:r>
              <a:rPr dirty="0" sz="1200" spc="-5">
                <a:latin typeface="Arial MT"/>
                <a:cs typeface="Arial MT"/>
              </a:rPr>
              <a:t>to perform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unless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particular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opportunity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lvl="1" marL="476884" indent="-229235">
              <a:lnSpc>
                <a:spcPct val="100000"/>
              </a:lnSpc>
              <a:spcBef>
                <a:spcPts val="1090"/>
              </a:spcBef>
              <a:buFont typeface="Times New Roman"/>
              <a:buAutoNum type="arabicPeriod" startAt="5"/>
              <a:tabLst>
                <a:tab pos="477520" algn="l"/>
              </a:tabLst>
            </a:pPr>
            <a:r>
              <a:rPr dirty="0" sz="1200" b="1">
                <a:latin typeface="Arial"/>
                <a:cs typeface="Arial"/>
              </a:rPr>
              <a:t>Complex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overt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response:</a:t>
            </a:r>
            <a:endParaRPr sz="1200">
              <a:latin typeface="Arial"/>
              <a:cs typeface="Arial"/>
            </a:endParaRPr>
          </a:p>
          <a:p>
            <a:pPr algn="just" marL="483234" marR="5080" indent="-6350">
              <a:lnSpc>
                <a:spcPts val="2080"/>
              </a:lnSpc>
              <a:spcBef>
                <a:spcPts val="70"/>
              </a:spcBef>
            </a:pPr>
            <a:r>
              <a:rPr dirty="0" sz="1200">
                <a:latin typeface="Arial MT"/>
                <a:cs typeface="Arial MT"/>
              </a:rPr>
              <a:t>Word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‘complex’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shows</a:t>
            </a:r>
            <a:r>
              <a:rPr dirty="0" sz="1200">
                <a:latin typeface="Arial MT"/>
                <a:cs typeface="Arial MT"/>
              </a:rPr>
              <a:t> 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>
                <a:latin typeface="Arial MT"/>
                <a:cs typeface="Arial MT"/>
              </a:rPr>
              <a:t> 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independently.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5">
                <a:latin typeface="Arial MT"/>
                <a:cs typeface="Arial MT"/>
              </a:rPr>
              <a:t>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mechanism, 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 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do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certain </a:t>
            </a:r>
            <a:r>
              <a:rPr dirty="0" sz="1200">
                <a:latin typeface="Arial MT"/>
                <a:cs typeface="Arial MT"/>
              </a:rPr>
              <a:t>task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following </a:t>
            </a:r>
            <a:r>
              <a:rPr dirty="0" sz="1200" spc="5">
                <a:latin typeface="Arial MT"/>
                <a:cs typeface="Arial MT"/>
              </a:rPr>
              <a:t>its</a:t>
            </a:r>
            <a:r>
              <a:rPr dirty="0" sz="1200" spc="-5">
                <a:latin typeface="Arial MT"/>
                <a:cs typeface="Arial MT"/>
              </a:rPr>
              <a:t> mechanics, but in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4480" cy="11134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712470" marR="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complex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response,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independently.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smoothly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swiftly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perform a particular </a:t>
            </a:r>
            <a:r>
              <a:rPr dirty="0" sz="1200">
                <a:latin typeface="Arial MT"/>
                <a:cs typeface="Arial MT"/>
              </a:rPr>
              <a:t>task. E.g. </a:t>
            </a:r>
            <a:r>
              <a:rPr dirty="0" sz="1200" spc="-5">
                <a:latin typeface="Arial MT"/>
                <a:cs typeface="Arial MT"/>
              </a:rPr>
              <a:t>a child can write alphabets by following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mechanics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independently,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response,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able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alphabets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joining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speedily and smoothly. Small children write words in joining writing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slowly, because there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no </a:t>
            </a:r>
            <a:r>
              <a:rPr dirty="0" sz="1200" spc="-5">
                <a:latin typeface="Arial MT"/>
                <a:cs typeface="Arial MT"/>
              </a:rPr>
              <a:t>complex response.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take a child to complex response,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provide them with practicing.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1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provide them with practice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 never reach the complex response.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a result, children </a:t>
            </a:r>
            <a:r>
              <a:rPr dirty="0" sz="1200">
                <a:latin typeface="Arial MT"/>
                <a:cs typeface="Arial MT"/>
              </a:rPr>
              <a:t>may </a:t>
            </a:r>
            <a:r>
              <a:rPr dirty="0" sz="1200" spc="-5">
                <a:latin typeface="Arial MT"/>
                <a:cs typeface="Arial MT"/>
              </a:rPr>
              <a:t>keep growing in age but </a:t>
            </a:r>
            <a:r>
              <a:rPr dirty="0" sz="1200">
                <a:latin typeface="Arial MT"/>
                <a:cs typeface="Arial MT"/>
              </a:rPr>
              <a:t> they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unable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quickly.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Arial MT"/>
              <a:cs typeface="Arial MT"/>
            </a:endParaRPr>
          </a:p>
          <a:p>
            <a:pPr marL="706120" indent="-229235">
              <a:lnSpc>
                <a:spcPct val="100000"/>
              </a:lnSpc>
              <a:buFont typeface="Times New Roman"/>
              <a:buAutoNum type="arabicPeriod" startAt="6"/>
              <a:tabLst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Adaptation:</a:t>
            </a:r>
            <a:endParaRPr sz="1200">
              <a:latin typeface="Arial"/>
              <a:cs typeface="Arial"/>
            </a:endParaRPr>
          </a:p>
          <a:p>
            <a:pPr algn="just" marL="712470" marR="1143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Adaptation comes from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word ‘Adapt’ which means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set yourself in the given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situation.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Altering motor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meet demands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problematic situations.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Arial MT"/>
              <a:cs typeface="Arial MT"/>
            </a:endParaRPr>
          </a:p>
          <a:p>
            <a:pPr marL="706120" indent="-229235">
              <a:lnSpc>
                <a:spcPct val="100000"/>
              </a:lnSpc>
              <a:buFont typeface="Times New Roman"/>
              <a:buAutoNum type="arabicPeriod" startAt="7"/>
              <a:tabLst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Origination:</a:t>
            </a:r>
            <a:endParaRPr sz="1200">
              <a:latin typeface="Arial"/>
              <a:cs typeface="Arial"/>
            </a:endParaRPr>
          </a:p>
          <a:p>
            <a:pPr algn="just" marL="712470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Origination means something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original.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the </a:t>
            </a:r>
            <a:r>
              <a:rPr dirty="0" sz="1200">
                <a:latin typeface="Arial MT"/>
                <a:cs typeface="Arial MT"/>
              </a:rPr>
              <a:t>level where </a:t>
            </a:r>
            <a:r>
              <a:rPr dirty="0" sz="1200" spc="-5">
                <a:latin typeface="Arial MT"/>
                <a:cs typeface="Arial MT"/>
              </a:rPr>
              <a:t>a child </a:t>
            </a:r>
            <a:r>
              <a:rPr dirty="0" sz="1200" spc="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originate </a:t>
            </a:r>
            <a:r>
              <a:rPr dirty="0" sz="1200">
                <a:latin typeface="Arial MT"/>
                <a:cs typeface="Arial MT"/>
              </a:rPr>
              <a:t> things </a:t>
            </a:r>
            <a:r>
              <a:rPr dirty="0" sz="1200" spc="-5">
                <a:latin typeface="Arial MT"/>
                <a:cs typeface="Arial MT"/>
              </a:rPr>
              <a:t>on his own. He can create </a:t>
            </a:r>
            <a:r>
              <a:rPr dirty="0" sz="1200">
                <a:latin typeface="Arial MT"/>
                <a:cs typeface="Arial MT"/>
              </a:rPr>
              <a:t>many </a:t>
            </a:r>
            <a:r>
              <a:rPr dirty="0" sz="1200" spc="-5">
                <a:latin typeface="Arial MT"/>
                <a:cs typeface="Arial MT"/>
              </a:rPr>
              <a:t>things.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he is 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write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mechanics </a:t>
            </a:r>
            <a:r>
              <a:rPr dirty="0" sz="1200">
                <a:latin typeface="Arial MT"/>
                <a:cs typeface="Arial MT"/>
              </a:rPr>
              <a:t>level.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 he is 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write </a:t>
            </a:r>
            <a:r>
              <a:rPr dirty="0" sz="1200" spc="-5">
                <a:latin typeface="Arial MT"/>
                <a:cs typeface="Arial MT"/>
              </a:rPr>
              <a:t>joining writing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complex response. He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>
                <a:latin typeface="Arial MT"/>
                <a:cs typeface="Arial MT"/>
              </a:rPr>
              <a:t>make </a:t>
            </a:r>
            <a:r>
              <a:rPr dirty="0" sz="1200" spc="-5">
                <a:latin typeface="Arial MT"/>
                <a:cs typeface="Arial MT"/>
              </a:rPr>
              <a:t>changes in </a:t>
            </a:r>
            <a:r>
              <a:rPr dirty="0" sz="1200">
                <a:latin typeface="Arial MT"/>
                <a:cs typeface="Arial MT"/>
              </a:rPr>
              <a:t> what </a:t>
            </a:r>
            <a:r>
              <a:rPr dirty="0" sz="1200" spc="-5">
                <a:latin typeface="Arial MT"/>
                <a:cs typeface="Arial MT"/>
              </a:rPr>
              <a:t>he writes at the adaptation level. And now here in origination </a:t>
            </a:r>
            <a:r>
              <a:rPr dirty="0" sz="1200">
                <a:latin typeface="Arial MT"/>
                <a:cs typeface="Arial MT"/>
              </a:rPr>
              <a:t>level, </a:t>
            </a:r>
            <a:r>
              <a:rPr dirty="0" sz="1200" spc="-5">
                <a:latin typeface="Arial MT"/>
                <a:cs typeface="Arial MT"/>
              </a:rPr>
              <a:t>e.g.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he knows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calligraphy, he can create </a:t>
            </a:r>
            <a:r>
              <a:rPr dirty="0" sz="1200">
                <a:latin typeface="Arial MT"/>
                <a:cs typeface="Arial MT"/>
              </a:rPr>
              <a:t>new style </a:t>
            </a:r>
            <a:r>
              <a:rPr dirty="0" sz="1200" spc="-5">
                <a:latin typeface="Arial MT"/>
                <a:cs typeface="Arial MT"/>
              </a:rPr>
              <a:t>of calligraphy. This is the highest level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Simpson’s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hierarchy.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“Affective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Domain”</a:t>
            </a:r>
            <a:endParaRPr sz="1400">
              <a:latin typeface="Arial"/>
              <a:cs typeface="Arial"/>
            </a:endParaRPr>
          </a:p>
          <a:p>
            <a:pPr marL="18415" indent="-6350">
              <a:lnSpc>
                <a:spcPct val="100000"/>
              </a:lnSpc>
              <a:spcBef>
                <a:spcPts val="560"/>
              </a:spcBef>
            </a:pPr>
            <a:r>
              <a:rPr dirty="0" sz="1200" spc="-5">
                <a:latin typeface="Arial MT"/>
                <a:cs typeface="Arial MT"/>
              </a:rPr>
              <a:t>Hierarchy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affective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domain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Bloom and Krathwohl 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1964.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Affective domain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endParaRPr sz="1200">
              <a:latin typeface="Arial MT"/>
              <a:cs typeface="Arial MT"/>
            </a:endParaRPr>
          </a:p>
          <a:p>
            <a:pPr marL="18415" marR="11430">
              <a:lnSpc>
                <a:spcPct val="143300"/>
              </a:lnSpc>
              <a:spcBef>
                <a:spcPts val="15"/>
              </a:spcBef>
            </a:pPr>
            <a:r>
              <a:rPr dirty="0" sz="1200" spc="-5">
                <a:latin typeface="Arial MT"/>
                <a:cs typeface="Arial MT"/>
              </a:rPr>
              <a:t>about developing certain attitudes and dispositions. They both identified 5 </a:t>
            </a:r>
            <a:r>
              <a:rPr dirty="0" sz="1200">
                <a:latin typeface="Arial MT"/>
                <a:cs typeface="Arial MT"/>
              </a:rPr>
              <a:t>levels </a:t>
            </a:r>
            <a:r>
              <a:rPr dirty="0" sz="1200" spc="-5">
                <a:latin typeface="Arial MT"/>
                <a:cs typeface="Arial MT"/>
              </a:rPr>
              <a:t>that are important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affective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domain.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Arial MT"/>
              <a:cs typeface="Arial MT"/>
            </a:endParaRPr>
          </a:p>
          <a:p>
            <a:pPr marL="416559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Hierarchical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levels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of Bloom’s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and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Krathwohl’s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taxonomy:</a:t>
            </a:r>
            <a:endParaRPr sz="1400">
              <a:latin typeface="Arial"/>
              <a:cs typeface="Arial"/>
            </a:endParaRPr>
          </a:p>
          <a:p>
            <a:pPr lvl="1" marL="916305" indent="-229235">
              <a:lnSpc>
                <a:spcPct val="100000"/>
              </a:lnSpc>
              <a:spcBef>
                <a:spcPts val="550"/>
              </a:spcBef>
              <a:buFont typeface="Times New Roman"/>
              <a:buAutoNum type="arabicPeriod"/>
              <a:tabLst>
                <a:tab pos="916940" algn="l"/>
              </a:tabLst>
            </a:pPr>
            <a:r>
              <a:rPr dirty="0" sz="1200" spc="-5" b="1">
                <a:latin typeface="Arial"/>
                <a:cs typeface="Arial"/>
              </a:rPr>
              <a:t>Receiving</a:t>
            </a:r>
            <a:endParaRPr sz="1200">
              <a:latin typeface="Arial"/>
              <a:cs typeface="Arial"/>
            </a:endParaRPr>
          </a:p>
          <a:p>
            <a:pPr lvl="1" marL="916305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916940" algn="l"/>
              </a:tabLst>
            </a:pPr>
            <a:r>
              <a:rPr dirty="0" sz="1200" b="1">
                <a:latin typeface="Arial"/>
                <a:cs typeface="Arial"/>
              </a:rPr>
              <a:t>Responding</a:t>
            </a:r>
            <a:endParaRPr sz="1200">
              <a:latin typeface="Arial"/>
              <a:cs typeface="Arial"/>
            </a:endParaRPr>
          </a:p>
          <a:p>
            <a:pPr lvl="1" marL="916305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916940" algn="l"/>
              </a:tabLst>
            </a:pPr>
            <a:r>
              <a:rPr dirty="0" sz="1200" b="1">
                <a:latin typeface="Arial"/>
                <a:cs typeface="Arial"/>
              </a:rPr>
              <a:t>Valuing</a:t>
            </a:r>
            <a:endParaRPr sz="1200">
              <a:latin typeface="Arial"/>
              <a:cs typeface="Arial"/>
            </a:endParaRPr>
          </a:p>
          <a:p>
            <a:pPr lvl="1" marL="916305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916940" algn="l"/>
              </a:tabLst>
            </a:pPr>
            <a:r>
              <a:rPr dirty="0" sz="1200" b="1">
                <a:latin typeface="Arial"/>
                <a:cs typeface="Arial"/>
              </a:rPr>
              <a:t>Organization</a:t>
            </a:r>
            <a:endParaRPr sz="1200">
              <a:latin typeface="Arial"/>
              <a:cs typeface="Arial"/>
            </a:endParaRPr>
          </a:p>
          <a:p>
            <a:pPr lvl="1" marL="916305" indent="-2292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916940" algn="l"/>
              </a:tabLst>
            </a:pPr>
            <a:r>
              <a:rPr dirty="0" sz="1200" spc="-5" b="1">
                <a:latin typeface="Arial"/>
                <a:cs typeface="Arial"/>
              </a:rPr>
              <a:t>Characterization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1.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Receiving:</a:t>
            </a:r>
            <a:endParaRPr sz="1200">
              <a:latin typeface="Arial"/>
              <a:cs typeface="Arial"/>
            </a:endParaRPr>
          </a:p>
          <a:p>
            <a:pPr algn="just" marL="483870" marR="8890" indent="-6350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Being aware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or sensitive </a:t>
            </a:r>
            <a:r>
              <a:rPr dirty="0" sz="1200">
                <a:latin typeface="Arial MT"/>
                <a:cs typeface="Arial MT"/>
              </a:rPr>
              <a:t>to the </a:t>
            </a:r>
            <a:r>
              <a:rPr dirty="0" sz="1200" spc="-5">
                <a:latin typeface="Arial MT"/>
                <a:cs typeface="Arial MT"/>
              </a:rPr>
              <a:t>existence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certain ideas, material or phenomena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 willing to tolerate them. E.g. a teacher </a:t>
            </a:r>
            <a:r>
              <a:rPr dirty="0" sz="1200">
                <a:latin typeface="Arial MT"/>
                <a:cs typeface="Arial MT"/>
              </a:rPr>
              <a:t>told </a:t>
            </a:r>
            <a:r>
              <a:rPr dirty="0" sz="1200" spc="-5">
                <a:latin typeface="Arial MT"/>
                <a:cs typeface="Arial MT"/>
              </a:rPr>
              <a:t>the students about balance diet and that </a:t>
            </a:r>
            <a:r>
              <a:rPr dirty="0" sz="1200">
                <a:latin typeface="Arial MT"/>
                <a:cs typeface="Arial MT"/>
              </a:rPr>
              <a:t> they </a:t>
            </a:r>
            <a:r>
              <a:rPr dirty="0" sz="1200" spc="-5">
                <a:latin typeface="Arial MT"/>
                <a:cs typeface="Arial MT"/>
              </a:rPr>
              <a:t>should avoid </a:t>
            </a:r>
            <a:r>
              <a:rPr dirty="0" sz="1200" spc="-10">
                <a:latin typeface="Arial MT"/>
                <a:cs typeface="Arial MT"/>
              </a:rPr>
              <a:t>junk </a:t>
            </a:r>
            <a:r>
              <a:rPr dirty="0" sz="1200" spc="-5">
                <a:latin typeface="Arial MT"/>
                <a:cs typeface="Arial MT"/>
              </a:rPr>
              <a:t>food.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that you have received this information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10">
                <a:latin typeface="Arial MT"/>
                <a:cs typeface="Arial MT"/>
              </a:rPr>
              <a:t>your </a:t>
            </a:r>
            <a:r>
              <a:rPr dirty="0" sz="1200" spc="-5">
                <a:latin typeface="Arial MT"/>
                <a:cs typeface="Arial MT"/>
              </a:rPr>
              <a:t> teacher.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level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>
                <a:latin typeface="Arial MT"/>
                <a:cs typeface="Arial MT"/>
              </a:rPr>
              <a:t>show</a:t>
            </a:r>
            <a:r>
              <a:rPr dirty="0" sz="1200" spc="-5">
                <a:latin typeface="Arial MT"/>
                <a:cs typeface="Arial MT"/>
              </a:rPr>
              <a:t> anything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rather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just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receive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1090"/>
              </a:spcBef>
            </a:pPr>
            <a:r>
              <a:rPr dirty="0" sz="1200" b="1">
                <a:latin typeface="Times New Roman"/>
                <a:cs typeface="Times New Roman"/>
              </a:rPr>
              <a:t>1.</a:t>
            </a:r>
            <a:r>
              <a:rPr dirty="0" sz="1200" spc="2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Arial"/>
                <a:cs typeface="Arial"/>
              </a:rPr>
              <a:t>Responding:</a:t>
            </a:r>
            <a:endParaRPr sz="1200">
              <a:latin typeface="Arial"/>
              <a:cs typeface="Arial"/>
            </a:endParaRPr>
          </a:p>
          <a:p>
            <a:pPr algn="just" marL="483870" marR="11430" indent="-6350">
              <a:lnSpc>
                <a:spcPts val="2080"/>
              </a:lnSpc>
              <a:spcBef>
                <a:spcPts val="65"/>
              </a:spcBef>
            </a:pPr>
            <a:r>
              <a:rPr dirty="0" sz="1200" spc="-5">
                <a:latin typeface="Arial MT"/>
                <a:cs typeface="Arial MT"/>
              </a:rPr>
              <a:t>When the teacher is telling you that you must take balanced diet, you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develop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healthy life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style.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37657" y="11922962"/>
            <a:ext cx="1275715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b="1">
                <a:latin typeface="Calibri"/>
                <a:cs typeface="Calibri"/>
              </a:rPr>
              <a:t>MUHAMMAD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5" b="1">
                <a:latin typeface="Calibri"/>
                <a:cs typeface="Calibri"/>
              </a:rPr>
              <a:t>IMRAN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36054" y="11922962"/>
            <a:ext cx="2197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150"/>
              </a:lnSpc>
            </a:pPr>
            <a:fld id="{81D60167-4931-47E6-BA6A-407CBD079E47}" type="slidenum"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34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5115" cy="7955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83870" marR="889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what you will discuss with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teacher that why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important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have balanced diet?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benefits? </a:t>
            </a:r>
            <a:r>
              <a:rPr dirty="0" sz="1200">
                <a:latin typeface="Arial MT"/>
                <a:cs typeface="Arial MT"/>
              </a:rPr>
              <a:t>Etc. </a:t>
            </a:r>
            <a:r>
              <a:rPr dirty="0" sz="1200" spc="-5">
                <a:latin typeface="Arial MT"/>
                <a:cs typeface="Arial MT"/>
              </a:rPr>
              <a:t>will show that you have not only received the information rather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responding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 through</a:t>
            </a:r>
            <a:r>
              <a:rPr dirty="0" sz="1200">
                <a:latin typeface="Arial MT"/>
                <a:cs typeface="Arial MT"/>
              </a:rPr>
              <a:t> your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questioning.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AutoNum type="arabicPeriod" startAt="2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Valuing:</a:t>
            </a:r>
            <a:endParaRPr sz="1200">
              <a:latin typeface="Arial"/>
              <a:cs typeface="Arial"/>
            </a:endParaRPr>
          </a:p>
          <a:p>
            <a:pPr algn="just" marL="483870" marR="1016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Valuing means that the disposition or learning you are talking about, you must value that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disposition. You must value by showing certain action. E.g.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your students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a class are </a:t>
            </a:r>
            <a:r>
              <a:rPr dirty="0" sz="1200">
                <a:latin typeface="Arial MT"/>
                <a:cs typeface="Arial MT"/>
              </a:rPr>
              <a:t> taking </a:t>
            </a:r>
            <a:r>
              <a:rPr dirty="0" sz="1200" spc="-5">
                <a:latin typeface="Arial MT"/>
                <a:cs typeface="Arial MT"/>
              </a:rPr>
              <a:t>lunch. Some students bring home </a:t>
            </a:r>
            <a:r>
              <a:rPr dirty="0" sz="1200" spc="-10">
                <a:latin typeface="Arial MT"/>
                <a:cs typeface="Arial MT"/>
              </a:rPr>
              <a:t>make </a:t>
            </a:r>
            <a:r>
              <a:rPr dirty="0" sz="1200" spc="-5">
                <a:latin typeface="Arial MT"/>
                <a:cs typeface="Arial MT"/>
              </a:rPr>
              <a:t>lunch while others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taking junk foods.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 you need to show them and appreciate </a:t>
            </a:r>
            <a:r>
              <a:rPr dirty="0" sz="1200" spc="-10">
                <a:latin typeface="Arial MT"/>
                <a:cs typeface="Arial MT"/>
              </a:rPr>
              <a:t>those </a:t>
            </a:r>
            <a:r>
              <a:rPr dirty="0" sz="1200" spc="-5">
                <a:latin typeface="Arial MT"/>
                <a:cs typeface="Arial MT"/>
              </a:rPr>
              <a:t>students who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taking home made lunch.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practically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applying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demonstrating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value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balanced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diet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junk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1095"/>
              </a:spcBef>
              <a:buFont typeface="Times New Roman"/>
              <a:buAutoNum type="arabicPeriod" startAt="3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Organization:</a:t>
            </a:r>
            <a:endParaRPr sz="1200">
              <a:latin typeface="Arial"/>
              <a:cs typeface="Arial"/>
            </a:endParaRPr>
          </a:p>
          <a:p>
            <a:pPr algn="just" marL="483870" marR="5080" indent="-6350">
              <a:lnSpc>
                <a:spcPts val="2080"/>
              </a:lnSpc>
              <a:spcBef>
                <a:spcPts val="135"/>
              </a:spcBef>
            </a:pP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an advanced level. </a:t>
            </a:r>
            <a:r>
              <a:rPr dirty="0" sz="1200">
                <a:latin typeface="Arial MT"/>
                <a:cs typeface="Arial MT"/>
              </a:rPr>
              <a:t>E.g. </a:t>
            </a:r>
            <a:r>
              <a:rPr dirty="0" sz="1200" spc="-5">
                <a:latin typeface="Arial MT"/>
                <a:cs typeface="Arial MT"/>
              </a:rPr>
              <a:t>we know that honesty is </a:t>
            </a:r>
            <a:r>
              <a:rPr dirty="0" sz="1200">
                <a:latin typeface="Arial MT"/>
                <a:cs typeface="Arial MT"/>
              </a:rPr>
              <a:t>the best </a:t>
            </a:r>
            <a:r>
              <a:rPr dirty="0" sz="1200" spc="-5">
                <a:latin typeface="Arial MT"/>
                <a:cs typeface="Arial MT"/>
              </a:rPr>
              <a:t>policy. First we listen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someone that honesty is a good thing, we discuss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with others as well.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find a person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 is honest, we will appreciate </a:t>
            </a:r>
            <a:r>
              <a:rPr dirty="0" sz="1200" spc="-10">
                <a:latin typeface="Arial MT"/>
                <a:cs typeface="Arial MT"/>
              </a:rPr>
              <a:t>him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lot. But </a:t>
            </a:r>
            <a:r>
              <a:rPr dirty="0" sz="1200" spc="-5">
                <a:latin typeface="Arial MT"/>
                <a:cs typeface="Arial MT"/>
              </a:rPr>
              <a:t>now in organization </a:t>
            </a:r>
            <a:r>
              <a:rPr dirty="0" sz="1200">
                <a:latin typeface="Arial MT"/>
                <a:cs typeface="Arial MT"/>
              </a:rPr>
              <a:t>level, </a:t>
            </a:r>
            <a:r>
              <a:rPr dirty="0" sz="1200" spc="-5">
                <a:latin typeface="Arial MT"/>
                <a:cs typeface="Arial MT"/>
              </a:rPr>
              <a:t>you need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 honesty in your own. You </a:t>
            </a:r>
            <a:r>
              <a:rPr dirty="0" sz="1200">
                <a:latin typeface="Arial MT"/>
                <a:cs typeface="Arial MT"/>
              </a:rPr>
              <a:t>try to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honest and </a:t>
            </a:r>
            <a:r>
              <a:rPr dirty="0" sz="1200">
                <a:latin typeface="Arial MT"/>
                <a:cs typeface="Arial MT"/>
              </a:rPr>
              <a:t>try to </a:t>
            </a:r>
            <a:r>
              <a:rPr dirty="0" sz="1200" spc="-5">
                <a:latin typeface="Arial MT"/>
                <a:cs typeface="Arial MT"/>
              </a:rPr>
              <a:t>show honesty in your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 also. Similarly, as we talk about balanced diet,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teacher is appreciating students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 balanced diet then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that he </a:t>
            </a:r>
            <a:r>
              <a:rPr dirty="0" sz="1200">
                <a:latin typeface="Arial MT"/>
                <a:cs typeface="Arial MT"/>
              </a:rPr>
              <a:t>values </a:t>
            </a:r>
            <a:r>
              <a:rPr dirty="0" sz="1200" spc="-5">
                <a:latin typeface="Arial MT"/>
                <a:cs typeface="Arial MT"/>
              </a:rPr>
              <a:t>healthy food. </a:t>
            </a:r>
            <a:r>
              <a:rPr dirty="0" sz="1200">
                <a:latin typeface="Arial MT"/>
                <a:cs typeface="Arial MT"/>
              </a:rPr>
              <a:t>But if </a:t>
            </a:r>
            <a:r>
              <a:rPr dirty="0" sz="1200" spc="-5">
                <a:latin typeface="Arial MT"/>
                <a:cs typeface="Arial MT"/>
              </a:rPr>
              <a:t>he himself starts avoiding </a:t>
            </a:r>
            <a:r>
              <a:rPr dirty="0" sz="1200">
                <a:latin typeface="Arial MT"/>
                <a:cs typeface="Arial MT"/>
              </a:rPr>
              <a:t> junk </a:t>
            </a:r>
            <a:r>
              <a:rPr dirty="0" sz="1200" spc="-5">
                <a:latin typeface="Arial MT"/>
                <a:cs typeface="Arial MT"/>
              </a:rPr>
              <a:t>food and </a:t>
            </a:r>
            <a:r>
              <a:rPr dirty="0" sz="1200">
                <a:latin typeface="Arial MT"/>
                <a:cs typeface="Arial MT"/>
              </a:rPr>
              <a:t>start </a:t>
            </a:r>
            <a:r>
              <a:rPr dirty="0" sz="1200" spc="-5">
                <a:latin typeface="Arial MT"/>
                <a:cs typeface="Arial MT"/>
              </a:rPr>
              <a:t>taking healthy food </a:t>
            </a:r>
            <a:r>
              <a:rPr dirty="0" sz="1200" spc="-10">
                <a:latin typeface="Arial MT"/>
                <a:cs typeface="Arial MT"/>
              </a:rPr>
              <a:t>then he </a:t>
            </a:r>
            <a:r>
              <a:rPr dirty="0" sz="1200" spc="-5">
                <a:latin typeface="Arial MT"/>
                <a:cs typeface="Arial MT"/>
              </a:rPr>
              <a:t>has organized himself and now he will </a:t>
            </a:r>
            <a:r>
              <a:rPr dirty="0" sz="1200">
                <a:latin typeface="Arial MT"/>
                <a:cs typeface="Arial MT"/>
              </a:rPr>
              <a:t>prefer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healthy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instead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junk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1090"/>
              </a:spcBef>
              <a:buFont typeface="Times New Roman"/>
              <a:buAutoNum type="arabicPeriod" startAt="4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Characterization:</a:t>
            </a:r>
            <a:endParaRPr sz="1200">
              <a:latin typeface="Arial"/>
              <a:cs typeface="Arial"/>
            </a:endParaRPr>
          </a:p>
          <a:p>
            <a:pPr algn="just" marL="483870" marR="1079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Characterization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organization.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organization,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start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showing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 but that is </a:t>
            </a:r>
            <a:r>
              <a:rPr dirty="0" sz="1200" spc="-1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a consistent behavior. Characterization means that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behaviour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becomes </a:t>
            </a:r>
            <a:r>
              <a:rPr dirty="0" sz="1200">
                <a:latin typeface="Arial MT"/>
                <a:cs typeface="Arial MT"/>
              </a:rPr>
              <a:t>the part of </a:t>
            </a:r>
            <a:r>
              <a:rPr dirty="0" sz="1200" spc="-5">
                <a:latin typeface="Arial MT"/>
                <a:cs typeface="Arial MT"/>
              </a:rPr>
              <a:t>your </a:t>
            </a:r>
            <a:r>
              <a:rPr dirty="0" sz="1200">
                <a:latin typeface="Arial MT"/>
                <a:cs typeface="Arial MT"/>
              </a:rPr>
              <a:t>life. </a:t>
            </a:r>
            <a:r>
              <a:rPr dirty="0" sz="1200" spc="-5">
                <a:latin typeface="Arial MT"/>
                <a:cs typeface="Arial MT"/>
              </a:rPr>
              <a:t>You are recognized by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character.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highest level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Bloom’s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taxonomy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affective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domain.</a:t>
            </a:r>
            <a:endParaRPr sz="1200">
              <a:latin typeface="Arial MT"/>
              <a:cs typeface="Arial MT"/>
            </a:endParaRPr>
          </a:p>
          <a:p>
            <a:pPr algn="just" marL="18415" marR="11430" indent="-6350">
              <a:lnSpc>
                <a:spcPts val="2080"/>
              </a:lnSpc>
            </a:pPr>
            <a:r>
              <a:rPr dirty="0" sz="1200" spc="-5">
                <a:latin typeface="Arial MT"/>
                <a:cs typeface="Arial MT"/>
              </a:rPr>
              <a:t>All </a:t>
            </a:r>
            <a:r>
              <a:rPr dirty="0" sz="1200">
                <a:latin typeface="Arial MT"/>
                <a:cs typeface="Arial MT"/>
              </a:rPr>
              <a:t>these </a:t>
            </a:r>
            <a:r>
              <a:rPr dirty="0" sz="1200" spc="-5">
                <a:latin typeface="Arial MT"/>
                <a:cs typeface="Arial MT"/>
              </a:rPr>
              <a:t>taxonomies are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learning tools.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all are planners. When we </a:t>
            </a:r>
            <a:r>
              <a:rPr dirty="0" sz="1200">
                <a:latin typeface="Arial MT"/>
                <a:cs typeface="Arial MT"/>
              </a:rPr>
              <a:t>talk </a:t>
            </a:r>
            <a:r>
              <a:rPr dirty="0" sz="1200" spc="-5">
                <a:latin typeface="Arial MT"/>
                <a:cs typeface="Arial MT"/>
              </a:rPr>
              <a:t>about elements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planning, there is a selection of objectives, selection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activities, selection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resources </a:t>
            </a:r>
            <a:r>
              <a:rPr dirty="0" sz="1200">
                <a:latin typeface="Arial MT"/>
                <a:cs typeface="Arial MT"/>
              </a:rPr>
              <a:t>etc.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</a:t>
            </a:r>
            <a:r>
              <a:rPr dirty="0" sz="1200">
                <a:latin typeface="Arial MT"/>
                <a:cs typeface="Arial MT"/>
              </a:rPr>
              <a:t> these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selections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depend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taxonomies.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9069705"/>
            <a:ext cx="6631305" cy="26517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 b="1">
                <a:latin typeface="Arial"/>
                <a:cs typeface="Arial"/>
              </a:rPr>
              <a:t>“Using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taxonomies as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planning</a:t>
            </a:r>
            <a:r>
              <a:rPr dirty="0" sz="1400" spc="-10" b="1">
                <a:latin typeface="Arial"/>
                <a:cs typeface="Arial"/>
              </a:rPr>
              <a:t> tools”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400" spc="-5" b="1">
                <a:latin typeface="Arial"/>
                <a:cs typeface="Arial"/>
              </a:rPr>
              <a:t>Taxonomy may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be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used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to: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00">
              <a:latin typeface="Arial"/>
              <a:cs typeface="Arial"/>
            </a:endParaRPr>
          </a:p>
          <a:p>
            <a:pPr algn="just" marL="473075" marR="5080" indent="-228600">
              <a:lnSpc>
                <a:spcPct val="144200"/>
              </a:lnSpc>
            </a:pPr>
            <a:r>
              <a:rPr dirty="0" sz="1200" b="1">
                <a:latin typeface="Times New Roman"/>
                <a:cs typeface="Times New Roman"/>
              </a:rPr>
              <a:t>-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Arial"/>
                <a:cs typeface="Arial"/>
              </a:rPr>
              <a:t>Formulate and </a:t>
            </a:r>
            <a:r>
              <a:rPr dirty="0" sz="1200" spc="-5" b="1">
                <a:latin typeface="Arial"/>
                <a:cs typeface="Arial"/>
              </a:rPr>
              <a:t>sequence objectives: </a:t>
            </a:r>
            <a:r>
              <a:rPr dirty="0" sz="1200" spc="-5">
                <a:latin typeface="Arial MT"/>
                <a:cs typeface="Arial MT"/>
              </a:rPr>
              <a:t>When you are deciding your </a:t>
            </a:r>
            <a:r>
              <a:rPr dirty="0" sz="1200">
                <a:latin typeface="Arial MT"/>
                <a:cs typeface="Arial MT"/>
              </a:rPr>
              <a:t>lesson </a:t>
            </a:r>
            <a:r>
              <a:rPr dirty="0" sz="1200" spc="-5">
                <a:latin typeface="Arial MT"/>
                <a:cs typeface="Arial MT"/>
              </a:rPr>
              <a:t>objectives,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decide that which objective needs to be </a:t>
            </a:r>
            <a:r>
              <a:rPr dirty="0" sz="1200">
                <a:latin typeface="Arial MT"/>
                <a:cs typeface="Arial MT"/>
              </a:rPr>
              <a:t>set first </a:t>
            </a:r>
            <a:r>
              <a:rPr dirty="0" sz="1200" spc="-5">
                <a:latin typeface="Arial MT"/>
                <a:cs typeface="Arial MT"/>
              </a:rPr>
              <a:t>and which objective needs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set </a:t>
            </a:r>
            <a:r>
              <a:rPr dirty="0" sz="1200">
                <a:latin typeface="Arial MT"/>
                <a:cs typeface="Arial MT"/>
              </a:rPr>
              <a:t> next. </a:t>
            </a:r>
            <a:r>
              <a:rPr dirty="0" sz="1200" spc="-5">
                <a:latin typeface="Arial MT"/>
                <a:cs typeface="Arial MT"/>
              </a:rPr>
              <a:t>E.g. </a:t>
            </a:r>
            <a:r>
              <a:rPr dirty="0" sz="1200">
                <a:latin typeface="Arial MT"/>
                <a:cs typeface="Arial MT"/>
              </a:rPr>
              <a:t>if I </a:t>
            </a:r>
            <a:r>
              <a:rPr dirty="0" sz="1200" spc="-5">
                <a:latin typeface="Arial MT"/>
                <a:cs typeface="Arial MT"/>
              </a:rPr>
              <a:t>want the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synthesis </a:t>
            </a:r>
            <a:r>
              <a:rPr dirty="0" sz="1200">
                <a:latin typeface="Arial MT"/>
                <a:cs typeface="Arial MT"/>
              </a:rPr>
              <a:t>level, I </a:t>
            </a:r>
            <a:r>
              <a:rPr dirty="0" sz="1200" spc="-5">
                <a:latin typeface="Arial MT"/>
                <a:cs typeface="Arial MT"/>
              </a:rPr>
              <a:t>must </a:t>
            </a:r>
            <a:r>
              <a:rPr dirty="0" sz="1200" spc="-10">
                <a:latin typeface="Arial MT"/>
                <a:cs typeface="Arial MT"/>
              </a:rPr>
              <a:t>take </a:t>
            </a:r>
            <a:r>
              <a:rPr dirty="0" sz="1200" spc="-5">
                <a:latin typeface="Arial MT"/>
                <a:cs typeface="Arial MT"/>
              </a:rPr>
              <a:t>students to the initial </a:t>
            </a:r>
            <a:r>
              <a:rPr dirty="0" sz="1200">
                <a:latin typeface="Arial MT"/>
                <a:cs typeface="Arial MT"/>
              </a:rPr>
              <a:t> level first </a:t>
            </a:r>
            <a:r>
              <a:rPr dirty="0" sz="1200" spc="-5">
                <a:latin typeface="Arial MT"/>
                <a:cs typeface="Arial MT"/>
              </a:rPr>
              <a:t>and then to take them to the synthesis </a:t>
            </a:r>
            <a:r>
              <a:rPr dirty="0" sz="1200">
                <a:latin typeface="Arial MT"/>
                <a:cs typeface="Arial MT"/>
              </a:rPr>
              <a:t>level. </a:t>
            </a:r>
            <a:r>
              <a:rPr dirty="0" sz="1200" spc="-5" b="1">
                <a:latin typeface="Arial"/>
                <a:cs typeface="Arial"/>
              </a:rPr>
              <a:t>Sequencing </a:t>
            </a:r>
            <a:r>
              <a:rPr dirty="0" sz="1200" spc="-5">
                <a:latin typeface="Arial MT"/>
                <a:cs typeface="Arial MT"/>
              </a:rPr>
              <a:t>is also important. We </a:t>
            </a:r>
            <a:r>
              <a:rPr dirty="0" sz="1200">
                <a:latin typeface="Arial MT"/>
                <a:cs typeface="Arial MT"/>
              </a:rPr>
              <a:t> must </a:t>
            </a:r>
            <a:r>
              <a:rPr dirty="0" sz="1200" spc="-5">
                <a:latin typeface="Arial MT"/>
                <a:cs typeface="Arial MT"/>
              </a:rPr>
              <a:t>know that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take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stage </a:t>
            </a:r>
            <a:r>
              <a:rPr dirty="0" sz="1200" spc="-5">
                <a:latin typeface="Arial MT"/>
                <a:cs typeface="Arial MT"/>
              </a:rPr>
              <a:t>by stage in learning. So we must </a:t>
            </a:r>
            <a:r>
              <a:rPr dirty="0" sz="1200" spc="-10">
                <a:latin typeface="Arial MT"/>
                <a:cs typeface="Arial MT"/>
              </a:rPr>
              <a:t>know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taxonomies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7432" y="838962"/>
            <a:ext cx="6402705" cy="10772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5715" indent="-228600">
              <a:lnSpc>
                <a:spcPct val="144200"/>
              </a:lnSpc>
              <a:spcBef>
                <a:spcPts val="100"/>
              </a:spcBef>
              <a:buFont typeface="Times New Roman"/>
              <a:buChar char="-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Develop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questions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activities: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take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consideration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 studying about taxonomy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cognitive domain, but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-5">
                <a:latin typeface="Arial MT"/>
                <a:cs typeface="Arial MT"/>
              </a:rPr>
              <a:t> not know about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taxonomies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much.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 if </a:t>
            </a:r>
            <a:r>
              <a:rPr dirty="0" sz="1200" spc="-5">
                <a:latin typeface="Arial MT"/>
                <a:cs typeface="Arial MT"/>
              </a:rPr>
              <a:t>we have knowledge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these taxonomies then we will </a:t>
            </a:r>
            <a:r>
              <a:rPr dirty="0" sz="1200">
                <a:latin typeface="Arial MT"/>
                <a:cs typeface="Arial MT"/>
              </a:rPr>
              <a:t>try to </a:t>
            </a:r>
            <a:r>
              <a:rPr dirty="0" sz="1200" spc="-5">
                <a:latin typeface="Arial MT"/>
                <a:cs typeface="Arial MT"/>
              </a:rPr>
              <a:t>ask </a:t>
            </a:r>
            <a:r>
              <a:rPr dirty="0" sz="1200">
                <a:latin typeface="Arial MT"/>
                <a:cs typeface="Arial MT"/>
              </a:rPr>
              <a:t>higher </a:t>
            </a:r>
            <a:r>
              <a:rPr dirty="0" sz="1200" spc="-5">
                <a:latin typeface="Arial MT"/>
                <a:cs typeface="Arial MT"/>
              </a:rPr>
              <a:t>level questions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class. </a:t>
            </a:r>
            <a:r>
              <a:rPr dirty="0" sz="1200" spc="-5" b="1">
                <a:latin typeface="Arial"/>
                <a:cs typeface="Arial"/>
              </a:rPr>
              <a:t>Activities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also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planned according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taxonomies or according to 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taxonomies.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241300" marR="9525" indent="-228600">
              <a:lnSpc>
                <a:spcPct val="144200"/>
              </a:lnSpc>
              <a:buFont typeface="Times New Roman"/>
              <a:buChar char="-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Constructing evaluating </a:t>
            </a:r>
            <a:r>
              <a:rPr dirty="0" sz="1200" b="1">
                <a:latin typeface="Arial"/>
                <a:cs typeface="Arial"/>
              </a:rPr>
              <a:t>materials: </a:t>
            </a:r>
            <a:r>
              <a:rPr dirty="0" sz="1200" spc="-5">
                <a:latin typeface="Arial MT"/>
                <a:cs typeface="Arial MT"/>
              </a:rPr>
              <a:t>how we can assess the students as well as our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need evaluation instruments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assess students and teaching. Evaluation </a:t>
            </a:r>
            <a:r>
              <a:rPr dirty="0" sz="1200">
                <a:latin typeface="Arial MT"/>
                <a:cs typeface="Arial MT"/>
              </a:rPr>
              <a:t> instruments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always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developed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taxonomies.</a:t>
            </a:r>
            <a:endParaRPr sz="1200">
              <a:latin typeface="Arial MT"/>
              <a:cs typeface="Arial MT"/>
            </a:endParaRPr>
          </a:p>
          <a:p>
            <a:pPr algn="just" marL="241300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 MT"/>
                <a:cs typeface="Arial MT"/>
              </a:rPr>
              <a:t>E.g.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students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sketching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taxonomies,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endParaRPr sz="1200">
              <a:latin typeface="Arial MT"/>
              <a:cs typeface="Arial MT"/>
            </a:endParaRPr>
          </a:p>
          <a:p>
            <a:pPr algn="just" marL="241300" marR="10160">
              <a:lnSpc>
                <a:spcPct val="14420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have decided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assess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mechanism </a:t>
            </a:r>
            <a:r>
              <a:rPr dirty="0" sz="1200">
                <a:latin typeface="Arial MT"/>
                <a:cs typeface="Arial MT"/>
              </a:rPr>
              <a:t>level, </a:t>
            </a:r>
            <a:r>
              <a:rPr dirty="0" sz="1200" spc="-5">
                <a:latin typeface="Arial MT"/>
                <a:cs typeface="Arial MT"/>
              </a:rPr>
              <a:t>then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must be having a different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check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list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origination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check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list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be totally </a:t>
            </a:r>
            <a:r>
              <a:rPr dirty="0" sz="1200" spc="-5">
                <a:latin typeface="Arial MT"/>
                <a:cs typeface="Arial MT"/>
              </a:rPr>
              <a:t>different. So </a:t>
            </a:r>
            <a:r>
              <a:rPr dirty="0" sz="1200">
                <a:latin typeface="Arial MT"/>
                <a:cs typeface="Arial MT"/>
              </a:rPr>
              <a:t>if I </a:t>
            </a:r>
            <a:r>
              <a:rPr dirty="0" sz="1200" spc="-5">
                <a:latin typeface="Arial MT"/>
                <a:cs typeface="Arial MT"/>
              </a:rPr>
              <a:t>do </a:t>
            </a:r>
            <a:r>
              <a:rPr dirty="0" sz="120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know about the taxonomies, </a:t>
            </a:r>
            <a:r>
              <a:rPr dirty="0" sz="1200" spc="-10">
                <a:latin typeface="Arial MT"/>
                <a:cs typeface="Arial MT"/>
              </a:rPr>
              <a:t>then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will assess them as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weather they have sketched something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10">
                <a:latin typeface="Arial MT"/>
                <a:cs typeface="Arial MT"/>
              </a:rPr>
              <a:t>not? </a:t>
            </a:r>
            <a:r>
              <a:rPr dirty="0" sz="1200" spc="-5">
                <a:latin typeface="Arial MT"/>
                <a:cs typeface="Arial MT"/>
              </a:rPr>
              <a:t>Taxonomies are important to learn because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know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Arial MT"/>
              <a:cs typeface="Arial MT"/>
            </a:endParaRPr>
          </a:p>
          <a:p>
            <a:pPr algn="just" marL="241300" marR="9525" indent="-228600">
              <a:lnSpc>
                <a:spcPct val="142500"/>
              </a:lnSpc>
              <a:spcBef>
                <a:spcPts val="5"/>
              </a:spcBef>
              <a:buFont typeface="Times New Roman"/>
              <a:buChar char="-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“Taxonomies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used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decide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teach,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how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how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evaluate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teaching.”</a:t>
            </a:r>
            <a:r>
              <a:rPr dirty="0" sz="1200" spc="-5" b="1">
                <a:latin typeface="Arial"/>
                <a:cs typeface="Arial"/>
              </a:rPr>
              <a:t> (Marzano,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Pickering,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Pollock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2001)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Char char="-"/>
            </a:pPr>
            <a:endParaRPr sz="1800">
              <a:latin typeface="Arial"/>
              <a:cs typeface="Arial"/>
            </a:endParaRPr>
          </a:p>
          <a:p>
            <a:pPr algn="just" marL="241300" marR="9525" indent="-228600">
              <a:lnSpc>
                <a:spcPct val="142600"/>
              </a:lnSpc>
              <a:buFont typeface="Times New Roman"/>
              <a:buChar char="-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Research </a:t>
            </a:r>
            <a:r>
              <a:rPr dirty="0" sz="1200" b="1">
                <a:latin typeface="Arial"/>
                <a:cs typeface="Arial"/>
              </a:rPr>
              <a:t>shows </a:t>
            </a:r>
            <a:r>
              <a:rPr dirty="0" sz="1200" spc="-5" b="1">
                <a:latin typeface="Arial"/>
                <a:cs typeface="Arial"/>
              </a:rPr>
              <a:t>that learning </a:t>
            </a:r>
            <a:r>
              <a:rPr dirty="0" sz="1200" b="1">
                <a:latin typeface="Arial"/>
                <a:cs typeface="Arial"/>
              </a:rPr>
              <a:t>do not </a:t>
            </a:r>
            <a:r>
              <a:rPr dirty="0" sz="1200" spc="-5" b="1">
                <a:latin typeface="Arial"/>
                <a:cs typeface="Arial"/>
              </a:rPr>
              <a:t>take place </a:t>
            </a:r>
            <a:r>
              <a:rPr dirty="0" sz="1200" b="1">
                <a:latin typeface="Arial"/>
                <a:cs typeface="Arial"/>
              </a:rPr>
              <a:t>if </a:t>
            </a:r>
            <a:r>
              <a:rPr dirty="0" sz="1200" spc="-5" b="1">
                <a:latin typeface="Arial"/>
                <a:cs typeface="Arial"/>
              </a:rPr>
              <a:t>presented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isolated items (Hohn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1995)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Char char="-"/>
            </a:pPr>
            <a:endParaRPr sz="115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Taxonomies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provide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</a:t>
            </a:r>
            <a:r>
              <a:rPr dirty="0" sz="1200" b="1">
                <a:latin typeface="Arial"/>
                <a:cs typeface="Arial"/>
              </a:rPr>
              <a:t>cognitive </a:t>
            </a:r>
            <a:r>
              <a:rPr dirty="0" sz="1200" spc="-5" b="1">
                <a:latin typeface="Arial"/>
                <a:cs typeface="Arial"/>
              </a:rPr>
              <a:t>structure.</a:t>
            </a:r>
            <a:endParaRPr sz="1200">
              <a:latin typeface="Arial"/>
              <a:cs typeface="Arial"/>
            </a:endParaRPr>
          </a:p>
          <a:p>
            <a:pPr algn="just" marL="251460" marR="11430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Here are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important things mentioned that learning cannot take place in isolation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taxonomies</a:t>
            </a:r>
            <a:r>
              <a:rPr dirty="0" sz="1200">
                <a:latin typeface="Arial MT"/>
                <a:cs typeface="Arial MT"/>
              </a:rPr>
              <a:t> give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structure.</a:t>
            </a:r>
            <a:endParaRPr sz="1200">
              <a:latin typeface="Arial MT"/>
              <a:cs typeface="Arial MT"/>
            </a:endParaRPr>
          </a:p>
          <a:p>
            <a:pPr algn="just" marL="251460" marR="11430" indent="-6350">
              <a:lnSpc>
                <a:spcPts val="208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There are some students who are studying grade level 6 but still they do not know the basic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mathematics, and </a:t>
            </a:r>
            <a:r>
              <a:rPr dirty="0" sz="1200">
                <a:latin typeface="Arial MT"/>
                <a:cs typeface="Arial MT"/>
              </a:rPr>
              <a:t>now they </a:t>
            </a:r>
            <a:r>
              <a:rPr dirty="0" sz="1200" spc="-5">
                <a:latin typeface="Arial MT"/>
                <a:cs typeface="Arial MT"/>
              </a:rPr>
              <a:t>are learning algebra.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when we are trying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teach </a:t>
            </a:r>
            <a:r>
              <a:rPr dirty="0" sz="1200" spc="-5">
                <a:latin typeface="Arial MT"/>
                <a:cs typeface="Arial MT"/>
              </a:rPr>
              <a:t>them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algebra,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gaps.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Unless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their missing knowledge, we cannot teach them new things. </a:t>
            </a:r>
            <a:r>
              <a:rPr dirty="0" sz="1200">
                <a:latin typeface="Arial MT"/>
                <a:cs typeface="Arial MT"/>
              </a:rPr>
              <a:t>We must </a:t>
            </a:r>
            <a:r>
              <a:rPr dirty="0" sz="1200" spc="-5">
                <a:latin typeface="Arial MT"/>
                <a:cs typeface="Arial MT"/>
              </a:rPr>
              <a:t>know assess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missing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try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 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diagnostic</a:t>
            </a:r>
            <a:endParaRPr sz="1200">
              <a:latin typeface="Arial MT"/>
              <a:cs typeface="Arial MT"/>
            </a:endParaRPr>
          </a:p>
          <a:p>
            <a:pPr marL="245745">
              <a:lnSpc>
                <a:spcPct val="100000"/>
              </a:lnSpc>
              <a:spcBef>
                <a:spcPts val="470"/>
              </a:spcBef>
            </a:pPr>
            <a:r>
              <a:rPr dirty="0" sz="1200">
                <a:latin typeface="Arial MT"/>
                <a:cs typeface="Arial MT"/>
              </a:rPr>
              <a:t>factors.</a:t>
            </a:r>
            <a:endParaRPr sz="1200">
              <a:latin typeface="Arial MT"/>
              <a:cs typeface="Arial MT"/>
            </a:endParaRPr>
          </a:p>
          <a:p>
            <a:pPr algn="just" marL="251460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In most of </a:t>
            </a:r>
            <a:r>
              <a:rPr dirty="0" sz="1200" spc="-5">
                <a:latin typeface="Arial MT"/>
                <a:cs typeface="Arial MT"/>
              </a:rPr>
              <a:t>the schools, English learning is done in isolation. Some idioms are taught, some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vocabulary or essay writing and other things are said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memorized. So, as a result, we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unable to write </a:t>
            </a:r>
            <a:r>
              <a:rPr dirty="0" sz="120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argumentative essay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our graduation exams.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have knowledge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different taxonomies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learning, then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least we are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provide things in integrated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 We</a:t>
            </a:r>
            <a:r>
              <a:rPr dirty="0" sz="1200">
                <a:latin typeface="Arial MT"/>
                <a:cs typeface="Arial MT"/>
              </a:rPr>
              <a:t> 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 </a:t>
            </a:r>
            <a:r>
              <a:rPr dirty="0" sz="1200">
                <a:latin typeface="Arial MT"/>
                <a:cs typeface="Arial MT"/>
              </a:rPr>
              <a:t>structure.</a:t>
            </a:r>
            <a:endParaRPr sz="1200">
              <a:latin typeface="Arial MT"/>
              <a:cs typeface="Arial MT"/>
            </a:endParaRPr>
          </a:p>
          <a:p>
            <a:pPr algn="just" marL="245745">
              <a:lnSpc>
                <a:spcPct val="100000"/>
              </a:lnSpc>
              <a:spcBef>
                <a:spcPts val="455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teach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isolation.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integrated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fashion.</a:t>
            </a:r>
            <a:endParaRPr sz="1200">
              <a:latin typeface="Arial MT"/>
              <a:cs typeface="Arial MT"/>
            </a:endParaRPr>
          </a:p>
          <a:p>
            <a:pPr algn="just" marL="251460" marR="10795">
              <a:lnSpc>
                <a:spcPct val="144100"/>
              </a:lnSpc>
            </a:pPr>
            <a:r>
              <a:rPr dirty="0" sz="1200" spc="-5">
                <a:latin typeface="Arial MT"/>
                <a:cs typeface="Arial MT"/>
              </a:rPr>
              <a:t>These leaning domains </a:t>
            </a:r>
            <a:r>
              <a:rPr dirty="0" sz="1200">
                <a:latin typeface="Arial MT"/>
                <a:cs typeface="Arial MT"/>
              </a:rPr>
              <a:t>see </a:t>
            </a:r>
            <a:r>
              <a:rPr dirty="0" sz="1200" spc="-5">
                <a:latin typeface="Arial MT"/>
                <a:cs typeface="Arial MT"/>
              </a:rPr>
              <a:t>the things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sequence. They </a:t>
            </a:r>
            <a:r>
              <a:rPr dirty="0" sz="120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relate </a:t>
            </a:r>
            <a:r>
              <a:rPr dirty="0" sz="1200">
                <a:latin typeface="Arial MT"/>
                <a:cs typeface="Arial MT"/>
              </a:rPr>
              <a:t>things </a:t>
            </a:r>
            <a:r>
              <a:rPr dirty="0" sz="1200" spc="-5">
                <a:latin typeface="Arial MT"/>
                <a:cs typeface="Arial MT"/>
              </a:rPr>
              <a:t>with each other.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taxonomies then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making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656335"/>
            <a:ext cx="1525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learn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bits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1205483"/>
            <a:ext cx="6972300" cy="314325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“Performance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Objectives”</a:t>
            </a:r>
            <a:r>
              <a:rPr dirty="0" sz="18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objectives: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1595373"/>
            <a:ext cx="6627495" cy="5140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have: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87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Differentiated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measureable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non-measureable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endParaRPr sz="1200">
              <a:latin typeface="Arial MT"/>
              <a:cs typeface="Arial MT"/>
            </a:endParaRPr>
          </a:p>
          <a:p>
            <a:pPr marL="469900" marR="5080" indent="-228600">
              <a:lnSpc>
                <a:spcPct val="144200"/>
              </a:lnSpc>
              <a:spcBef>
                <a:spcPts val="6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Identified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necessary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elements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i.e.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statement,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condition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criterion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measure.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87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Reflected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alignment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rationale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Reflected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limitations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5" b="1">
                <a:latin typeface="Arial"/>
                <a:cs typeface="Arial"/>
              </a:rPr>
              <a:t>Outline: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Performance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Elements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performance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Performance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Condition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Criterion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measure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Limitations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performance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Assumptions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performance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Curriculum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alignment</a:t>
            </a:r>
            <a:endParaRPr sz="1200">
              <a:latin typeface="Arial"/>
              <a:cs typeface="Arial"/>
            </a:endParaRPr>
          </a:p>
          <a:p>
            <a:pPr marL="20320" marR="128905">
              <a:lnSpc>
                <a:spcPct val="142500"/>
              </a:lnSpc>
              <a:spcBef>
                <a:spcPts val="800"/>
              </a:spcBef>
            </a:pPr>
            <a:r>
              <a:rPr dirty="0" sz="1200" spc="-5" b="1">
                <a:latin typeface="Arial"/>
                <a:cs typeface="Arial"/>
              </a:rPr>
              <a:t>(</a:t>
            </a:r>
            <a:r>
              <a:rPr dirty="0" sz="1200" spc="-5">
                <a:latin typeface="Arial MT"/>
                <a:cs typeface="Arial MT"/>
              </a:rPr>
              <a:t>Before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look</a:t>
            </a:r>
            <a:r>
              <a:rPr dirty="0" sz="1200">
                <a:latin typeface="Arial MT"/>
                <a:cs typeface="Arial MT"/>
              </a:rPr>
              <a:t> at </a:t>
            </a:r>
            <a:r>
              <a:rPr dirty="0" sz="1200" spc="-5">
                <a:latin typeface="Arial MT"/>
                <a:cs typeface="Arial MT"/>
              </a:rPr>
              <a:t>performance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objectives,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Look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at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following </a:t>
            </a:r>
            <a:r>
              <a:rPr dirty="0" sz="1200" spc="-5" b="1">
                <a:latin typeface="Arial"/>
                <a:cs typeface="Arial"/>
              </a:rPr>
              <a:t>objectives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reflect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upon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them </a:t>
            </a:r>
            <a:r>
              <a:rPr dirty="0" sz="1200" b="1">
                <a:latin typeface="Arial"/>
                <a:cs typeface="Arial"/>
              </a:rPr>
              <a:t>if </a:t>
            </a:r>
            <a:r>
              <a:rPr dirty="0" sz="1200" spc="-5" b="1">
                <a:latin typeface="Arial"/>
                <a:cs typeface="Arial"/>
              </a:rPr>
              <a:t>they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clear)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17389" y="6709029"/>
            <a:ext cx="1694814" cy="882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7100" marR="5080">
              <a:lnSpc>
                <a:spcPct val="1558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(</a:t>
            </a:r>
            <a:r>
              <a:rPr dirty="0" sz="1200" spc="-15" b="1">
                <a:latin typeface="Arial"/>
                <a:cs typeface="Arial"/>
              </a:rPr>
              <a:t>N</a:t>
            </a:r>
            <a:r>
              <a:rPr dirty="0" sz="1200" b="1">
                <a:latin typeface="Arial"/>
                <a:cs typeface="Arial"/>
              </a:rPr>
              <a:t>ot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</a:t>
            </a:r>
            <a:r>
              <a:rPr dirty="0" sz="1200" b="1">
                <a:latin typeface="Arial"/>
                <a:cs typeface="Arial"/>
              </a:rPr>
              <a:t>l</a:t>
            </a:r>
            <a:r>
              <a:rPr dirty="0" sz="1200" spc="5" b="1">
                <a:latin typeface="Arial"/>
                <a:cs typeface="Arial"/>
              </a:rPr>
              <a:t>e</a:t>
            </a:r>
            <a:r>
              <a:rPr dirty="0" sz="1200" spc="-5" b="1">
                <a:latin typeface="Arial"/>
                <a:cs typeface="Arial"/>
              </a:rPr>
              <a:t>ar)  </a:t>
            </a:r>
            <a:r>
              <a:rPr dirty="0" sz="1200" spc="-5" b="1">
                <a:latin typeface="Arial"/>
                <a:cs typeface="Arial"/>
              </a:rPr>
              <a:t>(</a:t>
            </a:r>
            <a:r>
              <a:rPr dirty="0" sz="1200" spc="-15" b="1">
                <a:latin typeface="Arial"/>
                <a:cs typeface="Arial"/>
              </a:rPr>
              <a:t>N</a:t>
            </a:r>
            <a:r>
              <a:rPr dirty="0" sz="1200" b="1">
                <a:latin typeface="Arial"/>
                <a:cs typeface="Arial"/>
              </a:rPr>
              <a:t>ot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</a:t>
            </a:r>
            <a:r>
              <a:rPr dirty="0" sz="1200" b="1">
                <a:latin typeface="Arial"/>
                <a:cs typeface="Arial"/>
              </a:rPr>
              <a:t>l</a:t>
            </a:r>
            <a:r>
              <a:rPr dirty="0" sz="1200" spc="5" b="1">
                <a:latin typeface="Arial"/>
                <a:cs typeface="Arial"/>
              </a:rPr>
              <a:t>e</a:t>
            </a:r>
            <a:r>
              <a:rPr dirty="0" sz="1200" spc="-5" b="1">
                <a:latin typeface="Arial"/>
                <a:cs typeface="Arial"/>
              </a:rPr>
              <a:t>ar)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200" spc="-5" b="1">
                <a:latin typeface="Arial"/>
                <a:cs typeface="Arial"/>
              </a:rPr>
              <a:t>(Clear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some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extent)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384" y="6709029"/>
            <a:ext cx="5846445" cy="116713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05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learners </a:t>
            </a:r>
            <a:r>
              <a:rPr dirty="0" sz="1200" b="1">
                <a:latin typeface="Arial"/>
                <a:cs typeface="Arial"/>
              </a:rPr>
              <a:t>will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draw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right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angle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triangle.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learners </a:t>
            </a:r>
            <a:r>
              <a:rPr dirty="0" sz="1200" b="1">
                <a:latin typeface="Arial"/>
                <a:cs typeface="Arial"/>
              </a:rPr>
              <a:t>will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verbs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sentences.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learners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will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write a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letter.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5" b="1">
                <a:latin typeface="Arial"/>
                <a:cs typeface="Arial"/>
              </a:rPr>
              <a:t> learners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will </a:t>
            </a:r>
            <a:r>
              <a:rPr dirty="0" sz="1200" spc="-5" b="1">
                <a:latin typeface="Arial"/>
                <a:cs typeface="Arial"/>
              </a:rPr>
              <a:t>identify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differences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between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Pakistan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Constitution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1973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4384" y="7853553"/>
            <a:ext cx="4402455" cy="882015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230504">
              <a:lnSpc>
                <a:spcPct val="100000"/>
              </a:lnSpc>
              <a:spcBef>
                <a:spcPts val="905"/>
              </a:spcBef>
            </a:pPr>
            <a:r>
              <a:rPr dirty="0" sz="1200" spc="-5" b="1">
                <a:latin typeface="Arial"/>
                <a:cs typeface="Arial"/>
              </a:rPr>
              <a:t>1956.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learners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will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locate </a:t>
            </a:r>
            <a:r>
              <a:rPr dirty="0" sz="1200" b="1">
                <a:latin typeface="Arial"/>
                <a:cs typeface="Arial"/>
              </a:rPr>
              <a:t>countries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world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map.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learners</a:t>
            </a:r>
            <a:r>
              <a:rPr dirty="0" sz="1200" b="1">
                <a:latin typeface="Arial"/>
                <a:cs typeface="Arial"/>
              </a:rPr>
              <a:t> will</a:t>
            </a:r>
            <a:r>
              <a:rPr dirty="0" sz="1200" spc="-5" b="1">
                <a:latin typeface="Arial"/>
                <a:cs typeface="Arial"/>
              </a:rPr>
              <a:t> draw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label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human</a:t>
            </a:r>
            <a:r>
              <a:rPr dirty="0" sz="1200" spc="-5" b="1">
                <a:latin typeface="Arial"/>
                <a:cs typeface="Arial"/>
              </a:rPr>
              <a:t> digestive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system.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94426" y="7853553"/>
            <a:ext cx="746760" cy="882015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200" spc="-5" b="1">
                <a:latin typeface="Arial"/>
                <a:cs typeface="Arial"/>
              </a:rPr>
              <a:t>(Clear)</a:t>
            </a:r>
            <a:endParaRPr sz="1200">
              <a:latin typeface="Arial"/>
              <a:cs typeface="Arial"/>
            </a:endParaRPr>
          </a:p>
          <a:p>
            <a:pPr marL="250190" marR="5080">
              <a:lnSpc>
                <a:spcPts val="2260"/>
              </a:lnSpc>
              <a:spcBef>
                <a:spcPts val="80"/>
              </a:spcBef>
            </a:pPr>
            <a:r>
              <a:rPr dirty="0" sz="1200" spc="-5" b="1">
                <a:latin typeface="Arial"/>
                <a:cs typeface="Arial"/>
              </a:rPr>
              <a:t>(</a:t>
            </a:r>
            <a:r>
              <a:rPr dirty="0" sz="1200" spc="-15" b="1">
                <a:latin typeface="Arial"/>
                <a:cs typeface="Arial"/>
              </a:rPr>
              <a:t>C</a:t>
            </a:r>
            <a:r>
              <a:rPr dirty="0" sz="1200" b="1">
                <a:latin typeface="Arial"/>
                <a:cs typeface="Arial"/>
              </a:rPr>
              <a:t>l</a:t>
            </a:r>
            <a:r>
              <a:rPr dirty="0" sz="1200" spc="5" b="1">
                <a:latin typeface="Arial"/>
                <a:cs typeface="Arial"/>
              </a:rPr>
              <a:t>e</a:t>
            </a:r>
            <a:r>
              <a:rPr dirty="0" sz="1200" spc="-5" b="1">
                <a:latin typeface="Arial"/>
                <a:cs typeface="Arial"/>
              </a:rPr>
              <a:t>ar)  </a:t>
            </a:r>
            <a:r>
              <a:rPr dirty="0" sz="1200" spc="-5" b="1">
                <a:latin typeface="Arial"/>
                <a:cs typeface="Arial"/>
              </a:rPr>
              <a:t>(</a:t>
            </a:r>
            <a:r>
              <a:rPr dirty="0" sz="1200" spc="-15" b="1">
                <a:latin typeface="Arial"/>
                <a:cs typeface="Arial"/>
              </a:rPr>
              <a:t>C</a:t>
            </a:r>
            <a:r>
              <a:rPr dirty="0" sz="1200" b="1">
                <a:latin typeface="Arial"/>
                <a:cs typeface="Arial"/>
              </a:rPr>
              <a:t>l</a:t>
            </a:r>
            <a:r>
              <a:rPr dirty="0" sz="1200" spc="5" b="1">
                <a:latin typeface="Arial"/>
                <a:cs typeface="Arial"/>
              </a:rPr>
              <a:t>e</a:t>
            </a:r>
            <a:r>
              <a:rPr dirty="0" sz="1200" spc="-5" b="1">
                <a:latin typeface="Arial"/>
                <a:cs typeface="Arial"/>
              </a:rPr>
              <a:t>ar)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5480" y="8706993"/>
            <a:ext cx="6631940" cy="2719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(According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today’s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none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above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clear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objectives.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why?)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“Performance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objectives”</a:t>
            </a:r>
            <a:endParaRPr sz="14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550"/>
              </a:spcBef>
            </a:pPr>
            <a:r>
              <a:rPr dirty="0" sz="1200" spc="-5" b="1">
                <a:latin typeface="Arial"/>
                <a:cs typeface="Arial"/>
              </a:rPr>
              <a:t>Objectives:</a:t>
            </a:r>
            <a:endParaRPr sz="1200">
              <a:latin typeface="Arial"/>
              <a:cs typeface="Arial"/>
            </a:endParaRPr>
          </a:p>
          <a:p>
            <a:pPr marL="351155">
              <a:lnSpc>
                <a:spcPct val="100000"/>
              </a:lnSpc>
              <a:spcBef>
                <a:spcPts val="790"/>
              </a:spcBef>
            </a:pPr>
            <a:r>
              <a:rPr dirty="0" sz="1200" spc="-5" b="1">
                <a:latin typeface="Arial"/>
                <a:cs typeface="Arial"/>
              </a:rPr>
              <a:t>Objectives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intent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teaching.</a:t>
            </a:r>
            <a:endParaRPr sz="12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610"/>
              </a:spcBef>
            </a:pPr>
            <a:r>
              <a:rPr dirty="0" sz="1200" b="1">
                <a:latin typeface="Arial"/>
                <a:cs typeface="Arial"/>
              </a:rPr>
              <a:t>“The </a:t>
            </a:r>
            <a:r>
              <a:rPr dirty="0" sz="1200" spc="-5" b="1">
                <a:latin typeface="Arial"/>
                <a:cs typeface="Arial"/>
              </a:rPr>
              <a:t>purpose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objective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communicate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exact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intent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lesson.”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1160"/>
              </a:spcBef>
            </a:pPr>
            <a:r>
              <a:rPr dirty="0" sz="1200" spc="-5" b="1">
                <a:latin typeface="Arial"/>
                <a:cs typeface="Arial"/>
              </a:rPr>
              <a:t>Performance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objectives:</a:t>
            </a:r>
            <a:endParaRPr sz="12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610"/>
              </a:spcBef>
            </a:pPr>
            <a:r>
              <a:rPr dirty="0" sz="1200" spc="-5" b="1">
                <a:latin typeface="Arial"/>
                <a:cs typeface="Arial"/>
              </a:rPr>
              <a:t>“They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precise</a:t>
            </a:r>
            <a:r>
              <a:rPr dirty="0" u="heavy" sz="12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statements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what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you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expect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do.”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845" cy="7134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834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Precise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exact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teacher,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three</a:t>
            </a:r>
            <a:r>
              <a:rPr dirty="0" sz="1200" spc="-5">
                <a:latin typeface="Arial MT"/>
                <a:cs typeface="Arial MT"/>
              </a:rPr>
              <a:t> characteristics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Arial MT"/>
              <a:cs typeface="Arial MT"/>
            </a:endParaRPr>
          </a:p>
          <a:p>
            <a:pPr marL="508000" indent="-267335">
              <a:lnSpc>
                <a:spcPct val="100000"/>
              </a:lnSpc>
              <a:buFont typeface="Times New Roman"/>
              <a:buAutoNum type="arabicPeriod"/>
              <a:tabLst>
                <a:tab pos="508000" algn="l"/>
                <a:tab pos="508634" algn="l"/>
              </a:tabLst>
            </a:pPr>
            <a:r>
              <a:rPr dirty="0" sz="1200" spc="-5" b="1">
                <a:latin typeface="Arial"/>
                <a:cs typeface="Arial"/>
              </a:rPr>
              <a:t>Performance</a:t>
            </a:r>
            <a:endParaRPr sz="1200">
              <a:latin typeface="Arial"/>
              <a:cs typeface="Arial"/>
            </a:endParaRPr>
          </a:p>
          <a:p>
            <a:pPr marL="508000" indent="-2673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508000" algn="l"/>
                <a:tab pos="508634" algn="l"/>
              </a:tabLst>
            </a:pPr>
            <a:r>
              <a:rPr dirty="0" sz="1200" spc="-5" b="1">
                <a:latin typeface="Arial"/>
                <a:cs typeface="Arial"/>
              </a:rPr>
              <a:t>Condition</a:t>
            </a:r>
            <a:endParaRPr sz="1200">
              <a:latin typeface="Arial"/>
              <a:cs typeface="Arial"/>
            </a:endParaRPr>
          </a:p>
          <a:p>
            <a:pPr marL="508000" indent="-2673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508000" algn="l"/>
                <a:tab pos="508634" algn="l"/>
              </a:tabLst>
            </a:pPr>
            <a:r>
              <a:rPr dirty="0" sz="1200" b="1">
                <a:latin typeface="Arial"/>
                <a:cs typeface="Arial"/>
              </a:rPr>
              <a:t>Criterion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measure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Arial"/>
              <a:cs typeface="Arial"/>
            </a:endParaRPr>
          </a:p>
          <a:p>
            <a:pPr marL="20320" marR="3818254" indent="457200">
              <a:lnSpc>
                <a:spcPct val="1417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Writing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performance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objectives: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They have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3 elements: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50">
              <a:latin typeface="Arial"/>
              <a:cs typeface="Arial"/>
            </a:endParaRPr>
          </a:p>
          <a:p>
            <a:pPr algn="just" marL="477520" marR="8890" indent="-228600">
              <a:lnSpc>
                <a:spcPct val="144200"/>
              </a:lnSpc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Performance: </a:t>
            </a:r>
            <a:r>
              <a:rPr dirty="0" sz="1200" spc="-5">
                <a:latin typeface="Arial MT"/>
                <a:cs typeface="Arial MT"/>
              </a:rPr>
              <a:t>The statement of an observable behavior, or performance, on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part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learner.</a:t>
            </a:r>
            <a:r>
              <a:rPr dirty="0" sz="1200" spc="-5">
                <a:latin typeface="Arial MT"/>
                <a:cs typeface="Arial MT"/>
              </a:rPr>
              <a:t> They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verb.</a:t>
            </a:r>
            <a:endParaRPr sz="1200">
              <a:latin typeface="Arial MT"/>
              <a:cs typeface="Arial MT"/>
            </a:endParaRPr>
          </a:p>
          <a:p>
            <a:pPr algn="just" marL="255270" marR="5715" indent="-6350">
              <a:lnSpc>
                <a:spcPct val="144200"/>
              </a:lnSpc>
              <a:spcBef>
                <a:spcPts val="990"/>
              </a:spcBef>
            </a:pPr>
            <a:r>
              <a:rPr dirty="0" sz="1200" spc="-5">
                <a:latin typeface="Arial MT"/>
                <a:cs typeface="Arial MT"/>
              </a:rPr>
              <a:t>(Here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two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consideration.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Firstly,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>
                <a:latin typeface="Arial MT"/>
                <a:cs typeface="Arial MT"/>
              </a:rPr>
              <a:t> must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studentoriented and secondly, they should be </a:t>
            </a:r>
            <a:r>
              <a:rPr dirty="0" sz="1200">
                <a:latin typeface="Arial MT"/>
                <a:cs typeface="Arial MT"/>
              </a:rPr>
              <a:t>precise. Action </a:t>
            </a:r>
            <a:r>
              <a:rPr dirty="0" sz="1200" spc="-5">
                <a:latin typeface="Arial MT"/>
                <a:cs typeface="Arial MT"/>
              </a:rPr>
              <a:t>words </a:t>
            </a:r>
            <a:r>
              <a:rPr dirty="0" sz="1200">
                <a:latin typeface="Arial MT"/>
                <a:cs typeface="Arial MT"/>
              </a:rPr>
              <a:t>are: </a:t>
            </a:r>
            <a:r>
              <a:rPr dirty="0" sz="1200" spc="-5">
                <a:latin typeface="Arial MT"/>
                <a:cs typeface="Arial MT"/>
              </a:rPr>
              <a:t>write, </a:t>
            </a:r>
            <a:r>
              <a:rPr dirty="0" sz="1200">
                <a:latin typeface="Arial MT"/>
                <a:cs typeface="Arial MT"/>
              </a:rPr>
              <a:t>classify etc. So,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whenever we are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write performance objectives, we need to ensure that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use action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describe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performance).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Arial MT"/>
              <a:cs typeface="Arial MT"/>
            </a:endParaRPr>
          </a:p>
          <a:p>
            <a:pPr algn="just" marL="477520" marR="5080" indent="-228600">
              <a:lnSpc>
                <a:spcPct val="144200"/>
              </a:lnSpc>
              <a:buFont typeface="Times New Roman"/>
              <a:buAutoNum type="arabicPeriod" startAt="2"/>
              <a:tabLst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Condition: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Condition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description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conditions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which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learner’s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occur.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determine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when,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performance.</a:t>
            </a:r>
            <a:endParaRPr sz="1200">
              <a:latin typeface="Arial MT"/>
              <a:cs typeface="Arial MT"/>
            </a:endParaRPr>
          </a:p>
          <a:p>
            <a:pPr algn="just" marL="477520" marR="9525" indent="-228600">
              <a:lnSpc>
                <a:spcPct val="144200"/>
              </a:lnSpc>
              <a:spcBef>
                <a:spcPts val="15"/>
              </a:spcBef>
              <a:buFont typeface="Times New Roman"/>
              <a:buAutoNum type="arabicPeriod" startAt="2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Criterion </a:t>
            </a:r>
            <a:r>
              <a:rPr dirty="0" sz="1200" spc="-5" b="1">
                <a:latin typeface="Arial"/>
                <a:cs typeface="Arial"/>
              </a:rPr>
              <a:t>measure: </a:t>
            </a:r>
            <a:r>
              <a:rPr dirty="0" sz="1200" spc="-5">
                <a:latin typeface="Arial MT"/>
                <a:cs typeface="Arial MT"/>
              </a:rPr>
              <a:t>The prescription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minimally acceptable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of performance </a:t>
            </a:r>
            <a:r>
              <a:rPr dirty="0" sz="1200" spc="-1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 criterion,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50">
              <a:latin typeface="Arial MT"/>
              <a:cs typeface="Arial MT"/>
            </a:endParaRPr>
          </a:p>
          <a:p>
            <a:pPr marL="18415" marR="12065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(Now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compare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discussed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start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those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 objectives.)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Differences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between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measureable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non-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measureable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objectives: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7219" y="7718425"/>
          <a:ext cx="6091555" cy="33610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015"/>
                <a:gridCol w="3041015"/>
              </a:tblGrid>
              <a:tr h="574548">
                <a:tc>
                  <a:txBody>
                    <a:bodyPr/>
                    <a:lstStyle/>
                    <a:p>
                      <a:pPr marL="67945" marR="23495">
                        <a:lnSpc>
                          <a:spcPct val="103299"/>
                        </a:lnSpc>
                        <a:spcBef>
                          <a:spcPts val="19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Look</a:t>
                      </a:r>
                      <a:r>
                        <a:rPr dirty="0" sz="1200" spc="1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at</a:t>
                      </a:r>
                      <a:r>
                        <a:rPr dirty="0" sz="1200" spc="1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1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following</a:t>
                      </a:r>
                      <a:r>
                        <a:rPr dirty="0" sz="1200" spc="1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objectives</a:t>
                      </a:r>
                      <a:r>
                        <a:rPr dirty="0" sz="1200" spc="1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1200" spc="-3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reflect upon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them if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they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1200" spc="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clear: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Performance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objectives: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‘By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end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lesson’: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645795" algn="l"/>
                        </a:tabLst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-	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 learners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draw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right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angle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triangle.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65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200" spc="2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2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learners</a:t>
                      </a:r>
                      <a:r>
                        <a:rPr dirty="0" sz="1200" spc="2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200" spc="2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draw</a:t>
                      </a:r>
                      <a:r>
                        <a:rPr dirty="0" sz="1200" spc="2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2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right</a:t>
                      </a:r>
                      <a:r>
                        <a:rPr dirty="0" sz="1200" spc="2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angle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25780" marR="23495">
                        <a:lnSpc>
                          <a:spcPct val="142500"/>
                        </a:lnSpc>
                        <a:spcBef>
                          <a:spcPts val="1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triangle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protector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meeting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ratio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3,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4,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40104"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200" spc="4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learners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write a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letter.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525780" marR="59055" indent="-229235">
                        <a:lnSpc>
                          <a:spcPct val="103400"/>
                        </a:lnSpc>
                        <a:spcBef>
                          <a:spcPts val="20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 learners will write a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(200-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250)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words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letter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appropriate </a:t>
                      </a:r>
                      <a:r>
                        <a:rPr dirty="0" sz="1200" spc="-3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format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a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friend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independently.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54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01852">
                <a:tc>
                  <a:txBody>
                    <a:bodyPr/>
                    <a:lstStyle/>
                    <a:p>
                      <a:pPr algn="just" marL="525780" marR="60325" indent="-228600">
                        <a:lnSpc>
                          <a:spcPct val="103299"/>
                        </a:lnSpc>
                        <a:spcBef>
                          <a:spcPts val="204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 learners will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identify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differences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between Pakistan Constitution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1973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1956.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2984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-       </a:t>
                      </a:r>
                      <a:r>
                        <a:rPr dirty="0" sz="1200" spc="1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learners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identify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at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least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5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algn="just" marL="525780" marR="61594">
                        <a:lnSpc>
                          <a:spcPct val="103299"/>
                        </a:lnSpc>
                        <a:spcBef>
                          <a:spcPts val="60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differences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between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Pakistan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Constitution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1973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1956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using </a:t>
                      </a:r>
                      <a:r>
                        <a:rPr dirty="0" sz="1200" spc="-3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textbook.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17219" y="678180"/>
          <a:ext cx="6091555" cy="1685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015"/>
                <a:gridCol w="3041015"/>
              </a:tblGrid>
              <a:tr h="839977">
                <a:tc>
                  <a:txBody>
                    <a:bodyPr/>
                    <a:lstStyle/>
                    <a:p>
                      <a:pPr marL="525780" marR="24130" indent="-228600">
                        <a:lnSpc>
                          <a:spcPct val="103299"/>
                        </a:lnSpc>
                        <a:spcBef>
                          <a:spcPts val="204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200" spc="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2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learners</a:t>
                      </a:r>
                      <a:r>
                        <a:rPr dirty="0" sz="1200" spc="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200" spc="2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locate</a:t>
                      </a:r>
                      <a:r>
                        <a:rPr dirty="0" sz="1200" spc="25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countries</a:t>
                      </a:r>
                      <a:r>
                        <a:rPr dirty="0" sz="1200" spc="2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on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world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map.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525780" marR="61594" indent="-229235">
                        <a:lnSpc>
                          <a:spcPct val="103299"/>
                        </a:lnSpc>
                        <a:spcBef>
                          <a:spcPts val="204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learners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locate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any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country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on </a:t>
                      </a:r>
                      <a:r>
                        <a:rPr dirty="0" sz="1200" spc="-3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world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map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when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latitude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longitude values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given.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9724"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721995" algn="l"/>
                        </a:tabLst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-	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 learners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will draw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human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digestive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system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label.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525780" marR="61594" indent="-229235">
                        <a:lnSpc>
                          <a:spcPct val="103299"/>
                        </a:lnSpc>
                        <a:spcBef>
                          <a:spcPts val="204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learners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draw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label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accurately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at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least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5 parts in human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digestive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system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independently.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65480" y="2523489"/>
            <a:ext cx="6626859" cy="549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433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all 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above performance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objectives, there are 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 elements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i.e.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condition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criterion.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precise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our</a:t>
            </a:r>
            <a:r>
              <a:rPr dirty="0" sz="1200" spc="-5">
                <a:latin typeface="Arial MT"/>
                <a:cs typeface="Arial MT"/>
              </a:rPr>
              <a:t> expectations.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3491458"/>
            <a:ext cx="6633845" cy="8292465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dirty="0" sz="1400" spc="-5" b="1">
                <a:latin typeface="Arial"/>
                <a:cs typeface="Arial"/>
              </a:rPr>
              <a:t>Limitations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performance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objectives:</a:t>
            </a:r>
            <a:endParaRPr sz="14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905"/>
              </a:spcBef>
              <a:buSzPct val="116666"/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Objectives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limited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purpose;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themselves.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585"/>
              </a:spcBef>
              <a:buSzPct val="116666"/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technically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correct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fail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completely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Assumptions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performance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objectives: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Arial"/>
              <a:cs typeface="Arial"/>
            </a:endParaRPr>
          </a:p>
          <a:p>
            <a:pPr algn="just" marL="477520" marR="6985" indent="-228600">
              <a:lnSpc>
                <a:spcPct val="144200"/>
              </a:lnSpc>
              <a:spcBef>
                <a:spcPts val="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change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behavior.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name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exactly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shows the behavior.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are seeing learning in behavioral forms then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not true that </a:t>
            </a:r>
            <a:r>
              <a:rPr dirty="0" sz="1200">
                <a:latin typeface="Arial MT"/>
                <a:cs typeface="Arial MT"/>
              </a:rPr>
              <a:t> learning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assumption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said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limitation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performance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/>
            </a:pPr>
            <a:endParaRPr sz="1800">
              <a:latin typeface="Arial MT"/>
              <a:cs typeface="Arial MT"/>
            </a:endParaRPr>
          </a:p>
          <a:p>
            <a:pPr algn="just" marL="477520" marR="7620" indent="-228600">
              <a:lnSpc>
                <a:spcPct val="144000"/>
              </a:lnSpc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Learning </a:t>
            </a:r>
            <a:r>
              <a:rPr dirty="0" sz="1200" spc="-5" b="1">
                <a:latin typeface="Arial"/>
                <a:cs typeface="Arial"/>
              </a:rPr>
              <a:t>can </a:t>
            </a:r>
            <a:r>
              <a:rPr dirty="0" sz="1200" b="1">
                <a:latin typeface="Arial"/>
                <a:cs typeface="Arial"/>
              </a:rPr>
              <a:t>be </a:t>
            </a:r>
            <a:r>
              <a:rPr dirty="0" sz="1200" spc="-5" b="1">
                <a:latin typeface="Arial"/>
                <a:cs typeface="Arial"/>
              </a:rPr>
              <a:t>measured. </a:t>
            </a:r>
            <a:r>
              <a:rPr dirty="0" sz="1200" spc="-5">
                <a:latin typeface="Arial MT"/>
                <a:cs typeface="Arial MT"/>
              </a:rPr>
              <a:t>While writing performance objectives, we </a:t>
            </a:r>
            <a:r>
              <a:rPr dirty="0" sz="1200">
                <a:latin typeface="Arial MT"/>
                <a:cs typeface="Arial MT"/>
              </a:rPr>
              <a:t>focus </a:t>
            </a:r>
            <a:r>
              <a:rPr dirty="0" sz="1200" spc="-5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action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 because we can exactly measure that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learning has taken place or not?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believe that learning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be measured. E.g. </a:t>
            </a:r>
            <a:r>
              <a:rPr dirty="0" sz="1200" spc="-1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child is listening to a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good discussion,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 he did not utter even a </a:t>
            </a:r>
            <a:r>
              <a:rPr dirty="0" sz="1200">
                <a:latin typeface="Arial MT"/>
                <a:cs typeface="Arial MT"/>
              </a:rPr>
              <a:t>single </a:t>
            </a:r>
            <a:r>
              <a:rPr dirty="0" sz="1200" spc="-5">
                <a:latin typeface="Arial MT"/>
                <a:cs typeface="Arial MT"/>
              </a:rPr>
              <a:t>word.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means that we are not measuring the learning. 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necessary,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especially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start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teaching.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true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measured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someone is reading a book, his learning is not measured, but you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appreciate him 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such</a:t>
            </a:r>
            <a:r>
              <a:rPr dirty="0" sz="1200">
                <a:latin typeface="Arial MT"/>
                <a:cs typeface="Arial MT"/>
              </a:rPr>
              <a:t> activities.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 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am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measure</a:t>
            </a:r>
            <a:endParaRPr sz="120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  <a:spcBef>
                <a:spcPts val="660"/>
              </a:spcBef>
            </a:pPr>
            <a:r>
              <a:rPr dirty="0" sz="1200">
                <a:latin typeface="Arial MT"/>
                <a:cs typeface="Arial MT"/>
              </a:rPr>
              <a:t>that.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 MT"/>
              <a:cs typeface="Arial MT"/>
            </a:endParaRPr>
          </a:p>
          <a:p>
            <a:pPr algn="just" marL="477520" marR="5080" indent="-228600">
              <a:lnSpc>
                <a:spcPct val="144000"/>
              </a:lnSpc>
              <a:buFont typeface="Times New Roman"/>
              <a:buAutoNum type="arabicPeriod" startAt="3"/>
              <a:tabLst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Observed learning outcome is directly linked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the teaching strategy, the content </a:t>
            </a:r>
            <a:r>
              <a:rPr dirty="0" sz="1200" spc="-10" b="1">
                <a:latin typeface="Arial"/>
                <a:cs typeface="Arial"/>
              </a:rPr>
              <a:t>or 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media used. </a:t>
            </a:r>
            <a:r>
              <a:rPr dirty="0" sz="1200" spc="-5">
                <a:latin typeface="Arial MT"/>
                <a:cs typeface="Arial MT"/>
              </a:rPr>
              <a:t>Here we assume that whatever a student is learning, actually that </a:t>
            </a:r>
            <a:r>
              <a:rPr dirty="0" sz="1200">
                <a:latin typeface="Arial MT"/>
                <a:cs typeface="Arial MT"/>
              </a:rPr>
              <a:t>all </a:t>
            </a:r>
            <a:r>
              <a:rPr dirty="0" sz="1200" spc="-5">
                <a:latin typeface="Arial MT"/>
                <a:cs typeface="Arial MT"/>
              </a:rPr>
              <a:t>depends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 teacher’s teaching.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content that is going to </a:t>
            </a:r>
            <a:r>
              <a:rPr dirty="0" sz="120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taught,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resources that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used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the teaching strategy. We totally deny other factors that what is the prior </a:t>
            </a:r>
            <a:r>
              <a:rPr dirty="0" sz="1200">
                <a:latin typeface="Arial MT"/>
                <a:cs typeface="Arial MT"/>
              </a:rPr>
              <a:t>knowledge 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students. What is his background or how many </a:t>
            </a:r>
            <a:r>
              <a:rPr dirty="0" sz="1200">
                <a:latin typeface="Arial MT"/>
                <a:cs typeface="Arial MT"/>
              </a:rPr>
              <a:t>siblings </a:t>
            </a:r>
            <a:r>
              <a:rPr dirty="0" sz="1200" spc="-5">
                <a:latin typeface="Arial MT"/>
                <a:cs typeface="Arial MT"/>
              </a:rPr>
              <a:t>he had? All </a:t>
            </a:r>
            <a:r>
              <a:rPr dirty="0" sz="1200" spc="-10">
                <a:latin typeface="Arial MT"/>
                <a:cs typeface="Arial MT"/>
              </a:rPr>
              <a:t>these </a:t>
            </a:r>
            <a:r>
              <a:rPr dirty="0" sz="1200" spc="-5">
                <a:latin typeface="Arial MT"/>
                <a:cs typeface="Arial MT"/>
              </a:rPr>
              <a:t>things have </a:t>
            </a:r>
            <a:r>
              <a:rPr dirty="0" sz="1200">
                <a:latin typeface="Arial MT"/>
                <a:cs typeface="Arial MT"/>
              </a:rPr>
              <a:t> effect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Arial MT"/>
              <a:cs typeface="Arial MT"/>
            </a:endParaRPr>
          </a:p>
          <a:p>
            <a:pPr marL="483870" marR="10160" indent="-6350">
              <a:lnSpc>
                <a:spcPct val="144100"/>
              </a:lnSpc>
            </a:pP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objectives,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eliminate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factors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assume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r>
              <a:rPr dirty="0" sz="1200" spc="-5">
                <a:latin typeface="Arial MT"/>
                <a:cs typeface="Arial MT"/>
              </a:rPr>
              <a:t> depend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strategy,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656335"/>
            <a:ext cx="6633209" cy="7343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752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-5">
                <a:latin typeface="Arial MT"/>
                <a:cs typeface="Arial MT"/>
              </a:rPr>
              <a:t> 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started seeing </a:t>
            </a:r>
            <a:r>
              <a:rPr dirty="0" sz="1200">
                <a:latin typeface="Arial MT"/>
                <a:cs typeface="Arial MT"/>
              </a:rPr>
              <a:t>classrooms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isolation.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Curriculum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Alignment:</a:t>
            </a:r>
            <a:endParaRPr sz="14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50"/>
              </a:spcBef>
            </a:pPr>
            <a:r>
              <a:rPr dirty="0" sz="1200" spc="-5">
                <a:latin typeface="Arial MT"/>
                <a:cs typeface="Arial MT"/>
              </a:rPr>
              <a:t>Firstly,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>
                <a:latin typeface="Arial MT"/>
                <a:cs typeface="Arial MT"/>
              </a:rPr>
              <a:t> to have</a:t>
            </a:r>
            <a:r>
              <a:rPr dirty="0" sz="1200" spc="-5">
                <a:latin typeface="Arial MT"/>
                <a:cs typeface="Arial MT"/>
              </a:rPr>
              <a:t> 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look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foundations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curriculum: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35"/>
              </a:spcBef>
            </a:pPr>
            <a:r>
              <a:rPr dirty="0" sz="1200" spc="-5" b="1">
                <a:latin typeface="Arial"/>
                <a:cs typeface="Arial"/>
              </a:rPr>
              <a:t>There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four steps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Taylor’s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model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curriculum: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 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purpose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education?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Which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educational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experiences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will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attain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purposes?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these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experiences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5" b="1">
                <a:latin typeface="Arial"/>
                <a:cs typeface="Arial"/>
              </a:rPr>
              <a:t> effectively</a:t>
            </a:r>
            <a:r>
              <a:rPr dirty="0" sz="1200" b="1">
                <a:latin typeface="Arial"/>
                <a:cs typeface="Arial"/>
              </a:rPr>
              <a:t> organized?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determine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when the </a:t>
            </a:r>
            <a:r>
              <a:rPr dirty="0" sz="1200" spc="-5" b="1">
                <a:latin typeface="Arial"/>
                <a:cs typeface="Arial"/>
              </a:rPr>
              <a:t>purposes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met?</a:t>
            </a:r>
            <a:endParaRPr sz="1200">
              <a:latin typeface="Arial"/>
              <a:cs typeface="Arial"/>
            </a:endParaRPr>
          </a:p>
          <a:p>
            <a:pPr algn="just" marL="18415" marR="5715" indent="-6350">
              <a:lnSpc>
                <a:spcPct val="144200"/>
              </a:lnSpc>
              <a:spcBef>
                <a:spcPts val="960"/>
              </a:spcBef>
            </a:pPr>
            <a:r>
              <a:rPr dirty="0" sz="1200" spc="-5">
                <a:latin typeface="Arial MT"/>
                <a:cs typeface="Arial MT"/>
              </a:rPr>
              <a:t>Whenever we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write performance objectives, they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aligned with the curriculum. </a:t>
            </a:r>
            <a:r>
              <a:rPr dirty="0" sz="1200">
                <a:latin typeface="Arial MT"/>
                <a:cs typeface="Arial MT"/>
              </a:rPr>
              <a:t> If </a:t>
            </a:r>
            <a:r>
              <a:rPr dirty="0" sz="1200" spc="-5">
                <a:latin typeface="Arial MT"/>
                <a:cs typeface="Arial MT"/>
              </a:rPr>
              <a:t>your purpose of education is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the students should be empowered citizens.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10">
                <a:latin typeface="Arial MT"/>
                <a:cs typeface="Arial MT"/>
              </a:rPr>
              <a:t>entire </a:t>
            </a:r>
            <a:r>
              <a:rPr dirty="0" sz="1200" spc="-5">
                <a:latin typeface="Arial MT"/>
                <a:cs typeface="Arial MT"/>
              </a:rPr>
              <a:t> objective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construct,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affective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domain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5">
                <a:latin typeface="Arial MT"/>
                <a:cs typeface="Arial MT"/>
              </a:rPr>
              <a:t> important.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affective domain in your </a:t>
            </a:r>
            <a:r>
              <a:rPr dirty="0" sz="1200">
                <a:latin typeface="Arial MT"/>
                <a:cs typeface="Arial MT"/>
              </a:rPr>
              <a:t>lessons. </a:t>
            </a:r>
            <a:r>
              <a:rPr dirty="0" sz="1200" spc="-5">
                <a:latin typeface="Arial MT"/>
                <a:cs typeface="Arial MT"/>
              </a:rPr>
              <a:t>So,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align our performance objectives with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curriculum. Curriculum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different levels; curriculum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year </a:t>
            </a:r>
            <a:r>
              <a:rPr dirty="0" sz="1200">
                <a:latin typeface="Arial MT"/>
                <a:cs typeface="Arial MT"/>
              </a:rPr>
              <a:t>i.e. short </a:t>
            </a:r>
            <a:r>
              <a:rPr dirty="0" sz="1200" spc="-5">
                <a:latin typeface="Arial MT"/>
                <a:cs typeface="Arial MT"/>
              </a:rPr>
              <a:t>term goals, and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broader goals that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school goals. Whenever we </a:t>
            </a:r>
            <a:r>
              <a:rPr dirty="0" sz="1200">
                <a:latin typeface="Arial MT"/>
                <a:cs typeface="Arial MT"/>
              </a:rPr>
              <a:t>talk </a:t>
            </a:r>
            <a:r>
              <a:rPr dirty="0" sz="1200" spc="-5">
                <a:latin typeface="Arial MT"/>
                <a:cs typeface="Arial MT"/>
              </a:rPr>
              <a:t>about curriculum alignment,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align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two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levels.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10"/>
              </a:spcBef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important for the broader curriculum </a:t>
            </a:r>
            <a:r>
              <a:rPr dirty="0" sz="1200">
                <a:latin typeface="Arial MT"/>
                <a:cs typeface="Arial MT"/>
              </a:rPr>
              <a:t>to identify </a:t>
            </a:r>
            <a:r>
              <a:rPr dirty="0" sz="1200" spc="-5">
                <a:latin typeface="Arial MT"/>
                <a:cs typeface="Arial MT"/>
              </a:rPr>
              <a:t>educational experiences; similarly,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also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 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 educational objectives 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attained</a:t>
            </a:r>
            <a:r>
              <a:rPr dirty="0" sz="1200">
                <a:latin typeface="Arial MT"/>
                <a:cs typeface="Arial MT"/>
              </a:rPr>
              <a:t> at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Relevant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educational experiences are important. When we are planning a lesson, and we have performance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 mentioned already, then we 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organize those educational experiences that can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fulfill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ultimate goal. You 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provide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with experiences. E.g.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want 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have experience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recording something in the lawn. </a:t>
            </a:r>
            <a:r>
              <a:rPr dirty="0" sz="1200" spc="-1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firstly, you will ask them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lawn and observe. You cannot give them the experience of recording directly, unless they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 not observe the things. You will organize the experience in such a way that you will ask them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record.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fourth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attained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those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not?</a:t>
            </a:r>
            <a:r>
              <a:rPr dirty="0" sz="1200">
                <a:latin typeface="Arial MT"/>
                <a:cs typeface="Arial MT"/>
              </a:rPr>
              <a:t> Whatever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-5">
                <a:latin typeface="Arial MT"/>
                <a:cs typeface="Arial MT"/>
              </a:rPr>
              <a:t> want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must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against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elements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 elements.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8084184"/>
            <a:ext cx="6972300" cy="28194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4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dirty="0" sz="14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“Levels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of Planning”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Objectives: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8443340"/>
            <a:ext cx="4641850" cy="3139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lesson, 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have: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86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Identified levels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Reflected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scope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yearly,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unit,</a:t>
            </a:r>
            <a:r>
              <a:rPr dirty="0" sz="1200" spc="-5">
                <a:latin typeface="Arial MT"/>
                <a:cs typeface="Arial MT"/>
              </a:rPr>
              <a:t> 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 planning.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70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Determine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link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Outline: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Planning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Horizontal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dimension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planning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Vertical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dimension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planning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framework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  <a:tab pos="2534920" algn="l"/>
              </a:tabLst>
            </a:pPr>
            <a:r>
              <a:rPr dirty="0" sz="1200" spc="-5" b="1">
                <a:latin typeface="Arial"/>
                <a:cs typeface="Arial"/>
              </a:rPr>
              <a:t>Components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-	</a:t>
            </a:r>
            <a:r>
              <a:rPr dirty="0" sz="1200" spc="-5" b="1">
                <a:latin typeface="Arial"/>
                <a:cs typeface="Arial"/>
              </a:rPr>
              <a:t>Holistic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vision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Detailed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implementation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8611"/>
            <a:ext cx="6634480" cy="279019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Instructional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curriculum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planning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Link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between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formal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curriculum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Planning:</a:t>
            </a:r>
            <a:endParaRPr sz="1400">
              <a:latin typeface="Arial"/>
              <a:cs typeface="Arial"/>
            </a:endParaRPr>
          </a:p>
          <a:p>
            <a:pPr algn="just" marL="12700" marR="5080" indent="457200">
              <a:lnSpc>
                <a:spcPts val="2080"/>
              </a:lnSpc>
              <a:spcBef>
                <a:spcPts val="85"/>
              </a:spcBef>
            </a:pPr>
            <a:r>
              <a:rPr dirty="0" sz="1200" b="1">
                <a:latin typeface="Arial"/>
                <a:cs typeface="Arial"/>
              </a:rPr>
              <a:t>Planning </a:t>
            </a:r>
            <a:r>
              <a:rPr dirty="0" sz="1200" spc="-5" b="1">
                <a:latin typeface="Arial"/>
                <a:cs typeface="Arial"/>
              </a:rPr>
              <a:t>is essentially a nested process with horizontal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vertical dimensions.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 is going to teach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 without planning a lesson, </a:t>
            </a:r>
            <a:r>
              <a:rPr dirty="0" sz="1200" spc="-1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he is not a </a:t>
            </a:r>
            <a:r>
              <a:rPr dirty="0" sz="1200">
                <a:latin typeface="Arial MT"/>
                <a:cs typeface="Arial MT"/>
              </a:rPr>
              <a:t>part of </a:t>
            </a:r>
            <a:r>
              <a:rPr dirty="0" sz="1200" spc="-5">
                <a:latin typeface="Arial MT"/>
                <a:cs typeface="Arial MT"/>
              </a:rPr>
              <a:t>process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result,</a:t>
            </a:r>
            <a:r>
              <a:rPr dirty="0" sz="1200" spc="-10">
                <a:latin typeface="Arial MT"/>
                <a:cs typeface="Arial MT"/>
              </a:rPr>
              <a:t> 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 teach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appropriately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class.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19"/>
              </a:spcBef>
            </a:pPr>
            <a:r>
              <a:rPr dirty="0" sz="1200" spc="-5" b="1">
                <a:latin typeface="Arial"/>
                <a:cs typeface="Arial"/>
              </a:rPr>
              <a:t>Horizontal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dimension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planning: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horizontal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selection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activities, </a:t>
            </a:r>
            <a:r>
              <a:rPr dirty="0" sz="1200" spc="-5">
                <a:latin typeface="Arial MT"/>
                <a:cs typeface="Arial MT"/>
              </a:rPr>
              <a:t>resources,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homework.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27654" y="3948810"/>
            <a:ext cx="4166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 spc="48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standards,</a:t>
            </a:r>
            <a:r>
              <a:rPr dirty="0" sz="1200" spc="5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benchmarks,</a:t>
            </a:r>
            <a:r>
              <a:rPr dirty="0" sz="1200" spc="4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r>
              <a:rPr dirty="0" sz="1200" spc="5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outcomes</a:t>
            </a:r>
            <a:r>
              <a:rPr dirty="0" sz="1200" spc="5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3609721"/>
            <a:ext cx="2383155" cy="811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7620">
              <a:lnSpc>
                <a:spcPct val="143400"/>
              </a:lnSpc>
              <a:spcBef>
                <a:spcPts val="90"/>
              </a:spcBef>
            </a:pPr>
            <a:r>
              <a:rPr dirty="0" sz="1200" spc="-5" b="1">
                <a:latin typeface="Arial"/>
                <a:cs typeface="Arial"/>
              </a:rPr>
              <a:t>Vertical dimension </a:t>
            </a:r>
            <a:r>
              <a:rPr dirty="0" sz="1200" b="1">
                <a:latin typeface="Arial"/>
                <a:cs typeface="Arial"/>
              </a:rPr>
              <a:t>of planning: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vertical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level,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includes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link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 objectives.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3629" y="4757141"/>
            <a:ext cx="1115695" cy="936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5255">
              <a:lnSpc>
                <a:spcPct val="1057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Planning 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fr</a:t>
            </a:r>
            <a:r>
              <a:rPr dirty="0" sz="1400" b="1">
                <a:latin typeface="Arial"/>
                <a:cs typeface="Arial"/>
              </a:rPr>
              <a:t>ame</a:t>
            </a:r>
            <a:r>
              <a:rPr dirty="0" sz="1400" spc="-15" b="1">
                <a:latin typeface="Arial"/>
                <a:cs typeface="Arial"/>
              </a:rPr>
              <a:t>w</a:t>
            </a:r>
            <a:r>
              <a:rPr dirty="0" sz="1400" spc="-10" b="1">
                <a:latin typeface="Arial"/>
                <a:cs typeface="Arial"/>
              </a:rPr>
              <a:t>o</a:t>
            </a:r>
            <a:r>
              <a:rPr dirty="0" sz="1400" b="1">
                <a:latin typeface="Arial"/>
                <a:cs typeface="Arial"/>
              </a:rPr>
              <a:t>r</a:t>
            </a:r>
            <a:r>
              <a:rPr dirty="0" sz="1400" b="1">
                <a:latin typeface="Arial"/>
                <a:cs typeface="Arial"/>
              </a:rPr>
              <a:t>k: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557530" algn="l"/>
                <a:tab pos="890905" algn="l"/>
              </a:tabLst>
            </a:pPr>
            <a:r>
              <a:rPr dirty="0" sz="1200" spc="-5">
                <a:latin typeface="Arial MT"/>
                <a:cs typeface="Arial MT"/>
              </a:rPr>
              <a:t>Here</a:t>
            </a:r>
            <a:r>
              <a:rPr dirty="0" sz="1200" spc="-5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5">
                <a:latin typeface="Arial MT"/>
                <a:cs typeface="Arial MT"/>
              </a:rPr>
              <a:t>	t</a:t>
            </a:r>
            <a:r>
              <a:rPr dirty="0" sz="1200" spc="-5">
                <a:latin typeface="Arial MT"/>
                <a:cs typeface="Arial MT"/>
              </a:rPr>
              <a:t>h</a:t>
            </a:r>
            <a:r>
              <a:rPr dirty="0" sz="1200" spc="-5">
                <a:latin typeface="Arial MT"/>
                <a:cs typeface="Arial MT"/>
              </a:rPr>
              <a:t>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3629" y="5748655"/>
            <a:ext cx="11156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figure,</a:t>
            </a:r>
            <a:r>
              <a:rPr dirty="0" sz="1200" spc="3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3629" y="5931534"/>
            <a:ext cx="645160" cy="1080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see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start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school’s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</a:t>
            </a:r>
            <a:r>
              <a:rPr dirty="0" sz="1200">
                <a:latin typeface="Arial MT"/>
                <a:cs typeface="Arial MT"/>
              </a:rPr>
              <a:t>n</a:t>
            </a:r>
            <a:r>
              <a:rPr dirty="0" sz="1200" spc="-5">
                <a:latin typeface="Arial MT"/>
                <a:cs typeface="Arial MT"/>
              </a:rPr>
              <a:t>n</a:t>
            </a:r>
            <a:r>
              <a:rPr dirty="0" sz="1200" spc="-5">
                <a:latin typeface="Arial MT"/>
                <a:cs typeface="Arial MT"/>
              </a:rPr>
              <a:t>i</a:t>
            </a:r>
            <a:r>
              <a:rPr dirty="0" sz="1200" spc="-15">
                <a:latin typeface="Arial MT"/>
                <a:cs typeface="Arial MT"/>
              </a:rPr>
              <a:t>n</a:t>
            </a:r>
            <a:r>
              <a:rPr dirty="0" sz="1200" spc="-5">
                <a:latin typeface="Arial MT"/>
                <a:cs typeface="Arial MT"/>
              </a:rPr>
              <a:t>g</a:t>
            </a:r>
            <a:r>
              <a:rPr dirty="0" sz="1200">
                <a:latin typeface="Arial MT"/>
                <a:cs typeface="Arial MT"/>
              </a:rPr>
              <a:t>,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8843" y="5931534"/>
            <a:ext cx="430530" cy="1080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2700" marR="5080" indent="28575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5">
                <a:latin typeface="Arial MT"/>
                <a:cs typeface="Arial MT"/>
              </a:rPr>
              <a:t>y</a:t>
            </a:r>
            <a:r>
              <a:rPr dirty="0" sz="1200">
                <a:latin typeface="Arial MT"/>
                <a:cs typeface="Arial MT"/>
              </a:rPr>
              <a:t>ear</a:t>
            </a:r>
            <a:r>
              <a:rPr dirty="0" sz="1200" spc="-10">
                <a:latin typeface="Arial MT"/>
                <a:cs typeface="Arial MT"/>
              </a:rPr>
              <a:t>l</a:t>
            </a:r>
            <a:r>
              <a:rPr dirty="0" sz="1200">
                <a:latin typeface="Arial MT"/>
                <a:cs typeface="Arial MT"/>
              </a:rPr>
              <a:t>y  </a:t>
            </a:r>
            <a:r>
              <a:rPr dirty="0" sz="1200" spc="-5">
                <a:latin typeface="Arial MT"/>
                <a:cs typeface="Arial MT"/>
              </a:rPr>
              <a:t>there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3629" y="7067168"/>
            <a:ext cx="11150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written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‘Long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3629" y="7250049"/>
            <a:ext cx="1116330" cy="55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4200"/>
              </a:lnSpc>
              <a:spcBef>
                <a:spcPts val="100"/>
              </a:spcBef>
              <a:tabLst>
                <a:tab pos="476884" algn="l"/>
                <a:tab pos="588010" algn="l"/>
                <a:tab pos="1017269" algn="l"/>
              </a:tabLst>
            </a:pPr>
            <a:r>
              <a:rPr dirty="0" sz="1200">
                <a:latin typeface="Arial MT"/>
                <a:cs typeface="Arial MT"/>
              </a:rPr>
              <a:t>t</a:t>
            </a:r>
            <a:r>
              <a:rPr dirty="0" sz="1200" spc="5">
                <a:latin typeface="Arial MT"/>
                <a:cs typeface="Arial MT"/>
              </a:rPr>
              <a:t>e</a:t>
            </a:r>
            <a:r>
              <a:rPr dirty="0" sz="1200">
                <a:latin typeface="Arial MT"/>
                <a:cs typeface="Arial MT"/>
              </a:rPr>
              <a:t>rm	P</a:t>
            </a:r>
            <a:r>
              <a:rPr dirty="0" sz="1200" spc="-5">
                <a:latin typeface="Arial MT"/>
                <a:cs typeface="Arial MT"/>
              </a:rPr>
              <a:t>l</a:t>
            </a:r>
            <a:r>
              <a:rPr dirty="0" sz="1200" spc="-10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nn</a:t>
            </a:r>
            <a:r>
              <a:rPr dirty="0" sz="1200" spc="-5">
                <a:latin typeface="Arial MT"/>
                <a:cs typeface="Arial MT"/>
              </a:rPr>
              <a:t>i</a:t>
            </a:r>
            <a:r>
              <a:rPr dirty="0" sz="1200" spc="-10">
                <a:latin typeface="Arial MT"/>
                <a:cs typeface="Arial MT"/>
              </a:rPr>
              <a:t>n</a:t>
            </a:r>
            <a:r>
              <a:rPr dirty="0" sz="1200">
                <a:latin typeface="Arial MT"/>
                <a:cs typeface="Arial MT"/>
              </a:rPr>
              <a:t>g’  t</a:t>
            </a:r>
            <a:r>
              <a:rPr dirty="0" sz="1200" spc="5">
                <a:latin typeface="Arial MT"/>
                <a:cs typeface="Arial MT"/>
              </a:rPr>
              <a:t>h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t</a:t>
            </a:r>
            <a:r>
              <a:rPr dirty="0" sz="1200">
                <a:latin typeface="Arial MT"/>
                <a:cs typeface="Arial MT"/>
              </a:rPr>
              <a:t>		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83629" y="7777353"/>
            <a:ext cx="1115695" cy="55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</a:t>
            </a:r>
            <a:r>
              <a:rPr dirty="0" sz="1200">
                <a:latin typeface="Arial MT"/>
                <a:cs typeface="Arial MT"/>
              </a:rPr>
              <a:t>f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</a:t>
            </a:r>
            <a:r>
              <a:rPr dirty="0" sz="1200" spc="-15">
                <a:latin typeface="Arial MT"/>
                <a:cs typeface="Arial MT"/>
              </a:rPr>
              <a:t>c</a:t>
            </a:r>
            <a:r>
              <a:rPr dirty="0" sz="1200" spc="-5">
                <a:latin typeface="Arial MT"/>
                <a:cs typeface="Arial MT"/>
              </a:rPr>
              <a:t>h</a:t>
            </a:r>
            <a:r>
              <a:rPr dirty="0" sz="1200" spc="-15">
                <a:latin typeface="Arial MT"/>
                <a:cs typeface="Arial MT"/>
              </a:rPr>
              <a:t>o</a:t>
            </a:r>
            <a:r>
              <a:rPr dirty="0" sz="1200" spc="-5">
                <a:latin typeface="Arial MT"/>
                <a:cs typeface="Arial MT"/>
              </a:rPr>
              <a:t>o</a:t>
            </a:r>
            <a:r>
              <a:rPr dirty="0" sz="1200">
                <a:latin typeface="Arial MT"/>
                <a:cs typeface="Arial MT"/>
              </a:rPr>
              <a:t>l.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5480" y="8304656"/>
            <a:ext cx="6636384" cy="3502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Teacher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more </a:t>
            </a:r>
            <a:r>
              <a:rPr dirty="0" sz="1200" spc="-5">
                <a:latin typeface="Arial MT"/>
                <a:cs typeface="Arial MT"/>
              </a:rPr>
              <a:t>related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long </a:t>
            </a:r>
            <a:r>
              <a:rPr dirty="0" sz="1200">
                <a:latin typeface="Arial MT"/>
                <a:cs typeface="Arial MT"/>
              </a:rPr>
              <a:t>term </a:t>
            </a:r>
            <a:r>
              <a:rPr dirty="0" sz="1200" spc="-5">
                <a:latin typeface="Arial MT"/>
                <a:cs typeface="Arial MT"/>
              </a:rPr>
              <a:t>planning.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next is ‘Term Plan’, in some schools there 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two </a:t>
            </a:r>
            <a:r>
              <a:rPr dirty="0" sz="1200">
                <a:latin typeface="Arial MT"/>
                <a:cs typeface="Arial MT"/>
              </a:rPr>
              <a:t>terms </a:t>
            </a:r>
            <a:r>
              <a:rPr dirty="0" sz="1200" spc="-5">
                <a:latin typeface="Arial MT"/>
                <a:cs typeface="Arial MT"/>
              </a:rPr>
              <a:t>while others have three terms. So, you 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plan about every term separately.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 take </a:t>
            </a:r>
            <a:r>
              <a:rPr dirty="0" sz="1200" spc="-5">
                <a:latin typeface="Arial MT"/>
                <a:cs typeface="Arial MT"/>
              </a:rPr>
              <a:t>one term plan into consideration, then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be consisted </a:t>
            </a:r>
            <a:r>
              <a:rPr dirty="0" sz="1200" spc="-5">
                <a:latin typeface="Arial MT"/>
                <a:cs typeface="Arial MT"/>
              </a:rPr>
              <a:t>of all </a:t>
            </a:r>
            <a:r>
              <a:rPr dirty="0" sz="1200">
                <a:latin typeface="Arial MT"/>
                <a:cs typeface="Arial MT"/>
              </a:rPr>
              <a:t>units of </a:t>
            </a:r>
            <a:r>
              <a:rPr dirty="0" sz="1200" spc="-5">
                <a:latin typeface="Arial MT"/>
                <a:cs typeface="Arial MT"/>
              </a:rPr>
              <a:t>the subject. E.g.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10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have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10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plans.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Every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consist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number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lesson </a:t>
            </a:r>
            <a:r>
              <a:rPr dirty="0" sz="1200">
                <a:latin typeface="Arial MT"/>
                <a:cs typeface="Arial MT"/>
              </a:rPr>
              <a:t>plans. </a:t>
            </a:r>
            <a:r>
              <a:rPr dirty="0" sz="1200" spc="-1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achieve the learning outcomes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every </a:t>
            </a:r>
            <a:r>
              <a:rPr dirty="0" sz="1200">
                <a:latin typeface="Arial MT"/>
                <a:cs typeface="Arial MT"/>
              </a:rPr>
              <a:t>unit,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have to construct </a:t>
            </a:r>
            <a:r>
              <a:rPr dirty="0" sz="1200">
                <a:latin typeface="Arial MT"/>
                <a:cs typeface="Arial MT"/>
              </a:rPr>
              <a:t> some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r>
              <a:rPr dirty="0" sz="1200">
                <a:latin typeface="Arial MT"/>
                <a:cs typeface="Arial MT"/>
              </a:rPr>
              <a:t> This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framework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>
                <a:latin typeface="Arial MT"/>
                <a:cs typeface="Arial MT"/>
              </a:rPr>
              <a:t> 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directly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framework.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making lesson </a:t>
            </a:r>
            <a:r>
              <a:rPr dirty="0" sz="1200" spc="-5">
                <a:latin typeface="Arial MT"/>
                <a:cs typeface="Arial MT"/>
              </a:rPr>
              <a:t>plan, unit plan and term plan. </a:t>
            </a:r>
            <a:r>
              <a:rPr dirty="0" sz="1200">
                <a:latin typeface="Arial MT"/>
                <a:cs typeface="Arial MT"/>
              </a:rPr>
              <a:t>Only </a:t>
            </a:r>
            <a:r>
              <a:rPr dirty="0" sz="1200" spc="-5">
                <a:latin typeface="Arial MT"/>
                <a:cs typeface="Arial MT"/>
              </a:rPr>
              <a:t>long term plan is </a:t>
            </a:r>
            <a:r>
              <a:rPr dirty="0" sz="1200">
                <a:latin typeface="Arial MT"/>
                <a:cs typeface="Arial MT"/>
              </a:rPr>
              <a:t>related to </a:t>
            </a:r>
            <a:r>
              <a:rPr dirty="0" sz="1200" spc="-5">
                <a:latin typeface="Arial MT"/>
                <a:cs typeface="Arial MT"/>
              </a:rPr>
              <a:t>the curriculum, 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responsibility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Why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to</a:t>
            </a:r>
            <a:r>
              <a:rPr dirty="0" sz="1400" spc="-5" b="1">
                <a:latin typeface="Arial"/>
                <a:cs typeface="Arial"/>
              </a:rPr>
              <a:t> write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instructional objectives:</a:t>
            </a:r>
            <a:endParaRPr sz="14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45"/>
              </a:spcBef>
            </a:pPr>
            <a:r>
              <a:rPr dirty="0" sz="1200">
                <a:latin typeface="Arial MT"/>
                <a:cs typeface="Arial MT"/>
              </a:rPr>
              <a:t>Good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 </a:t>
            </a:r>
            <a:r>
              <a:rPr dirty="0" sz="1200">
                <a:latin typeface="Arial MT"/>
                <a:cs typeface="Arial MT"/>
              </a:rPr>
              <a:t>has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two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components:</a:t>
            </a:r>
            <a:endParaRPr sz="120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  <a:spcBef>
                <a:spcPts val="805"/>
              </a:spcBef>
              <a:tabLst>
                <a:tab pos="477520" algn="l"/>
              </a:tabLst>
            </a:pPr>
            <a:r>
              <a:rPr dirty="0" sz="1200">
                <a:latin typeface="Times New Roman"/>
                <a:cs typeface="Times New Roman"/>
              </a:rPr>
              <a:t>-	</a:t>
            </a:r>
            <a:r>
              <a:rPr dirty="0" sz="1200" spc="-5" b="1">
                <a:latin typeface="Arial"/>
                <a:cs typeface="Arial"/>
              </a:rPr>
              <a:t>Holistic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vision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61707" y="5057139"/>
            <a:ext cx="390525" cy="6350"/>
          </a:xfrm>
          <a:custGeom>
            <a:avLst/>
            <a:gdLst/>
            <a:ahLst/>
            <a:cxnLst/>
            <a:rect l="l" t="t" r="r" b="b"/>
            <a:pathLst>
              <a:path w="390525" h="6350">
                <a:moveTo>
                  <a:pt x="390156" y="2540"/>
                </a:moveTo>
                <a:lnTo>
                  <a:pt x="389382" y="2540"/>
                </a:lnTo>
                <a:lnTo>
                  <a:pt x="389382" y="0"/>
                </a:lnTo>
                <a:lnTo>
                  <a:pt x="0" y="0"/>
                </a:lnTo>
                <a:lnTo>
                  <a:pt x="0" y="2540"/>
                </a:lnTo>
                <a:lnTo>
                  <a:pt x="0" y="6350"/>
                </a:lnTo>
                <a:lnTo>
                  <a:pt x="390156" y="6350"/>
                </a:lnTo>
                <a:lnTo>
                  <a:pt x="390156" y="25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76148" y="5086561"/>
          <a:ext cx="1632585" cy="1831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1795"/>
                <a:gridCol w="380364"/>
                <a:gridCol w="152400"/>
                <a:gridCol w="704850"/>
              </a:tblGrid>
              <a:tr h="758051">
                <a:tc>
                  <a:txBody>
                    <a:bodyPr/>
                    <a:lstStyle/>
                    <a:p>
                      <a:pPr algn="just" marL="95250" marR="178435">
                        <a:lnSpc>
                          <a:spcPts val="1380"/>
                        </a:lnSpc>
                        <a:spcBef>
                          <a:spcPts val="34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L 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  N  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3815"/>
                </a:tc>
                <a:tc>
                  <a:txBody>
                    <a:bodyPr/>
                    <a:lstStyle/>
                    <a:p>
                      <a:pPr algn="just" marL="160655" marR="101600">
                        <a:lnSpc>
                          <a:spcPts val="1380"/>
                        </a:lnSpc>
                        <a:spcBef>
                          <a:spcPts val="345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P 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 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  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381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3980" marR="90170">
                        <a:lnSpc>
                          <a:spcPts val="1420"/>
                        </a:lnSpc>
                        <a:spcBef>
                          <a:spcPts val="43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T e r m </a:t>
                      </a:r>
                      <a:r>
                        <a:rPr dirty="0" sz="12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2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ts val="128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44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95250" marR="186690">
                        <a:lnSpc>
                          <a:spcPts val="138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T  E 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60655" marR="101600">
                        <a:lnSpc>
                          <a:spcPts val="1380"/>
                        </a:lnSpc>
                        <a:spcBef>
                          <a:spcPts val="1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I </a:t>
                      </a:r>
                      <a:r>
                        <a:rPr dirty="0" sz="12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N  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3980" marR="238125">
                        <a:lnSpc>
                          <a:spcPts val="1380"/>
                        </a:lnSpc>
                        <a:spcBef>
                          <a:spcPts val="65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dirty="0" sz="1200" spc="-2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ts val="140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3185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7658">
                <a:tc>
                  <a:txBody>
                    <a:bodyPr/>
                    <a:lstStyle/>
                    <a:p>
                      <a:pPr marL="95250">
                        <a:lnSpc>
                          <a:spcPts val="133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673100" y="5057139"/>
            <a:ext cx="1635760" cy="3274060"/>
          </a:xfrm>
          <a:custGeom>
            <a:avLst/>
            <a:gdLst/>
            <a:ahLst/>
            <a:cxnLst/>
            <a:rect l="l" t="t" r="r" b="b"/>
            <a:pathLst>
              <a:path w="1635760" h="3274059">
                <a:moveTo>
                  <a:pt x="778764" y="6350"/>
                </a:moveTo>
                <a:lnTo>
                  <a:pt x="771144" y="6350"/>
                </a:lnTo>
                <a:lnTo>
                  <a:pt x="771144" y="3267710"/>
                </a:lnTo>
                <a:lnTo>
                  <a:pt x="388607" y="3267710"/>
                </a:lnTo>
                <a:lnTo>
                  <a:pt x="6096" y="3267710"/>
                </a:lnTo>
                <a:lnTo>
                  <a:pt x="6096" y="6350"/>
                </a:lnTo>
                <a:lnTo>
                  <a:pt x="388607" y="6350"/>
                </a:lnTo>
                <a:lnTo>
                  <a:pt x="388607" y="2540"/>
                </a:lnTo>
                <a:lnTo>
                  <a:pt x="388607" y="0"/>
                </a:lnTo>
                <a:lnTo>
                  <a:pt x="762" y="0"/>
                </a:lnTo>
                <a:lnTo>
                  <a:pt x="762" y="2540"/>
                </a:lnTo>
                <a:lnTo>
                  <a:pt x="0" y="2540"/>
                </a:lnTo>
                <a:lnTo>
                  <a:pt x="0" y="6350"/>
                </a:lnTo>
                <a:lnTo>
                  <a:pt x="0" y="3267710"/>
                </a:lnTo>
                <a:lnTo>
                  <a:pt x="0" y="3272790"/>
                </a:lnTo>
                <a:lnTo>
                  <a:pt x="1130" y="3272790"/>
                </a:lnTo>
                <a:lnTo>
                  <a:pt x="1130" y="3274060"/>
                </a:lnTo>
                <a:lnTo>
                  <a:pt x="388607" y="3274060"/>
                </a:lnTo>
                <a:lnTo>
                  <a:pt x="777621" y="3274060"/>
                </a:lnTo>
                <a:lnTo>
                  <a:pt x="777621" y="3272790"/>
                </a:lnTo>
                <a:lnTo>
                  <a:pt x="778764" y="3272790"/>
                </a:lnTo>
                <a:lnTo>
                  <a:pt x="778764" y="3267710"/>
                </a:lnTo>
                <a:lnTo>
                  <a:pt x="778764" y="6350"/>
                </a:lnTo>
                <a:close/>
              </a:path>
              <a:path w="1635760" h="3274059">
                <a:moveTo>
                  <a:pt x="1635252" y="2540"/>
                </a:moveTo>
                <a:lnTo>
                  <a:pt x="1634477" y="2540"/>
                </a:lnTo>
                <a:lnTo>
                  <a:pt x="1634477" y="0"/>
                </a:lnTo>
                <a:lnTo>
                  <a:pt x="1280160" y="0"/>
                </a:lnTo>
                <a:lnTo>
                  <a:pt x="924306" y="0"/>
                </a:lnTo>
                <a:lnTo>
                  <a:pt x="924306" y="2540"/>
                </a:lnTo>
                <a:lnTo>
                  <a:pt x="923544" y="2540"/>
                </a:lnTo>
                <a:lnTo>
                  <a:pt x="923544" y="6350"/>
                </a:lnTo>
                <a:lnTo>
                  <a:pt x="923544" y="782320"/>
                </a:lnTo>
                <a:lnTo>
                  <a:pt x="931164" y="782320"/>
                </a:lnTo>
                <a:lnTo>
                  <a:pt x="931164" y="6350"/>
                </a:lnTo>
                <a:lnTo>
                  <a:pt x="1280160" y="6350"/>
                </a:lnTo>
                <a:lnTo>
                  <a:pt x="1629156" y="6350"/>
                </a:lnTo>
                <a:lnTo>
                  <a:pt x="1629156" y="782320"/>
                </a:lnTo>
                <a:lnTo>
                  <a:pt x="1635252" y="782320"/>
                </a:lnTo>
                <a:lnTo>
                  <a:pt x="1635252" y="6350"/>
                </a:lnTo>
                <a:lnTo>
                  <a:pt x="1635252" y="25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96644" y="6009640"/>
            <a:ext cx="7620" cy="899160"/>
          </a:xfrm>
          <a:custGeom>
            <a:avLst/>
            <a:gdLst/>
            <a:ahLst/>
            <a:cxnLst/>
            <a:rect l="l" t="t" r="r" b="b"/>
            <a:pathLst>
              <a:path w="7619" h="899159">
                <a:moveTo>
                  <a:pt x="0" y="899160"/>
                </a:moveTo>
                <a:lnTo>
                  <a:pt x="7619" y="899160"/>
                </a:lnTo>
                <a:lnTo>
                  <a:pt x="7619" y="0"/>
                </a:lnTo>
                <a:lnTo>
                  <a:pt x="0" y="0"/>
                </a:lnTo>
                <a:lnTo>
                  <a:pt x="0" y="899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96644" y="7017384"/>
            <a:ext cx="711835" cy="854075"/>
          </a:xfrm>
          <a:custGeom>
            <a:avLst/>
            <a:gdLst/>
            <a:ahLst/>
            <a:cxnLst/>
            <a:rect l="l" t="t" r="r" b="b"/>
            <a:pathLst>
              <a:path w="711835" h="854075">
                <a:moveTo>
                  <a:pt x="711708" y="1905"/>
                </a:moveTo>
                <a:lnTo>
                  <a:pt x="711441" y="1905"/>
                </a:lnTo>
                <a:lnTo>
                  <a:pt x="711441" y="635"/>
                </a:lnTo>
                <a:lnTo>
                  <a:pt x="705612" y="635"/>
                </a:lnTo>
                <a:lnTo>
                  <a:pt x="705612" y="5715"/>
                </a:lnTo>
                <a:lnTo>
                  <a:pt x="705612" y="847725"/>
                </a:lnTo>
                <a:lnTo>
                  <a:pt x="356616" y="847725"/>
                </a:lnTo>
                <a:lnTo>
                  <a:pt x="356616" y="847344"/>
                </a:lnTo>
                <a:lnTo>
                  <a:pt x="7620" y="847344"/>
                </a:lnTo>
                <a:lnTo>
                  <a:pt x="7620" y="6096"/>
                </a:lnTo>
                <a:lnTo>
                  <a:pt x="356616" y="6096"/>
                </a:lnTo>
                <a:lnTo>
                  <a:pt x="356616" y="5715"/>
                </a:lnTo>
                <a:lnTo>
                  <a:pt x="705612" y="5715"/>
                </a:lnTo>
                <a:lnTo>
                  <a:pt x="705612" y="635"/>
                </a:lnTo>
                <a:lnTo>
                  <a:pt x="356616" y="635"/>
                </a:lnTo>
                <a:lnTo>
                  <a:pt x="356616" y="0"/>
                </a:lnTo>
                <a:lnTo>
                  <a:pt x="3048" y="0"/>
                </a:lnTo>
                <a:lnTo>
                  <a:pt x="1524" y="0"/>
                </a:lnTo>
                <a:lnTo>
                  <a:pt x="0" y="1524"/>
                </a:lnTo>
                <a:lnTo>
                  <a:pt x="0" y="853440"/>
                </a:lnTo>
                <a:lnTo>
                  <a:pt x="356616" y="853440"/>
                </a:lnTo>
                <a:lnTo>
                  <a:pt x="356616" y="854075"/>
                </a:lnTo>
                <a:lnTo>
                  <a:pt x="711708" y="854075"/>
                </a:lnTo>
                <a:lnTo>
                  <a:pt x="711708" y="847725"/>
                </a:lnTo>
                <a:lnTo>
                  <a:pt x="711708" y="5715"/>
                </a:lnTo>
                <a:lnTo>
                  <a:pt x="711708" y="19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682242" y="7079360"/>
            <a:ext cx="389890" cy="38354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dirty="0" sz="1200">
                <a:latin typeface="Times New Roman"/>
                <a:cs typeface="Times New Roman"/>
              </a:rPr>
              <a:t>T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 </a:t>
            </a:r>
            <a:r>
              <a:rPr dirty="0" sz="1200" spc="-29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82242" y="7434453"/>
            <a:ext cx="5378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47291" y="6290436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152400" y="0"/>
                </a:moveTo>
                <a:lnTo>
                  <a:pt x="0" y="0"/>
                </a:lnTo>
                <a:lnTo>
                  <a:pt x="0" y="9144"/>
                </a:lnTo>
                <a:lnTo>
                  <a:pt x="152400" y="9144"/>
                </a:lnTo>
                <a:lnTo>
                  <a:pt x="152400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1447291" y="5001259"/>
            <a:ext cx="2557145" cy="2442845"/>
            <a:chOff x="1447291" y="5001259"/>
            <a:chExt cx="2557145" cy="2442845"/>
          </a:xfrm>
        </p:grpSpPr>
        <p:sp>
          <p:nvSpPr>
            <p:cNvPr id="22" name="object 22"/>
            <p:cNvSpPr/>
            <p:nvPr/>
          </p:nvSpPr>
          <p:spPr>
            <a:xfrm>
              <a:off x="1447292" y="5409691"/>
              <a:ext cx="152400" cy="2034539"/>
            </a:xfrm>
            <a:custGeom>
              <a:avLst/>
              <a:gdLst/>
              <a:ahLst/>
              <a:cxnLst/>
              <a:rect l="l" t="t" r="r" b="b"/>
              <a:pathLst>
                <a:path w="152400" h="2034540">
                  <a:moveTo>
                    <a:pt x="152400" y="2025269"/>
                  </a:moveTo>
                  <a:lnTo>
                    <a:pt x="0" y="2025269"/>
                  </a:lnTo>
                  <a:lnTo>
                    <a:pt x="0" y="2034413"/>
                  </a:lnTo>
                  <a:lnTo>
                    <a:pt x="152400" y="2034413"/>
                  </a:lnTo>
                  <a:lnTo>
                    <a:pt x="152400" y="2025269"/>
                  </a:lnTo>
                  <a:close/>
                </a:path>
                <a:path w="152400" h="2034540">
                  <a:moveTo>
                    <a:pt x="1524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152400" y="9144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216656" y="5001259"/>
              <a:ext cx="788035" cy="672465"/>
            </a:xfrm>
            <a:custGeom>
              <a:avLst/>
              <a:gdLst/>
              <a:ahLst/>
              <a:cxnLst/>
              <a:rect l="l" t="t" r="r" b="b"/>
              <a:pathLst>
                <a:path w="788035" h="672464">
                  <a:moveTo>
                    <a:pt x="787781" y="1270"/>
                  </a:moveTo>
                  <a:lnTo>
                    <a:pt x="786879" y="1270"/>
                  </a:lnTo>
                  <a:lnTo>
                    <a:pt x="786879" y="0"/>
                  </a:lnTo>
                  <a:lnTo>
                    <a:pt x="780161" y="0"/>
                  </a:lnTo>
                  <a:lnTo>
                    <a:pt x="780161" y="6350"/>
                  </a:lnTo>
                  <a:lnTo>
                    <a:pt x="780161" y="665480"/>
                  </a:lnTo>
                  <a:lnTo>
                    <a:pt x="393065" y="665480"/>
                  </a:lnTo>
                  <a:lnTo>
                    <a:pt x="393065" y="665988"/>
                  </a:lnTo>
                  <a:lnTo>
                    <a:pt x="6096" y="665988"/>
                  </a:lnTo>
                  <a:lnTo>
                    <a:pt x="6096" y="6096"/>
                  </a:lnTo>
                  <a:lnTo>
                    <a:pt x="393065" y="6096"/>
                  </a:lnTo>
                  <a:lnTo>
                    <a:pt x="393065" y="6350"/>
                  </a:lnTo>
                  <a:lnTo>
                    <a:pt x="780161" y="6350"/>
                  </a:lnTo>
                  <a:lnTo>
                    <a:pt x="780161" y="0"/>
                  </a:lnTo>
                  <a:lnTo>
                    <a:pt x="393065" y="0"/>
                  </a:lnTo>
                  <a:lnTo>
                    <a:pt x="3048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672084"/>
                  </a:lnTo>
                  <a:lnTo>
                    <a:pt x="393065" y="672084"/>
                  </a:lnTo>
                  <a:lnTo>
                    <a:pt x="393065" y="671830"/>
                  </a:lnTo>
                  <a:lnTo>
                    <a:pt x="787781" y="671830"/>
                  </a:lnTo>
                  <a:lnTo>
                    <a:pt x="787781" y="665480"/>
                  </a:lnTo>
                  <a:lnTo>
                    <a:pt x="787781" y="6350"/>
                  </a:lnTo>
                  <a:lnTo>
                    <a:pt x="787781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302634" y="5064379"/>
            <a:ext cx="297180" cy="38671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400"/>
              </a:lnSpc>
              <a:spcBef>
                <a:spcPts val="180"/>
              </a:spcBef>
            </a:pPr>
            <a:r>
              <a:rPr dirty="0" sz="1200">
                <a:latin typeface="Times New Roman"/>
                <a:cs typeface="Times New Roman"/>
              </a:rPr>
              <a:t>Unit 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 spc="-5">
                <a:latin typeface="Times New Roman"/>
                <a:cs typeface="Times New Roman"/>
              </a:rPr>
              <a:t>lan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19704" y="5711825"/>
            <a:ext cx="781050" cy="650240"/>
          </a:xfrm>
          <a:prstGeom prst="rect">
            <a:avLst/>
          </a:prstGeom>
          <a:ln w="7620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95250" marR="405765">
              <a:lnSpc>
                <a:spcPts val="1420"/>
              </a:lnSpc>
              <a:spcBef>
                <a:spcPts val="610"/>
              </a:spcBef>
            </a:pPr>
            <a:r>
              <a:rPr dirty="0" sz="1200">
                <a:latin typeface="Times New Roman"/>
                <a:cs typeface="Times New Roman"/>
              </a:rPr>
              <a:t>Unit 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 spc="-5">
                <a:latin typeface="Times New Roman"/>
                <a:cs typeface="Times New Roman"/>
              </a:rPr>
              <a:t>lan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216656" y="6359016"/>
            <a:ext cx="788035" cy="692150"/>
          </a:xfrm>
          <a:custGeom>
            <a:avLst/>
            <a:gdLst/>
            <a:ahLst/>
            <a:cxnLst/>
            <a:rect l="l" t="t" r="r" b="b"/>
            <a:pathLst>
              <a:path w="788035" h="692150">
                <a:moveTo>
                  <a:pt x="787781" y="6223"/>
                </a:moveTo>
                <a:lnTo>
                  <a:pt x="780161" y="6223"/>
                </a:lnTo>
                <a:lnTo>
                  <a:pt x="780161" y="685673"/>
                </a:lnTo>
                <a:lnTo>
                  <a:pt x="393065" y="685673"/>
                </a:lnTo>
                <a:lnTo>
                  <a:pt x="393065" y="685800"/>
                </a:lnTo>
                <a:lnTo>
                  <a:pt x="6096" y="685800"/>
                </a:lnTo>
                <a:lnTo>
                  <a:pt x="6096" y="6096"/>
                </a:lnTo>
                <a:lnTo>
                  <a:pt x="393065" y="6096"/>
                </a:lnTo>
                <a:lnTo>
                  <a:pt x="393065" y="0"/>
                </a:lnTo>
                <a:lnTo>
                  <a:pt x="3048" y="0"/>
                </a:lnTo>
                <a:lnTo>
                  <a:pt x="0" y="0"/>
                </a:lnTo>
                <a:lnTo>
                  <a:pt x="0" y="690372"/>
                </a:lnTo>
                <a:lnTo>
                  <a:pt x="1524" y="691896"/>
                </a:lnTo>
                <a:lnTo>
                  <a:pt x="393065" y="691896"/>
                </a:lnTo>
                <a:lnTo>
                  <a:pt x="393065" y="692023"/>
                </a:lnTo>
                <a:lnTo>
                  <a:pt x="786765" y="692023"/>
                </a:lnTo>
                <a:lnTo>
                  <a:pt x="786765" y="690753"/>
                </a:lnTo>
                <a:lnTo>
                  <a:pt x="787781" y="690753"/>
                </a:lnTo>
                <a:lnTo>
                  <a:pt x="787781" y="685673"/>
                </a:lnTo>
                <a:lnTo>
                  <a:pt x="787781" y="62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302634" y="6420434"/>
            <a:ext cx="297180" cy="38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25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U</a:t>
            </a:r>
            <a:r>
              <a:rPr dirty="0" sz="1200">
                <a:latin typeface="Times New Roman"/>
                <a:cs typeface="Times New Roman"/>
              </a:rPr>
              <a:t>nit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25"/>
              </a:lnSpc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 spc="-5">
                <a:latin typeface="Times New Roman"/>
                <a:cs typeface="Times New Roman"/>
              </a:rPr>
              <a:t>lan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19704" y="7098665"/>
            <a:ext cx="781050" cy="704215"/>
          </a:xfrm>
          <a:prstGeom prst="rect">
            <a:avLst/>
          </a:prstGeom>
          <a:ln w="7620">
            <a:solidFill>
              <a:srgbClr val="000000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95250" marR="405765">
              <a:lnSpc>
                <a:spcPts val="1430"/>
              </a:lnSpc>
              <a:spcBef>
                <a:spcPts val="615"/>
              </a:spcBef>
            </a:pPr>
            <a:r>
              <a:rPr dirty="0" sz="1200">
                <a:latin typeface="Times New Roman"/>
                <a:cs typeface="Times New Roman"/>
              </a:rPr>
              <a:t>Unit  </a:t>
            </a: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 spc="-5">
                <a:latin typeface="Times New Roman"/>
                <a:cs typeface="Times New Roman"/>
              </a:rPr>
              <a:t>lan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57521" y="4995545"/>
            <a:ext cx="1019810" cy="48387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wrap="square" lIns="0" tIns="7366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580"/>
              </a:spcBef>
            </a:pPr>
            <a:r>
              <a:rPr dirty="0" sz="1200" spc="-5">
                <a:latin typeface="Times New Roman"/>
                <a:cs typeface="Times New Roman"/>
              </a:rPr>
              <a:t>Lesson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57521" y="5539104"/>
            <a:ext cx="1019810" cy="47752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610"/>
              </a:spcBef>
            </a:pPr>
            <a:r>
              <a:rPr dirty="0" sz="1200" spc="-5">
                <a:latin typeface="Times New Roman"/>
                <a:cs typeface="Times New Roman"/>
              </a:rPr>
              <a:t>Lesson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57521" y="6141084"/>
            <a:ext cx="1019810" cy="486409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Times New Roman"/>
                <a:cs typeface="Times New Roman"/>
              </a:rPr>
              <a:t>Lesson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57521" y="6715759"/>
            <a:ext cx="1019810" cy="51371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Times New Roman"/>
                <a:cs typeface="Times New Roman"/>
              </a:rPr>
              <a:t>Lesson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57521" y="7326630"/>
            <a:ext cx="1019810" cy="52260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wrap="square" lIns="0" tIns="7493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590"/>
              </a:spcBef>
            </a:pPr>
            <a:r>
              <a:rPr dirty="0" sz="1200" spc="-5">
                <a:latin typeface="Times New Roman"/>
                <a:cs typeface="Times New Roman"/>
              </a:rPr>
              <a:t>Lesson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302256" y="5219191"/>
            <a:ext cx="2760345" cy="2658110"/>
          </a:xfrm>
          <a:custGeom>
            <a:avLst/>
            <a:gdLst/>
            <a:ahLst/>
            <a:cxnLst/>
            <a:rect l="l" t="t" r="r" b="b"/>
            <a:pathLst>
              <a:path w="2760345" h="2658109">
                <a:moveTo>
                  <a:pt x="918972" y="792480"/>
                </a:moveTo>
                <a:lnTo>
                  <a:pt x="915924" y="783336"/>
                </a:lnTo>
                <a:lnTo>
                  <a:pt x="39674" y="1084059"/>
                </a:lnTo>
                <a:lnTo>
                  <a:pt x="4572" y="1071245"/>
                </a:lnTo>
                <a:lnTo>
                  <a:pt x="1524" y="1080389"/>
                </a:lnTo>
                <a:lnTo>
                  <a:pt x="25184" y="1089037"/>
                </a:lnTo>
                <a:lnTo>
                  <a:pt x="1524" y="1097153"/>
                </a:lnTo>
                <a:lnTo>
                  <a:pt x="4572" y="1106297"/>
                </a:lnTo>
                <a:lnTo>
                  <a:pt x="39573" y="1094282"/>
                </a:lnTo>
                <a:lnTo>
                  <a:pt x="915924" y="1414145"/>
                </a:lnTo>
                <a:lnTo>
                  <a:pt x="918972" y="1405001"/>
                </a:lnTo>
                <a:lnTo>
                  <a:pt x="54063" y="1089317"/>
                </a:lnTo>
                <a:lnTo>
                  <a:pt x="918972" y="792480"/>
                </a:lnTo>
                <a:close/>
              </a:path>
              <a:path w="2760345" h="2658109">
                <a:moveTo>
                  <a:pt x="920496" y="65532"/>
                </a:moveTo>
                <a:lnTo>
                  <a:pt x="914400" y="57912"/>
                </a:lnTo>
                <a:lnTo>
                  <a:pt x="0" y="1039241"/>
                </a:lnTo>
                <a:lnTo>
                  <a:pt x="6096" y="1045337"/>
                </a:lnTo>
                <a:lnTo>
                  <a:pt x="920496" y="65532"/>
                </a:lnTo>
                <a:close/>
              </a:path>
              <a:path w="2760345" h="2658109">
                <a:moveTo>
                  <a:pt x="940308" y="2340737"/>
                </a:moveTo>
                <a:lnTo>
                  <a:pt x="6096" y="1340993"/>
                </a:lnTo>
                <a:lnTo>
                  <a:pt x="0" y="1347089"/>
                </a:lnTo>
                <a:lnTo>
                  <a:pt x="932688" y="2346833"/>
                </a:lnTo>
                <a:lnTo>
                  <a:pt x="940308" y="2340737"/>
                </a:lnTo>
                <a:close/>
              </a:path>
              <a:path w="2760345" h="2658109">
                <a:moveTo>
                  <a:pt x="2758313" y="1833245"/>
                </a:moveTo>
                <a:lnTo>
                  <a:pt x="1702181" y="842772"/>
                </a:lnTo>
                <a:lnTo>
                  <a:pt x="1694561" y="848868"/>
                </a:lnTo>
                <a:lnTo>
                  <a:pt x="2752217" y="1839341"/>
                </a:lnTo>
                <a:lnTo>
                  <a:pt x="2758313" y="1833245"/>
                </a:lnTo>
                <a:close/>
              </a:path>
              <a:path w="2760345" h="2658109">
                <a:moveTo>
                  <a:pt x="2758313" y="1269365"/>
                </a:moveTo>
                <a:lnTo>
                  <a:pt x="1728812" y="796277"/>
                </a:lnTo>
                <a:lnTo>
                  <a:pt x="2756789" y="611124"/>
                </a:lnTo>
                <a:lnTo>
                  <a:pt x="2755265" y="601980"/>
                </a:lnTo>
                <a:lnTo>
                  <a:pt x="1714093" y="789520"/>
                </a:lnTo>
                <a:lnTo>
                  <a:pt x="1700657" y="783336"/>
                </a:lnTo>
                <a:lnTo>
                  <a:pt x="1696085" y="792480"/>
                </a:lnTo>
                <a:lnTo>
                  <a:pt x="1697723" y="793242"/>
                </a:lnTo>
                <a:lnTo>
                  <a:pt x="1699133" y="801624"/>
                </a:lnTo>
                <a:lnTo>
                  <a:pt x="1711236" y="799452"/>
                </a:lnTo>
                <a:lnTo>
                  <a:pt x="2753741" y="1278509"/>
                </a:lnTo>
                <a:lnTo>
                  <a:pt x="2758313" y="1269365"/>
                </a:lnTo>
                <a:close/>
              </a:path>
              <a:path w="2760345" h="2658109">
                <a:moveTo>
                  <a:pt x="2758313" y="7620"/>
                </a:moveTo>
                <a:lnTo>
                  <a:pt x="2752217" y="0"/>
                </a:lnTo>
                <a:lnTo>
                  <a:pt x="1696085" y="733044"/>
                </a:lnTo>
                <a:lnTo>
                  <a:pt x="1700657" y="740664"/>
                </a:lnTo>
                <a:lnTo>
                  <a:pt x="2758313" y="7620"/>
                </a:lnTo>
                <a:close/>
              </a:path>
              <a:path w="2760345" h="2658109">
                <a:moveTo>
                  <a:pt x="2759837" y="2653157"/>
                </a:moveTo>
                <a:lnTo>
                  <a:pt x="1702181" y="976884"/>
                </a:lnTo>
                <a:lnTo>
                  <a:pt x="1694561" y="981456"/>
                </a:lnTo>
                <a:lnTo>
                  <a:pt x="2752217" y="2657729"/>
                </a:lnTo>
                <a:lnTo>
                  <a:pt x="2759837" y="26531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656335"/>
            <a:ext cx="6633209" cy="281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8920">
              <a:lnSpc>
                <a:spcPct val="100000"/>
              </a:lnSpc>
              <a:spcBef>
                <a:spcPts val="100"/>
              </a:spcBef>
              <a:tabLst>
                <a:tab pos="477520" algn="l"/>
              </a:tabLst>
            </a:pPr>
            <a:r>
              <a:rPr dirty="0" sz="1200">
                <a:latin typeface="Times New Roman"/>
                <a:cs typeface="Times New Roman"/>
              </a:rPr>
              <a:t>-	</a:t>
            </a:r>
            <a:r>
              <a:rPr dirty="0" sz="1200" b="1">
                <a:latin typeface="Arial"/>
                <a:cs typeface="Arial"/>
              </a:rPr>
              <a:t>Detailed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implementation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Arial"/>
              <a:cs typeface="Arial"/>
            </a:endParaRPr>
          </a:p>
          <a:p>
            <a:pPr algn="just" marL="255270" marR="5080" indent="-6350">
              <a:lnSpc>
                <a:spcPct val="1442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Holistic vision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comes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curriculum planning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 detailed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implementation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comes from </a:t>
            </a:r>
            <a:r>
              <a:rPr dirty="0" sz="1200">
                <a:latin typeface="Arial MT"/>
                <a:cs typeface="Arial MT"/>
              </a:rPr>
              <a:t> lesson </a:t>
            </a:r>
            <a:r>
              <a:rPr dirty="0" sz="1200" spc="-5">
                <a:latin typeface="Arial MT"/>
                <a:cs typeface="Arial MT"/>
              </a:rPr>
              <a:t>planning. There are standards and benchmarks in curriculum document e.g. a student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come </a:t>
            </a:r>
            <a:r>
              <a:rPr dirty="0" sz="1200" spc="-10">
                <a:latin typeface="Arial MT"/>
                <a:cs typeface="Arial MT"/>
              </a:rPr>
              <a:t>up </a:t>
            </a:r>
            <a:r>
              <a:rPr dirty="0" sz="1200" spc="-5">
                <a:latin typeface="Arial MT"/>
                <a:cs typeface="Arial MT"/>
              </a:rPr>
              <a:t>to certain standard after 12 years or </a:t>
            </a:r>
            <a:r>
              <a:rPr dirty="0" sz="1200">
                <a:latin typeface="Arial MT"/>
                <a:cs typeface="Arial MT"/>
              </a:rPr>
              <a:t>after </a:t>
            </a:r>
            <a:r>
              <a:rPr dirty="0" sz="1200" spc="-5">
                <a:latin typeface="Arial MT"/>
                <a:cs typeface="Arial MT"/>
              </a:rPr>
              <a:t>one year a student </a:t>
            </a:r>
            <a:r>
              <a:rPr dirty="0" sz="1200" spc="10">
                <a:latin typeface="Arial MT"/>
                <a:cs typeface="Arial MT"/>
              </a:rPr>
              <a:t>will </a:t>
            </a:r>
            <a:r>
              <a:rPr dirty="0" sz="1200" spc="-5">
                <a:latin typeface="Arial MT"/>
                <a:cs typeface="Arial MT"/>
              </a:rPr>
              <a:t>achieve these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benchmarks.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visible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benchmarks.</a:t>
            </a:r>
            <a:endParaRPr sz="1200">
              <a:latin typeface="Arial MT"/>
              <a:cs typeface="Arial MT"/>
            </a:endParaRPr>
          </a:p>
          <a:p>
            <a:pPr marL="12700" marR="699770">
              <a:lnSpc>
                <a:spcPct val="27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What are </a:t>
            </a:r>
            <a:r>
              <a:rPr dirty="0" sz="1400" spc="-5" b="1">
                <a:latin typeface="Arial"/>
                <a:cs typeface="Arial"/>
              </a:rPr>
              <a:t>the commonalities in instructional </a:t>
            </a:r>
            <a:r>
              <a:rPr dirty="0" sz="1400" spc="-10" b="1">
                <a:latin typeface="Arial"/>
                <a:cs typeface="Arial"/>
              </a:rPr>
              <a:t>and </a:t>
            </a:r>
            <a:r>
              <a:rPr dirty="0" sz="1400" spc="-5" b="1">
                <a:latin typeface="Arial"/>
                <a:cs typeface="Arial"/>
              </a:rPr>
              <a:t>curriculum planning? </a:t>
            </a:r>
            <a:r>
              <a:rPr dirty="0" sz="1400" spc="-37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Instructional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vs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Curriculum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Planning: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7219" y="3484117"/>
          <a:ext cx="6091555" cy="2148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015"/>
                <a:gridCol w="3041015"/>
              </a:tblGrid>
              <a:tr h="31241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Instructional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planning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Curriculum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Planning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Identifying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pupil’s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needs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238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Identifying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societal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needs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238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Writing and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sequencing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objectives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321945">
                        <a:lnSpc>
                          <a:spcPct val="103299"/>
                        </a:lnSpc>
                        <a:spcBef>
                          <a:spcPts val="19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Writing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standards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benchmarks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sequence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Selecting methods/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strategies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Benchmarks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sequence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Assessment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procedures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Assessment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Resources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Resources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38504" y="5795898"/>
            <a:ext cx="6534784" cy="6028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04800" marR="80645" indent="-228600">
              <a:lnSpc>
                <a:spcPct val="144200"/>
              </a:lnSpc>
              <a:spcBef>
                <a:spcPts val="100"/>
              </a:spcBef>
              <a:buFont typeface="Times New Roman"/>
              <a:buChar char="-"/>
              <a:tabLst>
                <a:tab pos="304800" algn="l"/>
              </a:tabLst>
            </a:pP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society.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foundations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curriculum: sociological, philosophical and psychological.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your societal needs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 identified and on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basis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those needs curriculum is </a:t>
            </a:r>
            <a:r>
              <a:rPr dirty="0" sz="1200">
                <a:latin typeface="Arial MT"/>
                <a:cs typeface="Arial MT"/>
              </a:rPr>
              <a:t>developed. </a:t>
            </a:r>
            <a:r>
              <a:rPr dirty="0" sz="1200" spc="-5">
                <a:latin typeface="Arial MT"/>
                <a:cs typeface="Arial MT"/>
              </a:rPr>
              <a:t>While in instructional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planning, the needs are identified but these needs are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students. Firstly,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teachers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 students’ needs </a:t>
            </a:r>
            <a:r>
              <a:rPr dirty="0" sz="120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then plan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lesson. Teacher needs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differentiate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lesson in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addresses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pupil’s needs.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-"/>
            </a:pPr>
            <a:endParaRPr sz="1300">
              <a:latin typeface="Arial MT"/>
              <a:cs typeface="Arial MT"/>
            </a:endParaRPr>
          </a:p>
          <a:p>
            <a:pPr algn="just" marL="304800" marR="81280" indent="-228600">
              <a:lnSpc>
                <a:spcPct val="144200"/>
              </a:lnSpc>
              <a:buFont typeface="Times New Roman"/>
              <a:buChar char="-"/>
              <a:tabLst>
                <a:tab pos="304800" algn="l"/>
              </a:tabLst>
            </a:pPr>
            <a:r>
              <a:rPr dirty="0" sz="1200" spc="-5">
                <a:latin typeface="Arial MT"/>
                <a:cs typeface="Arial MT"/>
              </a:rPr>
              <a:t>Benchmarks and standards are written in a sequence in curriculum planning. E.g. there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 benchmarks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grade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5">
                <a:latin typeface="Arial MT"/>
                <a:cs typeface="Arial MT"/>
              </a:rPr>
              <a:t>8</a:t>
            </a:r>
            <a:r>
              <a:rPr dirty="0" baseline="27777" sz="1200" spc="7">
                <a:latin typeface="Arial MT"/>
                <a:cs typeface="Arial MT"/>
              </a:rPr>
              <a:t>th</a:t>
            </a:r>
            <a:r>
              <a:rPr dirty="0" baseline="27777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9</a:t>
            </a:r>
            <a:r>
              <a:rPr dirty="0" baseline="27777" sz="1200" spc="-7">
                <a:latin typeface="Arial MT"/>
                <a:cs typeface="Arial MT"/>
              </a:rPr>
              <a:t>th</a:t>
            </a:r>
            <a:r>
              <a:rPr dirty="0" baseline="27777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10</a:t>
            </a:r>
            <a:r>
              <a:rPr dirty="0" baseline="27777" sz="1200" spc="-7">
                <a:latin typeface="Arial MT"/>
                <a:cs typeface="Arial MT"/>
              </a:rPr>
              <a:t>th</a:t>
            </a:r>
            <a:r>
              <a:rPr dirty="0" baseline="27777" sz="12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etc. </a:t>
            </a:r>
            <a:r>
              <a:rPr dirty="0" sz="1200" spc="-5">
                <a:latin typeface="Arial MT"/>
                <a:cs typeface="Arial MT"/>
              </a:rPr>
              <a:t>benchmarks and standards are planned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grade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of students. While in instructional planning we write objectives.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derived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standards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benchmarks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5">
                <a:latin typeface="Arial MT"/>
                <a:cs typeface="Arial MT"/>
              </a:rPr>
              <a:t> 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link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standards,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benchmarks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304800" marR="85090" indent="-228600">
              <a:lnSpc>
                <a:spcPct val="144200"/>
              </a:lnSpc>
              <a:buFont typeface="Times New Roman"/>
              <a:buChar char="-"/>
              <a:tabLst>
                <a:tab pos="304800" algn="l"/>
              </a:tabLst>
            </a:pPr>
            <a:r>
              <a:rPr dirty="0" sz="1200" spc="-5">
                <a:latin typeface="Arial MT"/>
                <a:cs typeface="Arial MT"/>
              </a:rPr>
              <a:t>Methods are also identified in instructional planning.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made sequence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those methods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strategies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used in </a:t>
            </a:r>
            <a:r>
              <a:rPr dirty="0" sz="1200">
                <a:latin typeface="Arial MT"/>
                <a:cs typeface="Arial MT"/>
              </a:rPr>
              <a:t>the class. </a:t>
            </a:r>
            <a:r>
              <a:rPr dirty="0" sz="1200" spc="-5">
                <a:latin typeface="Arial MT"/>
                <a:cs typeface="Arial MT"/>
              </a:rPr>
              <a:t>While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curriculum planning, we made </a:t>
            </a:r>
            <a:r>
              <a:rPr dirty="0" sz="1200" spc="-10">
                <a:latin typeface="Arial MT"/>
                <a:cs typeface="Arial MT"/>
              </a:rPr>
              <a:t>sequence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benchmarks.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304800" marR="79375" indent="-228600">
              <a:lnSpc>
                <a:spcPct val="144200"/>
              </a:lnSpc>
              <a:buFont typeface="Times New Roman"/>
              <a:buChar char="-"/>
              <a:tabLst>
                <a:tab pos="304800" algn="l"/>
              </a:tabLst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curriculum planning, assessment is taken into consideration,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thought, how to assess 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standard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not?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reached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benchmarks or not? Similarly, in </a:t>
            </a:r>
            <a:r>
              <a:rPr dirty="0" sz="1200">
                <a:latin typeface="Arial MT"/>
                <a:cs typeface="Arial MT"/>
              </a:rPr>
              <a:t>class, </a:t>
            </a:r>
            <a:r>
              <a:rPr dirty="0" sz="1200" spc="-5">
                <a:latin typeface="Arial MT"/>
                <a:cs typeface="Arial MT"/>
              </a:rPr>
              <a:t>the teacher identifies the assessment procedures.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Firstly,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teacher identifies assessment criteria. Secondly,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decides how to assess. </a:t>
            </a:r>
            <a:r>
              <a:rPr dirty="0" sz="1200" spc="-1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 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cases,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decision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6580" y="840485"/>
            <a:ext cx="6811009" cy="1071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566420" marR="91440" indent="-22860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540">
                <a:latin typeface="Times New Roman"/>
                <a:cs typeface="Times New Roman"/>
              </a:rPr>
              <a:t> </a:t>
            </a:r>
            <a:r>
              <a:rPr dirty="0" sz="1200">
                <a:latin typeface="Arial MT"/>
                <a:cs typeface="Arial MT"/>
              </a:rPr>
              <a:t>Decisions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levels.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planning,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take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decision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broader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i.e.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twelve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years,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student?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 at </a:t>
            </a:r>
            <a:r>
              <a:rPr dirty="0" sz="1200" spc="-5">
                <a:latin typeface="Arial MT"/>
                <a:cs typeface="Arial MT"/>
              </a:rPr>
              <a:t>lesson planning, you decide what resources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needed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acquire a particular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objective.</a:t>
            </a:r>
            <a:endParaRPr sz="1200">
              <a:latin typeface="Arial MT"/>
              <a:cs typeface="Arial MT"/>
            </a:endParaRPr>
          </a:p>
          <a:p>
            <a:pPr algn="just" marL="107314" marR="94615" indent="-6350">
              <a:lnSpc>
                <a:spcPct val="144200"/>
              </a:lnSpc>
              <a:spcBef>
                <a:spcPts val="985"/>
              </a:spcBef>
            </a:pP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planning is definitely a nested </a:t>
            </a:r>
            <a:r>
              <a:rPr dirty="0" sz="1200">
                <a:latin typeface="Arial MT"/>
                <a:cs typeface="Arial MT"/>
              </a:rPr>
              <a:t>process, </a:t>
            </a:r>
            <a:r>
              <a:rPr dirty="0" sz="1200" spc="-5">
                <a:latin typeface="Arial MT"/>
                <a:cs typeface="Arial MT"/>
              </a:rPr>
              <a:t>starting from curriculum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instructional planning. There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number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things which are interlinked and whenever we are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plan for a single lesson,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need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look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bigger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picture.</a:t>
            </a:r>
            <a:endParaRPr sz="1200">
              <a:latin typeface="Arial MT"/>
              <a:cs typeface="Arial MT"/>
            </a:endParaRPr>
          </a:p>
          <a:p>
            <a:pPr marL="114935" marR="93980" indent="-6350">
              <a:lnSpc>
                <a:spcPts val="2120"/>
              </a:lnSpc>
              <a:spcBef>
                <a:spcPts val="165"/>
              </a:spcBef>
            </a:pPr>
            <a:r>
              <a:rPr dirty="0" sz="1200" spc="-5" b="1">
                <a:latin typeface="Arial"/>
                <a:cs typeface="Arial"/>
              </a:rPr>
              <a:t>(Here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curriculum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document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which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there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different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competencies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English.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These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6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reading</a:t>
            </a:r>
            <a:r>
              <a:rPr dirty="0" sz="1200" spc="6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competency,</a:t>
            </a:r>
            <a:r>
              <a:rPr dirty="0" sz="1200" spc="6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writing</a:t>
            </a:r>
            <a:r>
              <a:rPr dirty="0" sz="1200" spc="6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competency,</a:t>
            </a:r>
            <a:r>
              <a:rPr dirty="0" sz="1200" spc="6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listening</a:t>
            </a:r>
            <a:r>
              <a:rPr dirty="0" sz="1200" spc="6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competency</a:t>
            </a:r>
            <a:r>
              <a:rPr dirty="0" sz="1200" spc="6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6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speaking</a:t>
            </a:r>
            <a:endParaRPr sz="1200">
              <a:latin typeface="Arial"/>
              <a:cs typeface="Arial"/>
            </a:endParaRPr>
          </a:p>
          <a:p>
            <a:pPr marL="114935" marR="93980">
              <a:lnSpc>
                <a:spcPts val="2120"/>
              </a:lnSpc>
              <a:spcBef>
                <a:spcPts val="20"/>
              </a:spcBef>
            </a:pPr>
            <a:r>
              <a:rPr dirty="0" sz="1200" spc="-5" b="1">
                <a:latin typeface="Arial"/>
                <a:cs typeface="Arial"/>
              </a:rPr>
              <a:t>competency.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this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document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there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standards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till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grade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5" b="1">
                <a:latin typeface="Arial"/>
                <a:cs typeface="Arial"/>
              </a:rPr>
              <a:t>12</a:t>
            </a:r>
            <a:r>
              <a:rPr dirty="0" baseline="27777" sz="1200" spc="7" b="1">
                <a:latin typeface="Arial"/>
                <a:cs typeface="Arial"/>
              </a:rPr>
              <a:t>th</a:t>
            </a:r>
            <a:r>
              <a:rPr dirty="0" sz="1200" spc="5" b="1">
                <a:latin typeface="Arial"/>
                <a:cs typeface="Arial"/>
              </a:rPr>
              <a:t>.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have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picked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only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one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standard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from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them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your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understanding.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Then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one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benchmark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from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grade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&amp;</a:t>
            </a:r>
            <a:endParaRPr sz="1200">
              <a:latin typeface="Arial"/>
              <a:cs typeface="Arial"/>
            </a:endParaRPr>
          </a:p>
          <a:p>
            <a:pPr marL="114935">
              <a:lnSpc>
                <a:spcPct val="100000"/>
              </a:lnSpc>
              <a:spcBef>
                <a:spcPts val="505"/>
              </a:spcBef>
            </a:pPr>
            <a:r>
              <a:rPr dirty="0" sz="1200" b="1">
                <a:latin typeface="Arial"/>
                <a:cs typeface="Arial"/>
              </a:rPr>
              <a:t>2. </a:t>
            </a:r>
            <a:r>
              <a:rPr dirty="0" sz="1200" spc="-5" b="1">
                <a:latin typeface="Arial"/>
                <a:cs typeface="Arial"/>
              </a:rPr>
              <a:t>And</a:t>
            </a:r>
            <a:r>
              <a:rPr dirty="0" sz="1200" b="1">
                <a:latin typeface="Arial"/>
                <a:cs typeface="Arial"/>
              </a:rPr>
              <a:t> then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outcomes</a:t>
            </a:r>
            <a:r>
              <a:rPr dirty="0" sz="1200" b="1">
                <a:latin typeface="Arial"/>
                <a:cs typeface="Arial"/>
              </a:rPr>
              <a:t> from the </a:t>
            </a:r>
            <a:r>
              <a:rPr dirty="0" sz="1200" spc="-5" b="1">
                <a:latin typeface="Arial"/>
                <a:cs typeface="Arial"/>
              </a:rPr>
              <a:t>same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grade.)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765"/>
              </a:spcBef>
            </a:pPr>
            <a:r>
              <a:rPr dirty="0" sz="1400" spc="-5" b="1">
                <a:latin typeface="Arial"/>
                <a:cs typeface="Arial"/>
              </a:rPr>
              <a:t>Link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between formal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curriculum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and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classroom: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1130"/>
              </a:spcBef>
            </a:pPr>
            <a:r>
              <a:rPr dirty="0" sz="1400" spc="-5" b="1">
                <a:latin typeface="Arial"/>
                <a:cs typeface="Arial"/>
              </a:rPr>
              <a:t>English</a:t>
            </a:r>
            <a:endParaRPr sz="1400">
              <a:latin typeface="Arial"/>
              <a:cs typeface="Arial"/>
            </a:endParaRPr>
          </a:p>
          <a:p>
            <a:pPr algn="just" marL="101600">
              <a:lnSpc>
                <a:spcPct val="100000"/>
              </a:lnSpc>
              <a:spcBef>
                <a:spcPts val="815"/>
              </a:spcBef>
            </a:pPr>
            <a:r>
              <a:rPr dirty="0" sz="1400" spc="-5" b="1">
                <a:latin typeface="Arial"/>
                <a:cs typeface="Arial"/>
              </a:rPr>
              <a:t>Competency: </a:t>
            </a:r>
            <a:r>
              <a:rPr dirty="0" sz="1200" spc="-5">
                <a:latin typeface="Arial MT"/>
                <a:cs typeface="Arial MT"/>
              </a:rPr>
              <a:t>Reading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&amp;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 marL="101600">
              <a:lnSpc>
                <a:spcPct val="100000"/>
              </a:lnSpc>
              <a:spcBef>
                <a:spcPts val="1155"/>
              </a:spcBef>
            </a:pPr>
            <a:r>
              <a:rPr dirty="0" sz="1400" spc="-5" b="1">
                <a:latin typeface="Arial"/>
                <a:cs typeface="Arial"/>
              </a:rPr>
              <a:t>Standard:</a:t>
            </a:r>
            <a:endParaRPr sz="1400">
              <a:latin typeface="Arial"/>
              <a:cs typeface="Arial"/>
            </a:endParaRPr>
          </a:p>
          <a:p>
            <a:pPr marL="114935" marR="100330" indent="-6350">
              <a:lnSpc>
                <a:spcPts val="2470"/>
              </a:lnSpc>
              <a:spcBef>
                <a:spcPts val="280"/>
              </a:spcBef>
            </a:pPr>
            <a:r>
              <a:rPr dirty="0" sz="1400" b="1">
                <a:latin typeface="Arial"/>
                <a:cs typeface="Arial"/>
              </a:rPr>
              <a:t>“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discover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understand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variety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text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types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through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tasks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which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require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multiple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reading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thinking strategies</a:t>
            </a:r>
            <a:r>
              <a:rPr dirty="0" sz="1200" b="1">
                <a:latin typeface="Arial"/>
                <a:cs typeface="Arial"/>
              </a:rPr>
              <a:t> for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comprehension,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fluency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enjoyment.”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00">
              <a:latin typeface="Arial"/>
              <a:cs typeface="Arial"/>
            </a:endParaRPr>
          </a:p>
          <a:p>
            <a:pPr algn="just" marL="107314" marR="92710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being teacher,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could not understand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standard, and then ultimately, </a:t>
            </a:r>
            <a:r>
              <a:rPr dirty="0" sz="1200">
                <a:latin typeface="Arial MT"/>
                <a:cs typeface="Arial MT"/>
              </a:rPr>
              <a:t>my </a:t>
            </a:r>
            <a:r>
              <a:rPr dirty="0" sz="1200" spc="-5">
                <a:latin typeface="Arial MT"/>
                <a:cs typeface="Arial MT"/>
              </a:rPr>
              <a:t>lesson </a:t>
            </a:r>
            <a:r>
              <a:rPr dirty="0" sz="1200" spc="10">
                <a:latin typeface="Arial MT"/>
                <a:cs typeface="Arial MT"/>
              </a:rPr>
              <a:t>plan </a:t>
            </a:r>
            <a:r>
              <a:rPr dirty="0" sz="1200">
                <a:latin typeface="Arial MT"/>
                <a:cs typeface="Arial MT"/>
              </a:rPr>
              <a:t>would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suffer. So, if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say that a child is given with different texts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reading, then he could differentiate </a:t>
            </a:r>
            <a:r>
              <a:rPr dirty="0" sz="1200">
                <a:latin typeface="Arial MT"/>
                <a:cs typeface="Arial MT"/>
              </a:rPr>
              <a:t> them,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discover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texts.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newspaper,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is reporting in it, news or </a:t>
            </a:r>
            <a:r>
              <a:rPr dirty="0" sz="1200">
                <a:latin typeface="Arial MT"/>
                <a:cs typeface="Arial MT"/>
              </a:rPr>
              <a:t>articles. </a:t>
            </a:r>
            <a:r>
              <a:rPr dirty="0" sz="1200" spc="-5">
                <a:latin typeface="Arial MT"/>
                <a:cs typeface="Arial MT"/>
              </a:rPr>
              <a:t>It </a:t>
            </a:r>
            <a:r>
              <a:rPr dirty="0" sz="1200" spc="-10">
                <a:latin typeface="Arial MT"/>
                <a:cs typeface="Arial MT"/>
              </a:rPr>
              <a:t>has </a:t>
            </a:r>
            <a:r>
              <a:rPr dirty="0" sz="1200" spc="-5">
                <a:latin typeface="Arial MT"/>
                <a:cs typeface="Arial MT"/>
              </a:rPr>
              <a:t>a different text type </a:t>
            </a:r>
            <a:r>
              <a:rPr dirty="0" sz="1200">
                <a:latin typeface="Arial MT"/>
                <a:cs typeface="Arial MT"/>
              </a:rPr>
              <a:t>then of </a:t>
            </a:r>
            <a:r>
              <a:rPr dirty="0" sz="1200" spc="-5">
                <a:latin typeface="Arial MT"/>
                <a:cs typeface="Arial MT"/>
              </a:rPr>
              <a:t>an essay.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narrative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story;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type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would</a:t>
            </a:r>
            <a:r>
              <a:rPr dirty="0" sz="1200" spc="-10">
                <a:latin typeface="Arial MT"/>
                <a:cs typeface="Arial MT"/>
              </a:rPr>
              <a:t> be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newspaper.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5">
                <a:latin typeface="Arial MT"/>
                <a:cs typeface="Arial MT"/>
              </a:rPr>
              <a:t>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curriculum document of grade </a:t>
            </a:r>
            <a:r>
              <a:rPr dirty="0" sz="1200">
                <a:latin typeface="Arial MT"/>
                <a:cs typeface="Arial MT"/>
              </a:rPr>
              <a:t>level 12</a:t>
            </a:r>
            <a:r>
              <a:rPr dirty="0" baseline="27777" sz="1200">
                <a:latin typeface="Arial MT"/>
                <a:cs typeface="Arial MT"/>
              </a:rPr>
              <a:t>th</a:t>
            </a:r>
            <a:r>
              <a:rPr dirty="0" sz="1200">
                <a:latin typeface="Arial MT"/>
                <a:cs typeface="Arial MT"/>
              </a:rPr>
              <a:t>, the first </a:t>
            </a:r>
            <a:r>
              <a:rPr dirty="0" sz="1200" spc="-5">
                <a:latin typeface="Arial MT"/>
                <a:cs typeface="Arial MT"/>
              </a:rPr>
              <a:t>thing is that </a:t>
            </a:r>
            <a:r>
              <a:rPr dirty="0" sz="1200" spc="-5" b="1">
                <a:latin typeface="Arial"/>
                <a:cs typeface="Arial"/>
              </a:rPr>
              <a:t>students </a:t>
            </a:r>
            <a:r>
              <a:rPr dirty="0" sz="1200" b="1">
                <a:latin typeface="Arial"/>
                <a:cs typeface="Arial"/>
              </a:rPr>
              <a:t>should be able to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discover</a:t>
            </a:r>
            <a:r>
              <a:rPr dirty="0" sz="1200" b="1">
                <a:latin typeface="Arial"/>
                <a:cs typeface="Arial"/>
              </a:rPr>
              <a:t> and </a:t>
            </a:r>
            <a:r>
              <a:rPr dirty="0" sz="1200" spc="-5" b="1">
                <a:latin typeface="Arial"/>
                <a:cs typeface="Arial"/>
              </a:rPr>
              <a:t>understand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different text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types.</a:t>
            </a:r>
            <a:endParaRPr sz="1200">
              <a:latin typeface="Arial"/>
              <a:cs typeface="Arial"/>
            </a:endParaRPr>
          </a:p>
          <a:p>
            <a:pPr algn="just" marL="107314" marR="92075" indent="-6350">
              <a:lnSpc>
                <a:spcPct val="144100"/>
              </a:lnSpc>
              <a:spcBef>
                <a:spcPts val="25"/>
              </a:spcBef>
            </a:pPr>
            <a:r>
              <a:rPr dirty="0" sz="1200" spc="-5" b="1">
                <a:latin typeface="Arial"/>
                <a:cs typeface="Arial"/>
              </a:rPr>
              <a:t>Multiple reading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thinking strategy </a:t>
            </a:r>
            <a:r>
              <a:rPr dirty="0" sz="1200" spc="-5">
                <a:latin typeface="Arial MT"/>
                <a:cs typeface="Arial MT"/>
              </a:rPr>
              <a:t>means that students should know to comprehend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simple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explore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multiple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text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types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but he should develop </a:t>
            </a:r>
            <a:r>
              <a:rPr dirty="0" sz="1200" spc="-10">
                <a:latin typeface="Arial MT"/>
                <a:cs typeface="Arial MT"/>
              </a:rPr>
              <a:t>some </a:t>
            </a:r>
            <a:r>
              <a:rPr dirty="0" sz="1200" spc="-5">
                <a:latin typeface="Arial MT"/>
                <a:cs typeface="Arial MT"/>
              </a:rPr>
              <a:t>reading strategies in himself. The strategies that are related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comprehension and </a:t>
            </a:r>
            <a:r>
              <a:rPr dirty="0" sz="1200" spc="-5" b="1">
                <a:latin typeface="Arial"/>
                <a:cs typeface="Arial"/>
              </a:rPr>
              <a:t>fluency</a:t>
            </a:r>
            <a:r>
              <a:rPr dirty="0" sz="1200" spc="-5">
                <a:latin typeface="Arial MT"/>
                <a:cs typeface="Arial MT"/>
              </a:rPr>
              <a:t>. There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some students </a:t>
            </a:r>
            <a:r>
              <a:rPr dirty="0" sz="1200" spc="-10">
                <a:latin typeface="Arial MT"/>
                <a:cs typeface="Arial MT"/>
              </a:rPr>
              <a:t>who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very fluent readers, but others are </a:t>
            </a:r>
            <a:r>
              <a:rPr dirty="0" sz="1200">
                <a:latin typeface="Arial MT"/>
                <a:cs typeface="Arial MT"/>
              </a:rPr>
              <a:t> not. So,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have to observe students that how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make fluency in their reading through different </a:t>
            </a:r>
            <a:r>
              <a:rPr dirty="0" sz="1200">
                <a:latin typeface="Arial MT"/>
                <a:cs typeface="Arial MT"/>
              </a:rPr>
              <a:t> ways.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 is another important thing i.e. </a:t>
            </a:r>
            <a:r>
              <a:rPr dirty="0" sz="1200" spc="-5" b="1">
                <a:latin typeface="Arial"/>
                <a:cs typeface="Arial"/>
              </a:rPr>
              <a:t>enjoyment. </a:t>
            </a:r>
            <a:r>
              <a:rPr dirty="0" sz="1200" spc="-10">
                <a:latin typeface="Arial MT"/>
                <a:cs typeface="Arial MT"/>
              </a:rPr>
              <a:t>How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enjoy the reading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thinking. The standard is not only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know reading or you can </a:t>
            </a:r>
            <a:r>
              <a:rPr dirty="0" sz="1200">
                <a:latin typeface="Arial MT"/>
                <a:cs typeface="Arial MT"/>
              </a:rPr>
              <a:t>think </a:t>
            </a:r>
            <a:r>
              <a:rPr dirty="0" sz="1200" spc="-5">
                <a:latin typeface="Arial MT"/>
                <a:cs typeface="Arial MT"/>
              </a:rPr>
              <a:t>deeply but you can read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 </a:t>
            </a:r>
            <a:r>
              <a:rPr dirty="0" sz="1200">
                <a:latin typeface="Arial MT"/>
                <a:cs typeface="Arial MT"/>
              </a:rPr>
              <a:t>level where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can put questions, comprehend </a:t>
            </a:r>
            <a:r>
              <a:rPr dirty="0" sz="1200">
                <a:latin typeface="Arial MT"/>
                <a:cs typeface="Arial MT"/>
              </a:rPr>
              <a:t>it,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fluent in reading and also enjoy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thoroughly.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1303493"/>
            <a:ext cx="6634480" cy="1039812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400" spc="-5" b="1">
                <a:latin typeface="Arial"/>
                <a:cs typeface="Arial"/>
              </a:rPr>
              <a:t>Benchmarks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for</a:t>
            </a:r>
            <a:r>
              <a:rPr dirty="0" sz="1400" spc="-5" b="1">
                <a:latin typeface="Arial"/>
                <a:cs typeface="Arial"/>
              </a:rPr>
              <a:t> grade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level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1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&amp; 2:</a:t>
            </a:r>
            <a:endParaRPr sz="1400">
              <a:latin typeface="Arial"/>
              <a:cs typeface="Arial"/>
            </a:endParaRPr>
          </a:p>
          <a:p>
            <a:pPr marL="26034" marR="8890" indent="-6350">
              <a:lnSpc>
                <a:spcPts val="2050"/>
              </a:lnSpc>
              <a:spcBef>
                <a:spcPts val="120"/>
              </a:spcBef>
            </a:pPr>
            <a:r>
              <a:rPr dirty="0" sz="1200" spc="-5" b="1">
                <a:latin typeface="Arial"/>
                <a:cs typeface="Arial"/>
              </a:rPr>
              <a:t>“Students</a:t>
            </a:r>
            <a:r>
              <a:rPr dirty="0" sz="1200" spc="2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recognize</a:t>
            </a:r>
            <a:r>
              <a:rPr dirty="0" sz="1200" spc="2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words</a:t>
            </a:r>
            <a:r>
              <a:rPr dirty="0" sz="1200" spc="229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2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sentences</a:t>
            </a:r>
            <a:r>
              <a:rPr dirty="0" sz="1200" spc="2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</a:t>
            </a:r>
            <a:r>
              <a:rPr dirty="0" sz="1200" spc="2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meaningful</a:t>
            </a:r>
            <a:r>
              <a:rPr dirty="0" sz="1200" spc="229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units</a:t>
            </a:r>
            <a:r>
              <a:rPr dirty="0" sz="1200" spc="2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2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expression</a:t>
            </a:r>
            <a:r>
              <a:rPr dirty="0" sz="1200" spc="229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paragraphs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graphical</a:t>
            </a:r>
            <a:r>
              <a:rPr dirty="0" sz="1200" b="1">
                <a:latin typeface="Arial"/>
                <a:cs typeface="Arial"/>
              </a:rPr>
              <a:t> units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expression.”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459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benchmark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difference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  <a:p>
            <a:pPr algn="just" marL="18415" marR="762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sentence and a paragraph. He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know that </a:t>
            </a:r>
            <a:r>
              <a:rPr dirty="0" sz="1200">
                <a:latin typeface="Arial MT"/>
                <a:cs typeface="Arial MT"/>
              </a:rPr>
              <a:t>if he </a:t>
            </a:r>
            <a:r>
              <a:rPr dirty="0" sz="1200" spc="-5">
                <a:latin typeface="Arial MT"/>
                <a:cs typeface="Arial MT"/>
              </a:rPr>
              <a:t>is going to </a:t>
            </a:r>
            <a:r>
              <a:rPr dirty="0" sz="1200">
                <a:latin typeface="Arial MT"/>
                <a:cs typeface="Arial MT"/>
              </a:rPr>
              <a:t>say </a:t>
            </a:r>
            <a:r>
              <a:rPr dirty="0" sz="1200" spc="-5">
                <a:latin typeface="Arial MT"/>
                <a:cs typeface="Arial MT"/>
              </a:rPr>
              <a:t>one thing, then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must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used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sentence.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say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than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15">
                <a:latin typeface="Arial MT"/>
                <a:cs typeface="Arial MT"/>
              </a:rPr>
              <a:t>he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paragraph.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 paragraph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an expression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5">
                <a:latin typeface="Arial MT"/>
                <a:cs typeface="Arial MT"/>
              </a:rPr>
              <a:t> than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 thing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 </a:t>
            </a:r>
            <a:r>
              <a:rPr dirty="0" sz="1200">
                <a:latin typeface="Arial MT"/>
                <a:cs typeface="Arial MT"/>
              </a:rPr>
              <a:t>context.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Learning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outcomes:</a:t>
            </a:r>
            <a:endParaRPr sz="14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50"/>
              </a:spcBef>
            </a:pP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5">
                <a:latin typeface="Arial MT"/>
                <a:cs typeface="Arial MT"/>
              </a:rPr>
              <a:t> able </a:t>
            </a:r>
            <a:r>
              <a:rPr dirty="0" sz="1200">
                <a:latin typeface="Arial MT"/>
                <a:cs typeface="Arial MT"/>
              </a:rPr>
              <a:t>to: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68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Predict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story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-5" b="1">
                <a:latin typeface="Arial"/>
                <a:cs typeface="Arial"/>
              </a:rPr>
              <a:t> looking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picture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(s)</a:t>
            </a:r>
            <a:r>
              <a:rPr dirty="0" sz="1200" b="1">
                <a:latin typeface="Arial"/>
                <a:cs typeface="Arial"/>
              </a:rPr>
              <a:t> in </a:t>
            </a:r>
            <a:r>
              <a:rPr dirty="0" sz="1200" spc="-5" b="1">
                <a:latin typeface="Arial"/>
                <a:cs typeface="Arial"/>
              </a:rPr>
              <a:t>texts.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Locate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specific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factual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information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answer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two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simple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sentences.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4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Guess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what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follows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story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4.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Follow</a:t>
            </a:r>
            <a:r>
              <a:rPr dirty="0" sz="1200" spc="-5" b="1">
                <a:latin typeface="Arial"/>
                <a:cs typeface="Arial"/>
              </a:rPr>
              <a:t> sequence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simple </a:t>
            </a:r>
            <a:r>
              <a:rPr dirty="0" sz="1200" b="1">
                <a:latin typeface="Arial"/>
                <a:cs typeface="Arial"/>
              </a:rPr>
              <a:t>procedure.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75"/>
              </a:spcBef>
              <a:buFont typeface="Times New Roman"/>
              <a:buAutoNum type="arabicPeriod" startAt="5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Express likes/ dislikes </a:t>
            </a:r>
            <a:r>
              <a:rPr dirty="0" sz="1200" b="1">
                <a:latin typeface="Arial"/>
                <a:cs typeface="Arial"/>
              </a:rPr>
              <a:t>about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5" b="1">
                <a:latin typeface="Arial"/>
                <a:cs typeface="Arial"/>
              </a:rPr>
              <a:t> story.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 startAt="5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Express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understanding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story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through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simple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role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play.</a:t>
            </a:r>
            <a:endParaRPr sz="1200">
              <a:latin typeface="Arial"/>
              <a:cs typeface="Arial"/>
            </a:endParaRPr>
          </a:p>
          <a:p>
            <a:pPr algn="just" marL="18415" marR="11430" indent="-6350">
              <a:lnSpc>
                <a:spcPct val="144200"/>
              </a:lnSpc>
              <a:spcBef>
                <a:spcPts val="969"/>
              </a:spcBef>
            </a:pPr>
            <a:r>
              <a:rPr dirty="0" sz="1200" spc="-5">
                <a:latin typeface="Arial MT"/>
                <a:cs typeface="Arial MT"/>
              </a:rPr>
              <a:t>(Now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have taken the </a:t>
            </a:r>
            <a:r>
              <a:rPr dirty="0" sz="1200">
                <a:latin typeface="Arial MT"/>
                <a:cs typeface="Arial MT"/>
              </a:rPr>
              <a:t>first learning </a:t>
            </a:r>
            <a:r>
              <a:rPr dirty="0" sz="1200" spc="-5">
                <a:latin typeface="Arial MT"/>
                <a:cs typeface="Arial MT"/>
              </a:rPr>
              <a:t>outcome and make possible instructional objectives. These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attained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after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lesson.)</a:t>
            </a:r>
            <a:endParaRPr sz="1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650"/>
              </a:spcBef>
            </a:pPr>
            <a:r>
              <a:rPr dirty="0" sz="1200" b="1">
                <a:latin typeface="Arial"/>
                <a:cs typeface="Arial"/>
              </a:rPr>
              <a:t>1.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Predict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story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looking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picture(s)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texts.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1400" spc="-5" b="1">
                <a:latin typeface="Arial"/>
                <a:cs typeface="Arial"/>
              </a:rPr>
              <a:t>Instructional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objectives:</a:t>
            </a:r>
            <a:endParaRPr sz="14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50"/>
              </a:spcBef>
            </a:pP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to:</a:t>
            </a:r>
            <a:endParaRPr sz="1200">
              <a:latin typeface="Arial MT"/>
              <a:cs typeface="Arial MT"/>
            </a:endParaRPr>
          </a:p>
          <a:p>
            <a:pPr marL="469900" marR="8255" indent="-228600">
              <a:lnSpc>
                <a:spcPct val="142500"/>
              </a:lnSpc>
              <a:spcBef>
                <a:spcPts val="7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Describe </a:t>
            </a:r>
            <a:r>
              <a:rPr dirty="0" sz="1200" b="1">
                <a:latin typeface="Arial"/>
                <a:cs typeface="Arial"/>
              </a:rPr>
              <a:t>first four </a:t>
            </a:r>
            <a:r>
              <a:rPr dirty="0" sz="1200" spc="-5" b="1">
                <a:latin typeface="Arial"/>
                <a:cs typeface="Arial"/>
              </a:rPr>
              <a:t>pictures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Goldilock story </a:t>
            </a:r>
            <a:r>
              <a:rPr dirty="0" sz="1200" b="1">
                <a:latin typeface="Arial"/>
                <a:cs typeface="Arial"/>
              </a:rPr>
              <a:t>with </a:t>
            </a:r>
            <a:r>
              <a:rPr dirty="0" sz="1200" spc="-5" b="1">
                <a:latin typeface="Arial"/>
                <a:cs typeface="Arial"/>
              </a:rPr>
              <a:t>almost 70% accuracy </a:t>
            </a:r>
            <a:r>
              <a:rPr dirty="0" sz="1200" b="1">
                <a:latin typeface="Arial"/>
                <a:cs typeface="Arial"/>
              </a:rPr>
              <a:t>by using the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picture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cues.</a:t>
            </a:r>
            <a:endParaRPr sz="1200">
              <a:latin typeface="Arial"/>
              <a:cs typeface="Arial"/>
            </a:endParaRPr>
          </a:p>
          <a:p>
            <a:pPr marL="469900" marR="5080" indent="-228600">
              <a:lnSpc>
                <a:spcPct val="143300"/>
              </a:lnSpc>
              <a:spcBef>
                <a:spcPts val="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Read</a:t>
            </a:r>
            <a:r>
              <a:rPr dirty="0" sz="1200" spc="1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1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sentences</a:t>
            </a:r>
            <a:r>
              <a:rPr dirty="0" sz="1200" spc="1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aloud</a:t>
            </a:r>
            <a:r>
              <a:rPr dirty="0" sz="1200" spc="1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with</a:t>
            </a:r>
            <a:r>
              <a:rPr dirty="0" sz="1200" spc="1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correct</a:t>
            </a:r>
            <a:r>
              <a:rPr dirty="0" sz="1200" spc="1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pronunciation</a:t>
            </a:r>
            <a:r>
              <a:rPr dirty="0" sz="1200" spc="1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1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1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words,</a:t>
            </a:r>
            <a:r>
              <a:rPr dirty="0" sz="1200" spc="1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with</a:t>
            </a:r>
            <a:r>
              <a:rPr dirty="0" sz="1200" spc="2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teacher’s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assistance.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"/>
              <a:cs typeface="Arial"/>
            </a:endParaRPr>
          </a:p>
          <a:p>
            <a:pPr algn="just" marL="18415" marR="11430" indent="-6350">
              <a:lnSpc>
                <a:spcPct val="144200"/>
              </a:lnSpc>
              <a:spcBef>
                <a:spcPts val="930"/>
              </a:spcBef>
            </a:pP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next </a:t>
            </a:r>
            <a:r>
              <a:rPr dirty="0" sz="1200" spc="-5">
                <a:latin typeface="Arial MT"/>
                <a:cs typeface="Arial MT"/>
              </a:rPr>
              <a:t>day when teacher continues with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same lesson, his instructional objectives would </a:t>
            </a:r>
            <a:r>
              <a:rPr dirty="0" sz="1200" spc="-10">
                <a:latin typeface="Arial MT"/>
                <a:cs typeface="Arial MT"/>
              </a:rPr>
              <a:t>be: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to:</a:t>
            </a:r>
            <a:endParaRPr sz="1200">
              <a:latin typeface="Arial MT"/>
              <a:cs typeface="Arial MT"/>
            </a:endParaRPr>
          </a:p>
          <a:p>
            <a:pPr marL="469900" marR="10160" indent="-228600">
              <a:lnSpc>
                <a:spcPct val="144400"/>
              </a:lnSpc>
              <a:spcBef>
                <a:spcPts val="17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Answer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simple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like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was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Goldilock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good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girl?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Whatever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she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did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was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good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thing?</a:t>
            </a:r>
            <a:endParaRPr sz="1200">
              <a:latin typeface="Arial"/>
              <a:cs typeface="Arial"/>
            </a:endParaRPr>
          </a:p>
          <a:p>
            <a:pPr algn="just" marL="18415" marR="6350" indent="-6350">
              <a:lnSpc>
                <a:spcPct val="144200"/>
              </a:lnSpc>
              <a:spcBef>
                <a:spcPts val="960"/>
              </a:spcBef>
            </a:pPr>
            <a:r>
              <a:rPr dirty="0" sz="1200" spc="-5">
                <a:latin typeface="Arial MT"/>
                <a:cs typeface="Arial MT"/>
              </a:rPr>
              <a:t>When teacher will </a:t>
            </a:r>
            <a:r>
              <a:rPr dirty="0" sz="1200">
                <a:latin typeface="Arial MT"/>
                <a:cs typeface="Arial MT"/>
              </a:rPr>
              <a:t>ask such </a:t>
            </a:r>
            <a:r>
              <a:rPr dirty="0" sz="1200" spc="-5">
                <a:latin typeface="Arial MT"/>
                <a:cs typeface="Arial MT"/>
              </a:rPr>
              <a:t>questions in the </a:t>
            </a:r>
            <a:r>
              <a:rPr dirty="0" sz="1200" spc="-10">
                <a:latin typeface="Arial MT"/>
                <a:cs typeface="Arial MT"/>
              </a:rPr>
              <a:t>class, </a:t>
            </a:r>
            <a:r>
              <a:rPr dirty="0" sz="1200" spc="-5">
                <a:latin typeface="Arial MT"/>
                <a:cs typeface="Arial MT"/>
              </a:rPr>
              <a:t>then definitely the students’ analysis skill will </a:t>
            </a:r>
            <a:r>
              <a:rPr dirty="0" sz="1200">
                <a:latin typeface="Arial MT"/>
                <a:cs typeface="Arial MT"/>
              </a:rPr>
              <a:t>be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refined.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above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elements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endParaRPr sz="12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 MT"/>
                <a:cs typeface="Arial MT"/>
              </a:rPr>
              <a:t>i.e. </a:t>
            </a:r>
            <a:r>
              <a:rPr dirty="0" sz="1200" spc="-5">
                <a:latin typeface="Arial MT"/>
                <a:cs typeface="Arial MT"/>
              </a:rPr>
              <a:t>performance,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condition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criterion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measure.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Summary:</a:t>
            </a:r>
            <a:endParaRPr sz="1400">
              <a:latin typeface="Arial"/>
              <a:cs typeface="Arial"/>
            </a:endParaRPr>
          </a:p>
          <a:p>
            <a:pPr algn="just" marL="18415" marR="8890" indent="-6350">
              <a:lnSpc>
                <a:spcPts val="2080"/>
              </a:lnSpc>
            </a:pPr>
            <a:r>
              <a:rPr dirty="0" sz="1200" spc="-5">
                <a:latin typeface="Arial MT"/>
                <a:cs typeface="Arial MT"/>
              </a:rPr>
              <a:t>Planning is a nested process. So,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talk about grade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1 to grade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12, these are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twelve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stairs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link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maintained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between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Otherwise,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1576" y="575563"/>
            <a:ext cx="6626859" cy="4770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441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maintain this link, then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ultimate would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teachers and students would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confused. And </a:t>
            </a:r>
            <a:r>
              <a:rPr dirty="0" sz="1200">
                <a:latin typeface="Arial MT"/>
                <a:cs typeface="Arial MT"/>
              </a:rPr>
              <a:t> after </a:t>
            </a:r>
            <a:r>
              <a:rPr dirty="0" sz="1200" spc="-5">
                <a:latin typeface="Arial MT"/>
                <a:cs typeface="Arial MT"/>
              </a:rPr>
              <a:t>doing graduation even, our children will not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read, </a:t>
            </a:r>
            <a:r>
              <a:rPr dirty="0" sz="1200">
                <a:latin typeface="Arial MT"/>
                <a:cs typeface="Arial MT"/>
              </a:rPr>
              <a:t>think </a:t>
            </a:r>
            <a:r>
              <a:rPr dirty="0" sz="1200" spc="-5">
                <a:latin typeface="Arial MT"/>
                <a:cs typeface="Arial MT"/>
              </a:rPr>
              <a:t>or write accurately.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teachers’ responsibility </a:t>
            </a:r>
            <a:r>
              <a:rPr dirty="0" sz="1200">
                <a:latin typeface="Arial MT"/>
                <a:cs typeface="Arial MT"/>
              </a:rPr>
              <a:t>starts from the </a:t>
            </a:r>
            <a:r>
              <a:rPr dirty="0" sz="1200" spc="-5">
                <a:latin typeface="Arial MT"/>
                <a:cs typeface="Arial MT"/>
              </a:rPr>
              <a:t>benchmarks.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are a mathematics teacher,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document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mathematics.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outcomes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given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outcomes,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outcomes,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identify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possible lesson plans. When objectives are identified, then you </a:t>
            </a:r>
            <a:r>
              <a:rPr dirty="0" sz="1200">
                <a:latin typeface="Arial MT"/>
                <a:cs typeface="Arial MT"/>
              </a:rPr>
              <a:t>start </a:t>
            </a:r>
            <a:r>
              <a:rPr dirty="0" sz="1200" spc="-5">
                <a:latin typeface="Arial MT"/>
                <a:cs typeface="Arial MT"/>
              </a:rPr>
              <a:t>horizontal planning. In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horizontal planning,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decide which activities will be organized </a:t>
            </a:r>
            <a:r>
              <a:rPr dirty="0" sz="1200">
                <a:latin typeface="Arial MT"/>
                <a:cs typeface="Arial MT"/>
              </a:rPr>
              <a:t>for the </a:t>
            </a:r>
            <a:r>
              <a:rPr dirty="0" sz="1200" spc="-5">
                <a:latin typeface="Arial MT"/>
                <a:cs typeface="Arial MT"/>
              </a:rPr>
              <a:t>students? What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 methods will be used? What resources should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used? You have to identify the focusing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events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i.e.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attentive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you?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teaching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 </a:t>
            </a:r>
            <a:r>
              <a:rPr dirty="0" sz="1200">
                <a:latin typeface="Arial MT"/>
                <a:cs typeface="Arial MT"/>
              </a:rPr>
              <a:t>step </a:t>
            </a:r>
            <a:r>
              <a:rPr dirty="0" sz="1200" spc="-5">
                <a:latin typeface="Arial MT"/>
                <a:cs typeface="Arial MT"/>
              </a:rPr>
              <a:t>by step.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do not write all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above mentioned things in your </a:t>
            </a:r>
            <a:r>
              <a:rPr dirty="0" sz="1200">
                <a:latin typeface="Arial MT"/>
                <a:cs typeface="Arial MT"/>
              </a:rPr>
              <a:t> lesson </a:t>
            </a:r>
            <a:r>
              <a:rPr dirty="0" sz="1200" spc="-5">
                <a:latin typeface="Arial MT"/>
                <a:cs typeface="Arial MT"/>
              </a:rPr>
              <a:t>plan, then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not a detailed </a:t>
            </a:r>
            <a:r>
              <a:rPr dirty="0" sz="1200">
                <a:latin typeface="Arial MT"/>
                <a:cs typeface="Arial MT"/>
              </a:rPr>
              <a:t>lesson </a:t>
            </a:r>
            <a:r>
              <a:rPr dirty="0" sz="1200" spc="-5">
                <a:latin typeface="Arial MT"/>
                <a:cs typeface="Arial MT"/>
              </a:rPr>
              <a:t>plan.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next </a:t>
            </a:r>
            <a:r>
              <a:rPr dirty="0" sz="1200" spc="-5">
                <a:latin typeface="Arial MT"/>
                <a:cs typeface="Arial MT"/>
              </a:rPr>
              <a:t>thing in horizontal planning is that how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you assess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class? </a:t>
            </a:r>
            <a:r>
              <a:rPr dirty="0" sz="1200">
                <a:latin typeface="Arial MT"/>
                <a:cs typeface="Arial MT"/>
              </a:rPr>
              <a:t>So, my </a:t>
            </a:r>
            <a:r>
              <a:rPr dirty="0" sz="1200" spc="-5">
                <a:latin typeface="Arial MT"/>
                <a:cs typeface="Arial MT"/>
              </a:rPr>
              <a:t>planning is actually interlinked, starting from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 and going to resources. We also try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know the planning framework and especially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teacher in it. Planning has two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important dimensions: one is holistic dimension and 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other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detailed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implementation.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said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operationalizes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document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preplanned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life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document. Teachers give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life </a:t>
            </a:r>
            <a:r>
              <a:rPr dirty="0" sz="1200">
                <a:latin typeface="Arial MT"/>
                <a:cs typeface="Arial MT"/>
              </a:rPr>
              <a:t>when they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planning and then implementing them in the </a:t>
            </a:r>
            <a:r>
              <a:rPr dirty="0" sz="1200">
                <a:latin typeface="Arial MT"/>
                <a:cs typeface="Arial MT"/>
              </a:rPr>
              <a:t>class.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teachers’ role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 have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maintain 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standards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curriculum.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5691251"/>
            <a:ext cx="6972300" cy="314325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14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“Factors</a:t>
            </a:r>
            <a:r>
              <a:rPr dirty="0" sz="18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Influencing</a:t>
            </a:r>
            <a:r>
              <a:rPr dirty="0" sz="18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Planning”</a:t>
            </a:r>
            <a:r>
              <a:rPr dirty="0" sz="18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8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objective: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6080886"/>
            <a:ext cx="5318125" cy="185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lesson, 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have: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88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Identified factors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affecting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70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factors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 Students,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67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guides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71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Identified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procedures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like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identifying:</a:t>
            </a:r>
            <a:endParaRPr sz="1200">
              <a:latin typeface="Arial MT"/>
              <a:cs typeface="Arial MT"/>
            </a:endParaRPr>
          </a:p>
          <a:p>
            <a:pPr lvl="1" marL="706120" indent="-229235">
              <a:lnSpc>
                <a:spcPct val="100000"/>
              </a:lnSpc>
              <a:spcBef>
                <a:spcPts val="59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>
                <a:latin typeface="Arial MT"/>
                <a:cs typeface="Arial MT"/>
              </a:rPr>
              <a:t>Pupil’s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entry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endParaRPr sz="1200">
              <a:latin typeface="Arial MT"/>
              <a:cs typeface="Arial MT"/>
            </a:endParaRPr>
          </a:p>
          <a:p>
            <a:pPr lvl="1" marL="70612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>
                <a:latin typeface="Arial MT"/>
                <a:cs typeface="Arial MT"/>
              </a:rPr>
              <a:t>Planning learning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8296638"/>
            <a:ext cx="3056890" cy="3420110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400" spc="-5" b="1">
                <a:latin typeface="Arial"/>
                <a:cs typeface="Arial"/>
              </a:rPr>
              <a:t>Outline: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Factors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affecting planning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0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Students’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considerations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Time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considerations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School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considerations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Teachers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considerations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Resource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consideration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Motivation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consideration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2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Textbooks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curriculum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guide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Characteristics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good</a:t>
            </a:r>
            <a:r>
              <a:rPr dirty="0" sz="1200" spc="-5" b="1">
                <a:latin typeface="Arial"/>
                <a:cs typeface="Arial"/>
              </a:rPr>
              <a:t> textbooks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Pre-planning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Deciding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content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384" y="578611"/>
            <a:ext cx="2083435" cy="54673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Identifying entry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Identification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1702663"/>
            <a:ext cx="6633845" cy="9999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2900045" indent="-6350">
              <a:lnSpc>
                <a:spcPct val="1421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‘Factors which influence planning’ Planning </a:t>
            </a:r>
            <a:r>
              <a:rPr dirty="0" sz="1400" spc="-37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equation:</a:t>
            </a:r>
            <a:endParaRPr sz="14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725"/>
              </a:spcBef>
            </a:pPr>
            <a:r>
              <a:rPr dirty="0" sz="1200" spc="-5">
                <a:latin typeface="Arial MT"/>
                <a:cs typeface="Arial MT"/>
              </a:rPr>
              <a:t>Less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leads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less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(Walsh,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1992)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=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Content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+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50">
              <a:latin typeface="Arial"/>
              <a:cs typeface="Arial"/>
            </a:endParaRPr>
          </a:p>
          <a:p>
            <a:pPr algn="just" marL="18415" marR="5080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simple equation directly influences learning.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ignore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equation then ultimately, we 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way where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is no learning. When a teacher is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a topic for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first </a:t>
            </a:r>
            <a:r>
              <a:rPr dirty="0" sz="1200">
                <a:latin typeface="Arial MT"/>
                <a:cs typeface="Arial MT"/>
              </a:rPr>
              <a:t> time,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detailed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thorough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plan.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third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doesn’t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again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again.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assumption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 don’t need planning, these all </a:t>
            </a:r>
            <a:r>
              <a:rPr dirty="0" sz="1200">
                <a:latin typeface="Arial MT"/>
                <a:cs typeface="Arial MT"/>
              </a:rPr>
              <a:t>are a </a:t>
            </a:r>
            <a:r>
              <a:rPr dirty="0" sz="1200" spc="-5">
                <a:latin typeface="Arial MT"/>
                <a:cs typeface="Arial MT"/>
              </a:rPr>
              <a:t>theoretical point </a:t>
            </a:r>
            <a:r>
              <a:rPr dirty="0" sz="1200">
                <a:latin typeface="Arial MT"/>
                <a:cs typeface="Arial MT"/>
              </a:rPr>
              <a:t>of views and </a:t>
            </a:r>
            <a:r>
              <a:rPr dirty="0" sz="1200" spc="5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is no practical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importance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fact,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assumption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wrong.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teacher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experienced,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still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planning. The difference is </a:t>
            </a:r>
            <a:r>
              <a:rPr dirty="0" sz="1200">
                <a:latin typeface="Arial MT"/>
                <a:cs typeface="Arial MT"/>
              </a:rPr>
              <a:t>when </a:t>
            </a:r>
            <a:r>
              <a:rPr dirty="0" sz="1200" spc="-5">
                <a:latin typeface="Arial MT"/>
                <a:cs typeface="Arial MT"/>
              </a:rPr>
              <a:t>you are a new teacher; you </a:t>
            </a:r>
            <a:r>
              <a:rPr dirty="0" sz="1200" spc="-10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make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detailed </a:t>
            </a:r>
            <a:r>
              <a:rPr dirty="0" sz="1200">
                <a:latin typeface="Arial MT"/>
                <a:cs typeface="Arial MT"/>
              </a:rPr>
              <a:t>plans.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 you become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experienced </a:t>
            </a:r>
            <a:r>
              <a:rPr dirty="0" sz="1200">
                <a:latin typeface="Arial MT"/>
                <a:cs typeface="Arial MT"/>
              </a:rPr>
              <a:t>teacher, </a:t>
            </a:r>
            <a:r>
              <a:rPr dirty="0" sz="1200" spc="-5">
                <a:latin typeface="Arial MT"/>
                <a:cs typeface="Arial MT"/>
              </a:rPr>
              <a:t>then actually </a:t>
            </a:r>
            <a:r>
              <a:rPr dirty="0" sz="120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don’t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make detailed lesson </a:t>
            </a:r>
            <a:r>
              <a:rPr dirty="0" sz="1200">
                <a:latin typeface="Arial MT"/>
                <a:cs typeface="Arial MT"/>
              </a:rPr>
              <a:t> plans,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 </a:t>
            </a:r>
            <a:r>
              <a:rPr dirty="0" sz="1200">
                <a:latin typeface="Arial MT"/>
                <a:cs typeface="Arial MT"/>
              </a:rPr>
              <a:t>your </a:t>
            </a:r>
            <a:r>
              <a:rPr dirty="0" sz="1200" spc="-5">
                <a:latin typeface="Arial MT"/>
                <a:cs typeface="Arial MT"/>
              </a:rPr>
              <a:t>lessons.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Arial MT"/>
              <a:cs typeface="Arial MT"/>
            </a:endParaRPr>
          </a:p>
          <a:p>
            <a:pPr marL="26034" marR="128905" indent="-6350">
              <a:lnSpc>
                <a:spcPct val="141700"/>
              </a:lnSpc>
            </a:pPr>
            <a:r>
              <a:rPr dirty="0" sz="1200" spc="-5" b="1">
                <a:latin typeface="Arial"/>
                <a:cs typeface="Arial"/>
              </a:rPr>
              <a:t>What are the considerations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the teachers </a:t>
            </a:r>
            <a:r>
              <a:rPr dirty="0" sz="1200" b="1">
                <a:latin typeface="Arial"/>
                <a:cs typeface="Arial"/>
              </a:rPr>
              <a:t>when </a:t>
            </a:r>
            <a:r>
              <a:rPr dirty="0" sz="1200" spc="-5" b="1">
                <a:latin typeface="Arial"/>
                <a:cs typeface="Arial"/>
              </a:rPr>
              <a:t>they </a:t>
            </a:r>
            <a:r>
              <a:rPr dirty="0" sz="1200" spc="-10" b="1">
                <a:latin typeface="Arial"/>
                <a:cs typeface="Arial"/>
              </a:rPr>
              <a:t>are </a:t>
            </a:r>
            <a:r>
              <a:rPr dirty="0" sz="1200" spc="-5" b="1">
                <a:latin typeface="Arial"/>
                <a:cs typeface="Arial"/>
              </a:rPr>
              <a:t>planning for </a:t>
            </a:r>
            <a:r>
              <a:rPr dirty="0" sz="1200" b="1">
                <a:latin typeface="Arial"/>
                <a:cs typeface="Arial"/>
              </a:rPr>
              <a:t>instruction? (</a:t>
            </a:r>
            <a:r>
              <a:rPr dirty="0" sz="1200">
                <a:latin typeface="Arial MT"/>
                <a:cs typeface="Arial MT"/>
              </a:rPr>
              <a:t>Here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brief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summary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interviews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teachers</a:t>
            </a:r>
            <a:r>
              <a:rPr dirty="0" sz="1200" b="1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Interview: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 (Slomiat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-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Teacher):</a:t>
            </a:r>
            <a:endParaRPr sz="1200">
              <a:latin typeface="Arial"/>
              <a:cs typeface="Arial"/>
            </a:endParaRPr>
          </a:p>
          <a:p>
            <a:pPr algn="just" marL="18415" marR="8255" indent="-6350">
              <a:lnSpc>
                <a:spcPts val="2080"/>
              </a:lnSpc>
              <a:spcBef>
                <a:spcPts val="140"/>
              </a:spcBef>
            </a:pP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am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prior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know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how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alphabets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‘A’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‘B’,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>
                <a:latin typeface="Arial MT"/>
                <a:cs typeface="Arial MT"/>
              </a:rPr>
              <a:t> I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focus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alphabets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‘C’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‘D’.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check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foundation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first,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lesson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prior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foundations.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40"/>
              </a:spcBef>
            </a:pPr>
            <a:r>
              <a:rPr dirty="0" sz="1200" b="1">
                <a:latin typeface="Arial"/>
                <a:cs typeface="Arial"/>
              </a:rPr>
              <a:t>Interview: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2 (Sehreen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Rashid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-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Teacher)</a:t>
            </a:r>
            <a:endParaRPr sz="1200">
              <a:latin typeface="Arial"/>
              <a:cs typeface="Arial"/>
            </a:endParaRPr>
          </a:p>
          <a:p>
            <a:pPr algn="just" marL="18415" marR="10160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When we are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teach, we will plan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entire things </a:t>
            </a:r>
            <a:r>
              <a:rPr dirty="0" sz="1200">
                <a:latin typeface="Arial MT"/>
                <a:cs typeface="Arial MT"/>
              </a:rPr>
              <a:t>first i.e. </a:t>
            </a:r>
            <a:r>
              <a:rPr dirty="0" sz="1200" spc="-5">
                <a:latin typeface="Arial MT"/>
                <a:cs typeface="Arial MT"/>
              </a:rPr>
              <a:t>learning environment, strength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weaknesses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allocated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time,</a:t>
            </a:r>
            <a:r>
              <a:rPr dirty="0" sz="1200">
                <a:latin typeface="Arial MT"/>
                <a:cs typeface="Arial MT"/>
              </a:rPr>
              <a:t> learning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etc.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plan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these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factors. </a:t>
            </a:r>
            <a:r>
              <a:rPr dirty="0" sz="1200">
                <a:latin typeface="Arial MT"/>
                <a:cs typeface="Arial MT"/>
              </a:rPr>
              <a:t>Our</a:t>
            </a:r>
            <a:r>
              <a:rPr dirty="0" sz="1200" spc="-5">
                <a:latin typeface="Arial MT"/>
                <a:cs typeface="Arial MT"/>
              </a:rPr>
              <a:t> plan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actually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process.</a:t>
            </a:r>
            <a:endParaRPr sz="1200">
              <a:latin typeface="Arial MT"/>
              <a:cs typeface="Arial MT"/>
            </a:endParaRPr>
          </a:p>
          <a:p>
            <a:pPr algn="just" marL="18415" marR="5715" indent="-6350">
              <a:lnSpc>
                <a:spcPts val="208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Whenever we </a:t>
            </a:r>
            <a:r>
              <a:rPr dirty="0" sz="1200">
                <a:latin typeface="Arial MT"/>
                <a:cs typeface="Arial MT"/>
              </a:rPr>
              <a:t>talk </a:t>
            </a:r>
            <a:r>
              <a:rPr dirty="0" sz="1200" spc="-5">
                <a:latin typeface="Arial MT"/>
                <a:cs typeface="Arial MT"/>
              </a:rPr>
              <a:t>about considerations, we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consider them in isolation. One consideration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affecting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other.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link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 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 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>
                <a:latin typeface="Arial MT"/>
                <a:cs typeface="Arial MT"/>
              </a:rPr>
              <a:t>isolated</a:t>
            </a:r>
            <a:r>
              <a:rPr dirty="0" sz="1200" spc="-5">
                <a:latin typeface="Arial MT"/>
                <a:cs typeface="Arial MT"/>
              </a:rPr>
              <a:t> considerations.</a:t>
            </a:r>
            <a:endParaRPr sz="12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480"/>
              </a:spcBef>
            </a:pP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 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factors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influence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Arial MT"/>
              <a:cs typeface="Arial MT"/>
            </a:endParaRPr>
          </a:p>
          <a:p>
            <a:pPr marL="58419">
              <a:lnSpc>
                <a:spcPct val="100000"/>
              </a:lnSpc>
              <a:tabLst>
                <a:tab pos="287020" algn="l"/>
              </a:tabLst>
            </a:pPr>
            <a:r>
              <a:rPr dirty="0" sz="1200">
                <a:latin typeface="Times New Roman"/>
                <a:cs typeface="Times New Roman"/>
              </a:rPr>
              <a:t>-	</a:t>
            </a:r>
            <a:r>
              <a:rPr dirty="0" sz="1200" spc="-5" b="1">
                <a:latin typeface="Arial"/>
                <a:cs typeface="Arial"/>
              </a:rPr>
              <a:t>Students’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consideration: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994"/>
              </a:spcBef>
            </a:pPr>
            <a:r>
              <a:rPr dirty="0" sz="1200" spc="-5">
                <a:latin typeface="Arial MT"/>
                <a:cs typeface="Arial MT"/>
              </a:rPr>
              <a:t>Being a teacher, you need to know your students. You </a:t>
            </a:r>
            <a:r>
              <a:rPr dirty="0" sz="1200" spc="-10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know </a:t>
            </a:r>
            <a:r>
              <a:rPr dirty="0" sz="1200">
                <a:latin typeface="Arial MT"/>
                <a:cs typeface="Arial MT"/>
              </a:rPr>
              <a:t>their level of </a:t>
            </a:r>
            <a:r>
              <a:rPr dirty="0" sz="1200" spc="-5">
                <a:latin typeface="Arial MT"/>
                <a:cs typeface="Arial MT"/>
              </a:rPr>
              <a:t>motivation. </a:t>
            </a:r>
            <a:r>
              <a:rPr dirty="0" sz="1200">
                <a:latin typeface="Arial MT"/>
                <a:cs typeface="Arial MT"/>
              </a:rPr>
              <a:t>Does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 work as a group or not? These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all considerations that are important on behalf of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times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see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talk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about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considerations,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4480" cy="5598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10795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mostly </a:t>
            </a:r>
            <a:r>
              <a:rPr dirty="0" sz="1200" spc="-5">
                <a:latin typeface="Arial MT"/>
                <a:cs typeface="Arial MT"/>
              </a:rPr>
              <a:t>focus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learning </a:t>
            </a:r>
            <a:r>
              <a:rPr dirty="0" sz="1200">
                <a:latin typeface="Arial MT"/>
                <a:cs typeface="Arial MT"/>
              </a:rPr>
              <a:t>styles of </a:t>
            </a:r>
            <a:r>
              <a:rPr dirty="0" sz="1200" spc="-5">
                <a:latin typeface="Arial MT"/>
                <a:cs typeface="Arial MT"/>
              </a:rPr>
              <a:t>the students. Secondly, they focus on the prior knowledge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students. Teachers do not think more than these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factors but still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are different </a:t>
            </a:r>
            <a:r>
              <a:rPr dirty="0" sz="1200">
                <a:latin typeface="Arial MT"/>
                <a:cs typeface="Arial MT"/>
              </a:rPr>
              <a:t>factors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taken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consideration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 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 MT"/>
              <a:cs typeface="Arial MT"/>
            </a:endParaRPr>
          </a:p>
          <a:p>
            <a:pPr algn="just" marL="287020" indent="-229235">
              <a:lnSpc>
                <a:spcPct val="100000"/>
              </a:lnSpc>
              <a:buFont typeface="Times New Roman"/>
              <a:buChar char="-"/>
              <a:tabLst>
                <a:tab pos="287655" algn="l"/>
              </a:tabLst>
            </a:pPr>
            <a:r>
              <a:rPr dirty="0" sz="1200" spc="-5" b="1">
                <a:latin typeface="Arial"/>
                <a:cs typeface="Arial"/>
              </a:rPr>
              <a:t>Motivation:</a:t>
            </a:r>
            <a:endParaRPr sz="1200">
              <a:latin typeface="Arial"/>
              <a:cs typeface="Arial"/>
            </a:endParaRPr>
          </a:p>
          <a:p>
            <a:pPr algn="just" marL="18415" marR="6350" indent="36195">
              <a:lnSpc>
                <a:spcPct val="144000"/>
              </a:lnSpc>
              <a:spcBef>
                <a:spcPts val="1000"/>
              </a:spcBef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entry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 When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are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a class with lesson planning, you are not only to </a:t>
            </a:r>
            <a:r>
              <a:rPr dirty="0" sz="1200" spc="5">
                <a:latin typeface="Arial MT"/>
                <a:cs typeface="Arial MT"/>
              </a:rPr>
              <a:t>cover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content. You 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them some processes and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plan </a:t>
            </a:r>
            <a:r>
              <a:rPr dirty="0" sz="1200" spc="-10">
                <a:latin typeface="Arial MT"/>
                <a:cs typeface="Arial MT"/>
              </a:rPr>
              <a:t>some </a:t>
            </a:r>
            <a:r>
              <a:rPr dirty="0" sz="1200" spc="-5">
                <a:latin typeface="Arial MT"/>
                <a:cs typeface="Arial MT"/>
              </a:rPr>
              <a:t>activities as well.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do not know the motivational </a:t>
            </a:r>
            <a:r>
              <a:rPr dirty="0" sz="1200">
                <a:latin typeface="Arial MT"/>
                <a:cs typeface="Arial MT"/>
              </a:rPr>
              <a:t>level of </a:t>
            </a:r>
            <a:r>
              <a:rPr dirty="0" sz="1200" spc="-5">
                <a:latin typeface="Arial MT"/>
                <a:cs typeface="Arial MT"/>
              </a:rPr>
              <a:t>the students </a:t>
            </a:r>
            <a:r>
              <a:rPr dirty="0" sz="1200" spc="-1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you will not be 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know plan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appropriate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r>
              <a:rPr dirty="0" sz="1200">
                <a:latin typeface="Arial MT"/>
                <a:cs typeface="Arial MT"/>
              </a:rPr>
              <a:t> for </a:t>
            </a:r>
            <a:r>
              <a:rPr dirty="0" sz="1200" spc="-5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 MT"/>
              <a:cs typeface="Arial MT"/>
            </a:endParaRPr>
          </a:p>
          <a:p>
            <a:pPr marL="287020" indent="-229235">
              <a:lnSpc>
                <a:spcPct val="100000"/>
              </a:lnSpc>
              <a:spcBef>
                <a:spcPts val="5"/>
              </a:spcBef>
              <a:buFont typeface="Times New Roman"/>
              <a:buChar char="-"/>
              <a:tabLst>
                <a:tab pos="287020" algn="l"/>
                <a:tab pos="287655" algn="l"/>
              </a:tabLst>
            </a:pPr>
            <a:r>
              <a:rPr dirty="0" sz="1200" spc="-5" b="1">
                <a:latin typeface="Arial"/>
                <a:cs typeface="Arial"/>
              </a:rPr>
              <a:t>Content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considerations: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994"/>
              </a:spcBef>
            </a:pP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yearly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planning,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framework.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Ministry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planned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document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standards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till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grade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12,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teach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grade </a:t>
            </a:r>
            <a:r>
              <a:rPr dirty="0" sz="1200">
                <a:latin typeface="Arial MT"/>
                <a:cs typeface="Arial MT"/>
              </a:rPr>
              <a:t>5,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refer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curriculum document and decide what content you are going to teach 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the students. Similarly, you 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see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overall yearly plan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unit planning and </a:t>
            </a:r>
            <a:r>
              <a:rPr dirty="0" sz="1200">
                <a:latin typeface="Arial MT"/>
                <a:cs typeface="Arial MT"/>
              </a:rPr>
              <a:t>lesson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planning. It is also important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know about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processes. </a:t>
            </a:r>
            <a:r>
              <a:rPr dirty="0" sz="1200">
                <a:latin typeface="Arial MT"/>
                <a:cs typeface="Arial MT"/>
              </a:rPr>
              <a:t>If I </a:t>
            </a:r>
            <a:r>
              <a:rPr dirty="0" sz="1200" spc="-10">
                <a:latin typeface="Arial MT"/>
                <a:cs typeface="Arial MT"/>
              </a:rPr>
              <a:t>am </a:t>
            </a:r>
            <a:r>
              <a:rPr dirty="0" sz="1200" spc="-5">
                <a:latin typeface="Arial MT"/>
                <a:cs typeface="Arial MT"/>
              </a:rPr>
              <a:t>going to teach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students 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addition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mathematics, then </a:t>
            </a:r>
            <a:r>
              <a:rPr dirty="0" sz="1200">
                <a:latin typeface="Arial MT"/>
                <a:cs typeface="Arial MT"/>
              </a:rPr>
              <a:t>I must </a:t>
            </a:r>
            <a:r>
              <a:rPr dirty="0" sz="1200" spc="-5">
                <a:latin typeface="Arial MT"/>
                <a:cs typeface="Arial MT"/>
              </a:rPr>
              <a:t>see what thinking processes are involved in </a:t>
            </a:r>
            <a:r>
              <a:rPr dirty="0" sz="1200">
                <a:latin typeface="Arial MT"/>
                <a:cs typeface="Arial MT"/>
              </a:rPr>
              <a:t>it. </a:t>
            </a:r>
            <a:r>
              <a:rPr dirty="0" sz="1200" spc="-5">
                <a:latin typeface="Arial MT"/>
                <a:cs typeface="Arial MT"/>
              </a:rPr>
              <a:t>E.g. </a:t>
            </a:r>
            <a:r>
              <a:rPr dirty="0" sz="1200">
                <a:latin typeface="Arial MT"/>
                <a:cs typeface="Arial MT"/>
              </a:rPr>
              <a:t>if I </a:t>
            </a:r>
            <a:r>
              <a:rPr dirty="0" sz="1200" spc="-5">
                <a:latin typeface="Arial MT"/>
                <a:cs typeface="Arial MT"/>
              </a:rPr>
              <a:t>am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essay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essay.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6704457"/>
            <a:ext cx="6634480" cy="4849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29235">
              <a:lnSpc>
                <a:spcPct val="100000"/>
              </a:lnSpc>
              <a:spcBef>
                <a:spcPts val="100"/>
              </a:spcBef>
              <a:buFont typeface="Times New Roman"/>
              <a:buChar char="-"/>
              <a:tabLst>
                <a:tab pos="287020" algn="l"/>
                <a:tab pos="287655" algn="l"/>
              </a:tabLst>
            </a:pPr>
            <a:r>
              <a:rPr dirty="0" sz="1200" spc="-5" b="1">
                <a:latin typeface="Arial"/>
                <a:cs typeface="Arial"/>
              </a:rPr>
              <a:t>Time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considerations:</a:t>
            </a:r>
            <a:endParaRPr sz="1200">
              <a:latin typeface="Arial"/>
              <a:cs typeface="Arial"/>
            </a:endParaRPr>
          </a:p>
          <a:p>
            <a:pPr algn="just" marL="18415" marR="11430" indent="-6350">
              <a:lnSpc>
                <a:spcPct val="144200"/>
              </a:lnSpc>
              <a:spcBef>
                <a:spcPts val="980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limited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40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45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minutes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period.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such 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necessary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content, </a:t>
            </a:r>
            <a:r>
              <a:rPr dirty="0" sz="1200">
                <a:latin typeface="Arial MT"/>
                <a:cs typeface="Arial MT"/>
              </a:rPr>
              <a:t>how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complete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given</a:t>
            </a:r>
            <a:r>
              <a:rPr dirty="0" sz="1200">
                <a:latin typeface="Arial MT"/>
                <a:cs typeface="Arial MT"/>
              </a:rPr>
              <a:t> time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frame.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 MT"/>
              <a:cs typeface="Arial MT"/>
            </a:endParaRPr>
          </a:p>
          <a:p>
            <a:pPr marL="287020" indent="-229235">
              <a:lnSpc>
                <a:spcPct val="100000"/>
              </a:lnSpc>
              <a:buFont typeface="Times New Roman"/>
              <a:buChar char="-"/>
              <a:tabLst>
                <a:tab pos="287020" algn="l"/>
                <a:tab pos="287655" algn="l"/>
              </a:tabLst>
            </a:pPr>
            <a:r>
              <a:rPr dirty="0" sz="1200" b="1">
                <a:latin typeface="Arial"/>
                <a:cs typeface="Arial"/>
              </a:rPr>
              <a:t>School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considerations: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994"/>
              </a:spcBef>
            </a:pPr>
            <a:r>
              <a:rPr dirty="0" sz="1200" spc="-5">
                <a:latin typeface="Arial MT"/>
                <a:cs typeface="Arial MT"/>
              </a:rPr>
              <a:t>Some parents demands that their children must also be engaged in </a:t>
            </a:r>
            <a:r>
              <a:rPr dirty="0" sz="1200">
                <a:latin typeface="Arial MT"/>
                <a:cs typeface="Arial MT"/>
              </a:rPr>
              <a:t>co-curricular </a:t>
            </a:r>
            <a:r>
              <a:rPr dirty="0" sz="1200" spc="-5">
                <a:latin typeface="Arial MT"/>
                <a:cs typeface="Arial MT"/>
              </a:rPr>
              <a:t>activities as well </a:t>
            </a:r>
            <a:r>
              <a:rPr dirty="0" sz="1200">
                <a:latin typeface="Arial MT"/>
                <a:cs typeface="Arial MT"/>
              </a:rPr>
              <a:t> as </a:t>
            </a:r>
            <a:r>
              <a:rPr dirty="0" sz="1200" spc="-5">
                <a:latin typeface="Arial MT"/>
                <a:cs typeface="Arial MT"/>
              </a:rPr>
              <a:t>learning the content.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schools’ policy is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cover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content as much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possible. They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provide the students such environment </a:t>
            </a:r>
            <a:r>
              <a:rPr dirty="0" sz="1200">
                <a:latin typeface="Arial MT"/>
                <a:cs typeface="Arial MT"/>
              </a:rPr>
              <a:t>where </a:t>
            </a:r>
            <a:r>
              <a:rPr dirty="0" sz="1200" spc="-5">
                <a:latin typeface="Arial MT"/>
                <a:cs typeface="Arial MT"/>
              </a:rPr>
              <a:t>actually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are participating in </a:t>
            </a:r>
            <a:r>
              <a:rPr dirty="0" sz="1200" spc="5">
                <a:latin typeface="Arial MT"/>
                <a:cs typeface="Arial MT"/>
              </a:rPr>
              <a:t>co- 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curricular </a:t>
            </a:r>
            <a:r>
              <a:rPr dirty="0" sz="1200">
                <a:latin typeface="Arial MT"/>
                <a:cs typeface="Arial MT"/>
              </a:rPr>
              <a:t>activities. </a:t>
            </a:r>
            <a:r>
              <a:rPr dirty="0" sz="1200" spc="-5">
                <a:latin typeface="Arial MT"/>
                <a:cs typeface="Arial MT"/>
              </a:rPr>
              <a:t>So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schools </a:t>
            </a:r>
            <a:r>
              <a:rPr dirty="0" sz="1200">
                <a:latin typeface="Arial MT"/>
                <a:cs typeface="Arial MT"/>
              </a:rPr>
              <a:t>want to </a:t>
            </a:r>
            <a:r>
              <a:rPr dirty="0" sz="1200" spc="-10">
                <a:latin typeface="Arial MT"/>
                <a:cs typeface="Arial MT"/>
              </a:rPr>
              <a:t>come up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demands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-5">
                <a:latin typeface="Arial MT"/>
                <a:cs typeface="Arial MT"/>
              </a:rPr>
              <a:t>parents but they do not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want </a:t>
            </a:r>
            <a:r>
              <a:rPr dirty="0" sz="1200" spc="-5">
                <a:latin typeface="Arial MT"/>
                <a:cs typeface="Arial MT"/>
              </a:rPr>
              <a:t>to compromise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their policies. They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plan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integrated that students can have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 as well as they can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the content. </a:t>
            </a:r>
            <a:r>
              <a:rPr dirty="0" sz="1200">
                <a:latin typeface="Arial MT"/>
                <a:cs typeface="Arial MT"/>
              </a:rPr>
              <a:t>E.g. </a:t>
            </a:r>
            <a:r>
              <a:rPr dirty="0" sz="1200" spc="-5">
                <a:latin typeface="Arial MT"/>
                <a:cs typeface="Arial MT"/>
              </a:rPr>
              <a:t>essay writing competitions, which is very </a:t>
            </a:r>
            <a:r>
              <a:rPr dirty="0" sz="1200">
                <a:latin typeface="Arial MT"/>
                <a:cs typeface="Arial MT"/>
              </a:rPr>
              <a:t>much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co-curricular </a:t>
            </a:r>
            <a:r>
              <a:rPr dirty="0" sz="1200">
                <a:latin typeface="Arial MT"/>
                <a:cs typeface="Arial MT"/>
              </a:rPr>
              <a:t>activity. But at </a:t>
            </a:r>
            <a:r>
              <a:rPr dirty="0" sz="1200" spc="-5">
                <a:latin typeface="Arial MT"/>
                <a:cs typeface="Arial MT"/>
              </a:rPr>
              <a:t>the same time students are learning certain content through that.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activities,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consider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 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policies?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 MT"/>
              <a:cs typeface="Arial MT"/>
            </a:endParaRPr>
          </a:p>
          <a:p>
            <a:pPr marL="287020" indent="-229235">
              <a:lnSpc>
                <a:spcPct val="100000"/>
              </a:lnSpc>
              <a:buFont typeface="Times New Roman"/>
              <a:buChar char="-"/>
              <a:tabLst>
                <a:tab pos="287020" algn="l"/>
                <a:tab pos="287655" algn="l"/>
              </a:tabLst>
            </a:pPr>
            <a:r>
              <a:rPr dirty="0" sz="1200" b="1">
                <a:latin typeface="Arial"/>
                <a:cs typeface="Arial"/>
              </a:rPr>
              <a:t>Resource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considerations:</a:t>
            </a:r>
            <a:endParaRPr sz="1200">
              <a:latin typeface="Arial"/>
              <a:cs typeface="Arial"/>
            </a:endParaRPr>
          </a:p>
          <a:p>
            <a:pPr algn="just" marL="18415" marR="5080" indent="36195">
              <a:lnSpc>
                <a:spcPct val="144200"/>
              </a:lnSpc>
              <a:spcBef>
                <a:spcPts val="985"/>
              </a:spcBef>
            </a:pPr>
            <a:r>
              <a:rPr dirty="0" sz="1200">
                <a:latin typeface="Arial MT"/>
                <a:cs typeface="Arial MT"/>
              </a:rPr>
              <a:t>If a </a:t>
            </a:r>
            <a:r>
              <a:rPr dirty="0" sz="1200" spc="-5">
                <a:latin typeface="Arial MT"/>
                <a:cs typeface="Arial MT"/>
              </a:rPr>
              <a:t>teacher plans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take the students for field trips, then </a:t>
            </a:r>
            <a:r>
              <a:rPr dirty="0" sz="120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needs to consider schools’ resources.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human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school?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physical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6384" cy="10624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17145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school?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have the facility or not? We </a:t>
            </a:r>
            <a:r>
              <a:rPr dirty="0" sz="1200" spc="-10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transport or not?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have the drivers or not?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go</a:t>
            </a:r>
            <a:r>
              <a:rPr dirty="0" sz="1200" spc="-5">
                <a:latin typeface="Arial MT"/>
                <a:cs typeface="Arial MT"/>
              </a:rPr>
              <a:t> 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students?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she must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overall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 MT"/>
              <a:cs typeface="Arial MT"/>
            </a:endParaRPr>
          </a:p>
          <a:p>
            <a:pPr algn="just" marL="58419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-  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Teachers’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considerations:</a:t>
            </a:r>
            <a:endParaRPr sz="1200">
              <a:latin typeface="Arial"/>
              <a:cs typeface="Arial"/>
            </a:endParaRPr>
          </a:p>
          <a:p>
            <a:pPr algn="just" marL="18415" marR="10160" indent="-6350">
              <a:lnSpc>
                <a:spcPct val="144000"/>
              </a:lnSpc>
              <a:spcBef>
                <a:spcPts val="1000"/>
              </a:spcBef>
            </a:pPr>
            <a:r>
              <a:rPr dirty="0" sz="1200" spc="-5">
                <a:latin typeface="Arial MT"/>
                <a:cs typeface="Arial MT"/>
              </a:rPr>
              <a:t>Whenever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10">
                <a:latin typeface="Arial MT"/>
                <a:cs typeface="Arial MT"/>
              </a:rPr>
              <a:t>am </a:t>
            </a:r>
            <a:r>
              <a:rPr dirty="0" sz="1200" spc="-5">
                <a:latin typeface="Arial MT"/>
                <a:cs typeface="Arial MT"/>
              </a:rPr>
              <a:t>going to plan, whether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 lesson plan, unit plan </a:t>
            </a:r>
            <a:r>
              <a:rPr dirty="0" sz="1200" spc="-1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yearly plan.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must </a:t>
            </a:r>
            <a:r>
              <a:rPr dirty="0" sz="1200" spc="-10">
                <a:latin typeface="Arial MT"/>
                <a:cs typeface="Arial MT"/>
              </a:rPr>
              <a:t>know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 selected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teach. If </a:t>
            </a:r>
            <a:r>
              <a:rPr dirty="0" sz="1200">
                <a:latin typeface="Arial MT"/>
                <a:cs typeface="Arial MT"/>
              </a:rPr>
              <a:t>I myself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know the content properly, then how will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teach </a:t>
            </a:r>
            <a:r>
              <a:rPr dirty="0" sz="1200" spc="-5">
                <a:latin typeface="Arial MT"/>
                <a:cs typeface="Arial MT"/>
              </a:rPr>
              <a:t>that content to </a:t>
            </a:r>
            <a:r>
              <a:rPr dirty="0" sz="1200">
                <a:latin typeface="Arial MT"/>
                <a:cs typeface="Arial MT"/>
              </a:rPr>
              <a:t>my </a:t>
            </a:r>
            <a:r>
              <a:rPr dirty="0" sz="1200" spc="-5">
                <a:latin typeface="Arial MT"/>
                <a:cs typeface="Arial MT"/>
              </a:rPr>
              <a:t>students?</a:t>
            </a:r>
            <a:r>
              <a:rPr dirty="0" sz="1200">
                <a:latin typeface="Arial MT"/>
                <a:cs typeface="Arial MT"/>
              </a:rPr>
              <a:t> If I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know, then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must seek help </a:t>
            </a:r>
            <a:r>
              <a:rPr dirty="0" sz="1200">
                <a:latin typeface="Arial MT"/>
                <a:cs typeface="Arial MT"/>
              </a:rPr>
              <a:t>from my </a:t>
            </a:r>
            <a:r>
              <a:rPr dirty="0" sz="1200" spc="-5">
                <a:latin typeface="Arial MT"/>
                <a:cs typeface="Arial MT"/>
              </a:rPr>
              <a:t>colleagues.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Content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competency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teacher.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truthful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myself.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Processes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very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teachers’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considerations.</a:t>
            </a:r>
            <a:endParaRPr sz="1200">
              <a:latin typeface="Arial MT"/>
              <a:cs typeface="Arial MT"/>
            </a:endParaRPr>
          </a:p>
          <a:p>
            <a:pPr algn="just" marL="18415" marR="5715" indent="-6350">
              <a:lnSpc>
                <a:spcPct val="1442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E.g. </a:t>
            </a:r>
            <a:r>
              <a:rPr dirty="0" sz="1200" spc="-5">
                <a:latin typeface="Arial MT"/>
                <a:cs typeface="Arial MT"/>
              </a:rPr>
              <a:t>imagination,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 thinking process. </a:t>
            </a:r>
            <a:r>
              <a:rPr dirty="0" sz="1200">
                <a:latin typeface="Arial MT"/>
                <a:cs typeface="Arial MT"/>
              </a:rPr>
              <a:t>We want </a:t>
            </a:r>
            <a:r>
              <a:rPr dirty="0" sz="1200" spc="-5">
                <a:latin typeface="Arial MT"/>
                <a:cs typeface="Arial MT"/>
              </a:rPr>
              <a:t>to develop the thinking skill </a:t>
            </a:r>
            <a:r>
              <a:rPr dirty="0" sz="1200">
                <a:latin typeface="Arial MT"/>
                <a:cs typeface="Arial MT"/>
              </a:rPr>
              <a:t>of imagination </a:t>
            </a:r>
            <a:r>
              <a:rPr dirty="0" sz="1200" spc="-5">
                <a:latin typeface="Arial MT"/>
                <a:cs typeface="Arial MT"/>
              </a:rPr>
              <a:t>in our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students, so that they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how to imagine?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teacher must observe himself that how much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imagination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exists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 MT"/>
              <a:cs typeface="Arial MT"/>
            </a:endParaRPr>
          </a:p>
          <a:p>
            <a:pPr algn="just" marL="287020" indent="-229235">
              <a:lnSpc>
                <a:spcPct val="100000"/>
              </a:lnSpc>
              <a:buFont typeface="Times New Roman"/>
              <a:buChar char="-"/>
              <a:tabLst>
                <a:tab pos="287655" algn="l"/>
              </a:tabLst>
            </a:pPr>
            <a:r>
              <a:rPr dirty="0" sz="1200" spc="-5" b="1">
                <a:latin typeface="Arial"/>
                <a:cs typeface="Arial"/>
              </a:rPr>
              <a:t>Textbooks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curriculum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guide:</a:t>
            </a:r>
            <a:endParaRPr sz="1200">
              <a:latin typeface="Arial"/>
              <a:cs typeface="Arial"/>
            </a:endParaRPr>
          </a:p>
          <a:p>
            <a:pPr algn="just" marL="18415" marR="6350" indent="-6350">
              <a:lnSpc>
                <a:spcPct val="144200"/>
              </a:lnSpc>
              <a:spcBef>
                <a:spcPts val="985"/>
              </a:spcBef>
            </a:pPr>
            <a:r>
              <a:rPr dirty="0" sz="1200" spc="-5">
                <a:latin typeface="Arial MT"/>
                <a:cs typeface="Arial MT"/>
              </a:rPr>
              <a:t>Textbooks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ultimate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ultimate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broad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term;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syllabus,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activities,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assessments and textbooks also. Curriculum guides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</a:t>
            </a:r>
            <a:r>
              <a:rPr dirty="0" sz="1200" spc="-10">
                <a:latin typeface="Arial MT"/>
                <a:cs typeface="Arial MT"/>
              </a:rPr>
              <a:t>planned</a:t>
            </a:r>
            <a:r>
              <a:rPr dirty="0" sz="1200" spc="-5">
                <a:latin typeface="Arial MT"/>
                <a:cs typeface="Arial MT"/>
              </a:rPr>
              <a:t> by Ministry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education in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Pakistan. Curriculum guides actually give us a guide line about what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taught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different grade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levels. They do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 spc="-10">
                <a:latin typeface="Arial MT"/>
                <a:cs typeface="Arial MT"/>
              </a:rPr>
              <a:t>only </a:t>
            </a:r>
            <a:r>
              <a:rPr dirty="0" sz="1200">
                <a:latin typeface="Arial MT"/>
                <a:cs typeface="Arial MT"/>
              </a:rPr>
              <a:t>focus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the content but also on the processes that must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taught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our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guides.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43700"/>
              </a:lnSpc>
              <a:spcBef>
                <a:spcPts val="30"/>
              </a:spcBef>
            </a:pPr>
            <a:r>
              <a:rPr dirty="0" sz="1200" spc="-5">
                <a:latin typeface="Arial MT"/>
                <a:cs typeface="Arial MT"/>
              </a:rPr>
              <a:t>Whenever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 must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use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document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referred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document.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 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documents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available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schools.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textbooks.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Principally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speaking,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textbooks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written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guidelines.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ideal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textbooks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mirror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image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lines.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 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characteristics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good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textbooks: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Arial MT"/>
              <a:cs typeface="Arial MT"/>
            </a:endParaRPr>
          </a:p>
          <a:p>
            <a:pPr marL="58419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Good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textbooks:</a:t>
            </a:r>
            <a:endParaRPr sz="1200">
              <a:latin typeface="Arial"/>
              <a:cs typeface="Arial"/>
            </a:endParaRPr>
          </a:p>
          <a:p>
            <a:pPr algn="just" marL="241300" indent="-229235">
              <a:lnSpc>
                <a:spcPct val="100000"/>
              </a:lnSpc>
              <a:spcBef>
                <a:spcPts val="755"/>
              </a:spcBef>
              <a:buFont typeface="Times New Roman"/>
              <a:buChar char="-"/>
              <a:tabLst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structured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lessons.</a:t>
            </a:r>
            <a:endParaRPr sz="1200">
              <a:latin typeface="Arial MT"/>
              <a:cs typeface="Arial MT"/>
            </a:endParaRPr>
          </a:p>
          <a:p>
            <a:pPr algn="just" marL="2413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outcomes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units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study.</a:t>
            </a:r>
            <a:endParaRPr sz="1200">
              <a:latin typeface="Arial MT"/>
              <a:cs typeface="Arial MT"/>
            </a:endParaRPr>
          </a:p>
          <a:p>
            <a:pPr algn="just" marL="2413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Includes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supplementary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material.</a:t>
            </a:r>
            <a:endParaRPr sz="1200">
              <a:latin typeface="Arial MT"/>
              <a:cs typeface="Arial MT"/>
            </a:endParaRPr>
          </a:p>
          <a:p>
            <a:pPr algn="just" marL="2413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strategies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</a:t>
            </a:r>
            <a:endParaRPr sz="1200">
              <a:latin typeface="Arial MT"/>
              <a:cs typeface="Arial MT"/>
            </a:endParaRPr>
          </a:p>
          <a:p>
            <a:pPr algn="just" marL="2413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mentioned some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activities</a:t>
            </a:r>
            <a:r>
              <a:rPr dirty="0" sz="1200" spc="-5">
                <a:latin typeface="Arial MT"/>
                <a:cs typeface="Arial MT"/>
              </a:rPr>
              <a:t> also.</a:t>
            </a:r>
            <a:endParaRPr sz="1200">
              <a:latin typeface="Arial MT"/>
              <a:cs typeface="Arial MT"/>
            </a:endParaRPr>
          </a:p>
          <a:p>
            <a:pPr algn="just" marL="18415" marR="8890" indent="-6350">
              <a:lnSpc>
                <a:spcPct val="144200"/>
              </a:lnSpc>
              <a:spcBef>
                <a:spcPts val="1010"/>
              </a:spcBef>
            </a:pP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need to decide which textbooks </a:t>
            </a:r>
            <a:r>
              <a:rPr dirty="0" sz="1200" spc="-10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used for a particular instruction. And how will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align them with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curriculum. These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different considerations which we need to take into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account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whenever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>
                <a:latin typeface="Arial MT"/>
                <a:cs typeface="Arial MT"/>
              </a:rPr>
              <a:t> 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Preplanning (Planning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before unit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and lesson planning):</a:t>
            </a:r>
            <a:endParaRPr sz="1400">
              <a:latin typeface="Arial"/>
              <a:cs typeface="Arial"/>
            </a:endParaRPr>
          </a:p>
          <a:p>
            <a:pPr marL="18415" marR="12700" indent="-6350">
              <a:lnSpc>
                <a:spcPts val="208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yearly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plans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already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made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guidelines.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guidelines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 outcomes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575563"/>
            <a:ext cx="6707505" cy="1092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56515" marR="4572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have to plan all these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different levels </a:t>
            </a:r>
            <a:r>
              <a:rPr dirty="0" sz="1200">
                <a:latin typeface="Arial MT"/>
                <a:cs typeface="Arial MT"/>
              </a:rPr>
              <a:t>i.e. </a:t>
            </a:r>
            <a:r>
              <a:rPr dirty="0" sz="1200" spc="-5">
                <a:latin typeface="Arial MT"/>
                <a:cs typeface="Arial MT"/>
              </a:rPr>
              <a:t>yearly plans, unit </a:t>
            </a:r>
            <a:r>
              <a:rPr dirty="0" sz="1200">
                <a:latin typeface="Arial MT"/>
                <a:cs typeface="Arial MT"/>
              </a:rPr>
              <a:t>plans </a:t>
            </a:r>
            <a:r>
              <a:rPr dirty="0" sz="1200" spc="-5">
                <a:latin typeface="Arial MT"/>
                <a:cs typeface="Arial MT"/>
              </a:rPr>
              <a:t>and lesson plans. Every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supposed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lessons,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stage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before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called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pre-planning stage.</a:t>
            </a:r>
            <a:endParaRPr sz="1200">
              <a:latin typeface="Arial MT"/>
              <a:cs typeface="Arial MT"/>
            </a:endParaRPr>
          </a:p>
          <a:p>
            <a:pPr algn="just" marL="50800">
              <a:lnSpc>
                <a:spcPct val="100000"/>
              </a:lnSpc>
              <a:spcBef>
                <a:spcPts val="645"/>
              </a:spcBef>
            </a:pP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decide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pre-planning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stage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follows:</a:t>
            </a:r>
            <a:endParaRPr sz="1200">
              <a:latin typeface="Arial MT"/>
              <a:cs typeface="Arial MT"/>
            </a:endParaRPr>
          </a:p>
          <a:p>
            <a:pPr marL="279400" indent="-229235">
              <a:lnSpc>
                <a:spcPct val="100000"/>
              </a:lnSpc>
              <a:spcBef>
                <a:spcPts val="795"/>
              </a:spcBef>
              <a:buFont typeface="Times New Roman"/>
              <a:buChar char="-"/>
              <a:tabLst>
                <a:tab pos="279400" algn="l"/>
                <a:tab pos="280035" algn="l"/>
              </a:tabLst>
            </a:pPr>
            <a:r>
              <a:rPr dirty="0" sz="1200">
                <a:latin typeface="Arial MT"/>
                <a:cs typeface="Arial MT"/>
              </a:rPr>
              <a:t>Which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covered?</a:t>
            </a:r>
            <a:endParaRPr sz="1200">
              <a:latin typeface="Arial MT"/>
              <a:cs typeface="Arial MT"/>
            </a:endParaRPr>
          </a:p>
          <a:p>
            <a:pPr marL="27940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279400" algn="l"/>
                <a:tab pos="280035" algn="l"/>
              </a:tabLst>
            </a:pPr>
            <a:r>
              <a:rPr dirty="0" sz="1200">
                <a:latin typeface="Arial MT"/>
                <a:cs typeface="Arial MT"/>
              </a:rPr>
              <a:t>Which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selected?</a:t>
            </a:r>
            <a:endParaRPr sz="1200">
              <a:latin typeface="Arial MT"/>
              <a:cs typeface="Arial MT"/>
            </a:endParaRPr>
          </a:p>
          <a:p>
            <a:pPr marL="279400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279400" algn="l"/>
                <a:tab pos="280035" algn="l"/>
              </a:tabLst>
            </a:pP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pre-course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acquire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prerequisites?</a:t>
            </a:r>
            <a:endParaRPr sz="1200">
              <a:latin typeface="Arial MT"/>
              <a:cs typeface="Arial MT"/>
            </a:endParaRPr>
          </a:p>
          <a:p>
            <a:pPr marL="27940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279400" algn="l"/>
                <a:tab pos="280035" algn="l"/>
              </a:tabLst>
            </a:pP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seem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relevant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interests?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990"/>
              </a:spcBef>
            </a:pPr>
            <a:r>
              <a:rPr dirty="0" sz="1400" spc="-5" b="1">
                <a:latin typeface="Arial"/>
                <a:cs typeface="Arial"/>
              </a:rPr>
              <a:t>Deciding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on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content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and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processes:</a:t>
            </a:r>
            <a:endParaRPr sz="1400">
              <a:latin typeface="Arial"/>
              <a:cs typeface="Arial"/>
            </a:endParaRPr>
          </a:p>
          <a:p>
            <a:pPr algn="just" marL="56515" indent="-6350">
              <a:lnSpc>
                <a:spcPct val="100000"/>
              </a:lnSpc>
              <a:spcBef>
                <a:spcPts val="545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usually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say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taught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try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get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memorized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endParaRPr sz="1200">
              <a:latin typeface="Arial MT"/>
              <a:cs typeface="Arial MT"/>
            </a:endParaRPr>
          </a:p>
          <a:p>
            <a:pPr algn="just" marL="56515" marR="41275">
              <a:lnSpc>
                <a:spcPct val="1442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students.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10">
                <a:latin typeface="Arial MT"/>
                <a:cs typeface="Arial MT"/>
              </a:rPr>
              <a:t>much </a:t>
            </a:r>
            <a:r>
              <a:rPr dirty="0" sz="1200" spc="-5">
                <a:latin typeface="Arial MT"/>
                <a:cs typeface="Arial MT"/>
              </a:rPr>
              <a:t>rote learning. Content is important but processes </a:t>
            </a:r>
            <a:r>
              <a:rPr dirty="0" sz="1200">
                <a:latin typeface="Arial MT"/>
                <a:cs typeface="Arial MT"/>
              </a:rPr>
              <a:t>are also very </a:t>
            </a:r>
            <a:r>
              <a:rPr dirty="0" sz="1200" spc="-5">
                <a:latin typeface="Arial MT"/>
                <a:cs typeface="Arial MT"/>
              </a:rPr>
              <a:t>important.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 like imagining, problem solving, analyzing, organizing and communicating is actually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critical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almost every subject and topic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teach. You </a:t>
            </a:r>
            <a:r>
              <a:rPr dirty="0" sz="1200">
                <a:latin typeface="Arial MT"/>
                <a:cs typeface="Arial MT"/>
              </a:rPr>
              <a:t>must tell </a:t>
            </a:r>
            <a:r>
              <a:rPr dirty="0" sz="1200" spc="-5">
                <a:latin typeface="Arial MT"/>
                <a:cs typeface="Arial MT"/>
              </a:rPr>
              <a:t>the students about the thought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 they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learning. You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communicate your expectations to the students and give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such tasks where actually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experience these processes.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processes are important,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whenever we are teaching our students,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need to focus not only on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content </a:t>
            </a:r>
            <a:r>
              <a:rPr dirty="0" sz="1200">
                <a:latin typeface="Arial MT"/>
                <a:cs typeface="Arial MT"/>
              </a:rPr>
              <a:t>rather </a:t>
            </a:r>
            <a:r>
              <a:rPr dirty="0" sz="1200" spc="-5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 also. You cannot isolate process from content. </a:t>
            </a:r>
            <a:r>
              <a:rPr dirty="0" sz="1200">
                <a:latin typeface="Arial MT"/>
                <a:cs typeface="Arial MT"/>
              </a:rPr>
              <a:t>E.g. </a:t>
            </a:r>
            <a:r>
              <a:rPr dirty="0" sz="1200" spc="-5">
                <a:latin typeface="Arial MT"/>
                <a:cs typeface="Arial MT"/>
              </a:rPr>
              <a:t>a child who is very good in problem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solving</a:t>
            </a:r>
            <a:r>
              <a:rPr dirty="0" sz="1200">
                <a:latin typeface="Arial MT"/>
                <a:cs typeface="Arial MT"/>
              </a:rPr>
              <a:t> must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Identifying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entry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skills:</a:t>
            </a:r>
            <a:endParaRPr sz="1400">
              <a:latin typeface="Arial"/>
              <a:cs typeface="Arial"/>
            </a:endParaRPr>
          </a:p>
          <a:p>
            <a:pPr algn="just" marL="56515" indent="-6350">
              <a:lnSpc>
                <a:spcPct val="100000"/>
              </a:lnSpc>
              <a:spcBef>
                <a:spcPts val="550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planned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lesson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teach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write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endParaRPr sz="1200">
              <a:latin typeface="Arial MT"/>
              <a:cs typeface="Arial MT"/>
            </a:endParaRPr>
          </a:p>
          <a:p>
            <a:pPr algn="just" marL="56515" marR="38735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argumentative essay.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need to know </a:t>
            </a:r>
            <a:r>
              <a:rPr dirty="0" sz="1200">
                <a:latin typeface="Arial MT"/>
                <a:cs typeface="Arial MT"/>
              </a:rPr>
              <a:t>if my </a:t>
            </a:r>
            <a:r>
              <a:rPr dirty="0" sz="1200" spc="-5">
                <a:latin typeface="Arial MT"/>
                <a:cs typeface="Arial MT"/>
              </a:rPr>
              <a:t>students know 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write an essay or not?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10">
                <a:latin typeface="Arial MT"/>
                <a:cs typeface="Arial MT"/>
              </a:rPr>
              <a:t>this 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purpose,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will give a task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students to write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>
                <a:latin typeface="Arial MT"/>
                <a:cs typeface="Arial MT"/>
              </a:rPr>
              <a:t>essay. I </a:t>
            </a:r>
            <a:r>
              <a:rPr dirty="0" sz="1200" spc="-5">
                <a:latin typeface="Arial MT"/>
                <a:cs typeface="Arial MT"/>
              </a:rPr>
              <a:t>will judge them accordingly that either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are able to give their </a:t>
            </a:r>
            <a:r>
              <a:rPr dirty="0" sz="1200">
                <a:latin typeface="Arial MT"/>
                <a:cs typeface="Arial MT"/>
              </a:rPr>
              <a:t>main </a:t>
            </a:r>
            <a:r>
              <a:rPr dirty="0" sz="1200" spc="-5">
                <a:latin typeface="Arial MT"/>
                <a:cs typeface="Arial MT"/>
              </a:rPr>
              <a:t>thesis statement? Are they 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write </a:t>
            </a:r>
            <a:r>
              <a:rPr dirty="0" sz="1200">
                <a:latin typeface="Arial MT"/>
                <a:cs typeface="Arial MT"/>
              </a:rPr>
              <a:t>the topic </a:t>
            </a:r>
            <a:r>
              <a:rPr dirty="0" sz="1200" spc="-5">
                <a:latin typeface="Arial MT"/>
                <a:cs typeface="Arial MT"/>
              </a:rPr>
              <a:t>sentence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correctly?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write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proper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introduction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not?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conclusion?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choice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vocabulary?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sentence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structure?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check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list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check the entry level skills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students.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diagnostic assessment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check the </a:t>
            </a:r>
            <a:r>
              <a:rPr dirty="0" sz="1200" spc="5">
                <a:latin typeface="Arial MT"/>
                <a:cs typeface="Arial MT"/>
              </a:rPr>
              <a:t>entry 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skills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-5">
                <a:latin typeface="Arial MT"/>
                <a:cs typeface="Arial MT"/>
              </a:rPr>
              <a:t>students. So, </a:t>
            </a:r>
            <a:r>
              <a:rPr dirty="0" sz="1200">
                <a:latin typeface="Arial MT"/>
                <a:cs typeface="Arial MT"/>
              </a:rPr>
              <a:t>for this </a:t>
            </a:r>
            <a:r>
              <a:rPr dirty="0" sz="1200" spc="-5">
                <a:latin typeface="Arial MT"/>
                <a:cs typeface="Arial MT"/>
              </a:rPr>
              <a:t>purpose,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>
                <a:latin typeface="Arial MT"/>
                <a:cs typeface="Arial MT"/>
              </a:rPr>
              <a:t>very clear that what I </a:t>
            </a:r>
            <a:r>
              <a:rPr dirty="0" sz="1200" spc="-10">
                <a:latin typeface="Arial MT"/>
                <a:cs typeface="Arial MT"/>
              </a:rPr>
              <a:t>am </a:t>
            </a:r>
            <a:r>
              <a:rPr dirty="0" sz="1200" spc="-5">
                <a:latin typeface="Arial MT"/>
                <a:cs typeface="Arial MT"/>
              </a:rPr>
              <a:t>going to </a:t>
            </a:r>
            <a:r>
              <a:rPr dirty="0" sz="1200">
                <a:latin typeface="Arial MT"/>
                <a:cs typeface="Arial MT"/>
              </a:rPr>
              <a:t> assess.</a:t>
            </a:r>
            <a:endParaRPr sz="1200">
              <a:latin typeface="Arial MT"/>
              <a:cs typeface="Arial MT"/>
            </a:endParaRPr>
          </a:p>
          <a:p>
            <a:pPr algn="just" marL="56515" marR="43815" indent="-6350">
              <a:lnSpc>
                <a:spcPct val="144200"/>
              </a:lnSpc>
              <a:spcBef>
                <a:spcPts val="15"/>
              </a:spcBef>
            </a:pPr>
            <a:r>
              <a:rPr dirty="0" sz="1200" spc="-5">
                <a:latin typeface="Arial MT"/>
                <a:cs typeface="Arial MT"/>
              </a:rPr>
              <a:t>When we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assessing the students for entry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skills, we must not give them </a:t>
            </a:r>
            <a:r>
              <a:rPr dirty="0" sz="1200">
                <a:latin typeface="Arial MT"/>
                <a:cs typeface="Arial MT"/>
              </a:rPr>
              <a:t>marks </a:t>
            </a:r>
            <a:r>
              <a:rPr dirty="0" sz="1200" spc="-5">
                <a:latin typeface="Arial MT"/>
                <a:cs typeface="Arial MT"/>
              </a:rPr>
              <a:t>rather we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to diagnose their skills.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are not supposed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scold our students on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basis of that test.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goal of that diagnostic </a:t>
            </a:r>
            <a:r>
              <a:rPr dirty="0" sz="1200">
                <a:latin typeface="Arial MT"/>
                <a:cs typeface="Arial MT"/>
              </a:rPr>
              <a:t>test </a:t>
            </a:r>
            <a:r>
              <a:rPr dirty="0" sz="1200" spc="-5">
                <a:latin typeface="Arial MT"/>
                <a:cs typeface="Arial MT"/>
              </a:rPr>
              <a:t>is that how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can support our students in developing </a:t>
            </a:r>
            <a:r>
              <a:rPr dirty="0" sz="1200" spc="-1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skills. </a:t>
            </a:r>
            <a:r>
              <a:rPr dirty="0" sz="1200">
                <a:latin typeface="Arial MT"/>
                <a:cs typeface="Arial MT"/>
              </a:rPr>
              <a:t> 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weaknesses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give</a:t>
            </a:r>
            <a:r>
              <a:rPr dirty="0" sz="1200" spc="-5">
                <a:latin typeface="Arial MT"/>
                <a:cs typeface="Arial MT"/>
              </a:rPr>
              <a:t> them remedial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classes.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Identification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activities:</a:t>
            </a:r>
            <a:endParaRPr sz="1400">
              <a:latin typeface="Arial"/>
              <a:cs typeface="Arial"/>
            </a:endParaRPr>
          </a:p>
          <a:p>
            <a:pPr algn="just" marL="56515" marR="43180" indent="-6350">
              <a:lnSpc>
                <a:spcPts val="2080"/>
              </a:lnSpc>
            </a:pP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 identification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resources, we need </a:t>
            </a:r>
            <a:r>
              <a:rPr dirty="0" sz="1200">
                <a:latin typeface="Arial MT"/>
                <a:cs typeface="Arial MT"/>
              </a:rPr>
              <a:t>to plan activities. If </a:t>
            </a:r>
            <a:r>
              <a:rPr dirty="0" sz="1200" spc="-5">
                <a:latin typeface="Arial MT"/>
                <a:cs typeface="Arial MT"/>
              </a:rPr>
              <a:t>we need some resources in lesson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4</a:t>
            </a:r>
            <a:r>
              <a:rPr dirty="0" baseline="27777" sz="1200">
                <a:latin typeface="Arial MT"/>
                <a:cs typeface="Arial MT"/>
              </a:rPr>
              <a:t>th </a:t>
            </a:r>
            <a:r>
              <a:rPr dirty="0" sz="1200" spc="-5">
                <a:latin typeface="Arial MT"/>
                <a:cs typeface="Arial MT"/>
              </a:rPr>
              <a:t>or </a:t>
            </a:r>
            <a:r>
              <a:rPr dirty="0" sz="1200">
                <a:latin typeface="Arial MT"/>
                <a:cs typeface="Arial MT"/>
              </a:rPr>
              <a:t>5</a:t>
            </a:r>
            <a:r>
              <a:rPr dirty="0" baseline="27777" sz="1200">
                <a:latin typeface="Arial MT"/>
                <a:cs typeface="Arial MT"/>
              </a:rPr>
              <a:t>th</a:t>
            </a:r>
            <a:r>
              <a:rPr dirty="0" sz="1200">
                <a:latin typeface="Arial MT"/>
                <a:cs typeface="Arial MT"/>
              </a:rPr>
              <a:t>, </a:t>
            </a:r>
            <a:r>
              <a:rPr dirty="0" sz="1200" spc="-5">
                <a:latin typeface="Arial MT"/>
                <a:cs typeface="Arial MT"/>
              </a:rPr>
              <a:t>so we can provide the administration with the list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resources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the beginning, so that </a:t>
            </a:r>
            <a:r>
              <a:rPr dirty="0" sz="1200">
                <a:latin typeface="Arial MT"/>
                <a:cs typeface="Arial MT"/>
              </a:rPr>
              <a:t> they </a:t>
            </a:r>
            <a:r>
              <a:rPr dirty="0" sz="1200" spc="-5">
                <a:latin typeface="Arial MT"/>
                <a:cs typeface="Arial MT"/>
              </a:rPr>
              <a:t>can manage them until we reach to lesson </a:t>
            </a:r>
            <a:r>
              <a:rPr dirty="0" sz="1200" spc="5">
                <a:latin typeface="Arial MT"/>
                <a:cs typeface="Arial MT"/>
              </a:rPr>
              <a:t>4</a:t>
            </a:r>
            <a:r>
              <a:rPr dirty="0" baseline="27777" sz="1200" spc="7">
                <a:latin typeface="Arial MT"/>
                <a:cs typeface="Arial MT"/>
              </a:rPr>
              <a:t>th</a:t>
            </a:r>
            <a:r>
              <a:rPr dirty="0" sz="1200" spc="5">
                <a:latin typeface="Arial MT"/>
                <a:cs typeface="Arial MT"/>
              </a:rPr>
              <a:t>. </a:t>
            </a:r>
            <a:r>
              <a:rPr dirty="0" sz="1200" spc="-5">
                <a:latin typeface="Arial MT"/>
                <a:cs typeface="Arial MT"/>
              </a:rPr>
              <a:t>So,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important to know and </a:t>
            </a:r>
            <a:r>
              <a:rPr dirty="0" sz="1200" spc="-10">
                <a:latin typeface="Arial MT"/>
                <a:cs typeface="Arial MT"/>
              </a:rPr>
              <a:t>think </a:t>
            </a:r>
            <a:r>
              <a:rPr dirty="0" sz="1200" spc="-5">
                <a:latin typeface="Arial MT"/>
                <a:cs typeface="Arial MT"/>
              </a:rPr>
              <a:t>about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 </a:t>
            </a:r>
            <a:r>
              <a:rPr dirty="0" sz="1200">
                <a:latin typeface="Arial MT"/>
                <a:cs typeface="Arial MT"/>
              </a:rPr>
              <a:t>first.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5572" y="682751"/>
            <a:ext cx="6979920" cy="399415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  <a:tabLst>
                <a:tab pos="1383665" algn="l"/>
              </a:tabLst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15	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“Unit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Planning”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1343913"/>
            <a:ext cx="6633845" cy="10165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Outline: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320"/>
              </a:spcBef>
              <a:buSzPct val="116666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Unit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85"/>
              </a:spcBef>
              <a:buSzPct val="116666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Importance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unit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plan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95"/>
              </a:spcBef>
              <a:buSzPct val="116666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Components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unit </a:t>
            </a:r>
            <a:r>
              <a:rPr dirty="0" sz="1200" b="1">
                <a:latin typeface="Arial"/>
                <a:cs typeface="Arial"/>
              </a:rPr>
              <a:t>plan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34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Subject/topic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Rationale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Instructional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Content </a:t>
            </a:r>
            <a:r>
              <a:rPr dirty="0" sz="1200" b="1">
                <a:latin typeface="Arial"/>
                <a:cs typeface="Arial"/>
              </a:rPr>
              <a:t>(Facts,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Concepts</a:t>
            </a:r>
            <a:r>
              <a:rPr dirty="0" sz="1200" b="1">
                <a:latin typeface="Arial"/>
                <a:cs typeface="Arial"/>
              </a:rPr>
              <a:t> and </a:t>
            </a:r>
            <a:r>
              <a:rPr dirty="0" sz="1200" spc="-5" b="1">
                <a:latin typeface="Arial"/>
                <a:cs typeface="Arial"/>
              </a:rPr>
              <a:t>generalizations)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Resources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Evaluation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“Unit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Planning”</a:t>
            </a:r>
            <a:endParaRPr sz="1400">
              <a:latin typeface="Arial"/>
              <a:cs typeface="Arial"/>
            </a:endParaRPr>
          </a:p>
          <a:p>
            <a:pPr algn="just" marL="18415" marR="10160" indent="-6350">
              <a:lnSpc>
                <a:spcPts val="2060"/>
              </a:lnSpc>
              <a:spcBef>
                <a:spcPts val="110"/>
              </a:spcBef>
            </a:pPr>
            <a:r>
              <a:rPr dirty="0" sz="1200" spc="-5">
                <a:latin typeface="Arial MT"/>
                <a:cs typeface="Arial MT"/>
              </a:rPr>
              <a:t>Unit planning is part of our planning framework. Most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-5">
                <a:latin typeface="Arial MT"/>
                <a:cs typeface="Arial MT"/>
              </a:rPr>
              <a:t>times, teachers divide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overall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manageable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units.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endParaRPr sz="1200">
              <a:latin typeface="Arial MT"/>
              <a:cs typeface="Arial MT"/>
            </a:endParaRPr>
          </a:p>
          <a:p>
            <a:pPr algn="just" marL="18415" marR="7620">
              <a:lnSpc>
                <a:spcPts val="208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grade level </a:t>
            </a:r>
            <a:r>
              <a:rPr dirty="0" sz="1200">
                <a:latin typeface="Arial MT"/>
                <a:cs typeface="Arial MT"/>
              </a:rPr>
              <a:t>6, </a:t>
            </a:r>
            <a:r>
              <a:rPr dirty="0" sz="1200" spc="-5">
                <a:latin typeface="Arial MT"/>
                <a:cs typeface="Arial MT"/>
              </a:rPr>
              <a:t>there will be a yearly plan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grade 6 in </a:t>
            </a:r>
            <a:r>
              <a:rPr dirty="0" sz="1200" spc="5">
                <a:latin typeface="Arial MT"/>
                <a:cs typeface="Arial MT"/>
              </a:rPr>
              <a:t>which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is algebra, fraction, geometry,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percentage </a:t>
            </a:r>
            <a:r>
              <a:rPr dirty="0" sz="1200">
                <a:latin typeface="Arial MT"/>
                <a:cs typeface="Arial MT"/>
              </a:rPr>
              <a:t>etc. </a:t>
            </a:r>
            <a:r>
              <a:rPr dirty="0" sz="1200" spc="-10">
                <a:latin typeface="Arial MT"/>
                <a:cs typeface="Arial MT"/>
              </a:rPr>
              <a:t>concepts </a:t>
            </a:r>
            <a:r>
              <a:rPr dirty="0" sz="1200" spc="-5">
                <a:latin typeface="Arial MT"/>
                <a:cs typeface="Arial MT"/>
              </a:rPr>
              <a:t>are given.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 divide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whole content into blocks of the same </a:t>
            </a:r>
            <a:r>
              <a:rPr dirty="0" sz="1200">
                <a:latin typeface="Arial MT"/>
                <a:cs typeface="Arial MT"/>
              </a:rPr>
              <a:t> type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i.e.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fraction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block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percentages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other.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fraction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would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percentages.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blocks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called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plans.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Whenever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dividing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whole instruction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small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units,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need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altogether.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Importance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of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unit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planning:</a:t>
            </a:r>
            <a:endParaRPr sz="1400">
              <a:latin typeface="Arial"/>
              <a:cs typeface="Arial"/>
            </a:endParaRPr>
          </a:p>
          <a:p>
            <a:pPr marL="26034" marR="6350" indent="-6350">
              <a:lnSpc>
                <a:spcPts val="2050"/>
              </a:lnSpc>
              <a:spcBef>
                <a:spcPts val="110"/>
              </a:spcBef>
            </a:pPr>
            <a:r>
              <a:rPr dirty="0" sz="1200" b="1">
                <a:latin typeface="Arial"/>
                <a:cs typeface="Arial"/>
              </a:rPr>
              <a:t>“Unit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most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important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as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well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as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most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time-consuming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planning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each </a:t>
            </a:r>
            <a:r>
              <a:rPr dirty="0" sz="1200" spc="-5" b="1">
                <a:latin typeface="Arial"/>
                <a:cs typeface="Arial"/>
              </a:rPr>
              <a:t>teacher”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(Walsh,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1992).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310"/>
              </a:spcBef>
            </a:pPr>
            <a:r>
              <a:rPr dirty="0" sz="1200" spc="-5">
                <a:latin typeface="Arial MT"/>
                <a:cs typeface="Arial MT"/>
              </a:rPr>
              <a:t>Unit planning is important because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know the reasons for dividing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whole thing into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components. Most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-5">
                <a:latin typeface="Arial MT"/>
                <a:cs typeface="Arial MT"/>
              </a:rPr>
              <a:t>times, teachers’ complaint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shortage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time. This problem can be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solved by making the detailed unit </a:t>
            </a:r>
            <a:r>
              <a:rPr dirty="0" sz="1200">
                <a:latin typeface="Arial MT"/>
                <a:cs typeface="Arial MT"/>
              </a:rPr>
              <a:t>plans. </a:t>
            </a:r>
            <a:r>
              <a:rPr dirty="0" sz="1200" spc="-5">
                <a:latin typeface="Arial MT"/>
                <a:cs typeface="Arial MT"/>
              </a:rPr>
              <a:t>You can observe all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topics given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10">
                <a:latin typeface="Arial MT"/>
                <a:cs typeface="Arial MT"/>
              </a:rPr>
              <a:t>yearly </a:t>
            </a:r>
            <a:r>
              <a:rPr dirty="0" sz="1200">
                <a:latin typeface="Arial MT"/>
                <a:cs typeface="Arial MT"/>
              </a:rPr>
              <a:t>plan,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overlapping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topics.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omit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overlapping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topics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whose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difficulty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same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taught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previously.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yearly</a:t>
            </a:r>
            <a:r>
              <a:rPr dirty="0" sz="1200">
                <a:latin typeface="Arial MT"/>
                <a:cs typeface="Arial MT"/>
              </a:rPr>
              <a:t> plans.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Components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unit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plan: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1030"/>
              </a:spcBef>
            </a:pPr>
            <a:r>
              <a:rPr dirty="0" sz="1200" b="1">
                <a:latin typeface="Times New Roman"/>
                <a:cs typeface="Times New Roman"/>
              </a:rPr>
              <a:t>1.</a:t>
            </a:r>
            <a:r>
              <a:rPr dirty="0" sz="1200" spc="26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Arial"/>
                <a:cs typeface="Arial"/>
              </a:rPr>
              <a:t>Subject/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topic</a:t>
            </a:r>
            <a:endParaRPr sz="1200">
              <a:latin typeface="Arial"/>
              <a:cs typeface="Arial"/>
            </a:endParaRPr>
          </a:p>
          <a:p>
            <a:pPr marL="483870" marR="9525" indent="-6350">
              <a:lnSpc>
                <a:spcPts val="2080"/>
              </a:lnSpc>
              <a:spcBef>
                <a:spcPts val="70"/>
              </a:spcBef>
            </a:pP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the</a:t>
            </a:r>
            <a:r>
              <a:rPr dirty="0" sz="1200">
                <a:latin typeface="Arial MT"/>
                <a:cs typeface="Arial MT"/>
              </a:rPr>
              <a:t> title of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whole </a:t>
            </a:r>
            <a:r>
              <a:rPr dirty="0" sz="1200" spc="-5">
                <a:latin typeface="Arial MT"/>
                <a:cs typeface="Arial MT"/>
              </a:rPr>
              <a:t>unit.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science,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Human </a:t>
            </a:r>
            <a:r>
              <a:rPr dirty="0" sz="1200">
                <a:latin typeface="Arial MT"/>
                <a:cs typeface="Arial MT"/>
              </a:rPr>
              <a:t>system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the</a:t>
            </a:r>
            <a:r>
              <a:rPr dirty="0" sz="1200">
                <a:latin typeface="Arial MT"/>
                <a:cs typeface="Arial MT"/>
              </a:rPr>
              <a:t> unit; </a:t>
            </a:r>
            <a:r>
              <a:rPr dirty="0" sz="1200" spc="-5">
                <a:latin typeface="Arial MT"/>
                <a:cs typeface="Arial MT"/>
              </a:rPr>
              <a:t>its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chapters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would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5">
                <a:latin typeface="Arial MT"/>
                <a:cs typeface="Arial MT"/>
              </a:rPr>
              <a:t> digestive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system, circulatory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nervous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</a:t>
            </a:r>
            <a:r>
              <a:rPr dirty="0" sz="1200">
                <a:latin typeface="Arial MT"/>
                <a:cs typeface="Arial MT"/>
              </a:rPr>
              <a:t> etc.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384" y="578611"/>
            <a:ext cx="6404610" cy="424497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Times New Roman"/>
              <a:buAutoNum type="arabicPeriod" startAt="2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Rationale</a:t>
            </a:r>
            <a:endParaRPr sz="1200">
              <a:latin typeface="Arial"/>
              <a:cs typeface="Arial"/>
            </a:endParaRPr>
          </a:p>
          <a:p>
            <a:pPr algn="just" marL="254635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Teacher has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decide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taught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omitted.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Whenever you </a:t>
            </a:r>
            <a:r>
              <a:rPr dirty="0" sz="1200">
                <a:latin typeface="Arial MT"/>
                <a:cs typeface="Arial MT"/>
              </a:rPr>
              <a:t>select </a:t>
            </a:r>
            <a:r>
              <a:rPr dirty="0" sz="1200" spc="-5">
                <a:latin typeface="Arial MT"/>
                <a:cs typeface="Arial MT"/>
              </a:rPr>
              <a:t>a topic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teach, there are reasons of </a:t>
            </a:r>
            <a:r>
              <a:rPr dirty="0" sz="1200">
                <a:latin typeface="Arial MT"/>
                <a:cs typeface="Arial MT"/>
              </a:rPr>
              <a:t>it. So, </a:t>
            </a:r>
            <a:r>
              <a:rPr dirty="0" sz="1200" spc="-5">
                <a:latin typeface="Arial MT"/>
                <a:cs typeface="Arial MT"/>
              </a:rPr>
              <a:t>you need </a:t>
            </a:r>
            <a:r>
              <a:rPr dirty="0" sz="1200">
                <a:latin typeface="Arial MT"/>
                <a:cs typeface="Arial MT"/>
              </a:rPr>
              <a:t>to give </a:t>
            </a:r>
            <a:r>
              <a:rPr dirty="0" sz="1200" spc="-5">
                <a:latin typeface="Arial MT"/>
                <a:cs typeface="Arial MT"/>
              </a:rPr>
              <a:t>reasons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heading</a:t>
            </a:r>
            <a:r>
              <a:rPr dirty="0" sz="1200" spc="25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rationale.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rationale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given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25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book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named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‘Teaching</a:t>
            </a:r>
            <a:endParaRPr sz="1200">
              <a:latin typeface="Arial MT"/>
              <a:cs typeface="Arial MT"/>
            </a:endParaRPr>
          </a:p>
          <a:p>
            <a:pPr algn="just" marL="254635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strategies’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is:</a:t>
            </a:r>
            <a:endParaRPr sz="1200">
              <a:latin typeface="Arial MT"/>
              <a:cs typeface="Arial MT"/>
            </a:endParaRPr>
          </a:p>
          <a:p>
            <a:pPr algn="just" marL="254635" marR="8255" indent="-6350">
              <a:lnSpc>
                <a:spcPct val="1442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“Understanding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scientific processes and principal is important </a:t>
            </a:r>
            <a:r>
              <a:rPr dirty="0" sz="1200">
                <a:latin typeface="Arial MT"/>
                <a:cs typeface="Arial MT"/>
              </a:rPr>
              <a:t>for every </a:t>
            </a:r>
            <a:r>
              <a:rPr dirty="0" sz="1200" spc="-5">
                <a:latin typeface="Arial MT"/>
                <a:cs typeface="Arial MT"/>
              </a:rPr>
              <a:t>student. Helping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become interested in science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early age will increase their motivation to </a:t>
            </a:r>
            <a:r>
              <a:rPr dirty="0" sz="1200" spc="-10">
                <a:latin typeface="Arial MT"/>
                <a:cs typeface="Arial MT"/>
              </a:rPr>
              <a:t>want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 </a:t>
            </a:r>
            <a:r>
              <a:rPr dirty="0" sz="1200" spc="-5">
                <a:latin typeface="Arial MT"/>
                <a:cs typeface="Arial MT"/>
              </a:rPr>
              <a:t>science as they get older. </a:t>
            </a:r>
            <a:r>
              <a:rPr dirty="0" sz="1200">
                <a:latin typeface="Arial MT"/>
                <a:cs typeface="Arial MT"/>
              </a:rPr>
              <a:t>Additionally, </a:t>
            </a:r>
            <a:r>
              <a:rPr dirty="0" sz="1200" spc="-5">
                <a:latin typeface="Arial MT"/>
                <a:cs typeface="Arial MT"/>
              </a:rPr>
              <a:t>doing science at an early age is an excellent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introduction to higher thinking processes as observing, classifying, making inferences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withholding judgement until sufficient data has been gathered. Thus these units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water </a:t>
            </a:r>
            <a:r>
              <a:rPr dirty="0" sz="1200">
                <a:latin typeface="Arial MT"/>
                <a:cs typeface="Arial MT"/>
              </a:rPr>
              <a:t> besides </a:t>
            </a:r>
            <a:r>
              <a:rPr dirty="0" sz="1200" spc="-5">
                <a:latin typeface="Arial MT"/>
                <a:cs typeface="Arial MT"/>
              </a:rPr>
              <a:t>having many informative interesting activities will help prepare students mental for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enjoying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world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around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them.”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buFont typeface="Times New Roman"/>
              <a:buAutoNum type="arabicPeriod" startAt="3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Instructional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  <a:p>
            <a:pPr marL="248285" marR="171450">
              <a:lnSpc>
                <a:spcPts val="2060"/>
              </a:lnSpc>
              <a:spcBef>
                <a:spcPts val="95"/>
              </a:spcBef>
            </a:pPr>
            <a:r>
              <a:rPr dirty="0" sz="1200" spc="-5">
                <a:latin typeface="Arial MT"/>
                <a:cs typeface="Arial MT"/>
              </a:rPr>
              <a:t>Whenever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major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 objectives.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give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rationale</a:t>
            </a:r>
            <a:r>
              <a:rPr dirty="0" sz="1200">
                <a:latin typeface="Arial MT"/>
                <a:cs typeface="Arial MT"/>
              </a:rPr>
              <a:t> over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here.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384" y="5254879"/>
            <a:ext cx="6405245" cy="609663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Times New Roman"/>
              <a:buAutoNum type="arabicPeriod" startAt="4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Content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(Facts,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concepts</a:t>
            </a:r>
            <a:r>
              <a:rPr dirty="0" sz="1200" b="1">
                <a:latin typeface="Arial"/>
                <a:cs typeface="Arial"/>
              </a:rPr>
              <a:t> and </a:t>
            </a:r>
            <a:r>
              <a:rPr dirty="0" sz="1200" spc="-5" b="1">
                <a:latin typeface="Arial"/>
                <a:cs typeface="Arial"/>
              </a:rPr>
              <a:t>generalizations)</a:t>
            </a:r>
            <a:endParaRPr sz="1200">
              <a:latin typeface="Arial"/>
              <a:cs typeface="Arial"/>
            </a:endParaRPr>
          </a:p>
          <a:p>
            <a:pPr algn="just" marL="254635" marR="762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When you give the title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topic, you 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identify the content also. Make sure while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content that you isolate facts, concepts and </a:t>
            </a:r>
            <a:r>
              <a:rPr dirty="0" sz="1200">
                <a:latin typeface="Arial MT"/>
                <a:cs typeface="Arial MT"/>
              </a:rPr>
              <a:t>generalizations </a:t>
            </a:r>
            <a:r>
              <a:rPr dirty="0" sz="1200" spc="-5">
                <a:latin typeface="Arial MT"/>
                <a:cs typeface="Arial MT"/>
              </a:rPr>
              <a:t>clearly. You </a:t>
            </a:r>
            <a:r>
              <a:rPr dirty="0" sz="1200">
                <a:latin typeface="Arial MT"/>
                <a:cs typeface="Arial MT"/>
              </a:rPr>
              <a:t>have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>
                <a:latin typeface="Arial MT"/>
                <a:cs typeface="Arial MT"/>
              </a:rPr>
              <a:t> tell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exactly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consists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generalizations.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105"/>
              </a:spcBef>
              <a:buFont typeface="Times New Roman"/>
              <a:buAutoNum type="arabicPeriod" startAt="5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Processes</a:t>
            </a:r>
            <a:endParaRPr sz="1200">
              <a:latin typeface="Arial"/>
              <a:cs typeface="Arial"/>
            </a:endParaRPr>
          </a:p>
          <a:p>
            <a:pPr algn="just" marL="248285">
              <a:lnSpc>
                <a:spcPct val="100000"/>
              </a:lnSpc>
              <a:spcBef>
                <a:spcPts val="615"/>
              </a:spcBef>
            </a:pPr>
            <a:r>
              <a:rPr dirty="0" sz="1200" spc="-5">
                <a:latin typeface="Arial MT"/>
                <a:cs typeface="Arial MT"/>
              </a:rPr>
              <a:t>You have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buFont typeface="Times New Roman"/>
              <a:buAutoNum type="arabicPeriod" startAt="6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Resources</a:t>
            </a:r>
            <a:endParaRPr sz="1200">
              <a:latin typeface="Arial"/>
              <a:cs typeface="Arial"/>
            </a:endParaRPr>
          </a:p>
          <a:p>
            <a:pPr algn="just" marL="254635" marR="1143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You have to identify the resources which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used while teaching a lesson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 students. You </a:t>
            </a:r>
            <a:r>
              <a:rPr dirty="0" sz="1200">
                <a:latin typeface="Arial MT"/>
                <a:cs typeface="Arial MT"/>
              </a:rPr>
              <a:t>have to make </a:t>
            </a:r>
            <a:r>
              <a:rPr dirty="0" sz="1200" spc="-5">
                <a:latin typeface="Arial MT"/>
                <a:cs typeface="Arial MT"/>
              </a:rPr>
              <a:t>a list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resources and submit that to school administration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 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manage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properly.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105"/>
              </a:spcBef>
              <a:buFont typeface="Times New Roman"/>
              <a:buAutoNum type="arabicPeriod" startAt="7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</a:t>
            </a:r>
            <a:endParaRPr sz="1200">
              <a:latin typeface="Arial"/>
              <a:cs typeface="Arial"/>
            </a:endParaRPr>
          </a:p>
          <a:p>
            <a:pPr algn="just" marL="254635" indent="-6350">
              <a:lnSpc>
                <a:spcPct val="100000"/>
              </a:lnSpc>
              <a:spcBef>
                <a:spcPts val="610"/>
              </a:spcBef>
            </a:pP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activities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activities.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endParaRPr sz="1200">
              <a:latin typeface="Arial MT"/>
              <a:cs typeface="Arial MT"/>
            </a:endParaRPr>
          </a:p>
          <a:p>
            <a:pPr algn="just" marL="254635" marR="5080">
              <a:lnSpc>
                <a:spcPct val="1442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there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 spc="-5">
                <a:latin typeface="Arial MT"/>
                <a:cs typeface="Arial MT"/>
              </a:rPr>
              <a:t> 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pupils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identify the learning </a:t>
            </a:r>
            <a:r>
              <a:rPr dirty="0" sz="1200">
                <a:latin typeface="Arial MT"/>
                <a:cs typeface="Arial MT"/>
              </a:rPr>
              <a:t>activities, </a:t>
            </a:r>
            <a:r>
              <a:rPr dirty="0" sz="1200" spc="-5">
                <a:latin typeface="Arial MT"/>
                <a:cs typeface="Arial MT"/>
              </a:rPr>
              <a:t>then students </a:t>
            </a:r>
            <a:r>
              <a:rPr dirty="0" sz="1200">
                <a:latin typeface="Arial MT"/>
                <a:cs typeface="Arial MT"/>
              </a:rPr>
              <a:t>may </a:t>
            </a:r>
            <a:r>
              <a:rPr dirty="0" sz="1200" spc="-5">
                <a:latin typeface="Arial MT"/>
                <a:cs typeface="Arial MT"/>
              </a:rPr>
              <a:t>not be able to </a:t>
            </a:r>
            <a:r>
              <a:rPr dirty="0" sz="1200">
                <a:latin typeface="Arial MT"/>
                <a:cs typeface="Arial MT"/>
              </a:rPr>
              <a:t> learn </a:t>
            </a:r>
            <a:r>
              <a:rPr dirty="0" sz="1200" spc="-5">
                <a:latin typeface="Arial MT"/>
                <a:cs typeface="Arial MT"/>
              </a:rPr>
              <a:t>the identified processes. E.g. experimentation, when students perform experiments </a:t>
            </a:r>
            <a:r>
              <a:rPr dirty="0" sz="1200">
                <a:latin typeface="Arial MT"/>
                <a:cs typeface="Arial MT"/>
              </a:rPr>
              <a:t> then </a:t>
            </a:r>
            <a:r>
              <a:rPr dirty="0" sz="1200" spc="-5">
                <a:latin typeface="Arial MT"/>
                <a:cs typeface="Arial MT"/>
              </a:rPr>
              <a:t>actually they goes through the process. That is a learning activity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them. If </a:t>
            </a:r>
            <a:r>
              <a:rPr dirty="0" sz="1200" spc="-10">
                <a:latin typeface="Arial MT"/>
                <a:cs typeface="Arial MT"/>
              </a:rPr>
              <a:t>teacher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would </a:t>
            </a:r>
            <a:r>
              <a:rPr dirty="0" sz="1200" spc="-5">
                <a:latin typeface="Arial MT"/>
                <a:cs typeface="Arial MT"/>
              </a:rPr>
              <a:t>demonstrate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experiment then </a:t>
            </a:r>
            <a:r>
              <a:rPr dirty="0" sz="1200">
                <a:latin typeface="Arial MT"/>
                <a:cs typeface="Arial MT"/>
              </a:rPr>
              <a:t>it would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 teaching </a:t>
            </a:r>
            <a:r>
              <a:rPr dirty="0" sz="1200">
                <a:latin typeface="Arial MT"/>
                <a:cs typeface="Arial MT"/>
              </a:rPr>
              <a:t>activity. </a:t>
            </a:r>
            <a:r>
              <a:rPr dirty="0" sz="1200" spc="-5">
                <a:latin typeface="Arial MT"/>
                <a:cs typeface="Arial MT"/>
              </a:rPr>
              <a:t>Learning activities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those where students are actively involved. And these activities are important because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unless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lessons.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8611"/>
            <a:ext cx="6631305" cy="3970654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710"/>
              </a:spcBef>
            </a:pPr>
            <a:r>
              <a:rPr dirty="0" sz="1200" b="1">
                <a:latin typeface="Times New Roman"/>
                <a:cs typeface="Times New Roman"/>
              </a:rPr>
              <a:t>8.</a:t>
            </a:r>
            <a:r>
              <a:rPr dirty="0" sz="1200" spc="26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Evaluation</a:t>
            </a:r>
            <a:endParaRPr sz="1200">
              <a:latin typeface="Arial"/>
              <a:cs typeface="Arial"/>
            </a:endParaRPr>
          </a:p>
          <a:p>
            <a:pPr marL="483870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You 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identify the criteria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evaluation. What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evaluate and 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evaluate should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identified 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Arial MT"/>
              <a:cs typeface="Arial MT"/>
            </a:endParaRPr>
          </a:p>
          <a:p>
            <a:pPr marL="18415" marR="8890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(Here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where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components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described.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carefully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better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understanding.)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Unit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Subject:</a:t>
            </a:r>
            <a:endParaRPr sz="1200">
              <a:latin typeface="Arial"/>
              <a:cs typeface="Arial"/>
            </a:endParaRPr>
          </a:p>
          <a:p>
            <a:pPr marL="20320" marR="5046345">
              <a:lnSpc>
                <a:spcPts val="4090"/>
              </a:lnSpc>
              <a:spcBef>
                <a:spcPts val="565"/>
              </a:spcBef>
            </a:pPr>
            <a:r>
              <a:rPr dirty="0" sz="1200" spc="-5" b="1">
                <a:latin typeface="Arial"/>
                <a:cs typeface="Arial"/>
              </a:rPr>
              <a:t>Unit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food (</a:t>
            </a:r>
            <a:r>
              <a:rPr dirty="0" sz="1200" spc="-5">
                <a:latin typeface="Arial MT"/>
                <a:cs typeface="Arial MT"/>
              </a:rPr>
              <a:t>Topic</a:t>
            </a:r>
            <a:r>
              <a:rPr dirty="0" sz="1200" spc="-5" b="1">
                <a:latin typeface="Arial"/>
                <a:cs typeface="Arial"/>
              </a:rPr>
              <a:t>)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Sub-topics: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(Content)</a:t>
            </a:r>
            <a:endParaRPr sz="12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195"/>
              </a:spcBef>
              <a:tabLst>
                <a:tab pos="706120" algn="l"/>
              </a:tabLst>
            </a:pPr>
            <a:r>
              <a:rPr dirty="0" sz="1200" spc="-5">
                <a:latin typeface="Arial MT"/>
                <a:cs typeface="Arial MT"/>
              </a:rPr>
              <a:t>i.	Food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right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human being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ii.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food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diet</a:t>
            </a:r>
            <a:endParaRPr sz="1200">
              <a:latin typeface="Arial MT"/>
              <a:cs typeface="Arial MT"/>
            </a:endParaRPr>
          </a:p>
          <a:p>
            <a:pPr marL="248920" marR="1614805">
              <a:lnSpc>
                <a:spcPct val="143300"/>
              </a:lnSpc>
              <a:tabLst>
                <a:tab pos="706120" algn="l"/>
                <a:tab pos="2077720" algn="l"/>
              </a:tabLst>
            </a:pPr>
            <a:r>
              <a:rPr dirty="0" sz="1200" spc="-5">
                <a:latin typeface="Arial MT"/>
                <a:cs typeface="Arial MT"/>
              </a:rPr>
              <a:t>iii.	Variety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iv.	Types of </a:t>
            </a:r>
            <a:r>
              <a:rPr dirty="0" sz="1200" spc="-5">
                <a:latin typeface="Arial MT"/>
                <a:cs typeface="Arial MT"/>
              </a:rPr>
              <a:t>food including whole food, organic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food, natural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623943"/>
            <a:ext cx="1397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v.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4543171"/>
            <a:ext cx="6391910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marR="508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Groups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includes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carbohydrates,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proteins,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fat,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water,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fiber,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vitamins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minerals.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vi.	</a:t>
            </a:r>
            <a:r>
              <a:rPr dirty="0" sz="1200" spc="-5">
                <a:latin typeface="Arial MT"/>
                <a:cs typeface="Arial MT"/>
              </a:rPr>
              <a:t>Balanced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diet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5643498"/>
            <a:ext cx="6631305" cy="600202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473075" indent="-229235">
              <a:lnSpc>
                <a:spcPct val="100000"/>
              </a:lnSpc>
              <a:spcBef>
                <a:spcPts val="700"/>
              </a:spcBef>
              <a:buFont typeface="Times New Roman"/>
              <a:buChar char="-"/>
              <a:tabLst>
                <a:tab pos="473075" algn="l"/>
                <a:tab pos="473709" algn="l"/>
              </a:tabLst>
            </a:pP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5" b="1">
                <a:latin typeface="Arial"/>
                <a:cs typeface="Arial"/>
              </a:rPr>
              <a:t> interdisciplinary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thematic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unit</a:t>
            </a:r>
            <a:endParaRPr sz="1200">
              <a:latin typeface="Arial"/>
              <a:cs typeface="Arial"/>
            </a:endParaRPr>
          </a:p>
          <a:p>
            <a:pPr marL="473075" marR="7620" indent="-228600">
              <a:lnSpc>
                <a:spcPts val="2080"/>
              </a:lnSpc>
              <a:spcBef>
                <a:spcPts val="135"/>
              </a:spcBef>
              <a:buFont typeface="Times New Roman"/>
              <a:buChar char="-"/>
              <a:tabLst>
                <a:tab pos="473075" algn="l"/>
                <a:tab pos="473709" algn="l"/>
              </a:tabLst>
            </a:pPr>
            <a:r>
              <a:rPr dirty="0" sz="1200" spc="-5">
                <a:latin typeface="Arial MT"/>
                <a:cs typeface="Arial MT"/>
              </a:rPr>
              <a:t>Such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requires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conscious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effort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principles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values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science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English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simultaneously.</a:t>
            </a:r>
            <a:r>
              <a:rPr dirty="0" sz="1200">
                <a:latin typeface="Arial MT"/>
                <a:cs typeface="Arial MT"/>
              </a:rPr>
              <a:t> (</a:t>
            </a:r>
            <a:r>
              <a:rPr dirty="0" sz="1200" b="1">
                <a:latin typeface="Arial"/>
                <a:cs typeface="Arial"/>
              </a:rPr>
              <a:t>Rationale</a:t>
            </a:r>
            <a:r>
              <a:rPr dirty="0" sz="1200">
                <a:latin typeface="Arial MT"/>
                <a:cs typeface="Arial MT"/>
              </a:rPr>
              <a:t>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Processes:</a:t>
            </a:r>
            <a:endParaRPr sz="1200">
              <a:latin typeface="Arial"/>
              <a:cs typeface="Arial"/>
            </a:endParaRPr>
          </a:p>
          <a:p>
            <a:pPr marL="18415" marR="889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Imagination,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analyzing,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recording,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interviewing,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questioning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making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generalizations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Learning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activities:</a:t>
            </a:r>
            <a:endParaRPr sz="14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5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analysis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followed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food.</a:t>
            </a:r>
            <a:endParaRPr sz="1200">
              <a:latin typeface="Arial MT"/>
              <a:cs typeface="Arial MT"/>
            </a:endParaRPr>
          </a:p>
          <a:p>
            <a:pPr marL="477520" marR="8255" indent="-228600">
              <a:lnSpc>
                <a:spcPct val="144200"/>
              </a:lnSpc>
              <a:spcBef>
                <a:spcPts val="1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custard,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steam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vegetables,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omelet 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French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fries.</a:t>
            </a:r>
            <a:endParaRPr sz="1200">
              <a:latin typeface="Arial MT"/>
              <a:cs typeface="Arial MT"/>
            </a:endParaRPr>
          </a:p>
          <a:p>
            <a:pPr marL="477520" marR="5080" indent="-228600">
              <a:lnSpc>
                <a:spcPct val="144400"/>
              </a:lnSpc>
              <a:spcBef>
                <a:spcPts val="2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Students will be asked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investigate food traditions in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families.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will interview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family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members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write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report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and</a:t>
            </a:r>
            <a:r>
              <a:rPr dirty="0" sz="1200">
                <a:latin typeface="Arial MT"/>
                <a:cs typeface="Arial MT"/>
              </a:rPr>
              <a:t> share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class.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60"/>
              </a:spcBef>
            </a:pPr>
            <a:r>
              <a:rPr dirty="0" sz="1200" spc="-5" b="1">
                <a:latin typeface="Arial"/>
                <a:cs typeface="Arial"/>
              </a:rPr>
              <a:t>Unit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–</a:t>
            </a:r>
            <a:r>
              <a:rPr dirty="0" sz="1200" spc="-5" b="1">
                <a:latin typeface="Arial"/>
                <a:cs typeface="Arial"/>
              </a:rPr>
              <a:t> Project learning:</a:t>
            </a:r>
            <a:endParaRPr sz="1200">
              <a:latin typeface="Arial"/>
              <a:cs typeface="Arial"/>
            </a:endParaRPr>
          </a:p>
          <a:p>
            <a:pPr marL="18415" marR="5080" indent="-6350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divides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5">
                <a:latin typeface="Arial MT"/>
                <a:cs typeface="Arial MT"/>
              </a:rPr>
              <a:t> names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selected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items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board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 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</a:t>
            </a:r>
            <a:r>
              <a:rPr dirty="0" sz="1200">
                <a:latin typeface="Arial MT"/>
                <a:cs typeface="Arial MT"/>
              </a:rPr>
              <a:t> know it.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48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Arrange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food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carnival.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Prepare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 estimate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5">
                <a:latin typeface="Arial MT"/>
                <a:cs typeface="Arial MT"/>
              </a:rPr>
              <a:t> the food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budget.</a:t>
            </a:r>
            <a:endParaRPr sz="1200">
              <a:latin typeface="Arial MT"/>
              <a:cs typeface="Arial MT"/>
            </a:endParaRPr>
          </a:p>
          <a:p>
            <a:pPr marL="477520" marR="471170" indent="-228600">
              <a:lnSpc>
                <a:spcPct val="143300"/>
              </a:lnSpc>
              <a:spcBef>
                <a:spcPts val="3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hold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carnival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(work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 fellows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decide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it)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Divide responsibilities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4039"/>
            <a:ext cx="6634480" cy="1110615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477520" indent="-229235">
              <a:lnSpc>
                <a:spcPct val="100000"/>
              </a:lnSpc>
              <a:spcBef>
                <a:spcPts val="745"/>
              </a:spcBef>
              <a:buFont typeface="Times New Roman"/>
              <a:buAutoNum type="arabicPeriod" startAt="5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Design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print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brochure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market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stalls.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 startAt="5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Prepare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report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 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visitor’s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impressions.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75"/>
              </a:spcBef>
              <a:buFont typeface="Times New Roman"/>
              <a:buAutoNum type="arabicPeriod" startAt="5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Present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report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whole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class.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45"/>
              </a:spcBef>
              <a:buFont typeface="Times New Roman"/>
              <a:buAutoNum type="arabicPeriod" startAt="5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Upload your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reports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school </a:t>
            </a:r>
            <a:r>
              <a:rPr dirty="0" sz="1200" spc="-5">
                <a:latin typeface="Arial MT"/>
                <a:cs typeface="Arial MT"/>
              </a:rPr>
              <a:t>website.</a:t>
            </a:r>
            <a:endParaRPr sz="1200">
              <a:latin typeface="Arial MT"/>
              <a:cs typeface="Arial MT"/>
            </a:endParaRPr>
          </a:p>
          <a:p>
            <a:pPr algn="just" marL="255270" marR="6350" indent="-6350">
              <a:lnSpc>
                <a:spcPct val="144200"/>
              </a:lnSpc>
              <a:spcBef>
                <a:spcPts val="985"/>
              </a:spcBef>
            </a:pP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this one </a:t>
            </a:r>
            <a:r>
              <a:rPr dirty="0" sz="1200">
                <a:latin typeface="Arial MT"/>
                <a:cs typeface="Arial MT"/>
              </a:rPr>
              <a:t>activity </a:t>
            </a:r>
            <a:r>
              <a:rPr dirty="0" sz="1200" spc="-5">
                <a:latin typeface="Arial MT"/>
                <a:cs typeface="Arial MT"/>
              </a:rPr>
              <a:t>of food carnival 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useful activity in terms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giving opportunity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to experience a range of processes. When we are planning our unit, </a:t>
            </a:r>
            <a:r>
              <a:rPr dirty="0" sz="1200">
                <a:latin typeface="Arial MT"/>
                <a:cs typeface="Arial MT"/>
              </a:rPr>
              <a:t>learning </a:t>
            </a:r>
            <a:r>
              <a:rPr dirty="0" sz="1200" spc="-5">
                <a:latin typeface="Arial MT"/>
                <a:cs typeface="Arial MT"/>
              </a:rPr>
              <a:t>activities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hold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very </a:t>
            </a:r>
            <a:r>
              <a:rPr dirty="0" sz="1200" spc="-5">
                <a:latin typeface="Arial MT"/>
                <a:cs typeface="Arial MT"/>
              </a:rPr>
              <a:t>prominent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position.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 MT"/>
              <a:cs typeface="Arial MT"/>
            </a:endParaRPr>
          </a:p>
          <a:p>
            <a:pPr algn="just" marL="255270" marR="10795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(Teacher has also given alternatives that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food carnival is not possible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school </a:t>
            </a:r>
            <a:r>
              <a:rPr dirty="0" sz="1200" spc="-10">
                <a:latin typeface="Arial MT"/>
                <a:cs typeface="Arial MT"/>
              </a:rPr>
              <a:t>then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 should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done)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algn="ctr" marR="5489575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Projects: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Growing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organic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Making 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cookbook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Making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cookbook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diabetics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Making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cookbook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high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cholesterol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patients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7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Making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cookbooks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</a:t>
            </a:r>
            <a:r>
              <a:rPr dirty="0" sz="1200">
                <a:latin typeface="Arial MT"/>
                <a:cs typeface="Arial MT"/>
              </a:rPr>
              <a:t> blood</a:t>
            </a:r>
            <a:r>
              <a:rPr dirty="0" sz="1200" spc="-5">
                <a:latin typeface="Arial MT"/>
                <a:cs typeface="Arial MT"/>
              </a:rPr>
              <a:t> pressure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patients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Arial MT"/>
              <a:cs typeface="Arial MT"/>
            </a:endParaRPr>
          </a:p>
          <a:p>
            <a:pPr algn="ctr" marR="5483225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Food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–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Inquiry:</a:t>
            </a:r>
            <a:endParaRPr sz="1200">
              <a:latin typeface="Arial"/>
              <a:cs typeface="Arial"/>
            </a:endParaRPr>
          </a:p>
          <a:p>
            <a:pPr algn="just" marL="18415" marR="571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Asking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inquire dietary habits of </a:t>
            </a:r>
            <a:r>
              <a:rPr dirty="0" sz="1200">
                <a:latin typeface="Arial MT"/>
                <a:cs typeface="Arial MT"/>
              </a:rPr>
              <a:t>5-8 </a:t>
            </a:r>
            <a:r>
              <a:rPr dirty="0" sz="1200" spc="-5">
                <a:latin typeface="Arial MT"/>
                <a:cs typeface="Arial MT"/>
              </a:rPr>
              <a:t>years old children, </a:t>
            </a:r>
            <a:r>
              <a:rPr dirty="0" sz="1200">
                <a:latin typeface="Arial MT"/>
                <a:cs typeface="Arial MT"/>
              </a:rPr>
              <a:t>9-15 </a:t>
            </a:r>
            <a:r>
              <a:rPr dirty="0" sz="1200" spc="-5">
                <a:latin typeface="Arial MT"/>
                <a:cs typeface="Arial MT"/>
              </a:rPr>
              <a:t>years old children, 16-25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years old people and </a:t>
            </a:r>
            <a:r>
              <a:rPr dirty="0" sz="1200">
                <a:latin typeface="Arial MT"/>
                <a:cs typeface="Arial MT"/>
              </a:rPr>
              <a:t>55-70 </a:t>
            </a:r>
            <a:r>
              <a:rPr dirty="0" sz="1200" spc="-5">
                <a:latin typeface="Arial MT"/>
                <a:cs typeface="Arial MT"/>
              </a:rPr>
              <a:t>years old people. Try to investigate the relationship between their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dietary habits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weight.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475"/>
              </a:spcBef>
            </a:pPr>
            <a:r>
              <a:rPr dirty="0" sz="1200" spc="-5" b="1">
                <a:latin typeface="Arial"/>
                <a:cs typeface="Arial"/>
              </a:rPr>
              <a:t>Discussion: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whenever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unit,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really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select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carefully.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make a match between processes and learning activities. What do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teachers do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that we focus on the completion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syllabus.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a wrong assumption because </a:t>
            </a:r>
            <a:r>
              <a:rPr dirty="0" sz="1200">
                <a:latin typeface="Arial MT"/>
                <a:cs typeface="Arial MT"/>
              </a:rPr>
              <a:t>when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 plan a lesson,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decide on the content </a:t>
            </a:r>
            <a:r>
              <a:rPr dirty="0" sz="1200" spc="5">
                <a:latin typeface="Arial MT"/>
                <a:cs typeface="Arial MT"/>
              </a:rPr>
              <a:t>which </a:t>
            </a:r>
            <a:r>
              <a:rPr dirty="0" sz="1200" spc="-5">
                <a:latin typeface="Arial MT"/>
                <a:cs typeface="Arial MT"/>
              </a:rPr>
              <a:t>we think is important to teach. And </a:t>
            </a:r>
            <a:r>
              <a:rPr dirty="0" sz="1200">
                <a:latin typeface="Arial MT"/>
                <a:cs typeface="Arial MT"/>
              </a:rPr>
              <a:t>also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 have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give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rationale</a:t>
            </a:r>
            <a:r>
              <a:rPr dirty="0" sz="1200">
                <a:latin typeface="Arial MT"/>
                <a:cs typeface="Arial MT"/>
              </a:rPr>
              <a:t> 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selected.</a:t>
            </a:r>
            <a:endParaRPr sz="12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455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are.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endParaRPr sz="1200">
              <a:latin typeface="Arial MT"/>
              <a:cs typeface="Arial MT"/>
            </a:endParaRPr>
          </a:p>
          <a:p>
            <a:pPr algn="just" marL="18415" marR="762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supposed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differ </a:t>
            </a:r>
            <a:r>
              <a:rPr dirty="0" sz="1200" spc="-5">
                <a:latin typeface="Arial MT"/>
                <a:cs typeface="Arial MT"/>
              </a:rPr>
              <a:t>according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processes. So, unit planning is </a:t>
            </a:r>
            <a:r>
              <a:rPr dirty="0" sz="1200">
                <a:latin typeface="Arial MT"/>
                <a:cs typeface="Arial MT"/>
              </a:rPr>
              <a:t>very challenging </a:t>
            </a:r>
            <a:r>
              <a:rPr dirty="0" sz="1200" spc="-5">
                <a:latin typeface="Arial MT"/>
                <a:cs typeface="Arial MT"/>
              </a:rPr>
              <a:t>and time consuming but 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most important thing is that good unit planning is a guarantee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effective instruction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effective learning.</a:t>
            </a:r>
            <a:endParaRPr sz="1200">
              <a:latin typeface="Arial MT"/>
              <a:cs typeface="Arial MT"/>
            </a:endParaRPr>
          </a:p>
          <a:p>
            <a:pPr algn="just" marL="18415" marR="11430" indent="-6350">
              <a:lnSpc>
                <a:spcPct val="1442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identify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facts, concepts and generalizations while planning a </a:t>
            </a:r>
            <a:r>
              <a:rPr dirty="0" sz="1200">
                <a:latin typeface="Arial MT"/>
                <a:cs typeface="Arial MT"/>
              </a:rPr>
              <a:t>unit. </a:t>
            </a:r>
            <a:r>
              <a:rPr dirty="0" sz="1200" spc="-5">
                <a:latin typeface="Arial MT"/>
                <a:cs typeface="Arial MT"/>
              </a:rPr>
              <a:t>In unit plan while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 content, a teacher writes </a:t>
            </a:r>
            <a:r>
              <a:rPr dirty="0" sz="1200" spc="-10">
                <a:latin typeface="Arial MT"/>
                <a:cs typeface="Arial MT"/>
              </a:rPr>
              <a:t>some </a:t>
            </a:r>
            <a:r>
              <a:rPr dirty="0" sz="1200" spc="-5">
                <a:latin typeface="Arial MT"/>
                <a:cs typeface="Arial MT"/>
              </a:rPr>
              <a:t>questions too.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useful </a:t>
            </a:r>
            <a:r>
              <a:rPr dirty="0" sz="1200" spc="-5">
                <a:latin typeface="Arial MT"/>
                <a:cs typeface="Arial MT"/>
              </a:rPr>
              <a:t>because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can design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easily.</a:t>
            </a:r>
            <a:endParaRPr sz="1200">
              <a:latin typeface="Arial MT"/>
              <a:cs typeface="Arial MT"/>
            </a:endParaRPr>
          </a:p>
          <a:p>
            <a:pPr algn="just" marL="18415" marR="8890" indent="-6350">
              <a:lnSpc>
                <a:spcPct val="144200"/>
              </a:lnSpc>
              <a:spcBef>
                <a:spcPts val="10"/>
              </a:spcBef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evaluation, we discuss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there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things; criteria and method. So when you are </a:t>
            </a:r>
            <a:r>
              <a:rPr dirty="0" sz="1200">
                <a:latin typeface="Arial MT"/>
                <a:cs typeface="Arial MT"/>
              </a:rPr>
              <a:t>going </a:t>
            </a:r>
            <a:r>
              <a:rPr dirty="0" sz="1200" spc="-15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 the processes, you need </a:t>
            </a:r>
            <a:r>
              <a:rPr dirty="0" sz="1200">
                <a:latin typeface="Arial MT"/>
                <a:cs typeface="Arial MT"/>
              </a:rPr>
              <a:t>to adopt </a:t>
            </a:r>
            <a:r>
              <a:rPr dirty="0" sz="1200" spc="-5">
                <a:latin typeface="Arial MT"/>
                <a:cs typeface="Arial MT"/>
              </a:rPr>
              <a:t>alternate methods. E.g.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want </a:t>
            </a:r>
            <a:r>
              <a:rPr dirty="0" sz="1200">
                <a:latin typeface="Arial MT"/>
                <a:cs typeface="Arial MT"/>
              </a:rPr>
              <a:t>to check </a:t>
            </a:r>
            <a:r>
              <a:rPr dirty="0" sz="1200" spc="-5">
                <a:latin typeface="Arial MT"/>
                <a:cs typeface="Arial MT"/>
              </a:rPr>
              <a:t>whether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-5">
                <a:latin typeface="Arial MT"/>
                <a:cs typeface="Arial MT"/>
              </a:rPr>
              <a:t> communicate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 or not? 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 assess them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 paper pencil </a:t>
            </a:r>
            <a:r>
              <a:rPr dirty="0" sz="1200">
                <a:latin typeface="Arial MT"/>
                <a:cs typeface="Arial MT"/>
              </a:rPr>
              <a:t>test.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>
                <a:latin typeface="Arial MT"/>
                <a:cs typeface="Arial MT"/>
              </a:rPr>
              <a:t>never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assessed through paper and pencil tests. You have to create a check list </a:t>
            </a:r>
            <a:r>
              <a:rPr dirty="0" sz="1200">
                <a:latin typeface="Arial MT"/>
                <a:cs typeface="Arial MT"/>
              </a:rPr>
              <a:t> for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assessing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communication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report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writing,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1940" cy="4959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task to write a report then analyze it. Processes are usually assessed through analysis method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through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200" spc="-5">
                <a:latin typeface="Arial MT"/>
                <a:cs typeface="Arial MT"/>
              </a:rPr>
              <a:t>(Here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brief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interviews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opinion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unit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planning)</a:t>
            </a:r>
            <a:endParaRPr sz="12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  <a:spcBef>
                <a:spcPts val="625"/>
              </a:spcBef>
            </a:pPr>
            <a:r>
              <a:rPr dirty="0" sz="1200" b="1">
                <a:latin typeface="Arial"/>
                <a:cs typeface="Arial"/>
              </a:rPr>
              <a:t>Interview: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Firstly, </a:t>
            </a:r>
            <a:r>
              <a:rPr dirty="0" sz="1200">
                <a:latin typeface="Arial MT"/>
                <a:cs typeface="Arial MT"/>
              </a:rPr>
              <a:t>I consider lesson </a:t>
            </a:r>
            <a:r>
              <a:rPr dirty="0" sz="1200" spc="-5">
                <a:latin typeface="Arial MT"/>
                <a:cs typeface="Arial MT"/>
              </a:rPr>
              <a:t>planning very important and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usually focus on that. But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was failed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 co-ordination with </a:t>
            </a:r>
            <a:r>
              <a:rPr dirty="0" sz="1200">
                <a:latin typeface="Arial MT"/>
                <a:cs typeface="Arial MT"/>
              </a:rPr>
              <a:t>the class. </a:t>
            </a:r>
            <a:r>
              <a:rPr dirty="0" sz="1200" spc="-5">
                <a:latin typeface="Arial MT"/>
                <a:cs typeface="Arial MT"/>
              </a:rPr>
              <a:t>Then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discuss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with </a:t>
            </a:r>
            <a:r>
              <a:rPr dirty="0" sz="1200">
                <a:latin typeface="Arial MT"/>
                <a:cs typeface="Arial MT"/>
              </a:rPr>
              <a:t>the mentor, </a:t>
            </a:r>
            <a:r>
              <a:rPr dirty="0" sz="1200" spc="-5">
                <a:latin typeface="Arial MT"/>
                <a:cs typeface="Arial MT"/>
              </a:rPr>
              <a:t>he said that you must plan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units before lessons. Because that is a root </a:t>
            </a:r>
            <a:r>
              <a:rPr dirty="0" sz="1200">
                <a:latin typeface="Arial MT"/>
                <a:cs typeface="Arial MT"/>
              </a:rPr>
              <a:t>towards </a:t>
            </a:r>
            <a:r>
              <a:rPr dirty="0" sz="1200" spc="-5">
                <a:latin typeface="Arial MT"/>
                <a:cs typeface="Arial MT"/>
              </a:rPr>
              <a:t>lesson planning and </a:t>
            </a:r>
            <a:r>
              <a:rPr dirty="0" sz="1200" spc="-10">
                <a:latin typeface="Arial MT"/>
                <a:cs typeface="Arial MT"/>
              </a:rPr>
              <a:t>you can </a:t>
            </a:r>
            <a:r>
              <a:rPr dirty="0" sz="1200" spc="-5">
                <a:latin typeface="Arial MT"/>
                <a:cs typeface="Arial MT"/>
              </a:rPr>
              <a:t>never develop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coordination in the class.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 bit </a:t>
            </a:r>
            <a:r>
              <a:rPr dirty="0" sz="1200">
                <a:latin typeface="Arial MT"/>
                <a:cs typeface="Arial MT"/>
              </a:rPr>
              <a:t>time </a:t>
            </a:r>
            <a:r>
              <a:rPr dirty="0" sz="1200" spc="-5">
                <a:latin typeface="Arial MT"/>
                <a:cs typeface="Arial MT"/>
              </a:rPr>
              <a:t>consuming activity but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important and </a:t>
            </a:r>
            <a:r>
              <a:rPr dirty="0" sz="1200">
                <a:latin typeface="Arial MT"/>
                <a:cs typeface="Arial MT"/>
              </a:rPr>
              <a:t>root towards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success. </a:t>
            </a:r>
            <a:r>
              <a:rPr dirty="0" sz="1200" spc="-5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really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helps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adding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omitting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Interview: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  <a:p>
            <a:pPr algn="just" marL="18415" indent="-6350">
              <a:lnSpc>
                <a:spcPct val="100000"/>
              </a:lnSpc>
              <a:spcBef>
                <a:spcPts val="610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 unit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before lesson.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emphasize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take</a:t>
            </a:r>
            <a:endParaRPr sz="1200">
              <a:latin typeface="Arial MT"/>
              <a:cs typeface="Arial MT"/>
            </a:endParaRPr>
          </a:p>
          <a:p>
            <a:pPr algn="just" marL="18415" marR="5080">
              <a:lnSpc>
                <a:spcPct val="1442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both lesson and unit side by side, we can teach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lesson well </a:t>
            </a:r>
            <a:r>
              <a:rPr dirty="0" sz="1200">
                <a:latin typeface="Arial MT"/>
                <a:cs typeface="Arial MT"/>
              </a:rPr>
              <a:t>organized. We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provide useful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guidance 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algn="just" marL="18415" marR="7620" indent="-6350">
              <a:lnSpc>
                <a:spcPct val="144200"/>
              </a:lnSpc>
              <a:spcBef>
                <a:spcPts val="10"/>
              </a:spcBef>
            </a:pP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teachers most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times say that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 useful </a:t>
            </a:r>
            <a:r>
              <a:rPr dirty="0" sz="1200">
                <a:latin typeface="Arial MT"/>
                <a:cs typeface="Arial MT"/>
              </a:rPr>
              <a:t>activity </a:t>
            </a:r>
            <a:r>
              <a:rPr dirty="0" sz="1200" spc="-5">
                <a:latin typeface="Arial MT"/>
                <a:cs typeface="Arial MT"/>
              </a:rPr>
              <a:t>as discussed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above interviews. </a:t>
            </a:r>
            <a:r>
              <a:rPr dirty="0" sz="1200">
                <a:latin typeface="Arial MT"/>
                <a:cs typeface="Arial MT"/>
              </a:rPr>
              <a:t> You </a:t>
            </a:r>
            <a:r>
              <a:rPr dirty="0" sz="1200" spc="-5">
                <a:latin typeface="Arial MT"/>
                <a:cs typeface="Arial MT"/>
              </a:rPr>
              <a:t>can </a:t>
            </a:r>
            <a:r>
              <a:rPr dirty="0" sz="1200">
                <a:latin typeface="Arial MT"/>
                <a:cs typeface="Arial MT"/>
              </a:rPr>
              <a:t>break </a:t>
            </a:r>
            <a:r>
              <a:rPr dirty="0" sz="1200" spc="-5">
                <a:latin typeface="Arial MT"/>
                <a:cs typeface="Arial MT"/>
              </a:rPr>
              <a:t>the content into blocks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can’t integrate it. There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link between the </a:t>
            </a:r>
            <a:r>
              <a:rPr dirty="0" sz="1200">
                <a:latin typeface="Arial MT"/>
                <a:cs typeface="Arial MT"/>
              </a:rPr>
              <a:t> interdisciplinary </a:t>
            </a:r>
            <a:r>
              <a:rPr dirty="0" sz="1200" spc="-5">
                <a:latin typeface="Arial MT"/>
                <a:cs typeface="Arial MT"/>
              </a:rPr>
              <a:t>thematic </a:t>
            </a:r>
            <a:r>
              <a:rPr dirty="0" sz="1200">
                <a:latin typeface="Arial MT"/>
                <a:cs typeface="Arial MT"/>
              </a:rPr>
              <a:t>units. </a:t>
            </a:r>
            <a:r>
              <a:rPr dirty="0" sz="1200" spc="-5">
                <a:latin typeface="Arial MT"/>
                <a:cs typeface="Arial MT"/>
              </a:rPr>
              <a:t>When we plan </a:t>
            </a:r>
            <a:r>
              <a:rPr dirty="0" sz="1200">
                <a:latin typeface="Arial MT"/>
                <a:cs typeface="Arial MT"/>
              </a:rPr>
              <a:t>units </a:t>
            </a:r>
            <a:r>
              <a:rPr dirty="0" sz="1200" spc="-5">
                <a:latin typeface="Arial MT"/>
                <a:cs typeface="Arial MT"/>
              </a:rPr>
              <a:t>integrated, we have </a:t>
            </a:r>
            <a:r>
              <a:rPr dirty="0" sz="1200">
                <a:latin typeface="Arial MT"/>
                <a:cs typeface="Arial MT"/>
              </a:rPr>
              <a:t>to assess </a:t>
            </a:r>
            <a:r>
              <a:rPr dirty="0" sz="1200" spc="-5">
                <a:latin typeface="Arial MT"/>
                <a:cs typeface="Arial MT"/>
              </a:rPr>
              <a:t>them integrated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 well.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6072251"/>
            <a:ext cx="6972300" cy="315595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16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“Lesson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Plan”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Outline: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4384" y="6385432"/>
            <a:ext cx="2475865" cy="54737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Lesson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plan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Components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lesson </a:t>
            </a: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-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45534" y="6724268"/>
            <a:ext cx="5772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S</a:t>
            </a:r>
            <a:r>
              <a:rPr dirty="0" sz="1200" b="1">
                <a:latin typeface="Arial"/>
                <a:cs typeface="Arial"/>
              </a:rPr>
              <a:t>ubje</a:t>
            </a:r>
            <a:r>
              <a:rPr dirty="0" sz="1200" spc="-5" b="1">
                <a:latin typeface="Arial"/>
                <a:cs typeface="Arial"/>
              </a:rPr>
              <a:t>c</a:t>
            </a:r>
            <a:r>
              <a:rPr dirty="0" sz="1200" b="1"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5480" y="6908672"/>
            <a:ext cx="6625590" cy="470789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706120" indent="-229235">
              <a:lnSpc>
                <a:spcPct val="100000"/>
              </a:lnSpc>
              <a:spcBef>
                <a:spcPts val="9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Instructional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  <a:p>
            <a:pPr marL="70612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Rationale</a:t>
            </a:r>
            <a:endParaRPr sz="1200">
              <a:latin typeface="Arial"/>
              <a:cs typeface="Arial"/>
            </a:endParaRPr>
          </a:p>
          <a:p>
            <a:pPr marL="706120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Content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  <a:p>
            <a:pPr marL="70612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Instructional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procedures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Tyler’s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rationale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Bloom’s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taxonomy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Gagne’s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lesson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Templates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lesson </a:t>
            </a:r>
            <a:r>
              <a:rPr dirty="0" sz="1200" b="1">
                <a:latin typeface="Arial"/>
                <a:cs typeface="Arial"/>
              </a:rPr>
              <a:t>plan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Unit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-5" b="1">
                <a:latin typeface="Arial"/>
                <a:cs typeface="Arial"/>
              </a:rPr>
              <a:t> vs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plan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Arial"/>
              <a:cs typeface="Arial"/>
            </a:endParaRPr>
          </a:p>
          <a:p>
            <a:pPr marL="18415" marR="5080" indent="-6350">
              <a:lnSpc>
                <a:spcPct val="143300"/>
              </a:lnSpc>
            </a:pPr>
            <a:r>
              <a:rPr dirty="0" sz="1200">
                <a:latin typeface="Arial MT"/>
                <a:cs typeface="Arial MT"/>
              </a:rPr>
              <a:t>Before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start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planning,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here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lesson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given below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identify,</a:t>
            </a:r>
            <a:r>
              <a:rPr dirty="0" sz="1200">
                <a:latin typeface="Arial MT"/>
                <a:cs typeface="Arial MT"/>
              </a:rPr>
              <a:t> if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>
                <a:latin typeface="Arial MT"/>
                <a:cs typeface="Arial MT"/>
              </a:rPr>
              <a:t> or </a:t>
            </a:r>
            <a:r>
              <a:rPr dirty="0" sz="1200" spc="-5">
                <a:latin typeface="Arial MT"/>
                <a:cs typeface="Arial MT"/>
              </a:rPr>
              <a:t>not?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Task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Read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5" b="1">
                <a:latin typeface="Arial"/>
                <a:cs typeface="Arial"/>
              </a:rPr>
              <a:t> following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and </a:t>
            </a:r>
            <a:r>
              <a:rPr dirty="0" sz="1200" b="1">
                <a:latin typeface="Arial"/>
                <a:cs typeface="Arial"/>
              </a:rPr>
              <a:t>decide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if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lesson</a:t>
            </a:r>
            <a:r>
              <a:rPr dirty="0" sz="1200" b="1">
                <a:latin typeface="Arial"/>
                <a:cs typeface="Arial"/>
              </a:rPr>
              <a:t> plan?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128" y="656335"/>
            <a:ext cx="22434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-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Tuesday: </a:t>
            </a:r>
            <a:r>
              <a:rPr dirty="0" sz="1200">
                <a:latin typeface="Arial MT"/>
                <a:cs typeface="Arial MT"/>
              </a:rPr>
              <a:t>14</a:t>
            </a:r>
            <a:r>
              <a:rPr dirty="0" baseline="27777" sz="1200">
                <a:latin typeface="Arial MT"/>
                <a:cs typeface="Arial MT"/>
              </a:rPr>
              <a:t>th</a:t>
            </a:r>
            <a:r>
              <a:rPr dirty="0" baseline="27777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February, 2011.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858773"/>
            <a:ext cx="4758690" cy="135636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Review spelling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(5 </a:t>
            </a:r>
            <a:r>
              <a:rPr dirty="0" sz="1200">
                <a:latin typeface="Arial MT"/>
                <a:cs typeface="Arial MT"/>
              </a:rPr>
              <a:t>min)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Silent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underlining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difficult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chapter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15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(10</a:t>
            </a:r>
            <a:r>
              <a:rPr dirty="0" sz="1200">
                <a:latin typeface="Arial MT"/>
                <a:cs typeface="Arial MT"/>
              </a:rPr>
              <a:t> min)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Pronouncing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difficult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words (5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min)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Discussing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meaning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difficult </a:t>
            </a:r>
            <a:r>
              <a:rPr dirty="0" sz="1200" spc="-5">
                <a:latin typeface="Arial MT"/>
                <a:cs typeface="Arial MT"/>
              </a:rPr>
              <a:t>words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(10 min)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200">
                <a:latin typeface="Arial MT"/>
                <a:cs typeface="Arial MT"/>
              </a:rPr>
              <a:t>Homework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(5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min)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2118105"/>
            <a:ext cx="6630034" cy="1080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fact,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not a lesson </a:t>
            </a:r>
            <a:r>
              <a:rPr dirty="0" sz="1200">
                <a:latin typeface="Arial MT"/>
                <a:cs typeface="Arial MT"/>
              </a:rPr>
              <a:t>plan. </a:t>
            </a:r>
            <a:r>
              <a:rPr dirty="0" sz="1200" spc="-5">
                <a:latin typeface="Arial MT"/>
                <a:cs typeface="Arial MT"/>
              </a:rPr>
              <a:t>You might have seen lesson </a:t>
            </a:r>
            <a:r>
              <a:rPr dirty="0" sz="1200">
                <a:latin typeface="Arial MT"/>
                <a:cs typeface="Arial MT"/>
              </a:rPr>
              <a:t>plans </a:t>
            </a:r>
            <a:r>
              <a:rPr dirty="0" sz="1200" spc="-5">
                <a:latin typeface="Arial MT"/>
                <a:cs typeface="Arial MT"/>
              </a:rPr>
              <a:t>in such form.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10">
                <a:latin typeface="Arial MT"/>
                <a:cs typeface="Arial MT"/>
              </a:rPr>
              <a:t>seen, </a:t>
            </a:r>
            <a:r>
              <a:rPr dirty="0" sz="1200" spc="-5">
                <a:latin typeface="Arial MT"/>
                <a:cs typeface="Arial MT"/>
              </a:rPr>
              <a:t>this may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5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minutes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next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10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minutes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lesson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activity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schedule,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activity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schedule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indicates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division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time.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3465864"/>
            <a:ext cx="6636384" cy="820229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400" spc="-5" b="1">
                <a:latin typeface="Arial"/>
                <a:cs typeface="Arial"/>
              </a:rPr>
              <a:t>Lesson</a:t>
            </a:r>
            <a:r>
              <a:rPr dirty="0" sz="1400" spc="-9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plan:</a:t>
            </a:r>
            <a:endParaRPr sz="1400">
              <a:latin typeface="Arial"/>
              <a:cs typeface="Arial"/>
            </a:endParaRPr>
          </a:p>
          <a:p>
            <a:pPr algn="just" marL="473075" marR="10160" indent="-228600">
              <a:lnSpc>
                <a:spcPts val="2080"/>
              </a:lnSpc>
              <a:spcBef>
                <a:spcPts val="90"/>
              </a:spcBef>
              <a:buFont typeface="Times New Roman"/>
              <a:buAutoNum type="arabicPeriod"/>
              <a:tabLst>
                <a:tab pos="473709" algn="l"/>
              </a:tabLst>
            </a:pPr>
            <a:r>
              <a:rPr dirty="0" sz="1200" b="1">
                <a:latin typeface="Arial"/>
                <a:cs typeface="Arial"/>
              </a:rPr>
              <a:t>Lesson is </a:t>
            </a:r>
            <a:r>
              <a:rPr dirty="0" sz="1200" spc="-5" b="1">
                <a:latin typeface="Arial"/>
                <a:cs typeface="Arial"/>
              </a:rPr>
              <a:t>a piece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a </a:t>
            </a:r>
            <a:r>
              <a:rPr dirty="0" sz="1200" b="1">
                <a:latin typeface="Arial"/>
                <a:cs typeface="Arial"/>
              </a:rPr>
              <a:t>unit </a:t>
            </a:r>
            <a:r>
              <a:rPr dirty="0" sz="1200" spc="-5" b="1">
                <a:latin typeface="Arial"/>
                <a:cs typeface="Arial"/>
              </a:rPr>
              <a:t>NOT a block </a:t>
            </a:r>
            <a:r>
              <a:rPr dirty="0" sz="1200" b="1">
                <a:latin typeface="Arial"/>
                <a:cs typeface="Arial"/>
              </a:rPr>
              <a:t>of time.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have decided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a unit of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light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definitely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whole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light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taught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need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divide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whole unit in </a:t>
            </a:r>
            <a:r>
              <a:rPr dirty="0" sz="1200">
                <a:latin typeface="Arial MT"/>
                <a:cs typeface="Arial MT"/>
              </a:rPr>
              <a:t>certain pieces. </a:t>
            </a:r>
            <a:r>
              <a:rPr dirty="0" sz="1200" spc="-10">
                <a:latin typeface="Arial MT"/>
                <a:cs typeface="Arial MT"/>
              </a:rPr>
              <a:t>May </a:t>
            </a:r>
            <a:r>
              <a:rPr dirty="0" sz="1200" spc="-5">
                <a:latin typeface="Arial MT"/>
                <a:cs typeface="Arial MT"/>
              </a:rPr>
              <a:t>be you decide to divide the whole unit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light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 10 pieces, so each piece </a:t>
            </a:r>
            <a:r>
              <a:rPr dirty="0" sz="1200">
                <a:latin typeface="Arial MT"/>
                <a:cs typeface="Arial MT"/>
              </a:rPr>
              <a:t>would </a:t>
            </a:r>
            <a:r>
              <a:rPr dirty="0" sz="1200" spc="-5">
                <a:latin typeface="Arial MT"/>
                <a:cs typeface="Arial MT"/>
              </a:rPr>
              <a:t>require a plan. That plan is called lesson plan. Lesson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part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 plan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 </a:t>
            </a:r>
            <a:r>
              <a:rPr dirty="0" sz="1200">
                <a:latin typeface="Arial MT"/>
                <a:cs typeface="Arial MT"/>
              </a:rPr>
              <a:t>activity </a:t>
            </a:r>
            <a:r>
              <a:rPr dirty="0" sz="1200" spc="-5">
                <a:latin typeface="Arial MT"/>
                <a:cs typeface="Arial MT"/>
              </a:rPr>
              <a:t>schedule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block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timetable.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1700">
              <a:latin typeface="Arial MT"/>
              <a:cs typeface="Arial MT"/>
            </a:endParaRPr>
          </a:p>
          <a:p>
            <a:pPr algn="just" marL="473075" marR="11430" indent="-228600">
              <a:lnSpc>
                <a:spcPct val="142500"/>
              </a:lnSpc>
              <a:buFont typeface="Times New Roman"/>
              <a:buAutoNum type="arabicPeriod"/>
              <a:tabLst>
                <a:tab pos="473709" algn="l"/>
              </a:tabLst>
            </a:pP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lesson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defined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“a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systematic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design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development,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implementation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evaluation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-5" b="1">
                <a:latin typeface="Arial"/>
                <a:cs typeface="Arial"/>
              </a:rPr>
              <a:t> instruction”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(Chatel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2002)</a:t>
            </a:r>
            <a:endParaRPr sz="1200">
              <a:latin typeface="Arial"/>
              <a:cs typeface="Arial"/>
            </a:endParaRPr>
          </a:p>
          <a:p>
            <a:pPr algn="just" marL="483870" marR="5080" indent="-6350">
              <a:lnSpc>
                <a:spcPts val="2080"/>
              </a:lnSpc>
              <a:spcBef>
                <a:spcPts val="145"/>
              </a:spcBef>
            </a:pPr>
            <a:r>
              <a:rPr dirty="0" sz="1200" b="1">
                <a:latin typeface="Arial"/>
                <a:cs typeface="Arial"/>
              </a:rPr>
              <a:t>It is </a:t>
            </a:r>
            <a:r>
              <a:rPr dirty="0" sz="1200" spc="-5" b="1">
                <a:latin typeface="Arial"/>
                <a:cs typeface="Arial"/>
              </a:rPr>
              <a:t>basically </a:t>
            </a:r>
            <a:r>
              <a:rPr dirty="0" sz="1200" b="1">
                <a:latin typeface="Arial"/>
                <a:cs typeface="Arial"/>
              </a:rPr>
              <a:t>“a </a:t>
            </a:r>
            <a:r>
              <a:rPr dirty="0" sz="1200" spc="-5" b="1">
                <a:latin typeface="Arial"/>
                <a:cs typeface="Arial"/>
              </a:rPr>
              <a:t>rehearsal for delivering actual instruction” (Causton </a:t>
            </a:r>
            <a:r>
              <a:rPr dirty="0" sz="1200" b="1">
                <a:latin typeface="Arial"/>
                <a:cs typeface="Arial"/>
              </a:rPr>
              <a:t>– </a:t>
            </a:r>
            <a:r>
              <a:rPr dirty="0" sz="1200" spc="-5" b="1">
                <a:latin typeface="Arial"/>
                <a:cs typeface="Arial"/>
              </a:rPr>
              <a:t>Theohari’s </a:t>
            </a:r>
            <a:r>
              <a:rPr dirty="0" sz="1200" b="1">
                <a:latin typeface="Arial"/>
                <a:cs typeface="Arial"/>
              </a:rPr>
              <a:t>et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 </a:t>
            </a:r>
            <a:r>
              <a:rPr dirty="0" sz="1200" spc="-5" b="1">
                <a:latin typeface="Arial"/>
                <a:cs typeface="Arial"/>
              </a:rPr>
              <a:t>2008)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a lesson plan is a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important document because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tells you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situation.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Components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lesson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plan: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55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Subject:</a:t>
            </a:r>
            <a:endParaRPr sz="1200">
              <a:latin typeface="Arial"/>
              <a:cs typeface="Arial"/>
            </a:endParaRPr>
          </a:p>
          <a:p>
            <a:pPr algn="just" marL="483870" marR="10160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Lesson plan starts with the subject. Lesson plan is </a:t>
            </a:r>
            <a:r>
              <a:rPr dirty="0" sz="1200">
                <a:latin typeface="Arial MT"/>
                <a:cs typeface="Arial MT"/>
              </a:rPr>
              <a:t>part of </a:t>
            </a:r>
            <a:r>
              <a:rPr dirty="0" sz="1200" spc="-5">
                <a:latin typeface="Arial MT"/>
                <a:cs typeface="Arial MT"/>
              </a:rPr>
              <a:t>unit plan, so we need to </a:t>
            </a:r>
            <a:r>
              <a:rPr dirty="0" sz="1200" spc="-10">
                <a:latin typeface="Arial MT"/>
                <a:cs typeface="Arial MT"/>
              </a:rPr>
              <a:t>know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title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title.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light,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named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‘colours’</a:t>
            </a:r>
            <a:r>
              <a:rPr dirty="0" sz="1200">
                <a:latin typeface="Arial MT"/>
                <a:cs typeface="Arial MT"/>
              </a:rPr>
              <a:t> 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‘transparent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translucent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objects’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etc.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the name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>
                <a:latin typeface="Arial MT"/>
                <a:cs typeface="Arial MT"/>
              </a:rPr>
              <a:t> must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5">
                <a:latin typeface="Arial MT"/>
                <a:cs typeface="Arial MT"/>
              </a:rPr>
              <a:t> mentioned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1100"/>
              </a:spcBef>
              <a:buFont typeface="Times New Roman"/>
              <a:buAutoNum type="arabicPeriod" startAt="2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Instructional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objectives:</a:t>
            </a:r>
            <a:endParaRPr sz="1200">
              <a:latin typeface="Arial"/>
              <a:cs typeface="Arial"/>
            </a:endParaRPr>
          </a:p>
          <a:p>
            <a:pPr algn="just" marL="483870" marR="1333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 spc="-10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mention the instructional objectives that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-5">
                <a:latin typeface="Arial MT"/>
                <a:cs typeface="Arial MT"/>
              </a:rPr>
              <a:t>the students will achieve after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AutoNum type="arabicPeriod" startAt="3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Rationale:</a:t>
            </a:r>
            <a:endParaRPr sz="1200">
              <a:latin typeface="Arial"/>
              <a:cs typeface="Arial"/>
            </a:endParaRPr>
          </a:p>
          <a:p>
            <a:pPr algn="just" marL="483870" marR="12065" indent="-6350">
              <a:lnSpc>
                <a:spcPts val="2060"/>
              </a:lnSpc>
              <a:spcBef>
                <a:spcPts val="165"/>
              </a:spcBef>
            </a:pPr>
            <a:r>
              <a:rPr dirty="0" sz="1200">
                <a:latin typeface="Arial MT"/>
                <a:cs typeface="Arial MT"/>
              </a:rPr>
              <a:t>Rationale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reasons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reason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behind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specific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1135"/>
              </a:spcBef>
              <a:buFont typeface="Times New Roman"/>
              <a:buAutoNum type="arabicPeriod" startAt="4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Content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process:</a:t>
            </a:r>
            <a:endParaRPr sz="1200">
              <a:latin typeface="Arial"/>
              <a:cs typeface="Arial"/>
            </a:endParaRPr>
          </a:p>
          <a:p>
            <a:pPr algn="just" marL="483870" marR="13970" indent="-6350">
              <a:lnSpc>
                <a:spcPts val="2080"/>
              </a:lnSpc>
              <a:spcBef>
                <a:spcPts val="55"/>
              </a:spcBef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very important that when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are identifying the content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to the students, you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they 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848105"/>
            <a:ext cx="6628765" cy="6518909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715"/>
              </a:spcBef>
              <a:buFont typeface="Times New Roman"/>
              <a:buAutoNum type="arabicPeriod" startAt="5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Instructional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procedures:</a:t>
            </a:r>
            <a:endParaRPr sz="1200">
              <a:latin typeface="Arial"/>
              <a:cs typeface="Arial"/>
            </a:endParaRPr>
          </a:p>
          <a:p>
            <a:pPr marL="477520">
              <a:lnSpc>
                <a:spcPct val="100000"/>
              </a:lnSpc>
              <a:spcBef>
                <a:spcPts val="610"/>
              </a:spcBef>
            </a:pP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divide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procedures in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5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units.</a:t>
            </a:r>
            <a:endParaRPr sz="1200">
              <a:latin typeface="Arial MT"/>
              <a:cs typeface="Arial MT"/>
            </a:endParaRPr>
          </a:p>
          <a:p>
            <a:pPr lvl="1" marL="483870" marR="3669665" indent="-6350">
              <a:lnSpc>
                <a:spcPct val="145000"/>
              </a:lnSpc>
              <a:spcBef>
                <a:spcPts val="50"/>
              </a:spcBef>
              <a:buAutoNum type="romanLcPeriod"/>
              <a:tabLst>
                <a:tab pos="692150" algn="l"/>
                <a:tab pos="692785" algn="l"/>
                <a:tab pos="1498600" algn="l"/>
                <a:tab pos="2024380" algn="l"/>
                <a:tab pos="2280920" algn="l"/>
              </a:tabLst>
            </a:pPr>
            <a:r>
              <a:rPr dirty="0" sz="1200" b="1">
                <a:latin typeface="Arial"/>
                <a:cs typeface="Arial"/>
              </a:rPr>
              <a:t>Focu</a:t>
            </a:r>
            <a:r>
              <a:rPr dirty="0" sz="1200" spc="-10" b="1">
                <a:latin typeface="Arial"/>
                <a:cs typeface="Arial"/>
              </a:rPr>
              <a:t>s</a:t>
            </a:r>
            <a:r>
              <a:rPr dirty="0" sz="1200" b="1">
                <a:latin typeface="Arial"/>
                <a:cs typeface="Arial"/>
              </a:rPr>
              <a:t>ing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15" b="1">
                <a:latin typeface="Arial"/>
                <a:cs typeface="Arial"/>
              </a:rPr>
              <a:t>e</a:t>
            </a:r>
            <a:r>
              <a:rPr dirty="0" sz="1200" spc="-5" b="1">
                <a:latin typeface="Arial"/>
                <a:cs typeface="Arial"/>
              </a:rPr>
              <a:t>ve</a:t>
            </a:r>
            <a:r>
              <a:rPr dirty="0" sz="1200" b="1">
                <a:latin typeface="Arial"/>
                <a:cs typeface="Arial"/>
              </a:rPr>
              <a:t>nt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b="1">
                <a:latin typeface="Arial"/>
                <a:cs typeface="Arial"/>
              </a:rPr>
              <a:t>ii.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5" b="1">
                <a:latin typeface="Arial"/>
                <a:cs typeface="Arial"/>
              </a:rPr>
              <a:t>T</a:t>
            </a:r>
            <a:r>
              <a:rPr dirty="0" sz="1200" spc="-15" b="1">
                <a:latin typeface="Arial"/>
                <a:cs typeface="Arial"/>
              </a:rPr>
              <a:t>e</a:t>
            </a:r>
            <a:r>
              <a:rPr dirty="0" sz="1200" spc="-5" b="1">
                <a:latin typeface="Arial"/>
                <a:cs typeface="Arial"/>
              </a:rPr>
              <a:t>ac</a:t>
            </a:r>
            <a:r>
              <a:rPr dirty="0" sz="1200" b="1">
                <a:latin typeface="Arial"/>
                <a:cs typeface="Arial"/>
              </a:rPr>
              <a:t>hing  </a:t>
            </a:r>
            <a:r>
              <a:rPr dirty="0" sz="1200" b="1">
                <a:latin typeface="Arial"/>
                <a:cs typeface="Arial"/>
              </a:rPr>
              <a:t>procedures</a:t>
            </a:r>
            <a:endParaRPr sz="1200">
              <a:latin typeface="Arial"/>
              <a:cs typeface="Arial"/>
            </a:endParaRPr>
          </a:p>
          <a:p>
            <a:pPr marL="477520">
              <a:lnSpc>
                <a:spcPct val="100000"/>
              </a:lnSpc>
              <a:spcBef>
                <a:spcPts val="770"/>
              </a:spcBef>
              <a:tabLst>
                <a:tab pos="1468755" algn="l"/>
                <a:tab pos="2317115" algn="l"/>
                <a:tab pos="2785110" algn="l"/>
                <a:tab pos="3897629" algn="l"/>
              </a:tabLst>
            </a:pPr>
            <a:r>
              <a:rPr dirty="0" sz="1200" b="1">
                <a:latin typeface="Arial"/>
                <a:cs typeface="Arial"/>
              </a:rPr>
              <a:t>iii.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	activities	</a:t>
            </a:r>
            <a:r>
              <a:rPr dirty="0" sz="1200" b="1">
                <a:latin typeface="Arial"/>
                <a:cs typeface="Arial"/>
              </a:rPr>
              <a:t>and	</a:t>
            </a:r>
            <a:r>
              <a:rPr dirty="0" sz="1200" spc="-5" b="1">
                <a:latin typeface="Arial"/>
                <a:cs typeface="Arial"/>
              </a:rPr>
              <a:t>participation	</a:t>
            </a:r>
            <a:r>
              <a:rPr dirty="0" sz="1200" b="1">
                <a:latin typeface="Arial"/>
                <a:cs typeface="Arial"/>
              </a:rPr>
              <a:t>iv.</a:t>
            </a:r>
            <a:endParaRPr sz="1200">
              <a:latin typeface="Arial"/>
              <a:cs typeface="Arial"/>
            </a:endParaRPr>
          </a:p>
          <a:p>
            <a:pPr algn="r" marR="4711700">
              <a:lnSpc>
                <a:spcPct val="100000"/>
              </a:lnSpc>
              <a:spcBef>
                <a:spcPts val="800"/>
              </a:spcBef>
            </a:pPr>
            <a:r>
              <a:rPr dirty="0" sz="1200" b="1">
                <a:latin typeface="Arial"/>
                <a:cs typeface="Arial"/>
              </a:rPr>
              <a:t>Formative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check</a:t>
            </a:r>
            <a:endParaRPr sz="1200">
              <a:latin typeface="Arial"/>
              <a:cs typeface="Arial"/>
            </a:endParaRPr>
          </a:p>
          <a:p>
            <a:pPr marL="471170">
              <a:lnSpc>
                <a:spcPct val="100000"/>
              </a:lnSpc>
              <a:spcBef>
                <a:spcPts val="805"/>
              </a:spcBef>
              <a:tabLst>
                <a:tab pos="905510" algn="l"/>
              </a:tabLst>
            </a:pPr>
            <a:r>
              <a:rPr dirty="0" sz="1200" b="1">
                <a:latin typeface="Arial"/>
                <a:cs typeface="Arial"/>
              </a:rPr>
              <a:t>v.	Closure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Arial"/>
              <a:cs typeface="Arial"/>
            </a:endParaRPr>
          </a:p>
          <a:p>
            <a:pPr algn="r" marR="4727575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(Parallel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resources)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models.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Tyler’s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famous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curriculum development.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we know, lesson planning is a short </a:t>
            </a:r>
            <a:r>
              <a:rPr dirty="0" sz="1200">
                <a:latin typeface="Arial MT"/>
                <a:cs typeface="Arial MT"/>
              </a:rPr>
              <a:t>term </a:t>
            </a:r>
            <a:r>
              <a:rPr dirty="0" sz="1200" spc="-5">
                <a:latin typeface="Arial MT"/>
                <a:cs typeface="Arial MT"/>
              </a:rPr>
              <a:t>planning. It is </a:t>
            </a:r>
            <a:r>
              <a:rPr dirty="0" sz="1200">
                <a:latin typeface="Arial MT"/>
                <a:cs typeface="Arial MT"/>
              </a:rPr>
              <a:t>part 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 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Tyler’s</a:t>
            </a:r>
            <a:r>
              <a:rPr dirty="0" sz="1200">
                <a:latin typeface="Arial MT"/>
                <a:cs typeface="Arial MT"/>
              </a:rPr>
              <a:t> rationale.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400" spc="-5" b="1">
                <a:latin typeface="Arial"/>
                <a:cs typeface="Arial"/>
              </a:rPr>
              <a:t>Tyler’s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rationale:</a:t>
            </a:r>
            <a:endParaRPr sz="1400">
              <a:latin typeface="Arial"/>
              <a:cs typeface="Arial"/>
            </a:endParaRPr>
          </a:p>
          <a:p>
            <a:pPr marL="241300" marR="685165" indent="-229235">
              <a:lnSpc>
                <a:spcPts val="2090"/>
              </a:lnSpc>
              <a:spcBef>
                <a:spcPts val="85"/>
              </a:spcBef>
              <a:buFont typeface="Times New Roman"/>
              <a:buAutoNum type="arabicPeriod"/>
              <a:tabLst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educational</a:t>
            </a:r>
            <a:r>
              <a:rPr dirty="0" u="sng" sz="12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sng" sz="1200" spc="-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purposes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5">
                <a:latin typeface="Arial MT"/>
                <a:cs typeface="Arial MT"/>
              </a:rPr>
              <a:t> school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seek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attain?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(Defining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appropriate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-5" b="1">
                <a:latin typeface="Arial"/>
                <a:cs typeface="Arial"/>
              </a:rPr>
              <a:t> objectives).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600">
              <a:latin typeface="Arial"/>
              <a:cs typeface="Arial"/>
            </a:endParaRPr>
          </a:p>
          <a:p>
            <a:pPr marL="241300" marR="6350" indent="-229235">
              <a:lnSpc>
                <a:spcPct val="144200"/>
              </a:lnSpc>
              <a:buFont typeface="Times New Roman"/>
              <a:buAutoNum type="arabicPeriod"/>
              <a:tabLst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experiences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selected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likely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useful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attaining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objectives?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(Introducing</a:t>
            </a:r>
            <a:r>
              <a:rPr dirty="0" sz="1200" b="1">
                <a:latin typeface="Arial"/>
                <a:cs typeface="Arial"/>
              </a:rPr>
              <a:t> useful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experiences).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eriod"/>
            </a:pPr>
            <a:endParaRPr sz="1800">
              <a:latin typeface="Arial"/>
              <a:cs typeface="Arial"/>
            </a:endParaRPr>
          </a:p>
          <a:p>
            <a:pPr marL="241300" marR="870585" indent="-229235">
              <a:lnSpc>
                <a:spcPct val="144200"/>
              </a:lnSpc>
              <a:buFont typeface="Times New Roman"/>
              <a:buAutoNum type="arabicPeriod"/>
              <a:tabLst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instruction?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b="1">
                <a:latin typeface="Arial"/>
                <a:cs typeface="Arial"/>
              </a:rPr>
              <a:t>(Organizing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experiences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maximize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their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effect).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</a:pPr>
            <a:endParaRPr sz="1250">
              <a:latin typeface="Arial"/>
              <a:cs typeface="Arial"/>
            </a:endParaRPr>
          </a:p>
          <a:p>
            <a:pPr marL="241300" marR="220345" indent="-229235">
              <a:lnSpc>
                <a:spcPct val="144200"/>
              </a:lnSpc>
              <a:buFont typeface="Times New Roman"/>
              <a:buAutoNum type="arabicPeriod"/>
              <a:tabLst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effectiveness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evaluated?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(Evaluating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revising</a:t>
            </a:r>
            <a:r>
              <a:rPr dirty="0" sz="1200" b="1">
                <a:latin typeface="Arial"/>
                <a:cs typeface="Arial"/>
              </a:rPr>
              <a:t> 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areas</a:t>
            </a:r>
            <a:r>
              <a:rPr dirty="0" sz="1200" b="1">
                <a:latin typeface="Arial"/>
                <a:cs typeface="Arial"/>
              </a:rPr>
              <a:t> that </a:t>
            </a:r>
            <a:r>
              <a:rPr dirty="0" sz="1200" spc="-5" b="1">
                <a:latin typeface="Arial"/>
                <a:cs typeface="Arial"/>
              </a:rPr>
              <a:t>were</a:t>
            </a:r>
            <a:r>
              <a:rPr dirty="0" sz="1200" b="1">
                <a:latin typeface="Arial"/>
                <a:cs typeface="Arial"/>
              </a:rPr>
              <a:t> not </a:t>
            </a:r>
            <a:r>
              <a:rPr dirty="0" sz="1200" spc="-5" b="1">
                <a:latin typeface="Arial"/>
                <a:cs typeface="Arial"/>
              </a:rPr>
              <a:t>effective).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(Tyler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1969; John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2006,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484)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7809357"/>
            <a:ext cx="6634480" cy="39992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If we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lesson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according</a:t>
            </a:r>
            <a:r>
              <a:rPr dirty="0" sz="1200" b="1">
                <a:latin typeface="Arial"/>
                <a:cs typeface="Arial"/>
              </a:rPr>
              <a:t> to </a:t>
            </a:r>
            <a:r>
              <a:rPr dirty="0" sz="1200" spc="-5" b="1">
                <a:latin typeface="Arial"/>
                <a:cs typeface="Arial"/>
              </a:rPr>
              <a:t>Tyler’s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model,</a:t>
            </a:r>
            <a:r>
              <a:rPr dirty="0" sz="1200" b="1">
                <a:latin typeface="Arial"/>
                <a:cs typeface="Arial"/>
              </a:rPr>
              <a:t> then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important </a:t>
            </a:r>
            <a:r>
              <a:rPr dirty="0" sz="1200" b="1">
                <a:latin typeface="Arial"/>
                <a:cs typeface="Arial"/>
              </a:rPr>
              <a:t>things in it would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Lesson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planning:</a:t>
            </a:r>
            <a:endParaRPr sz="1400">
              <a:latin typeface="Arial"/>
              <a:cs typeface="Arial"/>
            </a:endParaRPr>
          </a:p>
          <a:p>
            <a:pPr algn="just" marL="18415" marR="11430" indent="-6350">
              <a:lnSpc>
                <a:spcPts val="2080"/>
              </a:lnSpc>
              <a:spcBef>
                <a:spcPts val="85"/>
              </a:spcBef>
            </a:pP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lesson plan defines objective, plans materials, resources and activities are mobilized for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efficient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attainment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selected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objectives;</a:t>
            </a:r>
            <a:r>
              <a:rPr dirty="0" sz="1200">
                <a:latin typeface="Arial MT"/>
                <a:cs typeface="Arial MT"/>
              </a:rPr>
              <a:t> and </a:t>
            </a:r>
            <a:r>
              <a:rPr dirty="0" sz="1200" spc="-5">
                <a:latin typeface="Arial MT"/>
                <a:cs typeface="Arial MT"/>
              </a:rPr>
              <a:t>finally,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criteria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also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identified.</a:t>
            </a:r>
            <a:r>
              <a:rPr dirty="0" sz="1200" b="1">
                <a:latin typeface="Arial"/>
                <a:cs typeface="Arial"/>
              </a:rPr>
              <a:t>”</a:t>
            </a:r>
            <a:endParaRPr sz="1200">
              <a:latin typeface="Arial"/>
              <a:cs typeface="Arial"/>
            </a:endParaRPr>
          </a:p>
          <a:p>
            <a:pPr algn="just" marL="18415" indent="-6350">
              <a:lnSpc>
                <a:spcPct val="100000"/>
              </a:lnSpc>
              <a:spcBef>
                <a:spcPts val="480"/>
              </a:spcBef>
            </a:pP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objectives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first,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select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attaining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them.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Select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</a:t>
            </a:r>
            <a:endParaRPr sz="1200">
              <a:latin typeface="Arial MT"/>
              <a:cs typeface="Arial MT"/>
            </a:endParaRPr>
          </a:p>
          <a:p>
            <a:pPr algn="just" marL="18415" marR="508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and resources and </a:t>
            </a:r>
            <a:r>
              <a:rPr dirty="0" sz="1200" spc="-10">
                <a:latin typeface="Arial MT"/>
                <a:cs typeface="Arial MT"/>
              </a:rPr>
              <a:t>go </a:t>
            </a:r>
            <a:r>
              <a:rPr dirty="0" sz="1200" spc="-5">
                <a:latin typeface="Arial MT"/>
                <a:cs typeface="Arial MT"/>
              </a:rPr>
              <a:t>further to decide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criteria on which objectives </a:t>
            </a:r>
            <a:r>
              <a:rPr dirty="0" sz="1200" spc="-10">
                <a:latin typeface="Arial MT"/>
                <a:cs typeface="Arial MT"/>
              </a:rPr>
              <a:t>need </a:t>
            </a:r>
            <a:r>
              <a:rPr dirty="0" sz="1200" spc="-5">
                <a:latin typeface="Arial MT"/>
                <a:cs typeface="Arial MT"/>
              </a:rPr>
              <a:t>to be evaluated.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Interestingly, criteria </a:t>
            </a:r>
            <a:r>
              <a:rPr dirty="0" sz="1200" spc="-10">
                <a:latin typeface="Arial MT"/>
                <a:cs typeface="Arial MT"/>
              </a:rPr>
              <a:t>remain </a:t>
            </a:r>
            <a:r>
              <a:rPr dirty="0" sz="1200" spc="-5">
                <a:latin typeface="Arial MT"/>
                <a:cs typeface="Arial MT"/>
              </a:rPr>
              <a:t>the same.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are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evaluate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objectives, </a:t>
            </a:r>
            <a:r>
              <a:rPr dirty="0" sz="1200" spc="1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naturally,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-5">
                <a:latin typeface="Arial MT"/>
                <a:cs typeface="Arial MT"/>
              </a:rPr>
              <a:t> evaluated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against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r>
              <a:rPr dirty="0" sz="1200">
                <a:latin typeface="Arial MT"/>
                <a:cs typeface="Arial MT"/>
              </a:rPr>
              <a:t> Objectives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criteria</a:t>
            </a:r>
            <a:r>
              <a:rPr dirty="0" sz="1200">
                <a:latin typeface="Arial MT"/>
                <a:cs typeface="Arial MT"/>
              </a:rPr>
              <a:t> for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evaluating 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Bloom’s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Taxonomy:</a:t>
            </a:r>
            <a:endParaRPr sz="1400">
              <a:latin typeface="Arial"/>
              <a:cs typeface="Arial"/>
            </a:endParaRPr>
          </a:p>
          <a:p>
            <a:pPr algn="just" marL="18415" marR="7620" indent="-6350">
              <a:lnSpc>
                <a:spcPts val="2080"/>
              </a:lnSpc>
            </a:pPr>
            <a:r>
              <a:rPr dirty="0" sz="1200" spc="-5">
                <a:latin typeface="Arial MT"/>
                <a:cs typeface="Arial MT"/>
              </a:rPr>
              <a:t>Six </a:t>
            </a:r>
            <a:r>
              <a:rPr dirty="0" sz="1200">
                <a:latin typeface="Arial MT"/>
                <a:cs typeface="Arial MT"/>
              </a:rPr>
              <a:t>levels of </a:t>
            </a:r>
            <a:r>
              <a:rPr dirty="0" sz="1200" spc="-5">
                <a:latin typeface="Arial MT"/>
                <a:cs typeface="Arial MT"/>
              </a:rPr>
              <a:t>taxonomy are important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his taxonomy.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10">
                <a:latin typeface="Arial MT"/>
                <a:cs typeface="Arial MT"/>
              </a:rPr>
              <a:t>you are </a:t>
            </a:r>
            <a:r>
              <a:rPr dirty="0" sz="1200" spc="-5">
                <a:latin typeface="Arial MT"/>
                <a:cs typeface="Arial MT"/>
              </a:rPr>
              <a:t>planning your lesson on these </a:t>
            </a:r>
            <a:r>
              <a:rPr dirty="0" sz="1200" spc="-10">
                <a:latin typeface="Arial MT"/>
                <a:cs typeface="Arial MT"/>
              </a:rPr>
              <a:t>six </a:t>
            </a:r>
            <a:r>
              <a:rPr dirty="0" sz="1200" spc="-5">
                <a:latin typeface="Arial MT"/>
                <a:cs typeface="Arial MT"/>
              </a:rPr>
              <a:t> levels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definitely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helpful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Tyler’s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bloom’s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taxonomy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ultimate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behaviors.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lesson,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28130" cy="2188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show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particular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behaviour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not?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models,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identify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activities.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eventually</a:t>
            </a:r>
            <a:r>
              <a:rPr dirty="0" sz="1200">
                <a:latin typeface="Arial MT"/>
                <a:cs typeface="Arial MT"/>
              </a:rPr>
              <a:t> you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assess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Gagne’s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Plan:</a:t>
            </a:r>
            <a:endParaRPr sz="1400">
              <a:latin typeface="Arial"/>
              <a:cs typeface="Arial"/>
            </a:endParaRPr>
          </a:p>
          <a:p>
            <a:pPr marL="18415" marR="5080" indent="-6350">
              <a:lnSpc>
                <a:spcPts val="2080"/>
              </a:lnSpc>
              <a:spcBef>
                <a:spcPts val="85"/>
              </a:spcBef>
            </a:pPr>
            <a:r>
              <a:rPr dirty="0" sz="1200" spc="-5">
                <a:latin typeface="Arial MT"/>
                <a:cs typeface="Arial MT"/>
              </a:rPr>
              <a:t>Gagne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expand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steps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introducing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organizing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nine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particular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“Instructional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events”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–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Events that begin with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“gaining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attention”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conclude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200" spc="-5">
                <a:latin typeface="Arial MT"/>
                <a:cs typeface="Arial MT"/>
              </a:rPr>
              <a:t>“enhancing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retention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transfer”</a:t>
            </a:r>
            <a:endParaRPr sz="1200">
              <a:latin typeface="Arial MT"/>
              <a:cs typeface="Arial MT"/>
            </a:endParaRPr>
          </a:p>
          <a:p>
            <a:pPr marL="58419">
              <a:lnSpc>
                <a:spcPct val="100000"/>
              </a:lnSpc>
              <a:spcBef>
                <a:spcPts val="650"/>
              </a:spcBef>
            </a:pPr>
            <a:r>
              <a:rPr dirty="0" sz="1200" b="1">
                <a:latin typeface="Arial"/>
                <a:cs typeface="Arial"/>
              </a:rPr>
              <a:t>Gagne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introduces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nine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different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instructional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events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nine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different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internal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processes.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55319" y="2772410"/>
          <a:ext cx="5916295" cy="3126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0580"/>
                <a:gridCol w="2173605"/>
                <a:gridCol w="2902585"/>
              </a:tblGrid>
              <a:tr h="312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Internal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process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Instructional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event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1.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Reception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Gaining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attention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2.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Expectancy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Informing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learners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objectives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800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3.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Retrieval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working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memory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Stimulating or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recalling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prior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learning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9372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4.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Selective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perception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Presenting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stimulus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5.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Semantic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encoding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Providing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“Learning guidance”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6.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Responding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Eliciting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performance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7.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Reinforcement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Providing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feedback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8.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Retrieval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reinforcement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Assessing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performance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9.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Retrieval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 generalization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Enhancing retention and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transfer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65480" y="6322948"/>
            <a:ext cx="6634480" cy="5051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8255" indent="-229235">
              <a:lnSpc>
                <a:spcPct val="144200"/>
              </a:lnSpc>
              <a:spcBef>
                <a:spcPts val="100"/>
              </a:spcBef>
              <a:buFont typeface="Times New Roman"/>
              <a:buAutoNum type="arabicPeriod"/>
              <a:tabLst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teacher should gain attention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students in </a:t>
            </a:r>
            <a:r>
              <a:rPr dirty="0" sz="1200">
                <a:latin typeface="Arial MT"/>
                <a:cs typeface="Arial MT"/>
              </a:rPr>
              <a:t>the class. If </a:t>
            </a:r>
            <a:r>
              <a:rPr dirty="0" sz="1200" spc="-5">
                <a:latin typeface="Arial MT"/>
                <a:cs typeface="Arial MT"/>
              </a:rPr>
              <a:t>a teacher is unable to gain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children’s attention, then definitely </a:t>
            </a:r>
            <a:r>
              <a:rPr dirty="0" sz="120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 spc="-1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be able to teach certain things.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need to </a:t>
            </a:r>
            <a:r>
              <a:rPr dirty="0" sz="1200">
                <a:latin typeface="Arial MT"/>
                <a:cs typeface="Arial MT"/>
              </a:rPr>
              <a:t>see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-5">
                <a:latin typeface="Arial MT"/>
                <a:cs typeface="Arial MT"/>
              </a:rPr>
              <a:t>is the internal process that is involved </a:t>
            </a:r>
            <a:r>
              <a:rPr dirty="0" sz="1200">
                <a:latin typeface="Arial MT"/>
                <a:cs typeface="Arial MT"/>
              </a:rPr>
              <a:t>when </a:t>
            </a:r>
            <a:r>
              <a:rPr dirty="0" sz="1200" spc="-5">
                <a:latin typeface="Arial MT"/>
                <a:cs typeface="Arial MT"/>
              </a:rPr>
              <a:t>we are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gain attention of the students </a:t>
            </a:r>
            <a:r>
              <a:rPr dirty="0" sz="1200">
                <a:latin typeface="Arial MT"/>
                <a:cs typeface="Arial MT"/>
              </a:rPr>
              <a:t>i.e.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b="1">
                <a:latin typeface="Arial"/>
                <a:cs typeface="Arial"/>
              </a:rPr>
              <a:t>Reception.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child starts receiving.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do not gain attention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then the internal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reception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start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/>
              <a:buAutoNum type="arabicPeriod"/>
            </a:pPr>
            <a:endParaRPr sz="1800">
              <a:latin typeface="Arial MT"/>
              <a:cs typeface="Arial MT"/>
            </a:endParaRPr>
          </a:p>
          <a:p>
            <a:pPr algn="just" marL="241300" marR="10795" indent="-229235">
              <a:lnSpc>
                <a:spcPct val="144200"/>
              </a:lnSpc>
              <a:buFont typeface="Times New Roman"/>
              <a:buAutoNum type="arabicPeriod"/>
              <a:tabLst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exact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objectives,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expectations.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internal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process,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come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 </a:t>
            </a:r>
            <a:r>
              <a:rPr dirty="0" sz="1200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AutoNum type="arabicPeriod"/>
            </a:pPr>
            <a:endParaRPr sz="1800">
              <a:latin typeface="Arial MT"/>
              <a:cs typeface="Arial MT"/>
            </a:endParaRPr>
          </a:p>
          <a:p>
            <a:pPr algn="just" marL="241300" marR="5080" indent="-229235">
              <a:lnSpc>
                <a:spcPct val="144200"/>
              </a:lnSpc>
              <a:buFont typeface="Times New Roman"/>
              <a:buAutoNum type="arabicPeriod"/>
              <a:tabLst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happens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stimulate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children?</a:t>
            </a:r>
            <a:r>
              <a:rPr dirty="0" sz="1200">
                <a:latin typeface="Arial MT"/>
                <a:cs typeface="Arial MT"/>
              </a:rPr>
              <a:t> Teachers </a:t>
            </a:r>
            <a:r>
              <a:rPr dirty="0" sz="1200" spc="-5">
                <a:latin typeface="Arial MT"/>
                <a:cs typeface="Arial MT"/>
              </a:rPr>
              <a:t>ask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 to judge their prior learning.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internal process is “retrieval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working memory”. </a:t>
            </a:r>
            <a:r>
              <a:rPr dirty="0" sz="1200">
                <a:latin typeface="Arial MT"/>
                <a:cs typeface="Arial MT"/>
              </a:rPr>
              <a:t> Whatever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becomes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long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memory.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maybe there are number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things that are already in our mind but they are not </a:t>
            </a:r>
            <a:r>
              <a:rPr dirty="0" sz="1200">
                <a:latin typeface="Arial MT"/>
                <a:cs typeface="Arial MT"/>
              </a:rPr>
              <a:t>part </a:t>
            </a:r>
            <a:r>
              <a:rPr dirty="0" sz="1200" spc="-5">
                <a:latin typeface="Arial MT"/>
                <a:cs typeface="Arial MT"/>
              </a:rPr>
              <a:t>of our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 memory.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 teachers do not </a:t>
            </a:r>
            <a:r>
              <a:rPr dirty="0" sz="1200">
                <a:latin typeface="Arial MT"/>
                <a:cs typeface="Arial MT"/>
              </a:rPr>
              <a:t>try </a:t>
            </a:r>
            <a:r>
              <a:rPr dirty="0" sz="1200" spc="-5">
                <a:latin typeface="Arial MT"/>
                <a:cs typeface="Arial MT"/>
              </a:rPr>
              <a:t>to bring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prior knowledge into working memory </a:t>
            </a:r>
            <a:r>
              <a:rPr dirty="0" sz="1200">
                <a:latin typeface="Arial MT"/>
                <a:cs typeface="Arial MT"/>
              </a:rPr>
              <a:t> then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 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AutoNum type="arabicPeriod"/>
            </a:pPr>
            <a:endParaRPr sz="1800">
              <a:latin typeface="Arial MT"/>
              <a:cs typeface="Arial MT"/>
            </a:endParaRPr>
          </a:p>
          <a:p>
            <a:pPr algn="just" marL="241300" marR="7620" indent="-229235">
              <a:lnSpc>
                <a:spcPct val="144200"/>
              </a:lnSpc>
              <a:buFont typeface="Times New Roman"/>
              <a:buAutoNum type="arabicPeriod"/>
              <a:tabLst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important to present the stimulus.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class, learning new thing </a:t>
            </a:r>
            <a:r>
              <a:rPr dirty="0" sz="1200" spc="5">
                <a:latin typeface="Arial MT"/>
                <a:cs typeface="Arial MT"/>
              </a:rPr>
              <a:t>will </a:t>
            </a:r>
            <a:r>
              <a:rPr dirty="0" sz="1200" spc="-5">
                <a:latin typeface="Arial MT"/>
                <a:cs typeface="Arial MT"/>
              </a:rPr>
              <a:t>be a stimulus. You must </a:t>
            </a:r>
            <a:r>
              <a:rPr dirty="0" sz="1200">
                <a:latin typeface="Arial MT"/>
                <a:cs typeface="Arial MT"/>
              </a:rPr>
              <a:t> attract </a:t>
            </a:r>
            <a:r>
              <a:rPr dirty="0" sz="1200" spc="-5">
                <a:latin typeface="Arial MT"/>
                <a:cs typeface="Arial MT"/>
              </a:rPr>
              <a:t>the students towards new learning </a:t>
            </a:r>
            <a:r>
              <a:rPr dirty="0" sz="1200" spc="-1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good presentation. When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present, children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>
                <a:latin typeface="Arial MT"/>
                <a:cs typeface="Arial MT"/>
              </a:rPr>
              <a:t> it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once,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selective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perception.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7020" cy="7669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9525" indent="-229235">
              <a:lnSpc>
                <a:spcPct val="144200"/>
              </a:lnSpc>
              <a:spcBef>
                <a:spcPts val="100"/>
              </a:spcBef>
              <a:buFont typeface="Times New Roman"/>
              <a:buAutoNum type="arabicPeriod" startAt="5"/>
              <a:tabLst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When teacher provides guidance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students, then there is </a:t>
            </a:r>
            <a:r>
              <a:rPr dirty="0" sz="1200">
                <a:latin typeface="Arial MT"/>
                <a:cs typeface="Arial MT"/>
              </a:rPr>
              <a:t>semantic </a:t>
            </a:r>
            <a:r>
              <a:rPr dirty="0" sz="1200" spc="-5">
                <a:latin typeface="Arial MT"/>
                <a:cs typeface="Arial MT"/>
              </a:rPr>
              <a:t>encoding. When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 present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stimulus,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selective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perception.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AutoNum type="arabicPeriod" startAt="5"/>
            </a:pPr>
            <a:endParaRPr sz="1300">
              <a:latin typeface="Arial MT"/>
              <a:cs typeface="Arial MT"/>
            </a:endParaRPr>
          </a:p>
          <a:p>
            <a:pPr marL="293370" marR="14604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children,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semantic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encoding.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meaning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starts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Arial MT"/>
              <a:cs typeface="Arial MT"/>
            </a:endParaRPr>
          </a:p>
          <a:p>
            <a:pPr algn="just" marL="241300" marR="12065" indent="-229235">
              <a:lnSpc>
                <a:spcPct val="144200"/>
              </a:lnSpc>
              <a:spcBef>
                <a:spcPts val="5"/>
              </a:spcBef>
              <a:buFont typeface="Times New Roman"/>
              <a:buAutoNum type="arabicPeriod" startAt="6"/>
              <a:tabLst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Teachers 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identify the methods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monitor the progress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students. When </a:t>
            </a:r>
            <a:r>
              <a:rPr dirty="0" sz="1200" spc="-10">
                <a:latin typeface="Arial MT"/>
                <a:cs typeface="Arial MT"/>
              </a:rPr>
              <a:t>you ask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question,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expect a response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the child. Here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internal process is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respond.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elicit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 definitely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 will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AutoNum type="arabicPeriod" startAt="6"/>
            </a:pPr>
            <a:endParaRPr sz="1800">
              <a:latin typeface="Arial MT"/>
              <a:cs typeface="Arial MT"/>
            </a:endParaRPr>
          </a:p>
          <a:p>
            <a:pPr algn="just" marL="241300" marR="14604" indent="-229235">
              <a:lnSpc>
                <a:spcPct val="144200"/>
              </a:lnSpc>
              <a:buFont typeface="Times New Roman"/>
              <a:buAutoNum type="arabicPeriod" startAt="6"/>
              <a:tabLst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Giving feedback is equally important. You need to provide feedback so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child improves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his/her performance. Its internal process is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reinforcement. When you provide feedback,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reinforce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mind. </a:t>
            </a:r>
            <a:r>
              <a:rPr dirty="0" sz="1200" spc="-5">
                <a:latin typeface="Arial MT"/>
                <a:cs typeface="Arial MT"/>
              </a:rPr>
              <a:t>Feedback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reinforce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pupils’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AutoNum type="arabicPeriod" startAt="6"/>
            </a:pPr>
            <a:endParaRPr sz="1850">
              <a:latin typeface="Arial MT"/>
              <a:cs typeface="Arial MT"/>
            </a:endParaRPr>
          </a:p>
          <a:p>
            <a:pPr algn="just" marL="241300" marR="8255" indent="-229235">
              <a:lnSpc>
                <a:spcPct val="144200"/>
              </a:lnSpc>
              <a:buFont typeface="Times New Roman"/>
              <a:buAutoNum type="arabicPeriod" startAt="6"/>
              <a:tabLst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Assessment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students is important so that there will be </a:t>
            </a:r>
            <a:r>
              <a:rPr dirty="0" sz="1200">
                <a:latin typeface="Arial MT"/>
                <a:cs typeface="Arial MT"/>
              </a:rPr>
              <a:t>reinforcement </a:t>
            </a:r>
            <a:r>
              <a:rPr dirty="0" sz="1200" spc="-5">
                <a:latin typeface="Arial MT"/>
                <a:cs typeface="Arial MT"/>
              </a:rPr>
              <a:t>of learning in them. </a:t>
            </a:r>
            <a:r>
              <a:rPr dirty="0" sz="1200">
                <a:latin typeface="Arial MT"/>
                <a:cs typeface="Arial MT"/>
              </a:rPr>
              <a:t> As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feedback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reinforce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pupils’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similarly,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reinforcement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pupils’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serves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retrieving.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AutoNum type="arabicPeriod" startAt="6"/>
            </a:pPr>
            <a:endParaRPr sz="1800">
              <a:latin typeface="Arial MT"/>
              <a:cs typeface="Arial MT"/>
            </a:endParaRPr>
          </a:p>
          <a:p>
            <a:pPr algn="just" marL="241300" marR="12065" indent="-229235">
              <a:lnSpc>
                <a:spcPct val="144200"/>
              </a:lnSpc>
              <a:buFont typeface="Times New Roman"/>
              <a:buAutoNum type="arabicPeriod" startAt="6"/>
              <a:tabLst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summary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2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3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minutes,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 important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a teacher. But they are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important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children. Because </a:t>
            </a:r>
            <a:r>
              <a:rPr dirty="0" sz="1200" spc="-10">
                <a:latin typeface="Arial MT"/>
                <a:cs typeface="Arial MT"/>
              </a:rPr>
              <a:t>these </a:t>
            </a:r>
            <a:r>
              <a:rPr dirty="0" sz="1200" spc="-5">
                <a:latin typeface="Arial MT"/>
                <a:cs typeface="Arial MT"/>
              </a:rPr>
              <a:t>minutes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again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transfer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 MT"/>
              <a:cs typeface="Arial MT"/>
            </a:endParaRPr>
          </a:p>
          <a:p>
            <a:pPr algn="just" marL="18415" marR="14604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we can conclude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lesson plan based </a:t>
            </a:r>
            <a:r>
              <a:rPr dirty="0" sz="120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Gagne’s model includes these nine essential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 events. Because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assumed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10">
                <a:latin typeface="Arial MT"/>
                <a:cs typeface="Arial MT"/>
              </a:rPr>
              <a:t>these </a:t>
            </a:r>
            <a:r>
              <a:rPr dirty="0" sz="1200" spc="-5">
                <a:latin typeface="Arial MT"/>
                <a:cs typeface="Arial MT"/>
              </a:rPr>
              <a:t>instructional events activates the internal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400" spc="-5" b="1">
                <a:latin typeface="Arial"/>
                <a:cs typeface="Arial"/>
              </a:rPr>
              <a:t>Why </a:t>
            </a:r>
            <a:r>
              <a:rPr dirty="0" sz="1400" spc="-10" b="1">
                <a:latin typeface="Arial"/>
                <a:cs typeface="Arial"/>
              </a:rPr>
              <a:t>to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plan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lesson?</a:t>
            </a:r>
            <a:endParaRPr sz="14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</a:pPr>
            <a:r>
              <a:rPr dirty="0" sz="1200" spc="-5">
                <a:latin typeface="Arial MT"/>
                <a:cs typeface="Arial MT"/>
              </a:rPr>
              <a:t>Templates are designed with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intention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“scaffold[ing]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thinking, skills and attitudes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10">
                <a:latin typeface="Arial MT"/>
                <a:cs typeface="Arial MT"/>
              </a:rPr>
              <a:t>pre- 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service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(student)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(2008,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385).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8752713"/>
            <a:ext cx="6626225" cy="231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lesson </a:t>
            </a:r>
            <a:r>
              <a:rPr dirty="0" sz="1200" spc="-5" b="1">
                <a:latin typeface="Arial"/>
                <a:cs typeface="Arial"/>
              </a:rPr>
              <a:t>plan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provisional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purpose: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"/>
              <a:cs typeface="Arial"/>
            </a:endParaRPr>
          </a:p>
          <a:p>
            <a:pPr algn="just" marL="469900" marR="5080" indent="-228600">
              <a:lnSpc>
                <a:spcPct val="144200"/>
              </a:lnSpc>
              <a:spcBef>
                <a:spcPts val="5"/>
              </a:spcBef>
            </a:pP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b="1">
                <a:latin typeface="Arial"/>
                <a:cs typeface="Arial"/>
              </a:rPr>
              <a:t>It helps to develop </a:t>
            </a:r>
            <a:r>
              <a:rPr dirty="0" sz="1200" spc="-5" b="1">
                <a:latin typeface="Arial"/>
                <a:cs typeface="Arial"/>
              </a:rPr>
              <a:t>thinking skills that will </a:t>
            </a:r>
            <a:r>
              <a:rPr dirty="0" sz="1200" b="1">
                <a:latin typeface="Arial"/>
                <a:cs typeface="Arial"/>
              </a:rPr>
              <a:t>be </a:t>
            </a:r>
            <a:r>
              <a:rPr dirty="0" sz="1200" spc="-5" b="1">
                <a:latin typeface="Arial"/>
                <a:cs typeface="Arial"/>
              </a:rPr>
              <a:t>useful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practical </a:t>
            </a:r>
            <a:r>
              <a:rPr dirty="0" sz="1200" b="1">
                <a:latin typeface="Arial"/>
                <a:cs typeface="Arial"/>
              </a:rPr>
              <a:t>teaching </a:t>
            </a:r>
            <a:r>
              <a:rPr dirty="0" sz="1200" spc="-5" b="1">
                <a:latin typeface="Arial"/>
                <a:cs typeface="Arial"/>
              </a:rPr>
              <a:t>preparation.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 planning is essentially a reflective process. Reflective process because you keep in </a:t>
            </a:r>
            <a:r>
              <a:rPr dirty="0" sz="1200">
                <a:latin typeface="Arial MT"/>
                <a:cs typeface="Arial MT"/>
              </a:rPr>
              <a:t> mind </a:t>
            </a:r>
            <a:r>
              <a:rPr dirty="0" sz="1200" spc="-5">
                <a:latin typeface="Arial MT"/>
                <a:cs typeface="Arial MT"/>
              </a:rPr>
              <a:t>that what students </a:t>
            </a:r>
            <a:r>
              <a:rPr dirty="0" sz="1200">
                <a:latin typeface="Arial MT"/>
                <a:cs typeface="Arial MT"/>
              </a:rPr>
              <a:t>have </a:t>
            </a:r>
            <a:r>
              <a:rPr dirty="0" sz="1200" spc="-5">
                <a:latin typeface="Arial MT"/>
                <a:cs typeface="Arial MT"/>
              </a:rPr>
              <a:t>learnt and what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are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learn. </a:t>
            </a:r>
            <a:r>
              <a:rPr dirty="0" sz="1200" spc="-5">
                <a:latin typeface="Arial MT"/>
                <a:cs typeface="Arial MT"/>
              </a:rPr>
              <a:t>You keep in mind 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strengths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weaknesses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Identification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a very difficult task. It really requires </a:t>
            </a:r>
            <a:r>
              <a:rPr dirty="0" sz="1200" spc="-10">
                <a:latin typeface="Arial MT"/>
                <a:cs typeface="Arial MT"/>
              </a:rPr>
              <a:t>lot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thinking and time. Lesson planning is actually a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thinking </a:t>
            </a:r>
            <a:r>
              <a:rPr dirty="0" sz="1200" spc="-10">
                <a:latin typeface="Arial MT"/>
                <a:cs typeface="Arial MT"/>
              </a:rPr>
              <a:t>job </a:t>
            </a:r>
            <a:r>
              <a:rPr dirty="0" sz="1200" spc="-5">
                <a:latin typeface="Arial MT"/>
                <a:cs typeface="Arial MT"/>
              </a:rPr>
              <a:t>and lesson </a:t>
            </a:r>
            <a:r>
              <a:rPr dirty="0" sz="1200">
                <a:latin typeface="Arial MT"/>
                <a:cs typeface="Arial MT"/>
              </a:rPr>
              <a:t>plans </a:t>
            </a:r>
            <a:r>
              <a:rPr dirty="0" sz="1200" spc="-5">
                <a:latin typeface="Arial MT"/>
                <a:cs typeface="Arial MT"/>
              </a:rPr>
              <a:t>develop student teachers or </a:t>
            </a:r>
            <a:r>
              <a:rPr dirty="0" sz="1200">
                <a:latin typeface="Arial MT"/>
                <a:cs typeface="Arial MT"/>
              </a:rPr>
              <a:t>pre-service </a:t>
            </a:r>
            <a:r>
              <a:rPr dirty="0" sz="1200" spc="-5">
                <a:latin typeface="Arial MT"/>
                <a:cs typeface="Arial MT"/>
              </a:rPr>
              <a:t>teachers thinking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75563"/>
            <a:ext cx="6392545" cy="816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5080" indent="-22860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b="1">
                <a:latin typeface="Arial"/>
                <a:cs typeface="Arial"/>
              </a:rPr>
              <a:t>It allows </a:t>
            </a:r>
            <a:r>
              <a:rPr dirty="0" sz="1200" spc="-5" b="1">
                <a:latin typeface="Arial"/>
                <a:cs typeface="Arial"/>
              </a:rPr>
              <a:t>teacher trainer </a:t>
            </a:r>
            <a:r>
              <a:rPr dirty="0" sz="1200" b="1">
                <a:latin typeface="Arial"/>
                <a:cs typeface="Arial"/>
              </a:rPr>
              <a:t>to understand </a:t>
            </a:r>
            <a:r>
              <a:rPr dirty="0" sz="1200" spc="-5" b="1">
                <a:latin typeface="Arial"/>
                <a:cs typeface="Arial"/>
              </a:rPr>
              <a:t>the thought process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their student teacher.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From the </a:t>
            </a:r>
            <a:r>
              <a:rPr dirty="0" sz="1200">
                <a:latin typeface="Arial MT"/>
                <a:cs typeface="Arial MT"/>
              </a:rPr>
              <a:t>lesson </a:t>
            </a:r>
            <a:r>
              <a:rPr dirty="0" sz="1200" spc="-5">
                <a:latin typeface="Arial MT"/>
                <a:cs typeface="Arial MT"/>
              </a:rPr>
              <a:t>plans,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can be identified easily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which students are investing their </a:t>
            </a:r>
            <a:r>
              <a:rPr dirty="0" sz="1200">
                <a:latin typeface="Arial MT"/>
                <a:cs typeface="Arial MT"/>
              </a:rPr>
              <a:t> thinking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more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participating.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1828545"/>
            <a:ext cx="6630670" cy="228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77520" marR="5080" indent="-228600">
              <a:lnSpc>
                <a:spcPct val="1417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b="1">
                <a:latin typeface="Arial"/>
                <a:cs typeface="Arial"/>
              </a:rPr>
              <a:t>It </a:t>
            </a:r>
            <a:r>
              <a:rPr dirty="0" sz="1200" spc="-5" b="1">
                <a:latin typeface="Arial"/>
                <a:cs typeface="Arial"/>
              </a:rPr>
              <a:t>can </a:t>
            </a:r>
            <a:r>
              <a:rPr dirty="0" sz="1200" spc="-10" b="1">
                <a:latin typeface="Arial"/>
                <a:cs typeface="Arial"/>
              </a:rPr>
              <a:t>be </a:t>
            </a:r>
            <a:r>
              <a:rPr dirty="0" sz="1200" spc="-5" b="1">
                <a:latin typeface="Arial"/>
                <a:cs typeface="Arial"/>
              </a:rPr>
              <a:t>greatly </a:t>
            </a:r>
            <a:r>
              <a:rPr dirty="0" sz="1200" b="1">
                <a:latin typeface="Arial"/>
                <a:cs typeface="Arial"/>
              </a:rPr>
              <a:t>simplified and </a:t>
            </a:r>
            <a:r>
              <a:rPr dirty="0" sz="1200" spc="-5" b="1">
                <a:latin typeface="Arial"/>
                <a:cs typeface="Arial"/>
              </a:rPr>
              <a:t>abbreviated </a:t>
            </a:r>
            <a:r>
              <a:rPr dirty="0" sz="1200" b="1">
                <a:latin typeface="Arial"/>
                <a:cs typeface="Arial"/>
              </a:rPr>
              <a:t>once </a:t>
            </a:r>
            <a:r>
              <a:rPr dirty="0" sz="1200" spc="-5" b="1">
                <a:latin typeface="Arial"/>
                <a:cs typeface="Arial"/>
              </a:rPr>
              <a:t>these teachers </a:t>
            </a:r>
            <a:r>
              <a:rPr dirty="0" sz="1200" spc="-10" b="1">
                <a:latin typeface="Arial"/>
                <a:cs typeface="Arial"/>
              </a:rPr>
              <a:t>are </a:t>
            </a:r>
            <a:r>
              <a:rPr dirty="0" sz="1200" spc="-5" b="1">
                <a:latin typeface="Arial"/>
                <a:cs typeface="Arial"/>
              </a:rPr>
              <a:t>fully engaged in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 teaching practice. </a:t>
            </a:r>
            <a:r>
              <a:rPr dirty="0" sz="1200" spc="-5">
                <a:latin typeface="Arial MT"/>
                <a:cs typeface="Arial MT"/>
              </a:rPr>
              <a:t>You can also predict that how well a student is going to perform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future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teacher.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400" spc="-5" b="1">
                <a:latin typeface="Arial"/>
                <a:cs typeface="Arial"/>
              </a:rPr>
              <a:t>Templates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lesson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plan: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200" spc="-5">
                <a:latin typeface="Arial MT"/>
                <a:cs typeface="Arial MT"/>
              </a:rPr>
              <a:t>Here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templates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then </a:t>
            </a:r>
            <a:r>
              <a:rPr dirty="0" sz="1200" spc="-5">
                <a:latin typeface="Arial MT"/>
                <a:cs typeface="Arial MT"/>
              </a:rPr>
              <a:t>analyzed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5">
                <a:latin typeface="Arial MT"/>
                <a:cs typeface="Arial MT"/>
              </a:rPr>
              <a:t> better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Bases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lesson </a:t>
            </a: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templates: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7219" y="4377563"/>
          <a:ext cx="6091555" cy="4798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334"/>
                <a:gridCol w="2452369"/>
                <a:gridCol w="1229995"/>
                <a:gridCol w="1877695"/>
              </a:tblGrid>
              <a:tr h="3139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Hunter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(USA)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1984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John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(UK)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2004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Tru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(Canada)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2008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1.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Materials/Resources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Resources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Materials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resources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67945" marR="22860">
                        <a:lnSpc>
                          <a:spcPct val="142500"/>
                        </a:lnSpc>
                        <a:spcBef>
                          <a:spcPts val="1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(including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behavioural/organizational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management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strategies)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8454"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2.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1061720" algn="l"/>
                          <a:tab pos="1493520" algn="l"/>
                          <a:tab pos="1911350" algn="l"/>
                        </a:tabLst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Anticipatory	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set	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(list	specific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68580" marR="24765">
                        <a:lnSpc>
                          <a:spcPct val="104200"/>
                        </a:lnSpc>
                        <a:spcBef>
                          <a:spcPts val="57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statements</a:t>
                      </a:r>
                      <a:r>
                        <a:rPr dirty="0" sz="1200" spc="20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1200" spc="2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activities</a:t>
                      </a:r>
                      <a:r>
                        <a:rPr dirty="0" sz="1200" spc="2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which</a:t>
                      </a:r>
                      <a:r>
                        <a:rPr dirty="0" sz="1200" spc="2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are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used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attain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students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attention)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Starter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Introduction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(anticipatory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set)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639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8580" marR="60960">
                        <a:lnSpc>
                          <a:spcPct val="103499"/>
                        </a:lnSpc>
                        <a:spcBef>
                          <a:spcPts val="19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Objective/purpose(for</a:t>
                      </a:r>
                      <a:r>
                        <a:rPr dirty="0" sz="12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students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benefit, explain what students will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be able to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do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by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end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 the 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lesson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 why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these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objectives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are important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accomplish).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Objectives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Learning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outcomes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01852"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3.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8580" marR="60960">
                        <a:lnSpc>
                          <a:spcPct val="103299"/>
                        </a:lnSpc>
                        <a:spcBef>
                          <a:spcPts val="204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Input</a:t>
                      </a:r>
                      <a:r>
                        <a:rPr dirty="0" sz="12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(what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information</a:t>
                      </a:r>
                      <a:r>
                        <a:rPr dirty="0" sz="1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2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essential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student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know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before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beginning and how will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this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skill be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communicated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students?)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Vocabulary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Preparation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02004" y="9341357"/>
            <a:ext cx="6398260" cy="1871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41300" marR="11430" indent="-228600">
              <a:lnSpc>
                <a:spcPct val="144600"/>
              </a:lnSpc>
              <a:spcBef>
                <a:spcPts val="90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Hunter,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John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Tru’s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template,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all </a:t>
            </a:r>
            <a:r>
              <a:rPr dirty="0" sz="1200" spc="-5">
                <a:latin typeface="Arial MT"/>
                <a:cs typeface="Arial MT"/>
              </a:rPr>
              <a:t>the three.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Tru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organizational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management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strategies as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eriod"/>
            </a:pPr>
            <a:endParaRPr sz="1800">
              <a:latin typeface="Arial MT"/>
              <a:cs typeface="Arial MT"/>
            </a:endParaRPr>
          </a:p>
          <a:p>
            <a:pPr algn="just" marL="241300" marR="5080" indent="-228600">
              <a:lnSpc>
                <a:spcPct val="143300"/>
              </a:lnSpc>
              <a:spcBef>
                <a:spcPts val="5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hunter’s template there is anticipatory set, </a:t>
            </a:r>
            <a:r>
              <a:rPr dirty="0" sz="1200">
                <a:latin typeface="Arial MT"/>
                <a:cs typeface="Arial MT"/>
              </a:rPr>
              <a:t>John </a:t>
            </a:r>
            <a:r>
              <a:rPr dirty="0" sz="1200" spc="-5">
                <a:latin typeface="Arial MT"/>
                <a:cs typeface="Arial MT"/>
              </a:rPr>
              <a:t>gives it the name </a:t>
            </a:r>
            <a:r>
              <a:rPr dirty="0" sz="1200">
                <a:latin typeface="Arial MT"/>
                <a:cs typeface="Arial MT"/>
              </a:rPr>
              <a:t>starter </a:t>
            </a:r>
            <a:r>
              <a:rPr dirty="0" sz="1200" spc="-5">
                <a:latin typeface="Arial MT"/>
                <a:cs typeface="Arial MT"/>
              </a:rPr>
              <a:t>and Tru says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 introduction. But the focus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all the </a:t>
            </a:r>
            <a:r>
              <a:rPr dirty="0" sz="1200">
                <a:latin typeface="Arial MT"/>
                <a:cs typeface="Arial MT"/>
              </a:rPr>
              <a:t>three </a:t>
            </a:r>
            <a:r>
              <a:rPr dirty="0" sz="1200" spc="-5">
                <a:latin typeface="Arial MT"/>
                <a:cs typeface="Arial MT"/>
              </a:rPr>
              <a:t>is the same that is 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get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attention of 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students. Names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three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same.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75563"/>
            <a:ext cx="6396990" cy="2134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5080" indent="-228600">
              <a:lnSpc>
                <a:spcPct val="1442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3.</a:t>
            </a:r>
            <a:r>
              <a:rPr dirty="0" sz="1200" spc="25" b="1">
                <a:latin typeface="Times New Roman"/>
                <a:cs typeface="Times New Roman"/>
              </a:rPr>
              <a:t> </a:t>
            </a:r>
            <a:r>
              <a:rPr dirty="0" sz="1200">
                <a:latin typeface="Arial MT"/>
                <a:cs typeface="Arial MT"/>
              </a:rPr>
              <a:t>Hunter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objective/purposes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template.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John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Tru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uses learning outcomes.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quite confusing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many people that </a:t>
            </a:r>
            <a:r>
              <a:rPr dirty="0" sz="1200">
                <a:latin typeface="Arial MT"/>
                <a:cs typeface="Arial MT"/>
              </a:rPr>
              <a:t>if there </a:t>
            </a:r>
            <a:r>
              <a:rPr dirty="0" sz="1200" spc="-5">
                <a:latin typeface="Arial MT"/>
                <a:cs typeface="Arial MT"/>
              </a:rPr>
              <a:t>is any difference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 learning outcomes or objectives. There are some educationists who have tried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identify </a:t>
            </a:r>
            <a:r>
              <a:rPr dirty="0" sz="1200" spc="-5">
                <a:latin typeface="Arial MT"/>
                <a:cs typeface="Arial MT"/>
              </a:rPr>
              <a:t>the difference between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two.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this template the words learning outcomes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objectives are used parallel. </a:t>
            </a:r>
            <a:r>
              <a:rPr dirty="0" sz="1200">
                <a:latin typeface="Arial MT"/>
                <a:cs typeface="Arial MT"/>
              </a:rPr>
              <a:t>Only </a:t>
            </a:r>
            <a:r>
              <a:rPr dirty="0" sz="1200" spc="-5">
                <a:latin typeface="Arial MT"/>
                <a:cs typeface="Arial MT"/>
              </a:rPr>
              <a:t>Hunter </a:t>
            </a:r>
            <a:r>
              <a:rPr dirty="0" sz="1200">
                <a:latin typeface="Arial MT"/>
                <a:cs typeface="Arial MT"/>
              </a:rPr>
              <a:t>says </a:t>
            </a:r>
            <a:r>
              <a:rPr dirty="0" sz="1200" spc="-5">
                <a:latin typeface="Arial MT"/>
                <a:cs typeface="Arial MT"/>
              </a:rPr>
              <a:t>that there must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 rationale 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identification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two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mention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rationale.</a:t>
            </a:r>
            <a:endParaRPr sz="1200">
              <a:latin typeface="Arial MT"/>
              <a:cs typeface="Arial MT"/>
            </a:endParaRPr>
          </a:p>
          <a:p>
            <a:pPr algn="just" marL="559435">
              <a:lnSpc>
                <a:spcPct val="100000"/>
              </a:lnSpc>
              <a:spcBef>
                <a:spcPts val="645"/>
              </a:spcBef>
            </a:pPr>
            <a:r>
              <a:rPr dirty="0" sz="1200">
                <a:latin typeface="Arial MT"/>
                <a:cs typeface="Arial MT"/>
              </a:rPr>
              <a:t>Hunter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word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input,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John used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word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vocabulary and </a:t>
            </a:r>
            <a:r>
              <a:rPr dirty="0" sz="1200">
                <a:latin typeface="Arial MT"/>
                <a:cs typeface="Arial MT"/>
              </a:rPr>
              <a:t>Tru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preparation.</a:t>
            </a:r>
            <a:endParaRPr sz="1200">
              <a:latin typeface="Arial MT"/>
              <a:cs typeface="Arial MT"/>
            </a:endParaRPr>
          </a:p>
          <a:p>
            <a:pPr algn="just" marL="241300">
              <a:lnSpc>
                <a:spcPct val="100000"/>
              </a:lnSpc>
              <a:spcBef>
                <a:spcPts val="625"/>
              </a:spcBef>
            </a:pPr>
            <a:r>
              <a:rPr dirty="0" sz="1200" spc="-5">
                <a:latin typeface="Arial MT"/>
                <a:cs typeface="Arial MT"/>
              </a:rPr>
              <a:t>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Input 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basically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content.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7219" y="2904998"/>
          <a:ext cx="6091555" cy="5997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6760"/>
                <a:gridCol w="2275204"/>
                <a:gridCol w="1511300"/>
                <a:gridCol w="822325"/>
                <a:gridCol w="723264"/>
              </a:tblGrid>
              <a:tr h="312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Hunter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(USA)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1984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John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(UK)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2004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Tru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(Canada)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2008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00708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4.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25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Model</a:t>
                      </a:r>
                      <a:r>
                        <a:rPr dirty="0" sz="1200" spc="4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12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(if</a:t>
                      </a:r>
                      <a:r>
                        <a:rPr dirty="0" sz="1200" spc="6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6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you</a:t>
                      </a:r>
                      <a:r>
                        <a:rPr dirty="0" sz="1200" spc="325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200" spc="3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200" spc="350"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1200" spc="3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be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algn="just" marL="71120" marR="59690">
                        <a:lnSpc>
                          <a:spcPct val="103400"/>
                        </a:lnSpc>
                        <a:spcBef>
                          <a:spcPts val="60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demonstrating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skill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or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competence,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how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this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be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done?)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75587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5.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711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Check     </a:t>
                      </a:r>
                      <a:r>
                        <a:rPr dirty="0" sz="1200" spc="1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for     </a:t>
                      </a:r>
                      <a:r>
                        <a:rPr dirty="0" sz="1200" spc="1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understanding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algn="just" marL="71120" marR="57150">
                        <a:lnSpc>
                          <a:spcPct val="142500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(Identify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strategies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used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200" spc="-3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determine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if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students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have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learned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objectives)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00429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6.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71120" marR="57785">
                        <a:lnSpc>
                          <a:spcPct val="103499"/>
                        </a:lnSpc>
                        <a:spcBef>
                          <a:spcPts val="17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Guided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practice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(List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activities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used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guide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student practice and provide a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time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frame for completing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this 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practice)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Main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activity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176530">
                        <a:lnSpc>
                          <a:spcPct val="104200"/>
                        </a:lnSpc>
                        <a:spcBef>
                          <a:spcPts val="165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St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t/ 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activity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teacher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83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71120" marR="55880">
                        <a:lnSpc>
                          <a:spcPct val="103299"/>
                        </a:lnSpc>
                        <a:spcBef>
                          <a:spcPts val="19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sure</a:t>
                      </a:r>
                      <a:r>
                        <a:rPr dirty="0" sz="12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(W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h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12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h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d</a:t>
                      </a:r>
                      <a:r>
                        <a:rPr dirty="0" sz="12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</a:t>
                      </a:r>
                      <a:r>
                        <a:rPr dirty="0" sz="12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review 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 evaluation will be used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complete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lesson)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17780">
                        <a:lnSpc>
                          <a:spcPct val="103299"/>
                        </a:lnSpc>
                        <a:spcBef>
                          <a:spcPts val="190"/>
                        </a:spcBef>
                        <a:tabLst>
                          <a:tab pos="1358265" algn="l"/>
                        </a:tabLst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Plenary/ 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ssess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en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 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outcomes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Closure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63979"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7.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56515">
                        <a:lnSpc>
                          <a:spcPct val="103299"/>
                        </a:lnSpc>
                        <a:spcBef>
                          <a:spcPts val="190"/>
                        </a:spcBef>
                        <a:tabLst>
                          <a:tab pos="892175" algn="l"/>
                          <a:tab pos="994410" algn="l"/>
                          <a:tab pos="1153795" algn="l"/>
                          <a:tab pos="1263650" algn="l"/>
                          <a:tab pos="1289685" algn="l"/>
                          <a:tab pos="1575435" algn="l"/>
                          <a:tab pos="1728470" algn="l"/>
                          <a:tab pos="1922780" algn="l"/>
                          <a:tab pos="2084070" algn="l"/>
                        </a:tabLst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I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d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pe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d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	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p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ract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	(List 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homework/seatwork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assig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	to		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given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 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students</a:t>
                      </a:r>
                      <a:r>
                        <a:rPr dirty="0" sz="12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ensure</a:t>
                      </a:r>
                      <a:r>
                        <a:rPr dirty="0" sz="12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they</a:t>
                      </a:r>
                      <a:r>
                        <a:rPr dirty="0" sz="12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have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ered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t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h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		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ski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l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	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w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h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 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teacher guidance.)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9064752"/>
            <a:ext cx="6392545" cy="2714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44400"/>
              </a:lnSpc>
              <a:spcBef>
                <a:spcPts val="100"/>
              </a:spcBef>
              <a:buFont typeface="Times New Roman"/>
              <a:buAutoNum type="arabicPeriod" startAt="4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Here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Hunter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identifies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John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Tru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silent.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template.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 startAt="4"/>
            </a:pPr>
            <a:endParaRPr sz="1800">
              <a:latin typeface="Arial MT"/>
              <a:cs typeface="Arial MT"/>
            </a:endParaRPr>
          </a:p>
          <a:p>
            <a:pPr marL="241300" marR="8255" indent="-228600">
              <a:lnSpc>
                <a:spcPct val="144200"/>
              </a:lnSpc>
              <a:buFont typeface="Times New Roman"/>
              <a:buAutoNum type="arabicPeriod" startAt="4"/>
              <a:tabLst>
                <a:tab pos="241300" algn="l"/>
              </a:tabLst>
            </a:pPr>
            <a:r>
              <a:rPr dirty="0" sz="1200">
                <a:latin typeface="Arial MT"/>
                <a:cs typeface="Arial MT"/>
              </a:rPr>
              <a:t>Hunter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check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details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template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John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Tru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does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AutoNum type="arabicPeriod" startAt="4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AutoNum type="arabicPeriod" startAt="4"/>
            </a:pPr>
            <a:endParaRPr sz="1300">
              <a:latin typeface="Arial MT"/>
              <a:cs typeface="Arial MT"/>
            </a:endParaRPr>
          </a:p>
          <a:p>
            <a:pPr marL="241300" marR="8890" indent="-228600">
              <a:lnSpc>
                <a:spcPct val="144200"/>
              </a:lnSpc>
              <a:buFont typeface="Times New Roman"/>
              <a:buAutoNum type="arabicPeriod" startAt="4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Hunter’s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Gagne’s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model.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guided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Gagne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do.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John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main</a:t>
            </a:r>
            <a:r>
              <a:rPr dirty="0" sz="1200" spc="-5">
                <a:latin typeface="Arial MT"/>
                <a:cs typeface="Arial MT"/>
              </a:rPr>
              <a:t> activity</a:t>
            </a:r>
            <a:r>
              <a:rPr dirty="0" sz="1200">
                <a:latin typeface="Arial MT"/>
                <a:cs typeface="Arial MT"/>
              </a:rPr>
              <a:t> for </a:t>
            </a:r>
            <a:r>
              <a:rPr dirty="0" sz="1200" spc="-5">
                <a:latin typeface="Arial MT"/>
                <a:cs typeface="Arial MT"/>
              </a:rPr>
              <a:t>it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Tru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Teacher/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activity.</a:t>
            </a:r>
            <a:endParaRPr sz="1200">
              <a:latin typeface="Arial MT"/>
              <a:cs typeface="Arial MT"/>
            </a:endParaRPr>
          </a:p>
          <a:p>
            <a:pPr marL="241300" marR="5080" indent="-228600">
              <a:lnSpc>
                <a:spcPct val="103299"/>
              </a:lnSpc>
              <a:spcBef>
                <a:spcPts val="615"/>
              </a:spcBef>
              <a:buFont typeface="Times New Roman"/>
              <a:buAutoNum type="arabicPeriod" startAt="4"/>
              <a:tabLst>
                <a:tab pos="241300" algn="l"/>
              </a:tabLst>
            </a:pPr>
            <a:r>
              <a:rPr dirty="0" sz="1200">
                <a:latin typeface="Arial MT"/>
                <a:cs typeface="Arial MT"/>
              </a:rPr>
              <a:t>Hunter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closure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his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template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John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 Plenary/ assessment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outcomes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Tru </a:t>
            </a:r>
            <a:r>
              <a:rPr dirty="0" sz="1200">
                <a:latin typeface="Arial MT"/>
                <a:cs typeface="Arial MT"/>
              </a:rPr>
              <a:t>used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closure.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6124" y="678180"/>
          <a:ext cx="5862320" cy="1259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3605"/>
                <a:gridCol w="1940560"/>
                <a:gridCol w="1572895"/>
                <a:gridCol w="1435735"/>
              </a:tblGrid>
              <a:tr h="3139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Hunter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(USA)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1984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John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(UK)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2004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Tru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(Canada)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2008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4198"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8.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Grouping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Extension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9.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Differentiation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Adaptation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3"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10.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Difficulties/Successes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Reflections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02004" y="2104389"/>
            <a:ext cx="6390640" cy="1346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6985" indent="-228600">
              <a:lnSpc>
                <a:spcPct val="143300"/>
              </a:lnSpc>
              <a:spcBef>
                <a:spcPts val="100"/>
              </a:spcBef>
              <a:buFont typeface="Times New Roman"/>
              <a:buAutoNum type="arabicPeriod" startAt="8"/>
              <a:tabLst>
                <a:tab pos="241300" algn="l"/>
              </a:tabLst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templates,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John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says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after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closure,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grouping,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Tru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says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Extension.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Hunter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silent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aspect.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 startAt="8"/>
            </a:pPr>
            <a:endParaRPr sz="1800">
              <a:latin typeface="Arial MT"/>
              <a:cs typeface="Arial MT"/>
            </a:endParaRPr>
          </a:p>
          <a:p>
            <a:pPr marL="241300" marR="5080" indent="-228600">
              <a:lnSpc>
                <a:spcPct val="144200"/>
              </a:lnSpc>
              <a:spcBef>
                <a:spcPts val="5"/>
              </a:spcBef>
              <a:buFont typeface="Times New Roman"/>
              <a:buAutoNum type="arabicPeriod" startAt="8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John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says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Differentiation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Tru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says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adaptation.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Hunter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again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silent.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3883278"/>
            <a:ext cx="6391275" cy="995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442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10.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MT"/>
                <a:cs typeface="Arial MT"/>
              </a:rPr>
              <a:t>John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says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difficulties/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successes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Tru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reflection.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Hunter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silent 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respect.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Unit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plan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vs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Lesson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plan: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46124" y="5157851"/>
          <a:ext cx="5862320" cy="476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9570"/>
                <a:gridCol w="2943225"/>
              </a:tblGrid>
              <a:tr h="313944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Unit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plan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Lesson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plan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Subject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Subject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Unit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topic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Lesson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topic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Unit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topic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Rationale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topic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Instructional objectives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Instructional objectives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Rationale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3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Content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processes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Content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processes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Learning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activities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Instructional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procedures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29654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1.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Focusing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event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65503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(Parallel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resources)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5780" indent="-22987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Times New Roman"/>
                        <a:buAutoNum type="arabicPeriod" startAt="2"/>
                        <a:tabLst>
                          <a:tab pos="526415" algn="l"/>
                        </a:tabLst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Teaching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procedures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25780" indent="-229870">
                        <a:lnSpc>
                          <a:spcPct val="100000"/>
                        </a:lnSpc>
                        <a:spcBef>
                          <a:spcPts val="660"/>
                        </a:spcBef>
                        <a:buFont typeface="Times New Roman"/>
                        <a:buAutoNum type="arabicPeriod" startAt="2"/>
                        <a:tabLst>
                          <a:tab pos="526415" algn="l"/>
                        </a:tabLst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Student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activities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participation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296545" marR="553720">
                        <a:lnSpc>
                          <a:spcPct val="145800"/>
                        </a:lnSpc>
                        <a:buFont typeface="Times New Roman"/>
                        <a:buAutoNum type="arabicPeriod" startAt="2"/>
                        <a:tabLst>
                          <a:tab pos="526415" algn="l"/>
                        </a:tabLst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Formative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check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5.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Closure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(Parallel resources)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277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Evaluation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238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Assessment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238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Notes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65480" y="10082021"/>
            <a:ext cx="6629400" cy="55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similarities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plan.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Overall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lesson</a:t>
            </a:r>
            <a:r>
              <a:rPr dirty="0" sz="1200" spc="-5">
                <a:latin typeface="Arial MT"/>
                <a:cs typeface="Arial MT"/>
              </a:rPr>
              <a:t> plan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actually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detailed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originates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much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detail.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572" y="11237721"/>
            <a:ext cx="6972300" cy="59944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77470" marR="66675" indent="-6350">
              <a:lnSpc>
                <a:spcPts val="2230"/>
              </a:lnSpc>
              <a:spcBef>
                <a:spcPts val="25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17</a:t>
            </a:r>
            <a:r>
              <a:rPr dirty="0" sz="1600" spc="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“Lesson</a:t>
            </a:r>
            <a:r>
              <a:rPr dirty="0" sz="1800" spc="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Plan</a:t>
            </a:r>
            <a:r>
              <a:rPr dirty="0" sz="1800" spc="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Formats”</a:t>
            </a:r>
            <a:r>
              <a:rPr dirty="0" sz="18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Individual</a:t>
            </a:r>
            <a:r>
              <a:rPr dirty="0" sz="1800" spc="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Education</a:t>
            </a:r>
            <a:r>
              <a:rPr dirty="0" sz="1800" spc="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Plans </a:t>
            </a:r>
            <a:r>
              <a:rPr dirty="0" sz="1800" spc="-48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(IEP):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845" cy="6377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8255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the name shows that individual education plans are those which are made according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individuals.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IEP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cater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learners?</a:t>
            </a:r>
            <a:endParaRPr sz="1200">
              <a:latin typeface="Arial MT"/>
              <a:cs typeface="Arial MT"/>
            </a:endParaRPr>
          </a:p>
          <a:p>
            <a:pPr algn="just" marL="18415" marR="5715" indent="-6350">
              <a:lnSpc>
                <a:spcPct val="144200"/>
              </a:lnSpc>
              <a:spcBef>
                <a:spcPts val="1010"/>
              </a:spcBef>
            </a:pPr>
            <a:r>
              <a:rPr dirty="0" sz="1200" b="1">
                <a:latin typeface="Arial"/>
                <a:cs typeface="Arial"/>
              </a:rPr>
              <a:t>IEP is </a:t>
            </a:r>
            <a:r>
              <a:rPr dirty="0" sz="1200" spc="-5" b="1">
                <a:latin typeface="Arial"/>
                <a:cs typeface="Arial"/>
              </a:rPr>
              <a:t>basically </a:t>
            </a:r>
            <a:r>
              <a:rPr dirty="0" sz="1200" b="1">
                <a:latin typeface="Arial"/>
                <a:cs typeface="Arial"/>
              </a:rPr>
              <a:t>an </a:t>
            </a:r>
            <a:r>
              <a:rPr dirty="0" sz="1200" spc="-5" b="1">
                <a:latin typeface="Arial"/>
                <a:cs typeface="Arial"/>
              </a:rPr>
              <a:t>extended adaptation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a </a:t>
            </a:r>
            <a:r>
              <a:rPr dirty="0" sz="1200" b="1">
                <a:latin typeface="Arial"/>
                <a:cs typeface="Arial"/>
              </a:rPr>
              <a:t>lesson </a:t>
            </a:r>
            <a:r>
              <a:rPr dirty="0" sz="1200" spc="-5" b="1">
                <a:latin typeface="Arial"/>
                <a:cs typeface="Arial"/>
              </a:rPr>
              <a:t>plan. The focus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IEP will </a:t>
            </a:r>
            <a:r>
              <a:rPr dirty="0" sz="1200" spc="-10" b="1">
                <a:latin typeface="Arial"/>
                <a:cs typeface="Arial"/>
              </a:rPr>
              <a:t>be </a:t>
            </a:r>
            <a:r>
              <a:rPr dirty="0" sz="1200" b="1">
                <a:latin typeface="Arial"/>
                <a:cs typeface="Arial"/>
              </a:rPr>
              <a:t>on </a:t>
            </a:r>
            <a:r>
              <a:rPr dirty="0" sz="1200" spc="-5" b="1">
                <a:latin typeface="Arial"/>
                <a:cs typeface="Arial"/>
              </a:rPr>
              <a:t>the </a:t>
            </a:r>
            <a:r>
              <a:rPr dirty="0" sz="1200" b="1">
                <a:latin typeface="Arial"/>
                <a:cs typeface="Arial"/>
              </a:rPr>
              <a:t> needs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learners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rather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content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taught.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simple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 they are not extended or in </a:t>
            </a:r>
            <a:r>
              <a:rPr dirty="0" sz="1200">
                <a:latin typeface="Arial MT"/>
                <a:cs typeface="Arial MT"/>
              </a:rPr>
              <a:t>much </a:t>
            </a:r>
            <a:r>
              <a:rPr dirty="0" sz="1200" spc="-5">
                <a:latin typeface="Arial MT"/>
                <a:cs typeface="Arial MT"/>
              </a:rPr>
              <a:t>detail.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IEP are written in extended form. </a:t>
            </a:r>
            <a:r>
              <a:rPr dirty="0" sz="1200">
                <a:latin typeface="Arial MT"/>
                <a:cs typeface="Arial MT"/>
              </a:rPr>
              <a:t>E.g. If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lesson for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whole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lesson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prepares activities in a </a:t>
            </a:r>
            <a:r>
              <a:rPr dirty="0" sz="1200">
                <a:latin typeface="Arial MT"/>
                <a:cs typeface="Arial MT"/>
              </a:rPr>
              <a:t>lesson plan </a:t>
            </a:r>
            <a:r>
              <a:rPr dirty="0" sz="1200" spc="-5">
                <a:latin typeface="Arial MT"/>
                <a:cs typeface="Arial MT"/>
              </a:rPr>
              <a:t>for the students </a:t>
            </a:r>
            <a:r>
              <a:rPr dirty="0" sz="1200" spc="-10">
                <a:latin typeface="Arial MT"/>
                <a:cs typeface="Arial MT"/>
              </a:rPr>
              <a:t>who </a:t>
            </a:r>
            <a:r>
              <a:rPr dirty="0" sz="1200">
                <a:latin typeface="Arial MT"/>
                <a:cs typeface="Arial MT"/>
              </a:rPr>
              <a:t>have </a:t>
            </a:r>
            <a:r>
              <a:rPr dirty="0" sz="1200" spc="-5">
                <a:latin typeface="Arial MT"/>
                <a:cs typeface="Arial MT"/>
              </a:rPr>
              <a:t>visual or hearing impairment, </a:t>
            </a:r>
            <a:r>
              <a:rPr dirty="0" sz="1200">
                <a:latin typeface="Arial MT"/>
                <a:cs typeface="Arial MT"/>
              </a:rPr>
              <a:t>then it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essentially</a:t>
            </a:r>
            <a:r>
              <a:rPr dirty="0" sz="1200">
                <a:latin typeface="Arial MT"/>
                <a:cs typeface="Arial MT"/>
              </a:rPr>
              <a:t> an </a:t>
            </a:r>
            <a:r>
              <a:rPr dirty="0" sz="1200" spc="-5">
                <a:latin typeface="Arial MT"/>
                <a:cs typeface="Arial MT"/>
              </a:rPr>
              <a:t>individual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(IEP).</a:t>
            </a:r>
            <a:endParaRPr sz="1200">
              <a:latin typeface="Arial MT"/>
              <a:cs typeface="Arial MT"/>
            </a:endParaRPr>
          </a:p>
          <a:p>
            <a:pPr algn="just" marL="26034" marR="5080" indent="-6350">
              <a:lnSpc>
                <a:spcPct val="142500"/>
              </a:lnSpc>
              <a:spcBef>
                <a:spcPts val="994"/>
              </a:spcBef>
            </a:pP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The </a:t>
            </a:r>
            <a:r>
              <a:rPr dirty="0" sz="1200" spc="-5" i="1">
                <a:solidFill>
                  <a:srgbClr val="333333"/>
                </a:solidFill>
                <a:latin typeface="Arial"/>
                <a:cs typeface="Arial"/>
              </a:rPr>
              <a:t>individualized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part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 IEP means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that the plan has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be tailored specifically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your child's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special needs -- not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to the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needs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 the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teacher, or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the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school, or the district. Goals, modifications,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accommodations, personnel, placement,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all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should be selected, enforced and maintained </a:t>
            </a:r>
            <a:r>
              <a:rPr dirty="0" sz="1200" spc="10">
                <a:solidFill>
                  <a:srgbClr val="333333"/>
                </a:solidFill>
                <a:latin typeface="Arial MT"/>
                <a:cs typeface="Arial MT"/>
              </a:rPr>
              <a:t>with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the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particular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needs</a:t>
            </a:r>
            <a:r>
              <a:rPr dirty="0" sz="1200" spc="-15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of 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your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child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 MT"/>
                <a:cs typeface="Arial MT"/>
              </a:rPr>
              <a:t>in</a:t>
            </a:r>
            <a:r>
              <a:rPr dirty="0" sz="1200" spc="-1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33333"/>
                </a:solidFill>
                <a:latin typeface="Arial MT"/>
                <a:cs typeface="Arial MT"/>
              </a:rPr>
              <a:t>mind.</a:t>
            </a:r>
            <a:endParaRPr sz="1200">
              <a:latin typeface="Arial MT"/>
              <a:cs typeface="Arial MT"/>
            </a:endParaRPr>
          </a:p>
          <a:p>
            <a:pPr algn="just" marL="26034" marR="9525" indent="-6350">
              <a:lnSpc>
                <a:spcPct val="141700"/>
              </a:lnSpc>
              <a:spcBef>
                <a:spcPts val="1045"/>
              </a:spcBef>
            </a:pPr>
            <a:r>
              <a:rPr dirty="0" sz="1200" spc="-5" b="1">
                <a:latin typeface="Arial"/>
                <a:cs typeface="Arial"/>
              </a:rPr>
              <a:t>Differentiated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instruction: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Instruction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catering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various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styles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various </a:t>
            </a:r>
            <a:r>
              <a:rPr dirty="0" sz="1200" spc="-3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-5" b="1">
                <a:latin typeface="Arial"/>
                <a:cs typeface="Arial"/>
              </a:rPr>
              <a:t> needs.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"/>
              <a:cs typeface="Arial"/>
            </a:endParaRPr>
          </a:p>
          <a:p>
            <a:pPr algn="just"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Effective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individual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education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plans (IEP) </a:t>
            </a:r>
            <a:r>
              <a:rPr dirty="0" sz="1200" spc="-5" b="1">
                <a:latin typeface="Arial"/>
                <a:cs typeface="Arial"/>
              </a:rPr>
              <a:t>have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key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characteristics.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Individualized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child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centered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79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Inclusive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Holistic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Collaborative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Accessible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  <a:spcBef>
                <a:spcPts val="5"/>
              </a:spcBef>
            </a:pPr>
            <a:r>
              <a:rPr dirty="0" sz="1350" b="1">
                <a:latin typeface="Arial"/>
                <a:cs typeface="Arial"/>
              </a:rPr>
              <a:t>The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spc="-5" b="1">
                <a:latin typeface="Arial"/>
                <a:cs typeface="Arial"/>
              </a:rPr>
              <a:t>IEP</a:t>
            </a:r>
            <a:r>
              <a:rPr dirty="0" sz="1350" spc="-20" b="1">
                <a:latin typeface="Arial"/>
                <a:cs typeface="Arial"/>
              </a:rPr>
              <a:t> </a:t>
            </a:r>
            <a:r>
              <a:rPr dirty="0" sz="1350" b="1">
                <a:latin typeface="Arial"/>
                <a:cs typeface="Arial"/>
              </a:rPr>
              <a:t>must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spc="-5" b="1">
                <a:latin typeface="Arial"/>
                <a:cs typeface="Arial"/>
              </a:rPr>
              <a:t>include: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7096125"/>
            <a:ext cx="130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a.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2984" y="7096125"/>
            <a:ext cx="32689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Any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specialized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equipment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2984" y="7420736"/>
            <a:ext cx="379920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Instructional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strategies</a:t>
            </a:r>
            <a:r>
              <a:rPr dirty="0" sz="1200">
                <a:latin typeface="Arial MT"/>
                <a:cs typeface="Arial MT"/>
              </a:rPr>
              <a:t> fitted to the</a:t>
            </a:r>
            <a:r>
              <a:rPr dirty="0" sz="1200" spc="-5">
                <a:latin typeface="Arial MT"/>
                <a:cs typeface="Arial MT"/>
              </a:rPr>
              <a:t> pupil's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style.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5480" y="7420736"/>
            <a:ext cx="139700" cy="400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b.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200" spc="-5">
                <a:latin typeface="Times New Roman"/>
                <a:cs typeface="Times New Roman"/>
              </a:rPr>
              <a:t>c.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45534" y="7612760"/>
            <a:ext cx="1067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7100" algn="l"/>
              </a:tabLst>
            </a:pPr>
            <a:r>
              <a:rPr dirty="0" sz="1200" spc="-5">
                <a:latin typeface="Arial MT"/>
                <a:cs typeface="Arial MT"/>
              </a:rPr>
              <a:t>desig</a:t>
            </a:r>
            <a:r>
              <a:rPr dirty="0" sz="1200" spc="-10">
                <a:latin typeface="Arial MT"/>
                <a:cs typeface="Arial MT"/>
              </a:rPr>
              <a:t>n</a:t>
            </a:r>
            <a:r>
              <a:rPr dirty="0" sz="1200" spc="-5">
                <a:latin typeface="Arial MT"/>
                <a:cs typeface="Arial MT"/>
              </a:rPr>
              <a:t>ed</a:t>
            </a:r>
            <a:r>
              <a:rPr dirty="0" sz="1200">
                <a:latin typeface="Arial MT"/>
                <a:cs typeface="Arial MT"/>
              </a:rPr>
              <a:t>	to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7389" y="7612760"/>
            <a:ext cx="534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support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32170" y="7612760"/>
            <a:ext cx="10680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1200">
                <a:latin typeface="Arial MT"/>
                <a:cs typeface="Arial MT"/>
              </a:rPr>
              <a:t>the	</a:t>
            </a:r>
            <a:r>
              <a:rPr dirty="0" sz="1200" spc="-5">
                <a:latin typeface="Arial MT"/>
                <a:cs typeface="Arial MT"/>
              </a:rPr>
              <a:t>personal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2984" y="7612760"/>
            <a:ext cx="2218690" cy="38671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48285" marR="5080" indent="-236220">
              <a:lnSpc>
                <a:spcPts val="1400"/>
              </a:lnSpc>
              <a:spcBef>
                <a:spcPts val="180"/>
              </a:spcBef>
              <a:tabLst>
                <a:tab pos="705485" algn="l"/>
                <a:tab pos="1162685" algn="l"/>
                <a:tab pos="1620520" algn="l"/>
              </a:tabLst>
            </a:pPr>
            <a:r>
              <a:rPr dirty="0" sz="1200">
                <a:latin typeface="Arial MT"/>
                <a:cs typeface="Arial MT"/>
              </a:rPr>
              <a:t>Te</a:t>
            </a:r>
            <a:r>
              <a:rPr dirty="0" sz="1200" spc="-5">
                <a:latin typeface="Arial MT"/>
                <a:cs typeface="Arial MT"/>
              </a:rPr>
              <a:t>ch</a:t>
            </a:r>
            <a:r>
              <a:rPr dirty="0" sz="1200" spc="-5">
                <a:latin typeface="Arial MT"/>
                <a:cs typeface="Arial MT"/>
              </a:rPr>
              <a:t>n</a:t>
            </a:r>
            <a:r>
              <a:rPr dirty="0" sz="1200" spc="-5">
                <a:latin typeface="Arial MT"/>
                <a:cs typeface="Arial MT"/>
              </a:rPr>
              <a:t>i</a:t>
            </a:r>
            <a:r>
              <a:rPr dirty="0" sz="1200" spc="-15">
                <a:latin typeface="Arial MT"/>
                <a:cs typeface="Arial MT"/>
              </a:rPr>
              <a:t>q</a:t>
            </a:r>
            <a:r>
              <a:rPr dirty="0" sz="1200" spc="-5">
                <a:latin typeface="Arial MT"/>
                <a:cs typeface="Arial MT"/>
              </a:rPr>
              <a:t>ue</a:t>
            </a:r>
            <a:r>
              <a:rPr dirty="0" sz="1200">
                <a:latin typeface="Arial MT"/>
                <a:cs typeface="Arial MT"/>
              </a:rPr>
              <a:t>s	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ctivities  </a:t>
            </a:r>
            <a:r>
              <a:rPr dirty="0" sz="1200" spc="-5">
                <a:latin typeface="Arial MT"/>
                <a:cs typeface="Arial MT"/>
              </a:rPr>
              <a:t>and	social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37509" y="7791068"/>
            <a:ext cx="172656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pupil.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82875" y="8736456"/>
            <a:ext cx="73660" cy="18415"/>
          </a:xfrm>
          <a:custGeom>
            <a:avLst/>
            <a:gdLst/>
            <a:ahLst/>
            <a:cxnLst/>
            <a:rect l="l" t="t" r="r" b="b"/>
            <a:pathLst>
              <a:path w="73660" h="18415">
                <a:moveTo>
                  <a:pt x="73151" y="0"/>
                </a:moveTo>
                <a:lnTo>
                  <a:pt x="0" y="0"/>
                </a:lnTo>
                <a:lnTo>
                  <a:pt x="0" y="18287"/>
                </a:lnTo>
                <a:lnTo>
                  <a:pt x="73151" y="18287"/>
                </a:lnTo>
                <a:lnTo>
                  <a:pt x="731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65480" y="8413756"/>
            <a:ext cx="6633845" cy="311023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algn="just" marL="18415" marR="5080" indent="-6350">
              <a:lnSpc>
                <a:spcPct val="144800"/>
              </a:lnSpc>
              <a:spcBef>
                <a:spcPts val="244"/>
              </a:spcBef>
            </a:pPr>
            <a:r>
              <a:rPr dirty="0" sz="1400" b="1">
                <a:latin typeface="Arial"/>
                <a:cs typeface="Arial"/>
              </a:rPr>
              <a:t>Post </a:t>
            </a:r>
            <a:r>
              <a:rPr dirty="0" sz="1400" spc="-5" b="1">
                <a:latin typeface="Arial"/>
                <a:cs typeface="Arial"/>
              </a:rPr>
              <a:t>Lesson Activities: </a:t>
            </a:r>
            <a:r>
              <a:rPr dirty="0" sz="1200" spc="-5">
                <a:latin typeface="Arial MT"/>
                <a:cs typeface="Arial MT"/>
              </a:rPr>
              <a:t>Most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times,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teachers think </a:t>
            </a:r>
            <a:r>
              <a:rPr dirty="0" sz="1200" spc="5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most important </a:t>
            </a:r>
            <a:r>
              <a:rPr dirty="0" sz="1200">
                <a:latin typeface="Arial MT"/>
                <a:cs typeface="Arial MT"/>
              </a:rPr>
              <a:t>thing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 is lesson planning and lesson execution. But post lesson activities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also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included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plans.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Post</a:t>
            </a:r>
            <a:r>
              <a:rPr dirty="0" sz="1200" b="1">
                <a:latin typeface="Arial"/>
                <a:cs typeface="Arial"/>
              </a:rPr>
              <a:t> Lesson </a:t>
            </a:r>
            <a:r>
              <a:rPr dirty="0" sz="1200" spc="-5" b="1">
                <a:latin typeface="Arial"/>
                <a:cs typeface="Arial"/>
              </a:rPr>
              <a:t>Activities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Evaluating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plans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Evaluating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unit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Record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keeping</a:t>
            </a:r>
            <a:endParaRPr sz="1200">
              <a:latin typeface="Arial"/>
              <a:cs typeface="Arial"/>
            </a:endParaRPr>
          </a:p>
          <a:p>
            <a:pPr algn="just" marL="18415" marR="8890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evaluation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written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oral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evaluation.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 the format which is actually attached with the lesson plan.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good teacher is the one who plans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implement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after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implementation.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Evaluation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students’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learning: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27495" cy="2658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need to ask certain questions whenever we are evaluating. Whether we are evaluating </a:t>
            </a:r>
            <a:r>
              <a:rPr dirty="0" sz="1200" spc="-10">
                <a:latin typeface="Arial MT"/>
                <a:cs typeface="Arial MT"/>
              </a:rPr>
              <a:t>our </a:t>
            </a:r>
            <a:r>
              <a:rPr dirty="0" sz="1200" spc="-5">
                <a:latin typeface="Arial MT"/>
                <a:cs typeface="Arial MT"/>
              </a:rPr>
              <a:t> teaching or the learning of our students. Here are certain questions that must be </a:t>
            </a:r>
            <a:r>
              <a:rPr dirty="0" sz="1200" spc="-10">
                <a:latin typeface="Arial MT"/>
                <a:cs typeface="Arial MT"/>
              </a:rPr>
              <a:t>taken </a:t>
            </a:r>
            <a:r>
              <a:rPr dirty="0" sz="1200" spc="-5">
                <a:latin typeface="Arial MT"/>
                <a:cs typeface="Arial MT"/>
              </a:rPr>
              <a:t>into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did</a:t>
            </a:r>
            <a:r>
              <a:rPr dirty="0" sz="1200" spc="-5" b="1">
                <a:latin typeface="Arial"/>
                <a:cs typeface="Arial"/>
              </a:rPr>
              <a:t> my students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was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interesting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What was </a:t>
            </a:r>
            <a:r>
              <a:rPr dirty="0" sz="1200" b="1">
                <a:latin typeface="Arial"/>
                <a:cs typeface="Arial"/>
              </a:rPr>
              <a:t>difficult</a:t>
            </a:r>
            <a:r>
              <a:rPr dirty="0" sz="1200" spc="-5" b="1">
                <a:latin typeface="Arial"/>
                <a:cs typeface="Arial"/>
              </a:rPr>
              <a:t> for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students?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What evidence</a:t>
            </a:r>
            <a:r>
              <a:rPr dirty="0" sz="1200" b="1">
                <a:latin typeface="Arial"/>
                <a:cs typeface="Arial"/>
              </a:rPr>
              <a:t> do I </a:t>
            </a:r>
            <a:r>
              <a:rPr dirty="0" sz="1200" spc="-5" b="1">
                <a:latin typeface="Arial"/>
                <a:cs typeface="Arial"/>
              </a:rPr>
              <a:t>have </a:t>
            </a:r>
            <a:r>
              <a:rPr dirty="0" sz="1200" b="1">
                <a:latin typeface="Arial"/>
                <a:cs typeface="Arial"/>
              </a:rPr>
              <a:t>for </a:t>
            </a:r>
            <a:r>
              <a:rPr dirty="0" sz="1200" spc="-5" b="1">
                <a:latin typeface="Arial"/>
                <a:cs typeface="Arial"/>
              </a:rPr>
              <a:t>these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findings?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What </a:t>
            </a:r>
            <a:r>
              <a:rPr dirty="0" sz="1200" b="1">
                <a:latin typeface="Arial"/>
                <a:cs typeface="Arial"/>
              </a:rPr>
              <a:t>will</a:t>
            </a:r>
            <a:r>
              <a:rPr dirty="0" sz="1200" spc="-5" b="1">
                <a:latin typeface="Arial"/>
                <a:cs typeface="Arial"/>
              </a:rPr>
              <a:t> children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future?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3674109"/>
            <a:ext cx="6631305" cy="7722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Task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Read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following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statements and choose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appropriate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evaluation?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 learnt to </a:t>
            </a:r>
            <a:r>
              <a:rPr dirty="0" sz="1200" b="1">
                <a:latin typeface="Arial"/>
                <a:cs typeface="Arial"/>
              </a:rPr>
              <a:t>cooperate.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cooperate</a:t>
            </a:r>
            <a:r>
              <a:rPr dirty="0" sz="1200" spc="-5" b="1">
                <a:latin typeface="Arial"/>
                <a:cs typeface="Arial"/>
              </a:rPr>
              <a:t> as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made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work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groups.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cooperate</a:t>
            </a:r>
            <a:r>
              <a:rPr dirty="0" sz="1200" spc="-5" b="1">
                <a:latin typeface="Arial"/>
                <a:cs typeface="Arial"/>
              </a:rPr>
              <a:t> as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resolved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conflicts.</a:t>
            </a:r>
            <a:endParaRPr sz="1200">
              <a:latin typeface="Arial"/>
              <a:cs typeface="Arial"/>
            </a:endParaRPr>
          </a:p>
          <a:p>
            <a:pPr marL="469900" marR="6350" indent="-228600">
              <a:lnSpc>
                <a:spcPts val="2060"/>
              </a:lnSpc>
              <a:spcBef>
                <a:spcPts val="15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My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learnt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resolve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conflicts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when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they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were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working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group,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they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initially</a:t>
            </a:r>
            <a:r>
              <a:rPr dirty="0" sz="1200" spc="1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had</a:t>
            </a:r>
            <a:r>
              <a:rPr dirty="0" sz="1200" spc="1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conflicts</a:t>
            </a:r>
            <a:r>
              <a:rPr dirty="0" sz="1200" spc="1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asked</a:t>
            </a:r>
            <a:r>
              <a:rPr dirty="0" sz="1200" spc="14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me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intervene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change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groups.</a:t>
            </a:r>
            <a:r>
              <a:rPr dirty="0" sz="1200" spc="1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When</a:t>
            </a:r>
            <a:r>
              <a:rPr dirty="0" sz="1200" spc="1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denied</a:t>
            </a:r>
            <a:endParaRPr sz="1200">
              <a:latin typeface="Arial"/>
              <a:cs typeface="Arial"/>
            </a:endParaRPr>
          </a:p>
          <a:p>
            <a:pPr marL="469900" marR="8890">
              <a:lnSpc>
                <a:spcPts val="2050"/>
              </a:lnSpc>
              <a:spcBef>
                <a:spcPts val="15"/>
              </a:spcBef>
            </a:pPr>
            <a:r>
              <a:rPr dirty="0" sz="1200" b="1">
                <a:latin typeface="Arial"/>
                <a:cs typeface="Arial"/>
              </a:rPr>
              <a:t>doing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so,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they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fact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tried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resolve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conflicts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at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own.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All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members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were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smoothly</a:t>
            </a:r>
            <a:r>
              <a:rPr dirty="0" sz="1200" b="1">
                <a:latin typeface="Arial"/>
                <a:cs typeface="Arial"/>
              </a:rPr>
              <a:t> working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towards 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end 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lesson.</a:t>
            </a:r>
            <a:endParaRPr sz="12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455"/>
              </a:spcBef>
            </a:pPr>
            <a:r>
              <a:rPr dirty="0" sz="1200" spc="-5" b="1">
                <a:latin typeface="Arial"/>
                <a:cs typeface="Arial"/>
              </a:rPr>
              <a:t>No.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4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definitely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best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evaluation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statement.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evaluation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judgement.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  <a:p>
            <a:pPr marL="255270">
              <a:lnSpc>
                <a:spcPct val="100000"/>
              </a:lnSpc>
              <a:spcBef>
                <a:spcPts val="640"/>
              </a:spcBef>
            </a:pP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could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judgement unless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have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evidence.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Evaluating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Teaching:</a:t>
            </a:r>
            <a:endParaRPr sz="1400">
              <a:latin typeface="Arial"/>
              <a:cs typeface="Arial"/>
            </a:endParaRPr>
          </a:p>
          <a:p>
            <a:pPr marL="12700" marR="129539">
              <a:lnSpc>
                <a:spcPct val="143300"/>
              </a:lnSpc>
              <a:spcBef>
                <a:spcPts val="885"/>
              </a:spcBef>
            </a:pP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also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raised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teaching.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5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Did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-5">
                <a:latin typeface="Arial MT"/>
                <a:cs typeface="Arial MT"/>
              </a:rPr>
              <a:t> achieve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my</a:t>
            </a:r>
            <a:r>
              <a:rPr dirty="0" sz="1200" spc="-5">
                <a:latin typeface="Arial MT"/>
                <a:cs typeface="Arial MT"/>
              </a:rPr>
              <a:t> objectives?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4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Did</a:t>
            </a:r>
            <a:r>
              <a:rPr dirty="0" sz="1200">
                <a:latin typeface="Arial MT"/>
                <a:cs typeface="Arial MT"/>
              </a:rPr>
              <a:t> I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build lessons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responses?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Did</a:t>
            </a:r>
            <a:r>
              <a:rPr dirty="0" sz="1200">
                <a:latin typeface="Arial MT"/>
                <a:cs typeface="Arial MT"/>
              </a:rPr>
              <a:t> I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clearly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students?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Did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equal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opportunities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>
                <a:latin typeface="Arial MT"/>
                <a:cs typeface="Arial MT"/>
              </a:rPr>
              <a:t> my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students?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Did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keep eye</a:t>
            </a:r>
            <a:r>
              <a:rPr dirty="0" sz="1200">
                <a:latin typeface="Arial MT"/>
                <a:cs typeface="Arial MT"/>
              </a:rPr>
              <a:t> contact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students?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Did</a:t>
            </a:r>
            <a:r>
              <a:rPr dirty="0" sz="1200">
                <a:latin typeface="Arial MT"/>
                <a:cs typeface="Arial MT"/>
              </a:rPr>
              <a:t> I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feedback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pupils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constructively?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Did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manage </a:t>
            </a:r>
            <a:r>
              <a:rPr dirty="0" sz="1200">
                <a:latin typeface="Arial MT"/>
                <a:cs typeface="Arial MT"/>
              </a:rPr>
              <a:t>time</a:t>
            </a:r>
            <a:r>
              <a:rPr dirty="0" sz="1200" spc="-5">
                <a:latin typeface="Arial MT"/>
                <a:cs typeface="Arial MT"/>
              </a:rPr>
              <a:t> and resources effectively?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35"/>
              </a:spcBef>
            </a:pPr>
            <a:r>
              <a:rPr dirty="0" sz="1200" spc="-5" b="1">
                <a:latin typeface="Arial"/>
                <a:cs typeface="Arial"/>
              </a:rPr>
              <a:t>Task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2: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Read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following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statements and choose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appropriate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evaluation?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teaching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went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very </a:t>
            </a:r>
            <a:r>
              <a:rPr dirty="0" sz="1200" spc="-5" b="1">
                <a:latin typeface="Arial"/>
                <a:cs typeface="Arial"/>
              </a:rPr>
              <a:t>well.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My</a:t>
            </a:r>
            <a:r>
              <a:rPr dirty="0" sz="1200" b="1">
                <a:latin typeface="Arial"/>
                <a:cs typeface="Arial"/>
              </a:rPr>
              <a:t> teaching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went </a:t>
            </a:r>
            <a:r>
              <a:rPr dirty="0" sz="1200" spc="-10" b="1">
                <a:latin typeface="Arial"/>
                <a:cs typeface="Arial"/>
              </a:rPr>
              <a:t>very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well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all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seemed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very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happy.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 </a:t>
            </a:r>
            <a:r>
              <a:rPr dirty="0" sz="1200" spc="-5" b="1">
                <a:latin typeface="Arial"/>
                <a:cs typeface="Arial"/>
              </a:rPr>
              <a:t>achieved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my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indicated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students’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responses.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384" y="578611"/>
            <a:ext cx="6404610" cy="1458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8890" indent="-228600">
              <a:lnSpc>
                <a:spcPct val="1425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4.</a:t>
            </a:r>
            <a:r>
              <a:rPr dirty="0" sz="1200" spc="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Arial"/>
                <a:cs typeface="Arial"/>
              </a:rPr>
              <a:t>I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was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able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achieve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first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two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as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indicated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students’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performance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on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two questions </a:t>
            </a:r>
            <a:r>
              <a:rPr dirty="0" sz="1200" spc="-5" b="1">
                <a:latin typeface="Arial"/>
                <a:cs typeface="Arial"/>
              </a:rPr>
              <a:t>which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given</a:t>
            </a:r>
            <a:r>
              <a:rPr dirty="0" sz="1200" b="1">
                <a:latin typeface="Arial"/>
                <a:cs typeface="Arial"/>
              </a:rPr>
              <a:t> to </a:t>
            </a:r>
            <a:r>
              <a:rPr dirty="0" sz="1200" spc="-5" b="1">
                <a:latin typeface="Arial"/>
                <a:cs typeface="Arial"/>
              </a:rPr>
              <a:t>them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towards</a:t>
            </a:r>
            <a:r>
              <a:rPr dirty="0" sz="1200" b="1">
                <a:latin typeface="Arial"/>
                <a:cs typeface="Arial"/>
              </a:rPr>
              <a:t> 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end of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lesson.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200" spc="-5" b="1">
                <a:latin typeface="Arial"/>
                <a:cs typeface="Arial"/>
              </a:rPr>
              <a:t>No.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4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5" b="1">
                <a:latin typeface="Arial"/>
                <a:cs typeface="Arial"/>
              </a:rPr>
              <a:t> actually 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good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evaluative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statement.</a:t>
            </a:r>
            <a:endParaRPr sz="1200">
              <a:latin typeface="Arial"/>
              <a:cs typeface="Arial"/>
            </a:endParaRPr>
          </a:p>
          <a:p>
            <a:pPr marL="26034" marR="5080" indent="-6350">
              <a:lnSpc>
                <a:spcPct val="144200"/>
              </a:lnSpc>
              <a:spcBef>
                <a:spcPts val="960"/>
              </a:spcBef>
            </a:pP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remember,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whenever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teaching,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judgement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sufficient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evidence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support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9468" y="2526537"/>
            <a:ext cx="6726555" cy="8948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Post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Lesson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Activity:</a:t>
            </a:r>
            <a:r>
              <a:rPr dirty="0" sz="1400" spc="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“Keeping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Notes”</a:t>
            </a:r>
            <a:endParaRPr sz="1400">
              <a:latin typeface="Arial"/>
              <a:cs typeface="Arial"/>
            </a:endParaRPr>
          </a:p>
          <a:p>
            <a:pPr algn="just" marL="114300" marR="5080" indent="-6350">
              <a:lnSpc>
                <a:spcPct val="144200"/>
              </a:lnSpc>
              <a:spcBef>
                <a:spcPts val="935"/>
              </a:spcBef>
            </a:pPr>
            <a:r>
              <a:rPr dirty="0" sz="1200">
                <a:latin typeface="Arial MT"/>
                <a:cs typeface="Arial MT"/>
              </a:rPr>
              <a:t>Teachers’ </a:t>
            </a:r>
            <a:r>
              <a:rPr dirty="0" sz="1200" spc="-5">
                <a:latin typeface="Arial MT"/>
                <a:cs typeface="Arial MT"/>
              </a:rPr>
              <a:t>notes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students, because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prepare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preparation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exams.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prepare the </a:t>
            </a:r>
            <a:r>
              <a:rPr dirty="0" sz="1200">
                <a:latin typeface="Arial MT"/>
                <a:cs typeface="Arial MT"/>
              </a:rPr>
              <a:t>notes </a:t>
            </a:r>
            <a:r>
              <a:rPr dirty="0" sz="1200" spc="-5">
                <a:latin typeface="Arial MT"/>
                <a:cs typeface="Arial MT"/>
              </a:rPr>
              <a:t>and then memorize them but when </a:t>
            </a:r>
            <a:r>
              <a:rPr dirty="0" sz="1200" spc="-10">
                <a:latin typeface="Arial MT"/>
                <a:cs typeface="Arial MT"/>
              </a:rPr>
              <a:t>teachers </a:t>
            </a:r>
            <a:r>
              <a:rPr dirty="0" sz="1200" spc="-5">
                <a:latin typeface="Arial MT"/>
                <a:cs typeface="Arial MT"/>
              </a:rPr>
              <a:t>make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notes, they keep the detail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-5">
                <a:latin typeface="Arial MT"/>
                <a:cs typeface="Arial MT"/>
              </a:rPr>
              <a:t>content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-5">
                <a:latin typeface="Arial MT"/>
                <a:cs typeface="Arial MT"/>
              </a:rPr>
              <a:t>lesson to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taught in the class in those notes.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 </a:t>
            </a:r>
            <a:r>
              <a:rPr dirty="0" sz="1200">
                <a:latin typeface="Arial MT"/>
                <a:cs typeface="Arial MT"/>
              </a:rPr>
              <a:t>part of </a:t>
            </a:r>
            <a:r>
              <a:rPr dirty="0" sz="1200" spc="-5">
                <a:latin typeface="Arial MT"/>
                <a:cs typeface="Arial MT"/>
              </a:rPr>
              <a:t>evaluation is also included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those notes. Keeping notes is a very important </a:t>
            </a:r>
            <a:r>
              <a:rPr dirty="0" sz="1200">
                <a:latin typeface="Arial MT"/>
                <a:cs typeface="Arial MT"/>
              </a:rPr>
              <a:t>type 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post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record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his/her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Arial MT"/>
              <a:cs typeface="Arial MT"/>
            </a:endParaRPr>
          </a:p>
          <a:p>
            <a:pPr algn="just" marL="116205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Purpose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keeping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notes: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00">
              <a:latin typeface="Arial"/>
              <a:cs typeface="Arial"/>
            </a:endParaRPr>
          </a:p>
          <a:p>
            <a:pPr marL="565785" indent="-229235">
              <a:lnSpc>
                <a:spcPct val="100000"/>
              </a:lnSpc>
              <a:buFont typeface="Times New Roman"/>
              <a:buChar char="-"/>
              <a:tabLst>
                <a:tab pos="565785" algn="l"/>
                <a:tab pos="566420" algn="l"/>
              </a:tabLst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keep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record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teaching.</a:t>
            </a:r>
            <a:endParaRPr sz="1200">
              <a:latin typeface="Arial MT"/>
              <a:cs typeface="Arial MT"/>
            </a:endParaRPr>
          </a:p>
          <a:p>
            <a:pPr marL="565785" indent="-229235">
              <a:lnSpc>
                <a:spcPct val="100000"/>
              </a:lnSpc>
              <a:spcBef>
                <a:spcPts val="795"/>
              </a:spcBef>
              <a:buFont typeface="Times New Roman"/>
              <a:buChar char="-"/>
              <a:tabLst>
                <a:tab pos="565785" algn="l"/>
                <a:tab pos="566420" algn="l"/>
              </a:tabLst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plan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future</a:t>
            </a:r>
            <a:endParaRPr sz="1200">
              <a:latin typeface="Arial MT"/>
              <a:cs typeface="Arial MT"/>
            </a:endParaRPr>
          </a:p>
          <a:p>
            <a:pPr marL="565785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565785" algn="l"/>
                <a:tab pos="566420" algn="l"/>
              </a:tabLst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</a:t>
            </a:r>
            <a:endParaRPr sz="1200">
              <a:latin typeface="Arial MT"/>
              <a:cs typeface="Arial MT"/>
            </a:endParaRPr>
          </a:p>
          <a:p>
            <a:pPr marL="565785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565785" algn="l"/>
                <a:tab pos="566420" algn="l"/>
              </a:tabLst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communicate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principal</a:t>
            </a:r>
            <a:endParaRPr sz="1200">
              <a:latin typeface="Arial MT"/>
              <a:cs typeface="Arial MT"/>
            </a:endParaRPr>
          </a:p>
          <a:p>
            <a:pPr algn="just" marL="565785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566420" algn="l"/>
              </a:tabLst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 research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report</a:t>
            </a:r>
            <a:endParaRPr sz="1200">
              <a:latin typeface="Arial MT"/>
              <a:cs typeface="Arial MT"/>
            </a:endParaRPr>
          </a:p>
          <a:p>
            <a:pPr algn="just" marL="351155" marR="6985" indent="-6350">
              <a:lnSpc>
                <a:spcPct val="1442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(Action research 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effective research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teachers, because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aims at improvement.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Whenever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improvement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always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action.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conducting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evidence.)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Arial MT"/>
              <a:cs typeface="Arial MT"/>
            </a:endParaRPr>
          </a:p>
          <a:p>
            <a:pPr algn="just" marL="337185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Record </a:t>
            </a:r>
            <a:r>
              <a:rPr dirty="0" sz="1200" spc="-5" b="1">
                <a:latin typeface="Arial"/>
                <a:cs typeface="Arial"/>
              </a:rPr>
              <a:t>keeping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serves</a:t>
            </a:r>
            <a:r>
              <a:rPr dirty="0" sz="1200" b="1">
                <a:latin typeface="Arial"/>
                <a:cs typeface="Arial"/>
              </a:rPr>
              <a:t> 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purpose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future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improvement.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50">
              <a:latin typeface="Arial"/>
              <a:cs typeface="Arial"/>
            </a:endParaRPr>
          </a:p>
          <a:p>
            <a:pPr algn="just" marL="344805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Research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on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lesson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planning: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Arial"/>
              <a:cs typeface="Arial"/>
            </a:endParaRPr>
          </a:p>
          <a:p>
            <a:pPr algn="just" marL="344805">
              <a:lnSpc>
                <a:spcPct val="1000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extensively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researched.</a:t>
            </a:r>
            <a:endParaRPr sz="1200">
              <a:latin typeface="Arial MT"/>
              <a:cs typeface="Arial MT"/>
            </a:endParaRPr>
          </a:p>
          <a:p>
            <a:pPr marL="565785" marR="5080" indent="-228600">
              <a:lnSpc>
                <a:spcPct val="142500"/>
              </a:lnSpc>
              <a:spcBef>
                <a:spcPts val="1065"/>
              </a:spcBef>
              <a:buFont typeface="Times New Roman"/>
              <a:buAutoNum type="arabicPeriod"/>
              <a:tabLst>
                <a:tab pos="566420" algn="l"/>
              </a:tabLst>
            </a:pPr>
            <a:r>
              <a:rPr dirty="0" sz="1200" spc="-5" b="1">
                <a:latin typeface="Arial"/>
                <a:cs typeface="Arial"/>
              </a:rPr>
              <a:t>Researchers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have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neither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identified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nor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validated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any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widely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accepted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consistently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practical </a:t>
            </a: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model.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(McBer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2000).</a:t>
            </a:r>
            <a:endParaRPr sz="1200">
              <a:latin typeface="Arial"/>
              <a:cs typeface="Arial"/>
            </a:endParaRPr>
          </a:p>
          <a:p>
            <a:pPr marL="565785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566420" algn="l"/>
              </a:tabLst>
            </a:pPr>
            <a:r>
              <a:rPr dirty="0" sz="1200" spc="-5" b="1">
                <a:latin typeface="Arial"/>
                <a:cs typeface="Arial"/>
              </a:rPr>
              <a:t>Teachers use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variety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lesson</a:t>
            </a:r>
            <a:r>
              <a:rPr dirty="0" sz="1200" b="1">
                <a:latin typeface="Arial"/>
                <a:cs typeface="Arial"/>
              </a:rPr>
              <a:t> plan </a:t>
            </a:r>
            <a:r>
              <a:rPr dirty="0" sz="1200" spc="-5" b="1">
                <a:latin typeface="Arial"/>
                <a:cs typeface="Arial"/>
              </a:rPr>
              <a:t>formats.</a:t>
            </a:r>
            <a:endParaRPr sz="1200">
              <a:latin typeface="Arial"/>
              <a:cs typeface="Arial"/>
            </a:endParaRPr>
          </a:p>
          <a:p>
            <a:pPr marL="565785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566420" algn="l"/>
              </a:tabLst>
            </a:pP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serves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guide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action.</a:t>
            </a:r>
            <a:endParaRPr sz="1200">
              <a:latin typeface="Arial"/>
              <a:cs typeface="Arial"/>
            </a:endParaRPr>
          </a:p>
          <a:p>
            <a:pPr marL="565785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566420" algn="l"/>
              </a:tabLst>
            </a:pPr>
            <a:r>
              <a:rPr dirty="0" sz="1200" spc="-5" b="1">
                <a:latin typeface="Arial"/>
                <a:cs typeface="Arial"/>
              </a:rPr>
              <a:t>Teachers </a:t>
            </a:r>
            <a:r>
              <a:rPr dirty="0" sz="1200" b="1">
                <a:latin typeface="Arial"/>
                <a:cs typeface="Arial"/>
              </a:rPr>
              <a:t>tend to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much of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planning</a:t>
            </a:r>
            <a:r>
              <a:rPr dirty="0" sz="1200" b="1">
                <a:latin typeface="Arial"/>
                <a:cs typeface="Arial"/>
              </a:rPr>
              <a:t> in minds </a:t>
            </a:r>
            <a:r>
              <a:rPr dirty="0" sz="1200" spc="-5" b="1">
                <a:latin typeface="Arial"/>
                <a:cs typeface="Arial"/>
              </a:rPr>
              <a:t>rather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than</a:t>
            </a:r>
            <a:r>
              <a:rPr dirty="0" sz="1200" b="1">
                <a:latin typeface="Arial"/>
                <a:cs typeface="Arial"/>
              </a:rPr>
              <a:t> on paper.</a:t>
            </a:r>
            <a:endParaRPr sz="1200">
              <a:latin typeface="Arial"/>
              <a:cs typeface="Arial"/>
            </a:endParaRPr>
          </a:p>
          <a:p>
            <a:pPr marL="565785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566420" algn="l"/>
              </a:tabLst>
            </a:pPr>
            <a:r>
              <a:rPr dirty="0" sz="1200" spc="-5" b="1">
                <a:latin typeface="Arial"/>
                <a:cs typeface="Arial"/>
              </a:rPr>
              <a:t>Teachers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rarely</a:t>
            </a:r>
            <a:r>
              <a:rPr dirty="0" sz="1200" b="1">
                <a:latin typeface="Arial"/>
                <a:cs typeface="Arial"/>
              </a:rPr>
              <a:t> plan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linear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 encouraged</a:t>
            </a:r>
            <a:r>
              <a:rPr dirty="0" sz="1200" b="1">
                <a:latin typeface="Arial"/>
                <a:cs typeface="Arial"/>
              </a:rPr>
              <a:t> 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textbooks.</a:t>
            </a:r>
            <a:endParaRPr sz="1200">
              <a:latin typeface="Arial"/>
              <a:cs typeface="Arial"/>
            </a:endParaRPr>
          </a:p>
          <a:p>
            <a:pPr marL="565785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566420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best teachers apply </a:t>
            </a: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5" b="1">
                <a:latin typeface="Arial"/>
                <a:cs typeface="Arial"/>
              </a:rPr>
              <a:t> flexibly.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Arial"/>
              <a:cs typeface="Arial"/>
            </a:endParaRPr>
          </a:p>
          <a:p>
            <a:pPr algn="just" marL="116205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Components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lesson </a:t>
            </a:r>
            <a:r>
              <a:rPr dirty="0" sz="1200" b="1">
                <a:latin typeface="Arial"/>
                <a:cs typeface="Arial"/>
              </a:rPr>
              <a:t>plan: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Arial"/>
              <a:cs typeface="Arial"/>
            </a:endParaRPr>
          </a:p>
          <a:p>
            <a:pPr marL="565785" indent="-229235">
              <a:lnSpc>
                <a:spcPct val="100000"/>
              </a:lnSpc>
              <a:buFont typeface="Times New Roman"/>
              <a:buAutoNum type="arabicPeriod"/>
              <a:tabLst>
                <a:tab pos="566420" algn="l"/>
              </a:tabLst>
            </a:pPr>
            <a:r>
              <a:rPr dirty="0" sz="1200" b="1">
                <a:latin typeface="Arial"/>
                <a:cs typeface="Arial"/>
              </a:rPr>
              <a:t>Grade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</a:t>
            </a:r>
            <a:endParaRPr sz="1200">
              <a:latin typeface="Arial"/>
              <a:cs typeface="Arial"/>
            </a:endParaRPr>
          </a:p>
          <a:p>
            <a:pPr marL="565785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566420" algn="l"/>
              </a:tabLst>
            </a:pPr>
            <a:r>
              <a:rPr dirty="0" sz="1200" b="1">
                <a:latin typeface="Arial"/>
                <a:cs typeface="Arial"/>
              </a:rPr>
              <a:t>Topic</a:t>
            </a:r>
            <a:endParaRPr sz="1200">
              <a:latin typeface="Arial"/>
              <a:cs typeface="Arial"/>
            </a:endParaRPr>
          </a:p>
          <a:p>
            <a:pPr marL="565785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566420" algn="l"/>
              </a:tabLst>
            </a:pPr>
            <a:r>
              <a:rPr dirty="0" sz="1200" b="1">
                <a:latin typeface="Arial"/>
                <a:cs typeface="Arial"/>
              </a:rPr>
              <a:t>Instructional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aims: Student-oriented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384" y="575563"/>
            <a:ext cx="6403975" cy="4801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5715" indent="-228600">
              <a:lnSpc>
                <a:spcPct val="144200"/>
              </a:lnSpc>
              <a:spcBef>
                <a:spcPts val="100"/>
              </a:spcBef>
              <a:buFont typeface="Times New Roman"/>
              <a:buAutoNum type="arabicPeriod" startAt="4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Instructional </a:t>
            </a:r>
            <a:r>
              <a:rPr dirty="0" sz="1200" spc="-5" b="1">
                <a:latin typeface="Arial"/>
                <a:cs typeface="Arial"/>
              </a:rPr>
              <a:t>objectives (</a:t>
            </a:r>
            <a:r>
              <a:rPr dirty="0" sz="1200" spc="-5">
                <a:latin typeface="Arial MT"/>
                <a:cs typeface="Arial MT"/>
              </a:rPr>
              <a:t>Instructional aims are broad while instructional objectives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 narrow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have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during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particular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span.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 objectives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always begin with: </a:t>
            </a:r>
            <a:r>
              <a:rPr dirty="0" sz="1200">
                <a:latin typeface="Arial MT"/>
                <a:cs typeface="Arial MT"/>
              </a:rPr>
              <a:t>“By </a:t>
            </a:r>
            <a:r>
              <a:rPr dirty="0" sz="1200" spc="-5">
                <a:latin typeface="Arial MT"/>
                <a:cs typeface="Arial MT"/>
              </a:rPr>
              <a:t>the end of </a:t>
            </a:r>
            <a:r>
              <a:rPr dirty="0" sz="1200" spc="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lesson, the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 spc="-10">
                <a:latin typeface="Arial MT"/>
                <a:cs typeface="Arial MT"/>
              </a:rPr>
              <a:t>will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…..”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 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attitudes.</a:t>
            </a:r>
            <a:r>
              <a:rPr dirty="0" sz="1200" b="1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Times New Roman"/>
              <a:buAutoNum type="arabicPeriod" startAt="4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Rationale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objectives.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 startAt="4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Lesson</a:t>
            </a:r>
            <a:r>
              <a:rPr dirty="0" sz="1200" spc="-5" b="1">
                <a:latin typeface="Arial"/>
                <a:cs typeface="Arial"/>
              </a:rPr>
              <a:t> content (Outline</a:t>
            </a:r>
            <a:r>
              <a:rPr dirty="0" sz="1200" b="1">
                <a:latin typeface="Arial"/>
                <a:cs typeface="Arial"/>
              </a:rPr>
              <a:t> of </a:t>
            </a:r>
            <a:r>
              <a:rPr dirty="0" sz="1200" spc="-5" b="1">
                <a:latin typeface="Arial"/>
                <a:cs typeface="Arial"/>
              </a:rPr>
              <a:t>the lesson)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 startAt="4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Instructional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procedures</a:t>
            </a:r>
            <a:endParaRPr sz="1200">
              <a:latin typeface="Arial"/>
              <a:cs typeface="Arial"/>
            </a:endParaRPr>
          </a:p>
          <a:p>
            <a:pPr marL="241300" marR="5080" indent="-228600">
              <a:lnSpc>
                <a:spcPts val="2060"/>
              </a:lnSpc>
              <a:spcBef>
                <a:spcPts val="165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Focusing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event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(It</a:t>
            </a:r>
            <a:r>
              <a:rPr dirty="0" sz="1200" spc="1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includes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1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ways</a:t>
            </a:r>
            <a:r>
              <a:rPr dirty="0" sz="1200" spc="1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1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grab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students’</a:t>
            </a:r>
            <a:r>
              <a:rPr dirty="0" sz="1200" spc="1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attention</a:t>
            </a:r>
            <a:r>
              <a:rPr dirty="0" sz="1200" spc="1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e.g.</a:t>
            </a:r>
            <a:r>
              <a:rPr dirty="0" sz="1200" spc="1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games,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brainstorming etc.)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170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Teaching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procedures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Students’ participation</a:t>
            </a:r>
            <a:r>
              <a:rPr dirty="0" sz="1200" b="1">
                <a:latin typeface="Arial"/>
                <a:cs typeface="Arial"/>
              </a:rPr>
              <a:t> and </a:t>
            </a:r>
            <a:r>
              <a:rPr dirty="0" sz="1200" spc="-5" b="1">
                <a:latin typeface="Arial"/>
                <a:cs typeface="Arial"/>
              </a:rPr>
              <a:t>activities</a:t>
            </a:r>
            <a:endParaRPr sz="1200">
              <a:latin typeface="Arial"/>
              <a:cs typeface="Arial"/>
            </a:endParaRPr>
          </a:p>
          <a:p>
            <a:pPr marL="241300" marR="10795" indent="-228600">
              <a:lnSpc>
                <a:spcPct val="142500"/>
              </a:lnSpc>
              <a:spcBef>
                <a:spcPts val="5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Formative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check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(How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will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you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assess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the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and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what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feedback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will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given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them.)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Closure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(How will you </a:t>
            </a:r>
            <a:r>
              <a:rPr dirty="0" sz="1200" b="1">
                <a:latin typeface="Arial"/>
                <a:cs typeface="Arial"/>
              </a:rPr>
              <a:t>close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5" b="1">
                <a:latin typeface="Arial"/>
                <a:cs typeface="Arial"/>
              </a:rPr>
              <a:t> lesson)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 startAt="8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Assessment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 startAt="8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Resources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needed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 startAt="8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Teaching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notes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5740019"/>
            <a:ext cx="6972300" cy="315595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18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“Instructional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Sequencing” Outline: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4384" y="6054979"/>
            <a:ext cx="3393440" cy="329501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Sequencing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•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Why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sequence?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sequence?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Principles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sequencing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Can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 </a:t>
            </a:r>
            <a:r>
              <a:rPr dirty="0" sz="1200" spc="-5" b="1">
                <a:latin typeface="Arial"/>
                <a:cs typeface="Arial"/>
              </a:rPr>
              <a:t>sequence 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lesson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one</a:t>
            </a:r>
            <a:r>
              <a:rPr dirty="0" sz="1200" spc="-5" b="1">
                <a:latin typeface="Arial"/>
                <a:cs typeface="Arial"/>
              </a:rPr>
              <a:t> concept?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Hierarchy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students’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success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Knowledge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forms</a:t>
            </a:r>
            <a:endParaRPr sz="1200">
              <a:latin typeface="Arial"/>
              <a:cs typeface="Arial"/>
            </a:endParaRPr>
          </a:p>
          <a:p>
            <a:pPr lvl="1" marL="476884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476884" algn="l"/>
                <a:tab pos="477520" algn="l"/>
              </a:tabLst>
            </a:pPr>
            <a:r>
              <a:rPr dirty="0" sz="1200" spc="-5" b="1">
                <a:latin typeface="Arial"/>
                <a:cs typeface="Arial"/>
              </a:rPr>
              <a:t>Content</a:t>
            </a:r>
            <a:endParaRPr sz="1200">
              <a:latin typeface="Arial"/>
              <a:cs typeface="Arial"/>
            </a:endParaRPr>
          </a:p>
          <a:p>
            <a:pPr lvl="1" marL="476884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476884" algn="l"/>
                <a:tab pos="477520" algn="l"/>
              </a:tabLst>
            </a:pPr>
            <a:r>
              <a:rPr dirty="0" sz="1200" spc="-5" b="1"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  <a:p>
            <a:pPr marL="108585" indent="-96520">
              <a:lnSpc>
                <a:spcPct val="100000"/>
              </a:lnSpc>
              <a:spcBef>
                <a:spcPts val="915"/>
              </a:spcBef>
              <a:buFont typeface="Arial MT"/>
              <a:buChar char="•"/>
              <a:tabLst>
                <a:tab pos="109220" algn="l"/>
              </a:tabLst>
            </a:pPr>
            <a:r>
              <a:rPr dirty="0" sz="1200" spc="-5" b="1">
                <a:latin typeface="Arial"/>
                <a:cs typeface="Arial"/>
              </a:rPr>
              <a:t>Content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forms </a:t>
            </a:r>
            <a:r>
              <a:rPr dirty="0" sz="1200">
                <a:latin typeface="Arial MT"/>
                <a:cs typeface="Arial MT"/>
              </a:rPr>
              <a:t>-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Facts</a:t>
            </a:r>
            <a:endParaRPr sz="1200">
              <a:latin typeface="Arial"/>
              <a:cs typeface="Arial"/>
            </a:endParaRPr>
          </a:p>
          <a:p>
            <a:pPr lvl="1" marL="476884" indent="-229235">
              <a:lnSpc>
                <a:spcPct val="100000"/>
              </a:lnSpc>
              <a:spcBef>
                <a:spcPts val="780"/>
              </a:spcBef>
              <a:buFont typeface="Times New Roman"/>
              <a:buChar char="-"/>
              <a:tabLst>
                <a:tab pos="476884" algn="l"/>
                <a:tab pos="477520" algn="l"/>
              </a:tabLst>
            </a:pPr>
            <a:r>
              <a:rPr dirty="0" sz="1200" spc="-5" b="1">
                <a:latin typeface="Arial"/>
                <a:cs typeface="Arial"/>
              </a:rPr>
              <a:t>Concepts</a:t>
            </a:r>
            <a:endParaRPr sz="1200">
              <a:latin typeface="Arial"/>
              <a:cs typeface="Arial"/>
            </a:endParaRPr>
          </a:p>
          <a:p>
            <a:pPr lvl="1" marL="476884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6884" algn="l"/>
                <a:tab pos="477520" algn="l"/>
              </a:tabLst>
            </a:pPr>
            <a:r>
              <a:rPr dirty="0" sz="1200" spc="-5" b="1">
                <a:latin typeface="Arial"/>
                <a:cs typeface="Arial"/>
              </a:rPr>
              <a:t>Generalizations</a:t>
            </a:r>
            <a:endParaRPr sz="1200">
              <a:latin typeface="Arial"/>
              <a:cs typeface="Arial"/>
            </a:endParaRPr>
          </a:p>
          <a:p>
            <a:pPr marL="108585" indent="-96520">
              <a:lnSpc>
                <a:spcPct val="100000"/>
              </a:lnSpc>
              <a:spcBef>
                <a:spcPts val="910"/>
              </a:spcBef>
              <a:buFont typeface="Arial MT"/>
              <a:buChar char="•"/>
              <a:tabLst>
                <a:tab pos="109220" algn="l"/>
              </a:tabLst>
            </a:pPr>
            <a:r>
              <a:rPr dirty="0" sz="1200" spc="-5" b="1">
                <a:latin typeface="Arial"/>
                <a:cs typeface="Arial"/>
              </a:rPr>
              <a:t>Facts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vs Generalizations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9800081"/>
            <a:ext cx="6628130" cy="1014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Sequencing: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Arial"/>
              <a:cs typeface="Arial"/>
            </a:endParaRPr>
          </a:p>
          <a:p>
            <a:pPr marL="26034" marR="5080" indent="-6350">
              <a:lnSpc>
                <a:spcPct val="1425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art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developing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logical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instructional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called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‘sequencing’.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Such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-5" b="1">
                <a:latin typeface="Arial"/>
                <a:cs typeface="Arial"/>
              </a:rPr>
              <a:t> consists</a:t>
            </a:r>
            <a:r>
              <a:rPr dirty="0" sz="1200" b="1">
                <a:latin typeface="Arial"/>
                <a:cs typeface="Arial"/>
              </a:rPr>
              <a:t> of </a:t>
            </a:r>
            <a:r>
              <a:rPr dirty="0" sz="1200" spc="-5" b="1">
                <a:latin typeface="Arial"/>
                <a:cs typeface="Arial"/>
              </a:rPr>
              <a:t>interlink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steps.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0670" cy="816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The steps are in progression. They </a:t>
            </a:r>
            <a:r>
              <a:rPr dirty="0" sz="1200">
                <a:latin typeface="Arial MT"/>
                <a:cs typeface="Arial MT"/>
              </a:rPr>
              <a:t>start </a:t>
            </a:r>
            <a:r>
              <a:rPr dirty="0" sz="1200" spc="-5">
                <a:latin typeface="Arial MT"/>
                <a:cs typeface="Arial MT"/>
              </a:rPr>
              <a:t>from simple and </a:t>
            </a:r>
            <a:r>
              <a:rPr dirty="0" sz="1200" spc="-10">
                <a:latin typeface="Arial MT"/>
                <a:cs typeface="Arial MT"/>
              </a:rPr>
              <a:t>go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complex. So,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start our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move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simple.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logical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sequencing.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lacks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logical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2203449"/>
            <a:ext cx="6632575" cy="6131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Why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to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sequence?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13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Helps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5" b="1">
                <a:latin typeface="Arial"/>
                <a:cs typeface="Arial"/>
              </a:rPr>
              <a:t> make learning more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manageable.</a:t>
            </a:r>
            <a:endParaRPr sz="1200">
              <a:latin typeface="Arial"/>
              <a:cs typeface="Arial"/>
            </a:endParaRPr>
          </a:p>
          <a:p>
            <a:pPr algn="just" marL="483870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When you are going to teach a child a complex concept or process, you </a:t>
            </a:r>
            <a:r>
              <a:rPr dirty="0" sz="1200" spc="-10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isolate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 pieces. You cannot teach a complex concept straight away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children. You need 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divide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bit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after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bits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</a:t>
            </a:r>
            <a:endParaRPr sz="1200">
              <a:latin typeface="Arial MT"/>
              <a:cs typeface="Arial MT"/>
            </a:endParaRPr>
          </a:p>
          <a:p>
            <a:pPr algn="just" marL="483870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big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Relate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information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 bigger </a:t>
            </a:r>
            <a:r>
              <a:rPr dirty="0" sz="1200" spc="-5" b="1">
                <a:latin typeface="Arial"/>
                <a:cs typeface="Arial"/>
              </a:rPr>
              <a:t>picture.</a:t>
            </a:r>
            <a:endParaRPr sz="1200">
              <a:latin typeface="Arial"/>
              <a:cs typeface="Arial"/>
            </a:endParaRPr>
          </a:p>
          <a:p>
            <a:pPr algn="just" marL="483870" marR="10160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lesson,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15">
                <a:latin typeface="Arial MT"/>
                <a:cs typeface="Arial MT"/>
              </a:rPr>
              <a:t>he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learn.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terminal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How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to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sequence?</a:t>
            </a:r>
            <a:endParaRPr sz="1400">
              <a:latin typeface="Arial"/>
              <a:cs typeface="Arial"/>
            </a:endParaRPr>
          </a:p>
          <a:p>
            <a:pPr algn="just" marL="469900" marR="5080" indent="-228600">
              <a:lnSpc>
                <a:spcPts val="2080"/>
              </a:lnSpc>
              <a:spcBef>
                <a:spcPts val="8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Sequence objectives: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10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sequence our learning objectives. Being teachers,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 are supposed </a:t>
            </a:r>
            <a:r>
              <a:rPr dirty="0" sz="1200">
                <a:latin typeface="Arial MT"/>
                <a:cs typeface="Arial MT"/>
              </a:rPr>
              <a:t>to make lesson </a:t>
            </a:r>
            <a:r>
              <a:rPr dirty="0" sz="1200" spc="-5">
                <a:latin typeface="Arial MT"/>
                <a:cs typeface="Arial MT"/>
              </a:rPr>
              <a:t>plans and unit </a:t>
            </a:r>
            <a:r>
              <a:rPr dirty="0" sz="1200">
                <a:latin typeface="Arial MT"/>
                <a:cs typeface="Arial MT"/>
              </a:rPr>
              <a:t>plans. </a:t>
            </a:r>
            <a:r>
              <a:rPr dirty="0" sz="1200" spc="-5">
                <a:latin typeface="Arial MT"/>
                <a:cs typeface="Arial MT"/>
              </a:rPr>
              <a:t>While making unit and lesson plan,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 have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teacher-oriented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endParaRPr sz="1200">
              <a:latin typeface="Arial MT"/>
              <a:cs typeface="Arial MT"/>
            </a:endParaRPr>
          </a:p>
          <a:p>
            <a:pPr algn="just" marL="469900">
              <a:lnSpc>
                <a:spcPct val="100000"/>
              </a:lnSpc>
              <a:spcBef>
                <a:spcPts val="450"/>
              </a:spcBef>
            </a:pPr>
            <a:r>
              <a:rPr dirty="0" sz="1200" spc="-5">
                <a:latin typeface="Arial MT"/>
                <a:cs typeface="Arial MT"/>
              </a:rPr>
              <a:t>should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centered;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student-oriented.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Arial MT"/>
              <a:cs typeface="Arial MT"/>
            </a:endParaRPr>
          </a:p>
          <a:p>
            <a:pPr algn="just" marL="469900" marR="8255" indent="-228600">
              <a:lnSpc>
                <a:spcPct val="144200"/>
              </a:lnSpc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Teaching prerequisites: </a:t>
            </a:r>
            <a:r>
              <a:rPr dirty="0" sz="1200" spc="-5">
                <a:latin typeface="Arial MT"/>
                <a:cs typeface="Arial MT"/>
              </a:rPr>
              <a:t>there is prerequisite for everything you are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learn. </a:t>
            </a:r>
            <a:r>
              <a:rPr dirty="0" sz="1200">
                <a:latin typeface="Arial MT"/>
                <a:cs typeface="Arial MT"/>
              </a:rPr>
              <a:t>E.g. </a:t>
            </a:r>
            <a:r>
              <a:rPr dirty="0" sz="1200" spc="-1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 we </a:t>
            </a:r>
            <a:r>
              <a:rPr dirty="0" sz="1200">
                <a:latin typeface="Arial MT"/>
                <a:cs typeface="Arial MT"/>
              </a:rPr>
              <a:t>want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teach </a:t>
            </a:r>
            <a:r>
              <a:rPr dirty="0" sz="1200" spc="-5">
                <a:latin typeface="Arial MT"/>
                <a:cs typeface="Arial MT"/>
              </a:rPr>
              <a:t>children essay writing, then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know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children know </a:t>
            </a:r>
            <a:r>
              <a:rPr dirty="0" sz="1200">
                <a:latin typeface="Arial MT"/>
                <a:cs typeface="Arial MT"/>
              </a:rPr>
              <a:t>how to </a:t>
            </a:r>
            <a:r>
              <a:rPr dirty="0" sz="1200" spc="-5">
                <a:latin typeface="Arial MT"/>
                <a:cs typeface="Arial MT"/>
              </a:rPr>
              <a:t>write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paragraph. Sentence formation is a prerequisite for paragraph writing and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sentence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formation, vocabulary is </a:t>
            </a:r>
            <a:r>
              <a:rPr dirty="0" sz="1200">
                <a:latin typeface="Arial MT"/>
                <a:cs typeface="Arial MT"/>
              </a:rPr>
              <a:t>prerequisite. </a:t>
            </a:r>
            <a:r>
              <a:rPr dirty="0" sz="1200" spc="-5">
                <a:latin typeface="Arial MT"/>
                <a:cs typeface="Arial MT"/>
              </a:rPr>
              <a:t>Whenever we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sequencing, we need to </a:t>
            </a:r>
            <a:r>
              <a:rPr dirty="0" sz="1200">
                <a:latin typeface="Arial MT"/>
                <a:cs typeface="Arial MT"/>
              </a:rPr>
              <a:t>know </a:t>
            </a:r>
            <a:r>
              <a:rPr dirty="0" sz="1200" spc="-10">
                <a:latin typeface="Arial MT"/>
                <a:cs typeface="Arial MT"/>
              </a:rPr>
              <a:t>what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prerequisite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particular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terminal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</a:t>
            </a:r>
            <a:r>
              <a:rPr dirty="0" sz="1200">
                <a:latin typeface="Arial MT"/>
                <a:cs typeface="Arial MT"/>
              </a:rPr>
              <a:t> is.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4384" y="8775572"/>
            <a:ext cx="640143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41700"/>
              </a:lnSpc>
              <a:spcBef>
                <a:spcPts val="100"/>
              </a:spcBef>
              <a:tabLst>
                <a:tab pos="240665" algn="l"/>
              </a:tabLst>
            </a:pPr>
            <a:r>
              <a:rPr dirty="0" sz="1200">
                <a:latin typeface="Times New Roman"/>
                <a:cs typeface="Times New Roman"/>
              </a:rPr>
              <a:t>-	</a:t>
            </a:r>
            <a:r>
              <a:rPr dirty="0" sz="1200" b="1">
                <a:latin typeface="Arial"/>
                <a:cs typeface="Arial"/>
              </a:rPr>
              <a:t>If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possible,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communicate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sequenced objectives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5" b="1">
                <a:latin typeface="Arial"/>
                <a:cs typeface="Arial"/>
              </a:rPr>
              <a:t> involve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them </a:t>
            </a:r>
            <a:r>
              <a:rPr dirty="0" sz="1200" spc="-5" b="1">
                <a:latin typeface="Arial"/>
                <a:cs typeface="Arial"/>
              </a:rPr>
              <a:t>more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384" y="10254233"/>
            <a:ext cx="6402705" cy="1295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Principles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sequencing: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Arial"/>
              <a:cs typeface="Arial"/>
            </a:endParaRPr>
          </a:p>
          <a:p>
            <a:pPr algn="just" marL="241300" marR="5080" indent="-228600">
              <a:lnSpc>
                <a:spcPct val="144200"/>
              </a:lnSpc>
            </a:pPr>
            <a:r>
              <a:rPr dirty="0" sz="1200">
                <a:latin typeface="Times New Roman"/>
                <a:cs typeface="Times New Roman"/>
              </a:rPr>
              <a:t>- 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 needs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start </a:t>
            </a:r>
            <a:r>
              <a:rPr dirty="0" sz="1200" b="1">
                <a:latin typeface="Arial"/>
                <a:cs typeface="Arial"/>
              </a:rPr>
              <a:t>lesson with </a:t>
            </a:r>
            <a:r>
              <a:rPr dirty="0" sz="1200" spc="-5" b="1">
                <a:latin typeface="Arial"/>
                <a:cs typeface="Arial"/>
              </a:rPr>
              <a:t>simple </a:t>
            </a:r>
            <a:r>
              <a:rPr dirty="0" sz="1200" b="1">
                <a:latin typeface="Arial"/>
                <a:cs typeface="Arial"/>
              </a:rPr>
              <a:t>steps.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teacher must come </a:t>
            </a:r>
            <a:r>
              <a:rPr dirty="0" sz="1200" spc="-10">
                <a:latin typeface="Arial MT"/>
                <a:cs typeface="Arial MT"/>
              </a:rPr>
              <a:t>up </a:t>
            </a:r>
            <a:r>
              <a:rPr dirty="0" sz="1200" spc="-5">
                <a:latin typeface="Arial MT"/>
                <a:cs typeface="Arial MT"/>
              </a:rPr>
              <a:t> with </a:t>
            </a:r>
            <a:r>
              <a:rPr dirty="0" sz="1200">
                <a:latin typeface="Arial MT"/>
                <a:cs typeface="Arial MT"/>
              </a:rPr>
              <a:t>at least </a:t>
            </a:r>
            <a:r>
              <a:rPr dirty="0" sz="1200" spc="-5">
                <a:latin typeface="Arial MT"/>
                <a:cs typeface="Arial MT"/>
              </a:rPr>
              <a:t>one example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that the students can understand the concept easily. Ideally </a:t>
            </a:r>
            <a:r>
              <a:rPr dirty="0" sz="1200">
                <a:latin typeface="Arial MT"/>
                <a:cs typeface="Arial MT"/>
              </a:rPr>
              <a:t> there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numerous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examples,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start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with,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209" cy="9571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69900" marR="6985" indent="-228600">
              <a:lnSpc>
                <a:spcPct val="144200"/>
              </a:lnSpc>
              <a:spcBef>
                <a:spcPts val="100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Use concrete examples.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examples which the students can see and can relate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them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469900" marR="6350" indent="-228600">
              <a:lnSpc>
                <a:spcPct val="144200"/>
              </a:lnSpc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Add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complexity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lesson.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If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whole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simple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basic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things,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important in lesson plan but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should be taken into consideration while planning units </a:t>
            </a:r>
            <a:r>
              <a:rPr dirty="0" sz="1200">
                <a:latin typeface="Arial MT"/>
                <a:cs typeface="Arial MT"/>
              </a:rPr>
              <a:t> that </a:t>
            </a:r>
            <a:r>
              <a:rPr dirty="0" sz="1200" spc="-5">
                <a:latin typeface="Arial MT"/>
                <a:cs typeface="Arial MT"/>
              </a:rPr>
              <a:t>there should be complexity in </a:t>
            </a:r>
            <a:r>
              <a:rPr dirty="0" sz="1200">
                <a:latin typeface="Arial MT"/>
                <a:cs typeface="Arial MT"/>
              </a:rPr>
              <a:t>it.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may start it </a:t>
            </a:r>
            <a:r>
              <a:rPr dirty="0" sz="1200" spc="-5">
                <a:latin typeface="Arial MT"/>
                <a:cs typeface="Arial MT"/>
              </a:rPr>
              <a:t>with simple things but you need to add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complexity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marL="469900" marR="6350" indent="-228600">
              <a:lnSpc>
                <a:spcPct val="144600"/>
              </a:lnSpc>
              <a:spcBef>
                <a:spcPts val="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Introduce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abstractions.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(heart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beat</a:t>
            </a:r>
            <a:r>
              <a:rPr dirty="0" sz="1200" spc="1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B.P)</a:t>
            </a:r>
            <a:r>
              <a:rPr dirty="0" sz="1200" spc="17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introduce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abstractions.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Abstractions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tangible.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Abstract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 be able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recognize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 things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 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abstract.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example, when a teacher is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human circulatory system. Teacher may relate that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 river </a:t>
            </a:r>
            <a:r>
              <a:rPr dirty="0" sz="1200">
                <a:latin typeface="Arial MT"/>
                <a:cs typeface="Arial MT"/>
              </a:rPr>
              <a:t>system. </a:t>
            </a:r>
            <a:r>
              <a:rPr dirty="0" sz="1200" spc="-5">
                <a:latin typeface="Arial MT"/>
                <a:cs typeface="Arial MT"/>
              </a:rPr>
              <a:t>The purpose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river </a:t>
            </a:r>
            <a:r>
              <a:rPr dirty="0" sz="1200">
                <a:latin typeface="Arial MT"/>
                <a:cs typeface="Arial MT"/>
              </a:rPr>
              <a:t>system </a:t>
            </a:r>
            <a:r>
              <a:rPr dirty="0" sz="1200" spc="-5">
                <a:latin typeface="Arial MT"/>
                <a:cs typeface="Arial MT"/>
              </a:rPr>
              <a:t>in a country is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supply </a:t>
            </a:r>
            <a:r>
              <a:rPr dirty="0" sz="1200">
                <a:latin typeface="Arial MT"/>
                <a:cs typeface="Arial MT"/>
              </a:rPr>
              <a:t>water to </a:t>
            </a:r>
            <a:r>
              <a:rPr dirty="0" sz="1200" spc="-5">
                <a:latin typeface="Arial MT"/>
                <a:cs typeface="Arial MT"/>
              </a:rPr>
              <a:t>the country. You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river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human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circulatory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human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circulatory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visible. While rivers are concrete, children have seen rivers and canals. So </a:t>
            </a:r>
            <a:r>
              <a:rPr dirty="0" sz="1200">
                <a:latin typeface="Arial MT"/>
                <a:cs typeface="Arial MT"/>
              </a:rPr>
              <a:t>if the </a:t>
            </a:r>
            <a:r>
              <a:rPr dirty="0" sz="1200" spc="-5">
                <a:latin typeface="Arial MT"/>
                <a:cs typeface="Arial MT"/>
              </a:rPr>
              <a:t>teacher teaches 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students by relating this example then students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understand the human circulatory </a:t>
            </a:r>
            <a:r>
              <a:rPr dirty="0" sz="1200">
                <a:latin typeface="Arial MT"/>
                <a:cs typeface="Arial MT"/>
              </a:rPr>
              <a:t>system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basic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concrete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like,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electricity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telecommunication system </a:t>
            </a:r>
            <a:r>
              <a:rPr dirty="0" sz="1200">
                <a:latin typeface="Arial MT"/>
                <a:cs typeface="Arial MT"/>
              </a:rPr>
              <a:t>etc. </a:t>
            </a:r>
            <a:r>
              <a:rPr dirty="0" sz="1200" spc="-5">
                <a:latin typeface="Arial MT"/>
                <a:cs typeface="Arial MT"/>
              </a:rPr>
              <a:t>only one example is enough for giving students </a:t>
            </a:r>
            <a:r>
              <a:rPr dirty="0" sz="1200">
                <a:latin typeface="Arial MT"/>
                <a:cs typeface="Arial MT"/>
              </a:rPr>
              <a:t>the basic </a:t>
            </a:r>
            <a:r>
              <a:rPr dirty="0" sz="1200" spc="-5">
                <a:latin typeface="Arial MT"/>
                <a:cs typeface="Arial MT"/>
              </a:rPr>
              <a:t>concept. </a:t>
            </a:r>
            <a:r>
              <a:rPr dirty="0" sz="1200">
                <a:latin typeface="Arial MT"/>
                <a:cs typeface="Arial MT"/>
              </a:rPr>
              <a:t> But </a:t>
            </a:r>
            <a:r>
              <a:rPr dirty="0" sz="1200" spc="-5">
                <a:latin typeface="Arial MT"/>
                <a:cs typeface="Arial MT"/>
              </a:rPr>
              <a:t>to develop the concept </a:t>
            </a:r>
            <a:r>
              <a:rPr dirty="0" sz="1200">
                <a:latin typeface="Arial MT"/>
                <a:cs typeface="Arial MT"/>
              </a:rPr>
              <a:t>more firmly, </a:t>
            </a:r>
            <a:r>
              <a:rPr dirty="0" sz="1200" spc="-5">
                <a:latin typeface="Arial MT"/>
                <a:cs typeface="Arial MT"/>
              </a:rPr>
              <a:t>you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come up with some more examples. Invite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they should also come up with some </a:t>
            </a:r>
            <a:r>
              <a:rPr dirty="0" sz="1200">
                <a:latin typeface="Arial MT"/>
                <a:cs typeface="Arial MT"/>
              </a:rPr>
              <a:t>more </a:t>
            </a:r>
            <a:r>
              <a:rPr dirty="0" sz="1200" spc="-5">
                <a:latin typeface="Arial MT"/>
                <a:cs typeface="Arial MT"/>
              </a:rPr>
              <a:t>examples. </a:t>
            </a:r>
            <a:r>
              <a:rPr dirty="0" sz="1200">
                <a:latin typeface="Arial MT"/>
                <a:cs typeface="Arial MT"/>
              </a:rPr>
              <a:t>In this </a:t>
            </a:r>
            <a:r>
              <a:rPr dirty="0" sz="1200" spc="-5">
                <a:latin typeface="Arial MT"/>
                <a:cs typeface="Arial MT"/>
              </a:rPr>
              <a:t>way you are adding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complexity in your </a:t>
            </a:r>
            <a:r>
              <a:rPr dirty="0" sz="1200">
                <a:latin typeface="Arial MT"/>
                <a:cs typeface="Arial MT"/>
              </a:rPr>
              <a:t>lesson. </a:t>
            </a:r>
            <a:r>
              <a:rPr dirty="0" sz="1200" spc="-5">
                <a:latin typeface="Arial MT"/>
                <a:cs typeface="Arial MT"/>
              </a:rPr>
              <a:t>You can add abstractions in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example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circulatory system </a:t>
            </a:r>
            <a:r>
              <a:rPr dirty="0" sz="1200" spc="-1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telling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heart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blood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pressure.</a:t>
            </a:r>
            <a:endParaRPr sz="1200">
              <a:latin typeface="Arial MT"/>
              <a:cs typeface="Arial MT"/>
            </a:endParaRPr>
          </a:p>
          <a:p>
            <a:pPr algn="just" marL="18415" marR="11430" indent="-6350">
              <a:lnSpc>
                <a:spcPct val="144200"/>
              </a:lnSpc>
              <a:spcBef>
                <a:spcPts val="10"/>
              </a:spcBef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low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heart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beat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dangers.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basically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four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principles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sequencing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have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address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whenever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 spc="10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400" spc="-5" b="1">
                <a:latin typeface="Arial"/>
                <a:cs typeface="Arial"/>
              </a:rPr>
              <a:t>Can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we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sequence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 </a:t>
            </a:r>
            <a:r>
              <a:rPr dirty="0" sz="1400" spc="-5" b="1">
                <a:latin typeface="Arial"/>
                <a:cs typeface="Arial"/>
              </a:rPr>
              <a:t>lesson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one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concept?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algn="just" marL="20320">
              <a:lnSpc>
                <a:spcPct val="100000"/>
              </a:lnSpc>
              <a:spcBef>
                <a:spcPts val="894"/>
              </a:spcBef>
            </a:pPr>
            <a:r>
              <a:rPr dirty="0" sz="1200" b="1">
                <a:latin typeface="Arial"/>
                <a:cs typeface="Arial"/>
              </a:rPr>
              <a:t>According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research:</a:t>
            </a:r>
            <a:endParaRPr sz="1200">
              <a:latin typeface="Arial"/>
              <a:cs typeface="Arial"/>
            </a:endParaRPr>
          </a:p>
          <a:p>
            <a:pPr algn="just" marL="477520" marR="6985" indent="-228600">
              <a:lnSpc>
                <a:spcPts val="2080"/>
              </a:lnSpc>
              <a:spcBef>
                <a:spcPts val="140"/>
              </a:spcBef>
            </a:pPr>
            <a:r>
              <a:rPr dirty="0" sz="1200" b="1">
                <a:latin typeface="Times New Roman"/>
                <a:cs typeface="Times New Roman"/>
              </a:rPr>
              <a:t>-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Arial"/>
                <a:cs typeface="Arial"/>
              </a:rPr>
              <a:t>Total </a:t>
            </a:r>
            <a:r>
              <a:rPr dirty="0" sz="1200" spc="-5" b="1">
                <a:latin typeface="Arial"/>
                <a:cs typeface="Arial"/>
              </a:rPr>
              <a:t>sequencing time </a:t>
            </a:r>
            <a:r>
              <a:rPr dirty="0" sz="1200" b="1">
                <a:latin typeface="Arial"/>
                <a:cs typeface="Arial"/>
              </a:rPr>
              <a:t>may be </a:t>
            </a:r>
            <a:r>
              <a:rPr dirty="0" sz="1200" spc="-5" b="1">
                <a:latin typeface="Arial"/>
                <a:cs typeface="Arial"/>
              </a:rPr>
              <a:t>10 years. </a:t>
            </a:r>
            <a:r>
              <a:rPr dirty="0" sz="1200" spc="-5">
                <a:latin typeface="Arial MT"/>
                <a:cs typeface="Arial MT"/>
              </a:rPr>
              <a:t>There </a:t>
            </a:r>
            <a:r>
              <a:rPr dirty="0" sz="1200">
                <a:latin typeface="Arial MT"/>
                <a:cs typeface="Arial MT"/>
              </a:rPr>
              <a:t>are many </a:t>
            </a:r>
            <a:r>
              <a:rPr dirty="0" sz="1200" spc="-5">
                <a:latin typeface="Arial MT"/>
                <a:cs typeface="Arial MT"/>
              </a:rPr>
              <a:t>concepts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can take </a:t>
            </a:r>
            <a:r>
              <a:rPr dirty="0" sz="1200">
                <a:latin typeface="Arial MT"/>
                <a:cs typeface="Arial MT"/>
              </a:rPr>
              <a:t>years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sequencing e.g. in mathematics, the concept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graphics. It takes </a:t>
            </a:r>
            <a:r>
              <a:rPr dirty="0" sz="1200">
                <a:latin typeface="Arial MT"/>
                <a:cs typeface="Arial MT"/>
              </a:rPr>
              <a:t>at least </a:t>
            </a:r>
            <a:r>
              <a:rPr dirty="0" sz="1200" spc="-5">
                <a:latin typeface="Arial MT"/>
                <a:cs typeface="Arial MT"/>
              </a:rPr>
              <a:t>ten years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</a:t>
            </a:r>
            <a:endParaRPr sz="1200">
              <a:latin typeface="Arial MT"/>
              <a:cs typeface="Arial MT"/>
            </a:endParaRPr>
          </a:p>
          <a:p>
            <a:pPr algn="just" marL="477520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5">
                <a:latin typeface="Arial MT"/>
                <a:cs typeface="Arial MT"/>
              </a:rPr>
              <a:t> concepts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sequence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week.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endParaRPr sz="1200">
              <a:latin typeface="Arial MT"/>
              <a:cs typeface="Arial MT"/>
            </a:endParaRPr>
          </a:p>
          <a:p>
            <a:pPr algn="just" marL="477520" marR="762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years.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time </a:t>
            </a:r>
            <a:r>
              <a:rPr dirty="0" sz="1200" spc="-5">
                <a:latin typeface="Arial MT"/>
                <a:cs typeface="Arial MT"/>
              </a:rPr>
              <a:t>span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proportional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complexity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5">
                <a:latin typeface="Arial MT"/>
                <a:cs typeface="Arial MT"/>
              </a:rPr>
              <a:t> 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79772" y="3360165"/>
            <a:ext cx="12915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 MT"/>
                <a:cs typeface="Arial MT"/>
              </a:rPr>
              <a:t>Recycling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mode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3829938"/>
            <a:ext cx="6632575" cy="778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Sequencing </a:t>
            </a:r>
            <a:r>
              <a:rPr dirty="0" sz="1200">
                <a:latin typeface="Arial MT"/>
                <a:cs typeface="Arial MT"/>
              </a:rPr>
              <a:t>has </a:t>
            </a:r>
            <a:r>
              <a:rPr dirty="0" sz="1200" spc="-5">
                <a:latin typeface="Arial MT"/>
                <a:cs typeface="Arial MT"/>
              </a:rPr>
              <a:t>different principles; these principles are the introduction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simple concepts. Then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concrete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complexity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after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abstraction.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fails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abstraction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concept,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recycling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taught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concrete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400" spc="-5" b="1">
                <a:latin typeface="Arial"/>
                <a:cs typeface="Arial"/>
              </a:rPr>
              <a:t>Knowledge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forms:</a:t>
            </a:r>
            <a:endParaRPr sz="14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45"/>
              </a:spcBef>
            </a:pPr>
            <a:r>
              <a:rPr dirty="0" sz="1200" spc="-5">
                <a:latin typeface="Arial MT"/>
                <a:cs typeface="Arial MT"/>
              </a:rPr>
              <a:t>Knowledge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 simply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divided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two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forms;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 is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content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Content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 the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information, you</a:t>
            </a:r>
            <a:r>
              <a:rPr dirty="0" sz="1200" spc="-5" b="1">
                <a:latin typeface="Arial"/>
                <a:cs typeface="Arial"/>
              </a:rPr>
              <a:t> want </a:t>
            </a:r>
            <a:r>
              <a:rPr dirty="0" sz="1200" b="1">
                <a:latin typeface="Arial"/>
                <a:cs typeface="Arial"/>
              </a:rPr>
              <a:t>your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-"/>
            </a:pPr>
            <a:endParaRPr sz="115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Processes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motor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you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want</a:t>
            </a:r>
            <a:r>
              <a:rPr dirty="0" sz="1200" b="1">
                <a:latin typeface="Arial"/>
                <a:cs typeface="Arial"/>
              </a:rPr>
              <a:t> your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-"/>
            </a:pPr>
            <a:endParaRPr sz="19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Content: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615"/>
              </a:spcBef>
            </a:pPr>
            <a:r>
              <a:rPr dirty="0" sz="1200">
                <a:latin typeface="Arial MT"/>
                <a:cs typeface="Arial MT"/>
              </a:rPr>
              <a:t>Kinds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landforms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i.e.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mountains,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valleys,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plateaus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Process: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74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Carrying </a:t>
            </a:r>
            <a:r>
              <a:rPr dirty="0" sz="1200">
                <a:latin typeface="Arial MT"/>
                <a:cs typeface="Arial MT"/>
              </a:rPr>
              <a:t>out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experiment.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Doing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sums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-"/>
            </a:pPr>
            <a:endParaRPr sz="140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kind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 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5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  <a:spcBef>
                <a:spcPts val="5"/>
              </a:spcBef>
            </a:pPr>
            <a:r>
              <a:rPr dirty="0" sz="1400" spc="-5" b="1">
                <a:latin typeface="Arial"/>
                <a:cs typeface="Arial"/>
              </a:rPr>
              <a:t>Content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forms:</a:t>
            </a:r>
            <a:endParaRPr sz="14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72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Facts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Concepts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Generalizations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b="1">
                <a:latin typeface="Arial"/>
                <a:cs typeface="Arial"/>
              </a:rPr>
              <a:t>Facts:</a:t>
            </a:r>
            <a:endParaRPr sz="14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5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Singular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occurrence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(describes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important)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Occurs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</a:t>
            </a:r>
            <a:r>
              <a:rPr dirty="0" sz="1200">
                <a:latin typeface="Arial MT"/>
                <a:cs typeface="Arial MT"/>
              </a:rPr>
              <a:t>exists</a:t>
            </a:r>
            <a:r>
              <a:rPr dirty="0" sz="1200" spc="-10">
                <a:latin typeface="Arial MT"/>
                <a:cs typeface="Arial MT"/>
              </a:rPr>
              <a:t> in</a:t>
            </a:r>
            <a:r>
              <a:rPr dirty="0" sz="1200" spc="-5">
                <a:latin typeface="Arial MT"/>
                <a:cs typeface="Arial MT"/>
              </a:rPr>
              <a:t> present times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5104" y="653287"/>
            <a:ext cx="23895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Hierarchy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students’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success: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4057" y="931291"/>
          <a:ext cx="3127375" cy="1880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685"/>
                <a:gridCol w="1561465"/>
              </a:tblGrid>
              <a:tr h="152781">
                <a:tc row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Abstraction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88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742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88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ts val="850"/>
                        </a:lnSpc>
                        <a:spcBef>
                          <a:spcPts val="107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students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fails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6525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153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887220">
                        <a:lnSpc>
                          <a:spcPts val="165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5">
                          <a:latin typeface="Times New Roman"/>
                          <a:cs typeface="Times New Roman"/>
                        </a:rPr>
                        <a:t>learn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4775">
                        <a:lnSpc>
                          <a:spcPts val="1889"/>
                        </a:lnSpc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Complex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4940">
                <a:tc row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1600" spc="-5">
                          <a:latin typeface="Times New Roman"/>
                          <a:cs typeface="Times New Roman"/>
                        </a:rPr>
                        <a:t>Concrete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88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368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88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714057" y="1639569"/>
            <a:ext cx="1569720" cy="482600"/>
          </a:xfrm>
          <a:custGeom>
            <a:avLst/>
            <a:gdLst/>
            <a:ahLst/>
            <a:cxnLst/>
            <a:rect l="l" t="t" r="r" b="b"/>
            <a:pathLst>
              <a:path w="1569720" h="482600">
                <a:moveTo>
                  <a:pt x="1569529" y="6350"/>
                </a:moveTo>
                <a:lnTo>
                  <a:pt x="1566722" y="6350"/>
                </a:lnTo>
                <a:lnTo>
                  <a:pt x="1566722" y="0"/>
                </a:lnTo>
                <a:lnTo>
                  <a:pt x="784796" y="0"/>
                </a:lnTo>
                <a:lnTo>
                  <a:pt x="2794" y="0"/>
                </a:lnTo>
                <a:lnTo>
                  <a:pt x="2794" y="6350"/>
                </a:lnTo>
                <a:lnTo>
                  <a:pt x="0" y="6350"/>
                </a:lnTo>
                <a:lnTo>
                  <a:pt x="0" y="25400"/>
                </a:lnTo>
                <a:lnTo>
                  <a:pt x="784796" y="25400"/>
                </a:lnTo>
                <a:lnTo>
                  <a:pt x="1543621" y="25400"/>
                </a:lnTo>
                <a:lnTo>
                  <a:pt x="1543621" y="457200"/>
                </a:lnTo>
                <a:lnTo>
                  <a:pt x="784796" y="457200"/>
                </a:lnTo>
                <a:lnTo>
                  <a:pt x="0" y="457200"/>
                </a:lnTo>
                <a:lnTo>
                  <a:pt x="0" y="476250"/>
                </a:lnTo>
                <a:lnTo>
                  <a:pt x="2654" y="476250"/>
                </a:lnTo>
                <a:lnTo>
                  <a:pt x="2654" y="482600"/>
                </a:lnTo>
                <a:lnTo>
                  <a:pt x="784796" y="482600"/>
                </a:lnTo>
                <a:lnTo>
                  <a:pt x="1566862" y="482600"/>
                </a:lnTo>
                <a:lnTo>
                  <a:pt x="1566862" y="476250"/>
                </a:lnTo>
                <a:lnTo>
                  <a:pt x="1569529" y="476250"/>
                </a:lnTo>
                <a:lnTo>
                  <a:pt x="1569529" y="457200"/>
                </a:lnTo>
                <a:lnTo>
                  <a:pt x="1569529" y="25400"/>
                </a:lnTo>
                <a:lnTo>
                  <a:pt x="1569529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27011" y="3058795"/>
            <a:ext cx="1543685" cy="428625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wrap="square" lIns="0" tIns="95250" rIns="0" bIns="0" rtlCol="0" vert="horz">
            <a:spAutoFit/>
          </a:bodyPr>
          <a:lstStyle/>
          <a:p>
            <a:pPr marL="104775">
              <a:lnSpc>
                <a:spcPct val="100000"/>
              </a:lnSpc>
              <a:spcBef>
                <a:spcPts val="750"/>
              </a:spcBef>
            </a:pPr>
            <a:r>
              <a:rPr dirty="0" sz="1600" spc="-5">
                <a:latin typeface="Times New Roman"/>
                <a:cs typeface="Times New Roman"/>
              </a:rPr>
              <a:t>Simple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74039"/>
            <a:ext cx="3014980" cy="55626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Times New Roman"/>
              <a:buAutoNum type="arabicPeriod" startAt="3"/>
              <a:tabLst>
                <a:tab pos="241300" algn="l"/>
              </a:tabLst>
            </a:pPr>
            <a:r>
              <a:rPr dirty="0" sz="1200">
                <a:latin typeface="Arial MT"/>
                <a:cs typeface="Arial MT"/>
              </a:rPr>
              <a:t>Does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predicting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facts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 startAt="3"/>
              <a:tabLst>
                <a:tab pos="241300" algn="l"/>
              </a:tabLst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5">
                <a:latin typeface="Arial MT"/>
                <a:cs typeface="Arial MT"/>
              </a:rPr>
              <a:t> 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acquired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solely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1868170"/>
            <a:ext cx="13112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Fact: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examples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5534" y="2169921"/>
            <a:ext cx="160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Today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set 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6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p.m.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2070861"/>
            <a:ext cx="2524125" cy="58928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80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Islamabad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capital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Pakistan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b="1">
                <a:latin typeface="Arial"/>
                <a:cs typeface="Arial"/>
              </a:rPr>
              <a:t>-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5 provinces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Pakistan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5480" y="3056093"/>
            <a:ext cx="6634480" cy="514159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400" spc="-5" b="1">
                <a:latin typeface="Arial"/>
                <a:cs typeface="Arial"/>
              </a:rPr>
              <a:t>Concept:</a:t>
            </a:r>
            <a:endParaRPr sz="1400">
              <a:latin typeface="Arial"/>
              <a:cs typeface="Arial"/>
            </a:endParaRPr>
          </a:p>
          <a:p>
            <a:pPr marL="477520" marR="5080" indent="-228600">
              <a:lnSpc>
                <a:spcPts val="2080"/>
              </a:lnSpc>
              <a:spcBef>
                <a:spcPts val="10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They are </a:t>
            </a:r>
            <a:r>
              <a:rPr dirty="0" sz="1200" spc="-5">
                <a:latin typeface="Arial MT"/>
                <a:cs typeface="Arial MT"/>
              </a:rPr>
              <a:t>“category” words which enable </a:t>
            </a:r>
            <a:r>
              <a:rPr dirty="0" sz="1200">
                <a:latin typeface="Arial MT"/>
                <a:cs typeface="Arial MT"/>
              </a:rPr>
              <a:t>us </a:t>
            </a:r>
            <a:r>
              <a:rPr dirty="0" sz="1200" spc="-5">
                <a:latin typeface="Arial MT"/>
                <a:cs typeface="Arial MT"/>
              </a:rPr>
              <a:t>to group </a:t>
            </a:r>
            <a:r>
              <a:rPr dirty="0" sz="1200">
                <a:latin typeface="Arial MT"/>
                <a:cs typeface="Arial MT"/>
              </a:rPr>
              <a:t>many </a:t>
            </a:r>
            <a:r>
              <a:rPr dirty="0" sz="1200" spc="-5">
                <a:latin typeface="Arial MT"/>
                <a:cs typeface="Arial MT"/>
              </a:rPr>
              <a:t>individual objects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ideas under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label.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chair,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desk,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mammal,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verb,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bird,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noun,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mountain,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friendship,</a:t>
            </a:r>
            <a:endParaRPr sz="1200">
              <a:latin typeface="Arial"/>
              <a:cs typeface="Arial"/>
            </a:endParaRPr>
          </a:p>
          <a:p>
            <a:pPr marL="477520">
              <a:lnSpc>
                <a:spcPct val="100000"/>
              </a:lnSpc>
              <a:spcBef>
                <a:spcPts val="455"/>
              </a:spcBef>
            </a:pPr>
            <a:r>
              <a:rPr dirty="0" sz="1200" spc="-5" b="1">
                <a:latin typeface="Arial"/>
                <a:cs typeface="Arial"/>
              </a:rPr>
              <a:t>democracy,</a:t>
            </a:r>
            <a:r>
              <a:rPr dirty="0" sz="1200" spc="3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love</a:t>
            </a:r>
            <a:r>
              <a:rPr dirty="0" sz="1200" spc="37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etc.</a:t>
            </a:r>
            <a:r>
              <a:rPr dirty="0" sz="1200" spc="3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highlighted</a:t>
            </a:r>
            <a:r>
              <a:rPr dirty="0" sz="1200" spc="3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3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3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abstract</a:t>
            </a:r>
            <a:r>
              <a:rPr dirty="0" sz="1200" spc="3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concepts.</a:t>
            </a:r>
            <a:r>
              <a:rPr dirty="0" sz="1200" spc="3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3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3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concrete</a:t>
            </a:r>
            <a:endParaRPr sz="120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  <a:spcBef>
                <a:spcPts val="640"/>
              </a:spcBef>
            </a:pPr>
            <a:r>
              <a:rPr dirty="0" sz="1200" spc="-5">
                <a:latin typeface="Arial MT"/>
                <a:cs typeface="Arial MT"/>
              </a:rPr>
              <a:t>concepts. Learning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 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quite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natural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human beings.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Arial MT"/>
              <a:cs typeface="Arial MT"/>
            </a:endParaRPr>
          </a:p>
          <a:p>
            <a:pPr marL="477520" marR="12700" indent="-228600">
              <a:lnSpc>
                <a:spcPct val="143300"/>
              </a:lnSpc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five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components: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Name,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definition,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characteristics,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examples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hierarchy.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-"/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Generalization:</a:t>
            </a:r>
            <a:endParaRPr sz="1400">
              <a:latin typeface="Arial"/>
              <a:cs typeface="Arial"/>
            </a:endParaRPr>
          </a:p>
          <a:p>
            <a:pPr algn="just" marL="477520" marR="8255" indent="-228600">
              <a:lnSpc>
                <a:spcPts val="2080"/>
              </a:lnSpc>
              <a:spcBef>
                <a:spcPts val="85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generalization is an inferential statement that expresses a relationship between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1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applies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event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predictive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explanatory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value.</a:t>
            </a:r>
            <a:endParaRPr sz="1200">
              <a:latin typeface="Arial MT"/>
              <a:cs typeface="Arial MT"/>
            </a:endParaRPr>
          </a:p>
          <a:p>
            <a:pPr algn="just" marL="255270" marR="10160" indent="-6350">
              <a:lnSpc>
                <a:spcPct val="144200"/>
              </a:lnSpc>
              <a:spcBef>
                <a:spcPts val="800"/>
              </a:spcBef>
            </a:pPr>
            <a:r>
              <a:rPr dirty="0" sz="1200" spc="-5">
                <a:latin typeface="Arial MT"/>
                <a:cs typeface="Arial MT"/>
              </a:rPr>
              <a:t>(When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talk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inferential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statement,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this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derived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somewhere and which is explaining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relationship between one to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concepts.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has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predictive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value 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explanatory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value.)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Example:</a:t>
            </a:r>
            <a:endParaRPr sz="1400">
              <a:latin typeface="Arial"/>
              <a:cs typeface="Arial"/>
            </a:endParaRPr>
          </a:p>
          <a:p>
            <a:pPr algn="just" marL="255270" marR="13335" indent="-6350">
              <a:lnSpc>
                <a:spcPts val="208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People who smoke have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higher incidence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lung cancer than those who don’t. it applies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anyone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smokes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predictive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value.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8911491"/>
            <a:ext cx="6396355" cy="270827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60"/>
              </a:spcBef>
            </a:pPr>
            <a:r>
              <a:rPr dirty="0" sz="1400" b="1">
                <a:latin typeface="Arial"/>
                <a:cs typeface="Arial"/>
              </a:rPr>
              <a:t>Facts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vs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Generalizations:</a:t>
            </a:r>
            <a:endParaRPr sz="14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Facts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generalizations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Generalizations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-5">
                <a:latin typeface="Arial MT"/>
                <a:cs typeface="Arial MT"/>
              </a:rPr>
              <a:t> basically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relationship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 concepts. While </a:t>
            </a:r>
            <a:r>
              <a:rPr dirty="0" sz="1200">
                <a:latin typeface="Arial MT"/>
                <a:cs typeface="Arial MT"/>
              </a:rPr>
              <a:t>facts </a:t>
            </a:r>
            <a:r>
              <a:rPr dirty="0" sz="1200" spc="-5">
                <a:latin typeface="Arial MT"/>
                <a:cs typeface="Arial MT"/>
              </a:rPr>
              <a:t>are singular in occurrence. The difference in both in discussed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below:</a:t>
            </a:r>
            <a:endParaRPr sz="1200">
              <a:latin typeface="Arial MT"/>
              <a:cs typeface="Arial MT"/>
            </a:endParaRPr>
          </a:p>
          <a:p>
            <a:pPr algn="just" marL="241300" marR="6350" indent="-228600">
              <a:lnSpc>
                <a:spcPts val="2080"/>
              </a:lnSpc>
              <a:buFont typeface="Times New Roman"/>
              <a:buChar char="-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Generalizations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inferences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condense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large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amount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data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singular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occurrence.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example: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Sunset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occurs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earlier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everyday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June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21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December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21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generalization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sunset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6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p.m.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today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fact.</a:t>
            </a:r>
            <a:endParaRPr sz="1200">
              <a:latin typeface="Arial MT"/>
              <a:cs typeface="Arial MT"/>
            </a:endParaRPr>
          </a:p>
          <a:p>
            <a:pPr algn="just" marL="241300" marR="8255" indent="-228600">
              <a:lnSpc>
                <a:spcPts val="2080"/>
              </a:lnSpc>
              <a:spcBef>
                <a:spcPts val="10"/>
              </a:spcBef>
              <a:buFont typeface="Times New Roman"/>
              <a:buChar char="-"/>
              <a:tabLst>
                <a:tab pos="241300" algn="l"/>
              </a:tabLst>
            </a:pPr>
            <a:r>
              <a:rPr dirty="0" sz="1200">
                <a:latin typeface="Arial MT"/>
                <a:cs typeface="Arial MT"/>
              </a:rPr>
              <a:t>Facts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past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future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orientation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generalizations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trends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patterns.</a:t>
            </a:r>
            <a:endParaRPr sz="1200">
              <a:latin typeface="Arial MT"/>
              <a:cs typeface="Arial MT"/>
            </a:endParaRPr>
          </a:p>
          <a:p>
            <a:pPr algn="just" marL="241300" indent="-228600">
              <a:lnSpc>
                <a:spcPct val="100000"/>
              </a:lnSpc>
              <a:spcBef>
                <a:spcPts val="590"/>
              </a:spcBef>
              <a:buFont typeface="Times New Roman"/>
              <a:buChar char="-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Generalizations have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predictive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value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209" cy="2256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7520" marR="13335" indent="-228600">
              <a:lnSpc>
                <a:spcPct val="144200"/>
              </a:lnSpc>
              <a:spcBef>
                <a:spcPts val="100"/>
              </a:spcBef>
              <a:tabLst>
                <a:tab pos="477520" algn="l"/>
              </a:tabLst>
            </a:pPr>
            <a:r>
              <a:rPr dirty="0" sz="1200" b="1">
                <a:latin typeface="Times New Roman"/>
                <a:cs typeface="Times New Roman"/>
              </a:rPr>
              <a:t>-	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factual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conceptual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conceptual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generalizations.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generalizations.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factual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simple knowledge.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Bloom’s taxonomy, factual knowledge comes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the lowest level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learning. As </a:t>
            </a:r>
            <a:r>
              <a:rPr dirty="0" sz="1200" spc="-5">
                <a:latin typeface="Arial MT"/>
                <a:cs typeface="Arial MT"/>
              </a:rPr>
              <a:t>soon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 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complexity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need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20">
                <a:latin typeface="Arial MT"/>
                <a:cs typeface="Arial MT"/>
              </a:rPr>
              <a:t>to </a:t>
            </a:r>
            <a:r>
              <a:rPr dirty="0" sz="1200">
                <a:latin typeface="Arial MT"/>
                <a:cs typeface="Arial MT"/>
              </a:rPr>
              <a:t>take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towards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generalizations. Rather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ask our children </a:t>
            </a:r>
            <a:r>
              <a:rPr dirty="0" sz="1200">
                <a:latin typeface="Arial MT"/>
                <a:cs typeface="Arial MT"/>
              </a:rPr>
              <a:t>to make </a:t>
            </a:r>
            <a:r>
              <a:rPr dirty="0" sz="1200" spc="-5">
                <a:latin typeface="Arial MT"/>
                <a:cs typeface="Arial MT"/>
              </a:rPr>
              <a:t>generalizations.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should provide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environment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should 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 </a:t>
            </a:r>
            <a:r>
              <a:rPr dirty="0" sz="1200">
                <a:latin typeface="Arial MT"/>
                <a:cs typeface="Arial MT"/>
              </a:rPr>
              <a:t>up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generalizations.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2915666"/>
            <a:ext cx="6972300" cy="59944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77470" marR="66040" indent="-6350">
              <a:lnSpc>
                <a:spcPts val="2230"/>
              </a:lnSpc>
              <a:spcBef>
                <a:spcPts val="25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19</a:t>
            </a:r>
            <a:r>
              <a:rPr dirty="0" sz="1600" spc="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“Modes</a:t>
            </a:r>
            <a:r>
              <a:rPr dirty="0" sz="1800" spc="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Presentation</a:t>
            </a:r>
            <a:r>
              <a:rPr dirty="0" sz="1800" spc="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Task</a:t>
            </a:r>
            <a:r>
              <a:rPr dirty="0" sz="1800" spc="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dirty="0" sz="1800" spc="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Model” </a:t>
            </a:r>
            <a:r>
              <a:rPr dirty="0" sz="1800" spc="-48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Outline: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3512185"/>
            <a:ext cx="6630034" cy="7969884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337185" indent="-9652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337820" algn="l"/>
              </a:tabLst>
            </a:pPr>
            <a:r>
              <a:rPr dirty="0" sz="1200" spc="-5" b="1">
                <a:latin typeface="Arial"/>
                <a:cs typeface="Arial"/>
              </a:rPr>
              <a:t>Modes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presentation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Deductive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reasoning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(General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specific)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Inductive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reasoning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(Specific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general)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Gagne’s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experience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teaching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Task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Analysis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Model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Individual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Education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 and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Task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Analysis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Model</a:t>
            </a:r>
            <a:endParaRPr sz="1200">
              <a:latin typeface="Arial"/>
              <a:cs typeface="Arial"/>
            </a:endParaRPr>
          </a:p>
          <a:p>
            <a:pPr algn="just" marL="18415" marR="8255" indent="-6350">
              <a:lnSpc>
                <a:spcPct val="144200"/>
              </a:lnSpc>
              <a:spcBef>
                <a:spcPts val="780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know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knowledge is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three </a:t>
            </a:r>
            <a:r>
              <a:rPr dirty="0" sz="1200">
                <a:latin typeface="Arial MT"/>
                <a:cs typeface="Arial MT"/>
              </a:rPr>
              <a:t>kinds; </a:t>
            </a:r>
            <a:r>
              <a:rPr dirty="0" sz="1200" spc="-5">
                <a:latin typeface="Arial MT"/>
                <a:cs typeface="Arial MT"/>
              </a:rPr>
              <a:t>declarative knowledge, procedural knowledge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metacognitive knowledge.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78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Declarative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knowledge: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Facts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kind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Procedural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knowledge: 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such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Metacognition: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cognition.</a:t>
            </a:r>
            <a:endParaRPr sz="1200">
              <a:latin typeface="Arial MT"/>
              <a:cs typeface="Arial MT"/>
            </a:endParaRPr>
          </a:p>
          <a:p>
            <a:pPr algn="just" marL="18415" marR="7620" indent="-6350">
              <a:lnSpc>
                <a:spcPct val="143300"/>
              </a:lnSpc>
              <a:spcBef>
                <a:spcPts val="1030"/>
              </a:spcBef>
            </a:pPr>
            <a:r>
              <a:rPr dirty="0" sz="1200" spc="-5">
                <a:latin typeface="Arial MT"/>
                <a:cs typeface="Arial MT"/>
              </a:rPr>
              <a:t>Being teachers,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give all these kinds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knowledge to our students. There are different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ways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deliver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Modes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presentation:</a:t>
            </a:r>
            <a:endParaRPr sz="14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71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Deductive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reasoning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(General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specific)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Inductive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reasoning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(Specific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general)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 algn="just" marL="18415" marR="6350" indent="-6350">
              <a:lnSpc>
                <a:spcPct val="144300"/>
              </a:lnSpc>
            </a:pP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example, human beings are </a:t>
            </a:r>
            <a:r>
              <a:rPr dirty="0" sz="1200">
                <a:latin typeface="Arial MT"/>
                <a:cs typeface="Arial MT"/>
              </a:rPr>
              <a:t>mortal. This </a:t>
            </a:r>
            <a:r>
              <a:rPr dirty="0" sz="1200" spc="-5">
                <a:latin typeface="Arial MT"/>
                <a:cs typeface="Arial MT"/>
              </a:rPr>
              <a:t>is a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general statement. All men are mortal, and </a:t>
            </a:r>
            <a:r>
              <a:rPr dirty="0" sz="1200">
                <a:latin typeface="Arial MT"/>
                <a:cs typeface="Arial MT"/>
              </a:rPr>
              <a:t> then </a:t>
            </a:r>
            <a:r>
              <a:rPr dirty="0" sz="1200" spc="-5">
                <a:latin typeface="Arial MT"/>
                <a:cs typeface="Arial MT"/>
              </a:rPr>
              <a:t>we say that Ahmad is a man, so he is also </a:t>
            </a:r>
            <a:r>
              <a:rPr dirty="0" sz="1200">
                <a:latin typeface="Arial MT"/>
                <a:cs typeface="Arial MT"/>
              </a:rPr>
              <a:t>mortal. This </a:t>
            </a:r>
            <a:r>
              <a:rPr dirty="0" sz="1200" spc="-5">
                <a:latin typeface="Arial MT"/>
                <a:cs typeface="Arial MT"/>
              </a:rPr>
              <a:t>is deductive reasoning; that </a:t>
            </a:r>
            <a:r>
              <a:rPr dirty="0" sz="1200" spc="-10">
                <a:latin typeface="Arial MT"/>
                <a:cs typeface="Arial MT"/>
              </a:rPr>
              <a:t>you gave </a:t>
            </a:r>
            <a:r>
              <a:rPr dirty="0" sz="1200" spc="-5">
                <a:latin typeface="Arial MT"/>
                <a:cs typeface="Arial MT"/>
              </a:rPr>
              <a:t> general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first 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specific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i.e.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Ahmad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mortal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because</a:t>
            </a:r>
            <a:r>
              <a:rPr dirty="0" sz="1200" spc="-5">
                <a:latin typeface="Arial MT"/>
                <a:cs typeface="Arial MT"/>
              </a:rPr>
              <a:t> 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10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inductive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reasoning,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start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specific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Ahmad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 is </a:t>
            </a:r>
            <a:r>
              <a:rPr dirty="0" sz="1200">
                <a:latin typeface="Arial MT"/>
                <a:cs typeface="Arial MT"/>
              </a:rPr>
              <a:t>mortal. </a:t>
            </a:r>
            <a:r>
              <a:rPr dirty="0" sz="1200" spc="-5">
                <a:latin typeface="Arial MT"/>
                <a:cs typeface="Arial MT"/>
              </a:rPr>
              <a:t>There is another man named </a:t>
            </a:r>
            <a:r>
              <a:rPr dirty="0" sz="1200">
                <a:latin typeface="Arial MT"/>
                <a:cs typeface="Arial MT"/>
              </a:rPr>
              <a:t>Umar, </a:t>
            </a:r>
            <a:r>
              <a:rPr dirty="0" sz="1200" spc="-5">
                <a:latin typeface="Arial MT"/>
                <a:cs typeface="Arial MT"/>
              </a:rPr>
              <a:t>he is also mortal. There is another man; we say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 is also mortal.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we can </a:t>
            </a:r>
            <a:r>
              <a:rPr dirty="0" sz="1200" spc="-10">
                <a:latin typeface="Arial MT"/>
                <a:cs typeface="Arial MT"/>
              </a:rPr>
              <a:t>say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 spc="5">
                <a:latin typeface="Arial MT"/>
                <a:cs typeface="Arial MT"/>
              </a:rPr>
              <a:t>all </a:t>
            </a:r>
            <a:r>
              <a:rPr dirty="0" sz="1200" spc="-5">
                <a:latin typeface="Arial MT"/>
                <a:cs typeface="Arial MT"/>
              </a:rPr>
              <a:t>men are mortal. Then we </a:t>
            </a:r>
            <a:r>
              <a:rPr dirty="0" sz="1200">
                <a:latin typeface="Arial MT"/>
                <a:cs typeface="Arial MT"/>
              </a:rPr>
              <a:t>talk </a:t>
            </a:r>
            <a:r>
              <a:rPr dirty="0" sz="1200" spc="-5">
                <a:latin typeface="Arial MT"/>
                <a:cs typeface="Arial MT"/>
              </a:rPr>
              <a:t>about women and </a:t>
            </a:r>
            <a:r>
              <a:rPr dirty="0" sz="1200" spc="-10">
                <a:latin typeface="Arial MT"/>
                <a:cs typeface="Arial MT"/>
              </a:rPr>
              <a:t>say, </a:t>
            </a:r>
            <a:r>
              <a:rPr dirty="0" sz="1200" spc="-5">
                <a:latin typeface="Arial MT"/>
                <a:cs typeface="Arial MT"/>
              </a:rPr>
              <a:t> Ayesha 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women,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mortal.</a:t>
            </a:r>
            <a:r>
              <a:rPr dirty="0" sz="1200" spc="-5">
                <a:latin typeface="Arial MT"/>
                <a:cs typeface="Arial MT"/>
              </a:rPr>
              <a:t> Amna 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women,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mortal.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women are mortal.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Now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men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women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‘All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human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mortal.’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known 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inductive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reasoning.</a:t>
            </a:r>
            <a:endParaRPr sz="12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  <a:spcBef>
                <a:spcPts val="660"/>
              </a:spcBef>
            </a:pPr>
            <a:r>
              <a:rPr dirty="0" sz="1200" spc="-5" b="1">
                <a:latin typeface="Arial"/>
                <a:cs typeface="Arial"/>
              </a:rPr>
              <a:t>Here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two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columns,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try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identify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difference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between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two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presentation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17219" y="678180"/>
          <a:ext cx="6091555" cy="1108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015"/>
                <a:gridCol w="3041015"/>
              </a:tblGrid>
              <a:tr h="110210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Definition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noun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67945" marR="1405255">
                        <a:lnSpc>
                          <a:spcPct val="142600"/>
                        </a:lnSpc>
                        <a:spcBef>
                          <a:spcPts val="1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Characteristics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noun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Examples of noun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Place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hierarchy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Brainstorming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names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Examples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names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67945" marR="204470">
                        <a:lnSpc>
                          <a:spcPts val="2060"/>
                        </a:lnSpc>
                        <a:spcBef>
                          <a:spcPts val="15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Characteristics/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Commonalities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names </a:t>
                      </a:r>
                      <a:r>
                        <a:rPr dirty="0" sz="1200" spc="-3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Definition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nouns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65480" y="1945894"/>
            <a:ext cx="6633845" cy="5047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635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Children can learn nouns by both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methods explained step by </a:t>
            </a:r>
            <a:r>
              <a:rPr dirty="0" sz="1200" spc="-10">
                <a:latin typeface="Arial MT"/>
                <a:cs typeface="Arial MT"/>
              </a:rPr>
              <a:t>step </a:t>
            </a:r>
            <a:r>
              <a:rPr dirty="0" sz="1200" spc="-5">
                <a:latin typeface="Arial MT"/>
                <a:cs typeface="Arial MT"/>
              </a:rPr>
              <a:t>in the </a:t>
            </a:r>
            <a:r>
              <a:rPr dirty="0" sz="1200" spc="-10">
                <a:latin typeface="Arial MT"/>
                <a:cs typeface="Arial MT"/>
              </a:rPr>
              <a:t>above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columns. </a:t>
            </a:r>
            <a:r>
              <a:rPr dirty="0" sz="1200">
                <a:latin typeface="Arial MT"/>
                <a:cs typeface="Arial MT"/>
              </a:rPr>
              <a:t> But </a:t>
            </a:r>
            <a:r>
              <a:rPr dirty="0" sz="1200" spc="-5">
                <a:latin typeface="Arial MT"/>
                <a:cs typeface="Arial MT"/>
              </a:rPr>
              <a:t>the difference is that the first column is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deductive reasoning i.e. teacher has </a:t>
            </a:r>
            <a:r>
              <a:rPr dirty="0" sz="1200">
                <a:latin typeface="Arial MT"/>
                <a:cs typeface="Arial MT"/>
              </a:rPr>
              <a:t>told </a:t>
            </a:r>
            <a:r>
              <a:rPr dirty="0" sz="1200" spc="-5">
                <a:latin typeface="Arial MT"/>
                <a:cs typeface="Arial MT"/>
              </a:rPr>
              <a:t>a definition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then they are proving the definition by </a:t>
            </a:r>
            <a:r>
              <a:rPr dirty="0" sz="1200">
                <a:latin typeface="Arial MT"/>
                <a:cs typeface="Arial MT"/>
              </a:rPr>
              <a:t>characteristics, </a:t>
            </a:r>
            <a:r>
              <a:rPr dirty="0" sz="1200" spc="-5">
                <a:latin typeface="Arial MT"/>
                <a:cs typeface="Arial MT"/>
              </a:rPr>
              <a:t>examples and place in hierarchy. So, </a:t>
            </a:r>
            <a:r>
              <a:rPr dirty="0" sz="1200">
                <a:latin typeface="Arial MT"/>
                <a:cs typeface="Arial MT"/>
              </a:rPr>
              <a:t> this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called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deductive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reasoning.</a:t>
            </a:r>
            <a:endParaRPr sz="1200">
              <a:latin typeface="Arial MT"/>
              <a:cs typeface="Arial MT"/>
            </a:endParaRPr>
          </a:p>
          <a:p>
            <a:pPr algn="just" marL="18415" marR="6350" indent="-6350">
              <a:lnSpc>
                <a:spcPct val="1440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second column, inductive reasoning is </a:t>
            </a:r>
            <a:r>
              <a:rPr dirty="0" sz="1200">
                <a:latin typeface="Arial MT"/>
                <a:cs typeface="Arial MT"/>
              </a:rPr>
              <a:t>followed.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>
                <a:latin typeface="Arial MT"/>
                <a:cs typeface="Arial MT"/>
              </a:rPr>
              <a:t>asks </a:t>
            </a:r>
            <a:r>
              <a:rPr dirty="0" sz="1200" spc="-5">
                <a:latin typeface="Arial MT"/>
                <a:cs typeface="Arial MT"/>
              </a:rPr>
              <a:t>the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tell the names </a:t>
            </a:r>
            <a:r>
              <a:rPr dirty="0" sz="1200" spc="-1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 different things. He starts with brainstorming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names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different things. Students </a:t>
            </a:r>
            <a:r>
              <a:rPr dirty="0" sz="1200">
                <a:latin typeface="Arial MT"/>
                <a:cs typeface="Arial MT"/>
              </a:rPr>
              <a:t>may tell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names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birds,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flowers,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animals</a:t>
            </a:r>
            <a:r>
              <a:rPr dirty="0" sz="1200">
                <a:latin typeface="Arial MT"/>
                <a:cs typeface="Arial MT"/>
              </a:rPr>
              <a:t> etc.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 commonalities </a:t>
            </a:r>
            <a:r>
              <a:rPr dirty="0" sz="1200">
                <a:latin typeface="Arial MT"/>
                <a:cs typeface="Arial MT"/>
              </a:rPr>
              <a:t>i.e. </a:t>
            </a:r>
            <a:r>
              <a:rPr dirty="0" sz="1200" spc="-5">
                <a:latin typeface="Arial MT"/>
                <a:cs typeface="Arial MT"/>
              </a:rPr>
              <a:t>what names are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birds, </a:t>
            </a:r>
            <a:r>
              <a:rPr dirty="0" sz="1200" spc="-1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animals or </a:t>
            </a:r>
            <a:r>
              <a:rPr dirty="0" sz="1200">
                <a:latin typeface="Arial MT"/>
                <a:cs typeface="Arial MT"/>
              </a:rPr>
              <a:t>places </a:t>
            </a:r>
            <a:r>
              <a:rPr dirty="0" sz="1200" spc="-5">
                <a:latin typeface="Arial MT"/>
                <a:cs typeface="Arial MT"/>
              </a:rPr>
              <a:t>etc. he characterizes </a:t>
            </a:r>
            <a:r>
              <a:rPr dirty="0" sz="1200">
                <a:latin typeface="Arial MT"/>
                <a:cs typeface="Arial MT"/>
              </a:rPr>
              <a:t>it. </a:t>
            </a:r>
            <a:r>
              <a:rPr dirty="0" sz="1200" spc="-5">
                <a:latin typeface="Arial MT"/>
                <a:cs typeface="Arial MT"/>
              </a:rPr>
              <a:t>Then he </a:t>
            </a:r>
            <a:r>
              <a:rPr dirty="0" sz="1200">
                <a:latin typeface="Arial MT"/>
                <a:cs typeface="Arial MT"/>
              </a:rPr>
              <a:t> says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names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called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noun.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noun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name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50">
              <a:latin typeface="Arial MT"/>
              <a:cs typeface="Arial MT"/>
            </a:endParaRPr>
          </a:p>
          <a:p>
            <a:pPr algn="just" marL="477520" marR="5080" indent="-228600">
              <a:lnSpc>
                <a:spcPct val="143700"/>
              </a:lnSpc>
              <a:spcBef>
                <a:spcPts val="5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There is a </a:t>
            </a:r>
            <a:r>
              <a:rPr dirty="0" sz="1200">
                <a:latin typeface="Arial MT"/>
                <a:cs typeface="Arial MT"/>
              </a:rPr>
              <a:t>drawback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deductive reasoning </a:t>
            </a:r>
            <a:r>
              <a:rPr dirty="0" sz="1200">
                <a:latin typeface="Arial MT"/>
                <a:cs typeface="Arial MT"/>
              </a:rPr>
              <a:t>i.e. </a:t>
            </a:r>
            <a:r>
              <a:rPr dirty="0" sz="1200" spc="-5">
                <a:latin typeface="Arial MT"/>
                <a:cs typeface="Arial MT"/>
              </a:rPr>
              <a:t>no </a:t>
            </a:r>
            <a:r>
              <a:rPr dirty="0" sz="1200">
                <a:latin typeface="Arial MT"/>
                <a:cs typeface="Arial MT"/>
              </a:rPr>
              <a:t>fair </a:t>
            </a:r>
            <a:r>
              <a:rPr dirty="0" sz="1200" spc="-5">
                <a:latin typeface="Arial MT"/>
                <a:cs typeface="Arial MT"/>
              </a:rPr>
              <a:t>observation. </a:t>
            </a:r>
            <a:r>
              <a:rPr dirty="0" sz="1200">
                <a:latin typeface="Arial MT"/>
                <a:cs typeface="Arial MT"/>
              </a:rPr>
              <a:t>So, if </a:t>
            </a:r>
            <a:r>
              <a:rPr dirty="0" sz="1200" spc="-5">
                <a:latin typeface="Arial MT"/>
                <a:cs typeface="Arial MT"/>
              </a:rPr>
              <a:t>you really </a:t>
            </a:r>
            <a:r>
              <a:rPr dirty="0" sz="1200">
                <a:latin typeface="Arial MT"/>
                <a:cs typeface="Arial MT"/>
              </a:rPr>
              <a:t>want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 children to learn skill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observation </a:t>
            </a:r>
            <a:r>
              <a:rPr dirty="0" sz="1200" spc="-1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actually inductive mode </a:t>
            </a:r>
            <a:r>
              <a:rPr dirty="0" sz="1200">
                <a:latin typeface="Arial MT"/>
                <a:cs typeface="Arial MT"/>
              </a:rPr>
              <a:t>of presentation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better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deductive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477520" marR="5080" indent="-228600">
              <a:lnSpc>
                <a:spcPct val="144200"/>
              </a:lnSpc>
              <a:buFont typeface="Times New Roman"/>
              <a:buChar char="-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inductive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presentation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Process.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deductive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reasoning and concepts, but in inductive mode,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is also procedural knowledge </a:t>
            </a:r>
            <a:r>
              <a:rPr dirty="0" sz="1200">
                <a:latin typeface="Arial MT"/>
                <a:cs typeface="Arial MT"/>
              </a:rPr>
              <a:t> 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generalize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facts.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child-centered.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better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use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inductive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presentation.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7575389"/>
            <a:ext cx="5592445" cy="322707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400" spc="-5" b="1">
                <a:latin typeface="Arial"/>
                <a:cs typeface="Arial"/>
              </a:rPr>
              <a:t>Teaching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subtraction: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200" spc="-5">
                <a:latin typeface="Arial MT"/>
                <a:cs typeface="Arial MT"/>
              </a:rPr>
              <a:t>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</a:t>
            </a:r>
            <a:r>
              <a:rPr dirty="0" sz="1200" spc="-5">
                <a:latin typeface="Arial MT"/>
                <a:cs typeface="Arial MT"/>
              </a:rPr>
              <a:t> example,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analyze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following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steps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Analysis</a:t>
            </a:r>
            <a:r>
              <a:rPr dirty="0" sz="1200" b="1">
                <a:latin typeface="Arial"/>
                <a:cs typeface="Arial"/>
              </a:rPr>
              <a:t> to </a:t>
            </a:r>
            <a:r>
              <a:rPr dirty="0" sz="1200" spc="-5" b="1">
                <a:latin typeface="Arial"/>
                <a:cs typeface="Arial"/>
              </a:rPr>
              <a:t>teach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subtracting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whole </a:t>
            </a:r>
            <a:r>
              <a:rPr dirty="0" sz="1200" spc="-5" b="1">
                <a:latin typeface="Arial"/>
                <a:cs typeface="Arial"/>
              </a:rPr>
              <a:t>numbers.</a:t>
            </a:r>
            <a:endParaRPr sz="1200">
              <a:latin typeface="Arial"/>
              <a:cs typeface="Arial"/>
            </a:endParaRPr>
          </a:p>
          <a:p>
            <a:pPr marL="97790">
              <a:lnSpc>
                <a:spcPct val="100000"/>
              </a:lnSpc>
              <a:spcBef>
                <a:spcPts val="610"/>
              </a:spcBef>
            </a:pP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them: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Subtracting 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columns.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Subtracting when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 “0”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understood.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Subtracting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 </a:t>
            </a:r>
            <a:r>
              <a:rPr dirty="0" sz="1200">
                <a:latin typeface="Arial MT"/>
                <a:cs typeface="Arial MT"/>
              </a:rPr>
              <a:t>digit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number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borrowing.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Subtracting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single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borrowing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required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any</a:t>
            </a:r>
            <a:r>
              <a:rPr dirty="0" sz="1200" spc="-5">
                <a:latin typeface="Arial MT"/>
                <a:cs typeface="Arial MT"/>
              </a:rPr>
              <a:t> column.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Subtracting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several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borrowings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required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non-adjacent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columns.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Subtracting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double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borrowing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required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(across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zero)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Subtracting whole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number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size.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4480" cy="11134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Most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-5">
                <a:latin typeface="Arial MT"/>
                <a:cs typeface="Arial MT"/>
              </a:rPr>
              <a:t>times, the teachers who are very good at sequencing </a:t>
            </a:r>
            <a:r>
              <a:rPr dirty="0" sz="1200">
                <a:latin typeface="Arial MT"/>
                <a:cs typeface="Arial MT"/>
              </a:rPr>
              <a:t>lessons, </a:t>
            </a:r>
            <a:r>
              <a:rPr dirty="0" sz="1200" spc="-5">
                <a:latin typeface="Arial MT"/>
                <a:cs typeface="Arial MT"/>
              </a:rPr>
              <a:t>they sequence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lesson </a:t>
            </a:r>
            <a:r>
              <a:rPr dirty="0" sz="1200" spc="-5">
                <a:latin typeface="Arial MT"/>
                <a:cs typeface="Arial MT"/>
              </a:rPr>
              <a:t>or unit on subtraction in </a:t>
            </a:r>
            <a:r>
              <a:rPr dirty="0" sz="1200">
                <a:latin typeface="Arial MT"/>
                <a:cs typeface="Arial MT"/>
              </a:rPr>
              <a:t>this way. </a:t>
            </a:r>
            <a:r>
              <a:rPr dirty="0" sz="1200" spc="-5">
                <a:latin typeface="Arial MT"/>
                <a:cs typeface="Arial MT"/>
              </a:rPr>
              <a:t>Teacher starts with simple subtraction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simple </a:t>
            </a:r>
            <a:r>
              <a:rPr dirty="0" sz="1200">
                <a:latin typeface="Arial MT"/>
                <a:cs typeface="Arial MT"/>
              </a:rPr>
              <a:t>columns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subtraction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i.e.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subtracting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number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</a:t>
            </a:r>
            <a:r>
              <a:rPr dirty="0" sz="1200">
                <a:latin typeface="Arial MT"/>
                <a:cs typeface="Arial MT"/>
              </a:rPr>
              <a:t> size.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Gagne’s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experience:</a:t>
            </a:r>
            <a:endParaRPr sz="1400">
              <a:latin typeface="Arial"/>
              <a:cs typeface="Arial"/>
            </a:endParaRPr>
          </a:p>
          <a:p>
            <a:pPr algn="just" marL="18415" marR="6350" indent="-6350">
              <a:lnSpc>
                <a:spcPts val="2080"/>
              </a:lnSpc>
              <a:spcBef>
                <a:spcPts val="85"/>
              </a:spcBef>
            </a:pPr>
            <a:r>
              <a:rPr dirty="0" sz="1200" spc="-5">
                <a:latin typeface="Arial MT"/>
                <a:cs typeface="Arial MT"/>
              </a:rPr>
              <a:t>Gagne taught the students and </a:t>
            </a:r>
            <a:r>
              <a:rPr dirty="0" sz="120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was very happy because the students’ responses </a:t>
            </a:r>
            <a:r>
              <a:rPr dirty="0" sz="1200" spc="-10">
                <a:latin typeface="Arial MT"/>
                <a:cs typeface="Arial MT"/>
              </a:rPr>
              <a:t>were </a:t>
            </a:r>
            <a:r>
              <a:rPr dirty="0" sz="1200" spc="-5">
                <a:latin typeface="Arial MT"/>
                <a:cs typeface="Arial MT"/>
              </a:rPr>
              <a:t>very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good,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were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performing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class.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happened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examination?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perform according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his expectations. </a:t>
            </a:r>
            <a:r>
              <a:rPr dirty="0" sz="1200">
                <a:latin typeface="Arial MT"/>
                <a:cs typeface="Arial MT"/>
              </a:rPr>
              <a:t>After </a:t>
            </a:r>
            <a:r>
              <a:rPr dirty="0" sz="1200" spc="-5">
                <a:latin typeface="Arial MT"/>
                <a:cs typeface="Arial MT"/>
              </a:rPr>
              <a:t>that, he observes that what the actual reasons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behind it were. </a:t>
            </a:r>
            <a:r>
              <a:rPr dirty="0" sz="1200">
                <a:latin typeface="Arial MT"/>
                <a:cs typeface="Arial MT"/>
              </a:rPr>
              <a:t>Was </a:t>
            </a:r>
            <a:r>
              <a:rPr dirty="0" sz="1200" spc="-5">
                <a:latin typeface="Arial MT"/>
                <a:cs typeface="Arial MT"/>
              </a:rPr>
              <a:t>there </a:t>
            </a:r>
            <a:r>
              <a:rPr dirty="0" sz="1200">
                <a:latin typeface="Arial MT"/>
                <a:cs typeface="Arial MT"/>
              </a:rPr>
              <a:t>any </a:t>
            </a:r>
            <a:r>
              <a:rPr dirty="0" sz="1200" spc="-5">
                <a:latin typeface="Arial MT"/>
                <a:cs typeface="Arial MT"/>
              </a:rPr>
              <a:t>weakness in his teaching?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there was </a:t>
            </a:r>
            <a:r>
              <a:rPr dirty="0" sz="1200">
                <a:latin typeface="Arial MT"/>
                <a:cs typeface="Arial MT"/>
              </a:rPr>
              <a:t>any </a:t>
            </a:r>
            <a:r>
              <a:rPr dirty="0" sz="1200" spc="-5">
                <a:latin typeface="Arial MT"/>
                <a:cs typeface="Arial MT"/>
              </a:rPr>
              <a:t>problem with students’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learning? Actually, his instruction was </a:t>
            </a:r>
            <a:r>
              <a:rPr dirty="0" sz="1200">
                <a:latin typeface="Arial MT"/>
                <a:cs typeface="Arial MT"/>
              </a:rPr>
              <a:t>very much </a:t>
            </a:r>
            <a:r>
              <a:rPr dirty="0" sz="1200" spc="-5">
                <a:latin typeface="Arial MT"/>
                <a:cs typeface="Arial MT"/>
              </a:rPr>
              <a:t>in sequence but not according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learning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hierarchy. Learning hierarchy is that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terminal objectives and goals should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interlinked with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intermediate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those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intermediate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interlinked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basic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40"/>
              </a:spcBef>
            </a:pPr>
            <a:r>
              <a:rPr dirty="0" sz="1200" spc="-5">
                <a:latin typeface="Arial MT"/>
                <a:cs typeface="Arial MT"/>
              </a:rPr>
              <a:t>skills.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hierarchy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was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developed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Gagne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after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own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experience.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Gagne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wonderful</a:t>
            </a:r>
            <a:endParaRPr sz="1200">
              <a:latin typeface="Arial MT"/>
              <a:cs typeface="Arial MT"/>
            </a:endParaRPr>
          </a:p>
          <a:p>
            <a:pPr marL="18415" marR="9525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sense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reflected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own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hierarchy.</a:t>
            </a:r>
            <a:endParaRPr sz="1200">
              <a:latin typeface="Arial MT"/>
              <a:cs typeface="Arial MT"/>
            </a:endParaRPr>
          </a:p>
          <a:p>
            <a:pPr marL="12700" marR="161290">
              <a:lnSpc>
                <a:spcPct val="1433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*Task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analysis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 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5">
                <a:latin typeface="Arial MT"/>
                <a:cs typeface="Arial MT"/>
              </a:rPr>
              <a:t> going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give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analyze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whole </a:t>
            </a:r>
            <a:r>
              <a:rPr dirty="0" sz="1200">
                <a:latin typeface="Arial MT"/>
                <a:cs typeface="Arial MT"/>
              </a:rPr>
              <a:t>task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teach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prerequisites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developed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things.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prerequisite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simple</a:t>
            </a:r>
            <a:endParaRPr sz="1200">
              <a:latin typeface="Arial MT"/>
              <a:cs typeface="Arial MT"/>
            </a:endParaRPr>
          </a:p>
          <a:p>
            <a:pPr algn="just" marL="18415" marR="9525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subtraction in this example. There is only one terminal objective i.e. subtract </a:t>
            </a:r>
            <a:r>
              <a:rPr dirty="0" sz="1200">
                <a:latin typeface="Arial MT"/>
                <a:cs typeface="Arial MT"/>
              </a:rPr>
              <a:t>whole </a:t>
            </a:r>
            <a:r>
              <a:rPr dirty="0" sz="1200" spc="-5">
                <a:latin typeface="Arial MT"/>
                <a:cs typeface="Arial MT"/>
              </a:rPr>
              <a:t>number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10">
                <a:latin typeface="Arial MT"/>
                <a:cs typeface="Arial MT"/>
              </a:rPr>
              <a:t>any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size. </a:t>
            </a:r>
            <a:r>
              <a:rPr dirty="0" sz="1200" spc="-5">
                <a:latin typeface="Arial MT"/>
                <a:cs typeface="Arial MT"/>
              </a:rPr>
              <a:t>The other that comes under is intermediate objectives. And then there are basic skills.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supposed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lesson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analyze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whole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Task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Analysis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Model: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875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5" b="1">
                <a:latin typeface="Arial"/>
                <a:cs typeface="Arial"/>
              </a:rPr>
              <a:t> most</a:t>
            </a:r>
            <a:r>
              <a:rPr dirty="0" sz="1200" b="1">
                <a:latin typeface="Arial"/>
                <a:cs typeface="Arial"/>
              </a:rPr>
              <a:t> important </a:t>
            </a:r>
            <a:r>
              <a:rPr dirty="0" sz="1200" spc="-5" b="1">
                <a:latin typeface="Arial"/>
                <a:cs typeface="Arial"/>
              </a:rPr>
              <a:t>thing</a:t>
            </a:r>
            <a:r>
              <a:rPr dirty="0" sz="1200" b="1">
                <a:latin typeface="Arial"/>
                <a:cs typeface="Arial"/>
              </a:rPr>
              <a:t> in using</a:t>
            </a:r>
            <a:r>
              <a:rPr dirty="0" sz="1200" spc="-5" b="1">
                <a:latin typeface="Arial"/>
                <a:cs typeface="Arial"/>
              </a:rPr>
              <a:t> task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analysis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model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that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Select</a:t>
            </a:r>
            <a:r>
              <a:rPr dirty="0" sz="1200" b="1">
                <a:latin typeface="Arial"/>
                <a:cs typeface="Arial"/>
              </a:rPr>
              <a:t> an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appropriate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</a:t>
            </a:r>
            <a:r>
              <a:rPr dirty="0" sz="1200" b="1">
                <a:latin typeface="Arial"/>
                <a:cs typeface="Arial"/>
              </a:rPr>
              <a:t> that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at </a:t>
            </a:r>
            <a:r>
              <a:rPr dirty="0" sz="1200" spc="-10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appropriate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age</a:t>
            </a:r>
            <a:r>
              <a:rPr dirty="0" sz="1200" spc="-5" b="1">
                <a:latin typeface="Arial"/>
                <a:cs typeface="Arial"/>
              </a:rPr>
              <a:t> level.</a:t>
            </a:r>
            <a:endParaRPr sz="1200">
              <a:latin typeface="Arial"/>
              <a:cs typeface="Arial"/>
            </a:endParaRPr>
          </a:p>
          <a:p>
            <a:pPr algn="just" marL="483870" marR="5715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that whenever we are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students, any lesson or topic,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should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 according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age level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students. We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know that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of this </a:t>
            </a:r>
            <a:r>
              <a:rPr dirty="0" sz="1200" spc="-5">
                <a:latin typeface="Arial MT"/>
                <a:cs typeface="Arial MT"/>
              </a:rPr>
              <a:t>age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 do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particular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talk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addition,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addition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before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subtraction.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1095"/>
              </a:spcBef>
              <a:buFont typeface="Times New Roman"/>
              <a:buAutoNum type="arabicPeriod" startAt="2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Identify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enabling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need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to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attain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objective.</a:t>
            </a:r>
            <a:endParaRPr sz="1200">
              <a:latin typeface="Arial"/>
              <a:cs typeface="Arial"/>
            </a:endParaRPr>
          </a:p>
          <a:p>
            <a:pPr algn="just" marL="483870" marR="571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There are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things very common; one is the content to be taught and second is enabling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 Enabling skills are those skills which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required to </a:t>
            </a:r>
            <a:r>
              <a:rPr dirty="0" sz="1200">
                <a:latin typeface="Arial MT"/>
                <a:cs typeface="Arial MT"/>
              </a:rPr>
              <a:t>achieve </a:t>
            </a:r>
            <a:r>
              <a:rPr dirty="0" sz="1200" spc="-5">
                <a:latin typeface="Arial MT"/>
                <a:cs typeface="Arial MT"/>
              </a:rPr>
              <a:t>a certain goal. E.g. your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terminal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is: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year,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persuasive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essay.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enabling skills </a:t>
            </a:r>
            <a:r>
              <a:rPr dirty="0" sz="1200">
                <a:latin typeface="Arial MT"/>
                <a:cs typeface="Arial MT"/>
              </a:rPr>
              <a:t>would </a:t>
            </a:r>
            <a:r>
              <a:rPr dirty="0" sz="1200" spc="-5">
                <a:latin typeface="Arial MT"/>
                <a:cs typeface="Arial MT"/>
              </a:rPr>
              <a:t>be;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should know how to write an essay, they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 know the structure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paragraph,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should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identify a </a:t>
            </a:r>
            <a:r>
              <a:rPr dirty="0" sz="1200">
                <a:latin typeface="Arial MT"/>
                <a:cs typeface="Arial MT"/>
              </a:rPr>
              <a:t>topic </a:t>
            </a:r>
            <a:r>
              <a:rPr dirty="0" sz="1200" spc="-5">
                <a:latin typeface="Arial MT"/>
                <a:cs typeface="Arial MT"/>
              </a:rPr>
              <a:t>sentence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a paragraph, they should be able to write a </a:t>
            </a:r>
            <a:r>
              <a:rPr dirty="0" sz="1200">
                <a:latin typeface="Arial MT"/>
                <a:cs typeface="Arial MT"/>
              </a:rPr>
              <a:t>topic </a:t>
            </a:r>
            <a:r>
              <a:rPr dirty="0" sz="1200" spc="-5">
                <a:latin typeface="Arial MT"/>
                <a:cs typeface="Arial MT"/>
              </a:rPr>
              <a:t>sentence, they should be able to write a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thesis </a:t>
            </a:r>
            <a:r>
              <a:rPr dirty="0" sz="1200" spc="-5">
                <a:latin typeface="Arial MT"/>
                <a:cs typeface="Arial MT"/>
              </a:rPr>
              <a:t>statement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essay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etc.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</a:t>
            </a:r>
            <a:r>
              <a:rPr dirty="0" sz="1200" spc="-10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enabling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1080"/>
              </a:spcBef>
              <a:buFont typeface="Times New Roman"/>
              <a:buAutoNum type="arabicPeriod" startAt="3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Subdivide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independent </a:t>
            </a:r>
            <a:r>
              <a:rPr dirty="0" sz="1200" b="1">
                <a:latin typeface="Arial"/>
                <a:cs typeface="Arial"/>
              </a:rPr>
              <a:t>and dependent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enabling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209" cy="11164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83870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Independent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enabling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those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prerequisite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actually.</a:t>
            </a:r>
            <a:r>
              <a:rPr dirty="0" sz="1200">
                <a:latin typeface="Arial MT"/>
                <a:cs typeface="Arial MT"/>
              </a:rPr>
              <a:t> They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dependent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anything.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dependent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enabling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depend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 prerequisites.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English,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writing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sentence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 enabling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paragraph 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dependent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enabling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skill.</a:t>
            </a:r>
            <a:endParaRPr sz="1200">
              <a:latin typeface="Arial MT"/>
              <a:cs typeface="Arial MT"/>
            </a:endParaRPr>
          </a:p>
          <a:p>
            <a:pPr algn="just" marL="483870" marR="8890" indent="-6350">
              <a:lnSpc>
                <a:spcPct val="144200"/>
              </a:lnSpc>
              <a:spcBef>
                <a:spcPts val="10"/>
              </a:spcBef>
            </a:pP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child does not </a:t>
            </a:r>
            <a:r>
              <a:rPr dirty="0" sz="1200" spc="-10">
                <a:latin typeface="Arial MT"/>
                <a:cs typeface="Arial MT"/>
              </a:rPr>
              <a:t>know </a:t>
            </a:r>
            <a:r>
              <a:rPr dirty="0" sz="1200" spc="-5">
                <a:latin typeface="Arial MT"/>
                <a:cs typeface="Arial MT"/>
              </a:rPr>
              <a:t>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write a sentence then definitely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child will not be able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 a paragraph. So, paragraph writing is dependent on sentence writing. Similarly, </a:t>
            </a:r>
            <a:r>
              <a:rPr dirty="0" sz="1200" spc="-10">
                <a:latin typeface="Arial MT"/>
                <a:cs typeface="Arial MT"/>
              </a:rPr>
              <a:t>essay </a:t>
            </a:r>
            <a:r>
              <a:rPr dirty="0" sz="1200" spc="-5">
                <a:latin typeface="Arial MT"/>
                <a:cs typeface="Arial MT"/>
              </a:rPr>
              <a:t> writing is dependent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paragraph writing. Enabling skills are divided into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categories;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 is independent skill and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other is dependent skill. Being teachers, </a:t>
            </a:r>
            <a:r>
              <a:rPr dirty="0" sz="1200">
                <a:latin typeface="Arial MT"/>
                <a:cs typeface="Arial MT"/>
              </a:rPr>
              <a:t>when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 analyzing 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dependent and which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AutoNum type="arabicPeriod" startAt="4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Arrange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dependent</a:t>
            </a:r>
            <a:r>
              <a:rPr dirty="0" sz="1200" b="1">
                <a:latin typeface="Arial"/>
                <a:cs typeface="Arial"/>
              </a:rPr>
              <a:t> and independent </a:t>
            </a:r>
            <a:r>
              <a:rPr dirty="0" sz="1200" spc="-5" b="1">
                <a:latin typeface="Arial"/>
                <a:cs typeface="Arial"/>
              </a:rPr>
              <a:t>sequences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order.</a:t>
            </a:r>
            <a:endParaRPr sz="1200">
              <a:latin typeface="Arial"/>
              <a:cs typeface="Arial"/>
            </a:endParaRPr>
          </a:p>
          <a:p>
            <a:pPr algn="just" marL="483870" indent="-6350">
              <a:lnSpc>
                <a:spcPct val="100000"/>
              </a:lnSpc>
              <a:spcBef>
                <a:spcPts val="600"/>
              </a:spcBef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assumption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prerequisites,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already.</a:t>
            </a:r>
            <a:endParaRPr sz="1200">
              <a:latin typeface="Arial MT"/>
              <a:cs typeface="Arial MT"/>
            </a:endParaRPr>
          </a:p>
          <a:p>
            <a:pPr algn="just" marL="483870" marR="508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</a:t>
            </a:r>
            <a:r>
              <a:rPr dirty="0" sz="1200">
                <a:latin typeface="Arial MT"/>
                <a:cs typeface="Arial MT"/>
              </a:rPr>
              <a:t> says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if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already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test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prerequisite.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Unless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do not establish their prerequisite, we will not be able to teach them any dependent skill.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 are many ways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test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prerequisites, </a:t>
            </a:r>
            <a:r>
              <a:rPr dirty="0" sz="1200">
                <a:latin typeface="Arial MT"/>
                <a:cs typeface="Arial MT"/>
              </a:rPr>
              <a:t>i.e. </a:t>
            </a:r>
            <a:r>
              <a:rPr dirty="0" sz="1200" spc="-5">
                <a:latin typeface="Arial MT"/>
                <a:cs typeface="Arial MT"/>
              </a:rPr>
              <a:t>diagnostic tests, close </a:t>
            </a:r>
            <a:r>
              <a:rPr dirty="0" sz="1200">
                <a:latin typeface="Arial MT"/>
                <a:cs typeface="Arial MT"/>
              </a:rPr>
              <a:t>test, </a:t>
            </a:r>
            <a:r>
              <a:rPr dirty="0" sz="1200" spc="-5">
                <a:latin typeface="Arial MT"/>
                <a:cs typeface="Arial MT"/>
              </a:rPr>
              <a:t>gapping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exercise </a:t>
            </a:r>
            <a:r>
              <a:rPr dirty="0" sz="1200">
                <a:latin typeface="Arial MT"/>
                <a:cs typeface="Arial MT"/>
              </a:rPr>
              <a:t>etc. </a:t>
            </a:r>
            <a:r>
              <a:rPr dirty="0" sz="1200" spc="-5">
                <a:latin typeface="Arial MT"/>
                <a:cs typeface="Arial MT"/>
              </a:rPr>
              <a:t>these are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ways to diagnose students reading comprehension abilities. E.g.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 student is unable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read even very simple words then we could not teach them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 reading </a:t>
            </a:r>
            <a:r>
              <a:rPr dirty="0" sz="1200">
                <a:latin typeface="Arial MT"/>
                <a:cs typeface="Arial MT"/>
              </a:rPr>
              <a:t>skills i.e. </a:t>
            </a:r>
            <a:r>
              <a:rPr dirty="0" sz="1200" spc="-5">
                <a:latin typeface="Arial MT"/>
                <a:cs typeface="Arial MT"/>
              </a:rPr>
              <a:t>comprehension.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important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 teacher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arrange their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order.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AutoNum type="arabicPeriod" startAt="5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Sequence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specific tasks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students.</a:t>
            </a:r>
            <a:endParaRPr sz="1200">
              <a:latin typeface="Arial"/>
              <a:cs typeface="Arial"/>
            </a:endParaRPr>
          </a:p>
          <a:p>
            <a:pPr algn="just" marL="483870" marR="7620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essay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persuasive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essay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after </a:t>
            </a:r>
            <a:r>
              <a:rPr dirty="0" sz="1200" spc="-10">
                <a:latin typeface="Arial MT"/>
                <a:cs typeface="Arial MT"/>
              </a:rPr>
              <a:t>20 </a:t>
            </a:r>
            <a:r>
              <a:rPr dirty="0" sz="1200" spc="-5">
                <a:latin typeface="Arial MT"/>
                <a:cs typeface="Arial MT"/>
              </a:rPr>
              <a:t>lessons, then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identify enabling skills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each lesson. Then we need to </a:t>
            </a:r>
            <a:r>
              <a:rPr dirty="0" sz="1200">
                <a:latin typeface="Arial MT"/>
                <a:cs typeface="Arial MT"/>
              </a:rPr>
              <a:t> identify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enabling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E.g.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endParaRPr sz="1200">
              <a:latin typeface="Arial MT"/>
              <a:cs typeface="Arial MT"/>
            </a:endParaRPr>
          </a:p>
          <a:p>
            <a:pPr algn="just" marL="483870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argumentative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essay,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enabling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would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logical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reasoning,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endParaRPr sz="1200">
              <a:latin typeface="Arial MT"/>
              <a:cs typeface="Arial MT"/>
            </a:endParaRPr>
          </a:p>
          <a:p>
            <a:pPr algn="just" marL="483870" marR="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difference between fallacy and </a:t>
            </a:r>
            <a:r>
              <a:rPr dirty="0" sz="1200">
                <a:latin typeface="Arial MT"/>
                <a:cs typeface="Arial MT"/>
              </a:rPr>
              <a:t>logical </a:t>
            </a:r>
            <a:r>
              <a:rPr dirty="0" sz="1200" spc="-5">
                <a:latin typeface="Arial MT"/>
                <a:cs typeface="Arial MT"/>
              </a:rPr>
              <a:t>argument, third is the writing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skill, fourth 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appropriate vocabulary </a:t>
            </a:r>
            <a:r>
              <a:rPr dirty="0" sz="1200">
                <a:latin typeface="Arial MT"/>
                <a:cs typeface="Arial MT"/>
              </a:rPr>
              <a:t>etc. </a:t>
            </a:r>
            <a:r>
              <a:rPr dirty="0" sz="1200" spc="-5">
                <a:latin typeface="Arial MT"/>
                <a:cs typeface="Arial MT"/>
              </a:rPr>
              <a:t>All these skills should be in your mind, you 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list down </a:t>
            </a:r>
            <a:r>
              <a:rPr dirty="0" sz="1200">
                <a:latin typeface="Arial MT"/>
                <a:cs typeface="Arial MT"/>
              </a:rPr>
              <a:t> these things </a:t>
            </a:r>
            <a:r>
              <a:rPr dirty="0" sz="1200" spc="-5">
                <a:latin typeface="Arial MT"/>
                <a:cs typeface="Arial MT"/>
              </a:rPr>
              <a:t>when using </a:t>
            </a:r>
            <a:r>
              <a:rPr dirty="0" sz="1200">
                <a:latin typeface="Arial MT"/>
                <a:cs typeface="Arial MT"/>
              </a:rPr>
              <a:t>task </a:t>
            </a:r>
            <a:r>
              <a:rPr dirty="0" sz="1200" spc="-5">
                <a:latin typeface="Arial MT"/>
                <a:cs typeface="Arial MT"/>
              </a:rPr>
              <a:t>analysis model. </a:t>
            </a:r>
            <a:r>
              <a:rPr dirty="0" sz="1200">
                <a:latin typeface="Arial MT"/>
                <a:cs typeface="Arial MT"/>
              </a:rPr>
              <a:t>After </a:t>
            </a:r>
            <a:r>
              <a:rPr dirty="0" sz="1200" spc="-5">
                <a:latin typeface="Arial MT"/>
                <a:cs typeface="Arial MT"/>
              </a:rPr>
              <a:t>doing this, you have to sequence </a:t>
            </a:r>
            <a:r>
              <a:rPr dirty="0" sz="1200" spc="-10">
                <a:latin typeface="Arial MT"/>
                <a:cs typeface="Arial MT"/>
              </a:rPr>
              <a:t>your </a:t>
            </a:r>
            <a:r>
              <a:rPr dirty="0" sz="1200" spc="-5">
                <a:latin typeface="Arial MT"/>
                <a:cs typeface="Arial MT"/>
              </a:rPr>
              <a:t> instruction and then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identify </a:t>
            </a:r>
            <a:r>
              <a:rPr dirty="0" sz="1200" spc="-5">
                <a:latin typeface="Arial MT"/>
                <a:cs typeface="Arial MT"/>
              </a:rPr>
              <a:t>which </a:t>
            </a:r>
            <a:r>
              <a:rPr dirty="0" sz="1200">
                <a:latin typeface="Arial MT"/>
                <a:cs typeface="Arial MT"/>
              </a:rPr>
              <a:t>tasks </a:t>
            </a:r>
            <a:r>
              <a:rPr dirty="0" sz="1200" spc="-5">
                <a:latin typeface="Arial MT"/>
                <a:cs typeface="Arial MT"/>
              </a:rPr>
              <a:t>should be given </a:t>
            </a:r>
            <a:r>
              <a:rPr dirty="0" sz="1200">
                <a:latin typeface="Arial MT"/>
                <a:cs typeface="Arial MT"/>
              </a:rPr>
              <a:t>to the </a:t>
            </a:r>
            <a:r>
              <a:rPr dirty="0" sz="1200" spc="-5">
                <a:latin typeface="Arial MT"/>
                <a:cs typeface="Arial MT"/>
              </a:rPr>
              <a:t>students in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keep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terminal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prerequisites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intermediate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remember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intermediate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would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much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terminal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prerequisites.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10"/>
              </a:spcBef>
            </a:pP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analysis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prerequisites;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subdivide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whole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small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pieces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dependent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enabling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 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Individual Educational Plan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and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Task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Analysis:</a:t>
            </a:r>
            <a:endParaRPr sz="14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</a:pPr>
            <a:r>
              <a:rPr dirty="0" sz="1200">
                <a:latin typeface="Arial MT"/>
                <a:cs typeface="Arial MT"/>
              </a:rPr>
              <a:t>Task </a:t>
            </a:r>
            <a:r>
              <a:rPr dirty="0" sz="1200" spc="-5">
                <a:latin typeface="Arial MT"/>
                <a:cs typeface="Arial MT"/>
              </a:rPr>
              <a:t>analysis is important to cater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individual learning needs. Individual educational </a:t>
            </a:r>
            <a:r>
              <a:rPr dirty="0" sz="1200">
                <a:latin typeface="Arial MT"/>
                <a:cs typeface="Arial MT"/>
              </a:rPr>
              <a:t>plans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 usually opposite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inclusion. In inclusion, we say </a:t>
            </a:r>
            <a:r>
              <a:rPr dirty="0" sz="1200">
                <a:latin typeface="Arial MT"/>
                <a:cs typeface="Arial MT"/>
              </a:rPr>
              <a:t>that there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 spc="-10">
                <a:latin typeface="Arial MT"/>
                <a:cs typeface="Arial MT"/>
              </a:rPr>
              <a:t>same </a:t>
            </a:r>
            <a:r>
              <a:rPr dirty="0" sz="1200" spc="-5">
                <a:latin typeface="Arial MT"/>
                <a:cs typeface="Arial MT"/>
              </a:rPr>
              <a:t>learning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all the students.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 educational </a:t>
            </a:r>
            <a:r>
              <a:rPr dirty="0" sz="1200">
                <a:latin typeface="Arial MT"/>
                <a:cs typeface="Arial MT"/>
              </a:rPr>
              <a:t>plans </a:t>
            </a:r>
            <a:r>
              <a:rPr dirty="0" sz="1200" spc="-5">
                <a:latin typeface="Arial MT"/>
                <a:cs typeface="Arial MT"/>
              </a:rPr>
              <a:t>are basically constructed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 children who have additional learning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needs.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abilities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1576" y="575563"/>
            <a:ext cx="6626225" cy="1871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same </a:t>
            </a:r>
            <a:r>
              <a:rPr dirty="0" sz="1200" spc="-5">
                <a:latin typeface="Arial MT"/>
                <a:cs typeface="Arial MT"/>
              </a:rPr>
              <a:t>strategies, so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we are not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do justice with the students who have different </a:t>
            </a:r>
            <a:r>
              <a:rPr dirty="0" sz="1200">
                <a:latin typeface="Arial MT"/>
                <a:cs typeface="Arial MT"/>
              </a:rPr>
              <a:t> learning </a:t>
            </a:r>
            <a:r>
              <a:rPr dirty="0" sz="1200" spc="-5">
                <a:latin typeface="Arial MT"/>
                <a:cs typeface="Arial MT"/>
              </a:rPr>
              <a:t>needs. When we </a:t>
            </a:r>
            <a:r>
              <a:rPr dirty="0" sz="1200">
                <a:latin typeface="Arial MT"/>
                <a:cs typeface="Arial MT"/>
              </a:rPr>
              <a:t>talk </a:t>
            </a:r>
            <a:r>
              <a:rPr dirty="0" sz="1200" spc="-5">
                <a:latin typeface="Arial MT"/>
                <a:cs typeface="Arial MT"/>
              </a:rPr>
              <a:t>about individual </a:t>
            </a:r>
            <a:r>
              <a:rPr dirty="0" sz="1200">
                <a:latin typeface="Arial MT"/>
                <a:cs typeface="Arial MT"/>
              </a:rPr>
              <a:t>learning </a:t>
            </a:r>
            <a:r>
              <a:rPr dirty="0" sz="1200" spc="-5">
                <a:latin typeface="Arial MT"/>
                <a:cs typeface="Arial MT"/>
              </a:rPr>
              <a:t>needs and additional learning needs,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 not </a:t>
            </a:r>
            <a:r>
              <a:rPr dirty="0" sz="1200" spc="-5">
                <a:latin typeface="Arial MT"/>
                <a:cs typeface="Arial MT"/>
              </a:rPr>
              <a:t>necessary that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should be based on the </a:t>
            </a:r>
            <a:r>
              <a:rPr dirty="0" sz="1200">
                <a:latin typeface="Arial MT"/>
                <a:cs typeface="Arial MT"/>
              </a:rPr>
              <a:t>IQ level of </a:t>
            </a:r>
            <a:r>
              <a:rPr dirty="0" sz="1200" spc="-5">
                <a:latin typeface="Arial MT"/>
                <a:cs typeface="Arial MT"/>
              </a:rPr>
              <a:t>the students. There are different students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prerequisites;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test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prerequisites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have them,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responsibility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teacher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them those independent skills. So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 individual educational </a:t>
            </a:r>
            <a:r>
              <a:rPr dirty="0" sz="1200">
                <a:latin typeface="Arial MT"/>
                <a:cs typeface="Arial MT"/>
              </a:rPr>
              <a:t>plan, </a:t>
            </a:r>
            <a:r>
              <a:rPr dirty="0" sz="1200" spc="-5">
                <a:latin typeface="Arial MT"/>
                <a:cs typeface="Arial MT"/>
              </a:rPr>
              <a:t>there is frequent use </a:t>
            </a:r>
            <a:r>
              <a:rPr dirty="0" sz="1200">
                <a:latin typeface="Arial MT"/>
                <a:cs typeface="Arial MT"/>
              </a:rPr>
              <a:t>of task </a:t>
            </a:r>
            <a:r>
              <a:rPr dirty="0" sz="1200" spc="-5">
                <a:latin typeface="Arial MT"/>
                <a:cs typeface="Arial MT"/>
              </a:rPr>
              <a:t>analysis model. Being teachers, we need 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plans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additional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2979673"/>
            <a:ext cx="6972300" cy="253365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25"/>
              </a:spcBef>
            </a:pPr>
            <a:r>
              <a:rPr dirty="0" sz="12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FFFFFF"/>
                </a:solidFill>
                <a:latin typeface="Arial"/>
                <a:cs typeface="Arial"/>
              </a:rPr>
              <a:t># </a:t>
            </a: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20 </a:t>
            </a: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“Information</a:t>
            </a:r>
            <a:r>
              <a:rPr dirty="0" sz="14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Processing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Theory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and Graphic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Organization”</a:t>
            </a:r>
            <a:r>
              <a:rPr dirty="0" sz="14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Outline: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3230625"/>
            <a:ext cx="6631940" cy="608584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Information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Processing Theory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(IPT)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Facts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IPT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Elaboration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  <a:tab pos="2534920" algn="l"/>
              </a:tabLst>
            </a:pPr>
            <a:r>
              <a:rPr dirty="0" sz="1200" spc="-5" b="1">
                <a:latin typeface="Arial"/>
                <a:cs typeface="Arial"/>
              </a:rPr>
              <a:t>Methods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elaboration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-	</a:t>
            </a:r>
            <a:r>
              <a:rPr dirty="0" sz="1200" b="1">
                <a:latin typeface="Arial"/>
                <a:cs typeface="Arial"/>
              </a:rPr>
              <a:t>Drawings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9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Metaphors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analogies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2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Summarizing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your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own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words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Questioning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Ways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visual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tools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Brainstorming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Suggestions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brainstorming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Comparing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contrasting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2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Classification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Table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thinking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tool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Arial"/>
              <a:cs typeface="Arial"/>
            </a:endParaRPr>
          </a:p>
          <a:p>
            <a:pPr algn="just" marL="18415" marR="8890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Declarative knowledge is </a:t>
            </a:r>
            <a:r>
              <a:rPr dirty="0" sz="1200">
                <a:latin typeface="Arial MT"/>
                <a:cs typeface="Arial MT"/>
              </a:rPr>
              <a:t>consists of </a:t>
            </a:r>
            <a:r>
              <a:rPr dirty="0" sz="1200" spc="-5">
                <a:latin typeface="Arial MT"/>
                <a:cs typeface="Arial MT"/>
              </a:rPr>
              <a:t>facts, concepts and generalization. Now the question is how 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develop the deep understanding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-5">
                <a:latin typeface="Arial MT"/>
                <a:cs typeface="Arial MT"/>
              </a:rPr>
              <a:t>children.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deep understanding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children information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processing theory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Information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Processing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Theory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(IPT)</a:t>
            </a:r>
            <a:endParaRPr sz="14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50"/>
              </a:spcBef>
            </a:pPr>
            <a:r>
              <a:rPr dirty="0" sz="1200" spc="-5">
                <a:latin typeface="Arial MT"/>
                <a:cs typeface="Arial MT"/>
              </a:rPr>
              <a:t>Nothing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unless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 </a:t>
            </a:r>
            <a:r>
              <a:rPr dirty="0" sz="1200">
                <a:latin typeface="Arial MT"/>
                <a:cs typeface="Arial MT"/>
              </a:rPr>
              <a:t>memory.</a:t>
            </a:r>
            <a:r>
              <a:rPr dirty="0" sz="1200" spc="-5">
                <a:latin typeface="Arial MT"/>
                <a:cs typeface="Arial MT"/>
              </a:rPr>
              <a:t> Working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our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conscious</a:t>
            </a:r>
            <a:r>
              <a:rPr dirty="0" sz="1200">
                <a:latin typeface="Arial MT"/>
                <a:cs typeface="Arial MT"/>
              </a:rPr>
              <a:t> memory.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short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80682" y="9297161"/>
            <a:ext cx="618490" cy="58801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just" marL="34925" marR="5080" indent="-22860">
              <a:lnSpc>
                <a:spcPct val="103800"/>
              </a:lnSpc>
              <a:spcBef>
                <a:spcPts val="45"/>
              </a:spcBef>
            </a:pPr>
            <a:r>
              <a:rPr dirty="0" sz="1200" spc="-5">
                <a:latin typeface="Arial MT"/>
                <a:cs typeface="Arial MT"/>
              </a:rPr>
              <a:t>m</a:t>
            </a:r>
            <a:r>
              <a:rPr dirty="0" sz="1200" spc="-5">
                <a:latin typeface="Arial MT"/>
                <a:cs typeface="Arial MT"/>
              </a:rPr>
              <a:t>e</a:t>
            </a:r>
            <a:r>
              <a:rPr dirty="0" sz="1200" spc="-5">
                <a:latin typeface="Arial MT"/>
                <a:cs typeface="Arial MT"/>
              </a:rPr>
              <a:t>m</a:t>
            </a:r>
            <a:r>
              <a:rPr dirty="0" sz="1200" spc="-5">
                <a:latin typeface="Arial MT"/>
                <a:cs typeface="Arial MT"/>
              </a:rPr>
              <a:t>o</a:t>
            </a:r>
            <a:r>
              <a:rPr dirty="0" sz="1200">
                <a:latin typeface="Arial MT"/>
                <a:cs typeface="Arial MT"/>
              </a:rPr>
              <a:t>ry. 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04128" y="9297161"/>
            <a:ext cx="1019175" cy="77724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>
              <a:lnSpc>
                <a:spcPct val="103600"/>
              </a:lnSpc>
              <a:spcBef>
                <a:spcPts val="45"/>
              </a:spcBef>
              <a:tabLst>
                <a:tab pos="543560" algn="l"/>
                <a:tab pos="703580" algn="l"/>
              </a:tabLst>
            </a:pPr>
            <a:r>
              <a:rPr dirty="0" sz="1200">
                <a:latin typeface="Arial MT"/>
                <a:cs typeface="Arial MT"/>
              </a:rPr>
              <a:t>long	</a:t>
            </a:r>
            <a:r>
              <a:rPr dirty="0" sz="1200" spc="-5">
                <a:latin typeface="Arial MT"/>
                <a:cs typeface="Arial MT"/>
              </a:rPr>
              <a:t>term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		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 memory.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1576" y="9975342"/>
            <a:ext cx="6626225" cy="1343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4932045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interesting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our emphasis is on working memory. Working memory is our </a:t>
            </a:r>
            <a:r>
              <a:rPr dirty="0" sz="1200">
                <a:latin typeface="Arial MT"/>
                <a:cs typeface="Arial MT"/>
              </a:rPr>
              <a:t>conscious memory. </a:t>
            </a:r>
            <a:r>
              <a:rPr dirty="0" sz="1200" spc="-5">
                <a:latin typeface="Arial MT"/>
                <a:cs typeface="Arial MT"/>
              </a:rPr>
              <a:t>We do </a:t>
            </a:r>
            <a:r>
              <a:rPr dirty="0" sz="1200" spc="-1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 know much about working memory and how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operates.</a:t>
            </a:r>
            <a:r>
              <a:rPr dirty="0" sz="1200">
                <a:latin typeface="Arial MT"/>
                <a:cs typeface="Arial MT"/>
              </a:rPr>
              <a:t> This </a:t>
            </a:r>
            <a:r>
              <a:rPr dirty="0" sz="1200" spc="-5">
                <a:latin typeface="Arial MT"/>
                <a:cs typeface="Arial MT"/>
              </a:rPr>
              <a:t>theory </a:t>
            </a:r>
            <a:r>
              <a:rPr dirty="0" sz="1200">
                <a:latin typeface="Arial MT"/>
                <a:cs typeface="Arial MT"/>
              </a:rPr>
              <a:t>says </a:t>
            </a:r>
            <a:r>
              <a:rPr dirty="0" sz="1200" spc="-5">
                <a:latin typeface="Arial MT"/>
                <a:cs typeface="Arial MT"/>
              </a:rPr>
              <a:t>that every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 be the </a:t>
            </a:r>
            <a:r>
              <a:rPr dirty="0" sz="1200">
                <a:latin typeface="Arial MT"/>
                <a:cs typeface="Arial MT"/>
              </a:rPr>
              <a:t>part </a:t>
            </a:r>
            <a:r>
              <a:rPr dirty="0" sz="1200" spc="-5">
                <a:latin typeface="Arial MT"/>
                <a:cs typeface="Arial MT"/>
              </a:rPr>
              <a:t>of long term memory. Automation 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ultimate learning. Short </a:t>
            </a:r>
            <a:r>
              <a:rPr dirty="0" sz="1200">
                <a:latin typeface="Arial MT"/>
                <a:cs typeface="Arial MT"/>
              </a:rPr>
              <a:t>term </a:t>
            </a:r>
            <a:r>
              <a:rPr dirty="0" sz="1200" spc="-5">
                <a:latin typeface="Arial MT"/>
                <a:cs typeface="Arial MT"/>
              </a:rPr>
              <a:t>learning 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named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sensory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register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theory.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26109" y="9107169"/>
            <a:ext cx="1588135" cy="1075055"/>
            <a:chOff x="626109" y="9107169"/>
            <a:chExt cx="1588135" cy="1075055"/>
          </a:xfrm>
        </p:grpSpPr>
        <p:sp>
          <p:nvSpPr>
            <p:cNvPr id="9" name="object 9"/>
            <p:cNvSpPr/>
            <p:nvPr/>
          </p:nvSpPr>
          <p:spPr>
            <a:xfrm>
              <a:off x="638301" y="9121393"/>
              <a:ext cx="1562100" cy="1047115"/>
            </a:xfrm>
            <a:custGeom>
              <a:avLst/>
              <a:gdLst/>
              <a:ahLst/>
              <a:cxnLst/>
              <a:rect l="l" t="t" r="r" b="b"/>
              <a:pathLst>
                <a:path w="1562100" h="1047115">
                  <a:moveTo>
                    <a:pt x="1037717" y="0"/>
                  </a:moveTo>
                  <a:lnTo>
                    <a:pt x="0" y="0"/>
                  </a:lnTo>
                  <a:lnTo>
                    <a:pt x="0" y="1046987"/>
                  </a:lnTo>
                  <a:lnTo>
                    <a:pt x="1037717" y="1046987"/>
                  </a:lnTo>
                  <a:lnTo>
                    <a:pt x="1561973" y="524255"/>
                  </a:lnTo>
                  <a:lnTo>
                    <a:pt x="103771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26110" y="9107169"/>
              <a:ext cx="1588135" cy="1075055"/>
            </a:xfrm>
            <a:custGeom>
              <a:avLst/>
              <a:gdLst/>
              <a:ahLst/>
              <a:cxnLst/>
              <a:rect l="l" t="t" r="r" b="b"/>
              <a:pathLst>
                <a:path w="1588135" h="1075054">
                  <a:moveTo>
                    <a:pt x="1587881" y="533908"/>
                  </a:moveTo>
                  <a:lnTo>
                    <a:pt x="1556639" y="502666"/>
                  </a:lnTo>
                  <a:lnTo>
                    <a:pt x="1556639" y="537718"/>
                  </a:lnTo>
                  <a:lnTo>
                    <a:pt x="1045337" y="1049020"/>
                  </a:lnTo>
                  <a:lnTo>
                    <a:pt x="791337" y="1049020"/>
                  </a:lnTo>
                  <a:lnTo>
                    <a:pt x="25908" y="1049020"/>
                  </a:lnTo>
                  <a:lnTo>
                    <a:pt x="25908" y="26670"/>
                  </a:lnTo>
                  <a:lnTo>
                    <a:pt x="791337" y="26670"/>
                  </a:lnTo>
                  <a:lnTo>
                    <a:pt x="791337" y="26416"/>
                  </a:lnTo>
                  <a:lnTo>
                    <a:pt x="1045337" y="26416"/>
                  </a:lnTo>
                  <a:lnTo>
                    <a:pt x="1556639" y="537718"/>
                  </a:lnTo>
                  <a:lnTo>
                    <a:pt x="1556639" y="502666"/>
                  </a:lnTo>
                  <a:lnTo>
                    <a:pt x="1059053" y="5080"/>
                  </a:lnTo>
                  <a:lnTo>
                    <a:pt x="1057529" y="2032"/>
                  </a:lnTo>
                  <a:lnTo>
                    <a:pt x="1054481" y="508"/>
                  </a:lnTo>
                  <a:lnTo>
                    <a:pt x="791337" y="508"/>
                  </a:lnTo>
                  <a:lnTo>
                    <a:pt x="791337" y="0"/>
                  </a:lnTo>
                  <a:lnTo>
                    <a:pt x="3429" y="0"/>
                  </a:lnTo>
                  <a:lnTo>
                    <a:pt x="3429" y="6350"/>
                  </a:lnTo>
                  <a:lnTo>
                    <a:pt x="0" y="6350"/>
                  </a:lnTo>
                  <a:lnTo>
                    <a:pt x="0" y="26670"/>
                  </a:lnTo>
                  <a:lnTo>
                    <a:pt x="0" y="1049020"/>
                  </a:lnTo>
                  <a:lnTo>
                    <a:pt x="0" y="1069340"/>
                  </a:lnTo>
                  <a:lnTo>
                    <a:pt x="3048" y="1069340"/>
                  </a:lnTo>
                  <a:lnTo>
                    <a:pt x="3048" y="1074420"/>
                  </a:lnTo>
                  <a:lnTo>
                    <a:pt x="791337" y="1074420"/>
                  </a:lnTo>
                  <a:lnTo>
                    <a:pt x="791337" y="1074928"/>
                  </a:lnTo>
                  <a:lnTo>
                    <a:pt x="1054481" y="1074928"/>
                  </a:lnTo>
                  <a:lnTo>
                    <a:pt x="1057529" y="1073404"/>
                  </a:lnTo>
                  <a:lnTo>
                    <a:pt x="1059053" y="1070356"/>
                  </a:lnTo>
                  <a:lnTo>
                    <a:pt x="1587881" y="541528"/>
                  </a:lnTo>
                  <a:lnTo>
                    <a:pt x="1587881" y="533908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95324" y="9480042"/>
            <a:ext cx="984250" cy="38989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 indent="154940">
              <a:lnSpc>
                <a:spcPts val="1430"/>
              </a:lnSpc>
              <a:spcBef>
                <a:spcPts val="155"/>
              </a:spcBef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Stimuli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hit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sensory</a:t>
            </a:r>
            <a:r>
              <a:rPr dirty="0" sz="12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register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282570" y="9165590"/>
            <a:ext cx="1703705" cy="1016635"/>
            <a:chOff x="2282570" y="9165590"/>
            <a:chExt cx="1703705" cy="1016635"/>
          </a:xfrm>
        </p:grpSpPr>
        <p:sp>
          <p:nvSpPr>
            <p:cNvPr id="13" name="object 13"/>
            <p:cNvSpPr/>
            <p:nvPr/>
          </p:nvSpPr>
          <p:spPr>
            <a:xfrm>
              <a:off x="2296286" y="9177782"/>
              <a:ext cx="1676400" cy="990600"/>
            </a:xfrm>
            <a:custGeom>
              <a:avLst/>
              <a:gdLst/>
              <a:ahLst/>
              <a:cxnLst/>
              <a:rect l="l" t="t" r="r" b="b"/>
              <a:pathLst>
                <a:path w="1676400" h="990600">
                  <a:moveTo>
                    <a:pt x="1180973" y="0"/>
                  </a:moveTo>
                  <a:lnTo>
                    <a:pt x="0" y="0"/>
                  </a:lnTo>
                  <a:lnTo>
                    <a:pt x="0" y="990599"/>
                  </a:lnTo>
                  <a:lnTo>
                    <a:pt x="1180973" y="990599"/>
                  </a:lnTo>
                  <a:lnTo>
                    <a:pt x="1676273" y="495299"/>
                  </a:lnTo>
                  <a:lnTo>
                    <a:pt x="118097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282571" y="9165589"/>
              <a:ext cx="1703705" cy="1016635"/>
            </a:xfrm>
            <a:custGeom>
              <a:avLst/>
              <a:gdLst/>
              <a:ahLst/>
              <a:cxnLst/>
              <a:rect l="l" t="t" r="r" b="b"/>
              <a:pathLst>
                <a:path w="1703704" h="1016634">
                  <a:moveTo>
                    <a:pt x="1703705" y="504444"/>
                  </a:moveTo>
                  <a:lnTo>
                    <a:pt x="1699133" y="498348"/>
                  </a:lnTo>
                  <a:lnTo>
                    <a:pt x="1671701" y="470916"/>
                  </a:lnTo>
                  <a:lnTo>
                    <a:pt x="1671701" y="507492"/>
                  </a:lnTo>
                  <a:lnTo>
                    <a:pt x="1188593" y="990600"/>
                  </a:lnTo>
                  <a:lnTo>
                    <a:pt x="848741" y="990600"/>
                  </a:lnTo>
                  <a:lnTo>
                    <a:pt x="25908" y="990600"/>
                  </a:lnTo>
                  <a:lnTo>
                    <a:pt x="25908" y="25400"/>
                  </a:lnTo>
                  <a:lnTo>
                    <a:pt x="848741" y="25400"/>
                  </a:lnTo>
                  <a:lnTo>
                    <a:pt x="848741" y="25908"/>
                  </a:lnTo>
                  <a:lnTo>
                    <a:pt x="1190117" y="25908"/>
                  </a:lnTo>
                  <a:lnTo>
                    <a:pt x="1671701" y="507492"/>
                  </a:lnTo>
                  <a:lnTo>
                    <a:pt x="1671701" y="470916"/>
                  </a:lnTo>
                  <a:lnTo>
                    <a:pt x="1203833" y="3048"/>
                  </a:lnTo>
                  <a:lnTo>
                    <a:pt x="1197737" y="0"/>
                  </a:lnTo>
                  <a:lnTo>
                    <a:pt x="848741" y="0"/>
                  </a:lnTo>
                  <a:lnTo>
                    <a:pt x="2921" y="0"/>
                  </a:lnTo>
                  <a:lnTo>
                    <a:pt x="2921" y="6350"/>
                  </a:lnTo>
                  <a:lnTo>
                    <a:pt x="0" y="6350"/>
                  </a:lnTo>
                  <a:lnTo>
                    <a:pt x="0" y="25400"/>
                  </a:lnTo>
                  <a:lnTo>
                    <a:pt x="0" y="990600"/>
                  </a:lnTo>
                  <a:lnTo>
                    <a:pt x="0" y="1010920"/>
                  </a:lnTo>
                  <a:lnTo>
                    <a:pt x="3048" y="1010920"/>
                  </a:lnTo>
                  <a:lnTo>
                    <a:pt x="3048" y="1016000"/>
                  </a:lnTo>
                  <a:lnTo>
                    <a:pt x="848741" y="1016000"/>
                  </a:lnTo>
                  <a:lnTo>
                    <a:pt x="848741" y="1016508"/>
                  </a:lnTo>
                  <a:lnTo>
                    <a:pt x="1197737" y="1016508"/>
                  </a:lnTo>
                  <a:lnTo>
                    <a:pt x="1200785" y="1014984"/>
                  </a:lnTo>
                  <a:lnTo>
                    <a:pt x="1703705" y="512064"/>
                  </a:lnTo>
                  <a:lnTo>
                    <a:pt x="1703705" y="504444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389377" y="9420606"/>
            <a:ext cx="1246505" cy="56388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ctr" marL="12700" marR="5080">
              <a:lnSpc>
                <a:spcPct val="97100"/>
              </a:lnSpc>
              <a:spcBef>
                <a:spcPts val="140"/>
              </a:spcBef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Working</a:t>
            </a:r>
            <a:r>
              <a:rPr dirty="0" sz="12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memory</a:t>
            </a:r>
            <a:r>
              <a:rPr dirty="0" sz="12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if </a:t>
            </a:r>
            <a:r>
              <a:rPr dirty="0" sz="1200" spc="-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information is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attended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25900" y="9212580"/>
            <a:ext cx="1475105" cy="969644"/>
            <a:chOff x="4025900" y="9212580"/>
            <a:chExt cx="1475105" cy="969644"/>
          </a:xfrm>
        </p:grpSpPr>
        <p:sp>
          <p:nvSpPr>
            <p:cNvPr id="17" name="object 17"/>
            <p:cNvSpPr/>
            <p:nvPr/>
          </p:nvSpPr>
          <p:spPr>
            <a:xfrm>
              <a:off x="4038091" y="9226550"/>
              <a:ext cx="1447800" cy="942340"/>
            </a:xfrm>
            <a:custGeom>
              <a:avLst/>
              <a:gdLst/>
              <a:ahLst/>
              <a:cxnLst/>
              <a:rect l="l" t="t" r="r" b="b"/>
              <a:pathLst>
                <a:path w="1447800" h="942340">
                  <a:moveTo>
                    <a:pt x="976757" y="0"/>
                  </a:moveTo>
                  <a:lnTo>
                    <a:pt x="0" y="0"/>
                  </a:lnTo>
                  <a:lnTo>
                    <a:pt x="0" y="941832"/>
                  </a:lnTo>
                  <a:lnTo>
                    <a:pt x="976757" y="941832"/>
                  </a:lnTo>
                  <a:lnTo>
                    <a:pt x="1447673" y="470916"/>
                  </a:lnTo>
                  <a:lnTo>
                    <a:pt x="97675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25900" y="9212580"/>
              <a:ext cx="1475105" cy="969644"/>
            </a:xfrm>
            <a:custGeom>
              <a:avLst/>
              <a:gdLst/>
              <a:ahLst/>
              <a:cxnLst/>
              <a:rect l="l" t="t" r="r" b="b"/>
              <a:pathLst>
                <a:path w="1475104" h="969645">
                  <a:moveTo>
                    <a:pt x="1475105" y="480314"/>
                  </a:moveTo>
                  <a:lnTo>
                    <a:pt x="1469009" y="475742"/>
                  </a:lnTo>
                  <a:lnTo>
                    <a:pt x="1443101" y="449834"/>
                  </a:lnTo>
                  <a:lnTo>
                    <a:pt x="1443101" y="484886"/>
                  </a:lnTo>
                  <a:lnTo>
                    <a:pt x="982853" y="943610"/>
                  </a:lnTo>
                  <a:lnTo>
                    <a:pt x="734441" y="943610"/>
                  </a:lnTo>
                  <a:lnTo>
                    <a:pt x="25908" y="943610"/>
                  </a:lnTo>
                  <a:lnTo>
                    <a:pt x="25908" y="26670"/>
                  </a:lnTo>
                  <a:lnTo>
                    <a:pt x="734441" y="26670"/>
                  </a:lnTo>
                  <a:lnTo>
                    <a:pt x="734441" y="26162"/>
                  </a:lnTo>
                  <a:lnTo>
                    <a:pt x="984377" y="26162"/>
                  </a:lnTo>
                  <a:lnTo>
                    <a:pt x="1443101" y="484886"/>
                  </a:lnTo>
                  <a:lnTo>
                    <a:pt x="1443101" y="449834"/>
                  </a:lnTo>
                  <a:lnTo>
                    <a:pt x="995045" y="1778"/>
                  </a:lnTo>
                  <a:lnTo>
                    <a:pt x="991997" y="254"/>
                  </a:lnTo>
                  <a:lnTo>
                    <a:pt x="734441" y="254"/>
                  </a:lnTo>
                  <a:lnTo>
                    <a:pt x="734441" y="0"/>
                  </a:lnTo>
                  <a:lnTo>
                    <a:pt x="3175" y="0"/>
                  </a:lnTo>
                  <a:lnTo>
                    <a:pt x="3175" y="6350"/>
                  </a:lnTo>
                  <a:lnTo>
                    <a:pt x="0" y="6350"/>
                  </a:lnTo>
                  <a:lnTo>
                    <a:pt x="0" y="26670"/>
                  </a:lnTo>
                  <a:lnTo>
                    <a:pt x="0" y="943610"/>
                  </a:lnTo>
                  <a:lnTo>
                    <a:pt x="0" y="963930"/>
                  </a:lnTo>
                  <a:lnTo>
                    <a:pt x="3048" y="963930"/>
                  </a:lnTo>
                  <a:lnTo>
                    <a:pt x="3048" y="969010"/>
                  </a:lnTo>
                  <a:lnTo>
                    <a:pt x="734441" y="969010"/>
                  </a:lnTo>
                  <a:lnTo>
                    <a:pt x="734441" y="969518"/>
                  </a:lnTo>
                  <a:lnTo>
                    <a:pt x="991997" y="969518"/>
                  </a:lnTo>
                  <a:lnTo>
                    <a:pt x="995045" y="967994"/>
                  </a:lnTo>
                  <a:lnTo>
                    <a:pt x="1469009" y="494030"/>
                  </a:lnTo>
                  <a:lnTo>
                    <a:pt x="1475105" y="489458"/>
                  </a:lnTo>
                  <a:lnTo>
                    <a:pt x="1475105" y="480314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313301" y="9531857"/>
            <a:ext cx="664210" cy="3886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78105" marR="5080" indent="-66040">
              <a:lnSpc>
                <a:spcPts val="1420"/>
              </a:lnSpc>
              <a:spcBef>
                <a:spcPts val="160"/>
              </a:spcBef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Long te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m 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memory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3955" y="578611"/>
            <a:ext cx="6635115" cy="1094359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710"/>
              </a:spcBef>
            </a:pPr>
            <a:r>
              <a:rPr dirty="0" sz="1200" spc="-5" b="1">
                <a:latin typeface="Arial"/>
                <a:cs typeface="Arial"/>
              </a:rPr>
              <a:t>Facts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IPT</a:t>
            </a:r>
            <a:endParaRPr sz="1200">
              <a:latin typeface="Arial"/>
              <a:cs typeface="Arial"/>
            </a:endParaRPr>
          </a:p>
          <a:p>
            <a:pPr algn="just" marL="478790" marR="8255" indent="-6604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Humans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keep only </a:t>
            </a:r>
            <a:r>
              <a:rPr dirty="0" sz="1200">
                <a:latin typeface="Arial MT"/>
                <a:cs typeface="Arial MT"/>
              </a:rPr>
              <a:t>5-9 </a:t>
            </a:r>
            <a:r>
              <a:rPr dirty="0" sz="1200" spc="-5">
                <a:latin typeface="Arial MT"/>
                <a:cs typeface="Arial MT"/>
              </a:rPr>
              <a:t>unrelated pieces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information in their working memory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one </a:t>
            </a:r>
            <a:r>
              <a:rPr dirty="0" sz="1200">
                <a:latin typeface="Arial MT"/>
                <a:cs typeface="Arial MT"/>
              </a:rPr>
              <a:t> time.</a:t>
            </a:r>
            <a:endParaRPr sz="1200">
              <a:latin typeface="Arial MT"/>
              <a:cs typeface="Arial MT"/>
            </a:endParaRPr>
          </a:p>
          <a:p>
            <a:pPr algn="just" marL="478790" marR="8890" indent="-66040">
              <a:lnSpc>
                <a:spcPts val="208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space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lower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higher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thought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such as </a:t>
            </a:r>
            <a:r>
              <a:rPr dirty="0" sz="1200" spc="-5">
                <a:latin typeface="Arial MT"/>
                <a:cs typeface="Arial MT"/>
              </a:rPr>
              <a:t>analysis cannot take place.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Space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limited in child’s mind, teacher have to see </a:t>
            </a:r>
            <a:r>
              <a:rPr dirty="0" sz="1200">
                <a:latin typeface="Arial MT"/>
                <a:cs typeface="Arial MT"/>
              </a:rPr>
              <a:t> this</a:t>
            </a:r>
            <a:r>
              <a:rPr dirty="0" sz="1200" spc="-5">
                <a:latin typeface="Arial MT"/>
                <a:cs typeface="Arial MT"/>
              </a:rPr>
              <a:t> 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he</a:t>
            </a:r>
            <a:r>
              <a:rPr dirty="0" sz="1200">
                <a:latin typeface="Arial MT"/>
                <a:cs typeface="Arial MT"/>
              </a:rPr>
              <a:t> 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utilize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space.</a:t>
            </a:r>
            <a:endParaRPr sz="1200">
              <a:latin typeface="Arial MT"/>
              <a:cs typeface="Arial MT"/>
            </a:endParaRPr>
          </a:p>
          <a:p>
            <a:pPr algn="just" marL="478790" marR="7620" indent="-66040">
              <a:lnSpc>
                <a:spcPts val="2080"/>
              </a:lnSpc>
              <a:spcBef>
                <a:spcPts val="10"/>
              </a:spcBef>
            </a:pP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‘chunks’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much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memory.</a:t>
            </a:r>
            <a:endParaRPr sz="1200">
              <a:latin typeface="Arial MT"/>
              <a:cs typeface="Arial MT"/>
            </a:endParaRPr>
          </a:p>
          <a:p>
            <a:pPr algn="just" marL="478790" marR="12065" indent="-66040">
              <a:lnSpc>
                <a:spcPts val="2060"/>
              </a:lnSpc>
              <a:spcBef>
                <a:spcPts val="35"/>
              </a:spcBef>
            </a:pPr>
            <a:r>
              <a:rPr dirty="0" sz="1200" spc="-5">
                <a:latin typeface="Arial MT"/>
                <a:cs typeface="Arial MT"/>
              </a:rPr>
              <a:t>Images are </a:t>
            </a:r>
            <a:r>
              <a:rPr dirty="0" sz="1200">
                <a:latin typeface="Arial MT"/>
                <a:cs typeface="Arial MT"/>
              </a:rPr>
              <a:t>much </a:t>
            </a:r>
            <a:r>
              <a:rPr dirty="0" sz="1200" spc="-5">
                <a:latin typeface="Arial MT"/>
                <a:cs typeface="Arial MT"/>
              </a:rPr>
              <a:t>economical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space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expressed 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words.</a:t>
            </a:r>
            <a:endParaRPr sz="1200">
              <a:latin typeface="Arial MT"/>
              <a:cs typeface="Arial MT"/>
            </a:endParaRPr>
          </a:p>
          <a:p>
            <a:pPr algn="just" marL="478790">
              <a:lnSpc>
                <a:spcPct val="100000"/>
              </a:lnSpc>
              <a:spcBef>
                <a:spcPts val="490"/>
              </a:spcBef>
            </a:pPr>
            <a:r>
              <a:rPr dirty="0" sz="1200" spc="-5" b="1" i="1">
                <a:latin typeface="Arial"/>
                <a:cs typeface="Arial"/>
              </a:rPr>
              <a:t>A picture</a:t>
            </a:r>
            <a:r>
              <a:rPr dirty="0" sz="1200" b="1" i="1">
                <a:latin typeface="Arial"/>
                <a:cs typeface="Arial"/>
              </a:rPr>
              <a:t> is</a:t>
            </a:r>
            <a:r>
              <a:rPr dirty="0" sz="1200" spc="-15" b="1" i="1">
                <a:latin typeface="Arial"/>
                <a:cs typeface="Arial"/>
              </a:rPr>
              <a:t> </a:t>
            </a:r>
            <a:r>
              <a:rPr dirty="0" sz="1200" b="1" i="1">
                <a:latin typeface="Arial"/>
                <a:cs typeface="Arial"/>
              </a:rPr>
              <a:t>worth</a:t>
            </a:r>
            <a:r>
              <a:rPr dirty="0" sz="1200" spc="-10" b="1" i="1">
                <a:latin typeface="Arial"/>
                <a:cs typeface="Arial"/>
              </a:rPr>
              <a:t> </a:t>
            </a:r>
            <a:r>
              <a:rPr dirty="0" sz="1200" spc="-5" b="1" i="1">
                <a:latin typeface="Arial"/>
                <a:cs typeface="Arial"/>
              </a:rPr>
              <a:t>a</a:t>
            </a:r>
            <a:r>
              <a:rPr dirty="0" sz="1200" b="1" i="1">
                <a:latin typeface="Arial"/>
                <a:cs typeface="Arial"/>
              </a:rPr>
              <a:t> </a:t>
            </a:r>
            <a:r>
              <a:rPr dirty="0" sz="1200" spc="-5" b="1" i="1">
                <a:latin typeface="Arial"/>
                <a:cs typeface="Arial"/>
              </a:rPr>
              <a:t>thousand </a:t>
            </a:r>
            <a:r>
              <a:rPr dirty="0" sz="1200" b="1" i="1">
                <a:latin typeface="Arial"/>
                <a:cs typeface="Arial"/>
              </a:rPr>
              <a:t>words.</a:t>
            </a:r>
            <a:endParaRPr sz="1200">
              <a:latin typeface="Arial"/>
              <a:cs typeface="Arial"/>
            </a:endParaRPr>
          </a:p>
          <a:p>
            <a:pPr algn="just" marL="485140" indent="-6350">
              <a:lnSpc>
                <a:spcPct val="100000"/>
              </a:lnSpc>
              <a:spcBef>
                <a:spcPts val="590"/>
              </a:spcBef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endParaRPr sz="1200">
              <a:latin typeface="Arial MT"/>
              <a:cs typeface="Arial MT"/>
            </a:endParaRPr>
          </a:p>
          <a:p>
            <a:pPr algn="just" marL="485140" marR="508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address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easier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map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oral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direction.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Nowadays universities or organizations show their maps on their </a:t>
            </a:r>
            <a:r>
              <a:rPr dirty="0" sz="1200">
                <a:latin typeface="Arial MT"/>
                <a:cs typeface="Arial MT"/>
              </a:rPr>
              <a:t>websites for </a:t>
            </a:r>
            <a:r>
              <a:rPr dirty="0" sz="1200" spc="-5">
                <a:latin typeface="Arial MT"/>
                <a:cs typeface="Arial MT"/>
              </a:rPr>
              <a:t>the comfort of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Visual </a:t>
            </a:r>
            <a:r>
              <a:rPr dirty="0" sz="1200" spc="-10">
                <a:latin typeface="Arial MT"/>
                <a:cs typeface="Arial MT"/>
              </a:rPr>
              <a:t>tools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significant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 algn="just" marL="478790">
              <a:lnSpc>
                <a:spcPct val="100000"/>
              </a:lnSpc>
              <a:spcBef>
                <a:spcPts val="660"/>
              </a:spcBef>
            </a:pP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 </a:t>
            </a:r>
            <a:r>
              <a:rPr dirty="0" sz="1200">
                <a:latin typeface="Arial MT"/>
                <a:cs typeface="Arial MT"/>
              </a:rPr>
              <a:t>visual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tools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often 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ensure </a:t>
            </a:r>
            <a:r>
              <a:rPr dirty="0" sz="1200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 marL="2159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Increase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5" b="1">
                <a:latin typeface="Arial"/>
                <a:cs typeface="Arial"/>
              </a:rPr>
              <a:t> space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working</a:t>
            </a:r>
            <a:r>
              <a:rPr dirty="0" sz="1200" spc="-5" b="1">
                <a:latin typeface="Arial"/>
                <a:cs typeface="Arial"/>
              </a:rPr>
              <a:t> memory</a:t>
            </a:r>
            <a:endParaRPr sz="1200">
              <a:latin typeface="Arial"/>
              <a:cs typeface="Arial"/>
            </a:endParaRPr>
          </a:p>
          <a:p>
            <a:pPr algn="just" marL="12700" marR="255270">
              <a:lnSpc>
                <a:spcPts val="206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First </a:t>
            </a:r>
            <a:r>
              <a:rPr dirty="0" sz="1200">
                <a:latin typeface="Arial MT"/>
                <a:cs typeface="Arial MT"/>
              </a:rPr>
              <a:t>thing </a:t>
            </a:r>
            <a:r>
              <a:rPr dirty="0" sz="1200" spc="-5">
                <a:latin typeface="Arial MT"/>
                <a:cs typeface="Arial MT"/>
              </a:rPr>
              <a:t>is elaboration.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5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very commonly used teaching strategy which helps in developing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space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working memory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the same time information in working memory goes into long term </a:t>
            </a:r>
            <a:r>
              <a:rPr dirty="0" sz="1200">
                <a:latin typeface="Arial MT"/>
                <a:cs typeface="Arial MT"/>
              </a:rPr>
              <a:t> memory.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1590">
              <a:lnSpc>
                <a:spcPct val="100000"/>
              </a:lnSpc>
              <a:spcBef>
                <a:spcPts val="1030"/>
              </a:spcBef>
            </a:pPr>
            <a:r>
              <a:rPr dirty="0" sz="1200" b="1">
                <a:latin typeface="Arial"/>
                <a:cs typeface="Arial"/>
              </a:rPr>
              <a:t>Elaboration</a:t>
            </a:r>
            <a:endParaRPr sz="1200">
              <a:latin typeface="Arial"/>
              <a:cs typeface="Arial"/>
            </a:endParaRPr>
          </a:p>
          <a:p>
            <a:pPr algn="just" marL="478790" marR="5080" indent="-116205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form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rehearsal but different from maintenance rehearsal </a:t>
            </a:r>
            <a:r>
              <a:rPr dirty="0" sz="1200">
                <a:latin typeface="Arial MT"/>
                <a:cs typeface="Arial MT"/>
              </a:rPr>
              <a:t>(cramming). </a:t>
            </a:r>
            <a:r>
              <a:rPr dirty="0" sz="1200" spc="-5">
                <a:latin typeface="Arial MT"/>
                <a:cs typeface="Arial MT"/>
              </a:rPr>
              <a:t>The former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allows us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hold information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conscious working memory </a:t>
            </a:r>
            <a:r>
              <a:rPr dirty="0" sz="1200">
                <a:latin typeface="Arial MT"/>
                <a:cs typeface="Arial MT"/>
              </a:rPr>
              <a:t>just </a:t>
            </a:r>
            <a:r>
              <a:rPr dirty="0" sz="1200" spc="-5">
                <a:latin typeface="Arial MT"/>
                <a:cs typeface="Arial MT"/>
              </a:rPr>
              <a:t>long enough to decide what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 </a:t>
            </a:r>
            <a:r>
              <a:rPr dirty="0" sz="1200">
                <a:latin typeface="Arial MT"/>
                <a:cs typeface="Arial MT"/>
              </a:rPr>
              <a:t>it.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suited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storage.</a:t>
            </a:r>
            <a:endParaRPr sz="1200">
              <a:latin typeface="Arial MT"/>
              <a:cs typeface="Arial MT"/>
            </a:endParaRPr>
          </a:p>
          <a:p>
            <a:pPr algn="just" marL="478790" marR="10795" indent="-116205">
              <a:lnSpc>
                <a:spcPts val="208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Elaboration means </a:t>
            </a:r>
            <a:r>
              <a:rPr dirty="0" sz="1200" b="1">
                <a:latin typeface="Arial"/>
                <a:cs typeface="Arial"/>
              </a:rPr>
              <a:t>adding on</a:t>
            </a:r>
            <a:r>
              <a:rPr dirty="0" sz="1200">
                <a:latin typeface="Arial MT"/>
                <a:cs typeface="Arial MT"/>
              </a:rPr>
              <a:t>. It </a:t>
            </a:r>
            <a:r>
              <a:rPr dirty="0" sz="1200" spc="-5">
                <a:latin typeface="Arial MT"/>
                <a:cs typeface="Arial MT"/>
              </a:rPr>
              <a:t>requires conscious and deliberate thought during which we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already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understood.</a:t>
            </a:r>
            <a:endParaRPr sz="1200">
              <a:latin typeface="Arial MT"/>
              <a:cs typeface="Arial MT"/>
            </a:endParaRPr>
          </a:p>
          <a:p>
            <a:pPr algn="just" marL="20320" marR="10160" indent="-6350">
              <a:lnSpc>
                <a:spcPct val="144200"/>
              </a:lnSpc>
              <a:spcBef>
                <a:spcPts val="805"/>
              </a:spcBef>
            </a:pPr>
            <a:r>
              <a:rPr dirty="0" sz="1200" spc="-5">
                <a:latin typeface="Arial MT"/>
                <a:cs typeface="Arial MT"/>
              </a:rPr>
              <a:t>Elaboration is different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maintenance rehearsal. What is maintenance rehearsal? When we </a:t>
            </a:r>
            <a:r>
              <a:rPr dirty="0" sz="1200">
                <a:latin typeface="Arial MT"/>
                <a:cs typeface="Arial MT"/>
              </a:rPr>
              <a:t> learn </a:t>
            </a:r>
            <a:r>
              <a:rPr dirty="0" sz="1200" spc="-5">
                <a:latin typeface="Arial MT"/>
                <a:cs typeface="Arial MT"/>
              </a:rPr>
              <a:t>something, we do some kind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drill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maintain it. When we do or </a:t>
            </a:r>
            <a:r>
              <a:rPr dirty="0" sz="1200">
                <a:latin typeface="Arial MT"/>
                <a:cs typeface="Arial MT"/>
              </a:rPr>
              <a:t>cram </a:t>
            </a:r>
            <a:r>
              <a:rPr dirty="0" sz="1200" spc="-5">
                <a:latin typeface="Arial MT"/>
                <a:cs typeface="Arial MT"/>
              </a:rPr>
              <a:t>something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remember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called maintenance rehearsal.</a:t>
            </a:r>
            <a:r>
              <a:rPr dirty="0" sz="1200">
                <a:latin typeface="Arial MT"/>
                <a:cs typeface="Arial MT"/>
              </a:rPr>
              <a:t> It </a:t>
            </a:r>
            <a:r>
              <a:rPr dirty="0" sz="1200" spc="-5">
                <a:latin typeface="Arial MT"/>
                <a:cs typeface="Arial MT"/>
              </a:rPr>
              <a:t>never becomes the </a:t>
            </a:r>
            <a:r>
              <a:rPr dirty="0" sz="1200">
                <a:latin typeface="Arial MT"/>
                <a:cs typeface="Arial MT"/>
              </a:rPr>
              <a:t>part of </a:t>
            </a:r>
            <a:r>
              <a:rPr dirty="0" sz="1200" spc="-5">
                <a:latin typeface="Arial MT"/>
                <a:cs typeface="Arial MT"/>
              </a:rPr>
              <a:t>long term memory.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memory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maintenance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rehearsal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last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till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5">
                <a:latin typeface="Arial MT"/>
                <a:cs typeface="Arial MT"/>
              </a:rPr>
              <a:t> needs.</a:t>
            </a:r>
            <a:endParaRPr sz="1200">
              <a:latin typeface="Arial MT"/>
              <a:cs typeface="Arial MT"/>
            </a:endParaRPr>
          </a:p>
          <a:p>
            <a:pPr marL="21590" marR="4912360">
              <a:lnSpc>
                <a:spcPct val="285000"/>
              </a:lnSpc>
              <a:spcBef>
                <a:spcPts val="65"/>
              </a:spcBef>
            </a:pPr>
            <a:r>
              <a:rPr dirty="0" sz="1200" spc="-5" b="1">
                <a:latin typeface="Arial"/>
                <a:cs typeface="Arial"/>
              </a:rPr>
              <a:t>Methods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Elaboration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Drawings</a:t>
            </a:r>
            <a:endParaRPr sz="1200">
              <a:latin typeface="Arial"/>
              <a:cs typeface="Arial"/>
            </a:endParaRPr>
          </a:p>
          <a:p>
            <a:pPr algn="just" marL="20320" marR="13335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Children read some text, one situation is that teacher may ask </a:t>
            </a:r>
            <a:r>
              <a:rPr dirty="0" sz="1200" spc="-10">
                <a:latin typeface="Arial MT"/>
                <a:cs typeface="Arial MT"/>
              </a:rPr>
              <a:t>some </a:t>
            </a:r>
            <a:r>
              <a:rPr dirty="0" sz="1200" spc="-5">
                <a:latin typeface="Arial MT"/>
                <a:cs typeface="Arial MT"/>
              </a:rPr>
              <a:t>questions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the end and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 can assess the understanding </a:t>
            </a:r>
            <a:r>
              <a:rPr dirty="0" sz="1200">
                <a:latin typeface="Arial MT"/>
                <a:cs typeface="Arial MT"/>
              </a:rPr>
              <a:t>level of </a:t>
            </a:r>
            <a:r>
              <a:rPr dirty="0" sz="1200" spc="-5">
                <a:latin typeface="Arial MT"/>
                <a:cs typeface="Arial MT"/>
              </a:rPr>
              <a:t>children. Second situation is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>
                <a:latin typeface="Arial MT"/>
                <a:cs typeface="Arial MT"/>
              </a:rPr>
              <a:t>may </a:t>
            </a:r>
            <a:r>
              <a:rPr dirty="0" sz="1200" spc="-5">
                <a:latin typeface="Arial MT"/>
                <a:cs typeface="Arial MT"/>
              </a:rPr>
              <a:t>ask them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pictorial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demonstration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 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on.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confusing.</a:t>
            </a:r>
            <a:endParaRPr sz="1200">
              <a:latin typeface="Arial MT"/>
              <a:cs typeface="Arial MT"/>
            </a:endParaRPr>
          </a:p>
          <a:p>
            <a:pPr algn="just" marL="13970">
              <a:lnSpc>
                <a:spcPct val="100000"/>
              </a:lnSpc>
              <a:spcBef>
                <a:spcPts val="465"/>
              </a:spcBef>
            </a:pP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represented differently.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8611"/>
            <a:ext cx="6631940" cy="239268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algn="just" marL="20320">
              <a:lnSpc>
                <a:spcPct val="100000"/>
              </a:lnSpc>
              <a:spcBef>
                <a:spcPts val="710"/>
              </a:spcBef>
            </a:pPr>
            <a:r>
              <a:rPr dirty="0" sz="1200" spc="-5" b="1">
                <a:latin typeface="Arial"/>
                <a:cs typeface="Arial"/>
              </a:rPr>
              <a:t>Metaphors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Analogies</a:t>
            </a:r>
            <a:endParaRPr sz="1200">
              <a:latin typeface="Arial"/>
              <a:cs typeface="Arial"/>
            </a:endParaRPr>
          </a:p>
          <a:p>
            <a:pPr algn="just" marL="18415" marR="571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elaboration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metaphor.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cell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find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metaphors.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Below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the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table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left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side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cell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right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side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metaphors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football.</a:t>
            </a:r>
            <a:r>
              <a:rPr dirty="0" sz="1200" spc="7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gave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thoughts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said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cell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like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football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game.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cell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central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point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nucleus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endParaRPr sz="1200">
              <a:latin typeface="Arial MT"/>
              <a:cs typeface="Arial MT"/>
            </a:endParaRPr>
          </a:p>
          <a:p>
            <a:pPr algn="just" marL="18415" marR="508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holds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whole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activity.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football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referee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controls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game.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keeper’s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function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also like a cell wall. Mitochondria gives energy to cell. Sports drink also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same functions.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Maybe the teachers have used the task analysis model but they asked the students to elaborate.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become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elaboration.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7219" y="3049777"/>
          <a:ext cx="6091555" cy="2461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015"/>
                <a:gridCol w="3041015"/>
              </a:tblGrid>
              <a:tr h="313944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Cell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Football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Nucleus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Referee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4928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Ribosome’s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92710">
                        <a:lnSpc>
                          <a:spcPct val="103499"/>
                        </a:lnSpc>
                        <a:spcBef>
                          <a:spcPts val="19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Red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Yellow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cards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given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referee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infractions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3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Cell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Wall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Goal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keeper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Cell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Membrane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Defensive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player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Cytoplasm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Game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field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Mitochondria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Sports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drinks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65480" y="5751703"/>
            <a:ext cx="6633209" cy="5995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Summarizing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own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words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Questioning</a:t>
            </a:r>
            <a:endParaRPr sz="1200">
              <a:latin typeface="Arial"/>
              <a:cs typeface="Arial"/>
            </a:endParaRPr>
          </a:p>
          <a:p>
            <a:pPr algn="just" marL="18415" marR="6350" indent="-6350">
              <a:lnSpc>
                <a:spcPts val="2080"/>
              </a:lnSpc>
              <a:spcBef>
                <a:spcPts val="140"/>
              </a:spcBef>
            </a:pP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>
                <a:latin typeface="Arial MT"/>
                <a:cs typeface="Arial MT"/>
              </a:rPr>
              <a:t>may ask </a:t>
            </a:r>
            <a:r>
              <a:rPr dirty="0" sz="1200" spc="-5">
                <a:latin typeface="Arial MT"/>
                <a:cs typeface="Arial MT"/>
              </a:rPr>
              <a:t>students to construct questions.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students are </a:t>
            </a:r>
            <a:r>
              <a:rPr dirty="0" sz="1200">
                <a:latin typeface="Arial MT"/>
                <a:cs typeface="Arial MT"/>
              </a:rPr>
              <a:t>more </a:t>
            </a:r>
            <a:r>
              <a:rPr dirty="0" sz="1200" spc="-5">
                <a:latin typeface="Arial MT"/>
                <a:cs typeface="Arial MT"/>
              </a:rPr>
              <a:t>important than 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teaches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biology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construct </a:t>
            </a:r>
            <a:r>
              <a:rPr dirty="0" sz="1200">
                <a:latin typeface="Arial MT"/>
                <a:cs typeface="Arial MT"/>
              </a:rPr>
              <a:t>four </a:t>
            </a:r>
            <a:r>
              <a:rPr dirty="0" sz="1200" spc="-5">
                <a:latin typeface="Arial MT"/>
                <a:cs typeface="Arial MT"/>
              </a:rPr>
              <a:t>such questions which are not in the book and also not discussed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class.</a:t>
            </a:r>
            <a:endParaRPr sz="1200">
              <a:latin typeface="Arial MT"/>
              <a:cs typeface="Arial MT"/>
            </a:endParaRPr>
          </a:p>
          <a:p>
            <a:pPr algn="just" marL="18415" marR="10160" indent="-6350">
              <a:lnSpc>
                <a:spcPts val="208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Definitely </a:t>
            </a:r>
            <a:r>
              <a:rPr dirty="0" sz="1200" spc="-5">
                <a:latin typeface="Arial MT"/>
                <a:cs typeface="Arial MT"/>
              </a:rPr>
              <a:t>children think a lot because 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construct those questions which are not in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 book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related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text. </a:t>
            </a:r>
            <a:r>
              <a:rPr dirty="0" sz="1200" spc="-5">
                <a:latin typeface="Arial MT"/>
                <a:cs typeface="Arial MT"/>
              </a:rPr>
              <a:t>Asking question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a skill.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 skill on student part also. Questioning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memory.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Questioning has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significance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value.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elaboration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</a:t>
            </a:r>
            <a:r>
              <a:rPr dirty="0" sz="1200" spc="-5">
                <a:latin typeface="Arial MT"/>
                <a:cs typeface="Arial MT"/>
              </a:rPr>
              <a:t> effective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strategy.</a:t>
            </a:r>
            <a:endParaRPr sz="1200">
              <a:latin typeface="Arial MT"/>
              <a:cs typeface="Arial MT"/>
            </a:endParaRPr>
          </a:p>
          <a:p>
            <a:pPr marL="20320" marR="4819015">
              <a:lnSpc>
                <a:spcPts val="4120"/>
              </a:lnSpc>
              <a:spcBef>
                <a:spcPts val="415"/>
              </a:spcBef>
            </a:pPr>
            <a:r>
              <a:rPr dirty="0" sz="1200" spc="-5" b="1">
                <a:latin typeface="Arial"/>
                <a:cs typeface="Arial"/>
              </a:rPr>
              <a:t>Ways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Visual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tools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Brainstorming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30"/>
              </a:spcBef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3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describe</a:t>
            </a:r>
            <a:r>
              <a:rPr dirty="0" sz="1200" spc="3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thing,</a:t>
            </a:r>
            <a:r>
              <a:rPr dirty="0" sz="1200" spc="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3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tool 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brainstorming.</a:t>
            </a:r>
            <a:r>
              <a:rPr dirty="0" sz="1200" spc="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3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brainstorming</a:t>
            </a:r>
            <a:r>
              <a:rPr dirty="0" sz="1200" spc="3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3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 spc="3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central</a:t>
            </a:r>
            <a:endParaRPr sz="1200">
              <a:latin typeface="Arial MT"/>
              <a:cs typeface="Arial MT"/>
            </a:endParaRPr>
          </a:p>
          <a:p>
            <a:pPr algn="just" marL="18415" marR="508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information in the middle and than ask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come up with their ideas, we write everything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around that central place. The important thing in brainstorming is that you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reject ideas.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 write </a:t>
            </a:r>
            <a:r>
              <a:rPr dirty="0" sz="1200">
                <a:latin typeface="Arial MT"/>
                <a:cs typeface="Arial MT"/>
              </a:rPr>
              <a:t>every </a:t>
            </a:r>
            <a:r>
              <a:rPr dirty="0" sz="1200" spc="-5">
                <a:latin typeface="Arial MT"/>
                <a:cs typeface="Arial MT"/>
              </a:rPr>
              <a:t>idea; the step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omission comes </a:t>
            </a:r>
            <a:r>
              <a:rPr dirty="0" sz="1200">
                <a:latin typeface="Arial MT"/>
                <a:cs typeface="Arial MT"/>
              </a:rPr>
              <a:t>later. For </a:t>
            </a:r>
            <a:r>
              <a:rPr dirty="0" sz="1200" spc="-5">
                <a:latin typeface="Arial MT"/>
                <a:cs typeface="Arial MT"/>
              </a:rPr>
              <a:t>example we take the </a:t>
            </a:r>
            <a:r>
              <a:rPr dirty="0" sz="1200">
                <a:latin typeface="Arial MT"/>
                <a:cs typeface="Arial MT"/>
              </a:rPr>
              <a:t>central </a:t>
            </a:r>
            <a:r>
              <a:rPr dirty="0" sz="1200" spc="-5">
                <a:latin typeface="Arial MT"/>
                <a:cs typeface="Arial MT"/>
              </a:rPr>
              <a:t>idea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Fish.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come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regarding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Fish,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maybe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relevant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>
                <a:latin typeface="Arial MT"/>
                <a:cs typeface="Arial MT"/>
              </a:rPr>
              <a:t> give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irrelevant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thoughts.</a:t>
            </a:r>
            <a:endParaRPr sz="1200">
              <a:latin typeface="Arial MT"/>
              <a:cs typeface="Arial MT"/>
            </a:endParaRPr>
          </a:p>
          <a:p>
            <a:pPr algn="just" marL="18415" marR="10160" indent="-6350">
              <a:lnSpc>
                <a:spcPct val="1441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Teacher should remain relaxed while doing brainstorming. In brainstorming we are inviting ideas </a:t>
            </a:r>
            <a:r>
              <a:rPr dirty="0" sz="1200">
                <a:latin typeface="Arial MT"/>
                <a:cs typeface="Arial MT"/>
              </a:rPr>
              <a:t> from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noise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relaxed.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838962"/>
            <a:ext cx="6635115" cy="569722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710"/>
              </a:spcBef>
            </a:pPr>
            <a:r>
              <a:rPr dirty="0" sz="1200" b="1">
                <a:latin typeface="Arial"/>
                <a:cs typeface="Arial"/>
              </a:rPr>
              <a:t>Suggestions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Relax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Don’t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worry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organization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Think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quantity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positive, don’t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criticize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Keep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simple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Develop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Keep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Combine 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improve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other’s ideas</a:t>
            </a:r>
            <a:endParaRPr sz="1200">
              <a:latin typeface="Arial MT"/>
              <a:cs typeface="Arial MT"/>
            </a:endParaRPr>
          </a:p>
          <a:p>
            <a:pPr marL="18415" marR="13970" indent="-6350">
              <a:lnSpc>
                <a:spcPct val="144200"/>
              </a:lnSpc>
              <a:spcBef>
                <a:spcPts val="985"/>
              </a:spcBef>
            </a:pPr>
            <a:r>
              <a:rPr dirty="0" sz="1200" spc="-5">
                <a:latin typeface="Arial MT"/>
                <a:cs typeface="Arial MT"/>
              </a:rPr>
              <a:t>Brainstorming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effective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strategy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gain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describe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something.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maybe used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both purposes.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Comparing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Contrasting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Another visual tool is comparing and contrasting. There are a </a:t>
            </a:r>
            <a:r>
              <a:rPr dirty="0" sz="1200" spc="-10">
                <a:latin typeface="Arial MT"/>
                <a:cs typeface="Arial MT"/>
              </a:rPr>
              <a:t>lot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similar or contrast things </a:t>
            </a:r>
            <a:r>
              <a:rPr dirty="0" sz="1200" spc="-20">
                <a:latin typeface="Arial MT"/>
                <a:cs typeface="Arial MT"/>
              </a:rPr>
              <a:t>in 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spring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summer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season.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important tool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comparing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contrasting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b="1">
                <a:latin typeface="Arial"/>
                <a:cs typeface="Arial"/>
              </a:rPr>
              <a:t>Venn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5"/>
              </a:spcBef>
            </a:pPr>
            <a:r>
              <a:rPr dirty="0" sz="1200" b="1">
                <a:latin typeface="Arial"/>
                <a:cs typeface="Arial"/>
              </a:rPr>
              <a:t>Diagram</a:t>
            </a:r>
            <a:r>
              <a:rPr dirty="0" sz="1200">
                <a:latin typeface="Arial MT"/>
                <a:cs typeface="Arial MT"/>
              </a:rPr>
              <a:t>. </a:t>
            </a:r>
            <a:r>
              <a:rPr dirty="0" sz="1200" spc="-5">
                <a:latin typeface="Arial MT"/>
                <a:cs typeface="Arial MT"/>
              </a:rPr>
              <a:t>Depending upon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concepts,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have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concepts we use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circles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compare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contrast. Overlapping area will be that area where we will write the similarities.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areas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overlap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>
                <a:latin typeface="Arial MT"/>
                <a:cs typeface="Arial MT"/>
              </a:rPr>
              <a:t> different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19"/>
              </a:spcBef>
            </a:pPr>
            <a:r>
              <a:rPr dirty="0" sz="1200" spc="-5" b="1">
                <a:latin typeface="Arial"/>
                <a:cs typeface="Arial"/>
              </a:rPr>
              <a:t>Classification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615"/>
              </a:spcBef>
            </a:pP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5">
                <a:latin typeface="Arial MT"/>
                <a:cs typeface="Arial MT"/>
              </a:rPr>
              <a:t> is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visual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tool to </a:t>
            </a:r>
            <a:r>
              <a:rPr dirty="0" sz="1200">
                <a:latin typeface="Arial MT"/>
                <a:cs typeface="Arial MT"/>
              </a:rPr>
              <a:t>classify </a:t>
            </a:r>
            <a:r>
              <a:rPr dirty="0" sz="1200" spc="-5">
                <a:latin typeface="Arial MT"/>
                <a:cs typeface="Arial MT"/>
              </a:rPr>
              <a:t>something.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9554718"/>
            <a:ext cx="6627495" cy="10801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8415" marR="5080" indent="-6350">
              <a:lnSpc>
                <a:spcPct val="143700"/>
              </a:lnSpc>
              <a:spcBef>
                <a:spcPts val="95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description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seven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unrelated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units.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whole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presented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one unit in </a:t>
            </a:r>
            <a:r>
              <a:rPr dirty="0" sz="1200">
                <a:latin typeface="Arial MT"/>
                <a:cs typeface="Arial MT"/>
              </a:rPr>
              <a:t>the form of </a:t>
            </a:r>
            <a:r>
              <a:rPr dirty="0" sz="1200" spc="-5">
                <a:latin typeface="Arial MT"/>
                <a:cs typeface="Arial MT"/>
              </a:rPr>
              <a:t>a picture. Children </a:t>
            </a:r>
            <a:r>
              <a:rPr dirty="0" sz="1200" spc="-10">
                <a:latin typeface="Arial MT"/>
                <a:cs typeface="Arial MT"/>
              </a:rPr>
              <a:t>will </a:t>
            </a:r>
            <a:r>
              <a:rPr dirty="0" sz="1200" spc="-5">
                <a:latin typeface="Arial MT"/>
                <a:cs typeface="Arial MT"/>
              </a:rPr>
              <a:t>be able to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many </a:t>
            </a:r>
            <a:r>
              <a:rPr dirty="0" sz="1200">
                <a:latin typeface="Arial MT"/>
                <a:cs typeface="Arial MT"/>
              </a:rPr>
              <a:t>other </a:t>
            </a:r>
            <a:r>
              <a:rPr dirty="0" sz="1200" spc="-5">
                <a:latin typeface="Arial MT"/>
                <a:cs typeface="Arial MT"/>
              </a:rPr>
              <a:t>things. Images occupy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space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memory.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always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endParaRPr sz="12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660"/>
              </a:spcBef>
            </a:pPr>
            <a:r>
              <a:rPr dirty="0" sz="1200">
                <a:latin typeface="Arial MT"/>
                <a:cs typeface="Arial MT"/>
              </a:rPr>
              <a:t>visual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tools.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944" y="7060692"/>
            <a:ext cx="5918835" cy="246862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918464"/>
            <a:ext cx="6625590" cy="993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Table</a:t>
            </a:r>
            <a:r>
              <a:rPr dirty="0" u="heavy" sz="120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thinking</a:t>
            </a:r>
            <a:r>
              <a:rPr dirty="0" u="heavy" sz="120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tool.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Arial"/>
              <a:cs typeface="Arial"/>
            </a:endParaRPr>
          </a:p>
          <a:p>
            <a:pPr marL="18415" marR="5080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tool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easier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table.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Below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table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tool.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8744" y="2181098"/>
          <a:ext cx="6091555" cy="1259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7555"/>
                <a:gridCol w="2026920"/>
                <a:gridCol w="2026920"/>
              </a:tblGrid>
              <a:tr h="31241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Gas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Liquid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Solid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compressed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Take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shape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Can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not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be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compressed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Steam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Water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Ice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Cylinder,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balloon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Containers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Independent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structures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65480" y="3678681"/>
            <a:ext cx="4488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Average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act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like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achievers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visual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tools.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5572" y="4726559"/>
            <a:ext cx="6972300" cy="59944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77470" marR="67945" indent="-6350">
              <a:lnSpc>
                <a:spcPts val="2230"/>
              </a:lnSpc>
              <a:spcBef>
                <a:spcPts val="25"/>
              </a:spcBef>
              <a:tabLst>
                <a:tab pos="1012825" algn="l"/>
                <a:tab pos="1334135" algn="l"/>
                <a:tab pos="1769110" algn="l"/>
                <a:tab pos="2890520" algn="l"/>
                <a:tab pos="3324225" algn="l"/>
                <a:tab pos="4344035" algn="l"/>
                <a:tab pos="6071235" algn="l"/>
              </a:tabLst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21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“Mo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el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	of	Le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n	O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gan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zatio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”	Le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ture 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objectives: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5480" y="5401182"/>
            <a:ext cx="6634480" cy="6142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upon: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Presentation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 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useful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teaching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teach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concepts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procedures.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Modes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presentation</a:t>
            </a:r>
            <a:r>
              <a:rPr dirty="0" sz="1200" b="1">
                <a:latin typeface="Arial"/>
                <a:cs typeface="Arial"/>
              </a:rPr>
              <a:t> i.e.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Inductive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deductive.</a:t>
            </a:r>
            <a:endParaRPr sz="1200">
              <a:latin typeface="Arial"/>
              <a:cs typeface="Arial"/>
            </a:endParaRPr>
          </a:p>
          <a:p>
            <a:pPr marL="469900" marR="5080" indent="-228600">
              <a:lnSpc>
                <a:spcPts val="2080"/>
              </a:lnSpc>
              <a:spcBef>
                <a:spcPts val="15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Two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models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lesson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organization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i.e.</a:t>
            </a:r>
            <a:r>
              <a:rPr dirty="0" sz="1200" spc="1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analysis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Advance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organizer.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Identified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5" b="1">
                <a:latin typeface="Arial"/>
                <a:cs typeface="Arial"/>
              </a:rPr>
              <a:t> use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two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Arial"/>
              <a:cs typeface="Arial"/>
            </a:endParaRPr>
          </a:p>
          <a:p>
            <a:pPr algn="just" marL="18415" marR="5715" indent="-6350">
              <a:lnSpc>
                <a:spcPct val="1442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“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Presentation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teaching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where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presents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procedures.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This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 is used when we are expecting from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to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concepts and procedures.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 Task </a:t>
            </a:r>
            <a:r>
              <a:rPr dirty="0" sz="1200" spc="-5">
                <a:latin typeface="Arial MT"/>
                <a:cs typeface="Arial MT"/>
              </a:rPr>
              <a:t>Analysis Model, the children learn procedures, but their conceptual understanding also takes </a:t>
            </a:r>
            <a:r>
              <a:rPr dirty="0" sz="1200">
                <a:latin typeface="Arial MT"/>
                <a:cs typeface="Arial MT"/>
              </a:rPr>
              <a:t> place.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20"/>
              </a:spcBef>
            </a:pP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methods, Concept Analysis Model and Advanced Organizer are used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different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 </a:t>
            </a:r>
            <a:r>
              <a:rPr dirty="0" sz="1200">
                <a:latin typeface="Arial MT"/>
                <a:cs typeface="Arial MT"/>
              </a:rPr>
              <a:t>to the </a:t>
            </a:r>
            <a:r>
              <a:rPr dirty="0" sz="1200" spc="-5">
                <a:latin typeface="Arial MT"/>
                <a:cs typeface="Arial MT"/>
              </a:rPr>
              <a:t>students. </a:t>
            </a:r>
            <a:r>
              <a:rPr dirty="0" sz="1200" spc="-5" b="1">
                <a:latin typeface="Arial"/>
                <a:cs typeface="Arial"/>
              </a:rPr>
              <a:t>Concepts are basically ideas; they could </a:t>
            </a:r>
            <a:r>
              <a:rPr dirty="0" sz="1200" b="1">
                <a:latin typeface="Arial"/>
                <a:cs typeface="Arial"/>
              </a:rPr>
              <a:t>be </a:t>
            </a:r>
            <a:r>
              <a:rPr dirty="0" sz="1200" spc="-5" b="1">
                <a:latin typeface="Arial"/>
                <a:cs typeface="Arial"/>
              </a:rPr>
              <a:t>one </a:t>
            </a:r>
            <a:r>
              <a:rPr dirty="0" sz="1200" spc="5" b="1">
                <a:latin typeface="Arial"/>
                <a:cs typeface="Arial"/>
              </a:rPr>
              <a:t>word </a:t>
            </a:r>
            <a:r>
              <a:rPr dirty="0" sz="1200" spc="-5" b="1">
                <a:latin typeface="Arial"/>
                <a:cs typeface="Arial"/>
              </a:rPr>
              <a:t>ideas, </a:t>
            </a:r>
            <a:r>
              <a:rPr dirty="0" sz="1200" b="1">
                <a:latin typeface="Arial"/>
                <a:cs typeface="Arial"/>
              </a:rPr>
              <a:t>two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word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ideas,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any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statements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generalizations.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generalizations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could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taught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</a:pPr>
            <a:r>
              <a:rPr dirty="0" sz="1200" spc="-5">
                <a:latin typeface="Arial MT"/>
                <a:cs typeface="Arial MT"/>
              </a:rPr>
              <a:t>presentations.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200" spc="-5">
                <a:latin typeface="Arial MT"/>
                <a:cs typeface="Arial MT"/>
              </a:rPr>
              <a:t>Examples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word</a:t>
            </a:r>
            <a:r>
              <a:rPr dirty="0" sz="1200" spc="-5">
                <a:latin typeface="Arial MT"/>
                <a:cs typeface="Arial MT"/>
              </a:rPr>
              <a:t> concepts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are: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Beauty,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food, energy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etc.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“Modes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of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presentation: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Deductive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&amp;</a:t>
            </a:r>
            <a:r>
              <a:rPr dirty="0" sz="1400" spc="-5" b="1">
                <a:latin typeface="Arial"/>
                <a:cs typeface="Arial"/>
              </a:rPr>
              <a:t> Inductive”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335"/>
              </a:spcBef>
              <a:buSzPct val="116666"/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Deductive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mode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(General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specific)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20"/>
              </a:spcBef>
              <a:buSzPct val="116666"/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Inductive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(Specific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general)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916940"/>
            <a:ext cx="6634480" cy="7082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Example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deductive</a:t>
            </a:r>
            <a:r>
              <a:rPr dirty="0" sz="1200" b="1">
                <a:latin typeface="Arial"/>
                <a:cs typeface="Arial"/>
              </a:rPr>
              <a:t> and </a:t>
            </a:r>
            <a:r>
              <a:rPr dirty="0" sz="1200" spc="-5" b="1">
                <a:latin typeface="Arial"/>
                <a:cs typeface="Arial"/>
              </a:rPr>
              <a:t>inductive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Deductive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method:</a:t>
            </a:r>
            <a:endParaRPr sz="1200">
              <a:latin typeface="Arial"/>
              <a:cs typeface="Arial"/>
            </a:endParaRPr>
          </a:p>
          <a:p>
            <a:pPr algn="just" marL="18415" marR="571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Teacher tells the students that </a:t>
            </a:r>
            <a:r>
              <a:rPr dirty="0" sz="1200" b="1">
                <a:latin typeface="Arial"/>
                <a:cs typeface="Arial"/>
              </a:rPr>
              <a:t>‘Water is </a:t>
            </a:r>
            <a:r>
              <a:rPr dirty="0" sz="1200" spc="-5" b="1">
                <a:latin typeface="Arial"/>
                <a:cs typeface="Arial"/>
              </a:rPr>
              <a:t>necessary for </a:t>
            </a:r>
            <a:r>
              <a:rPr dirty="0" sz="1200" b="1">
                <a:latin typeface="Arial"/>
                <a:cs typeface="Arial"/>
              </a:rPr>
              <a:t>plants to grow’. </a:t>
            </a:r>
            <a:r>
              <a:rPr dirty="0" sz="1200" spc="-10">
                <a:latin typeface="Arial MT"/>
                <a:cs typeface="Arial MT"/>
              </a:rPr>
              <a:t>Now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10">
                <a:latin typeface="Arial MT"/>
                <a:cs typeface="Arial MT"/>
              </a:rPr>
              <a:t>teacher </a:t>
            </a:r>
            <a:r>
              <a:rPr dirty="0" sz="1200">
                <a:latin typeface="Arial MT"/>
                <a:cs typeface="Arial MT"/>
              </a:rPr>
              <a:t>asks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prove </a:t>
            </a:r>
            <a:r>
              <a:rPr dirty="0" sz="1200">
                <a:latin typeface="Arial MT"/>
                <a:cs typeface="Arial MT"/>
              </a:rPr>
              <a:t>it. </a:t>
            </a:r>
            <a:r>
              <a:rPr dirty="0" sz="1200" spc="-5">
                <a:latin typeface="Arial MT"/>
                <a:cs typeface="Arial MT"/>
              </a:rPr>
              <a:t>He gives them a </a:t>
            </a:r>
            <a:r>
              <a:rPr dirty="0" sz="1200">
                <a:latin typeface="Arial MT"/>
                <a:cs typeface="Arial MT"/>
              </a:rPr>
              <a:t>task </a:t>
            </a:r>
            <a:r>
              <a:rPr dirty="0" sz="1200" spc="-5">
                <a:latin typeface="Arial MT"/>
                <a:cs typeface="Arial MT"/>
              </a:rPr>
              <a:t>to put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plants in the sunlight. Give </a:t>
            </a:r>
            <a:r>
              <a:rPr dirty="0" sz="1200">
                <a:latin typeface="Arial MT"/>
                <a:cs typeface="Arial MT"/>
              </a:rPr>
              <a:t>water </a:t>
            </a:r>
            <a:r>
              <a:rPr dirty="0" sz="1200" spc="-5">
                <a:latin typeface="Arial MT"/>
                <a:cs typeface="Arial MT"/>
              </a:rPr>
              <a:t>daily to one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plants, and observe them after 15 days and </a:t>
            </a:r>
            <a:r>
              <a:rPr dirty="0" sz="1200">
                <a:latin typeface="Arial MT"/>
                <a:cs typeface="Arial MT"/>
              </a:rPr>
              <a:t>tell </a:t>
            </a:r>
            <a:r>
              <a:rPr dirty="0" sz="1200" spc="-5">
                <a:latin typeface="Arial MT"/>
                <a:cs typeface="Arial MT"/>
              </a:rPr>
              <a:t>which plant grows and which one is withered.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proving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water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grow.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40"/>
              </a:spcBef>
            </a:pPr>
            <a:r>
              <a:rPr dirty="0" sz="1200" b="1">
                <a:latin typeface="Arial"/>
                <a:cs typeface="Arial"/>
              </a:rPr>
              <a:t>Inductive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Method:</a:t>
            </a:r>
            <a:endParaRPr sz="1200">
              <a:latin typeface="Arial"/>
              <a:cs typeface="Arial"/>
            </a:endParaRPr>
          </a:p>
          <a:p>
            <a:pPr algn="just" marL="18415" indent="-6350">
              <a:lnSpc>
                <a:spcPct val="100000"/>
              </a:lnSpc>
              <a:spcBef>
                <a:spcPts val="615"/>
              </a:spcBef>
            </a:pPr>
            <a:r>
              <a:rPr dirty="0" sz="1200" spc="-5">
                <a:latin typeface="Arial MT"/>
                <a:cs typeface="Arial MT"/>
              </a:rPr>
              <a:t>Here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tell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water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necessary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plants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grow.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directly</a:t>
            </a:r>
            <a:endParaRPr sz="1200">
              <a:latin typeface="Arial MT"/>
              <a:cs typeface="Arial MT"/>
            </a:endParaRPr>
          </a:p>
          <a:p>
            <a:pPr algn="just" marL="18415" marR="5080">
              <a:lnSpc>
                <a:spcPct val="144000"/>
              </a:lnSpc>
            </a:pPr>
            <a:r>
              <a:rPr dirty="0" sz="1200" spc="-5">
                <a:latin typeface="Arial MT"/>
                <a:cs typeface="Arial MT"/>
              </a:rPr>
              <a:t>gives an experiment to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students;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put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plants in sunlight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15 days, give </a:t>
            </a:r>
            <a:r>
              <a:rPr dirty="0" sz="1200">
                <a:latin typeface="Arial MT"/>
                <a:cs typeface="Arial MT"/>
              </a:rPr>
              <a:t>water </a:t>
            </a:r>
            <a:r>
              <a:rPr dirty="0" sz="1200" spc="-5">
                <a:latin typeface="Arial MT"/>
                <a:cs typeface="Arial MT"/>
              </a:rPr>
              <a:t>to one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and leave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other as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in sun. </a:t>
            </a:r>
            <a:r>
              <a:rPr dirty="0" sz="1200">
                <a:latin typeface="Arial MT"/>
                <a:cs typeface="Arial MT"/>
              </a:rPr>
              <a:t>Give </a:t>
            </a:r>
            <a:r>
              <a:rPr dirty="0" sz="1200" spc="-5">
                <a:latin typeface="Arial MT"/>
                <a:cs typeface="Arial MT"/>
              </a:rPr>
              <a:t>a result </a:t>
            </a:r>
            <a:r>
              <a:rPr dirty="0" sz="1200">
                <a:latin typeface="Arial MT"/>
                <a:cs typeface="Arial MT"/>
              </a:rPr>
              <a:t>after </a:t>
            </a:r>
            <a:r>
              <a:rPr dirty="0" sz="1200" spc="-5">
                <a:latin typeface="Arial MT"/>
                <a:cs typeface="Arial MT"/>
              </a:rPr>
              <a:t>15 days that what happen </a:t>
            </a:r>
            <a:r>
              <a:rPr dirty="0" sz="1200">
                <a:latin typeface="Arial MT"/>
                <a:cs typeface="Arial MT"/>
              </a:rPr>
              <a:t>to the </a:t>
            </a:r>
            <a:r>
              <a:rPr dirty="0" sz="1200" spc="-5">
                <a:latin typeface="Arial MT"/>
                <a:cs typeface="Arial MT"/>
              </a:rPr>
              <a:t>plants.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Now after experimenting,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will give a conclusion that plants need </a:t>
            </a:r>
            <a:r>
              <a:rPr dirty="0" sz="1200">
                <a:latin typeface="Arial MT"/>
                <a:cs typeface="Arial MT"/>
              </a:rPr>
              <a:t>water to </a:t>
            </a:r>
            <a:r>
              <a:rPr dirty="0" sz="1200" spc="-5">
                <a:latin typeface="Arial MT"/>
                <a:cs typeface="Arial MT"/>
              </a:rPr>
              <a:t>grow,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 such conclusion </a:t>
            </a:r>
            <a:r>
              <a:rPr dirty="0" sz="1200">
                <a:latin typeface="Arial MT"/>
                <a:cs typeface="Arial MT"/>
              </a:rPr>
              <a:t>then it </a:t>
            </a:r>
            <a:r>
              <a:rPr dirty="0" sz="1200" spc="-5">
                <a:latin typeface="Arial MT"/>
                <a:cs typeface="Arial MT"/>
              </a:rPr>
              <a:t>is definitely an inductive mode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presentation.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b="1">
                <a:latin typeface="Arial"/>
                <a:cs typeface="Arial"/>
              </a:rPr>
              <a:t>Deductive </a:t>
            </a:r>
            <a:r>
              <a:rPr dirty="0" sz="1200" spc="-5" b="1">
                <a:latin typeface="Arial"/>
                <a:cs typeface="Arial"/>
              </a:rPr>
              <a:t>and </a:t>
            </a:r>
            <a:r>
              <a:rPr dirty="0" sz="1200" b="1">
                <a:latin typeface="Arial"/>
                <a:cs typeface="Arial"/>
              </a:rPr>
              <a:t> inductive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not </a:t>
            </a:r>
            <a:r>
              <a:rPr dirty="0" sz="1200" spc="-5" b="1">
                <a:latin typeface="Arial"/>
                <a:cs typeface="Arial"/>
              </a:rPr>
              <a:t>only</a:t>
            </a:r>
            <a:r>
              <a:rPr dirty="0" sz="1200" b="1">
                <a:latin typeface="Arial"/>
                <a:cs typeface="Arial"/>
              </a:rPr>
              <a:t> the modes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presentation</a:t>
            </a:r>
            <a:r>
              <a:rPr dirty="0" sz="1200" b="1">
                <a:latin typeface="Arial"/>
                <a:cs typeface="Arial"/>
              </a:rPr>
              <a:t> but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modes of </a:t>
            </a:r>
            <a:r>
              <a:rPr dirty="0" sz="1200" spc="-5" b="1">
                <a:latin typeface="Arial"/>
                <a:cs typeface="Arial"/>
              </a:rPr>
              <a:t>experiments</a:t>
            </a:r>
            <a:endParaRPr sz="12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660"/>
              </a:spcBef>
            </a:pPr>
            <a:r>
              <a:rPr dirty="0" sz="1200" b="1">
                <a:latin typeface="Arial"/>
                <a:cs typeface="Arial"/>
              </a:rPr>
              <a:t>also.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“Concept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Analysis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Model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planning tool”</a:t>
            </a:r>
            <a:endParaRPr sz="14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60"/>
              </a:spcBef>
            </a:pP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Analysis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5">
                <a:latin typeface="Arial MT"/>
                <a:cs typeface="Arial MT"/>
              </a:rPr>
              <a:t> good model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 different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There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five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components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Concept </a:t>
            </a:r>
            <a:r>
              <a:rPr dirty="0" sz="1200" spc="-5" b="1">
                <a:latin typeface="Arial"/>
                <a:cs typeface="Arial"/>
              </a:rPr>
              <a:t>Analysis</a:t>
            </a:r>
            <a:r>
              <a:rPr dirty="0" sz="1200" b="1">
                <a:latin typeface="Arial"/>
                <a:cs typeface="Arial"/>
              </a:rPr>
              <a:t> Model:</a:t>
            </a:r>
            <a:endParaRPr sz="12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610"/>
              </a:spcBef>
            </a:pPr>
            <a:r>
              <a:rPr dirty="0" sz="1200" spc="-5" b="1">
                <a:latin typeface="Arial"/>
                <a:cs typeface="Arial"/>
              </a:rPr>
              <a:t>Concepts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have: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Name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Definition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Characteristics/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Critical attributes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Examples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non-examples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Hierarchy: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 are </a:t>
            </a:r>
            <a:r>
              <a:rPr dirty="0" sz="1200">
                <a:latin typeface="Arial MT"/>
                <a:cs typeface="Arial MT"/>
              </a:rPr>
              <a:t>higher,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lower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5">
                <a:latin typeface="Arial MT"/>
                <a:cs typeface="Arial MT"/>
              </a:rPr>
              <a:t> concept.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7972425"/>
            <a:ext cx="4971415" cy="882015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905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Superordinate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concepts: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upper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level.</a:t>
            </a:r>
            <a:endParaRPr sz="1200">
              <a:latin typeface="Arial MT"/>
              <a:cs typeface="Arial MT"/>
            </a:endParaRPr>
          </a:p>
          <a:p>
            <a:pPr marL="240665" indent="-228600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Coordinate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concepts: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concept.</a:t>
            </a:r>
            <a:endParaRPr sz="1200">
              <a:latin typeface="Arial MT"/>
              <a:cs typeface="Arial MT"/>
            </a:endParaRPr>
          </a:p>
          <a:p>
            <a:pPr marL="240665" indent="-228600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Subordinate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concepts: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lower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812" y="8730779"/>
            <a:ext cx="2308225" cy="61277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910"/>
              </a:spcBef>
            </a:pPr>
            <a:r>
              <a:rPr dirty="0" sz="1400" b="1">
                <a:latin typeface="Arial"/>
                <a:cs typeface="Arial"/>
              </a:rPr>
              <a:t>Example: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Concept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Noun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200" b="1">
                <a:latin typeface="Arial"/>
                <a:cs typeface="Arial"/>
              </a:rPr>
              <a:t>Name: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6019" y="9135236"/>
            <a:ext cx="3905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>
                <a:latin typeface="Arial MT"/>
                <a:cs typeface="Arial MT"/>
              </a:rPr>
              <a:t>u</a:t>
            </a:r>
            <a:r>
              <a:rPr dirty="0" sz="1200" spc="-5">
                <a:latin typeface="Arial MT"/>
                <a:cs typeface="Arial MT"/>
              </a:rPr>
              <a:t>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8716" y="9423654"/>
            <a:ext cx="779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Definition: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9468" y="9868661"/>
            <a:ext cx="1820545" cy="1167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8105" marR="599440" indent="-18415">
              <a:lnSpc>
                <a:spcPct val="1558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C</a:t>
            </a:r>
            <a:r>
              <a:rPr dirty="0" sz="1200" spc="-5" b="1">
                <a:latin typeface="Arial"/>
                <a:cs typeface="Arial"/>
              </a:rPr>
              <a:t>h</a:t>
            </a:r>
            <a:r>
              <a:rPr dirty="0" sz="1200" spc="-5" b="1">
                <a:latin typeface="Arial"/>
                <a:cs typeface="Arial"/>
              </a:rPr>
              <a:t>arac</a:t>
            </a:r>
            <a:r>
              <a:rPr dirty="0" sz="1200" spc="-5" b="1">
                <a:latin typeface="Arial"/>
                <a:cs typeface="Arial"/>
              </a:rPr>
              <a:t>ter</a:t>
            </a:r>
            <a:r>
              <a:rPr dirty="0" sz="1200" spc="-10" b="1">
                <a:latin typeface="Arial"/>
                <a:cs typeface="Arial"/>
              </a:rPr>
              <a:t>i</a:t>
            </a:r>
            <a:r>
              <a:rPr dirty="0" sz="1200" spc="-5" b="1">
                <a:latin typeface="Arial"/>
                <a:cs typeface="Arial"/>
              </a:rPr>
              <a:t>s</a:t>
            </a:r>
            <a:r>
              <a:rPr dirty="0" sz="1200" b="1">
                <a:latin typeface="Arial"/>
                <a:cs typeface="Arial"/>
              </a:rPr>
              <a:t>tic</a:t>
            </a:r>
            <a:r>
              <a:rPr dirty="0" sz="1200" spc="-5" b="1">
                <a:latin typeface="Arial"/>
                <a:cs typeface="Arial"/>
              </a:rPr>
              <a:t>s</a:t>
            </a:r>
            <a:r>
              <a:rPr dirty="0" sz="1200" b="1">
                <a:latin typeface="Arial"/>
                <a:cs typeface="Arial"/>
              </a:rPr>
              <a:t>:  </a:t>
            </a:r>
            <a:r>
              <a:rPr dirty="0" sz="1200" spc="-5" b="1">
                <a:latin typeface="Arial"/>
                <a:cs typeface="Arial"/>
              </a:rPr>
              <a:t>Examples:</a:t>
            </a:r>
            <a:endParaRPr sz="1200">
              <a:latin typeface="Arial"/>
              <a:cs typeface="Arial"/>
            </a:endParaRPr>
          </a:p>
          <a:p>
            <a:pPr marL="12700" marR="5080" indent="42545">
              <a:lnSpc>
                <a:spcPct val="155800"/>
              </a:lnSpc>
              <a:spcBef>
                <a:spcPts val="10"/>
              </a:spcBef>
            </a:pPr>
            <a:r>
              <a:rPr dirty="0" sz="1200" spc="-5" b="1">
                <a:latin typeface="Arial"/>
                <a:cs typeface="Arial"/>
              </a:rPr>
              <a:t>Non-examples: </a:t>
            </a:r>
            <a:r>
              <a:rPr dirty="0" sz="1200" b="1">
                <a:latin typeface="Arial"/>
                <a:cs typeface="Arial"/>
              </a:rPr>
              <a:t> Superordinate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659" y="11372798"/>
            <a:ext cx="15925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Coordinate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21407" y="9341358"/>
            <a:ext cx="4122420" cy="224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4675" marR="71120" indent="-266700">
              <a:lnSpc>
                <a:spcPct val="145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Name of </a:t>
            </a:r>
            <a:r>
              <a:rPr dirty="0" sz="1200" spc="-5">
                <a:latin typeface="Arial MT"/>
                <a:cs typeface="Arial MT"/>
              </a:rPr>
              <a:t>a thing, place, person </a:t>
            </a:r>
            <a:r>
              <a:rPr dirty="0" sz="1200">
                <a:latin typeface="Arial MT"/>
                <a:cs typeface="Arial MT"/>
              </a:rPr>
              <a:t>or abstract </a:t>
            </a:r>
            <a:r>
              <a:rPr dirty="0" sz="1200" spc="-5">
                <a:latin typeface="Arial MT"/>
                <a:cs typeface="Arial MT"/>
              </a:rPr>
              <a:t>entities (Like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birth, happiness,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magnetism)</a:t>
            </a:r>
            <a:endParaRPr sz="1200">
              <a:latin typeface="Arial MT"/>
              <a:cs typeface="Arial MT"/>
            </a:endParaRPr>
          </a:p>
          <a:p>
            <a:pPr marL="248285" marR="5080" indent="-85725">
              <a:lnSpc>
                <a:spcPts val="2240"/>
              </a:lnSpc>
              <a:spcBef>
                <a:spcPts val="185"/>
              </a:spcBef>
            </a:pPr>
            <a:r>
              <a:rPr dirty="0" sz="1200" spc="-5">
                <a:latin typeface="Arial MT"/>
                <a:cs typeface="Arial MT"/>
              </a:rPr>
              <a:t>Endings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(painter,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scientist,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magnetism),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plurals.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River,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capitalism,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capital,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Kamran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etc.</a:t>
            </a:r>
            <a:endParaRPr sz="1200">
              <a:latin typeface="Arial MT"/>
              <a:cs typeface="Arial MT"/>
            </a:endParaRPr>
          </a:p>
          <a:p>
            <a:pPr marL="234950">
              <a:lnSpc>
                <a:spcPct val="100000"/>
              </a:lnSpc>
              <a:spcBef>
                <a:spcPts val="615"/>
              </a:spcBef>
            </a:pPr>
            <a:r>
              <a:rPr dirty="0" sz="1200" spc="-5">
                <a:latin typeface="Arial MT"/>
                <a:cs typeface="Arial MT"/>
              </a:rPr>
              <a:t>Eating,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walking,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standing,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reading etc.</a:t>
            </a:r>
            <a:endParaRPr sz="1200">
              <a:latin typeface="Arial MT"/>
              <a:cs typeface="Arial MT"/>
            </a:endParaRPr>
          </a:p>
          <a:p>
            <a:pPr marL="350520" marR="66675" indent="-338455">
              <a:lnSpc>
                <a:spcPct val="145000"/>
              </a:lnSpc>
              <a:spcBef>
                <a:spcPts val="155"/>
              </a:spcBef>
            </a:pPr>
            <a:r>
              <a:rPr dirty="0" sz="1200">
                <a:latin typeface="Arial MT"/>
                <a:cs typeface="Arial MT"/>
              </a:rPr>
              <a:t>Noun </a:t>
            </a:r>
            <a:r>
              <a:rPr dirty="0" sz="1200" spc="-5">
                <a:latin typeface="Arial MT"/>
                <a:cs typeface="Arial MT"/>
              </a:rPr>
              <a:t>comes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Speech;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Part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Speech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itself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noun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concept.</a:t>
            </a:r>
            <a:endParaRPr sz="1200">
              <a:latin typeface="Arial MT"/>
              <a:cs typeface="Arial MT"/>
            </a:endParaRPr>
          </a:p>
          <a:p>
            <a:pPr marL="105410">
              <a:lnSpc>
                <a:spcPct val="100000"/>
              </a:lnSpc>
              <a:spcBef>
                <a:spcPts val="765"/>
              </a:spcBef>
            </a:pP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 lie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speech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all </a:t>
            </a:r>
            <a:r>
              <a:rPr dirty="0" sz="1200" spc="-5">
                <a:latin typeface="Arial MT"/>
                <a:cs typeface="Arial MT"/>
              </a:rPr>
              <a:t>parallel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516" y="936752"/>
            <a:ext cx="1677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Subordinate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01823" y="558799"/>
            <a:ext cx="4392930" cy="111569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865"/>
              </a:spcBef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noun.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adjectives,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verbs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adverbs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etc.</a:t>
            </a:r>
            <a:endParaRPr sz="1200">
              <a:latin typeface="Arial MT"/>
              <a:cs typeface="Arial MT"/>
            </a:endParaRPr>
          </a:p>
          <a:p>
            <a:pPr marL="70485" marR="5080" indent="-58419">
              <a:lnSpc>
                <a:spcPct val="144700"/>
              </a:lnSpc>
              <a:spcBef>
                <a:spcPts val="125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noun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subordinate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concepts.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two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types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nouns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i.e.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noun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proper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noun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subordinate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NOUN.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1916937"/>
            <a:ext cx="6634480" cy="8248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34" marR="10795" indent="-6350">
              <a:lnSpc>
                <a:spcPct val="1425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Example: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Two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teachers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going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teach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concept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noun,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one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following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deductive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presentation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other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using</a:t>
            </a:r>
            <a:r>
              <a:rPr dirty="0" sz="1200" b="1">
                <a:latin typeface="Arial"/>
                <a:cs typeface="Arial"/>
              </a:rPr>
              <a:t> inductive </a:t>
            </a:r>
            <a:r>
              <a:rPr dirty="0" sz="1200" spc="-5" b="1">
                <a:latin typeface="Arial"/>
                <a:cs typeface="Arial"/>
              </a:rPr>
              <a:t>mode.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Deductive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mode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(example):</a:t>
            </a:r>
            <a:endParaRPr sz="1200">
              <a:latin typeface="Arial"/>
              <a:cs typeface="Arial"/>
            </a:endParaRPr>
          </a:p>
          <a:p>
            <a:pPr algn="just" marL="941069" marR="5080" indent="-6350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Teacher will </a:t>
            </a:r>
            <a:r>
              <a:rPr dirty="0" sz="1200">
                <a:latin typeface="Arial MT"/>
                <a:cs typeface="Arial MT"/>
              </a:rPr>
              <a:t>tell </a:t>
            </a:r>
            <a:r>
              <a:rPr dirty="0" sz="1200" spc="-5">
                <a:latin typeface="Arial MT"/>
                <a:cs typeface="Arial MT"/>
              </a:rPr>
              <a:t>definition of a noun to the students which is </a:t>
            </a:r>
            <a:r>
              <a:rPr dirty="0" sz="1200">
                <a:latin typeface="Arial MT"/>
                <a:cs typeface="Arial MT"/>
              </a:rPr>
              <a:t>usually </a:t>
            </a:r>
            <a:r>
              <a:rPr dirty="0" sz="1200" spc="-5">
                <a:latin typeface="Arial MT"/>
                <a:cs typeface="Arial MT"/>
              </a:rPr>
              <a:t>told in schools 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“a </a:t>
            </a:r>
            <a:r>
              <a:rPr dirty="0" sz="1200" spc="-5">
                <a:latin typeface="Arial MT"/>
                <a:cs typeface="Arial MT"/>
              </a:rPr>
              <a:t>noun is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name </a:t>
            </a:r>
            <a:r>
              <a:rPr dirty="0" sz="1200">
                <a:latin typeface="Arial MT"/>
                <a:cs typeface="Arial MT"/>
              </a:rPr>
              <a:t>of a </a:t>
            </a:r>
            <a:r>
              <a:rPr dirty="0" sz="1200" spc="-5">
                <a:latin typeface="Arial MT"/>
                <a:cs typeface="Arial MT"/>
              </a:rPr>
              <a:t>person, place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thing”. Then </a:t>
            </a:r>
            <a:r>
              <a:rPr dirty="0" sz="120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will give examples to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i.e.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table,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chair,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book,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board,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school,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river,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Pakistan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etc.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endParaRPr sz="1200">
              <a:latin typeface="Arial MT"/>
              <a:cs typeface="Arial MT"/>
            </a:endParaRPr>
          </a:p>
          <a:p>
            <a:pPr algn="just" marL="941069">
              <a:lnSpc>
                <a:spcPct val="100000"/>
              </a:lnSpc>
              <a:spcBef>
                <a:spcPts val="455"/>
              </a:spcBef>
            </a:pP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noun.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10">
                <a:latin typeface="Arial MT"/>
                <a:cs typeface="Arial MT"/>
              </a:rPr>
              <a:t>try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better</a:t>
            </a:r>
            <a:endParaRPr sz="1200">
              <a:latin typeface="Arial MT"/>
              <a:cs typeface="Arial MT"/>
            </a:endParaRPr>
          </a:p>
          <a:p>
            <a:pPr algn="just" marL="941069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definition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abstract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entities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5">
                <a:latin typeface="Arial MT"/>
                <a:cs typeface="Arial MT"/>
              </a:rPr>
              <a:t> well.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AutoNum type="arabicPeriod" startAt="2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Inductive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(example):</a:t>
            </a:r>
            <a:endParaRPr sz="1200">
              <a:latin typeface="Arial"/>
              <a:cs typeface="Arial"/>
            </a:endParaRPr>
          </a:p>
          <a:p>
            <a:pPr algn="just" marL="941069" marR="762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The teacher who is following inductive mode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presentation will ask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to </a:t>
            </a:r>
            <a:r>
              <a:rPr dirty="0" sz="1200">
                <a:latin typeface="Arial MT"/>
                <a:cs typeface="Arial MT"/>
              </a:rPr>
              <a:t> tell </a:t>
            </a:r>
            <a:r>
              <a:rPr dirty="0" sz="1200" spc="-5">
                <a:latin typeface="Arial MT"/>
                <a:cs typeface="Arial MT"/>
              </a:rPr>
              <a:t>names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different </a:t>
            </a:r>
            <a:r>
              <a:rPr dirty="0" sz="1200">
                <a:latin typeface="Arial MT"/>
                <a:cs typeface="Arial MT"/>
              </a:rPr>
              <a:t>things.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will write all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names </a:t>
            </a:r>
            <a:r>
              <a:rPr dirty="0" sz="1200" spc="-5">
                <a:latin typeface="Arial MT"/>
                <a:cs typeface="Arial MT"/>
              </a:rPr>
              <a:t>on the board and ask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to identify the things which end with “ism”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“ist”. He will make groups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both.</a:t>
            </a:r>
            <a:endParaRPr sz="1200">
              <a:latin typeface="Arial MT"/>
              <a:cs typeface="Arial MT"/>
            </a:endParaRPr>
          </a:p>
          <a:p>
            <a:pPr algn="just" marL="941069" marR="7620" indent="-6350">
              <a:lnSpc>
                <a:spcPts val="208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commonalities in them. Students will make a definition </a:t>
            </a:r>
            <a:r>
              <a:rPr dirty="0" sz="1200" spc="15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noun together.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 inductive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presentation.</a:t>
            </a:r>
            <a:r>
              <a:rPr dirty="0" sz="1200" spc="2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results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2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gather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endParaRPr sz="1200">
              <a:latin typeface="Arial MT"/>
              <a:cs typeface="Arial MT"/>
            </a:endParaRPr>
          </a:p>
          <a:p>
            <a:pPr algn="just" marL="941069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create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definition.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endParaRPr sz="1200">
              <a:latin typeface="Arial MT"/>
              <a:cs typeface="Arial MT"/>
            </a:endParaRPr>
          </a:p>
          <a:p>
            <a:pPr algn="just" marL="941069" marR="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characteristics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things.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about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subordinate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coordinate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10">
                <a:latin typeface="Arial MT"/>
                <a:cs typeface="Arial MT"/>
              </a:rPr>
              <a:t>noun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instead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 algn="just" marL="18415" marR="9525" indent="-6350">
              <a:lnSpc>
                <a:spcPct val="1442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Teachers can use either inductive mode or deductive mode, but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important thing is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include </a:t>
            </a:r>
            <a:r>
              <a:rPr dirty="0" sz="1200" spc="-10">
                <a:latin typeface="Arial MT"/>
                <a:cs typeface="Arial MT"/>
              </a:rPr>
              <a:t>all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Analysis</a:t>
            </a:r>
            <a:r>
              <a:rPr dirty="0" sz="1200">
                <a:latin typeface="Arial MT"/>
                <a:cs typeface="Arial MT"/>
              </a:rPr>
              <a:t> Model.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Why</a:t>
            </a:r>
            <a:r>
              <a:rPr dirty="0" sz="1200" b="1">
                <a:latin typeface="Arial"/>
                <a:cs typeface="Arial"/>
              </a:rPr>
              <a:t> this model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called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 Analysis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Model?</a:t>
            </a:r>
            <a:endParaRPr sz="1200">
              <a:latin typeface="Arial"/>
              <a:cs typeface="Arial"/>
            </a:endParaRPr>
          </a:p>
          <a:p>
            <a:pPr algn="just" marL="18415" marR="10795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concept must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dealt with </a:t>
            </a:r>
            <a:r>
              <a:rPr dirty="0" sz="1200">
                <a:latin typeface="Arial MT"/>
                <a:cs typeface="Arial MT"/>
              </a:rPr>
              <a:t>bits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parts. </a:t>
            </a:r>
            <a:r>
              <a:rPr dirty="0" sz="1200" spc="-5">
                <a:latin typeface="Arial MT"/>
                <a:cs typeface="Arial MT"/>
              </a:rPr>
              <a:t>Every aspect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concept must be addressed. </a:t>
            </a:r>
            <a:r>
              <a:rPr dirty="0" sz="1200">
                <a:latin typeface="Arial MT"/>
                <a:cs typeface="Arial MT"/>
              </a:rPr>
              <a:t>E.g. its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definition,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examples,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critical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attributes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superordinate,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coordinate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subordinates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etc.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</a:t>
            </a:r>
            <a:endParaRPr sz="1200">
              <a:latin typeface="Arial MT"/>
              <a:cs typeface="Arial MT"/>
            </a:endParaRPr>
          </a:p>
          <a:p>
            <a:pPr algn="just" marL="18415" marR="11430">
              <a:lnSpc>
                <a:spcPts val="2070"/>
              </a:lnSpc>
            </a:pPr>
            <a:r>
              <a:rPr dirty="0" sz="1200" spc="-5">
                <a:latin typeface="Arial MT"/>
                <a:cs typeface="Arial MT"/>
              </a:rPr>
              <a:t>concept is taught </a:t>
            </a:r>
            <a:r>
              <a:rPr dirty="0" sz="1200" spc="5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only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definition and examples,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that we are not doing justice with </a:t>
            </a:r>
            <a:r>
              <a:rPr dirty="0" sz="1200">
                <a:latin typeface="Arial MT"/>
                <a:cs typeface="Arial MT"/>
              </a:rPr>
              <a:t> that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particular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Example: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Concept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Food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58800" y="10180786"/>
          <a:ext cx="6234430" cy="1600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7214"/>
                <a:gridCol w="4387850"/>
              </a:tblGrid>
              <a:tr h="184951">
                <a:tc>
                  <a:txBody>
                    <a:bodyPr/>
                    <a:lstStyle/>
                    <a:p>
                      <a:pPr marL="127000">
                        <a:lnSpc>
                          <a:spcPts val="1325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Name: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66420">
                        <a:lnSpc>
                          <a:spcPts val="1325"/>
                        </a:lnSpc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Food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572262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Definition: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just" marL="566420" marR="119380">
                        <a:lnSpc>
                          <a:spcPts val="1490"/>
                        </a:lnSpc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Food is any substance consumed to provide nutritional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support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for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 body.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It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is usually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 plant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or animal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origin.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842506">
                <a:tc>
                  <a:txBody>
                    <a:bodyPr/>
                    <a:lstStyle/>
                    <a:p>
                      <a:pPr marL="127000">
                        <a:lnSpc>
                          <a:spcPts val="1400"/>
                        </a:lnSpc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Characteristics: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23619" indent="-457834">
                        <a:lnSpc>
                          <a:spcPts val="1400"/>
                        </a:lnSpc>
                        <a:buFont typeface="Times New Roman"/>
                        <a:buAutoNum type="romanLcPeriod"/>
                        <a:tabLst>
                          <a:tab pos="1023619" algn="l"/>
                          <a:tab pos="1024255" algn="l"/>
                        </a:tabLst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Most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foods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have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taste. Though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water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is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6642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tasteless.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023619" marR="671195" indent="-457200">
                        <a:lnSpc>
                          <a:spcPct val="103299"/>
                        </a:lnSpc>
                        <a:spcBef>
                          <a:spcPts val="735"/>
                        </a:spcBef>
                        <a:buFont typeface="Times New Roman"/>
                        <a:buAutoNum type="romanLcPeriod" startAt="2"/>
                        <a:tabLst>
                          <a:tab pos="1023619" algn="l"/>
                          <a:tab pos="1024255" algn="l"/>
                        </a:tabLst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Some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food is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cooked while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other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not.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iii.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Sour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foods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contain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organic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acids.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58800" y="683472"/>
          <a:ext cx="6234430" cy="1839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7890"/>
                <a:gridCol w="4065904"/>
              </a:tblGrid>
              <a:tr h="474638">
                <a:tc>
                  <a:txBody>
                    <a:bodyPr/>
                    <a:lstStyle/>
                    <a:p>
                      <a:pPr marL="127000">
                        <a:lnSpc>
                          <a:spcPts val="1325"/>
                        </a:lnSpc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Examples: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325"/>
                        </a:lnSpc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Vegetables,</a:t>
                      </a:r>
                      <a:r>
                        <a:rPr dirty="0" sz="1200" spc="20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fruits,</a:t>
                      </a:r>
                      <a:r>
                        <a:rPr dirty="0" sz="1200" spc="1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milk,</a:t>
                      </a:r>
                      <a:r>
                        <a:rPr dirty="0" sz="1200" spc="20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egg,</a:t>
                      </a:r>
                      <a:r>
                        <a:rPr dirty="0" sz="1200" spc="20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fish,</a:t>
                      </a:r>
                      <a:r>
                        <a:rPr dirty="0" sz="1200" spc="20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rice,</a:t>
                      </a:r>
                      <a:r>
                        <a:rPr dirty="0" sz="1200" spc="20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water,</a:t>
                      </a:r>
                      <a:r>
                        <a:rPr dirty="0" sz="1200" spc="2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wheat,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2457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chewing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gum, chocolate and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many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more.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877951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Non-examples: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0965"/>
                </a:tc>
                <a:tc>
                  <a:txBody>
                    <a:bodyPr/>
                    <a:lstStyle/>
                    <a:p>
                      <a:pPr marL="245745" marR="307975">
                        <a:lnSpc>
                          <a:spcPct val="103299"/>
                        </a:lnSpc>
                        <a:spcBef>
                          <a:spcPts val="74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Animal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feed,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live animals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(unless being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prepared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for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sale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 a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market),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plants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prior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harvesting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not a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food,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medicinal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products,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tobacco,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narcotics,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cosmetics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etc.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94615"/>
                </a:tc>
              </a:tr>
              <a:tr h="256031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Superordinate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concepts: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Health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&amp;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nutrition,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food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science, food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technology.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10795"/>
                </a:tc>
              </a:tr>
              <a:tr h="230671">
                <a:tc>
                  <a:txBody>
                    <a:bodyPr/>
                    <a:lstStyle/>
                    <a:p>
                      <a:pPr marL="127000">
                        <a:lnSpc>
                          <a:spcPts val="1355"/>
                        </a:lnSpc>
                        <a:spcBef>
                          <a:spcPts val="360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Coordinate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concepts: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5720"/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ts val="1355"/>
                        </a:lnSpc>
                        <a:spcBef>
                          <a:spcPts val="36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Diet,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dietary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habits.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4572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574040" y="2616454"/>
            <a:ext cx="1677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Subordinate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23514" y="2535682"/>
            <a:ext cx="3953510" cy="55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 marR="5080" indent="-238125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Food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pyramid,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organic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whole</a:t>
            </a:r>
            <a:r>
              <a:rPr dirty="0" sz="1200" spc="-5">
                <a:latin typeface="Arial MT"/>
                <a:cs typeface="Arial MT"/>
              </a:rPr>
              <a:t> food, natural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junk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3061461"/>
            <a:ext cx="6633209" cy="2711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7874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have decided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whenever we are </a:t>
            </a:r>
            <a:r>
              <a:rPr dirty="0" sz="1200">
                <a:latin typeface="Arial MT"/>
                <a:cs typeface="Arial MT"/>
              </a:rPr>
              <a:t>going to </a:t>
            </a:r>
            <a:r>
              <a:rPr dirty="0" sz="1200" spc="-5">
                <a:latin typeface="Arial MT"/>
                <a:cs typeface="Arial MT"/>
              </a:rPr>
              <a:t>teach a concept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students, we need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analyze that thoroughly in </a:t>
            </a:r>
            <a:r>
              <a:rPr dirty="0" sz="1200">
                <a:latin typeface="Arial MT"/>
                <a:cs typeface="Arial MT"/>
              </a:rPr>
              <a:t>terms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definition, characteristics, examples, </a:t>
            </a:r>
            <a:r>
              <a:rPr dirty="0" sz="1200">
                <a:latin typeface="Arial MT"/>
                <a:cs typeface="Arial MT"/>
              </a:rPr>
              <a:t>non-examples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hierarchy. And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ensure that our students understand </a:t>
            </a:r>
            <a:r>
              <a:rPr dirty="0" sz="1200" spc="5">
                <a:latin typeface="Arial MT"/>
                <a:cs typeface="Arial MT"/>
              </a:rPr>
              <a:t>all </a:t>
            </a:r>
            <a:r>
              <a:rPr dirty="0" sz="1200" spc="-5">
                <a:latin typeface="Arial MT"/>
                <a:cs typeface="Arial MT"/>
              </a:rPr>
              <a:t>these related things regarding a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particular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Advance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Organizer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Model with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example: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Arial"/>
              <a:cs typeface="Arial"/>
            </a:endParaRPr>
          </a:p>
          <a:p>
            <a:pPr algn="just" marL="18415" marR="9525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a model which provides you the big picture completely. </a:t>
            </a:r>
            <a:r>
              <a:rPr dirty="0" sz="1200">
                <a:latin typeface="Arial MT"/>
                <a:cs typeface="Arial MT"/>
              </a:rPr>
              <a:t>E.g. If </a:t>
            </a:r>
            <a:r>
              <a:rPr dirty="0" sz="1200" spc="-5">
                <a:latin typeface="Arial MT"/>
                <a:cs typeface="Arial MT"/>
              </a:rPr>
              <a:t>students are going to learn 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complete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graphic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 below: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5480" y="9492233"/>
            <a:ext cx="6633845" cy="816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picture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presented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students before teaching them the concept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food. </a:t>
            </a:r>
            <a:r>
              <a:rPr dirty="0" sz="1200">
                <a:latin typeface="Arial MT"/>
                <a:cs typeface="Arial MT"/>
              </a:rPr>
              <a:t>i.e.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advance you present the whole thing to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students. Graphic organizer is also known as </a:t>
            </a:r>
            <a:r>
              <a:rPr dirty="0" sz="1200" spc="-5" b="1">
                <a:latin typeface="Arial"/>
                <a:cs typeface="Arial"/>
              </a:rPr>
              <a:t>concept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map.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Advance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graphic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organizer,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tables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schemes.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5480" y="10847069"/>
            <a:ext cx="4699000" cy="755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Advance </a:t>
            </a:r>
            <a:r>
              <a:rPr dirty="0" sz="1400" spc="-10" b="1">
                <a:latin typeface="Arial"/>
                <a:cs typeface="Arial"/>
              </a:rPr>
              <a:t>Organizer</a:t>
            </a:r>
            <a:r>
              <a:rPr dirty="0" sz="1400" spc="-5" b="1">
                <a:latin typeface="Arial"/>
                <a:cs typeface="Arial"/>
              </a:rPr>
              <a:t> Model: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200" spc="-5">
                <a:latin typeface="Arial MT"/>
                <a:cs typeface="Arial MT"/>
              </a:rPr>
              <a:t>Advance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graphic organizer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>
                <a:latin typeface="Arial MT"/>
                <a:cs typeface="Arial MT"/>
              </a:rPr>
              <a:t> three </a:t>
            </a:r>
            <a:r>
              <a:rPr dirty="0" sz="1200" spc="-5">
                <a:latin typeface="Arial MT"/>
                <a:cs typeface="Arial MT"/>
              </a:rPr>
              <a:t>major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components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attributes.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623" y="6349110"/>
            <a:ext cx="381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Times New Roman"/>
                <a:cs typeface="Times New Roman"/>
              </a:rPr>
              <a:t>F</a:t>
            </a:r>
            <a:r>
              <a:rPr dirty="0" sz="1200">
                <a:latin typeface="Times New Roman"/>
                <a:cs typeface="Times New Roman"/>
              </a:rPr>
              <a:t>ruits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3113" y="6349110"/>
            <a:ext cx="220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Oil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4623" y="6530720"/>
            <a:ext cx="702945" cy="55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Grains 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Vegetables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99813" y="6530720"/>
            <a:ext cx="608965" cy="55308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200" spc="-5">
                <a:latin typeface="Times New Roman"/>
                <a:cs typeface="Times New Roman"/>
              </a:rPr>
              <a:t>Beans</a:t>
            </a:r>
            <a:endParaRPr sz="12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ee</a:t>
            </a:r>
            <a:r>
              <a:rPr dirty="0" sz="1200" spc="-5">
                <a:latin typeface="Times New Roman"/>
                <a:cs typeface="Times New Roman"/>
              </a:rPr>
              <a:t>ds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4623" y="7978521"/>
            <a:ext cx="596900" cy="54991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Times New Roman"/>
                <a:cs typeface="Times New Roman"/>
              </a:rPr>
              <a:t>Fish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200">
                <a:latin typeface="Times New Roman"/>
                <a:cs typeface="Times New Roman"/>
              </a:rPr>
              <a:t>Rea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meat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51857" y="7978521"/>
            <a:ext cx="752475" cy="813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34340">
              <a:lnSpc>
                <a:spcPct val="1433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Egg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Mil</a:t>
            </a:r>
            <a:r>
              <a:rPr dirty="0" sz="1200">
                <a:latin typeface="Times New Roman"/>
                <a:cs typeface="Times New Roman"/>
              </a:rPr>
              <a:t>k</a:t>
            </a:r>
            <a:endParaRPr sz="1200">
              <a:latin typeface="Times New Roman"/>
              <a:cs typeface="Times New Roman"/>
            </a:endParaRPr>
          </a:p>
          <a:p>
            <a:pPr marL="307975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Times New Roman"/>
                <a:cs typeface="Times New Roman"/>
              </a:rPr>
              <a:t>Yogu</a:t>
            </a:r>
            <a:r>
              <a:rPr dirty="0" sz="1200" spc="-10">
                <a:latin typeface="Times New Roman"/>
                <a:cs typeface="Times New Roman"/>
              </a:rPr>
              <a:t>r</a:t>
            </a:r>
            <a:r>
              <a:rPr dirty="0" sz="1200">
                <a:latin typeface="Times New Roman"/>
                <a:cs typeface="Times New Roman"/>
              </a:rPr>
              <a:t>t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417445" y="6295897"/>
            <a:ext cx="1005840" cy="996950"/>
            <a:chOff x="2417445" y="6295897"/>
            <a:chExt cx="1005840" cy="996950"/>
          </a:xfrm>
        </p:grpSpPr>
        <p:sp>
          <p:nvSpPr>
            <p:cNvPr id="15" name="object 15"/>
            <p:cNvSpPr/>
            <p:nvPr/>
          </p:nvSpPr>
          <p:spPr>
            <a:xfrm>
              <a:off x="2429637" y="6308089"/>
              <a:ext cx="981710" cy="972819"/>
            </a:xfrm>
            <a:custGeom>
              <a:avLst/>
              <a:gdLst/>
              <a:ahLst/>
              <a:cxnLst/>
              <a:rect l="l" t="t" r="r" b="b"/>
              <a:pathLst>
                <a:path w="981710" h="972820">
                  <a:moveTo>
                    <a:pt x="490727" y="0"/>
                  </a:moveTo>
                  <a:lnTo>
                    <a:pt x="443428" y="2228"/>
                  </a:lnTo>
                  <a:lnTo>
                    <a:pt x="397409" y="8776"/>
                  </a:lnTo>
                  <a:lnTo>
                    <a:pt x="352875" y="19439"/>
                  </a:lnTo>
                  <a:lnTo>
                    <a:pt x="310031" y="34012"/>
                  </a:lnTo>
                  <a:lnTo>
                    <a:pt x="269082" y="52291"/>
                  </a:lnTo>
                  <a:lnTo>
                    <a:pt x="230232" y="74071"/>
                  </a:lnTo>
                  <a:lnTo>
                    <a:pt x="193687" y="99147"/>
                  </a:lnTo>
                  <a:lnTo>
                    <a:pt x="159650" y="127314"/>
                  </a:lnTo>
                  <a:lnTo>
                    <a:pt x="128327" y="158369"/>
                  </a:lnTo>
                  <a:lnTo>
                    <a:pt x="99922" y="192105"/>
                  </a:lnTo>
                  <a:lnTo>
                    <a:pt x="74640" y="228318"/>
                  </a:lnTo>
                  <a:lnTo>
                    <a:pt x="52687" y="266804"/>
                  </a:lnTo>
                  <a:lnTo>
                    <a:pt x="34265" y="307358"/>
                  </a:lnTo>
                  <a:lnTo>
                    <a:pt x="19581" y="349774"/>
                  </a:lnTo>
                  <a:lnTo>
                    <a:pt x="8839" y="393849"/>
                  </a:lnTo>
                  <a:lnTo>
                    <a:pt x="2243" y="439378"/>
                  </a:lnTo>
                  <a:lnTo>
                    <a:pt x="0" y="486156"/>
                  </a:lnTo>
                  <a:lnTo>
                    <a:pt x="2243" y="532933"/>
                  </a:lnTo>
                  <a:lnTo>
                    <a:pt x="8839" y="578462"/>
                  </a:lnTo>
                  <a:lnTo>
                    <a:pt x="19581" y="622537"/>
                  </a:lnTo>
                  <a:lnTo>
                    <a:pt x="34265" y="664953"/>
                  </a:lnTo>
                  <a:lnTo>
                    <a:pt x="52687" y="705507"/>
                  </a:lnTo>
                  <a:lnTo>
                    <a:pt x="74640" y="743993"/>
                  </a:lnTo>
                  <a:lnTo>
                    <a:pt x="99922" y="780206"/>
                  </a:lnTo>
                  <a:lnTo>
                    <a:pt x="128327" y="813942"/>
                  </a:lnTo>
                  <a:lnTo>
                    <a:pt x="159650" y="844997"/>
                  </a:lnTo>
                  <a:lnTo>
                    <a:pt x="193687" y="873164"/>
                  </a:lnTo>
                  <a:lnTo>
                    <a:pt x="230232" y="898240"/>
                  </a:lnTo>
                  <a:lnTo>
                    <a:pt x="269082" y="920020"/>
                  </a:lnTo>
                  <a:lnTo>
                    <a:pt x="310031" y="938299"/>
                  </a:lnTo>
                  <a:lnTo>
                    <a:pt x="352875" y="952872"/>
                  </a:lnTo>
                  <a:lnTo>
                    <a:pt x="397409" y="963535"/>
                  </a:lnTo>
                  <a:lnTo>
                    <a:pt x="443428" y="970083"/>
                  </a:lnTo>
                  <a:lnTo>
                    <a:pt x="490727" y="972312"/>
                  </a:lnTo>
                  <a:lnTo>
                    <a:pt x="538027" y="970083"/>
                  </a:lnTo>
                  <a:lnTo>
                    <a:pt x="584046" y="963535"/>
                  </a:lnTo>
                  <a:lnTo>
                    <a:pt x="628580" y="952872"/>
                  </a:lnTo>
                  <a:lnTo>
                    <a:pt x="671424" y="938299"/>
                  </a:lnTo>
                  <a:lnTo>
                    <a:pt x="712373" y="920020"/>
                  </a:lnTo>
                  <a:lnTo>
                    <a:pt x="751223" y="898240"/>
                  </a:lnTo>
                  <a:lnTo>
                    <a:pt x="787768" y="873164"/>
                  </a:lnTo>
                  <a:lnTo>
                    <a:pt x="821805" y="844997"/>
                  </a:lnTo>
                  <a:lnTo>
                    <a:pt x="853128" y="813942"/>
                  </a:lnTo>
                  <a:lnTo>
                    <a:pt x="881533" y="780206"/>
                  </a:lnTo>
                  <a:lnTo>
                    <a:pt x="906815" y="743993"/>
                  </a:lnTo>
                  <a:lnTo>
                    <a:pt x="928768" y="705507"/>
                  </a:lnTo>
                  <a:lnTo>
                    <a:pt x="947190" y="664953"/>
                  </a:lnTo>
                  <a:lnTo>
                    <a:pt x="961874" y="622537"/>
                  </a:lnTo>
                  <a:lnTo>
                    <a:pt x="972616" y="578462"/>
                  </a:lnTo>
                  <a:lnTo>
                    <a:pt x="979212" y="532933"/>
                  </a:lnTo>
                  <a:lnTo>
                    <a:pt x="981455" y="486156"/>
                  </a:lnTo>
                  <a:lnTo>
                    <a:pt x="979212" y="439378"/>
                  </a:lnTo>
                  <a:lnTo>
                    <a:pt x="972616" y="393849"/>
                  </a:lnTo>
                  <a:lnTo>
                    <a:pt x="961874" y="349774"/>
                  </a:lnTo>
                  <a:lnTo>
                    <a:pt x="947190" y="307358"/>
                  </a:lnTo>
                  <a:lnTo>
                    <a:pt x="928768" y="266804"/>
                  </a:lnTo>
                  <a:lnTo>
                    <a:pt x="906815" y="228318"/>
                  </a:lnTo>
                  <a:lnTo>
                    <a:pt x="881533" y="192105"/>
                  </a:lnTo>
                  <a:lnTo>
                    <a:pt x="853128" y="158369"/>
                  </a:lnTo>
                  <a:lnTo>
                    <a:pt x="821805" y="127314"/>
                  </a:lnTo>
                  <a:lnTo>
                    <a:pt x="787768" y="99147"/>
                  </a:lnTo>
                  <a:lnTo>
                    <a:pt x="751223" y="74071"/>
                  </a:lnTo>
                  <a:lnTo>
                    <a:pt x="712373" y="52291"/>
                  </a:lnTo>
                  <a:lnTo>
                    <a:pt x="671424" y="34012"/>
                  </a:lnTo>
                  <a:lnTo>
                    <a:pt x="628580" y="19439"/>
                  </a:lnTo>
                  <a:lnTo>
                    <a:pt x="584046" y="8776"/>
                  </a:lnTo>
                  <a:lnTo>
                    <a:pt x="538027" y="2228"/>
                  </a:lnTo>
                  <a:lnTo>
                    <a:pt x="49072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417445" y="6295897"/>
              <a:ext cx="1005840" cy="996950"/>
            </a:xfrm>
            <a:custGeom>
              <a:avLst/>
              <a:gdLst/>
              <a:ahLst/>
              <a:cxnLst/>
              <a:rect l="l" t="t" r="r" b="b"/>
              <a:pathLst>
                <a:path w="1005839" h="996950">
                  <a:moveTo>
                    <a:pt x="1005840" y="472440"/>
                  </a:moveTo>
                  <a:lnTo>
                    <a:pt x="1004316" y="446532"/>
                  </a:lnTo>
                  <a:lnTo>
                    <a:pt x="999744" y="422148"/>
                  </a:lnTo>
                  <a:lnTo>
                    <a:pt x="996696" y="397764"/>
                  </a:lnTo>
                  <a:lnTo>
                    <a:pt x="990600" y="373380"/>
                  </a:lnTo>
                  <a:lnTo>
                    <a:pt x="982980" y="350520"/>
                  </a:lnTo>
                  <a:lnTo>
                    <a:pt x="981456" y="345643"/>
                  </a:lnTo>
                  <a:lnTo>
                    <a:pt x="981456" y="498348"/>
                  </a:lnTo>
                  <a:lnTo>
                    <a:pt x="978408" y="547116"/>
                  </a:lnTo>
                  <a:lnTo>
                    <a:pt x="966216" y="617220"/>
                  </a:lnTo>
                  <a:lnTo>
                    <a:pt x="952500" y="661416"/>
                  </a:lnTo>
                  <a:lnTo>
                    <a:pt x="934212" y="704088"/>
                  </a:lnTo>
                  <a:lnTo>
                    <a:pt x="899147" y="763524"/>
                  </a:lnTo>
                  <a:lnTo>
                    <a:pt x="871728" y="800100"/>
                  </a:lnTo>
                  <a:lnTo>
                    <a:pt x="841235" y="833628"/>
                  </a:lnTo>
                  <a:lnTo>
                    <a:pt x="789432" y="877824"/>
                  </a:lnTo>
                  <a:lnTo>
                    <a:pt x="751332" y="903732"/>
                  </a:lnTo>
                  <a:lnTo>
                    <a:pt x="729996" y="914400"/>
                  </a:lnTo>
                  <a:lnTo>
                    <a:pt x="710184" y="925068"/>
                  </a:lnTo>
                  <a:lnTo>
                    <a:pt x="667512" y="943356"/>
                  </a:lnTo>
                  <a:lnTo>
                    <a:pt x="621792" y="957072"/>
                  </a:lnTo>
                  <a:lnTo>
                    <a:pt x="576072" y="966216"/>
                  </a:lnTo>
                  <a:lnTo>
                    <a:pt x="527304" y="970788"/>
                  </a:lnTo>
                  <a:lnTo>
                    <a:pt x="503682" y="970788"/>
                  </a:lnTo>
                  <a:lnTo>
                    <a:pt x="478536" y="970788"/>
                  </a:lnTo>
                  <a:lnTo>
                    <a:pt x="454152" y="969264"/>
                  </a:lnTo>
                  <a:lnTo>
                    <a:pt x="429768" y="966216"/>
                  </a:lnTo>
                  <a:lnTo>
                    <a:pt x="384048" y="957072"/>
                  </a:lnTo>
                  <a:lnTo>
                    <a:pt x="361188" y="949452"/>
                  </a:lnTo>
                  <a:lnTo>
                    <a:pt x="338328" y="943356"/>
                  </a:lnTo>
                  <a:lnTo>
                    <a:pt x="295656" y="925068"/>
                  </a:lnTo>
                  <a:lnTo>
                    <a:pt x="274320" y="914400"/>
                  </a:lnTo>
                  <a:lnTo>
                    <a:pt x="254508" y="902208"/>
                  </a:lnTo>
                  <a:lnTo>
                    <a:pt x="236220" y="890016"/>
                  </a:lnTo>
                  <a:lnTo>
                    <a:pt x="216408" y="877824"/>
                  </a:lnTo>
                  <a:lnTo>
                    <a:pt x="181356" y="848868"/>
                  </a:lnTo>
                  <a:lnTo>
                    <a:pt x="149352" y="816864"/>
                  </a:lnTo>
                  <a:lnTo>
                    <a:pt x="120396" y="781812"/>
                  </a:lnTo>
                  <a:lnTo>
                    <a:pt x="94488" y="743712"/>
                  </a:lnTo>
                  <a:lnTo>
                    <a:pt x="71628" y="702564"/>
                  </a:lnTo>
                  <a:lnTo>
                    <a:pt x="54864" y="661416"/>
                  </a:lnTo>
                  <a:lnTo>
                    <a:pt x="39624" y="615696"/>
                  </a:lnTo>
                  <a:lnTo>
                    <a:pt x="30480" y="569976"/>
                  </a:lnTo>
                  <a:lnTo>
                    <a:pt x="25908" y="522732"/>
                  </a:lnTo>
                  <a:lnTo>
                    <a:pt x="25908" y="473964"/>
                  </a:lnTo>
                  <a:lnTo>
                    <a:pt x="30480" y="426720"/>
                  </a:lnTo>
                  <a:lnTo>
                    <a:pt x="39624" y="379476"/>
                  </a:lnTo>
                  <a:lnTo>
                    <a:pt x="47244" y="358140"/>
                  </a:lnTo>
                  <a:lnTo>
                    <a:pt x="54864" y="335280"/>
                  </a:lnTo>
                  <a:lnTo>
                    <a:pt x="62484" y="313944"/>
                  </a:lnTo>
                  <a:lnTo>
                    <a:pt x="73152" y="292608"/>
                  </a:lnTo>
                  <a:lnTo>
                    <a:pt x="82296" y="272796"/>
                  </a:lnTo>
                  <a:lnTo>
                    <a:pt x="106680" y="233172"/>
                  </a:lnTo>
                  <a:lnTo>
                    <a:pt x="134112" y="196596"/>
                  </a:lnTo>
                  <a:lnTo>
                    <a:pt x="181356" y="147828"/>
                  </a:lnTo>
                  <a:lnTo>
                    <a:pt x="217932" y="118872"/>
                  </a:lnTo>
                  <a:lnTo>
                    <a:pt x="275844" y="82296"/>
                  </a:lnTo>
                  <a:lnTo>
                    <a:pt x="338328" y="53340"/>
                  </a:lnTo>
                  <a:lnTo>
                    <a:pt x="384048" y="39624"/>
                  </a:lnTo>
                  <a:lnTo>
                    <a:pt x="431292" y="30480"/>
                  </a:lnTo>
                  <a:lnTo>
                    <a:pt x="478536" y="25908"/>
                  </a:lnTo>
                  <a:lnTo>
                    <a:pt x="503682" y="25908"/>
                  </a:lnTo>
                  <a:lnTo>
                    <a:pt x="527304" y="25908"/>
                  </a:lnTo>
                  <a:lnTo>
                    <a:pt x="576072" y="30480"/>
                  </a:lnTo>
                  <a:lnTo>
                    <a:pt x="623316" y="39624"/>
                  </a:lnTo>
                  <a:lnTo>
                    <a:pt x="688848" y="62484"/>
                  </a:lnTo>
                  <a:lnTo>
                    <a:pt x="731520" y="82296"/>
                  </a:lnTo>
                  <a:lnTo>
                    <a:pt x="771144" y="106680"/>
                  </a:lnTo>
                  <a:lnTo>
                    <a:pt x="824484" y="147828"/>
                  </a:lnTo>
                  <a:lnTo>
                    <a:pt x="856488" y="179832"/>
                  </a:lnTo>
                  <a:lnTo>
                    <a:pt x="886968" y="216408"/>
                  </a:lnTo>
                  <a:lnTo>
                    <a:pt x="911352" y="252984"/>
                  </a:lnTo>
                  <a:lnTo>
                    <a:pt x="934212" y="294132"/>
                  </a:lnTo>
                  <a:lnTo>
                    <a:pt x="952500" y="336804"/>
                  </a:lnTo>
                  <a:lnTo>
                    <a:pt x="966216" y="381000"/>
                  </a:lnTo>
                  <a:lnTo>
                    <a:pt x="975360" y="426720"/>
                  </a:lnTo>
                  <a:lnTo>
                    <a:pt x="981456" y="498348"/>
                  </a:lnTo>
                  <a:lnTo>
                    <a:pt x="981456" y="345643"/>
                  </a:lnTo>
                  <a:lnTo>
                    <a:pt x="975360" y="326136"/>
                  </a:lnTo>
                  <a:lnTo>
                    <a:pt x="966216" y="304800"/>
                  </a:lnTo>
                  <a:lnTo>
                    <a:pt x="957072" y="281940"/>
                  </a:lnTo>
                  <a:lnTo>
                    <a:pt x="932688" y="239268"/>
                  </a:lnTo>
                  <a:lnTo>
                    <a:pt x="906780" y="199644"/>
                  </a:lnTo>
                  <a:lnTo>
                    <a:pt x="874776" y="163068"/>
                  </a:lnTo>
                  <a:lnTo>
                    <a:pt x="841235" y="129540"/>
                  </a:lnTo>
                  <a:lnTo>
                    <a:pt x="804672" y="99060"/>
                  </a:lnTo>
                  <a:lnTo>
                    <a:pt x="763524" y="71628"/>
                  </a:lnTo>
                  <a:lnTo>
                    <a:pt x="720852" y="48768"/>
                  </a:lnTo>
                  <a:lnTo>
                    <a:pt x="675132" y="30480"/>
                  </a:lnTo>
                  <a:lnTo>
                    <a:pt x="627888" y="15240"/>
                  </a:lnTo>
                  <a:lnTo>
                    <a:pt x="579120" y="6096"/>
                  </a:lnTo>
                  <a:lnTo>
                    <a:pt x="528828" y="0"/>
                  </a:lnTo>
                  <a:lnTo>
                    <a:pt x="503682" y="0"/>
                  </a:lnTo>
                  <a:lnTo>
                    <a:pt x="477012" y="0"/>
                  </a:lnTo>
                  <a:lnTo>
                    <a:pt x="426720" y="6096"/>
                  </a:lnTo>
                  <a:lnTo>
                    <a:pt x="400812" y="10668"/>
                  </a:lnTo>
                  <a:lnTo>
                    <a:pt x="376428" y="15240"/>
                  </a:lnTo>
                  <a:lnTo>
                    <a:pt x="353568" y="22860"/>
                  </a:lnTo>
                  <a:lnTo>
                    <a:pt x="329184" y="30480"/>
                  </a:lnTo>
                  <a:lnTo>
                    <a:pt x="306324" y="39624"/>
                  </a:lnTo>
                  <a:lnTo>
                    <a:pt x="284988" y="48768"/>
                  </a:lnTo>
                  <a:lnTo>
                    <a:pt x="263652" y="60960"/>
                  </a:lnTo>
                  <a:lnTo>
                    <a:pt x="242316" y="71628"/>
                  </a:lnTo>
                  <a:lnTo>
                    <a:pt x="201168" y="99060"/>
                  </a:lnTo>
                  <a:lnTo>
                    <a:pt x="164592" y="129540"/>
                  </a:lnTo>
                  <a:lnTo>
                    <a:pt x="131064" y="163068"/>
                  </a:lnTo>
                  <a:lnTo>
                    <a:pt x="99060" y="199644"/>
                  </a:lnTo>
                  <a:lnTo>
                    <a:pt x="73152" y="240792"/>
                  </a:lnTo>
                  <a:lnTo>
                    <a:pt x="60960" y="260604"/>
                  </a:lnTo>
                  <a:lnTo>
                    <a:pt x="30480" y="327660"/>
                  </a:lnTo>
                  <a:lnTo>
                    <a:pt x="15240" y="374904"/>
                  </a:lnTo>
                  <a:lnTo>
                    <a:pt x="6096" y="422148"/>
                  </a:lnTo>
                  <a:lnTo>
                    <a:pt x="0" y="472440"/>
                  </a:lnTo>
                  <a:lnTo>
                    <a:pt x="0" y="524256"/>
                  </a:lnTo>
                  <a:lnTo>
                    <a:pt x="6096" y="574548"/>
                  </a:lnTo>
                  <a:lnTo>
                    <a:pt x="15240" y="623316"/>
                  </a:lnTo>
                  <a:lnTo>
                    <a:pt x="30480" y="670560"/>
                  </a:lnTo>
                  <a:lnTo>
                    <a:pt x="60960" y="736092"/>
                  </a:lnTo>
                  <a:lnTo>
                    <a:pt x="85344" y="777240"/>
                  </a:lnTo>
                  <a:lnTo>
                    <a:pt x="100584" y="797052"/>
                  </a:lnTo>
                  <a:lnTo>
                    <a:pt x="114300" y="815340"/>
                  </a:lnTo>
                  <a:lnTo>
                    <a:pt x="164592" y="867156"/>
                  </a:lnTo>
                  <a:lnTo>
                    <a:pt x="242316" y="925068"/>
                  </a:lnTo>
                  <a:lnTo>
                    <a:pt x="284988" y="947928"/>
                  </a:lnTo>
                  <a:lnTo>
                    <a:pt x="330708" y="966216"/>
                  </a:lnTo>
                  <a:lnTo>
                    <a:pt x="377952" y="981456"/>
                  </a:lnTo>
                  <a:lnTo>
                    <a:pt x="426720" y="990600"/>
                  </a:lnTo>
                  <a:lnTo>
                    <a:pt x="477012" y="996696"/>
                  </a:lnTo>
                  <a:lnTo>
                    <a:pt x="503682" y="996696"/>
                  </a:lnTo>
                  <a:lnTo>
                    <a:pt x="528828" y="996696"/>
                  </a:lnTo>
                  <a:lnTo>
                    <a:pt x="580644" y="990600"/>
                  </a:lnTo>
                  <a:lnTo>
                    <a:pt x="629412" y="981456"/>
                  </a:lnTo>
                  <a:lnTo>
                    <a:pt x="676656" y="966216"/>
                  </a:lnTo>
                  <a:lnTo>
                    <a:pt x="720852" y="947928"/>
                  </a:lnTo>
                  <a:lnTo>
                    <a:pt x="765048" y="925068"/>
                  </a:lnTo>
                  <a:lnTo>
                    <a:pt x="804672" y="897636"/>
                  </a:lnTo>
                  <a:lnTo>
                    <a:pt x="841235" y="867156"/>
                  </a:lnTo>
                  <a:lnTo>
                    <a:pt x="876300" y="833628"/>
                  </a:lnTo>
                  <a:lnTo>
                    <a:pt x="906780" y="797052"/>
                  </a:lnTo>
                  <a:lnTo>
                    <a:pt x="934212" y="757428"/>
                  </a:lnTo>
                  <a:lnTo>
                    <a:pt x="957072" y="714756"/>
                  </a:lnTo>
                  <a:lnTo>
                    <a:pt x="984504" y="646176"/>
                  </a:lnTo>
                  <a:lnTo>
                    <a:pt x="996696" y="598932"/>
                  </a:lnTo>
                  <a:lnTo>
                    <a:pt x="1004316" y="548640"/>
                  </a:lnTo>
                  <a:lnTo>
                    <a:pt x="1005840" y="524256"/>
                  </a:lnTo>
                  <a:lnTo>
                    <a:pt x="1005840" y="472440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3561" y="6507733"/>
              <a:ext cx="672084" cy="57302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691510" y="6710553"/>
            <a:ext cx="4603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Pl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265045" y="6850633"/>
            <a:ext cx="1386840" cy="1606550"/>
            <a:chOff x="2265045" y="6850633"/>
            <a:chExt cx="1386840" cy="1606550"/>
          </a:xfrm>
        </p:grpSpPr>
        <p:sp>
          <p:nvSpPr>
            <p:cNvPr id="20" name="object 20"/>
            <p:cNvSpPr/>
            <p:nvPr/>
          </p:nvSpPr>
          <p:spPr>
            <a:xfrm>
              <a:off x="2277237" y="6862825"/>
              <a:ext cx="1362710" cy="1582420"/>
            </a:xfrm>
            <a:custGeom>
              <a:avLst/>
              <a:gdLst/>
              <a:ahLst/>
              <a:cxnLst/>
              <a:rect l="l" t="t" r="r" b="b"/>
              <a:pathLst>
                <a:path w="1362710" h="1582420">
                  <a:moveTo>
                    <a:pt x="681227" y="0"/>
                  </a:moveTo>
                  <a:lnTo>
                    <a:pt x="636415" y="1686"/>
                  </a:lnTo>
                  <a:lnTo>
                    <a:pt x="592379" y="6677"/>
                  </a:lnTo>
                  <a:lnTo>
                    <a:pt x="549211" y="14865"/>
                  </a:lnTo>
                  <a:lnTo>
                    <a:pt x="506998" y="26147"/>
                  </a:lnTo>
                  <a:lnTo>
                    <a:pt x="465831" y="40416"/>
                  </a:lnTo>
                  <a:lnTo>
                    <a:pt x="425800" y="57567"/>
                  </a:lnTo>
                  <a:lnTo>
                    <a:pt x="386993" y="77495"/>
                  </a:lnTo>
                  <a:lnTo>
                    <a:pt x="349501" y="100095"/>
                  </a:lnTo>
                  <a:lnTo>
                    <a:pt x="313413" y="125261"/>
                  </a:lnTo>
                  <a:lnTo>
                    <a:pt x="278818" y="152887"/>
                  </a:lnTo>
                  <a:lnTo>
                    <a:pt x="245807" y="182869"/>
                  </a:lnTo>
                  <a:lnTo>
                    <a:pt x="214467" y="215101"/>
                  </a:lnTo>
                  <a:lnTo>
                    <a:pt x="184890" y="249479"/>
                  </a:lnTo>
                  <a:lnTo>
                    <a:pt x="157165" y="285895"/>
                  </a:lnTo>
                  <a:lnTo>
                    <a:pt x="131380" y="324246"/>
                  </a:lnTo>
                  <a:lnTo>
                    <a:pt x="107627" y="364425"/>
                  </a:lnTo>
                  <a:lnTo>
                    <a:pt x="85993" y="406328"/>
                  </a:lnTo>
                  <a:lnTo>
                    <a:pt x="66570" y="449849"/>
                  </a:lnTo>
                  <a:lnTo>
                    <a:pt x="49446" y="494883"/>
                  </a:lnTo>
                  <a:lnTo>
                    <a:pt x="34710" y="541324"/>
                  </a:lnTo>
                  <a:lnTo>
                    <a:pt x="22453" y="589068"/>
                  </a:lnTo>
                  <a:lnTo>
                    <a:pt x="12764" y="638008"/>
                  </a:lnTo>
                  <a:lnTo>
                    <a:pt x="5732" y="688039"/>
                  </a:lnTo>
                  <a:lnTo>
                    <a:pt x="1448" y="739057"/>
                  </a:lnTo>
                  <a:lnTo>
                    <a:pt x="0" y="790956"/>
                  </a:lnTo>
                  <a:lnTo>
                    <a:pt x="1448" y="843022"/>
                  </a:lnTo>
                  <a:lnTo>
                    <a:pt x="5732" y="894181"/>
                  </a:lnTo>
                  <a:lnTo>
                    <a:pt x="12764" y="944328"/>
                  </a:lnTo>
                  <a:lnTo>
                    <a:pt x="22453" y="993359"/>
                  </a:lnTo>
                  <a:lnTo>
                    <a:pt x="34710" y="1041172"/>
                  </a:lnTo>
                  <a:lnTo>
                    <a:pt x="49446" y="1087662"/>
                  </a:lnTo>
                  <a:lnTo>
                    <a:pt x="66570" y="1132725"/>
                  </a:lnTo>
                  <a:lnTo>
                    <a:pt x="85993" y="1176259"/>
                  </a:lnTo>
                  <a:lnTo>
                    <a:pt x="107627" y="1218160"/>
                  </a:lnTo>
                  <a:lnTo>
                    <a:pt x="131380" y="1258324"/>
                  </a:lnTo>
                  <a:lnTo>
                    <a:pt x="157165" y="1296647"/>
                  </a:lnTo>
                  <a:lnTo>
                    <a:pt x="184890" y="1333026"/>
                  </a:lnTo>
                  <a:lnTo>
                    <a:pt x="214467" y="1367357"/>
                  </a:lnTo>
                  <a:lnTo>
                    <a:pt x="245807" y="1399537"/>
                  </a:lnTo>
                  <a:lnTo>
                    <a:pt x="278818" y="1429463"/>
                  </a:lnTo>
                  <a:lnTo>
                    <a:pt x="313413" y="1457030"/>
                  </a:lnTo>
                  <a:lnTo>
                    <a:pt x="349501" y="1482135"/>
                  </a:lnTo>
                  <a:lnTo>
                    <a:pt x="386993" y="1504674"/>
                  </a:lnTo>
                  <a:lnTo>
                    <a:pt x="425800" y="1524544"/>
                  </a:lnTo>
                  <a:lnTo>
                    <a:pt x="465831" y="1541641"/>
                  </a:lnTo>
                  <a:lnTo>
                    <a:pt x="506998" y="1555862"/>
                  </a:lnTo>
                  <a:lnTo>
                    <a:pt x="549211" y="1567103"/>
                  </a:lnTo>
                  <a:lnTo>
                    <a:pt x="592379" y="1575261"/>
                  </a:lnTo>
                  <a:lnTo>
                    <a:pt x="636415" y="1580232"/>
                  </a:lnTo>
                  <a:lnTo>
                    <a:pt x="681227" y="1581912"/>
                  </a:lnTo>
                  <a:lnTo>
                    <a:pt x="725872" y="1580232"/>
                  </a:lnTo>
                  <a:lnTo>
                    <a:pt x="769766" y="1575261"/>
                  </a:lnTo>
                  <a:lnTo>
                    <a:pt x="812819" y="1567103"/>
                  </a:lnTo>
                  <a:lnTo>
                    <a:pt x="854941" y="1555862"/>
                  </a:lnTo>
                  <a:lnTo>
                    <a:pt x="896038" y="1541641"/>
                  </a:lnTo>
                  <a:lnTo>
                    <a:pt x="936021" y="1524544"/>
                  </a:lnTo>
                  <a:lnTo>
                    <a:pt x="974798" y="1504674"/>
                  </a:lnTo>
                  <a:lnTo>
                    <a:pt x="1012277" y="1482135"/>
                  </a:lnTo>
                  <a:lnTo>
                    <a:pt x="1048368" y="1457030"/>
                  </a:lnTo>
                  <a:lnTo>
                    <a:pt x="1082978" y="1429463"/>
                  </a:lnTo>
                  <a:lnTo>
                    <a:pt x="1116018" y="1399537"/>
                  </a:lnTo>
                  <a:lnTo>
                    <a:pt x="1147394" y="1367357"/>
                  </a:lnTo>
                  <a:lnTo>
                    <a:pt x="1177017" y="1333026"/>
                  </a:lnTo>
                  <a:lnTo>
                    <a:pt x="1204795" y="1296647"/>
                  </a:lnTo>
                  <a:lnTo>
                    <a:pt x="1230636" y="1258324"/>
                  </a:lnTo>
                  <a:lnTo>
                    <a:pt x="1254449" y="1218160"/>
                  </a:lnTo>
                  <a:lnTo>
                    <a:pt x="1276143" y="1176259"/>
                  </a:lnTo>
                  <a:lnTo>
                    <a:pt x="1295627" y="1132725"/>
                  </a:lnTo>
                  <a:lnTo>
                    <a:pt x="1312809" y="1087662"/>
                  </a:lnTo>
                  <a:lnTo>
                    <a:pt x="1327599" y="1041172"/>
                  </a:lnTo>
                  <a:lnTo>
                    <a:pt x="1339904" y="993359"/>
                  </a:lnTo>
                  <a:lnTo>
                    <a:pt x="1349633" y="944328"/>
                  </a:lnTo>
                  <a:lnTo>
                    <a:pt x="1356696" y="894181"/>
                  </a:lnTo>
                  <a:lnTo>
                    <a:pt x="1361000" y="843022"/>
                  </a:lnTo>
                  <a:lnTo>
                    <a:pt x="1362455" y="790956"/>
                  </a:lnTo>
                  <a:lnTo>
                    <a:pt x="1361000" y="739057"/>
                  </a:lnTo>
                  <a:lnTo>
                    <a:pt x="1356696" y="688039"/>
                  </a:lnTo>
                  <a:lnTo>
                    <a:pt x="1349633" y="638008"/>
                  </a:lnTo>
                  <a:lnTo>
                    <a:pt x="1339904" y="589068"/>
                  </a:lnTo>
                  <a:lnTo>
                    <a:pt x="1327599" y="541324"/>
                  </a:lnTo>
                  <a:lnTo>
                    <a:pt x="1312809" y="494883"/>
                  </a:lnTo>
                  <a:lnTo>
                    <a:pt x="1295627" y="449849"/>
                  </a:lnTo>
                  <a:lnTo>
                    <a:pt x="1276143" y="406328"/>
                  </a:lnTo>
                  <a:lnTo>
                    <a:pt x="1254449" y="364425"/>
                  </a:lnTo>
                  <a:lnTo>
                    <a:pt x="1230636" y="324246"/>
                  </a:lnTo>
                  <a:lnTo>
                    <a:pt x="1204795" y="285895"/>
                  </a:lnTo>
                  <a:lnTo>
                    <a:pt x="1177017" y="249479"/>
                  </a:lnTo>
                  <a:lnTo>
                    <a:pt x="1147394" y="215101"/>
                  </a:lnTo>
                  <a:lnTo>
                    <a:pt x="1116018" y="182869"/>
                  </a:lnTo>
                  <a:lnTo>
                    <a:pt x="1082978" y="152887"/>
                  </a:lnTo>
                  <a:lnTo>
                    <a:pt x="1048368" y="125261"/>
                  </a:lnTo>
                  <a:lnTo>
                    <a:pt x="1012277" y="100095"/>
                  </a:lnTo>
                  <a:lnTo>
                    <a:pt x="974798" y="77495"/>
                  </a:lnTo>
                  <a:lnTo>
                    <a:pt x="936021" y="57567"/>
                  </a:lnTo>
                  <a:lnTo>
                    <a:pt x="896038" y="40416"/>
                  </a:lnTo>
                  <a:lnTo>
                    <a:pt x="854941" y="26147"/>
                  </a:lnTo>
                  <a:lnTo>
                    <a:pt x="812819" y="14865"/>
                  </a:lnTo>
                  <a:lnTo>
                    <a:pt x="769766" y="6677"/>
                  </a:lnTo>
                  <a:lnTo>
                    <a:pt x="725872" y="1686"/>
                  </a:lnTo>
                  <a:lnTo>
                    <a:pt x="68122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265045" y="6850633"/>
              <a:ext cx="1386840" cy="1606550"/>
            </a:xfrm>
            <a:custGeom>
              <a:avLst/>
              <a:gdLst/>
              <a:ahLst/>
              <a:cxnLst/>
              <a:rect l="l" t="t" r="r" b="b"/>
              <a:pathLst>
                <a:path w="1386839" h="1606550">
                  <a:moveTo>
                    <a:pt x="1386840" y="803148"/>
                  </a:moveTo>
                  <a:lnTo>
                    <a:pt x="1383792" y="720852"/>
                  </a:lnTo>
                  <a:lnTo>
                    <a:pt x="1379220" y="681228"/>
                  </a:lnTo>
                  <a:lnTo>
                    <a:pt x="1373124" y="641604"/>
                  </a:lnTo>
                  <a:lnTo>
                    <a:pt x="1365504" y="601980"/>
                  </a:lnTo>
                  <a:lnTo>
                    <a:pt x="1360932" y="586308"/>
                  </a:lnTo>
                  <a:lnTo>
                    <a:pt x="1360932" y="763524"/>
                  </a:lnTo>
                  <a:lnTo>
                    <a:pt x="1360932" y="844296"/>
                  </a:lnTo>
                  <a:lnTo>
                    <a:pt x="1357884" y="883920"/>
                  </a:lnTo>
                  <a:lnTo>
                    <a:pt x="1353312" y="922020"/>
                  </a:lnTo>
                  <a:lnTo>
                    <a:pt x="1347216" y="960120"/>
                  </a:lnTo>
                  <a:lnTo>
                    <a:pt x="1339596" y="998220"/>
                  </a:lnTo>
                  <a:lnTo>
                    <a:pt x="1319784" y="1071372"/>
                  </a:lnTo>
                  <a:lnTo>
                    <a:pt x="1295400" y="1141476"/>
                  </a:lnTo>
                  <a:lnTo>
                    <a:pt x="1246632" y="1239012"/>
                  </a:lnTo>
                  <a:lnTo>
                    <a:pt x="1208532" y="1298448"/>
                  </a:lnTo>
                  <a:lnTo>
                    <a:pt x="1164336" y="1354836"/>
                  </a:lnTo>
                  <a:lnTo>
                    <a:pt x="1117092" y="1405128"/>
                  </a:lnTo>
                  <a:lnTo>
                    <a:pt x="1065276" y="1449324"/>
                  </a:lnTo>
                  <a:lnTo>
                    <a:pt x="981456" y="1505712"/>
                  </a:lnTo>
                  <a:lnTo>
                    <a:pt x="922020" y="1534668"/>
                  </a:lnTo>
                  <a:lnTo>
                    <a:pt x="859536" y="1557528"/>
                  </a:lnTo>
                  <a:lnTo>
                    <a:pt x="794004" y="1572768"/>
                  </a:lnTo>
                  <a:lnTo>
                    <a:pt x="726948" y="1580388"/>
                  </a:lnTo>
                  <a:lnTo>
                    <a:pt x="692658" y="1581912"/>
                  </a:lnTo>
                  <a:lnTo>
                    <a:pt x="658368" y="1580388"/>
                  </a:lnTo>
                  <a:lnTo>
                    <a:pt x="591312" y="1572768"/>
                  </a:lnTo>
                  <a:lnTo>
                    <a:pt x="493776" y="1546860"/>
                  </a:lnTo>
                  <a:lnTo>
                    <a:pt x="432816" y="1520952"/>
                  </a:lnTo>
                  <a:lnTo>
                    <a:pt x="374904" y="1487424"/>
                  </a:lnTo>
                  <a:lnTo>
                    <a:pt x="320040" y="1449324"/>
                  </a:lnTo>
                  <a:lnTo>
                    <a:pt x="268224" y="1403604"/>
                  </a:lnTo>
                  <a:lnTo>
                    <a:pt x="198120" y="1327404"/>
                  </a:lnTo>
                  <a:lnTo>
                    <a:pt x="178308" y="1298448"/>
                  </a:lnTo>
                  <a:lnTo>
                    <a:pt x="156972" y="1269492"/>
                  </a:lnTo>
                  <a:lnTo>
                    <a:pt x="105156" y="1175004"/>
                  </a:lnTo>
                  <a:lnTo>
                    <a:pt x="77724" y="1106424"/>
                  </a:lnTo>
                  <a:lnTo>
                    <a:pt x="54864" y="1034796"/>
                  </a:lnTo>
                  <a:lnTo>
                    <a:pt x="38100" y="960120"/>
                  </a:lnTo>
                  <a:lnTo>
                    <a:pt x="32004" y="922020"/>
                  </a:lnTo>
                  <a:lnTo>
                    <a:pt x="27432" y="882396"/>
                  </a:lnTo>
                  <a:lnTo>
                    <a:pt x="24384" y="803148"/>
                  </a:lnTo>
                  <a:lnTo>
                    <a:pt x="27432" y="723900"/>
                  </a:lnTo>
                  <a:lnTo>
                    <a:pt x="32004" y="684276"/>
                  </a:lnTo>
                  <a:lnTo>
                    <a:pt x="38100" y="646176"/>
                  </a:lnTo>
                  <a:lnTo>
                    <a:pt x="45720" y="608076"/>
                  </a:lnTo>
                  <a:lnTo>
                    <a:pt x="65532" y="534924"/>
                  </a:lnTo>
                  <a:lnTo>
                    <a:pt x="91440" y="464820"/>
                  </a:lnTo>
                  <a:lnTo>
                    <a:pt x="138684" y="367284"/>
                  </a:lnTo>
                  <a:lnTo>
                    <a:pt x="178308" y="307848"/>
                  </a:lnTo>
                  <a:lnTo>
                    <a:pt x="220980" y="252984"/>
                  </a:lnTo>
                  <a:lnTo>
                    <a:pt x="268224" y="202692"/>
                  </a:lnTo>
                  <a:lnTo>
                    <a:pt x="320040" y="156972"/>
                  </a:lnTo>
                  <a:lnTo>
                    <a:pt x="374904" y="118872"/>
                  </a:lnTo>
                  <a:lnTo>
                    <a:pt x="434340" y="85344"/>
                  </a:lnTo>
                  <a:lnTo>
                    <a:pt x="495300" y="59436"/>
                  </a:lnTo>
                  <a:lnTo>
                    <a:pt x="559308" y="41148"/>
                  </a:lnTo>
                  <a:lnTo>
                    <a:pt x="624840" y="28956"/>
                  </a:lnTo>
                  <a:lnTo>
                    <a:pt x="658368" y="25908"/>
                  </a:lnTo>
                  <a:lnTo>
                    <a:pt x="692658" y="25908"/>
                  </a:lnTo>
                  <a:lnTo>
                    <a:pt x="726948" y="25908"/>
                  </a:lnTo>
                  <a:lnTo>
                    <a:pt x="795528" y="35052"/>
                  </a:lnTo>
                  <a:lnTo>
                    <a:pt x="859536" y="50292"/>
                  </a:lnTo>
                  <a:lnTo>
                    <a:pt x="922020" y="73152"/>
                  </a:lnTo>
                  <a:lnTo>
                    <a:pt x="982980" y="102108"/>
                  </a:lnTo>
                  <a:lnTo>
                    <a:pt x="1039368" y="137160"/>
                  </a:lnTo>
                  <a:lnTo>
                    <a:pt x="1092708" y="179832"/>
                  </a:lnTo>
                  <a:lnTo>
                    <a:pt x="1141476" y="227076"/>
                  </a:lnTo>
                  <a:lnTo>
                    <a:pt x="1208532" y="307848"/>
                  </a:lnTo>
                  <a:lnTo>
                    <a:pt x="1246632" y="367284"/>
                  </a:lnTo>
                  <a:lnTo>
                    <a:pt x="1295400" y="466344"/>
                  </a:lnTo>
                  <a:lnTo>
                    <a:pt x="1321308" y="534924"/>
                  </a:lnTo>
                  <a:lnTo>
                    <a:pt x="1339596" y="608076"/>
                  </a:lnTo>
                  <a:lnTo>
                    <a:pt x="1347216" y="646176"/>
                  </a:lnTo>
                  <a:lnTo>
                    <a:pt x="1353312" y="684276"/>
                  </a:lnTo>
                  <a:lnTo>
                    <a:pt x="1357884" y="723900"/>
                  </a:lnTo>
                  <a:lnTo>
                    <a:pt x="1360932" y="763524"/>
                  </a:lnTo>
                  <a:lnTo>
                    <a:pt x="1360932" y="586308"/>
                  </a:lnTo>
                  <a:lnTo>
                    <a:pt x="1354836" y="565404"/>
                  </a:lnTo>
                  <a:lnTo>
                    <a:pt x="1344168" y="527304"/>
                  </a:lnTo>
                  <a:lnTo>
                    <a:pt x="1331976" y="490728"/>
                  </a:lnTo>
                  <a:lnTo>
                    <a:pt x="1303020" y="420624"/>
                  </a:lnTo>
                  <a:lnTo>
                    <a:pt x="1249680" y="323088"/>
                  </a:lnTo>
                  <a:lnTo>
                    <a:pt x="1207008" y="263652"/>
                  </a:lnTo>
                  <a:lnTo>
                    <a:pt x="1159764" y="208788"/>
                  </a:lnTo>
                  <a:lnTo>
                    <a:pt x="1082040" y="137160"/>
                  </a:lnTo>
                  <a:lnTo>
                    <a:pt x="1024128" y="97536"/>
                  </a:lnTo>
                  <a:lnTo>
                    <a:pt x="963168" y="64008"/>
                  </a:lnTo>
                  <a:lnTo>
                    <a:pt x="899160" y="36576"/>
                  </a:lnTo>
                  <a:lnTo>
                    <a:pt x="832104" y="16764"/>
                  </a:lnTo>
                  <a:lnTo>
                    <a:pt x="763524" y="4572"/>
                  </a:lnTo>
                  <a:lnTo>
                    <a:pt x="692658" y="0"/>
                  </a:lnTo>
                  <a:lnTo>
                    <a:pt x="691896" y="0"/>
                  </a:lnTo>
                  <a:lnTo>
                    <a:pt x="621792" y="4572"/>
                  </a:lnTo>
                  <a:lnTo>
                    <a:pt x="553212" y="16764"/>
                  </a:lnTo>
                  <a:lnTo>
                    <a:pt x="486156" y="36576"/>
                  </a:lnTo>
                  <a:lnTo>
                    <a:pt x="422148" y="64008"/>
                  </a:lnTo>
                  <a:lnTo>
                    <a:pt x="361188" y="97536"/>
                  </a:lnTo>
                  <a:lnTo>
                    <a:pt x="277368" y="160020"/>
                  </a:lnTo>
                  <a:lnTo>
                    <a:pt x="225552" y="210312"/>
                  </a:lnTo>
                  <a:lnTo>
                    <a:pt x="178308" y="263652"/>
                  </a:lnTo>
                  <a:lnTo>
                    <a:pt x="135636" y="323088"/>
                  </a:lnTo>
                  <a:lnTo>
                    <a:pt x="99060" y="387096"/>
                  </a:lnTo>
                  <a:lnTo>
                    <a:pt x="67056" y="455676"/>
                  </a:lnTo>
                  <a:lnTo>
                    <a:pt x="41148" y="527304"/>
                  </a:lnTo>
                  <a:lnTo>
                    <a:pt x="30480" y="565404"/>
                  </a:lnTo>
                  <a:lnTo>
                    <a:pt x="21336" y="603504"/>
                  </a:lnTo>
                  <a:lnTo>
                    <a:pt x="13716" y="641604"/>
                  </a:lnTo>
                  <a:lnTo>
                    <a:pt x="7620" y="681228"/>
                  </a:lnTo>
                  <a:lnTo>
                    <a:pt x="3048" y="720852"/>
                  </a:lnTo>
                  <a:lnTo>
                    <a:pt x="0" y="762000"/>
                  </a:lnTo>
                  <a:lnTo>
                    <a:pt x="0" y="844296"/>
                  </a:lnTo>
                  <a:lnTo>
                    <a:pt x="3048" y="885444"/>
                  </a:lnTo>
                  <a:lnTo>
                    <a:pt x="7620" y="925068"/>
                  </a:lnTo>
                  <a:lnTo>
                    <a:pt x="13716" y="964692"/>
                  </a:lnTo>
                  <a:lnTo>
                    <a:pt x="21336" y="1004316"/>
                  </a:lnTo>
                  <a:lnTo>
                    <a:pt x="30480" y="1042416"/>
                  </a:lnTo>
                  <a:lnTo>
                    <a:pt x="41148" y="1078992"/>
                  </a:lnTo>
                  <a:lnTo>
                    <a:pt x="53340" y="1115568"/>
                  </a:lnTo>
                  <a:lnTo>
                    <a:pt x="82296" y="1185672"/>
                  </a:lnTo>
                  <a:lnTo>
                    <a:pt x="117348" y="1252728"/>
                  </a:lnTo>
                  <a:lnTo>
                    <a:pt x="156972" y="1313688"/>
                  </a:lnTo>
                  <a:lnTo>
                    <a:pt x="202692" y="1370076"/>
                  </a:lnTo>
                  <a:lnTo>
                    <a:pt x="225552" y="1397508"/>
                  </a:lnTo>
                  <a:lnTo>
                    <a:pt x="277368" y="1446276"/>
                  </a:lnTo>
                  <a:lnTo>
                    <a:pt x="332232" y="1490472"/>
                  </a:lnTo>
                  <a:lnTo>
                    <a:pt x="391668" y="1527048"/>
                  </a:lnTo>
                  <a:lnTo>
                    <a:pt x="454152" y="1557528"/>
                  </a:lnTo>
                  <a:lnTo>
                    <a:pt x="519684" y="1581912"/>
                  </a:lnTo>
                  <a:lnTo>
                    <a:pt x="586740" y="1597152"/>
                  </a:lnTo>
                  <a:lnTo>
                    <a:pt x="656844" y="1604772"/>
                  </a:lnTo>
                  <a:lnTo>
                    <a:pt x="692658" y="1606296"/>
                  </a:lnTo>
                  <a:lnTo>
                    <a:pt x="728472" y="1604772"/>
                  </a:lnTo>
                  <a:lnTo>
                    <a:pt x="798576" y="1597152"/>
                  </a:lnTo>
                  <a:lnTo>
                    <a:pt x="867156" y="1580388"/>
                  </a:lnTo>
                  <a:lnTo>
                    <a:pt x="932688" y="1557528"/>
                  </a:lnTo>
                  <a:lnTo>
                    <a:pt x="995159" y="1527048"/>
                  </a:lnTo>
                  <a:lnTo>
                    <a:pt x="1082040" y="1469136"/>
                  </a:lnTo>
                  <a:lnTo>
                    <a:pt x="1135380" y="1421892"/>
                  </a:lnTo>
                  <a:lnTo>
                    <a:pt x="1184148" y="1370076"/>
                  </a:lnTo>
                  <a:lnTo>
                    <a:pt x="1228344" y="1313688"/>
                  </a:lnTo>
                  <a:lnTo>
                    <a:pt x="1269492" y="1251204"/>
                  </a:lnTo>
                  <a:lnTo>
                    <a:pt x="1303020" y="1185672"/>
                  </a:lnTo>
                  <a:lnTo>
                    <a:pt x="1318260" y="1150620"/>
                  </a:lnTo>
                  <a:lnTo>
                    <a:pt x="1344168" y="1078992"/>
                  </a:lnTo>
                  <a:lnTo>
                    <a:pt x="1356360" y="1040892"/>
                  </a:lnTo>
                  <a:lnTo>
                    <a:pt x="1365504" y="1002792"/>
                  </a:lnTo>
                  <a:lnTo>
                    <a:pt x="1373124" y="964692"/>
                  </a:lnTo>
                  <a:lnTo>
                    <a:pt x="1379220" y="925068"/>
                  </a:lnTo>
                  <a:lnTo>
                    <a:pt x="1383792" y="885444"/>
                  </a:lnTo>
                  <a:lnTo>
                    <a:pt x="1386840" y="803148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7549" y="7150861"/>
              <a:ext cx="940295" cy="100431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635123" y="7554848"/>
            <a:ext cx="647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1800" spc="-15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1800" spc="-5">
                <a:solidFill>
                  <a:srgbClr val="FFFFFF"/>
                </a:solidFill>
                <a:latin typeface="Times New Roman"/>
                <a:cs typeface="Times New Roman"/>
              </a:rPr>
              <a:t>OD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417445" y="7947914"/>
            <a:ext cx="1102360" cy="1091565"/>
            <a:chOff x="2417445" y="7947914"/>
            <a:chExt cx="1102360" cy="1091565"/>
          </a:xfrm>
        </p:grpSpPr>
        <p:sp>
          <p:nvSpPr>
            <p:cNvPr id="25" name="object 25"/>
            <p:cNvSpPr/>
            <p:nvPr/>
          </p:nvSpPr>
          <p:spPr>
            <a:xfrm>
              <a:off x="2429637" y="7960106"/>
              <a:ext cx="1076325" cy="1066800"/>
            </a:xfrm>
            <a:custGeom>
              <a:avLst/>
              <a:gdLst/>
              <a:ahLst/>
              <a:cxnLst/>
              <a:rect l="l" t="t" r="r" b="b"/>
              <a:pathLst>
                <a:path w="1076325" h="1066800">
                  <a:moveTo>
                    <a:pt x="537971" y="0"/>
                  </a:moveTo>
                  <a:lnTo>
                    <a:pt x="488995" y="2183"/>
                  </a:lnTo>
                  <a:lnTo>
                    <a:pt x="441253" y="8608"/>
                  </a:lnTo>
                  <a:lnTo>
                    <a:pt x="394934" y="19085"/>
                  </a:lnTo>
                  <a:lnTo>
                    <a:pt x="350229" y="33423"/>
                  </a:lnTo>
                  <a:lnTo>
                    <a:pt x="307327" y="51433"/>
                  </a:lnTo>
                  <a:lnTo>
                    <a:pt x="266417" y="72926"/>
                  </a:lnTo>
                  <a:lnTo>
                    <a:pt x="227690" y="97711"/>
                  </a:lnTo>
                  <a:lnTo>
                    <a:pt x="191336" y="125599"/>
                  </a:lnTo>
                  <a:lnTo>
                    <a:pt x="157543" y="156400"/>
                  </a:lnTo>
                  <a:lnTo>
                    <a:pt x="126502" y="189925"/>
                  </a:lnTo>
                  <a:lnTo>
                    <a:pt x="98402" y="225983"/>
                  </a:lnTo>
                  <a:lnTo>
                    <a:pt x="73434" y="264385"/>
                  </a:lnTo>
                  <a:lnTo>
                    <a:pt x="51786" y="304942"/>
                  </a:lnTo>
                  <a:lnTo>
                    <a:pt x="33649" y="347463"/>
                  </a:lnTo>
                  <a:lnTo>
                    <a:pt x="19212" y="391759"/>
                  </a:lnTo>
                  <a:lnTo>
                    <a:pt x="8665" y="437640"/>
                  </a:lnTo>
                  <a:lnTo>
                    <a:pt x="2197" y="484917"/>
                  </a:lnTo>
                  <a:lnTo>
                    <a:pt x="0" y="533400"/>
                  </a:lnTo>
                  <a:lnTo>
                    <a:pt x="2197" y="581882"/>
                  </a:lnTo>
                  <a:lnTo>
                    <a:pt x="8665" y="629159"/>
                  </a:lnTo>
                  <a:lnTo>
                    <a:pt x="19212" y="675040"/>
                  </a:lnTo>
                  <a:lnTo>
                    <a:pt x="33649" y="719336"/>
                  </a:lnTo>
                  <a:lnTo>
                    <a:pt x="51786" y="761857"/>
                  </a:lnTo>
                  <a:lnTo>
                    <a:pt x="73434" y="802414"/>
                  </a:lnTo>
                  <a:lnTo>
                    <a:pt x="98402" y="840816"/>
                  </a:lnTo>
                  <a:lnTo>
                    <a:pt x="126502" y="876874"/>
                  </a:lnTo>
                  <a:lnTo>
                    <a:pt x="157543" y="910399"/>
                  </a:lnTo>
                  <a:lnTo>
                    <a:pt x="191336" y="941200"/>
                  </a:lnTo>
                  <a:lnTo>
                    <a:pt x="227690" y="969088"/>
                  </a:lnTo>
                  <a:lnTo>
                    <a:pt x="266417" y="993873"/>
                  </a:lnTo>
                  <a:lnTo>
                    <a:pt x="307327" y="1015366"/>
                  </a:lnTo>
                  <a:lnTo>
                    <a:pt x="350229" y="1033376"/>
                  </a:lnTo>
                  <a:lnTo>
                    <a:pt x="394934" y="1047714"/>
                  </a:lnTo>
                  <a:lnTo>
                    <a:pt x="441253" y="1058191"/>
                  </a:lnTo>
                  <a:lnTo>
                    <a:pt x="488995" y="1064616"/>
                  </a:lnTo>
                  <a:lnTo>
                    <a:pt x="537971" y="1066800"/>
                  </a:lnTo>
                  <a:lnTo>
                    <a:pt x="586948" y="1064616"/>
                  </a:lnTo>
                  <a:lnTo>
                    <a:pt x="634690" y="1058191"/>
                  </a:lnTo>
                  <a:lnTo>
                    <a:pt x="681009" y="1047714"/>
                  </a:lnTo>
                  <a:lnTo>
                    <a:pt x="725714" y="1033376"/>
                  </a:lnTo>
                  <a:lnTo>
                    <a:pt x="768616" y="1015366"/>
                  </a:lnTo>
                  <a:lnTo>
                    <a:pt x="809526" y="993873"/>
                  </a:lnTo>
                  <a:lnTo>
                    <a:pt x="848253" y="969088"/>
                  </a:lnTo>
                  <a:lnTo>
                    <a:pt x="884607" y="941200"/>
                  </a:lnTo>
                  <a:lnTo>
                    <a:pt x="918400" y="910399"/>
                  </a:lnTo>
                  <a:lnTo>
                    <a:pt x="949441" y="876874"/>
                  </a:lnTo>
                  <a:lnTo>
                    <a:pt x="977541" y="840816"/>
                  </a:lnTo>
                  <a:lnTo>
                    <a:pt x="1002509" y="802414"/>
                  </a:lnTo>
                  <a:lnTo>
                    <a:pt x="1024157" y="761857"/>
                  </a:lnTo>
                  <a:lnTo>
                    <a:pt x="1042294" y="719336"/>
                  </a:lnTo>
                  <a:lnTo>
                    <a:pt x="1056731" y="675040"/>
                  </a:lnTo>
                  <a:lnTo>
                    <a:pt x="1067278" y="629159"/>
                  </a:lnTo>
                  <a:lnTo>
                    <a:pt x="1073746" y="581882"/>
                  </a:lnTo>
                  <a:lnTo>
                    <a:pt x="1075943" y="533400"/>
                  </a:lnTo>
                  <a:lnTo>
                    <a:pt x="1073746" y="484917"/>
                  </a:lnTo>
                  <a:lnTo>
                    <a:pt x="1067278" y="437640"/>
                  </a:lnTo>
                  <a:lnTo>
                    <a:pt x="1056731" y="391759"/>
                  </a:lnTo>
                  <a:lnTo>
                    <a:pt x="1042294" y="347463"/>
                  </a:lnTo>
                  <a:lnTo>
                    <a:pt x="1024157" y="304942"/>
                  </a:lnTo>
                  <a:lnTo>
                    <a:pt x="1002509" y="264385"/>
                  </a:lnTo>
                  <a:lnTo>
                    <a:pt x="977541" y="225983"/>
                  </a:lnTo>
                  <a:lnTo>
                    <a:pt x="949441" y="189925"/>
                  </a:lnTo>
                  <a:lnTo>
                    <a:pt x="918400" y="156400"/>
                  </a:lnTo>
                  <a:lnTo>
                    <a:pt x="884607" y="125599"/>
                  </a:lnTo>
                  <a:lnTo>
                    <a:pt x="848253" y="97711"/>
                  </a:lnTo>
                  <a:lnTo>
                    <a:pt x="809526" y="72926"/>
                  </a:lnTo>
                  <a:lnTo>
                    <a:pt x="768616" y="51433"/>
                  </a:lnTo>
                  <a:lnTo>
                    <a:pt x="725714" y="33423"/>
                  </a:lnTo>
                  <a:lnTo>
                    <a:pt x="681009" y="19085"/>
                  </a:lnTo>
                  <a:lnTo>
                    <a:pt x="634690" y="8608"/>
                  </a:lnTo>
                  <a:lnTo>
                    <a:pt x="586948" y="2183"/>
                  </a:lnTo>
                  <a:lnTo>
                    <a:pt x="53797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417445" y="7947913"/>
              <a:ext cx="1102360" cy="1091565"/>
            </a:xfrm>
            <a:custGeom>
              <a:avLst/>
              <a:gdLst/>
              <a:ahLst/>
              <a:cxnLst/>
              <a:rect l="l" t="t" r="r" b="b"/>
              <a:pathLst>
                <a:path w="1102360" h="1091565">
                  <a:moveTo>
                    <a:pt x="1101852" y="545592"/>
                  </a:moveTo>
                  <a:lnTo>
                    <a:pt x="1098804" y="489204"/>
                  </a:lnTo>
                  <a:lnTo>
                    <a:pt x="1095756" y="461772"/>
                  </a:lnTo>
                  <a:lnTo>
                    <a:pt x="1089660" y="435864"/>
                  </a:lnTo>
                  <a:lnTo>
                    <a:pt x="1083564" y="408432"/>
                  </a:lnTo>
                  <a:lnTo>
                    <a:pt x="1075944" y="382524"/>
                  </a:lnTo>
                  <a:lnTo>
                    <a:pt x="1075944" y="519684"/>
                  </a:lnTo>
                  <a:lnTo>
                    <a:pt x="1075944" y="573024"/>
                  </a:lnTo>
                  <a:lnTo>
                    <a:pt x="1069848" y="624840"/>
                  </a:lnTo>
                  <a:lnTo>
                    <a:pt x="1059180" y="676656"/>
                  </a:lnTo>
                  <a:lnTo>
                    <a:pt x="1043940" y="725424"/>
                  </a:lnTo>
                  <a:lnTo>
                    <a:pt x="1024128" y="771144"/>
                  </a:lnTo>
                  <a:lnTo>
                    <a:pt x="999744" y="815340"/>
                  </a:lnTo>
                  <a:lnTo>
                    <a:pt x="972312" y="856488"/>
                  </a:lnTo>
                  <a:lnTo>
                    <a:pt x="938784" y="896112"/>
                  </a:lnTo>
                  <a:lnTo>
                    <a:pt x="885444" y="947928"/>
                  </a:lnTo>
                  <a:lnTo>
                    <a:pt x="822960" y="990600"/>
                  </a:lnTo>
                  <a:lnTo>
                    <a:pt x="778764" y="1014984"/>
                  </a:lnTo>
                  <a:lnTo>
                    <a:pt x="731520" y="1034796"/>
                  </a:lnTo>
                  <a:lnTo>
                    <a:pt x="681228" y="1050036"/>
                  </a:lnTo>
                  <a:lnTo>
                    <a:pt x="630936" y="1060704"/>
                  </a:lnTo>
                  <a:lnTo>
                    <a:pt x="550926" y="1066800"/>
                  </a:lnTo>
                  <a:lnTo>
                    <a:pt x="496824" y="1063752"/>
                  </a:lnTo>
                  <a:lnTo>
                    <a:pt x="445008" y="1056132"/>
                  </a:lnTo>
                  <a:lnTo>
                    <a:pt x="370332" y="1034796"/>
                  </a:lnTo>
                  <a:lnTo>
                    <a:pt x="323088" y="1014984"/>
                  </a:lnTo>
                  <a:lnTo>
                    <a:pt x="277368" y="990600"/>
                  </a:lnTo>
                  <a:lnTo>
                    <a:pt x="236220" y="963168"/>
                  </a:lnTo>
                  <a:lnTo>
                    <a:pt x="216408" y="946404"/>
                  </a:lnTo>
                  <a:lnTo>
                    <a:pt x="196596" y="931164"/>
                  </a:lnTo>
                  <a:lnTo>
                    <a:pt x="144780" y="876300"/>
                  </a:lnTo>
                  <a:lnTo>
                    <a:pt x="114300" y="836676"/>
                  </a:lnTo>
                  <a:lnTo>
                    <a:pt x="88392" y="794004"/>
                  </a:lnTo>
                  <a:lnTo>
                    <a:pt x="67056" y="748284"/>
                  </a:lnTo>
                  <a:lnTo>
                    <a:pt x="56388" y="723900"/>
                  </a:lnTo>
                  <a:lnTo>
                    <a:pt x="41148" y="675132"/>
                  </a:lnTo>
                  <a:lnTo>
                    <a:pt x="36576" y="650748"/>
                  </a:lnTo>
                  <a:lnTo>
                    <a:pt x="30480" y="624840"/>
                  </a:lnTo>
                  <a:lnTo>
                    <a:pt x="27432" y="598932"/>
                  </a:lnTo>
                  <a:lnTo>
                    <a:pt x="25908" y="571500"/>
                  </a:lnTo>
                  <a:lnTo>
                    <a:pt x="25908" y="518160"/>
                  </a:lnTo>
                  <a:lnTo>
                    <a:pt x="41148" y="414528"/>
                  </a:lnTo>
                  <a:lnTo>
                    <a:pt x="57912" y="365760"/>
                  </a:lnTo>
                  <a:lnTo>
                    <a:pt x="88392" y="297180"/>
                  </a:lnTo>
                  <a:lnTo>
                    <a:pt x="129540" y="233172"/>
                  </a:lnTo>
                  <a:lnTo>
                    <a:pt x="161544" y="195072"/>
                  </a:lnTo>
                  <a:lnTo>
                    <a:pt x="216408" y="143256"/>
                  </a:lnTo>
                  <a:lnTo>
                    <a:pt x="300228" y="86868"/>
                  </a:lnTo>
                  <a:lnTo>
                    <a:pt x="345948" y="65532"/>
                  </a:lnTo>
                  <a:lnTo>
                    <a:pt x="419100" y="41148"/>
                  </a:lnTo>
                  <a:lnTo>
                    <a:pt x="470916" y="30480"/>
                  </a:lnTo>
                  <a:lnTo>
                    <a:pt x="550926" y="24384"/>
                  </a:lnTo>
                  <a:lnTo>
                    <a:pt x="605028" y="27432"/>
                  </a:lnTo>
                  <a:lnTo>
                    <a:pt x="656844" y="35052"/>
                  </a:lnTo>
                  <a:lnTo>
                    <a:pt x="731520" y="56388"/>
                  </a:lnTo>
                  <a:lnTo>
                    <a:pt x="778764" y="76200"/>
                  </a:lnTo>
                  <a:lnTo>
                    <a:pt x="822960" y="100584"/>
                  </a:lnTo>
                  <a:lnTo>
                    <a:pt x="865632" y="128016"/>
                  </a:lnTo>
                  <a:lnTo>
                    <a:pt x="903732" y="160020"/>
                  </a:lnTo>
                  <a:lnTo>
                    <a:pt x="922020" y="178308"/>
                  </a:lnTo>
                  <a:lnTo>
                    <a:pt x="940308" y="195072"/>
                  </a:lnTo>
                  <a:lnTo>
                    <a:pt x="972312" y="234696"/>
                  </a:lnTo>
                  <a:lnTo>
                    <a:pt x="1013460" y="297180"/>
                  </a:lnTo>
                  <a:lnTo>
                    <a:pt x="1034796" y="342900"/>
                  </a:lnTo>
                  <a:lnTo>
                    <a:pt x="1053084" y="391668"/>
                  </a:lnTo>
                  <a:lnTo>
                    <a:pt x="1065276" y="440436"/>
                  </a:lnTo>
                  <a:lnTo>
                    <a:pt x="1075944" y="519684"/>
                  </a:lnTo>
                  <a:lnTo>
                    <a:pt x="1075944" y="382524"/>
                  </a:lnTo>
                  <a:lnTo>
                    <a:pt x="1057656" y="332232"/>
                  </a:lnTo>
                  <a:lnTo>
                    <a:pt x="1034796" y="284988"/>
                  </a:lnTo>
                  <a:lnTo>
                    <a:pt x="1007364" y="239268"/>
                  </a:lnTo>
                  <a:lnTo>
                    <a:pt x="958596" y="178308"/>
                  </a:lnTo>
                  <a:lnTo>
                    <a:pt x="920496" y="141732"/>
                  </a:lnTo>
                  <a:lnTo>
                    <a:pt x="900671" y="123444"/>
                  </a:lnTo>
                  <a:lnTo>
                    <a:pt x="836676" y="77724"/>
                  </a:lnTo>
                  <a:lnTo>
                    <a:pt x="812292" y="65532"/>
                  </a:lnTo>
                  <a:lnTo>
                    <a:pt x="789432" y="53340"/>
                  </a:lnTo>
                  <a:lnTo>
                    <a:pt x="739140" y="32004"/>
                  </a:lnTo>
                  <a:lnTo>
                    <a:pt x="687324" y="16764"/>
                  </a:lnTo>
                  <a:lnTo>
                    <a:pt x="606552" y="1524"/>
                  </a:lnTo>
                  <a:lnTo>
                    <a:pt x="579120" y="0"/>
                  </a:lnTo>
                  <a:lnTo>
                    <a:pt x="550926" y="0"/>
                  </a:lnTo>
                  <a:lnTo>
                    <a:pt x="522732" y="0"/>
                  </a:lnTo>
                  <a:lnTo>
                    <a:pt x="466344" y="6096"/>
                  </a:lnTo>
                  <a:lnTo>
                    <a:pt x="413004" y="16764"/>
                  </a:lnTo>
                  <a:lnTo>
                    <a:pt x="361188" y="32004"/>
                  </a:lnTo>
                  <a:lnTo>
                    <a:pt x="312420" y="53340"/>
                  </a:lnTo>
                  <a:lnTo>
                    <a:pt x="242316" y="92964"/>
                  </a:lnTo>
                  <a:lnTo>
                    <a:pt x="199644" y="124968"/>
                  </a:lnTo>
                  <a:lnTo>
                    <a:pt x="143256" y="178308"/>
                  </a:lnTo>
                  <a:lnTo>
                    <a:pt x="79248" y="262128"/>
                  </a:lnTo>
                  <a:lnTo>
                    <a:pt x="53340" y="309372"/>
                  </a:lnTo>
                  <a:lnTo>
                    <a:pt x="33528" y="358140"/>
                  </a:lnTo>
                  <a:lnTo>
                    <a:pt x="16764" y="409956"/>
                  </a:lnTo>
                  <a:lnTo>
                    <a:pt x="6096" y="463296"/>
                  </a:lnTo>
                  <a:lnTo>
                    <a:pt x="0" y="518160"/>
                  </a:lnTo>
                  <a:lnTo>
                    <a:pt x="0" y="574548"/>
                  </a:lnTo>
                  <a:lnTo>
                    <a:pt x="6096" y="629412"/>
                  </a:lnTo>
                  <a:lnTo>
                    <a:pt x="16764" y="682752"/>
                  </a:lnTo>
                  <a:lnTo>
                    <a:pt x="33528" y="733044"/>
                  </a:lnTo>
                  <a:lnTo>
                    <a:pt x="42672" y="758952"/>
                  </a:lnTo>
                  <a:lnTo>
                    <a:pt x="54864" y="781812"/>
                  </a:lnTo>
                  <a:lnTo>
                    <a:pt x="67056" y="806196"/>
                  </a:lnTo>
                  <a:lnTo>
                    <a:pt x="79248" y="829056"/>
                  </a:lnTo>
                  <a:lnTo>
                    <a:pt x="109728" y="871728"/>
                  </a:lnTo>
                  <a:lnTo>
                    <a:pt x="143256" y="912876"/>
                  </a:lnTo>
                  <a:lnTo>
                    <a:pt x="179832" y="949452"/>
                  </a:lnTo>
                  <a:lnTo>
                    <a:pt x="220980" y="982980"/>
                  </a:lnTo>
                  <a:lnTo>
                    <a:pt x="265176" y="1013460"/>
                  </a:lnTo>
                  <a:lnTo>
                    <a:pt x="312420" y="1037844"/>
                  </a:lnTo>
                  <a:lnTo>
                    <a:pt x="361188" y="1059180"/>
                  </a:lnTo>
                  <a:lnTo>
                    <a:pt x="413004" y="1074420"/>
                  </a:lnTo>
                  <a:lnTo>
                    <a:pt x="467868" y="1085088"/>
                  </a:lnTo>
                  <a:lnTo>
                    <a:pt x="522732" y="1091184"/>
                  </a:lnTo>
                  <a:lnTo>
                    <a:pt x="550926" y="1091184"/>
                  </a:lnTo>
                  <a:lnTo>
                    <a:pt x="579120" y="1091184"/>
                  </a:lnTo>
                  <a:lnTo>
                    <a:pt x="635508" y="1085088"/>
                  </a:lnTo>
                  <a:lnTo>
                    <a:pt x="688848" y="1074420"/>
                  </a:lnTo>
                  <a:lnTo>
                    <a:pt x="740664" y="1057656"/>
                  </a:lnTo>
                  <a:lnTo>
                    <a:pt x="789432" y="1037844"/>
                  </a:lnTo>
                  <a:lnTo>
                    <a:pt x="859523" y="998220"/>
                  </a:lnTo>
                  <a:lnTo>
                    <a:pt x="900671" y="966216"/>
                  </a:lnTo>
                  <a:lnTo>
                    <a:pt x="922020" y="949452"/>
                  </a:lnTo>
                  <a:lnTo>
                    <a:pt x="958596" y="912876"/>
                  </a:lnTo>
                  <a:lnTo>
                    <a:pt x="992124" y="871728"/>
                  </a:lnTo>
                  <a:lnTo>
                    <a:pt x="1022604" y="829056"/>
                  </a:lnTo>
                  <a:lnTo>
                    <a:pt x="1046988" y="781812"/>
                  </a:lnTo>
                  <a:lnTo>
                    <a:pt x="1068324" y="733044"/>
                  </a:lnTo>
                  <a:lnTo>
                    <a:pt x="1089660" y="655320"/>
                  </a:lnTo>
                  <a:lnTo>
                    <a:pt x="1098804" y="600456"/>
                  </a:lnTo>
                  <a:lnTo>
                    <a:pt x="1101852" y="545592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97277" y="8171942"/>
              <a:ext cx="739127" cy="641603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2708275" y="8318372"/>
            <a:ext cx="519430" cy="41973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27329" marR="5080" indent="-215265">
              <a:lnSpc>
                <a:spcPts val="1550"/>
              </a:lnSpc>
              <a:spcBef>
                <a:spcPts val="155"/>
              </a:spcBef>
            </a:pPr>
            <a:r>
              <a:rPr dirty="0" sz="1300" spc="-5">
                <a:solidFill>
                  <a:srgbClr val="FFFFFF"/>
                </a:solidFill>
                <a:latin typeface="Times New Roman"/>
                <a:cs typeface="Times New Roman"/>
              </a:rPr>
              <a:t>Animal  </a:t>
            </a:r>
            <a:r>
              <a:rPr dirty="0" sz="1300" spc="-5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95552" y="6405626"/>
            <a:ext cx="4249420" cy="2326005"/>
            <a:chOff x="995552" y="6405626"/>
            <a:chExt cx="4249420" cy="2326005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2597" y="6416294"/>
              <a:ext cx="1095743" cy="12953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39464" y="6635750"/>
              <a:ext cx="1257287" cy="12953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10508" y="6903974"/>
              <a:ext cx="1504188" cy="12039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2608" y="6405626"/>
              <a:ext cx="1513331" cy="14020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47952" y="6626606"/>
              <a:ext cx="1324356" cy="12039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14652" y="6903974"/>
              <a:ext cx="1124699" cy="12039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62908" y="8039354"/>
              <a:ext cx="1495043" cy="10972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95852" y="8353299"/>
              <a:ext cx="1562100" cy="1112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5552" y="8104887"/>
              <a:ext cx="1476756" cy="11125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20164" y="8362442"/>
              <a:ext cx="1219187" cy="12039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10864" y="8574277"/>
              <a:ext cx="2133600" cy="156972"/>
            </a:xfrm>
            <a:prstGeom prst="rect">
              <a:avLst/>
            </a:prstGeom>
          </p:spPr>
        </p:pic>
      </p:grpSp>
      <p:sp>
        <p:nvSpPr>
          <p:cNvPr id="41" name="object 41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4480" cy="10814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6120" marR="10795" indent="-228600">
              <a:lnSpc>
                <a:spcPct val="144200"/>
              </a:lnSpc>
              <a:spcBef>
                <a:spcPts val="10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>
                <a:latin typeface="Arial MT"/>
                <a:cs typeface="Arial MT"/>
              </a:rPr>
              <a:t>Advance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organizer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those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elements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required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master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</a:t>
            </a:r>
            <a:r>
              <a:rPr dirty="0" sz="1200">
                <a:latin typeface="Arial MT"/>
                <a:cs typeface="Arial MT"/>
              </a:rPr>
              <a:t> i.e.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noun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etc.</a:t>
            </a:r>
            <a:endParaRPr sz="1200">
              <a:latin typeface="Arial MT"/>
              <a:cs typeface="Arial MT"/>
            </a:endParaRPr>
          </a:p>
          <a:p>
            <a:pPr marL="706120" marR="10795" indent="-228600">
              <a:lnSpc>
                <a:spcPct val="144200"/>
              </a:lnSpc>
              <a:spcBef>
                <a:spcPts val="13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>
                <a:latin typeface="Arial MT"/>
                <a:cs typeface="Arial MT"/>
              </a:rPr>
              <a:t>Advance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‘big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picture’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establish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relationship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concepts.</a:t>
            </a:r>
            <a:endParaRPr sz="1200">
              <a:latin typeface="Arial MT"/>
              <a:cs typeface="Arial MT"/>
            </a:endParaRPr>
          </a:p>
          <a:p>
            <a:pPr marL="706120" indent="-229235">
              <a:lnSpc>
                <a:spcPct val="100000"/>
              </a:lnSpc>
              <a:spcBef>
                <a:spcPts val="77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>
                <a:latin typeface="Arial MT"/>
                <a:cs typeface="Arial MT"/>
              </a:rPr>
              <a:t>Advance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organizer model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 upon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deductive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 marL="18415" marR="13335" indent="-6350">
              <a:lnSpc>
                <a:spcPct val="144200"/>
              </a:lnSpc>
              <a:spcBef>
                <a:spcPts val="1005"/>
              </a:spcBef>
            </a:pPr>
            <a:r>
              <a:rPr dirty="0" sz="1200" spc="-5">
                <a:latin typeface="Arial MT"/>
                <a:cs typeface="Arial MT"/>
              </a:rPr>
              <a:t>Advance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organizer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useful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5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communicate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expectations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Discussion:</a:t>
            </a:r>
            <a:endParaRPr sz="1200">
              <a:latin typeface="Arial"/>
              <a:cs typeface="Arial"/>
            </a:endParaRPr>
          </a:p>
          <a:p>
            <a:pPr algn="just" marL="18415" marR="9525" indent="-6350">
              <a:lnSpc>
                <a:spcPts val="2060"/>
              </a:lnSpc>
              <a:spcBef>
                <a:spcPts val="165"/>
              </a:spcBef>
            </a:pPr>
            <a:r>
              <a:rPr dirty="0" sz="1200" spc="-5">
                <a:latin typeface="Arial MT"/>
                <a:cs typeface="Arial MT"/>
              </a:rPr>
              <a:t>Advance organizer model uses deductive approach </a:t>
            </a:r>
            <a:r>
              <a:rPr dirty="0" sz="1200">
                <a:latin typeface="Arial MT"/>
                <a:cs typeface="Arial MT"/>
              </a:rPr>
              <a:t>but 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part of </a:t>
            </a:r>
            <a:r>
              <a:rPr dirty="0" sz="1200" spc="-5">
                <a:latin typeface="Arial MT"/>
                <a:cs typeface="Arial MT"/>
              </a:rPr>
              <a:t>deduction that when things </a:t>
            </a:r>
            <a:r>
              <a:rPr dirty="0" sz="1200" spc="-15">
                <a:latin typeface="Arial MT"/>
                <a:cs typeface="Arial MT"/>
              </a:rPr>
              <a:t>are 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isolated,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isolated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70"/>
              </a:spcBef>
            </a:pPr>
            <a:r>
              <a:rPr dirty="0" sz="1200" spc="-5">
                <a:latin typeface="Arial MT"/>
                <a:cs typeface="Arial MT"/>
              </a:rPr>
              <a:t>in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above.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reinforce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concept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again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15">
                <a:latin typeface="Arial MT"/>
                <a:cs typeface="Arial MT"/>
              </a:rPr>
              <a:t>to</a:t>
            </a:r>
            <a:endParaRPr sz="1200">
              <a:latin typeface="Arial MT"/>
              <a:cs typeface="Arial MT"/>
            </a:endParaRPr>
          </a:p>
          <a:p>
            <a:pPr algn="just" marL="18415" marR="508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After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move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After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the components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concept, a teacher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>
                <a:latin typeface="Arial MT"/>
                <a:cs typeface="Arial MT"/>
              </a:rPr>
              <a:t>ask </a:t>
            </a:r>
            <a:r>
              <a:rPr dirty="0" sz="1200" spc="-5">
                <a:latin typeface="Arial MT"/>
                <a:cs typeface="Arial MT"/>
              </a:rPr>
              <a:t>the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describe the concept of food in </a:t>
            </a:r>
            <a:r>
              <a:rPr dirty="0" sz="1200">
                <a:latin typeface="Arial MT"/>
                <a:cs typeface="Arial MT"/>
              </a:rPr>
              <a:t> their </a:t>
            </a:r>
            <a:r>
              <a:rPr dirty="0" sz="1200" spc="-5">
                <a:latin typeface="Arial MT"/>
                <a:cs typeface="Arial MT"/>
              </a:rPr>
              <a:t>own words. It is </a:t>
            </a:r>
            <a:r>
              <a:rPr dirty="0" sz="1200">
                <a:latin typeface="Arial MT"/>
                <a:cs typeface="Arial MT"/>
              </a:rPr>
              <a:t>very different </a:t>
            </a:r>
            <a:r>
              <a:rPr dirty="0" sz="1200" spc="-5">
                <a:latin typeface="Arial MT"/>
                <a:cs typeface="Arial MT"/>
              </a:rPr>
              <a:t>from concept analysis model.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major difference in advance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organizer and concept analysis model is that when a teacher follows concept analysis model.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 has to tell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characteristics, examples, non-examples and hierarchy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concept. While following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advance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don’t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characteristics,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examples,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non-examples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hierarchy or even the definition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concept as well.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teacher only needs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present all </a:t>
            </a:r>
            <a:r>
              <a:rPr dirty="0" sz="1200">
                <a:latin typeface="Arial MT"/>
                <a:cs typeface="Arial MT"/>
              </a:rPr>
              <a:t>those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things </a:t>
            </a:r>
            <a:r>
              <a:rPr dirty="0" sz="1200" spc="-5">
                <a:latin typeface="Arial MT"/>
                <a:cs typeface="Arial MT"/>
              </a:rPr>
              <a:t>and students 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understand </a:t>
            </a:r>
            <a:r>
              <a:rPr dirty="0" sz="1200">
                <a:latin typeface="Arial MT"/>
                <a:cs typeface="Arial MT"/>
              </a:rPr>
              <a:t>it. </a:t>
            </a:r>
            <a:r>
              <a:rPr dirty="0" sz="1200" spc="-5">
                <a:latin typeface="Arial MT"/>
                <a:cs typeface="Arial MT"/>
              </a:rPr>
              <a:t>So in </a:t>
            </a:r>
            <a:r>
              <a:rPr dirty="0" sz="1200" spc="5">
                <a:latin typeface="Arial MT"/>
                <a:cs typeface="Arial MT"/>
              </a:rPr>
              <a:t>advance </a:t>
            </a:r>
            <a:r>
              <a:rPr dirty="0" sz="1200" spc="-5">
                <a:latin typeface="Arial MT"/>
                <a:cs typeface="Arial MT"/>
              </a:rPr>
              <a:t>organizer model, teachers don’t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follow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followed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analysis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model.</a:t>
            </a:r>
            <a:endParaRPr sz="1200">
              <a:latin typeface="Arial MT"/>
              <a:cs typeface="Arial MT"/>
            </a:endParaRPr>
          </a:p>
          <a:p>
            <a:pPr algn="just" marL="18415" marR="7620" indent="-6350">
              <a:lnSpc>
                <a:spcPct val="1442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Advance organizer gives teachers a big picture;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have taught all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components </a:t>
            </a:r>
            <a:r>
              <a:rPr dirty="0" sz="1200">
                <a:latin typeface="Arial MT"/>
                <a:cs typeface="Arial MT"/>
              </a:rPr>
              <a:t>of that </a:t>
            </a:r>
            <a:r>
              <a:rPr dirty="0" sz="1200" spc="-5">
                <a:latin typeface="Arial MT"/>
                <a:cs typeface="Arial MT"/>
              </a:rPr>
              <a:t>big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 to the students by isolating </a:t>
            </a:r>
            <a:r>
              <a:rPr dirty="0" sz="1200">
                <a:latin typeface="Arial MT"/>
                <a:cs typeface="Arial MT"/>
              </a:rPr>
              <a:t>them. After </a:t>
            </a:r>
            <a:r>
              <a:rPr dirty="0" sz="1200" spc="-5">
                <a:latin typeface="Arial MT"/>
                <a:cs typeface="Arial MT"/>
              </a:rPr>
              <a:t>teaching the concepts, the concepts </a:t>
            </a:r>
            <a:r>
              <a:rPr dirty="0" sz="1200" spc="-10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integrated. Concept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analysis model is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components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Advance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Organizer</a:t>
            </a:r>
            <a:r>
              <a:rPr dirty="0" sz="1200" b="1">
                <a:latin typeface="Arial"/>
                <a:cs typeface="Arial"/>
              </a:rPr>
              <a:t> Model can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used</a:t>
            </a:r>
            <a:r>
              <a:rPr dirty="0" sz="1200" b="1">
                <a:latin typeface="Arial"/>
                <a:cs typeface="Arial"/>
              </a:rPr>
              <a:t> to </a:t>
            </a:r>
            <a:r>
              <a:rPr dirty="0" sz="1200" spc="-5" b="1">
                <a:latin typeface="Arial"/>
                <a:cs typeface="Arial"/>
              </a:rPr>
              <a:t>teach: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50">
              <a:latin typeface="Arial"/>
              <a:cs typeface="Arial"/>
            </a:endParaRPr>
          </a:p>
          <a:p>
            <a:pPr marL="706120" indent="-229235">
              <a:lnSpc>
                <a:spcPct val="100000"/>
              </a:lnSpc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>
                <a:latin typeface="Arial MT"/>
                <a:cs typeface="Arial MT"/>
              </a:rPr>
              <a:t>Any concept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big </a:t>
            </a:r>
            <a:r>
              <a:rPr dirty="0" sz="1200" spc="-5">
                <a:latin typeface="Arial MT"/>
                <a:cs typeface="Arial MT"/>
              </a:rPr>
              <a:t>picture.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706120" marR="6350" indent="-228600">
              <a:lnSpc>
                <a:spcPct val="143900"/>
              </a:lnSpc>
              <a:buFont typeface="Times New Roman"/>
              <a:buChar char="-"/>
              <a:tabLst>
                <a:tab pos="706755" algn="l"/>
              </a:tabLst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 spc="-10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learn procedures and </a:t>
            </a:r>
            <a:r>
              <a:rPr dirty="0" sz="1200">
                <a:latin typeface="Arial MT"/>
                <a:cs typeface="Arial MT"/>
              </a:rPr>
              <a:t>logic. If </a:t>
            </a:r>
            <a:r>
              <a:rPr dirty="0" sz="1200" spc="-5">
                <a:latin typeface="Arial MT"/>
                <a:cs typeface="Arial MT"/>
              </a:rPr>
              <a:t>students have got the concept but they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unable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follow a certain procedure. Now </a:t>
            </a:r>
            <a:r>
              <a:rPr dirty="0" sz="1200">
                <a:latin typeface="Arial MT"/>
                <a:cs typeface="Arial MT"/>
              </a:rPr>
              <a:t>here, </a:t>
            </a:r>
            <a:r>
              <a:rPr dirty="0" sz="1200" spc="-5">
                <a:latin typeface="Arial MT"/>
                <a:cs typeface="Arial MT"/>
              </a:rPr>
              <a:t>advance organizer </a:t>
            </a:r>
            <a:r>
              <a:rPr dirty="0" sz="1200">
                <a:latin typeface="Arial MT"/>
                <a:cs typeface="Arial MT"/>
              </a:rPr>
              <a:t>model </a:t>
            </a:r>
            <a:r>
              <a:rPr dirty="0" sz="1200" spc="-5">
                <a:latin typeface="Arial MT"/>
                <a:cs typeface="Arial MT"/>
              </a:rPr>
              <a:t>cannot be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successfully.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analysis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teach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850">
              <a:latin typeface="Arial MT"/>
              <a:cs typeface="Arial MT"/>
            </a:endParaRPr>
          </a:p>
          <a:p>
            <a:pPr algn="just" marL="706120" marR="10160" indent="-228600">
              <a:lnSpc>
                <a:spcPct val="144200"/>
              </a:lnSpc>
              <a:buFont typeface="Times New Roman"/>
              <a:buChar char="-"/>
              <a:tabLst>
                <a:tab pos="706755" algn="l"/>
              </a:tabLst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advance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5">
                <a:latin typeface="Arial MT"/>
                <a:cs typeface="Arial MT"/>
              </a:rPr>
              <a:t> where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can’t.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-"/>
            </a:pPr>
            <a:endParaRPr sz="1850">
              <a:latin typeface="Arial MT"/>
              <a:cs typeface="Arial MT"/>
            </a:endParaRPr>
          </a:p>
          <a:p>
            <a:pPr algn="just" marL="706120" marR="6985" indent="-228600">
              <a:lnSpc>
                <a:spcPct val="143300"/>
              </a:lnSpc>
              <a:buFont typeface="Times New Roman"/>
              <a:buChar char="-"/>
              <a:tabLst>
                <a:tab pos="706755" algn="l"/>
              </a:tabLst>
            </a:pPr>
            <a:r>
              <a:rPr dirty="0" sz="1200" spc="-5">
                <a:latin typeface="Arial MT"/>
                <a:cs typeface="Arial MT"/>
              </a:rPr>
              <a:t>Advance organizer and Concept analysis model are very good models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teach </a:t>
            </a:r>
            <a:r>
              <a:rPr dirty="0" sz="1200" spc="-5">
                <a:latin typeface="Arial MT"/>
                <a:cs typeface="Arial MT"/>
              </a:rPr>
              <a:t>different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science,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studies,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Islamiyat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languages.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remember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always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useful.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Every</a:t>
            </a:r>
            <a:r>
              <a:rPr dirty="0" sz="1200" spc="-5">
                <a:latin typeface="Arial MT"/>
                <a:cs typeface="Arial MT"/>
              </a:rPr>
              <a:t> model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contextual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importance.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5572" y="682751"/>
            <a:ext cx="6979920" cy="39370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22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“Multi-Methodology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Instructional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Process”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3955" y="1267176"/>
            <a:ext cx="6633845" cy="552323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Outlines</a:t>
            </a:r>
            <a:endParaRPr sz="14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545"/>
              </a:spcBef>
              <a:buFont typeface="Times New Roman"/>
              <a:buAutoNum type="arabicPeriod"/>
              <a:tabLst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Multi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Methodology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Right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vs.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Left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Implications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5" b="1">
                <a:latin typeface="Arial"/>
                <a:cs typeface="Arial"/>
              </a:rPr>
              <a:t> teaching.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Creativity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Right-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hemisphere Objectives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Styles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Harvard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Gardner’s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Multiple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Intelligence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Arial"/>
              <a:cs typeface="Arial"/>
            </a:endParaRPr>
          </a:p>
          <a:p>
            <a:pPr algn="just" marL="20320" marR="5080" indent="-6350">
              <a:lnSpc>
                <a:spcPct val="1442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Being teachers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must know how human </a:t>
            </a:r>
            <a:r>
              <a:rPr dirty="0" sz="1200">
                <a:latin typeface="Arial MT"/>
                <a:cs typeface="Arial MT"/>
              </a:rPr>
              <a:t>mind </a:t>
            </a:r>
            <a:r>
              <a:rPr dirty="0" sz="1200" spc="-5">
                <a:latin typeface="Arial MT"/>
                <a:cs typeface="Arial MT"/>
              </a:rPr>
              <a:t>perceive the classroom knowledge? </a:t>
            </a:r>
            <a:r>
              <a:rPr dirty="0" sz="1200" spc="-10">
                <a:latin typeface="Arial MT"/>
                <a:cs typeface="Arial MT"/>
              </a:rPr>
              <a:t>How </a:t>
            </a:r>
            <a:r>
              <a:rPr dirty="0" sz="1200" spc="-5">
                <a:latin typeface="Arial MT"/>
                <a:cs typeface="Arial MT"/>
              </a:rPr>
              <a:t>does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human mind work? </a:t>
            </a:r>
            <a:r>
              <a:rPr dirty="0" sz="1200" spc="-1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where the information store in the brain.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will talk about the importance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use of multi </a:t>
            </a:r>
            <a:r>
              <a:rPr dirty="0" sz="1200" spc="-5">
                <a:latin typeface="Arial MT"/>
                <a:cs typeface="Arial MT"/>
              </a:rPr>
              <a:t>methodology. Our mind works in a peculiar way,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has right and left hemispheres.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Childs mind is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developmental phase till the age of </a:t>
            </a:r>
            <a:r>
              <a:rPr dirty="0" sz="1200">
                <a:latin typeface="Arial MT"/>
                <a:cs typeface="Arial MT"/>
              </a:rPr>
              <a:t>8. By </a:t>
            </a:r>
            <a:r>
              <a:rPr dirty="0" sz="1200" spc="-5">
                <a:latin typeface="Arial MT"/>
                <a:cs typeface="Arial MT"/>
              </a:rPr>
              <a:t>the age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8 these sides are well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Multi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Methodology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Arial"/>
              <a:cs typeface="Arial"/>
            </a:endParaRPr>
          </a:p>
          <a:p>
            <a:pPr algn="just" marL="20320" marR="5080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Different types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mental functions occur in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left and right hemisphere. </a:t>
            </a:r>
            <a:r>
              <a:rPr dirty="0" sz="1200">
                <a:latin typeface="Arial MT"/>
                <a:cs typeface="Arial MT"/>
              </a:rPr>
              <a:t>Our </a:t>
            </a:r>
            <a:r>
              <a:rPr dirty="0" sz="1200" spc="-5">
                <a:latin typeface="Arial MT"/>
                <a:cs typeface="Arial MT"/>
              </a:rPr>
              <a:t>brain is composed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right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left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hemisphere.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responsible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kinds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functions.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Below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functions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carried out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right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left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hemisphere.</a:t>
            </a:r>
            <a:endParaRPr sz="12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810"/>
              </a:spcBef>
            </a:pPr>
            <a:r>
              <a:rPr dirty="0" sz="1400" spc="-5" b="1">
                <a:latin typeface="Arial"/>
                <a:cs typeface="Arial"/>
              </a:rPr>
              <a:t>Right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vs.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Left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7219" y="6800977"/>
          <a:ext cx="6091555" cy="1899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015"/>
                <a:gridCol w="3041015"/>
              </a:tblGrid>
              <a:tr h="32766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Right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Left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73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31089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1.Visual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1.Verbal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2.Nonverbal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2.Logical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3.Spatial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3.Categorical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4.divergent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thinking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4.Convergent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thinking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3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5.Intuition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5.Detail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65480" y="8856344"/>
            <a:ext cx="6630670" cy="2927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8415" marR="5715" indent="-6350">
              <a:lnSpc>
                <a:spcPct val="144300"/>
              </a:lnSpc>
              <a:spcBef>
                <a:spcPts val="95"/>
              </a:spcBef>
            </a:pPr>
            <a:r>
              <a:rPr dirty="0" sz="1200" b="1">
                <a:latin typeface="Arial"/>
                <a:cs typeface="Arial"/>
              </a:rPr>
              <a:t>Divergent </a:t>
            </a:r>
            <a:r>
              <a:rPr dirty="0" sz="1200" spc="-5" b="1">
                <a:latin typeface="Arial"/>
                <a:cs typeface="Arial"/>
              </a:rPr>
              <a:t>thinking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more </a:t>
            </a:r>
            <a:r>
              <a:rPr dirty="0" sz="1200" spc="-5">
                <a:latin typeface="Arial MT"/>
                <a:cs typeface="Arial MT"/>
              </a:rPr>
              <a:t>creative. Divergent thinking is outside the box thinking.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creativity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divergent thinking is very important. We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think in </a:t>
            </a:r>
            <a:r>
              <a:rPr dirty="0" sz="1200">
                <a:latin typeface="Arial MT"/>
                <a:cs typeface="Arial MT"/>
              </a:rPr>
              <a:t>fixed </a:t>
            </a:r>
            <a:r>
              <a:rPr dirty="0" sz="1200" spc="-5">
                <a:latin typeface="Arial MT"/>
                <a:cs typeface="Arial MT"/>
              </a:rPr>
              <a:t>manner. We can ask some strange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Right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hemisphere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responsible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type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</a:pPr>
            <a:r>
              <a:rPr dirty="0" sz="1200" b="1">
                <a:latin typeface="Arial"/>
                <a:cs typeface="Arial"/>
              </a:rPr>
              <a:t>Convergent </a:t>
            </a:r>
            <a:r>
              <a:rPr dirty="0" sz="1200" spc="-5" b="1">
                <a:latin typeface="Arial"/>
                <a:cs typeface="Arial"/>
              </a:rPr>
              <a:t>thinking </a:t>
            </a:r>
            <a:r>
              <a:rPr dirty="0" sz="1200" spc="-5">
                <a:latin typeface="Arial MT"/>
                <a:cs typeface="Arial MT"/>
              </a:rPr>
              <a:t>is more focused.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 example we have a </a:t>
            </a:r>
            <a:r>
              <a:rPr dirty="0" sz="1200" spc="-10">
                <a:latin typeface="Arial MT"/>
                <a:cs typeface="Arial MT"/>
              </a:rPr>
              <a:t>lot </a:t>
            </a:r>
            <a:r>
              <a:rPr dirty="0" sz="1200" spc="-5">
                <a:latin typeface="Arial MT"/>
                <a:cs typeface="Arial MT"/>
              </a:rPr>
              <a:t>of different facts and ideas </a:t>
            </a:r>
            <a:r>
              <a:rPr dirty="0" sz="1200" spc="-10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carried out some results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them or logically converge them. Evaluative, analytical and </a:t>
            </a:r>
            <a:r>
              <a:rPr dirty="0" sz="1200">
                <a:latin typeface="Arial MT"/>
                <a:cs typeface="Arial MT"/>
              </a:rPr>
              <a:t>logical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thinking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it.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 type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done</a:t>
            </a:r>
            <a:r>
              <a:rPr dirty="0" sz="1200">
                <a:latin typeface="Arial MT"/>
                <a:cs typeface="Arial MT"/>
              </a:rPr>
              <a:t> by </a:t>
            </a:r>
            <a:r>
              <a:rPr dirty="0" sz="1200" spc="-5">
                <a:latin typeface="Arial MT"/>
                <a:cs typeface="Arial MT"/>
              </a:rPr>
              <a:t>left </a:t>
            </a:r>
            <a:r>
              <a:rPr dirty="0" sz="1200">
                <a:latin typeface="Arial MT"/>
                <a:cs typeface="Arial MT"/>
              </a:rPr>
              <a:t>hemisphere.</a:t>
            </a:r>
            <a:endParaRPr sz="1200">
              <a:latin typeface="Arial MT"/>
              <a:cs typeface="Arial MT"/>
            </a:endParaRPr>
          </a:p>
          <a:p>
            <a:pPr algn="just" marL="18415" marR="8255" indent="-6350">
              <a:lnSpc>
                <a:spcPct val="1442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Guessing is basically intuition. Some people have intuitive feeling. Their right brain is prominent in </a:t>
            </a:r>
            <a:r>
              <a:rPr dirty="0" sz="1200">
                <a:latin typeface="Arial MT"/>
                <a:cs typeface="Arial MT"/>
              </a:rPr>
              <a:t> this</a:t>
            </a:r>
            <a:r>
              <a:rPr dirty="0" sz="1200" spc="-5">
                <a:latin typeface="Arial MT"/>
                <a:cs typeface="Arial MT"/>
              </a:rPr>
              <a:t> function.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1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someone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recognize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him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face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function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right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associate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name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face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responsibility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left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remember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name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4480" cy="10774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6985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and face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that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both </a:t>
            </a:r>
            <a:r>
              <a:rPr dirty="0" sz="1200">
                <a:latin typeface="Arial MT"/>
                <a:cs typeface="Arial MT"/>
              </a:rPr>
              <a:t>sides </a:t>
            </a:r>
            <a:r>
              <a:rPr dirty="0" sz="1200" spc="-5">
                <a:latin typeface="Arial MT"/>
                <a:cs typeface="Arial MT"/>
              </a:rPr>
              <a:t>are working </a:t>
            </a:r>
            <a:r>
              <a:rPr dirty="0" sz="1200">
                <a:latin typeface="Arial MT"/>
                <a:cs typeface="Arial MT"/>
              </a:rPr>
              <a:t>equally. </a:t>
            </a:r>
            <a:r>
              <a:rPr dirty="0" sz="1200" spc="-5">
                <a:latin typeface="Arial MT"/>
                <a:cs typeface="Arial MT"/>
              </a:rPr>
              <a:t>Those who remember the </a:t>
            </a:r>
            <a:r>
              <a:rPr dirty="0" sz="1200">
                <a:latin typeface="Arial MT"/>
                <a:cs typeface="Arial MT"/>
              </a:rPr>
              <a:t>faces it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visual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spatial</a:t>
            </a:r>
            <a:r>
              <a:rPr dirty="0" sz="1200">
                <a:latin typeface="Arial MT"/>
                <a:cs typeface="Arial MT"/>
              </a:rPr>
              <a:t> part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strong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verbal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weak.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Implications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for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teaching.</a:t>
            </a:r>
            <a:endParaRPr sz="1400">
              <a:latin typeface="Arial"/>
              <a:cs typeface="Arial"/>
            </a:endParaRPr>
          </a:p>
          <a:p>
            <a:pPr algn="just" marL="412115">
              <a:lnSpc>
                <a:spcPct val="100000"/>
              </a:lnSpc>
              <a:spcBef>
                <a:spcPts val="545"/>
              </a:spcBef>
            </a:pPr>
            <a:r>
              <a:rPr dirty="0" sz="1200" spc="-5" b="1">
                <a:latin typeface="Arial"/>
                <a:cs typeface="Arial"/>
              </a:rPr>
              <a:t>Teachers </a:t>
            </a:r>
            <a:r>
              <a:rPr dirty="0" sz="1200" b="1">
                <a:latin typeface="Arial"/>
                <a:cs typeface="Arial"/>
              </a:rPr>
              <a:t>should </a:t>
            </a:r>
            <a:r>
              <a:rPr dirty="0" sz="1200" spc="-5" b="1">
                <a:latin typeface="Arial"/>
                <a:cs typeface="Arial"/>
              </a:rPr>
              <a:t>plan</a:t>
            </a:r>
            <a:r>
              <a:rPr dirty="0" sz="1200" b="1">
                <a:latin typeface="Arial"/>
                <a:cs typeface="Arial"/>
              </a:rPr>
              <a:t> instruction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5" b="1">
                <a:latin typeface="Arial"/>
                <a:cs typeface="Arial"/>
              </a:rPr>
              <a:t> enhance</a:t>
            </a:r>
            <a:r>
              <a:rPr dirty="0" sz="1200" b="1">
                <a:latin typeface="Arial"/>
                <a:cs typeface="Arial"/>
              </a:rPr>
              <a:t> both </a:t>
            </a:r>
            <a:r>
              <a:rPr dirty="0" sz="1200" spc="-5" b="1">
                <a:latin typeface="Arial"/>
                <a:cs typeface="Arial"/>
              </a:rPr>
              <a:t>hemispheres.</a:t>
            </a:r>
            <a:endParaRPr sz="1200">
              <a:latin typeface="Arial"/>
              <a:cs typeface="Arial"/>
            </a:endParaRPr>
          </a:p>
          <a:p>
            <a:pPr algn="just" marL="477520" marR="7620" indent="-66040">
              <a:lnSpc>
                <a:spcPct val="142500"/>
              </a:lnSpc>
            </a:pPr>
            <a:r>
              <a:rPr dirty="0" sz="1200" spc="-5" b="1">
                <a:latin typeface="Arial"/>
                <a:cs typeface="Arial"/>
              </a:rPr>
              <a:t>Teachers persistently emphasis objectives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instruction that focus </a:t>
            </a:r>
            <a:r>
              <a:rPr dirty="0" sz="1200" b="1">
                <a:latin typeface="Arial"/>
                <a:cs typeface="Arial"/>
              </a:rPr>
              <a:t>on </a:t>
            </a:r>
            <a:r>
              <a:rPr dirty="0" sz="1200" spc="-5" b="1">
                <a:latin typeface="Arial"/>
                <a:cs typeface="Arial"/>
              </a:rPr>
              <a:t>the </a:t>
            </a:r>
            <a:r>
              <a:rPr dirty="0" sz="1200" b="1">
                <a:latin typeface="Arial"/>
                <a:cs typeface="Arial"/>
              </a:rPr>
              <a:t>left </a:t>
            </a:r>
            <a:r>
              <a:rPr dirty="0" sz="1200" spc="-5" b="1">
                <a:latin typeface="Arial"/>
                <a:cs typeface="Arial"/>
              </a:rPr>
              <a:t>side </a:t>
            </a:r>
            <a:r>
              <a:rPr dirty="0" sz="1200" b="1">
                <a:latin typeface="Arial"/>
                <a:cs typeface="Arial"/>
              </a:rPr>
              <a:t> of brain. </a:t>
            </a:r>
            <a:r>
              <a:rPr dirty="0" sz="1200" spc="-5" b="1">
                <a:latin typeface="Arial"/>
                <a:cs typeface="Arial"/>
              </a:rPr>
              <a:t>We always </a:t>
            </a:r>
            <a:r>
              <a:rPr dirty="0" sz="1200" b="1">
                <a:latin typeface="Arial"/>
                <a:cs typeface="Arial"/>
              </a:rPr>
              <a:t>talk about </a:t>
            </a:r>
            <a:r>
              <a:rPr dirty="0" sz="1200" spc="-5" b="1">
                <a:latin typeface="Arial"/>
                <a:cs typeface="Arial"/>
              </a:rPr>
              <a:t>creative thing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synthesis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higher level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10" b="1">
                <a:latin typeface="Arial"/>
                <a:cs typeface="Arial"/>
              </a:rPr>
              <a:t>Bloom’s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taxonomy.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What happens</a:t>
            </a:r>
            <a:r>
              <a:rPr dirty="0" sz="1200" b="1">
                <a:latin typeface="Arial"/>
                <a:cs typeface="Arial"/>
              </a:rPr>
              <a:t> in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actual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classroom?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Arial"/>
              <a:cs typeface="Arial"/>
            </a:endParaRPr>
          </a:p>
          <a:p>
            <a:pPr algn="just" marL="12700" marR="5080">
              <a:lnSpc>
                <a:spcPct val="144100"/>
              </a:lnSpc>
            </a:pP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research was conducted and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was reported that teachers mostly </a:t>
            </a:r>
            <a:r>
              <a:rPr dirty="0" sz="1200">
                <a:latin typeface="Arial MT"/>
                <a:cs typeface="Arial MT"/>
              </a:rPr>
              <a:t>focus </a:t>
            </a:r>
            <a:r>
              <a:rPr dirty="0" sz="1200" spc="-5">
                <a:latin typeface="Arial MT"/>
                <a:cs typeface="Arial MT"/>
              </a:rPr>
              <a:t>on left hemisphere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left hemisphere there is </a:t>
            </a:r>
            <a:r>
              <a:rPr dirty="0" sz="1200">
                <a:latin typeface="Arial MT"/>
                <a:cs typeface="Arial MT"/>
              </a:rPr>
              <a:t>logical </a:t>
            </a:r>
            <a:r>
              <a:rPr dirty="0" sz="1200" spc="-5">
                <a:latin typeface="Arial MT"/>
                <a:cs typeface="Arial MT"/>
              </a:rPr>
              <a:t>thinking, verbal intelligence, details and convergent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thinking.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a result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such instruction left brain function dominates. There is imbalance between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right and left brain. For </a:t>
            </a:r>
            <a:r>
              <a:rPr dirty="0" sz="1200">
                <a:latin typeface="Arial MT"/>
                <a:cs typeface="Arial MT"/>
              </a:rPr>
              <a:t>teachers it </a:t>
            </a:r>
            <a:r>
              <a:rPr dirty="0" sz="1200" spc="-5">
                <a:latin typeface="Arial MT"/>
                <a:cs typeface="Arial MT"/>
              </a:rPr>
              <a:t>is important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construct their instruction in such a way </a:t>
            </a:r>
            <a:r>
              <a:rPr dirty="0" sz="1200">
                <a:latin typeface="Arial MT"/>
                <a:cs typeface="Arial MT"/>
              </a:rPr>
              <a:t>that s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suitable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development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right as well as </a:t>
            </a:r>
            <a:r>
              <a:rPr dirty="0" sz="1200">
                <a:latin typeface="Arial MT"/>
                <a:cs typeface="Arial MT"/>
              </a:rPr>
              <a:t>left brain. </a:t>
            </a:r>
            <a:r>
              <a:rPr dirty="0" sz="1200" spc="-5">
                <a:latin typeface="Arial MT"/>
                <a:cs typeface="Arial MT"/>
              </a:rPr>
              <a:t>When we talk about right side there 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function </a:t>
            </a:r>
            <a:r>
              <a:rPr dirty="0" sz="1200">
                <a:latin typeface="Arial MT"/>
                <a:cs typeface="Arial MT"/>
              </a:rPr>
              <a:t>of creativity </a:t>
            </a:r>
            <a:r>
              <a:rPr dirty="0" sz="1200" spc="-5">
                <a:latin typeface="Arial MT"/>
                <a:cs typeface="Arial MT"/>
              </a:rPr>
              <a:t>and divergent. The problem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 teacher is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construct such </a:t>
            </a:r>
            <a:r>
              <a:rPr dirty="0" sz="1200">
                <a:latin typeface="Arial MT"/>
                <a:cs typeface="Arial MT"/>
              </a:rPr>
              <a:t>objectives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measureable. There is a difficulty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measure the creativity. Performance objectives are </a:t>
            </a:r>
            <a:r>
              <a:rPr dirty="0" sz="1200">
                <a:latin typeface="Arial MT"/>
                <a:cs typeface="Arial MT"/>
              </a:rPr>
              <a:t> those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measureable.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hard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400" spc="-5" b="1">
                <a:latin typeface="Arial"/>
                <a:cs typeface="Arial"/>
              </a:rPr>
              <a:t>Creativity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and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Right-</a:t>
            </a:r>
            <a:r>
              <a:rPr dirty="0" sz="1400" spc="-5" b="1">
                <a:latin typeface="Arial"/>
                <a:cs typeface="Arial"/>
              </a:rPr>
              <a:t> hemisphere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Objectives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Arial"/>
              <a:cs typeface="Arial"/>
            </a:endParaRPr>
          </a:p>
          <a:p>
            <a:pPr algn="just" marL="26034" marR="10795" indent="-6350">
              <a:lnSpc>
                <a:spcPct val="142500"/>
              </a:lnSpc>
            </a:pPr>
            <a:r>
              <a:rPr dirty="0" sz="1200" b="1">
                <a:latin typeface="Arial"/>
                <a:cs typeface="Arial"/>
              </a:rPr>
              <a:t>Create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story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using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story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starter,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which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all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physical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elements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story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starter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incorporated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 plot.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Arial"/>
              <a:cs typeface="Arial"/>
            </a:endParaRPr>
          </a:p>
          <a:p>
            <a:pPr algn="just" marL="18415" marR="6985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function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divergent thinking. Objective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be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form that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10">
                <a:latin typeface="Arial MT"/>
                <a:cs typeface="Arial MT"/>
              </a:rPr>
              <a:t>can be </a:t>
            </a:r>
            <a:r>
              <a:rPr dirty="0" sz="1200" spc="-5">
                <a:latin typeface="Arial MT"/>
                <a:cs typeface="Arial MT"/>
              </a:rPr>
              <a:t>measured. If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story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own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choice?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vague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measured.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child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brief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story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someone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else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skillful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story. </a:t>
            </a:r>
            <a:r>
              <a:rPr dirty="0" sz="1200" spc="-5">
                <a:latin typeface="Arial MT"/>
                <a:cs typeface="Arial MT"/>
              </a:rPr>
              <a:t>So our objective should measure the creativity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all </a:t>
            </a:r>
            <a:r>
              <a:rPr dirty="0" sz="1200">
                <a:latin typeface="Arial MT"/>
                <a:cs typeface="Arial MT"/>
              </a:rPr>
              <a:t>kinds </a:t>
            </a:r>
            <a:r>
              <a:rPr dirty="0" sz="1200" spc="-5">
                <a:latin typeface="Arial MT"/>
                <a:cs typeface="Arial MT"/>
              </a:rPr>
              <a:t>of children. But we must give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space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 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divergent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Arial MT"/>
              <a:cs typeface="Arial MT"/>
            </a:endParaRPr>
          </a:p>
          <a:p>
            <a:pPr algn="just" marL="26034" marR="12700" indent="-6350">
              <a:lnSpc>
                <a:spcPct val="142500"/>
              </a:lnSpc>
            </a:pPr>
            <a:r>
              <a:rPr dirty="0" sz="1200" b="1">
                <a:latin typeface="Arial"/>
                <a:cs typeface="Arial"/>
              </a:rPr>
              <a:t>Using only </a:t>
            </a:r>
            <a:r>
              <a:rPr dirty="0" sz="1200" spc="-5" b="1">
                <a:latin typeface="Arial"/>
                <a:cs typeface="Arial"/>
              </a:rPr>
              <a:t>three primary </a:t>
            </a:r>
            <a:r>
              <a:rPr dirty="0" sz="1200" b="1">
                <a:latin typeface="Arial"/>
                <a:cs typeface="Arial"/>
              </a:rPr>
              <a:t>colors, </a:t>
            </a:r>
            <a:r>
              <a:rPr dirty="0" sz="1200" spc="-5" b="1">
                <a:latin typeface="Arial"/>
                <a:cs typeface="Arial"/>
              </a:rPr>
              <a:t>create a </a:t>
            </a:r>
            <a:r>
              <a:rPr dirty="0" sz="1200" b="1">
                <a:latin typeface="Arial"/>
                <a:cs typeface="Arial"/>
              </a:rPr>
              <a:t>painting </a:t>
            </a:r>
            <a:r>
              <a:rPr dirty="0" sz="1200" spc="-5" b="1">
                <a:latin typeface="Arial"/>
                <a:cs typeface="Arial"/>
              </a:rPr>
              <a:t>that includes all the elements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the </a:t>
            </a:r>
            <a:r>
              <a:rPr dirty="0" sz="1200" b="1">
                <a:latin typeface="Arial"/>
                <a:cs typeface="Arial"/>
              </a:rPr>
              <a:t> modern</a:t>
            </a:r>
            <a:r>
              <a:rPr dirty="0" sz="1200" spc="-5" b="1">
                <a:latin typeface="Arial"/>
                <a:cs typeface="Arial"/>
              </a:rPr>
              <a:t> style.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Arial"/>
              <a:cs typeface="Arial"/>
            </a:endParaRPr>
          </a:p>
          <a:p>
            <a:pPr algn="just"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Create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brochure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signify</a:t>
            </a:r>
            <a:r>
              <a:rPr dirty="0" sz="1200" spc="-5" b="1">
                <a:latin typeface="Arial"/>
                <a:cs typeface="Arial"/>
              </a:rPr>
              <a:t> cell travel.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Arial"/>
              <a:cs typeface="Arial"/>
            </a:endParaRPr>
          </a:p>
          <a:p>
            <a:pPr algn="just" marL="18415" marR="10160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such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help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right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left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side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even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>
                <a:latin typeface="Arial MT"/>
                <a:cs typeface="Arial MT"/>
              </a:rPr>
              <a:t>practical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life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after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 able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sides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>
                <a:latin typeface="Arial MT"/>
                <a:cs typeface="Arial MT"/>
              </a:rPr>
              <a:t>brain.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appropriate,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both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sides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brain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are not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working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appropriately.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Multimethodology</a:t>
            </a:r>
            <a:endParaRPr sz="14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50"/>
              </a:spcBef>
            </a:pPr>
            <a:r>
              <a:rPr dirty="0" sz="1200" spc="-5">
                <a:latin typeface="Arial MT"/>
                <a:cs typeface="Arial MT"/>
              </a:rPr>
              <a:t>Multi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methodology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collection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2575" cy="5407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1016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provides instructionally rich classroom by making use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variety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teaching methods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techniques like: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Project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Inquiry/student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research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Lecture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Demonstrations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Videos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arrange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 methods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our </a:t>
            </a:r>
            <a:r>
              <a:rPr dirty="0" sz="1200" spc="-5">
                <a:latin typeface="Arial MT"/>
                <a:cs typeface="Arial MT"/>
              </a:rPr>
              <a:t>planning.</a:t>
            </a:r>
            <a:endParaRPr sz="1200">
              <a:latin typeface="Arial MT"/>
              <a:cs typeface="Arial MT"/>
            </a:endParaRPr>
          </a:p>
          <a:p>
            <a:pPr algn="just" marL="12700" marR="9525">
              <a:lnSpc>
                <a:spcPts val="2060"/>
              </a:lnSpc>
              <a:spcBef>
                <a:spcPts val="165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can use techniques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different </a:t>
            </a:r>
            <a:r>
              <a:rPr dirty="0" sz="1200">
                <a:latin typeface="Arial MT"/>
                <a:cs typeface="Arial MT"/>
              </a:rPr>
              <a:t>tool </a:t>
            </a:r>
            <a:r>
              <a:rPr dirty="0" sz="1200" spc="-5">
                <a:latin typeface="Arial MT"/>
                <a:cs typeface="Arial MT"/>
              </a:rPr>
              <a:t>in classroom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make </a:t>
            </a:r>
            <a:r>
              <a:rPr dirty="0" sz="1200" spc="-5">
                <a:latin typeface="Arial MT"/>
                <a:cs typeface="Arial MT"/>
              </a:rPr>
              <a:t>up for multi methodology.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Maybe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start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brainstorming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wind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up.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Then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5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minutes</a:t>
            </a:r>
            <a:endParaRPr sz="1200">
              <a:latin typeface="Arial MT"/>
              <a:cs typeface="Arial MT"/>
            </a:endParaRPr>
          </a:p>
          <a:p>
            <a:pPr algn="just" marL="18415" marR="5715">
              <a:lnSpc>
                <a:spcPts val="208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lecture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demonstrate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show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them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video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2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3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minutes.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multiple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intelligence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Attention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small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10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minutes.</a:t>
            </a:r>
            <a:r>
              <a:rPr dirty="0" sz="1200" spc="3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elder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ones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5">
                <a:latin typeface="Arial MT"/>
                <a:cs typeface="Arial MT"/>
              </a:rPr>
              <a:t> maybe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15</a:t>
            </a:r>
            <a:r>
              <a:rPr dirty="0" sz="1200">
                <a:latin typeface="Arial MT"/>
                <a:cs typeface="Arial MT"/>
              </a:rPr>
              <a:t> minutes.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40 minutes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endParaRPr sz="1200">
              <a:latin typeface="Arial MT"/>
              <a:cs typeface="Arial MT"/>
            </a:endParaRPr>
          </a:p>
          <a:p>
            <a:pPr algn="just" marL="18415" marR="508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student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attention time is not more than 15 minutes. They will </a:t>
            </a:r>
            <a:r>
              <a:rPr dirty="0" sz="1200">
                <a:latin typeface="Arial MT"/>
                <a:cs typeface="Arial MT"/>
              </a:rPr>
              <a:t>distract after </a:t>
            </a:r>
            <a:r>
              <a:rPr dirty="0" sz="1200" spc="-5">
                <a:latin typeface="Arial MT"/>
                <a:cs typeface="Arial MT"/>
              </a:rPr>
              <a:t>sometime.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Variation is the quality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good lesson. There must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some techniques </a:t>
            </a:r>
            <a:r>
              <a:rPr dirty="0" sz="1200">
                <a:latin typeface="Arial MT"/>
                <a:cs typeface="Arial MT"/>
              </a:rPr>
              <a:t>after </a:t>
            </a:r>
            <a:r>
              <a:rPr dirty="0" sz="1200" spc="-5">
                <a:latin typeface="Arial MT"/>
                <a:cs typeface="Arial MT"/>
              </a:rPr>
              <a:t>short intervals that </a:t>
            </a:r>
            <a:r>
              <a:rPr dirty="0" sz="1200">
                <a:latin typeface="Arial MT"/>
                <a:cs typeface="Arial MT"/>
              </a:rPr>
              <a:t> may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address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various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styles.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strategies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30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also.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How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can be </a:t>
            </a:r>
            <a:r>
              <a:rPr dirty="0" sz="1200" spc="-5">
                <a:latin typeface="Arial MT"/>
                <a:cs typeface="Arial MT"/>
              </a:rPr>
              <a:t>happens.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example is that we can </a:t>
            </a:r>
            <a:r>
              <a:rPr dirty="0" sz="1200">
                <a:latin typeface="Arial MT"/>
                <a:cs typeface="Arial MT"/>
              </a:rPr>
              <a:t>show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30 </a:t>
            </a:r>
            <a:r>
              <a:rPr dirty="0" sz="1200" spc="-5">
                <a:latin typeface="Arial MT"/>
                <a:cs typeface="Arial MT"/>
              </a:rPr>
              <a:t>second visual clip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students </a:t>
            </a:r>
            <a:r>
              <a:rPr dirty="0" sz="120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 may </a:t>
            </a:r>
            <a:r>
              <a:rPr dirty="0" sz="1200" spc="-5">
                <a:latin typeface="Arial MT"/>
                <a:cs typeface="Arial MT"/>
              </a:rPr>
              <a:t>ask them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see </a:t>
            </a:r>
            <a:r>
              <a:rPr dirty="0" sz="1200">
                <a:latin typeface="Arial MT"/>
                <a:cs typeface="Arial MT"/>
              </a:rPr>
              <a:t>it for </a:t>
            </a:r>
            <a:r>
              <a:rPr dirty="0" sz="1200" spc="-5">
                <a:latin typeface="Arial MT"/>
                <a:cs typeface="Arial MT"/>
              </a:rPr>
              <a:t>30 second and identify the things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this clip.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also a strategy. </a:t>
            </a:r>
            <a:r>
              <a:rPr dirty="0" sz="1200" spc="-1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 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good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necessary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use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strategies.</a:t>
            </a:r>
            <a:endParaRPr sz="12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650"/>
              </a:spcBef>
            </a:pP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5">
                <a:latin typeface="Arial MT"/>
                <a:cs typeface="Arial MT"/>
              </a:rPr>
              <a:t> has 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lot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benefits.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enjoy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type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9746742"/>
            <a:ext cx="6631305" cy="199898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80"/>
              </a:spcBef>
            </a:pP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styles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68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Auditory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Visual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Tactile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969"/>
              </a:spcBef>
            </a:pPr>
            <a:r>
              <a:rPr dirty="0" sz="1200" spc="-5">
                <a:latin typeface="Arial MT"/>
                <a:cs typeface="Arial MT"/>
              </a:rPr>
              <a:t>Auditory is related to hearing. Children with auditory learning </a:t>
            </a:r>
            <a:r>
              <a:rPr dirty="0" sz="1200">
                <a:latin typeface="Arial MT"/>
                <a:cs typeface="Arial MT"/>
              </a:rPr>
              <a:t>style </a:t>
            </a:r>
            <a:r>
              <a:rPr dirty="0" sz="1200" spc="-5">
                <a:latin typeface="Arial MT"/>
                <a:cs typeface="Arial MT"/>
              </a:rPr>
              <a:t>enjoy </a:t>
            </a:r>
            <a:r>
              <a:rPr dirty="0" sz="1200">
                <a:latin typeface="Arial MT"/>
                <a:cs typeface="Arial MT"/>
              </a:rPr>
              <a:t>lectures </a:t>
            </a:r>
            <a:r>
              <a:rPr dirty="0" sz="1200" spc="-5">
                <a:latin typeface="Arial MT"/>
                <a:cs typeface="Arial MT"/>
              </a:rPr>
              <a:t>and discussions. </a:t>
            </a:r>
            <a:r>
              <a:rPr dirty="0" sz="1200">
                <a:latin typeface="Arial MT"/>
                <a:cs typeface="Arial MT"/>
              </a:rPr>
              <a:t> They </a:t>
            </a:r>
            <a:r>
              <a:rPr dirty="0" sz="1200" spc="-5">
                <a:latin typeface="Arial MT"/>
                <a:cs typeface="Arial MT"/>
              </a:rPr>
              <a:t>enjoy listening. Voice pitch matters a lot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these children they do not understand only </a:t>
            </a:r>
            <a:r>
              <a:rPr dirty="0" sz="1200">
                <a:latin typeface="Arial MT"/>
                <a:cs typeface="Arial MT"/>
              </a:rPr>
              <a:t>visual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tools.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auditory,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visual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tactile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learners.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voice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580" y="6191630"/>
            <a:ext cx="5814822" cy="311467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4480" cy="5616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1270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tool for </a:t>
            </a:r>
            <a:r>
              <a:rPr dirty="0" sz="1200" spc="-5">
                <a:latin typeface="Arial MT"/>
                <a:cs typeface="Arial MT"/>
              </a:rPr>
              <a:t>the auditory learners. Fast </a:t>
            </a:r>
            <a:r>
              <a:rPr dirty="0" sz="1200" spc="-10">
                <a:latin typeface="Arial MT"/>
                <a:cs typeface="Arial MT"/>
              </a:rPr>
              <a:t>speed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voice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teacher will be disturbing </a:t>
            </a:r>
            <a:r>
              <a:rPr dirty="0" sz="1200">
                <a:latin typeface="Arial MT"/>
                <a:cs typeface="Arial MT"/>
              </a:rPr>
              <a:t>for this type 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learners.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0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Demonstration method is a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10">
                <a:latin typeface="Arial MT"/>
                <a:cs typeface="Arial MT"/>
              </a:rPr>
              <a:t>good </a:t>
            </a:r>
            <a:r>
              <a:rPr dirty="0" sz="1200" spc="-5">
                <a:latin typeface="Arial MT"/>
                <a:cs typeface="Arial MT"/>
              </a:rPr>
              <a:t>method </a:t>
            </a:r>
            <a:r>
              <a:rPr dirty="0" sz="1200">
                <a:latin typeface="Arial MT"/>
                <a:cs typeface="Arial MT"/>
              </a:rPr>
              <a:t>for visual </a:t>
            </a:r>
            <a:r>
              <a:rPr dirty="0" sz="1200" spc="-5">
                <a:latin typeface="Arial MT"/>
                <a:cs typeface="Arial MT"/>
              </a:rPr>
              <a:t>learners.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said that good </a:t>
            </a:r>
            <a:r>
              <a:rPr dirty="0" sz="1200">
                <a:latin typeface="Arial MT"/>
                <a:cs typeface="Arial MT"/>
              </a:rPr>
              <a:t>lecturers </a:t>
            </a:r>
            <a:r>
              <a:rPr dirty="0" sz="1200" spc="-5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 those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audio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visual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aids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lecturing.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could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useful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visual</a:t>
            </a:r>
            <a:r>
              <a:rPr dirty="0" sz="1200" spc="-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learners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 </a:t>
            </a:r>
            <a:r>
              <a:rPr dirty="0" sz="1200">
                <a:latin typeface="Arial MT"/>
                <a:cs typeface="Arial MT"/>
              </a:rPr>
              <a:t>if they </a:t>
            </a:r>
            <a:r>
              <a:rPr dirty="0" sz="1200" spc="-5">
                <a:latin typeface="Arial MT"/>
                <a:cs typeface="Arial MT"/>
              </a:rPr>
              <a:t>are accompanied with audio visual aids. Diagram illustration is also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important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 type </a:t>
            </a:r>
            <a:r>
              <a:rPr dirty="0" sz="1200" spc="-5">
                <a:latin typeface="Arial MT"/>
                <a:cs typeface="Arial MT"/>
              </a:rPr>
              <a:t>of children. Teacher’s </a:t>
            </a:r>
            <a:r>
              <a:rPr dirty="0" sz="1200">
                <a:latin typeface="Arial MT"/>
                <a:cs typeface="Arial MT"/>
              </a:rPr>
              <a:t>facial expression </a:t>
            </a:r>
            <a:r>
              <a:rPr dirty="0" sz="1200" spc="-5">
                <a:latin typeface="Arial MT"/>
                <a:cs typeface="Arial MT"/>
              </a:rPr>
              <a:t>also matters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these children. Teacher’s </a:t>
            </a:r>
            <a:r>
              <a:rPr dirty="0" sz="1200">
                <a:latin typeface="Arial MT"/>
                <a:cs typeface="Arial MT"/>
              </a:rPr>
              <a:t>body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matter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children.</a:t>
            </a:r>
            <a:endParaRPr sz="1200">
              <a:latin typeface="Arial MT"/>
              <a:cs typeface="Arial MT"/>
            </a:endParaRPr>
          </a:p>
          <a:p>
            <a:pPr algn="just" marL="18415" marR="6985" indent="-6350">
              <a:lnSpc>
                <a:spcPct val="1442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Tactile learners are those who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by touching. Kinesthetic learners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those who </a:t>
            </a:r>
            <a:r>
              <a:rPr dirty="0" sz="1200">
                <a:latin typeface="Arial MT"/>
                <a:cs typeface="Arial MT"/>
              </a:rPr>
              <a:t>are most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disadvantage learners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classrooms. Doing is </a:t>
            </a:r>
            <a:r>
              <a:rPr dirty="0" sz="1200">
                <a:latin typeface="Arial MT"/>
                <a:cs typeface="Arial MT"/>
              </a:rPr>
              <a:t>very important </a:t>
            </a:r>
            <a:r>
              <a:rPr dirty="0" sz="1200" spc="-5">
                <a:latin typeface="Arial MT"/>
                <a:cs typeface="Arial MT"/>
              </a:rPr>
              <a:t>for these children. Teacher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 the opportunity </a:t>
            </a:r>
            <a:r>
              <a:rPr dirty="0" sz="1200">
                <a:latin typeface="Arial MT"/>
                <a:cs typeface="Arial MT"/>
              </a:rPr>
              <a:t>to the </a:t>
            </a:r>
            <a:r>
              <a:rPr dirty="0" sz="1200" spc="-5">
                <a:latin typeface="Arial MT"/>
                <a:cs typeface="Arial MT"/>
              </a:rPr>
              <a:t>learners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experiment.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have students who have different learning </a:t>
            </a:r>
            <a:r>
              <a:rPr dirty="0" sz="1200">
                <a:latin typeface="Arial MT"/>
                <a:cs typeface="Arial MT"/>
              </a:rPr>
              <a:t> styles.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predominant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style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themselves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the </a:t>
            </a:r>
            <a:r>
              <a:rPr dirty="0" sz="1200" spc="-5">
                <a:latin typeface="Arial MT"/>
                <a:cs typeface="Arial MT"/>
              </a:rPr>
              <a:t>situations. Some learners have distinct </a:t>
            </a:r>
            <a:r>
              <a:rPr dirty="0" sz="1200">
                <a:latin typeface="Arial MT"/>
                <a:cs typeface="Arial MT"/>
              </a:rPr>
              <a:t>learning </a:t>
            </a:r>
            <a:r>
              <a:rPr dirty="0" sz="1200" spc="-5">
                <a:latin typeface="Arial MT"/>
                <a:cs typeface="Arial MT"/>
              </a:rPr>
              <a:t>styles. Being teachers we 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 sensitive according </a:t>
            </a:r>
            <a:r>
              <a:rPr dirty="0" sz="1200">
                <a:latin typeface="Arial MT"/>
                <a:cs typeface="Arial MT"/>
              </a:rPr>
              <a:t>to the </a:t>
            </a:r>
            <a:r>
              <a:rPr dirty="0" sz="1200" spc="-5">
                <a:latin typeface="Arial MT"/>
                <a:cs typeface="Arial MT"/>
              </a:rPr>
              <a:t>needs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children. Multi methodology will be helpful for all </a:t>
            </a:r>
            <a:r>
              <a:rPr dirty="0" sz="1200">
                <a:latin typeface="Arial MT"/>
                <a:cs typeface="Arial MT"/>
              </a:rPr>
              <a:t>kinds 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learners.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Harvard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Gardner’s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Multiple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Intelligence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Arial"/>
              <a:cs typeface="Arial"/>
            </a:endParaRPr>
          </a:p>
          <a:p>
            <a:pPr algn="just" marL="18415" marR="8255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Intelligence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ability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lot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mental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work.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Harvard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Gardner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challenges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ability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kind. There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8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kinds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intelligence.</a:t>
            </a:r>
            <a:endParaRPr sz="1200">
              <a:latin typeface="Arial MT"/>
              <a:cs typeface="Arial MT"/>
            </a:endParaRPr>
          </a:p>
          <a:p>
            <a:pPr algn="just" marL="18415" marR="12700" indent="-6350">
              <a:lnSpc>
                <a:spcPct val="144200"/>
              </a:lnSpc>
              <a:spcBef>
                <a:spcPts val="15"/>
              </a:spcBef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said that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get </a:t>
            </a:r>
            <a:r>
              <a:rPr dirty="0" sz="1200" spc="-10">
                <a:latin typeface="Arial MT"/>
                <a:cs typeface="Arial MT"/>
              </a:rPr>
              <a:t>job </a:t>
            </a:r>
            <a:r>
              <a:rPr dirty="0" sz="1200" spc="-5">
                <a:latin typeface="Arial MT"/>
                <a:cs typeface="Arial MT"/>
              </a:rPr>
              <a:t>because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your </a:t>
            </a:r>
            <a:r>
              <a:rPr dirty="0" sz="1200">
                <a:latin typeface="Arial MT"/>
                <a:cs typeface="Arial MT"/>
              </a:rPr>
              <a:t>IQ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sustain </a:t>
            </a:r>
            <a:r>
              <a:rPr dirty="0" sz="1200" spc="-10">
                <a:latin typeface="Arial MT"/>
                <a:cs typeface="Arial MT"/>
              </a:rPr>
              <a:t>job </a:t>
            </a:r>
            <a:r>
              <a:rPr dirty="0" sz="1200" spc="-5">
                <a:latin typeface="Arial MT"/>
                <a:cs typeface="Arial MT"/>
              </a:rPr>
              <a:t>because of your </a:t>
            </a:r>
            <a:r>
              <a:rPr dirty="0" sz="1200">
                <a:latin typeface="Arial MT"/>
                <a:cs typeface="Arial MT"/>
              </a:rPr>
              <a:t>EQ </a:t>
            </a:r>
            <a:r>
              <a:rPr dirty="0" sz="1200" spc="-5">
                <a:latin typeface="Arial MT"/>
                <a:cs typeface="Arial MT"/>
              </a:rPr>
              <a:t>(emotional </a:t>
            </a:r>
            <a:r>
              <a:rPr dirty="0" sz="1200">
                <a:latin typeface="Arial MT"/>
                <a:cs typeface="Arial MT"/>
              </a:rPr>
              <a:t> IQ).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6704457"/>
            <a:ext cx="2998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Harvard Gardner’s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multiple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intelligences.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7219" y="7175880"/>
          <a:ext cx="6091555" cy="4615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4200"/>
                <a:gridCol w="2228850"/>
                <a:gridCol w="3270250"/>
              </a:tblGrid>
              <a:tr h="313944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S#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Intelligence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Description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1.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Visual/Spatial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26034">
                        <a:lnSpc>
                          <a:spcPct val="103299"/>
                        </a:lnSpc>
                        <a:spcBef>
                          <a:spcPts val="204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Ability</a:t>
                      </a:r>
                      <a:r>
                        <a:rPr dirty="0" sz="1200" spc="1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1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perceive</a:t>
                      </a:r>
                      <a:r>
                        <a:rPr dirty="0" sz="1200" spc="1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1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visual</a:t>
                      </a:r>
                      <a:r>
                        <a:rPr dirty="0" sz="1200" spc="1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(puzzle</a:t>
                      </a:r>
                      <a:r>
                        <a:rPr dirty="0" sz="1200" spc="1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building, </a:t>
                      </a:r>
                      <a:r>
                        <a:rPr dirty="0" sz="1200" spc="-3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charts,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graphs,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painting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etc.)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6071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2.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Verbal/Linguistics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Ability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to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use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words,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Good auditory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skills.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Generally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elegant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speakers.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3.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Logical/Mathematical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431800">
                        <a:lnSpc>
                          <a:spcPct val="103299"/>
                        </a:lnSpc>
                        <a:spcBef>
                          <a:spcPts val="204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Ability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use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logic,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reason,</a:t>
                      </a:r>
                      <a:r>
                        <a:rPr dirty="0" sz="12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classification,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problem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solving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6452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4.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Bodily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Kinesthetic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Ability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to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control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body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movements and handle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objects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carefully.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Sports,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dancers,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artisans.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6071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5.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Musical/Rhythmic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662940" algn="l"/>
                          <a:tab pos="925194" algn="l"/>
                        </a:tabLst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Ability	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	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produce</a:t>
                      </a:r>
                      <a:r>
                        <a:rPr dirty="0" sz="1200" spc="6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5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appreciate</a:t>
                      </a:r>
                      <a:r>
                        <a:rPr dirty="0" sz="1200" spc="6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music.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Remembering melodies,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singing,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whistling.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4548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6.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Interpersonal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24765">
                        <a:lnSpc>
                          <a:spcPct val="103299"/>
                        </a:lnSpc>
                        <a:spcBef>
                          <a:spcPts val="19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Ability</a:t>
                      </a:r>
                      <a:r>
                        <a:rPr dirty="0" sz="1200" spc="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1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relate</a:t>
                      </a:r>
                      <a:r>
                        <a:rPr dirty="0" sz="1200" spc="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understand</a:t>
                      </a:r>
                      <a:r>
                        <a:rPr dirty="0" sz="1200" spc="1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others(it</a:t>
                      </a:r>
                      <a:r>
                        <a:rPr dirty="0" sz="1200" spc="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uses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verbal and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nonverbal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language)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9673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7.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Intrapersonal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7945" marR="62865">
                        <a:lnSpc>
                          <a:spcPct val="103600"/>
                        </a:lnSpc>
                        <a:spcBef>
                          <a:spcPts val="20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Ability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self-reflect and being aware of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one’s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inner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state.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about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recognizing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own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strengths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weaknesses,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evaluating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own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thinking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patterns.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54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17219" y="678180"/>
          <a:ext cx="6091555" cy="320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4200"/>
                <a:gridCol w="2228850"/>
                <a:gridCol w="3270250"/>
              </a:tblGrid>
              <a:tr h="313944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8.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Naturalist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The ability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to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explore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nature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65480" y="1156461"/>
            <a:ext cx="6633209" cy="5503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715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-5">
                <a:latin typeface="Arial MT"/>
                <a:cs typeface="Arial MT"/>
              </a:rPr>
              <a:t> interpreting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graphs.</a:t>
            </a:r>
            <a:r>
              <a:rPr dirty="0" sz="1200">
                <a:latin typeface="Arial MT"/>
                <a:cs typeface="Arial MT"/>
              </a:rPr>
              <a:t> This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 spc="-5">
                <a:latin typeface="Arial MT"/>
                <a:cs typeface="Arial MT"/>
              </a:rPr>
              <a:t> because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higher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spatial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intelligence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children.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childhood teachers have to work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all 8 </a:t>
            </a:r>
            <a:r>
              <a:rPr dirty="0" sz="1200">
                <a:latin typeface="Arial MT"/>
                <a:cs typeface="Arial MT"/>
              </a:rPr>
              <a:t>types of </a:t>
            </a:r>
            <a:r>
              <a:rPr dirty="0" sz="1200" spc="-5">
                <a:latin typeface="Arial MT"/>
                <a:cs typeface="Arial MT"/>
              </a:rPr>
              <a:t>intelligences.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 with verbal ability are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elegant speakers. They know </a:t>
            </a:r>
            <a:r>
              <a:rPr dirty="0" sz="1200">
                <a:latin typeface="Arial MT"/>
                <a:cs typeface="Arial MT"/>
              </a:rPr>
              <a:t>how to </a:t>
            </a:r>
            <a:r>
              <a:rPr dirty="0" sz="1200" spc="-5">
                <a:latin typeface="Arial MT"/>
                <a:cs typeface="Arial MT"/>
              </a:rPr>
              <a:t>use the words. They know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speak.</a:t>
            </a:r>
            <a:endParaRPr sz="1200">
              <a:latin typeface="Arial MT"/>
              <a:cs typeface="Arial MT"/>
            </a:endParaRPr>
          </a:p>
          <a:p>
            <a:pPr algn="just" marL="18415" marR="11430" indent="-6350">
              <a:lnSpc>
                <a:spcPct val="144200"/>
              </a:lnSpc>
              <a:spcBef>
                <a:spcPts val="20"/>
              </a:spcBef>
            </a:pPr>
            <a:r>
              <a:rPr dirty="0" sz="1200" spc="-5">
                <a:latin typeface="Arial MT"/>
                <a:cs typeface="Arial MT"/>
              </a:rPr>
              <a:t>Third </a:t>
            </a:r>
            <a:r>
              <a:rPr dirty="0" sz="1200">
                <a:latin typeface="Arial MT"/>
                <a:cs typeface="Arial MT"/>
              </a:rPr>
              <a:t>type of </a:t>
            </a:r>
            <a:r>
              <a:rPr dirty="0" sz="1200" spc="-5">
                <a:latin typeface="Arial MT"/>
                <a:cs typeface="Arial MT"/>
              </a:rPr>
              <a:t>children 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good in problem solving.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can reason. Their convergent </a:t>
            </a:r>
            <a:r>
              <a:rPr dirty="0" sz="1200">
                <a:latin typeface="Arial MT"/>
                <a:cs typeface="Arial MT"/>
              </a:rPr>
              <a:t>thinking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very </a:t>
            </a:r>
            <a:r>
              <a:rPr dirty="0" sz="1200" spc="-5">
                <a:latin typeface="Arial MT"/>
                <a:cs typeface="Arial MT"/>
              </a:rPr>
              <a:t>good.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talk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logical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classify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things.</a:t>
            </a:r>
            <a:endParaRPr sz="1200">
              <a:latin typeface="Arial MT"/>
              <a:cs typeface="Arial MT"/>
            </a:endParaRPr>
          </a:p>
          <a:p>
            <a:pPr algn="just" marL="18415" marR="6350" indent="-6350">
              <a:lnSpc>
                <a:spcPct val="144200"/>
              </a:lnSpc>
              <a:spcBef>
                <a:spcPts val="15"/>
              </a:spcBef>
            </a:pPr>
            <a:r>
              <a:rPr dirty="0" sz="1200" spc="-5">
                <a:latin typeface="Arial MT"/>
                <a:cs typeface="Arial MT"/>
              </a:rPr>
              <a:t>Children in forth category are </a:t>
            </a:r>
            <a:r>
              <a:rPr dirty="0" sz="1200">
                <a:latin typeface="Arial MT"/>
                <a:cs typeface="Arial MT"/>
              </a:rPr>
              <a:t>good </a:t>
            </a:r>
            <a:r>
              <a:rPr dirty="0" sz="1200" spc="-5">
                <a:latin typeface="Arial MT"/>
                <a:cs typeface="Arial MT"/>
              </a:rPr>
              <a:t>sports persons. Dancers includes in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category. Control on 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body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movements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intelligence.</a:t>
            </a:r>
            <a:endParaRPr sz="1200">
              <a:latin typeface="Arial MT"/>
              <a:cs typeface="Arial MT"/>
            </a:endParaRPr>
          </a:p>
          <a:p>
            <a:pPr algn="just" marL="12700" marR="12065">
              <a:lnSpc>
                <a:spcPct val="105000"/>
              </a:lnSpc>
              <a:spcBef>
                <a:spcPts val="585"/>
              </a:spcBef>
            </a:pP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appreciate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music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musical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intelligence.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recognize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melodies.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easily.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feel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happy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interact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smile.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two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happily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coldly.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5">
                <a:latin typeface="Arial MT"/>
                <a:cs typeface="Arial MT"/>
              </a:rPr>
              <a:t> is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interpersonal skill.</a:t>
            </a:r>
            <a:endParaRPr sz="1200">
              <a:latin typeface="Arial MT"/>
              <a:cs typeface="Arial MT"/>
            </a:endParaRPr>
          </a:p>
          <a:p>
            <a:pPr algn="just" marL="18415" marR="6350">
              <a:lnSpc>
                <a:spcPct val="1442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Communicate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expression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another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Verbal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nonverbal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 interpersonal intelligence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our students. </a:t>
            </a:r>
            <a:r>
              <a:rPr dirty="0" sz="1200">
                <a:latin typeface="Arial MT"/>
                <a:cs typeface="Arial MT"/>
              </a:rPr>
              <a:t>Because </a:t>
            </a:r>
            <a:r>
              <a:rPr dirty="0" sz="1200" spc="-5">
                <a:latin typeface="Arial MT"/>
                <a:cs typeface="Arial MT"/>
              </a:rPr>
              <a:t>we are social beings we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live in isolation.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know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Sometimes we do not know about our strengths and weaknesses. Intrapersonal skills mean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own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selves.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make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future.</a:t>
            </a:r>
            <a:r>
              <a:rPr dirty="0" sz="1200">
                <a:latin typeface="Arial MT"/>
                <a:cs typeface="Arial MT"/>
              </a:rPr>
              <a:t> Philosophers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lot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intrapersonal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intelligence.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time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consuming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develop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intrapersonal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intelligence.</a:t>
            </a:r>
            <a:endParaRPr sz="1200">
              <a:latin typeface="Arial MT"/>
              <a:cs typeface="Arial MT"/>
            </a:endParaRPr>
          </a:p>
          <a:p>
            <a:pPr algn="just" marL="18415" marR="5715" indent="-6350">
              <a:lnSpc>
                <a:spcPct val="1442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Some people are </a:t>
            </a:r>
            <a:r>
              <a:rPr dirty="0" sz="1200">
                <a:latin typeface="Arial MT"/>
                <a:cs typeface="Arial MT"/>
              </a:rPr>
              <a:t>very much </a:t>
            </a:r>
            <a:r>
              <a:rPr dirty="0" sz="1200" spc="-5">
                <a:latin typeface="Arial MT"/>
                <a:cs typeface="Arial MT"/>
              </a:rPr>
              <a:t>concerned about </a:t>
            </a:r>
            <a:r>
              <a:rPr dirty="0" sz="1200">
                <a:latin typeface="Arial MT"/>
                <a:cs typeface="Arial MT"/>
              </a:rPr>
              <a:t>nature </a:t>
            </a:r>
            <a:r>
              <a:rPr dirty="0" sz="1200" spc="-5">
                <a:latin typeface="Arial MT"/>
                <a:cs typeface="Arial MT"/>
              </a:rPr>
              <a:t>and their surroundings. They love to be with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nature. </a:t>
            </a:r>
            <a:r>
              <a:rPr dirty="0" sz="1200">
                <a:latin typeface="Arial MT"/>
                <a:cs typeface="Arial MT"/>
              </a:rPr>
              <a:t>They try to </a:t>
            </a:r>
            <a:r>
              <a:rPr dirty="0" sz="1200" spc="-5">
                <a:latin typeface="Arial MT"/>
                <a:cs typeface="Arial MT"/>
              </a:rPr>
              <a:t>explore nature. Being teachers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our </a:t>
            </a:r>
            <a:r>
              <a:rPr dirty="0" sz="1200">
                <a:latin typeface="Arial MT"/>
                <a:cs typeface="Arial MT"/>
              </a:rPr>
              <a:t>duty </a:t>
            </a:r>
            <a:r>
              <a:rPr dirty="0" sz="1200" spc="-5">
                <a:latin typeface="Arial MT"/>
                <a:cs typeface="Arial MT"/>
              </a:rPr>
              <a:t>to improve different intelligences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572" y="7515733"/>
            <a:ext cx="6979920" cy="39370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23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“Concept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 Child”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3955" y="8069592"/>
            <a:ext cx="3997325" cy="2879090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Outlines</a:t>
            </a:r>
            <a:endParaRPr sz="14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755"/>
              </a:spcBef>
              <a:buFont typeface="Calibri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780"/>
              </a:spcBef>
              <a:buFont typeface="Calibri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child?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765"/>
              </a:spcBef>
              <a:buFont typeface="Calibri"/>
              <a:buChar char="-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Some</a:t>
            </a:r>
            <a:r>
              <a:rPr dirty="0" sz="1200" spc="-5" b="1">
                <a:latin typeface="Arial"/>
                <a:cs typeface="Arial"/>
              </a:rPr>
              <a:t> facts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about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child Development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770"/>
              </a:spcBef>
              <a:buFont typeface="Calibri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Developmental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milestones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780"/>
              </a:spcBef>
              <a:buFont typeface="Calibri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Milestones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Early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years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770"/>
              </a:spcBef>
              <a:buFont typeface="Calibri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General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milestones in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early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childhood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education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770"/>
              </a:spcBef>
              <a:buFont typeface="Calibri"/>
              <a:buChar char="-"/>
              <a:tabLst>
                <a:tab pos="471170" algn="l"/>
                <a:tab pos="471805" algn="l"/>
              </a:tabLst>
            </a:pPr>
            <a:r>
              <a:rPr dirty="0" sz="1200" b="1">
                <a:latin typeface="Arial"/>
                <a:cs typeface="Arial"/>
              </a:rPr>
              <a:t>Piaget’s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stages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cognitive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780"/>
              </a:spcBef>
              <a:buFont typeface="Calibri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Milestones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4 year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old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Children</a:t>
            </a:r>
            <a:endParaRPr sz="1200">
              <a:latin typeface="Arial"/>
              <a:cs typeface="Arial"/>
            </a:endParaRPr>
          </a:p>
          <a:p>
            <a:pPr marL="471170" indent="-229235">
              <a:lnSpc>
                <a:spcPct val="100000"/>
              </a:lnSpc>
              <a:spcBef>
                <a:spcPts val="780"/>
              </a:spcBef>
              <a:buFont typeface="Calibri"/>
              <a:buChar char="-"/>
              <a:tabLst>
                <a:tab pos="471170" algn="l"/>
                <a:tab pos="471805" algn="l"/>
              </a:tabLst>
            </a:pPr>
            <a:r>
              <a:rPr dirty="0" sz="1200" spc="-5" b="1">
                <a:latin typeface="Arial"/>
                <a:cs typeface="Arial"/>
              </a:rPr>
              <a:t>Milestones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5 years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old</a:t>
            </a:r>
            <a:r>
              <a:rPr dirty="0" sz="1200" spc="-5" b="1">
                <a:latin typeface="Arial"/>
                <a:cs typeface="Arial"/>
              </a:rPr>
              <a:t> child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100" y="11383467"/>
            <a:ext cx="7969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832865"/>
            <a:ext cx="6633845" cy="1066927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412115">
              <a:lnSpc>
                <a:spcPct val="100000"/>
              </a:lnSpc>
              <a:spcBef>
                <a:spcPts val="775"/>
              </a:spcBef>
            </a:pP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-5">
                <a:latin typeface="Arial MT"/>
                <a:cs typeface="Arial MT"/>
              </a:rPr>
              <a:t> the end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the session,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have:</a:t>
            </a:r>
            <a:endParaRPr sz="1200">
              <a:latin typeface="Arial MT"/>
              <a:cs typeface="Arial MT"/>
            </a:endParaRPr>
          </a:p>
          <a:p>
            <a:pPr marL="412115">
              <a:lnSpc>
                <a:spcPct val="100000"/>
              </a:lnSpc>
              <a:spcBef>
                <a:spcPts val="670"/>
              </a:spcBef>
            </a:pPr>
            <a:r>
              <a:rPr dirty="0" sz="1200" spc="-5">
                <a:latin typeface="Arial MT"/>
                <a:cs typeface="Arial MT"/>
              </a:rPr>
              <a:t>Reflected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own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image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Child.</a:t>
            </a:r>
            <a:endParaRPr sz="1200">
              <a:latin typeface="Arial MT"/>
              <a:cs typeface="Arial MT"/>
            </a:endParaRPr>
          </a:p>
          <a:p>
            <a:pPr marL="412115" marR="2047239">
              <a:lnSpc>
                <a:spcPts val="2100"/>
              </a:lnSpc>
              <a:spcBef>
                <a:spcPts val="170"/>
              </a:spcBef>
            </a:pPr>
            <a:r>
              <a:rPr dirty="0" sz="1200" spc="-5">
                <a:latin typeface="Arial MT"/>
                <a:cs typeface="Arial MT"/>
              </a:rPr>
              <a:t>Reflected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holistic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Identified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milestones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early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years.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Arial MT"/>
              <a:cs typeface="Arial MT"/>
            </a:endParaRPr>
          </a:p>
          <a:p>
            <a:pPr algn="just" marL="18415" marR="6350" indent="-6350">
              <a:lnSpc>
                <a:spcPct val="1440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World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full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images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lot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images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advertisements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 convey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message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thought about children. Society is the extension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school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extension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society.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product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society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some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image about child. And he device his teaching methods accordingly. </a:t>
            </a:r>
            <a:r>
              <a:rPr dirty="0" sz="1200">
                <a:latin typeface="Arial MT"/>
                <a:cs typeface="Arial MT"/>
              </a:rPr>
              <a:t>If the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>
                <a:latin typeface="Arial MT"/>
                <a:cs typeface="Arial MT"/>
              </a:rPr>
              <a:t>think </a:t>
            </a:r>
            <a:r>
              <a:rPr dirty="0" sz="1200" spc="-5">
                <a:latin typeface="Arial MT"/>
                <a:cs typeface="Arial MT"/>
              </a:rPr>
              <a:t>a child as </a:t>
            </a:r>
            <a:r>
              <a:rPr dirty="0" sz="1200">
                <a:latin typeface="Arial MT"/>
                <a:cs typeface="Arial MT"/>
              </a:rPr>
              <a:t> blank slate </a:t>
            </a:r>
            <a:r>
              <a:rPr dirty="0" sz="1200" spc="-5">
                <a:latin typeface="Arial MT"/>
                <a:cs typeface="Arial MT"/>
              </a:rPr>
              <a:t>whatever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writes on </a:t>
            </a:r>
            <a:r>
              <a:rPr dirty="0" sz="1200">
                <a:latin typeface="Arial MT"/>
                <a:cs typeface="Arial MT"/>
              </a:rPr>
              <a:t>it, it </a:t>
            </a:r>
            <a:r>
              <a:rPr dirty="0" sz="1200" spc="-5">
                <a:latin typeface="Arial MT"/>
                <a:cs typeface="Arial MT"/>
              </a:rPr>
              <a:t>will be </a:t>
            </a:r>
            <a:r>
              <a:rPr dirty="0" sz="1200">
                <a:latin typeface="Arial MT"/>
                <a:cs typeface="Arial MT"/>
              </a:rPr>
              <a:t>the part </a:t>
            </a:r>
            <a:r>
              <a:rPr dirty="0" sz="1200" spc="-5">
                <a:latin typeface="Arial MT"/>
                <a:cs typeface="Arial MT"/>
              </a:rPr>
              <a:t>of his personality. </a:t>
            </a:r>
            <a:r>
              <a:rPr dirty="0" sz="1200">
                <a:latin typeface="Arial MT"/>
                <a:cs typeface="Arial MT"/>
              </a:rPr>
              <a:t>Our </a:t>
            </a:r>
            <a:r>
              <a:rPr dirty="0" sz="1200" spc="-5">
                <a:latin typeface="Arial MT"/>
                <a:cs typeface="Arial MT"/>
              </a:rPr>
              <a:t>teaching method will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 according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thought.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child?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 “tabula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rasa”</a:t>
            </a:r>
            <a:r>
              <a:rPr dirty="0" sz="1200" b="1">
                <a:latin typeface="Arial"/>
                <a:cs typeface="Arial"/>
              </a:rPr>
              <a:t> an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empty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vessel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to</a:t>
            </a:r>
            <a:r>
              <a:rPr dirty="0" sz="1200" b="1">
                <a:latin typeface="Arial"/>
                <a:cs typeface="Arial"/>
              </a:rPr>
              <a:t> be filled </a:t>
            </a:r>
            <a:r>
              <a:rPr dirty="0" sz="1200" spc="-10" b="1">
                <a:latin typeface="Arial"/>
                <a:cs typeface="Arial"/>
              </a:rPr>
              <a:t>by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knowledge?</a:t>
            </a:r>
            <a:r>
              <a:rPr dirty="0" sz="1200" spc="3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(John </a:t>
            </a:r>
            <a:r>
              <a:rPr dirty="0" sz="1200" spc="-5" b="1">
                <a:latin typeface="Arial"/>
                <a:cs typeface="Arial"/>
              </a:rPr>
              <a:t>Locke)</a:t>
            </a:r>
            <a:endParaRPr sz="1200">
              <a:latin typeface="Arial"/>
              <a:cs typeface="Arial"/>
            </a:endParaRPr>
          </a:p>
          <a:p>
            <a:pPr algn="just" marL="18415" marR="7620" indent="-6350">
              <a:lnSpc>
                <a:spcPts val="2080"/>
              </a:lnSpc>
              <a:spcBef>
                <a:spcPts val="140"/>
              </a:spcBef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some journals there are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terrible images of children one image is that children are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containers of poison. Thought is that teachers, parents and society all put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poison in the child. </a:t>
            </a:r>
            <a:r>
              <a:rPr dirty="0" sz="1200">
                <a:latin typeface="Arial MT"/>
                <a:cs typeface="Arial MT"/>
              </a:rPr>
              <a:t> We </a:t>
            </a:r>
            <a:r>
              <a:rPr dirty="0" sz="1200" spc="-5">
                <a:latin typeface="Arial MT"/>
                <a:cs typeface="Arial MT"/>
              </a:rPr>
              <a:t>can debate on this image.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 child is an empty vessel then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will be poison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fill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poison.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50">
              <a:latin typeface="Arial MT"/>
              <a:cs typeface="Arial MT"/>
            </a:endParaRPr>
          </a:p>
          <a:p>
            <a:pPr marL="26034" marR="5080" indent="-6350">
              <a:lnSpc>
                <a:spcPct val="142600"/>
              </a:lnSpc>
            </a:pPr>
            <a:r>
              <a:rPr dirty="0" sz="1200" spc="-5" b="1">
                <a:latin typeface="Arial"/>
                <a:cs typeface="Arial"/>
              </a:rPr>
              <a:t>Child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biologically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learned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being.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learned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one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organism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may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transmitted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biologically</a:t>
            </a:r>
            <a:r>
              <a:rPr dirty="0" sz="1200" b="1">
                <a:latin typeface="Arial"/>
                <a:cs typeface="Arial"/>
              </a:rPr>
              <a:t> to </a:t>
            </a:r>
            <a:r>
              <a:rPr dirty="0" sz="1200" spc="-5" b="1">
                <a:latin typeface="Arial"/>
                <a:cs typeface="Arial"/>
              </a:rPr>
              <a:t>others.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(Darwin)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Arial"/>
              <a:cs typeface="Arial"/>
            </a:endParaRPr>
          </a:p>
          <a:p>
            <a:pPr marL="26034" marR="969644" indent="-6350">
              <a:lnSpc>
                <a:spcPct val="142500"/>
              </a:lnSpc>
            </a:pPr>
            <a:r>
              <a:rPr dirty="0" sz="1200" spc="-5" b="1">
                <a:latin typeface="Arial"/>
                <a:cs typeface="Arial"/>
              </a:rPr>
              <a:t>Child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capacity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transmit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others.</a:t>
            </a:r>
            <a:r>
              <a:rPr dirty="0" sz="1200" spc="3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Child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natural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discoverer.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(Bruner)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Arial"/>
              <a:cs typeface="Arial"/>
            </a:endParaRPr>
          </a:p>
          <a:p>
            <a:pPr marL="26034" marR="8890" indent="-6350">
              <a:lnSpc>
                <a:spcPct val="141700"/>
              </a:lnSpc>
            </a:pP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2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all</a:t>
            </a:r>
            <a:r>
              <a:rPr dirty="0" sz="1200" spc="2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children</a:t>
            </a:r>
            <a:r>
              <a:rPr dirty="0" sz="1200" spc="2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perfectly</a:t>
            </a:r>
            <a:r>
              <a:rPr dirty="0" sz="1200" spc="2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designed</a:t>
            </a:r>
            <a:r>
              <a:rPr dirty="0" sz="1200" spc="2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organisms,</a:t>
            </a:r>
            <a:r>
              <a:rPr dirty="0" sz="1200" spc="2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who</a:t>
            </a:r>
            <a:r>
              <a:rPr dirty="0" sz="1200" spc="229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2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ready</a:t>
            </a:r>
            <a:r>
              <a:rPr dirty="0" sz="1200" spc="2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2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</a:t>
            </a:r>
            <a:r>
              <a:rPr dirty="0" sz="1200" spc="2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from</a:t>
            </a:r>
            <a:r>
              <a:rPr dirty="0" sz="1200" spc="2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surroundings?</a:t>
            </a:r>
            <a:r>
              <a:rPr dirty="0" sz="1200" spc="-5" b="1">
                <a:latin typeface="Arial"/>
                <a:cs typeface="Arial"/>
              </a:rPr>
              <a:t> (Rousseau)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50">
              <a:latin typeface="Arial"/>
              <a:cs typeface="Arial"/>
            </a:endParaRPr>
          </a:p>
          <a:p>
            <a:pPr algn="just" marL="18415" marR="11430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that learning depends </a:t>
            </a:r>
            <a:r>
              <a:rPr dirty="0" sz="1200" spc="-10">
                <a:latin typeface="Arial MT"/>
                <a:cs typeface="Arial MT"/>
              </a:rPr>
              <a:t>upon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environment.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 environment is rich </a:t>
            </a:r>
            <a:r>
              <a:rPr dirty="0" sz="1200">
                <a:latin typeface="Arial MT"/>
                <a:cs typeface="Arial MT"/>
              </a:rPr>
              <a:t>for the learning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 will </a:t>
            </a:r>
            <a:r>
              <a:rPr dirty="0" sz="1200">
                <a:latin typeface="Arial MT"/>
                <a:cs typeface="Arial MT"/>
              </a:rPr>
              <a:t>learn more </a:t>
            </a:r>
            <a:r>
              <a:rPr dirty="0" sz="1200" spc="-5">
                <a:latin typeface="Arial MT"/>
                <a:cs typeface="Arial MT"/>
              </a:rPr>
              <a:t>and easily. For example a child lives in a jungle his learning will be different </a:t>
            </a:r>
            <a:r>
              <a:rPr dirty="0" sz="1200">
                <a:latin typeface="Arial MT"/>
                <a:cs typeface="Arial MT"/>
              </a:rPr>
              <a:t> from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living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village.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50">
              <a:latin typeface="Arial MT"/>
              <a:cs typeface="Arial MT"/>
            </a:endParaRPr>
          </a:p>
          <a:p>
            <a:pPr marL="26034" marR="601980" indent="-6350">
              <a:lnSpc>
                <a:spcPct val="141700"/>
              </a:lnSpc>
            </a:pP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child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people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can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according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his/her own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interests.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(John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Dewey)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10">
                <a:latin typeface="Arial MT"/>
                <a:cs typeface="Arial MT"/>
              </a:rPr>
              <a:t>It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necessary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discover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image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reflect</a:t>
            </a:r>
            <a:r>
              <a:rPr dirty="0" sz="1200" spc="-5">
                <a:latin typeface="Arial MT"/>
                <a:cs typeface="Arial MT"/>
              </a:rPr>
              <a:t> out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Some</a:t>
            </a:r>
            <a:r>
              <a:rPr dirty="0" sz="1200" spc="-5" b="1">
                <a:latin typeface="Arial"/>
                <a:cs typeface="Arial"/>
              </a:rPr>
              <a:t> facts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about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child Development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Arial"/>
              <a:cs typeface="Arial"/>
            </a:endParaRPr>
          </a:p>
          <a:p>
            <a:pPr marL="477520" marR="5080" indent="-116205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birth,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baby’s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brain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already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100,000,000,000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cells.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10">
                <a:latin typeface="Arial MT"/>
                <a:cs typeface="Arial MT"/>
              </a:rPr>
              <a:t>about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number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stars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Milky Way.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very </a:t>
            </a:r>
            <a:r>
              <a:rPr dirty="0" sz="1200" spc="-5">
                <a:latin typeface="Arial MT"/>
                <a:cs typeface="Arial MT"/>
              </a:rPr>
              <a:t>interesting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7087"/>
            <a:ext cx="6634480" cy="739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77520" marR="10795" indent="269240">
              <a:lnSpc>
                <a:spcPct val="1433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Unlike the </a:t>
            </a:r>
            <a:r>
              <a:rPr dirty="0" sz="1200">
                <a:latin typeface="Arial MT"/>
                <a:cs typeface="Arial MT"/>
              </a:rPr>
              <a:t>rest of a </a:t>
            </a:r>
            <a:r>
              <a:rPr dirty="0" sz="1200" spc="-5">
                <a:latin typeface="Arial MT"/>
                <a:cs typeface="Arial MT"/>
              </a:rPr>
              <a:t>new </a:t>
            </a:r>
            <a:r>
              <a:rPr dirty="0" sz="1200">
                <a:latin typeface="Arial MT"/>
                <a:cs typeface="Arial MT"/>
              </a:rPr>
              <a:t>baby’s body. The </a:t>
            </a:r>
            <a:r>
              <a:rPr dirty="0" sz="1200" spc="-5">
                <a:latin typeface="Arial MT"/>
                <a:cs typeface="Arial MT"/>
              </a:rPr>
              <a:t>brain is not complete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birth.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order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start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cells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communicate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>
                <a:latin typeface="Arial MT"/>
                <a:cs typeface="Arial MT"/>
              </a:rPr>
              <a:t> other.</a:t>
            </a:r>
            <a:endParaRPr sz="1200">
              <a:latin typeface="Arial MT"/>
              <a:cs typeface="Arial MT"/>
            </a:endParaRPr>
          </a:p>
          <a:p>
            <a:pPr algn="just" marL="483870" marR="5080" indent="-6350">
              <a:lnSpc>
                <a:spcPct val="144200"/>
              </a:lnSpc>
              <a:spcBef>
                <a:spcPts val="910"/>
              </a:spcBef>
            </a:pP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baby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starts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life,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made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cells-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connections are there,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more the </a:t>
            </a:r>
            <a:r>
              <a:rPr dirty="0" sz="1200">
                <a:latin typeface="Arial MT"/>
                <a:cs typeface="Arial MT"/>
              </a:rPr>
              <a:t>brain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do.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 development continues till the age </a:t>
            </a:r>
            <a:r>
              <a:rPr dirty="0" sz="1200">
                <a:latin typeface="Arial MT"/>
                <a:cs typeface="Arial MT"/>
              </a:rPr>
              <a:t> of 8. </a:t>
            </a:r>
            <a:r>
              <a:rPr dirty="0" sz="1200" spc="-5">
                <a:latin typeface="Arial MT"/>
                <a:cs typeface="Arial MT"/>
              </a:rPr>
              <a:t>Brain develop </a:t>
            </a:r>
            <a:r>
              <a:rPr dirty="0" sz="1200">
                <a:latin typeface="Arial MT"/>
                <a:cs typeface="Arial MT"/>
              </a:rPr>
              <a:t>very fast </a:t>
            </a:r>
            <a:r>
              <a:rPr dirty="0" sz="1200" spc="-5">
                <a:latin typeface="Arial MT"/>
                <a:cs typeface="Arial MT"/>
              </a:rPr>
              <a:t>in the </a:t>
            </a:r>
            <a:r>
              <a:rPr dirty="0" sz="1200">
                <a:latin typeface="Arial MT"/>
                <a:cs typeface="Arial MT"/>
              </a:rPr>
              <a:t>first </a:t>
            </a:r>
            <a:r>
              <a:rPr dirty="0" sz="1200" spc="-5">
                <a:latin typeface="Arial MT"/>
                <a:cs typeface="Arial MT"/>
              </a:rPr>
              <a:t>year </a:t>
            </a:r>
            <a:r>
              <a:rPr dirty="0" sz="1200">
                <a:latin typeface="Arial MT"/>
                <a:cs typeface="Arial MT"/>
              </a:rPr>
              <a:t>after </a:t>
            </a:r>
            <a:r>
              <a:rPr dirty="0" sz="1200" spc="-5">
                <a:latin typeface="Arial MT"/>
                <a:cs typeface="Arial MT"/>
              </a:rPr>
              <a:t>birth. The process slowdown in the later </a:t>
            </a:r>
            <a:r>
              <a:rPr dirty="0" sz="1200">
                <a:latin typeface="Arial MT"/>
                <a:cs typeface="Arial MT"/>
              </a:rPr>
              <a:t> years.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Arial MT"/>
              <a:cs typeface="Arial MT"/>
            </a:endParaRPr>
          </a:p>
          <a:p>
            <a:pPr algn="just" marL="477520" marR="5080" indent="-116205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baby’s </a:t>
            </a:r>
            <a:r>
              <a:rPr dirty="0" sz="1200">
                <a:latin typeface="Arial MT"/>
                <a:cs typeface="Arial MT"/>
              </a:rPr>
              <a:t>brain </a:t>
            </a:r>
            <a:r>
              <a:rPr dirty="0" sz="1200" spc="-5">
                <a:latin typeface="Arial MT"/>
                <a:cs typeface="Arial MT"/>
              </a:rPr>
              <a:t>develops </a:t>
            </a:r>
            <a:r>
              <a:rPr dirty="0" sz="1200">
                <a:latin typeface="Arial MT"/>
                <a:cs typeface="Arial MT"/>
              </a:rPr>
              <a:t>so fast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age </a:t>
            </a:r>
            <a:r>
              <a:rPr dirty="0" sz="1200">
                <a:latin typeface="Arial MT"/>
                <a:cs typeface="Arial MT"/>
              </a:rPr>
              <a:t>two a </a:t>
            </a:r>
            <a:r>
              <a:rPr dirty="0" sz="1200" spc="-5">
                <a:latin typeface="Arial MT"/>
                <a:cs typeface="Arial MT"/>
              </a:rPr>
              <a:t>child who is developing normally </a:t>
            </a:r>
            <a:r>
              <a:rPr dirty="0" sz="1200">
                <a:latin typeface="Arial MT"/>
                <a:cs typeface="Arial MT"/>
              </a:rPr>
              <a:t>has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same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number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adult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has.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TWICE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many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adult.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Developmental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milestones</a:t>
            </a:r>
            <a:endParaRPr sz="1200">
              <a:latin typeface="Arial"/>
              <a:cs typeface="Arial"/>
            </a:endParaRPr>
          </a:p>
          <a:p>
            <a:pPr algn="just" marL="18415" marR="7620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Developmental milestones are </a:t>
            </a:r>
            <a:r>
              <a:rPr dirty="0" sz="1200">
                <a:latin typeface="Arial MT"/>
                <a:cs typeface="Arial MT"/>
              </a:rPr>
              <a:t>set of </a:t>
            </a:r>
            <a:r>
              <a:rPr dirty="0" sz="1200" spc="-5">
                <a:latin typeface="Arial MT"/>
                <a:cs typeface="Arial MT"/>
              </a:rPr>
              <a:t>functional skills or </a:t>
            </a:r>
            <a:r>
              <a:rPr dirty="0" sz="1200">
                <a:latin typeface="Arial MT"/>
                <a:cs typeface="Arial MT"/>
              </a:rPr>
              <a:t>age-specific tasks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most </a:t>
            </a:r>
            <a:r>
              <a:rPr dirty="0" sz="1200" spc="-5">
                <a:latin typeface="Arial MT"/>
                <a:cs typeface="Arial MT"/>
              </a:rPr>
              <a:t>children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 do 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range.</a:t>
            </a:r>
            <a:endParaRPr sz="1200">
              <a:latin typeface="Arial MT"/>
              <a:cs typeface="Arial MT"/>
            </a:endParaRPr>
          </a:p>
          <a:p>
            <a:pPr algn="just" marL="18415" marR="5715" indent="-6350">
              <a:lnSpc>
                <a:spcPts val="2080"/>
              </a:lnSpc>
              <a:spcBef>
                <a:spcPts val="20"/>
              </a:spcBef>
            </a:pPr>
            <a:r>
              <a:rPr dirty="0" sz="1200" spc="-5">
                <a:latin typeface="Arial MT"/>
                <a:cs typeface="Arial MT"/>
              </a:rPr>
              <a:t>All children are unique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have their own developmental milestones.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example some start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waling</a:t>
            </a:r>
            <a:r>
              <a:rPr dirty="0" sz="1200">
                <a:latin typeface="Arial MT"/>
                <a:cs typeface="Arial MT"/>
              </a:rPr>
              <a:t> very </a:t>
            </a:r>
            <a:r>
              <a:rPr dirty="0" sz="1200" spc="-5">
                <a:latin typeface="Arial MT"/>
                <a:cs typeface="Arial MT"/>
              </a:rPr>
              <a:t>soon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take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  <a:spcBef>
                <a:spcPts val="1025"/>
              </a:spcBef>
            </a:pPr>
            <a:r>
              <a:rPr dirty="0" sz="1200" spc="-5" b="1">
                <a:latin typeface="Arial"/>
                <a:cs typeface="Arial"/>
              </a:rPr>
              <a:t>Milestones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Early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years</a:t>
            </a:r>
            <a:endParaRPr sz="1200">
              <a:latin typeface="Arial"/>
              <a:cs typeface="Arial"/>
            </a:endParaRPr>
          </a:p>
          <a:p>
            <a:pPr algn="just" marL="18415" marR="7620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this topic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talk </a:t>
            </a:r>
            <a:r>
              <a:rPr dirty="0" sz="1200" spc="-5">
                <a:latin typeface="Arial MT"/>
                <a:cs typeface="Arial MT"/>
              </a:rPr>
              <a:t>about the developmental milestones </a:t>
            </a:r>
            <a:r>
              <a:rPr dirty="0" sz="1200">
                <a:latin typeface="Arial MT"/>
                <a:cs typeface="Arial MT"/>
              </a:rPr>
              <a:t>of 30-36 </a:t>
            </a:r>
            <a:r>
              <a:rPr dirty="0" sz="1200" spc="-5">
                <a:latin typeface="Arial MT"/>
                <a:cs typeface="Arial MT"/>
              </a:rPr>
              <a:t>months child who is </a:t>
            </a:r>
            <a:r>
              <a:rPr dirty="0" sz="1200" spc="-10">
                <a:latin typeface="Arial MT"/>
                <a:cs typeface="Arial MT"/>
              </a:rPr>
              <a:t>ready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schooling.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government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10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4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private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schools, age is of 3 years. There are no hard and fast rules. Some parents sent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children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before </a:t>
            </a:r>
            <a:r>
              <a:rPr dirty="0" sz="1200" spc="-10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age.</a:t>
            </a:r>
            <a:endParaRPr sz="1200">
              <a:latin typeface="Arial MT"/>
              <a:cs typeface="Arial MT"/>
            </a:endParaRPr>
          </a:p>
          <a:p>
            <a:pPr algn="just" marL="18415" indent="-6350">
              <a:lnSpc>
                <a:spcPct val="100000"/>
              </a:lnSpc>
              <a:spcBef>
                <a:spcPts val="470"/>
              </a:spcBef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30 months</a:t>
            </a:r>
            <a:r>
              <a:rPr dirty="0" sz="1200">
                <a:latin typeface="Arial MT"/>
                <a:cs typeface="Arial MT"/>
              </a:rPr>
              <a:t> old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preschool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hold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spatial </a:t>
            </a:r>
            <a:r>
              <a:rPr dirty="0" sz="1200">
                <a:latin typeface="Arial MT"/>
                <a:cs typeface="Arial MT"/>
              </a:rPr>
              <a:t>maps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endParaRPr sz="1200">
              <a:latin typeface="Arial MT"/>
              <a:cs typeface="Arial MT"/>
            </a:endParaRPr>
          </a:p>
          <a:p>
            <a:pPr algn="just" marL="18415" marR="9525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things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environment.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knows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knows the address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his house. </a:t>
            </a:r>
            <a:r>
              <a:rPr dirty="0" sz="1200">
                <a:latin typeface="Arial MT"/>
                <a:cs typeface="Arial MT"/>
              </a:rPr>
              <a:t>If there </a:t>
            </a:r>
            <a:r>
              <a:rPr dirty="0" sz="1200" spc="-5">
                <a:latin typeface="Arial MT"/>
                <a:cs typeface="Arial MT"/>
              </a:rPr>
              <a:t>is a park near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his </a:t>
            </a:r>
            <a:r>
              <a:rPr dirty="0" sz="1200" spc="-10">
                <a:latin typeface="Arial MT"/>
                <a:cs typeface="Arial MT"/>
              </a:rPr>
              <a:t>house </a:t>
            </a:r>
            <a:r>
              <a:rPr dirty="0" sz="1200" spc="-5">
                <a:latin typeface="Arial MT"/>
                <a:cs typeface="Arial MT"/>
              </a:rPr>
              <a:t>he can </a:t>
            </a:r>
            <a:r>
              <a:rPr dirty="0" sz="1200">
                <a:latin typeface="Arial MT"/>
                <a:cs typeface="Arial MT"/>
              </a:rPr>
              <a:t>tell </a:t>
            </a:r>
            <a:r>
              <a:rPr dirty="0" sz="1200" spc="-5">
                <a:latin typeface="Arial MT"/>
                <a:cs typeface="Arial MT"/>
              </a:rPr>
              <a:t>the way </a:t>
            </a:r>
            <a:r>
              <a:rPr dirty="0" sz="1200">
                <a:latin typeface="Arial MT"/>
                <a:cs typeface="Arial MT"/>
              </a:rPr>
              <a:t>to it. If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 want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intellectual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child</a:t>
            </a:r>
            <a:r>
              <a:rPr dirty="0" sz="1200" spc="-5">
                <a:latin typeface="Arial MT"/>
                <a:cs typeface="Arial MT"/>
              </a:rPr>
              <a:t> 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>
                <a:latin typeface="Arial MT"/>
                <a:cs typeface="Arial MT"/>
              </a:rPr>
              <a:t> tell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5">
                <a:latin typeface="Arial MT"/>
                <a:cs typeface="Arial MT"/>
              </a:rPr>
              <a:t> own.</a:t>
            </a:r>
            <a:endParaRPr sz="1200">
              <a:latin typeface="Arial MT"/>
              <a:cs typeface="Arial MT"/>
            </a:endParaRPr>
          </a:p>
          <a:p>
            <a:pPr algn="just" marL="18415" marR="12065" indent="-6350">
              <a:lnSpc>
                <a:spcPct val="144200"/>
              </a:lnSpc>
              <a:spcBef>
                <a:spcPts val="15"/>
              </a:spcBef>
            </a:pP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preschool child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36 months can now hold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different emotions in his </a:t>
            </a:r>
            <a:r>
              <a:rPr dirty="0" sz="1200">
                <a:latin typeface="Arial MT"/>
                <a:cs typeface="Arial MT"/>
              </a:rPr>
              <a:t>mind at </a:t>
            </a:r>
            <a:r>
              <a:rPr dirty="0" sz="1200" spc="-5">
                <a:latin typeface="Arial MT"/>
                <a:cs typeface="Arial MT"/>
              </a:rPr>
              <a:t>the same </a:t>
            </a:r>
            <a:r>
              <a:rPr dirty="0" sz="1200">
                <a:latin typeface="Arial MT"/>
                <a:cs typeface="Arial MT"/>
              </a:rPr>
              <a:t>time,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such 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spilled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his </a:t>
            </a:r>
            <a:r>
              <a:rPr dirty="0" sz="1200" spc="-5">
                <a:latin typeface="Arial MT"/>
                <a:cs typeface="Arial MT"/>
              </a:rPr>
              <a:t>clothes </a:t>
            </a: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-5">
                <a:latin typeface="Arial MT"/>
                <a:cs typeface="Arial MT"/>
              </a:rPr>
              <a:t> glad that he’s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</a:t>
            </a:r>
            <a:r>
              <a:rPr dirty="0" sz="1200">
                <a:latin typeface="Arial MT"/>
                <a:cs typeface="Arial MT"/>
              </a:rPr>
              <a:t> a</a:t>
            </a:r>
            <a:r>
              <a:rPr dirty="0" sz="1200" spc="-5">
                <a:latin typeface="Arial MT"/>
                <a:cs typeface="Arial MT"/>
              </a:rPr>
              <a:t> birthday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party.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8546972"/>
            <a:ext cx="6635750" cy="2828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General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milestones in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early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childhood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education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1155"/>
              </a:spcBef>
            </a:pPr>
            <a:r>
              <a:rPr dirty="0" sz="1200" b="1">
                <a:latin typeface="Arial"/>
                <a:cs typeface="Arial"/>
              </a:rPr>
              <a:t>Gross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motor: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using large group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muscles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sit, stand, walk, run, etc. keeping balance and changing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positions. Development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these skills 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important in preschool or early childhood education. </a:t>
            </a:r>
            <a:r>
              <a:rPr dirty="0" sz="1200">
                <a:latin typeface="Arial MT"/>
                <a:cs typeface="Arial MT"/>
              </a:rPr>
              <a:t> Its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jumping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exercises,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stretching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arms.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muscles.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25"/>
              </a:spcBef>
            </a:pPr>
            <a:r>
              <a:rPr dirty="0" sz="1200" b="1">
                <a:latin typeface="Arial"/>
                <a:cs typeface="Arial"/>
              </a:rPr>
              <a:t>Fine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motor:</a:t>
            </a:r>
            <a:endParaRPr sz="1200">
              <a:latin typeface="Arial"/>
              <a:cs typeface="Arial"/>
            </a:endParaRPr>
          </a:p>
          <a:p>
            <a:pPr algn="just" marL="55244">
              <a:lnSpc>
                <a:spcPct val="100000"/>
              </a:lnSpc>
              <a:spcBef>
                <a:spcPts val="610"/>
              </a:spcBef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hands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eat, draw,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dress,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play,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</a:t>
            </a:r>
            <a:r>
              <a:rPr dirty="0" sz="1200" spc="-5">
                <a:latin typeface="Arial MT"/>
                <a:cs typeface="Arial MT"/>
              </a:rPr>
              <a:t> many other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Cognitive: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0034" cy="3976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Cognitive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related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kills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problemsolving,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reasoning and remembering. Child learns language out of the need. Language is something which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 Use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skills.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Language:</a:t>
            </a:r>
            <a:endParaRPr sz="1200">
              <a:latin typeface="Arial"/>
              <a:cs typeface="Arial"/>
            </a:endParaRPr>
          </a:p>
          <a:p>
            <a:pPr marL="18415" marR="9525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speaking,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body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gestures,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communicating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others</a:t>
            </a:r>
            <a:r>
              <a:rPr dirty="0" sz="1200" spc="-5">
                <a:latin typeface="Arial MT"/>
                <a:cs typeface="Arial MT"/>
              </a:rPr>
              <a:t> say.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preschool</a:t>
            </a:r>
            <a:r>
              <a:rPr dirty="0" sz="1200">
                <a:latin typeface="Arial MT"/>
                <a:cs typeface="Arial MT"/>
              </a:rPr>
              <a:t> focus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speaking.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25"/>
              </a:spcBef>
            </a:pPr>
            <a:r>
              <a:rPr dirty="0" sz="1200" b="1">
                <a:latin typeface="Arial"/>
                <a:cs typeface="Arial"/>
              </a:rPr>
              <a:t>Social:</a:t>
            </a:r>
            <a:endParaRPr sz="1200">
              <a:latin typeface="Arial"/>
              <a:cs typeface="Arial"/>
            </a:endParaRPr>
          </a:p>
          <a:p>
            <a:pPr marL="18415" marR="825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Interacting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others,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having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relationships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family,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friends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teachers,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cooperating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responding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feelings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others.</a:t>
            </a:r>
            <a:endParaRPr sz="1200">
              <a:latin typeface="Arial MT"/>
              <a:cs typeface="Arial MT"/>
            </a:endParaRPr>
          </a:p>
          <a:p>
            <a:pPr marL="18415" marR="7620" indent="-6350">
              <a:lnSpc>
                <a:spcPts val="2080"/>
              </a:lnSpc>
              <a:spcBef>
                <a:spcPts val="15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preschools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should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oriented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these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milestones.</a:t>
            </a:r>
            <a:endParaRPr sz="1200">
              <a:latin typeface="Arial MT"/>
              <a:cs typeface="Arial MT"/>
            </a:endParaRPr>
          </a:p>
          <a:p>
            <a:pPr marL="18415" marR="6350" indent="-6350">
              <a:lnSpc>
                <a:spcPts val="2080"/>
              </a:lnSpc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sharing.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friends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easily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because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opportunities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preschools.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5029326"/>
            <a:ext cx="5007610" cy="378714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905"/>
              </a:spcBef>
            </a:pPr>
            <a:r>
              <a:rPr dirty="0" sz="1200" b="1">
                <a:latin typeface="Arial"/>
                <a:cs typeface="Arial"/>
              </a:rPr>
              <a:t>Piaget’s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stages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cognitive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00"/>
              </a:spcBef>
              <a:buFont typeface="Calibri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Sensorimotor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770"/>
              </a:spcBef>
              <a:buFont typeface="Calibri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Preoperational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770"/>
              </a:spcBef>
              <a:buFont typeface="Calibri"/>
              <a:buChar char="-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Concrete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operational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755"/>
              </a:spcBef>
              <a:buFont typeface="Calibri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Formal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operational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context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preschool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two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stages:</a:t>
            </a:r>
            <a:endParaRPr sz="1200">
              <a:latin typeface="Arial MT"/>
              <a:cs typeface="Arial MT"/>
            </a:endParaRPr>
          </a:p>
          <a:p>
            <a:pPr marL="20320" marR="3472179">
              <a:lnSpc>
                <a:spcPct val="285000"/>
              </a:lnSpc>
              <a:spcBef>
                <a:spcPts val="35"/>
              </a:spcBef>
            </a:pPr>
            <a:r>
              <a:rPr dirty="0" sz="1200" b="1">
                <a:latin typeface="Arial"/>
                <a:cs typeface="Arial"/>
              </a:rPr>
              <a:t>Sensorimotor </a:t>
            </a:r>
            <a:r>
              <a:rPr dirty="0" sz="1200" spc="-5" b="1">
                <a:latin typeface="Arial"/>
                <a:cs typeface="Arial"/>
              </a:rPr>
              <a:t>stage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Preoperational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stage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Pakistani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stage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preoperational.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Piaget’s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stages</a:t>
            </a:r>
            <a:r>
              <a:rPr dirty="0" sz="1200" b="1">
                <a:latin typeface="Arial"/>
                <a:cs typeface="Arial"/>
              </a:rPr>
              <a:t> of </a:t>
            </a:r>
            <a:r>
              <a:rPr dirty="0" sz="1200" spc="-5" b="1">
                <a:latin typeface="Arial"/>
                <a:cs typeface="Arial"/>
              </a:rPr>
              <a:t>Cognitive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7219" y="8824848"/>
          <a:ext cx="6091555" cy="2623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7555"/>
                <a:gridCol w="2026920"/>
                <a:gridCol w="2026920"/>
              </a:tblGrid>
              <a:tr h="31241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Stage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00" spc="-5" b="1">
                          <a:latin typeface="Arial"/>
                          <a:cs typeface="Arial"/>
                        </a:rPr>
                        <a:t>Age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00" spc="-5" b="1">
                          <a:latin typeface="Arial"/>
                          <a:cs typeface="Arial"/>
                        </a:rPr>
                        <a:t>Major</a:t>
                      </a:r>
                      <a:r>
                        <a:rPr dirty="0" sz="14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Features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576453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Sensorimotor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Birth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2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years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24130">
                        <a:lnSpc>
                          <a:spcPct val="103499"/>
                        </a:lnSpc>
                        <a:spcBef>
                          <a:spcPts val="19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Infants</a:t>
                      </a:r>
                      <a:r>
                        <a:rPr dirty="0" sz="12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use</a:t>
                      </a:r>
                      <a:r>
                        <a:rPr dirty="0" sz="12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their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bodies</a:t>
                      </a:r>
                      <a:r>
                        <a:rPr dirty="0" sz="12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form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cognitive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structures.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6071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Preoperational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2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7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years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527050" algn="l"/>
                          <a:tab pos="848360" algn="l"/>
                          <a:tab pos="1656714" algn="l"/>
                        </a:tabLst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Use	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	symbols,	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rapid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language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growth.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6071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Concrete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operational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7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11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years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Can reason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about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physical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objects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Formal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operational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11+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years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248920">
                        <a:lnSpc>
                          <a:spcPct val="103299"/>
                        </a:lnSpc>
                        <a:spcBef>
                          <a:spcPts val="204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Abstract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thinking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leads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reasoning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symbols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656335"/>
            <a:ext cx="6629400" cy="5677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Milestones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4 year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old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Children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Physical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includes</a:t>
            </a:r>
            <a:r>
              <a:rPr dirty="0" sz="1200">
                <a:latin typeface="Arial MT"/>
                <a:cs typeface="Arial MT"/>
              </a:rPr>
              <a:t> gross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motor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5">
                <a:latin typeface="Arial MT"/>
                <a:cs typeface="Arial MT"/>
              </a:rPr>
              <a:t> fine </a:t>
            </a:r>
            <a:r>
              <a:rPr dirty="0" sz="1200">
                <a:latin typeface="Arial MT"/>
                <a:cs typeface="Arial MT"/>
              </a:rPr>
              <a:t>motor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200">
                <a:latin typeface="Arial MT"/>
                <a:cs typeface="Arial MT"/>
              </a:rPr>
              <a:t>A four </a:t>
            </a:r>
            <a:r>
              <a:rPr dirty="0" sz="1200" spc="-5">
                <a:latin typeface="Arial MT"/>
                <a:cs typeface="Arial MT"/>
              </a:rPr>
              <a:t>years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>
                <a:latin typeface="Arial MT"/>
                <a:cs typeface="Arial MT"/>
              </a:rPr>
              <a:t> can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skip on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foot,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draw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“Man”,</a:t>
            </a:r>
            <a:r>
              <a:rPr dirty="0" sz="1200">
                <a:latin typeface="Arial MT"/>
                <a:cs typeface="Arial MT"/>
              </a:rPr>
              <a:t> can cut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scissors </a:t>
            </a:r>
            <a:r>
              <a:rPr dirty="0" sz="1200" spc="-5">
                <a:latin typeface="Arial MT"/>
                <a:cs typeface="Arial MT"/>
              </a:rPr>
              <a:t>(not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well),</a:t>
            </a:r>
            <a:r>
              <a:rPr dirty="0" sz="1200">
                <a:latin typeface="Arial MT"/>
                <a:cs typeface="Arial MT"/>
              </a:rPr>
              <a:t> can </a:t>
            </a:r>
            <a:r>
              <a:rPr dirty="0" sz="1200" spc="-5">
                <a:latin typeface="Arial MT"/>
                <a:cs typeface="Arial MT"/>
              </a:rPr>
              <a:t>wash</a:t>
            </a:r>
            <a:endParaRPr sz="1200">
              <a:latin typeface="Arial MT"/>
              <a:cs typeface="Arial MT"/>
            </a:endParaRPr>
          </a:p>
          <a:p>
            <a:pPr marL="18415" marR="508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and dry face, can dress </a:t>
            </a:r>
            <a:r>
              <a:rPr dirty="0" sz="1200">
                <a:latin typeface="Arial MT"/>
                <a:cs typeface="Arial MT"/>
              </a:rPr>
              <a:t>self </a:t>
            </a:r>
            <a:r>
              <a:rPr dirty="0" sz="1200" spc="-5">
                <a:latin typeface="Arial MT"/>
                <a:cs typeface="Arial MT"/>
              </a:rPr>
              <a:t>except </a:t>
            </a:r>
            <a:r>
              <a:rPr dirty="0" sz="1200">
                <a:latin typeface="Arial MT"/>
                <a:cs typeface="Arial MT"/>
              </a:rPr>
              <a:t>ties, </a:t>
            </a:r>
            <a:r>
              <a:rPr dirty="0" sz="1200" spc="-5">
                <a:latin typeface="Arial MT"/>
                <a:cs typeface="Arial MT"/>
              </a:rPr>
              <a:t>can </a:t>
            </a:r>
            <a:r>
              <a:rPr dirty="0" sz="1200">
                <a:latin typeface="Arial MT"/>
                <a:cs typeface="Arial MT"/>
              </a:rPr>
              <a:t>stand </a:t>
            </a:r>
            <a:r>
              <a:rPr dirty="0" sz="1200" spc="-5">
                <a:latin typeface="Arial MT"/>
                <a:cs typeface="Arial MT"/>
              </a:rPr>
              <a:t>broad jump,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>
                <a:latin typeface="Arial MT"/>
                <a:cs typeface="Arial MT"/>
              </a:rPr>
              <a:t>throw </a:t>
            </a:r>
            <a:r>
              <a:rPr dirty="0" sz="1200" spc="-5">
                <a:latin typeface="Arial MT"/>
                <a:cs typeface="Arial MT"/>
              </a:rPr>
              <a:t>ball and a child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walk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run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 motor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drive.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Cognitive</a:t>
            </a:r>
            <a:r>
              <a:rPr dirty="0" sz="1200" b="1">
                <a:latin typeface="Arial"/>
                <a:cs typeface="Arial"/>
              </a:rPr>
              <a:t> and </a:t>
            </a:r>
            <a:r>
              <a:rPr dirty="0" sz="1200" spc="-5" b="1">
                <a:latin typeface="Arial"/>
                <a:cs typeface="Arial"/>
              </a:rPr>
              <a:t>language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endParaRPr sz="1200">
              <a:latin typeface="Arial"/>
              <a:cs typeface="Arial"/>
            </a:endParaRPr>
          </a:p>
          <a:p>
            <a:pPr marL="18415" indent="-6350">
              <a:lnSpc>
                <a:spcPct val="100000"/>
              </a:lnSpc>
              <a:spcBef>
                <a:spcPts val="615"/>
              </a:spcBef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4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years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old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uses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complete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sentences,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1540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words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vocabulary,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asks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endless</a:t>
            </a:r>
            <a:endParaRPr sz="1200">
              <a:latin typeface="Arial MT"/>
              <a:cs typeface="Arial MT"/>
            </a:endParaRPr>
          </a:p>
          <a:p>
            <a:pPr marL="18415" marR="6350">
              <a:lnSpc>
                <a:spcPct val="1433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questions,</a:t>
            </a:r>
            <a:r>
              <a:rPr dirty="0" sz="1200" spc="2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2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2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generalize,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highly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imaginative,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dramatic,</a:t>
            </a:r>
            <a:r>
              <a:rPr dirty="0" sz="1200" spc="29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29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draw</a:t>
            </a:r>
            <a:r>
              <a:rPr dirty="0" sz="1200" spc="2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recognizable</a:t>
            </a:r>
            <a:r>
              <a:rPr dirty="0" sz="1200" spc="2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simple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objects.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65"/>
              </a:spcBef>
            </a:pPr>
            <a:r>
              <a:rPr dirty="0" sz="1200" b="1">
                <a:latin typeface="Arial"/>
                <a:cs typeface="Arial"/>
              </a:rPr>
              <a:t>Social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endParaRPr sz="1200">
              <a:latin typeface="Arial"/>
              <a:cs typeface="Arial"/>
            </a:endParaRPr>
          </a:p>
          <a:p>
            <a:pPr marL="412115">
              <a:lnSpc>
                <a:spcPct val="100000"/>
              </a:lnSpc>
              <a:spcBef>
                <a:spcPts val="610"/>
              </a:spcBef>
            </a:pPr>
            <a:r>
              <a:rPr dirty="0" sz="1200" spc="-5">
                <a:latin typeface="Arial MT"/>
                <a:cs typeface="Arial MT"/>
              </a:rPr>
              <a:t>Cooperative</a:t>
            </a:r>
            <a:endParaRPr sz="1200">
              <a:latin typeface="Arial MT"/>
              <a:cs typeface="Arial MT"/>
            </a:endParaRPr>
          </a:p>
          <a:p>
            <a:pPr marL="412115" marR="4601210">
              <a:lnSpc>
                <a:spcPct val="145800"/>
              </a:lnSpc>
            </a:pPr>
            <a:r>
              <a:rPr dirty="0" sz="1200" spc="-5">
                <a:latin typeface="Arial MT"/>
                <a:cs typeface="Arial MT"/>
              </a:rPr>
              <a:t>Enjoys cooperative play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Highly social</a:t>
            </a:r>
            <a:endParaRPr sz="1200">
              <a:latin typeface="Arial MT"/>
              <a:cs typeface="Arial MT"/>
            </a:endParaRPr>
          </a:p>
          <a:p>
            <a:pPr marL="412115" marR="3438525">
              <a:lnSpc>
                <a:spcPct val="1458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May</a:t>
            </a:r>
            <a:r>
              <a:rPr dirty="0" sz="1200">
                <a:latin typeface="Arial MT"/>
                <a:cs typeface="Arial MT"/>
              </a:rPr>
              <a:t> play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loosely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games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Emotional behavior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four </a:t>
            </a:r>
            <a:r>
              <a:rPr dirty="0" sz="1200" spc="-5">
                <a:latin typeface="Arial MT"/>
                <a:cs typeface="Arial MT"/>
              </a:rPr>
              <a:t>year old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endParaRPr sz="1200">
              <a:latin typeface="Arial MT"/>
              <a:cs typeface="Arial MT"/>
            </a:endParaRPr>
          </a:p>
          <a:p>
            <a:pPr marL="477520" marR="5080" indent="-66040">
              <a:lnSpc>
                <a:spcPct val="144200"/>
              </a:lnSpc>
              <a:spcBef>
                <a:spcPts val="20"/>
              </a:spcBef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old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seems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himself.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old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show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bounds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behavior, often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negative.</a:t>
            </a:r>
            <a:endParaRPr sz="1200">
              <a:latin typeface="Arial MT"/>
              <a:cs typeface="Arial MT"/>
            </a:endParaRPr>
          </a:p>
          <a:p>
            <a:pPr marL="412115">
              <a:lnSpc>
                <a:spcPct val="100000"/>
              </a:lnSpc>
              <a:spcBef>
                <a:spcPts val="660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controlled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freedom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four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old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6776084"/>
            <a:ext cx="6627495" cy="4886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Milestones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5 years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old</a:t>
            </a:r>
            <a:r>
              <a:rPr dirty="0" sz="1200" spc="-5" b="1">
                <a:latin typeface="Arial"/>
                <a:cs typeface="Arial"/>
              </a:rPr>
              <a:t> child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1170"/>
              </a:spcBef>
            </a:pPr>
            <a:r>
              <a:rPr dirty="0" sz="1200" spc="-5" b="1">
                <a:latin typeface="Arial"/>
                <a:cs typeface="Arial"/>
              </a:rPr>
              <a:t>Physical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five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old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hops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skips,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dresses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without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help,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balance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smoother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muscle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action, </a:t>
            </a:r>
            <a:r>
              <a:rPr dirty="0" sz="1200" spc="-5">
                <a:latin typeface="Arial MT"/>
                <a:cs typeface="Arial MT"/>
              </a:rPr>
              <a:t>skates, rides wagon and scooter, print simple letters, handedness established, </a:t>
            </a:r>
            <a:r>
              <a:rPr dirty="0" sz="1200">
                <a:latin typeface="Arial MT"/>
                <a:cs typeface="Arial MT"/>
              </a:rPr>
              <a:t>ties </a:t>
            </a:r>
            <a:r>
              <a:rPr dirty="0" sz="1200" spc="-5">
                <a:latin typeface="Arial MT"/>
                <a:cs typeface="Arial MT"/>
              </a:rPr>
              <a:t>shoes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girls</a:t>
            </a:r>
            <a:r>
              <a:rPr dirty="0" sz="1200">
                <a:latin typeface="Arial MT"/>
                <a:cs typeface="Arial MT"/>
              </a:rPr>
              <a:t> small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muscle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</a:t>
            </a:r>
            <a:r>
              <a:rPr dirty="0" sz="1200">
                <a:latin typeface="Arial MT"/>
                <a:cs typeface="Arial MT"/>
              </a:rPr>
              <a:t> year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ahead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boys.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19"/>
              </a:spcBef>
            </a:pPr>
            <a:r>
              <a:rPr dirty="0" sz="1200" spc="-5" b="1">
                <a:latin typeface="Arial"/>
                <a:cs typeface="Arial"/>
              </a:rPr>
              <a:t>Intellectual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6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Has almost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vocabulary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2,000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Tells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tables.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7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Carries 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directions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710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Reads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own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name,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10,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asks</a:t>
            </a:r>
            <a:r>
              <a:rPr dirty="0" sz="1200" spc="-5">
                <a:latin typeface="Arial MT"/>
                <a:cs typeface="Arial MT"/>
              </a:rPr>
              <a:t> endless different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fiction-lying.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Arial MT"/>
              <a:cs typeface="Arial MT"/>
            </a:endParaRPr>
          </a:p>
          <a:p>
            <a:pPr marL="417830" marR="4768850" indent="-398145">
              <a:lnSpc>
                <a:spcPct val="141700"/>
              </a:lnSpc>
            </a:pPr>
            <a:r>
              <a:rPr dirty="0" sz="1200" b="1">
                <a:latin typeface="Arial"/>
                <a:cs typeface="Arial"/>
              </a:rPr>
              <a:t>Social </a:t>
            </a:r>
            <a:r>
              <a:rPr dirty="0" sz="1200" spc="-5" b="1">
                <a:latin typeface="Arial"/>
                <a:cs typeface="Arial"/>
              </a:rPr>
              <a:t>development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Highly cooperative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special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“friends”.</a:t>
            </a:r>
            <a:endParaRPr sz="1200">
              <a:latin typeface="Arial MT"/>
              <a:cs typeface="Arial MT"/>
            </a:endParaRPr>
          </a:p>
          <a:p>
            <a:pPr marL="408940" marR="3923029" indent="8890">
              <a:lnSpc>
                <a:spcPct val="138300"/>
              </a:lnSpc>
              <a:spcBef>
                <a:spcPts val="50"/>
              </a:spcBef>
            </a:pPr>
            <a:r>
              <a:rPr dirty="0" sz="1200" spc="-5">
                <a:latin typeface="Arial MT"/>
                <a:cs typeface="Arial MT"/>
              </a:rPr>
              <a:t>Likes,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enjoys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simple table games.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Observes</a:t>
            </a:r>
            <a:r>
              <a:rPr dirty="0" sz="1200" spc="-5">
                <a:latin typeface="Arial MT"/>
                <a:cs typeface="Arial MT"/>
              </a:rPr>
              <a:t> school rules</a:t>
            </a:r>
            <a:endParaRPr sz="1200">
              <a:latin typeface="Arial MT"/>
              <a:cs typeface="Arial MT"/>
            </a:endParaRPr>
          </a:p>
          <a:p>
            <a:pPr marL="417830">
              <a:lnSpc>
                <a:spcPct val="100000"/>
              </a:lnSpc>
              <a:spcBef>
                <a:spcPts val="575"/>
              </a:spcBef>
            </a:pPr>
            <a:r>
              <a:rPr dirty="0" sz="1200" spc="-5">
                <a:latin typeface="Arial MT"/>
                <a:cs typeface="Arial MT"/>
              </a:rPr>
              <a:t>Feels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pride 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carrying</a:t>
            </a:r>
            <a:r>
              <a:rPr dirty="0" sz="1200">
                <a:latin typeface="Arial MT"/>
                <a:cs typeface="Arial MT"/>
              </a:rPr>
              <a:t> out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responsibility.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14400" y="10472557"/>
            <a:ext cx="127635" cy="119380"/>
            <a:chOff x="914400" y="10472557"/>
            <a:chExt cx="127635" cy="119380"/>
          </a:xfrm>
        </p:grpSpPr>
        <p:sp>
          <p:nvSpPr>
            <p:cNvPr id="5" name="object 5"/>
            <p:cNvSpPr/>
            <p:nvPr/>
          </p:nvSpPr>
          <p:spPr>
            <a:xfrm>
              <a:off x="991894" y="10472557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w="0" h="9525">
                  <a:moveTo>
                    <a:pt x="-4558" y="4566"/>
                  </a:moveTo>
                  <a:lnTo>
                    <a:pt x="4558" y="4566"/>
                  </a:lnTo>
                </a:path>
              </a:pathLst>
            </a:custGeom>
            <a:ln w="91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10481701"/>
              <a:ext cx="127634" cy="1005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91894" y="10582285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w="0" h="9525">
                  <a:moveTo>
                    <a:pt x="-4558" y="4566"/>
                  </a:moveTo>
                  <a:lnTo>
                    <a:pt x="4558" y="4566"/>
                  </a:lnTo>
                </a:path>
              </a:pathLst>
            </a:custGeom>
            <a:ln w="91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914400" y="10735976"/>
            <a:ext cx="127635" cy="113030"/>
            <a:chOff x="914400" y="10735976"/>
            <a:chExt cx="127635" cy="113030"/>
          </a:xfrm>
        </p:grpSpPr>
        <p:sp>
          <p:nvSpPr>
            <p:cNvPr id="9" name="object 9"/>
            <p:cNvSpPr/>
            <p:nvPr/>
          </p:nvSpPr>
          <p:spPr>
            <a:xfrm>
              <a:off x="987336" y="1074053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116" y="0"/>
                  </a:lnTo>
                </a:path>
              </a:pathLst>
            </a:custGeom>
            <a:ln w="91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10745120"/>
              <a:ext cx="127634" cy="10029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87336" y="1084694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1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914400" y="10997575"/>
            <a:ext cx="127635" cy="111125"/>
            <a:chOff x="914400" y="10997575"/>
            <a:chExt cx="127635" cy="111125"/>
          </a:xfrm>
        </p:grpSpPr>
        <p:sp>
          <p:nvSpPr>
            <p:cNvPr id="13" name="object 13"/>
            <p:cNvSpPr/>
            <p:nvPr/>
          </p:nvSpPr>
          <p:spPr>
            <a:xfrm>
              <a:off x="991894" y="10997575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w="0" h="9525">
                  <a:moveTo>
                    <a:pt x="-4558" y="4566"/>
                  </a:moveTo>
                  <a:lnTo>
                    <a:pt x="4558" y="4566"/>
                  </a:lnTo>
                </a:path>
              </a:pathLst>
            </a:custGeom>
            <a:ln w="91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400" y="11006719"/>
              <a:ext cx="127634" cy="10044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87336" y="1110792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1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914400" y="11242558"/>
            <a:ext cx="118745" cy="118745"/>
            <a:chOff x="914400" y="11242558"/>
            <a:chExt cx="118745" cy="118745"/>
          </a:xfrm>
        </p:grpSpPr>
        <p:sp>
          <p:nvSpPr>
            <p:cNvPr id="17" name="object 17"/>
            <p:cNvSpPr/>
            <p:nvPr/>
          </p:nvSpPr>
          <p:spPr>
            <a:xfrm>
              <a:off x="987475" y="1124712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133" y="0"/>
                  </a:lnTo>
                </a:path>
              </a:pathLst>
            </a:custGeom>
            <a:ln w="91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4400" y="11251702"/>
              <a:ext cx="118744" cy="10044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87475" y="1135672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133" y="0"/>
                  </a:lnTo>
                </a:path>
              </a:pathLst>
            </a:custGeom>
            <a:ln w="91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914400" y="11498336"/>
            <a:ext cx="127635" cy="118745"/>
            <a:chOff x="914400" y="11498336"/>
            <a:chExt cx="127635" cy="118745"/>
          </a:xfrm>
        </p:grpSpPr>
        <p:sp>
          <p:nvSpPr>
            <p:cNvPr id="21" name="object 21"/>
            <p:cNvSpPr/>
            <p:nvPr/>
          </p:nvSpPr>
          <p:spPr>
            <a:xfrm>
              <a:off x="991894" y="11498336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w="0" h="9525">
                  <a:moveTo>
                    <a:pt x="-4558" y="4566"/>
                  </a:moveTo>
                  <a:lnTo>
                    <a:pt x="4558" y="4566"/>
                  </a:lnTo>
                </a:path>
              </a:pathLst>
            </a:custGeom>
            <a:ln w="91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4400" y="11507480"/>
              <a:ext cx="127634" cy="10047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91894" y="11607949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w="0" h="9525">
                  <a:moveTo>
                    <a:pt x="-4558" y="4566"/>
                  </a:moveTo>
                  <a:lnTo>
                    <a:pt x="4558" y="4566"/>
                  </a:lnTo>
                </a:path>
              </a:pathLst>
            </a:custGeom>
            <a:ln w="91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578611"/>
            <a:ext cx="3200400" cy="161226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200" b="1">
                <a:latin typeface="Arial"/>
                <a:cs typeface="Arial"/>
              </a:rPr>
              <a:t>Emotional</a:t>
            </a:r>
            <a:r>
              <a:rPr dirty="0" sz="1200" spc="-5" b="1">
                <a:latin typeface="Arial"/>
                <a:cs typeface="Arial"/>
              </a:rPr>
              <a:t> Behaviors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5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years</a:t>
            </a:r>
            <a:r>
              <a:rPr dirty="0" sz="1200" b="1">
                <a:latin typeface="Arial"/>
                <a:cs typeface="Arial"/>
              </a:rPr>
              <a:t> old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children</a:t>
            </a:r>
            <a:endParaRPr sz="1200">
              <a:latin typeface="Arial"/>
              <a:cs typeface="Arial"/>
            </a:endParaRPr>
          </a:p>
          <a:p>
            <a:pPr marL="354330" marR="1982470">
              <a:lnSpc>
                <a:spcPts val="2100"/>
              </a:lnSpc>
              <a:spcBef>
                <a:spcPts val="135"/>
              </a:spcBef>
            </a:pPr>
            <a:r>
              <a:rPr dirty="0" sz="1200">
                <a:latin typeface="Arial MT"/>
                <a:cs typeface="Arial MT"/>
              </a:rPr>
              <a:t>S</a:t>
            </a:r>
            <a:r>
              <a:rPr dirty="0" sz="1200" spc="-5">
                <a:latin typeface="Arial MT"/>
                <a:cs typeface="Arial MT"/>
              </a:rPr>
              <a:t>e</a:t>
            </a:r>
            <a:r>
              <a:rPr dirty="0" sz="1200" spc="-5">
                <a:latin typeface="Arial MT"/>
                <a:cs typeface="Arial MT"/>
              </a:rPr>
              <a:t>lf</a:t>
            </a:r>
            <a:r>
              <a:rPr dirty="0" sz="1200" spc="-5">
                <a:latin typeface="Arial MT"/>
                <a:cs typeface="Arial MT"/>
              </a:rPr>
              <a:t>-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5">
                <a:latin typeface="Arial MT"/>
                <a:cs typeface="Arial MT"/>
              </a:rPr>
              <a:t>ssur</a:t>
            </a:r>
            <a:r>
              <a:rPr dirty="0" sz="1200" spc="-20">
                <a:latin typeface="Arial MT"/>
                <a:cs typeface="Arial MT"/>
              </a:rPr>
              <a:t>e</a:t>
            </a:r>
            <a:r>
              <a:rPr dirty="0" sz="1200" spc="-5">
                <a:latin typeface="Arial MT"/>
                <a:cs typeface="Arial MT"/>
              </a:rPr>
              <a:t>d  </a:t>
            </a:r>
            <a:r>
              <a:rPr dirty="0" sz="1200" spc="-5">
                <a:latin typeface="Arial MT"/>
                <a:cs typeface="Arial MT"/>
              </a:rPr>
              <a:t>Stable</a:t>
            </a:r>
            <a:endParaRPr sz="1200">
              <a:latin typeface="Arial MT"/>
              <a:cs typeface="Arial MT"/>
            </a:endParaRPr>
          </a:p>
          <a:p>
            <a:pPr marL="354330">
              <a:lnSpc>
                <a:spcPct val="100000"/>
              </a:lnSpc>
              <a:spcBef>
                <a:spcPts val="480"/>
              </a:spcBef>
            </a:pPr>
            <a:r>
              <a:rPr dirty="0" sz="1200">
                <a:latin typeface="Arial MT"/>
                <a:cs typeface="Arial MT"/>
              </a:rPr>
              <a:t>Home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centered</a:t>
            </a:r>
            <a:endParaRPr sz="1200">
              <a:latin typeface="Arial MT"/>
              <a:cs typeface="Arial MT"/>
            </a:endParaRPr>
          </a:p>
          <a:p>
            <a:pPr marL="354330" marR="763905">
              <a:lnSpc>
                <a:spcPct val="1450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Likes 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associate 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mother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Capable,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self-criticism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2613914"/>
            <a:ext cx="6972300" cy="314325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 #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24</a:t>
            </a:r>
            <a:r>
              <a:rPr dirty="0" sz="16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“Early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Years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Education”</a:t>
            </a:r>
            <a:r>
              <a:rPr dirty="0" sz="18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objectives: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3003550"/>
            <a:ext cx="5555615" cy="69411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have: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Reflected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upon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importance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knowing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developmental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milestones.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Identified</a:t>
            </a:r>
            <a:r>
              <a:rPr dirty="0" sz="1200" b="1">
                <a:latin typeface="Arial"/>
                <a:cs typeface="Arial"/>
              </a:rPr>
              <a:t> role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partnership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education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early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years.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Reflected</a:t>
            </a:r>
            <a:r>
              <a:rPr dirty="0" sz="1200" b="1">
                <a:latin typeface="Arial"/>
                <a:cs typeface="Arial"/>
              </a:rPr>
              <a:t> upon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use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play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early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childhood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education.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Identified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different kinds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ECE.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25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Outline: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Pre-schooling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important</a:t>
            </a:r>
            <a:r>
              <a:rPr dirty="0" sz="1200" spc="-5" b="1">
                <a:latin typeface="Arial"/>
                <a:cs typeface="Arial"/>
              </a:rPr>
              <a:t> things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pre-school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education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Pre-schooling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research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Importance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milestones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Brain </a:t>
            </a:r>
            <a:r>
              <a:rPr dirty="0" sz="1200" spc="-5" b="1">
                <a:latin typeface="Arial"/>
                <a:cs typeface="Arial"/>
              </a:rPr>
              <a:t>development milestones/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Morning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greeting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Fingerplay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preschool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Story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time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Free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play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Snack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circle </a:t>
            </a:r>
            <a:r>
              <a:rPr dirty="0" sz="1200" b="1">
                <a:latin typeface="Arial"/>
                <a:cs typeface="Arial"/>
              </a:rPr>
              <a:t>time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activity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Art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activity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Physical development milestones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Jumping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Finge</a:t>
            </a:r>
            <a:r>
              <a:rPr dirty="0" sz="1200" spc="-5" b="1">
                <a:latin typeface="Arial"/>
                <a:cs typeface="Arial"/>
              </a:rPr>
              <a:t>r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</a:t>
            </a:r>
            <a:r>
              <a:rPr dirty="0" sz="1200" spc="-15" b="1">
                <a:latin typeface="Arial"/>
                <a:cs typeface="Arial"/>
              </a:rPr>
              <a:t>a</a:t>
            </a:r>
            <a:r>
              <a:rPr dirty="0" sz="1200" spc="-5" b="1">
                <a:latin typeface="Arial"/>
                <a:cs typeface="Arial"/>
              </a:rPr>
              <a:t>y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Art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-5" b="1">
                <a:latin typeface="Arial"/>
                <a:cs typeface="Arial"/>
              </a:rPr>
              <a:t>c</a:t>
            </a:r>
            <a:r>
              <a:rPr dirty="0" sz="1200" b="1">
                <a:latin typeface="Arial"/>
                <a:cs typeface="Arial"/>
              </a:rPr>
              <a:t>tivity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Social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milestones/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61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Seating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arrangement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Physical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 b="1">
                <a:latin typeface="Arial"/>
                <a:cs typeface="Arial"/>
              </a:rPr>
              <a:t>Snack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&amp;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circle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time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activity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10495026"/>
            <a:ext cx="6633209" cy="1080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Pre-school and infant educations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different from other education. Child’s rights convention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1989 </a:t>
            </a:r>
            <a:r>
              <a:rPr dirty="0" sz="1200">
                <a:latin typeface="Arial MT"/>
                <a:cs typeface="Arial MT"/>
              </a:rPr>
              <a:t>has </a:t>
            </a:r>
            <a:r>
              <a:rPr dirty="0" sz="1200" spc="-5">
                <a:latin typeface="Arial MT"/>
                <a:cs typeface="Arial MT"/>
              </a:rPr>
              <a:t>mentioned that “Education is </a:t>
            </a:r>
            <a:r>
              <a:rPr dirty="0" sz="1200">
                <a:latin typeface="Arial MT"/>
                <a:cs typeface="Arial MT"/>
              </a:rPr>
              <a:t>basic </a:t>
            </a:r>
            <a:r>
              <a:rPr dirty="0" sz="1200" spc="-5">
                <a:latin typeface="Arial MT"/>
                <a:cs typeface="Arial MT"/>
              </a:rPr>
              <a:t>right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every child.”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a basic </a:t>
            </a:r>
            <a:r>
              <a:rPr dirty="0" sz="1200" spc="-5">
                <a:latin typeface="Arial MT"/>
                <a:cs typeface="Arial MT"/>
              </a:rPr>
              <a:t>right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every child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usually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formal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education.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countries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formal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i.e.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some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countries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6,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7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8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etc.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before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formal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3476" y="575563"/>
            <a:ext cx="6664959" cy="81000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50800" marR="12065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education or proper schooling in which the child learns or gets basic education is known as early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childhood education.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marL="4445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Pre-schooling:</a:t>
            </a:r>
            <a:endParaRPr sz="1400">
              <a:latin typeface="Arial"/>
              <a:cs typeface="Arial"/>
            </a:endParaRPr>
          </a:p>
          <a:p>
            <a:pPr algn="just" marL="278130" marR="594995" indent="-235585">
              <a:lnSpc>
                <a:spcPts val="2060"/>
              </a:lnSpc>
              <a:spcBef>
                <a:spcPts val="114"/>
              </a:spcBef>
            </a:pPr>
            <a:r>
              <a:rPr dirty="0" sz="1200" spc="-5">
                <a:latin typeface="Arial MT"/>
                <a:cs typeface="Arial MT"/>
              </a:rPr>
              <a:t>The names that different countries use for pre-schooling or early childhood education </a:t>
            </a:r>
            <a:r>
              <a:rPr dirty="0" sz="1200">
                <a:latin typeface="Arial MT"/>
                <a:cs typeface="Arial MT"/>
              </a:rPr>
              <a:t>is: -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British English, Nursery School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simply “nursery.”</a:t>
            </a:r>
            <a:r>
              <a:rPr dirty="0" sz="1200">
                <a:latin typeface="Arial MT"/>
                <a:cs typeface="Arial MT"/>
              </a:rPr>
              <a:t> -</a:t>
            </a:r>
            <a:r>
              <a:rPr dirty="0" sz="1200" spc="3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the Unites States pre-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</a:t>
            </a:r>
            <a:r>
              <a:rPr dirty="0" sz="1200">
                <a:latin typeface="Arial MT"/>
                <a:cs typeface="Arial MT"/>
              </a:rPr>
              <a:t> K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used.</a:t>
            </a:r>
            <a:endParaRPr sz="1200">
              <a:latin typeface="Arial MT"/>
              <a:cs typeface="Arial MT"/>
            </a:endParaRPr>
          </a:p>
          <a:p>
            <a:pPr algn="just" marL="509270" marR="7620" indent="-228600">
              <a:lnSpc>
                <a:spcPts val="2080"/>
              </a:lnSpc>
              <a:spcBef>
                <a:spcPts val="140"/>
              </a:spcBef>
              <a:buFont typeface="Times New Roman"/>
              <a:buChar char="-"/>
              <a:tabLst>
                <a:tab pos="509905" algn="l"/>
              </a:tabLst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Pakistan,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names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private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sector.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i.e.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Montessori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education,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kindergarten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toddler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kids’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etc.</a:t>
            </a:r>
            <a:endParaRPr sz="1200">
              <a:latin typeface="Arial MT"/>
              <a:cs typeface="Arial MT"/>
            </a:endParaRPr>
          </a:p>
          <a:p>
            <a:pPr algn="just" marL="509270" indent="-229235">
              <a:lnSpc>
                <a:spcPct val="100000"/>
              </a:lnSpc>
              <a:spcBef>
                <a:spcPts val="585"/>
              </a:spcBef>
              <a:buFont typeface="Times New Roman"/>
              <a:buChar char="-"/>
              <a:tabLst>
                <a:tab pos="509905" algn="l"/>
              </a:tabLst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public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sector,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mostly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“Kachi Class”</a:t>
            </a:r>
            <a:endParaRPr sz="1200">
              <a:latin typeface="Arial MT"/>
              <a:cs typeface="Arial MT"/>
            </a:endParaRPr>
          </a:p>
          <a:p>
            <a:pPr algn="just" marL="44450" marR="200660">
              <a:lnSpc>
                <a:spcPct val="143300"/>
              </a:lnSpc>
              <a:spcBef>
                <a:spcPts val="1019"/>
              </a:spcBef>
            </a:pPr>
            <a:r>
              <a:rPr dirty="0" sz="1200" spc="-5">
                <a:latin typeface="Arial MT"/>
                <a:cs typeface="Arial MT"/>
              </a:rPr>
              <a:t>The names </a:t>
            </a:r>
            <a:r>
              <a:rPr dirty="0" sz="1200">
                <a:latin typeface="Arial MT"/>
                <a:cs typeface="Arial MT"/>
              </a:rPr>
              <a:t>may </a:t>
            </a:r>
            <a:r>
              <a:rPr dirty="0" sz="1200" spc="-5">
                <a:latin typeface="Arial MT"/>
                <a:cs typeface="Arial MT"/>
              </a:rPr>
              <a:t>be different but umbrella term for it is “Early Childhood Education.”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milestones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pre-school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formal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 marL="52069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5" b="1">
                <a:latin typeface="Arial"/>
                <a:cs typeface="Arial"/>
              </a:rPr>
              <a:t> most</a:t>
            </a:r>
            <a:r>
              <a:rPr dirty="0" sz="1200" b="1">
                <a:latin typeface="Arial"/>
                <a:cs typeface="Arial"/>
              </a:rPr>
              <a:t> important</a:t>
            </a:r>
            <a:r>
              <a:rPr dirty="0" sz="1200" spc="-5" b="1">
                <a:latin typeface="Arial"/>
                <a:cs typeface="Arial"/>
              </a:rPr>
              <a:t> things</a:t>
            </a:r>
            <a:r>
              <a:rPr dirty="0" sz="1200" b="1">
                <a:latin typeface="Arial"/>
                <a:cs typeface="Arial"/>
              </a:rPr>
              <a:t> in pre-school</a:t>
            </a:r>
            <a:r>
              <a:rPr dirty="0" sz="1200" spc="-5" b="1">
                <a:latin typeface="Arial"/>
                <a:cs typeface="Arial"/>
              </a:rPr>
              <a:t> education:</a:t>
            </a:r>
            <a:endParaRPr sz="1200">
              <a:latin typeface="Arial"/>
              <a:cs typeface="Arial"/>
            </a:endParaRPr>
          </a:p>
          <a:p>
            <a:pPr marL="509270" marR="9525" indent="-228600">
              <a:lnSpc>
                <a:spcPts val="2080"/>
              </a:lnSpc>
              <a:spcBef>
                <a:spcPts val="145"/>
              </a:spcBef>
              <a:buFont typeface="Times New Roman"/>
              <a:buChar char="-"/>
              <a:tabLst>
                <a:tab pos="509270" algn="l"/>
                <a:tab pos="509905" algn="l"/>
              </a:tabLst>
            </a:pPr>
            <a:r>
              <a:rPr dirty="0" sz="1200" spc="-5">
                <a:latin typeface="Arial MT"/>
                <a:cs typeface="Arial MT"/>
              </a:rPr>
              <a:t>Physical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development, 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cross </a:t>
            </a:r>
            <a:r>
              <a:rPr dirty="0" sz="1200" spc="-5">
                <a:latin typeface="Arial MT"/>
                <a:cs typeface="Arial MT"/>
              </a:rPr>
              <a:t>motor development 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fine motor development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included.</a:t>
            </a:r>
            <a:endParaRPr sz="1200">
              <a:latin typeface="Arial MT"/>
              <a:cs typeface="Arial MT"/>
            </a:endParaRPr>
          </a:p>
          <a:p>
            <a:pPr marL="509270" marR="10795" indent="-228600">
              <a:lnSpc>
                <a:spcPts val="2080"/>
              </a:lnSpc>
              <a:spcBef>
                <a:spcPts val="15"/>
              </a:spcBef>
              <a:buFont typeface="Times New Roman"/>
              <a:buChar char="-"/>
              <a:tabLst>
                <a:tab pos="509270" algn="l"/>
                <a:tab pos="509905" algn="l"/>
              </a:tabLst>
            </a:pPr>
            <a:r>
              <a:rPr dirty="0" sz="1200">
                <a:latin typeface="Arial MT"/>
                <a:cs typeface="Arial MT"/>
              </a:rPr>
              <a:t>Cognitive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development,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 separated.</a:t>
            </a:r>
            <a:endParaRPr sz="1200">
              <a:latin typeface="Arial MT"/>
              <a:cs typeface="Arial MT"/>
            </a:endParaRPr>
          </a:p>
          <a:p>
            <a:pPr marL="509270" indent="-229235">
              <a:lnSpc>
                <a:spcPct val="100000"/>
              </a:lnSpc>
              <a:spcBef>
                <a:spcPts val="590"/>
              </a:spcBef>
              <a:buFont typeface="Times New Roman"/>
              <a:buChar char="-"/>
              <a:tabLst>
                <a:tab pos="509270" algn="l"/>
                <a:tab pos="509905" algn="l"/>
              </a:tabLst>
            </a:pPr>
            <a:r>
              <a:rPr dirty="0" sz="1200" spc="-5">
                <a:latin typeface="Arial MT"/>
                <a:cs typeface="Arial MT"/>
              </a:rPr>
              <a:t>Similarly,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emotional development.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Arial MT"/>
              <a:cs typeface="Arial MT"/>
            </a:endParaRPr>
          </a:p>
          <a:p>
            <a:pPr marL="52069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Pre-schooling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research:</a:t>
            </a:r>
            <a:endParaRPr sz="1200">
              <a:latin typeface="Arial"/>
              <a:cs typeface="Arial"/>
            </a:endParaRPr>
          </a:p>
          <a:p>
            <a:pPr algn="just" marL="50800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A study by Stanford </a:t>
            </a:r>
            <a:r>
              <a:rPr dirty="0" sz="1200" spc="-5">
                <a:latin typeface="Arial MT"/>
                <a:cs typeface="Arial MT"/>
              </a:rPr>
              <a:t>University on 14,000 Kindergarteners revealed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while there is a temporary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boost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pre-reading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math,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pre-school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holds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detrimental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cooperation.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50">
              <a:latin typeface="Arial MT"/>
              <a:cs typeface="Arial MT"/>
            </a:endParaRPr>
          </a:p>
          <a:p>
            <a:pPr marL="4445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Milestones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early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years:</a:t>
            </a:r>
            <a:endParaRPr sz="1400">
              <a:latin typeface="Arial"/>
              <a:cs typeface="Arial"/>
            </a:endParaRPr>
          </a:p>
          <a:p>
            <a:pPr algn="just" marL="44450">
              <a:lnSpc>
                <a:spcPct val="100000"/>
              </a:lnSpc>
              <a:spcBef>
                <a:spcPts val="550"/>
              </a:spcBef>
            </a:pPr>
            <a:r>
              <a:rPr dirty="0" sz="1200" spc="-5">
                <a:latin typeface="Arial MT"/>
                <a:cs typeface="Arial MT"/>
              </a:rPr>
              <a:t>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help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By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age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3</a:t>
            </a:r>
            <a:r>
              <a:rPr dirty="0" sz="1600" spc="-1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,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average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balance</a:t>
            </a:r>
            <a:r>
              <a:rPr dirty="0" sz="1200" b="1">
                <a:latin typeface="Arial"/>
                <a:cs typeface="Arial"/>
              </a:rPr>
              <a:t> on </a:t>
            </a:r>
            <a:r>
              <a:rPr dirty="0" sz="1200" spc="-5" b="1">
                <a:latin typeface="Arial"/>
                <a:cs typeface="Arial"/>
              </a:rPr>
              <a:t>each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foot</a:t>
            </a:r>
            <a:r>
              <a:rPr dirty="0" sz="1200" b="1">
                <a:latin typeface="Arial"/>
                <a:cs typeface="Arial"/>
              </a:rPr>
              <a:t> for how long?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88335" y="9052940"/>
            <a:ext cx="15849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Answer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is: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3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seconds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7432" y="8662796"/>
            <a:ext cx="1000760" cy="1172210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15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3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seconds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4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seconds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6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seconds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2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minutes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0278617"/>
            <a:ext cx="4513580" cy="777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At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age </a:t>
            </a:r>
            <a:r>
              <a:rPr dirty="0" sz="1200" spc="-5" b="1">
                <a:latin typeface="Arial"/>
                <a:cs typeface="Arial"/>
              </a:rPr>
              <a:t>3 years,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average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</a:t>
            </a:r>
            <a:r>
              <a:rPr dirty="0" sz="1200" spc="-5" b="1">
                <a:latin typeface="Arial"/>
                <a:cs typeface="Arial"/>
              </a:rPr>
              <a:t> can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name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how </a:t>
            </a:r>
            <a:r>
              <a:rPr dirty="0" sz="1200" spc="-5" b="1">
                <a:latin typeface="Arial"/>
                <a:cs typeface="Arial"/>
              </a:rPr>
              <a:t>many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colors?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Arial"/>
              <a:cs typeface="Arial"/>
            </a:endParaRPr>
          </a:p>
          <a:p>
            <a:pPr algn="ctr" marL="52578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Answer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is: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78382" y="10587694"/>
          <a:ext cx="377190" cy="1027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450"/>
                <a:gridCol w="205740"/>
              </a:tblGrid>
              <a:tr h="228720">
                <a:tc>
                  <a:txBody>
                    <a:bodyPr/>
                    <a:lstStyle/>
                    <a:p>
                      <a:pPr marL="31750">
                        <a:lnSpc>
                          <a:spcPts val="132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-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7150">
                        <a:lnSpc>
                          <a:spcPts val="1325"/>
                        </a:lnSpc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857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-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3180"/>
                </a:tc>
                <a:tc>
                  <a:txBody>
                    <a:bodyPr/>
                    <a:lstStyle/>
                    <a:p>
                      <a:pPr algn="ctr" marL="571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3180"/>
                </a:tc>
              </a:tr>
              <a:tr h="28496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-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5"/>
                </a:tc>
                <a:tc>
                  <a:txBody>
                    <a:bodyPr/>
                    <a:lstStyle/>
                    <a:p>
                      <a:pPr algn="ctr" marL="571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2545"/>
                </a:tc>
              </a:tr>
              <a:tr h="227933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  <a:spcBef>
                          <a:spcPts val="335"/>
                        </a:spcBef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-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2545"/>
                </a:tc>
                <a:tc>
                  <a:txBody>
                    <a:bodyPr/>
                    <a:lstStyle/>
                    <a:p>
                      <a:pPr algn="ctr" marL="57150">
                        <a:lnSpc>
                          <a:spcPts val="1360"/>
                        </a:lnSpc>
                        <a:spcBef>
                          <a:spcPts val="335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2545"/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916940"/>
            <a:ext cx="27190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By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age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4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years,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most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children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can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….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31135" y="1484121"/>
            <a:ext cx="17608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Answer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is: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copy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circle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7432" y="1097025"/>
            <a:ext cx="2599690" cy="116840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05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Copy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square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Copy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circle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Copy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cross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Draw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person </a:t>
            </a:r>
            <a:r>
              <a:rPr dirty="0" sz="1200" b="1">
                <a:latin typeface="Arial"/>
                <a:cs typeface="Arial"/>
              </a:rPr>
              <a:t>with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6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body</a:t>
            </a:r>
            <a:r>
              <a:rPr dirty="0" sz="1200" spc="-5" b="1">
                <a:latin typeface="Arial"/>
                <a:cs typeface="Arial"/>
              </a:rPr>
              <a:t> parts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2445766"/>
            <a:ext cx="6635115" cy="9199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above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teach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early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childhood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 have 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learnt?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50"/>
              </a:spcBef>
            </a:pPr>
            <a:r>
              <a:rPr dirty="0" sz="1200" b="1">
                <a:latin typeface="Arial"/>
                <a:cs typeface="Arial"/>
              </a:rPr>
              <a:t>Being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teacher,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need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know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different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milestones</a:t>
            </a:r>
            <a:r>
              <a:rPr dirty="0" sz="1200" b="1">
                <a:latin typeface="Arial"/>
                <a:cs typeface="Arial"/>
              </a:rPr>
              <a:t> for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early</a:t>
            </a:r>
            <a:r>
              <a:rPr dirty="0" sz="1200" b="1">
                <a:latin typeface="Arial"/>
                <a:cs typeface="Arial"/>
              </a:rPr>
              <a:t> childhood education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Plan </a:t>
            </a:r>
            <a:r>
              <a:rPr dirty="0" sz="1200" spc="-10" b="1">
                <a:latin typeface="Arial"/>
                <a:cs typeface="Arial"/>
              </a:rPr>
              <a:t>age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appropriate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teaching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Carry </a:t>
            </a:r>
            <a:r>
              <a:rPr dirty="0" sz="1200" b="1">
                <a:latin typeface="Arial"/>
                <a:cs typeface="Arial"/>
              </a:rPr>
              <a:t>out </a:t>
            </a:r>
            <a:r>
              <a:rPr dirty="0" sz="1200" spc="-5" b="1">
                <a:latin typeface="Arial"/>
                <a:cs typeface="Arial"/>
              </a:rPr>
              <a:t>fair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assessment </a:t>
            </a:r>
            <a:r>
              <a:rPr dirty="0" sz="1200" b="1">
                <a:latin typeface="Arial"/>
                <a:cs typeface="Arial"/>
              </a:rPr>
              <a:t>of young</a:t>
            </a:r>
            <a:r>
              <a:rPr dirty="0" sz="1200" spc="-5" b="1">
                <a:latin typeface="Arial"/>
                <a:cs typeface="Arial"/>
              </a:rPr>
              <a:t> children.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Give</a:t>
            </a:r>
            <a:r>
              <a:rPr dirty="0" sz="1200" spc="-5" b="1">
                <a:latin typeface="Arial"/>
                <a:cs typeface="Arial"/>
              </a:rPr>
              <a:t> useful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feedback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children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their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parents.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Ensure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holistic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children.</a:t>
            </a:r>
            <a:endParaRPr sz="1200">
              <a:latin typeface="Arial"/>
              <a:cs typeface="Arial"/>
            </a:endParaRPr>
          </a:p>
          <a:p>
            <a:pPr marL="18415" marR="8890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teachers,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know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early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milestones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need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device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activities;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those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identified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early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milestones.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Brain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Development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activities:</a:t>
            </a:r>
            <a:endParaRPr sz="1400">
              <a:latin typeface="Arial"/>
              <a:cs typeface="Arial"/>
            </a:endParaRPr>
          </a:p>
          <a:p>
            <a:pPr algn="just" marL="473075" marR="5080" indent="-228600">
              <a:lnSpc>
                <a:spcPts val="2080"/>
              </a:lnSpc>
              <a:spcBef>
                <a:spcPts val="85"/>
              </a:spcBef>
              <a:buFont typeface="Times New Roman"/>
              <a:buChar char="-"/>
              <a:tabLst>
                <a:tab pos="473709" algn="l"/>
              </a:tabLst>
            </a:pPr>
            <a:r>
              <a:rPr dirty="0" sz="1200" spc="-5" b="1">
                <a:latin typeface="Arial"/>
                <a:cs typeface="Arial"/>
              </a:rPr>
              <a:t>Morning </a:t>
            </a:r>
            <a:r>
              <a:rPr dirty="0" sz="1200" b="1">
                <a:latin typeface="Arial"/>
                <a:cs typeface="Arial"/>
              </a:rPr>
              <a:t>greeting: </a:t>
            </a:r>
            <a:r>
              <a:rPr dirty="0" sz="1200" spc="-5">
                <a:latin typeface="Arial MT"/>
                <a:cs typeface="Arial MT"/>
              </a:rPr>
              <a:t>There are brain cells in the minds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children, but </a:t>
            </a:r>
            <a:r>
              <a:rPr dirty="0" sz="1200">
                <a:latin typeface="Arial MT"/>
                <a:cs typeface="Arial MT"/>
              </a:rPr>
              <a:t>the connection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 these cells are missing.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morning greeting provides the environment which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building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regard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Char char="-"/>
            </a:pPr>
            <a:endParaRPr sz="1650">
              <a:latin typeface="Arial MT"/>
              <a:cs typeface="Arial MT"/>
            </a:endParaRPr>
          </a:p>
          <a:p>
            <a:pPr algn="just" marL="473075" marR="9525" indent="-228600">
              <a:lnSpc>
                <a:spcPct val="144200"/>
              </a:lnSpc>
              <a:buFont typeface="Times New Roman"/>
              <a:buChar char="-"/>
              <a:tabLst>
                <a:tab pos="473709" algn="l"/>
              </a:tabLst>
            </a:pPr>
            <a:r>
              <a:rPr dirty="0" sz="1200" b="1">
                <a:latin typeface="Arial"/>
                <a:cs typeface="Arial"/>
              </a:rPr>
              <a:t>Finger play in </a:t>
            </a:r>
            <a:r>
              <a:rPr dirty="0" sz="1200" spc="-5" b="1">
                <a:latin typeface="Arial"/>
                <a:cs typeface="Arial"/>
              </a:rPr>
              <a:t>pre-school: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a couple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month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age, babies can </a:t>
            </a:r>
            <a:r>
              <a:rPr dirty="0" sz="1200">
                <a:latin typeface="Arial MT"/>
                <a:cs typeface="Arial MT"/>
              </a:rPr>
              <a:t>process </a:t>
            </a:r>
            <a:r>
              <a:rPr dirty="0" sz="1200" spc="-5">
                <a:latin typeface="Arial MT"/>
                <a:cs typeface="Arial MT"/>
              </a:rPr>
              <a:t>the emotional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colors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(prosody).</a:t>
            </a:r>
            <a:endParaRPr sz="1200">
              <a:latin typeface="Arial MT"/>
              <a:cs typeface="Arial MT"/>
            </a:endParaRPr>
          </a:p>
          <a:p>
            <a:pPr algn="just" marL="473075" marR="10795" indent="-228600">
              <a:lnSpc>
                <a:spcPct val="144200"/>
              </a:lnSpc>
              <a:spcBef>
                <a:spcPts val="25"/>
              </a:spcBef>
              <a:buFont typeface="Times New Roman"/>
              <a:buChar char="-"/>
              <a:tabLst>
                <a:tab pos="473709" algn="l"/>
              </a:tabLst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fact, toddlers can memorize nursery rhymes because </a:t>
            </a:r>
            <a:r>
              <a:rPr dirty="0" sz="1200">
                <a:latin typeface="Arial MT"/>
                <a:cs typeface="Arial MT"/>
              </a:rPr>
              <a:t>rhymes </a:t>
            </a:r>
            <a:r>
              <a:rPr dirty="0" sz="1200" spc="-10">
                <a:latin typeface="Arial MT"/>
                <a:cs typeface="Arial MT"/>
              </a:rPr>
              <a:t>have </a:t>
            </a:r>
            <a:r>
              <a:rPr dirty="0" sz="1200" spc="-5">
                <a:latin typeface="Arial MT"/>
                <a:cs typeface="Arial MT"/>
              </a:rPr>
              <a:t>prosody. Finger play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preschool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raises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voice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octaves </a:t>
            </a:r>
            <a:r>
              <a:rPr dirty="0" sz="1200" spc="-5">
                <a:latin typeface="Arial MT"/>
                <a:cs typeface="Arial MT"/>
              </a:rPr>
              <a:t>draws out her </a:t>
            </a:r>
            <a:r>
              <a:rPr dirty="0" sz="1200">
                <a:latin typeface="Arial MT"/>
                <a:cs typeface="Arial MT"/>
              </a:rPr>
              <a:t>vowels, the </a:t>
            </a:r>
            <a:r>
              <a:rPr dirty="0" sz="1200" spc="-5">
                <a:latin typeface="Arial MT"/>
                <a:cs typeface="Arial MT"/>
              </a:rPr>
              <a:t>child’s brain responds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sending even more chemical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electrical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impulses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across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synapses.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473075" marR="13970" indent="-228600">
              <a:lnSpc>
                <a:spcPct val="144200"/>
              </a:lnSpc>
              <a:buFont typeface="Times New Roman"/>
              <a:buChar char="-"/>
              <a:tabLst>
                <a:tab pos="473709" algn="l"/>
              </a:tabLst>
            </a:pPr>
            <a:r>
              <a:rPr dirty="0" sz="1200" spc="-5" b="1">
                <a:latin typeface="Arial"/>
                <a:cs typeface="Arial"/>
              </a:rPr>
              <a:t>Story </a:t>
            </a:r>
            <a:r>
              <a:rPr dirty="0" sz="1200" b="1">
                <a:latin typeface="Arial"/>
                <a:cs typeface="Arial"/>
              </a:rPr>
              <a:t>time </a:t>
            </a:r>
            <a:r>
              <a:rPr dirty="0" sz="1200" spc="-5">
                <a:latin typeface="Arial MT"/>
                <a:cs typeface="Arial MT"/>
              </a:rPr>
              <a:t>needs to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an integral part of </a:t>
            </a:r>
            <a:r>
              <a:rPr dirty="0" sz="1200" spc="-10">
                <a:latin typeface="Arial MT"/>
                <a:cs typeface="Arial MT"/>
              </a:rPr>
              <a:t>early </a:t>
            </a:r>
            <a:r>
              <a:rPr dirty="0" sz="1200" spc="-5">
                <a:latin typeface="Arial MT"/>
                <a:cs typeface="Arial MT"/>
              </a:rPr>
              <a:t>years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education. Because through story,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 </a:t>
            </a:r>
            <a:r>
              <a:rPr dirty="0" sz="1200">
                <a:latin typeface="Arial MT"/>
                <a:cs typeface="Arial MT"/>
              </a:rPr>
              <a:t>gets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 development,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 development</a:t>
            </a:r>
            <a:r>
              <a:rPr dirty="0" sz="1200" spc="5">
                <a:latin typeface="Arial MT"/>
                <a:cs typeface="Arial MT"/>
              </a:rPr>
              <a:t> and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interaction.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473075" marR="6985" indent="-228600">
              <a:lnSpc>
                <a:spcPct val="142800"/>
              </a:lnSpc>
              <a:buFont typeface="Times New Roman"/>
              <a:buChar char="-"/>
              <a:tabLst>
                <a:tab pos="473709" algn="l"/>
              </a:tabLst>
            </a:pPr>
            <a:r>
              <a:rPr dirty="0" sz="1200" spc="-5" b="1">
                <a:latin typeface="Arial"/>
                <a:cs typeface="Arial"/>
              </a:rPr>
              <a:t>Free play: </a:t>
            </a:r>
            <a:r>
              <a:rPr dirty="0" sz="1200" spc="-5">
                <a:latin typeface="Arial MT"/>
                <a:cs typeface="Arial MT"/>
              </a:rPr>
              <a:t>It is not necessary that every school follows teacher-oriented activities i.e.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 always tells a </a:t>
            </a:r>
            <a:r>
              <a:rPr dirty="0" sz="1200">
                <a:latin typeface="Arial MT"/>
                <a:cs typeface="Arial MT"/>
              </a:rPr>
              <a:t>story. But </a:t>
            </a:r>
            <a:r>
              <a:rPr dirty="0" sz="1200" spc="-5">
                <a:latin typeface="Arial MT"/>
                <a:cs typeface="Arial MT"/>
              </a:rPr>
              <a:t>a teacher must give the students free time so that they can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either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could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together.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Research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says,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“During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free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play,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pre-school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children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interact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with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another.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they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communicate,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whether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through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beginning </a:t>
            </a:r>
            <a:r>
              <a:rPr dirty="0" sz="1200" spc="-5" b="1">
                <a:latin typeface="Arial"/>
                <a:cs typeface="Arial"/>
              </a:rPr>
              <a:t>language </a:t>
            </a:r>
            <a:r>
              <a:rPr dirty="0" sz="1200" b="1">
                <a:latin typeface="Arial"/>
                <a:cs typeface="Arial"/>
              </a:rPr>
              <a:t>or </a:t>
            </a:r>
            <a:r>
              <a:rPr dirty="0" sz="1200" spc="-5" b="1">
                <a:latin typeface="Arial"/>
                <a:cs typeface="Arial"/>
              </a:rPr>
              <a:t>more sophisticated use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words, the neurons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their brains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making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connections, critical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 reinforcing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learning.”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-"/>
            </a:pPr>
            <a:endParaRPr sz="1750">
              <a:latin typeface="Arial"/>
              <a:cs typeface="Arial"/>
            </a:endParaRPr>
          </a:p>
          <a:p>
            <a:pPr algn="just" marL="473075" marR="10160" indent="-228600">
              <a:lnSpc>
                <a:spcPct val="144100"/>
              </a:lnSpc>
              <a:buFont typeface="Times New Roman"/>
              <a:buChar char="-"/>
              <a:tabLst>
                <a:tab pos="473709" algn="l"/>
              </a:tabLst>
            </a:pPr>
            <a:r>
              <a:rPr dirty="0" sz="1200" spc="-5" b="1">
                <a:latin typeface="Arial"/>
                <a:cs typeface="Arial"/>
              </a:rPr>
              <a:t>Snack &amp; circle </a:t>
            </a:r>
            <a:r>
              <a:rPr dirty="0" sz="1200" b="1">
                <a:latin typeface="Arial"/>
                <a:cs typeface="Arial"/>
              </a:rPr>
              <a:t>time activity: </a:t>
            </a:r>
            <a:r>
              <a:rPr dirty="0" sz="1200">
                <a:latin typeface="Arial MT"/>
                <a:cs typeface="Arial MT"/>
              </a:rPr>
              <a:t>This activity </a:t>
            </a:r>
            <a:r>
              <a:rPr dirty="0" sz="1200" spc="-5">
                <a:latin typeface="Arial MT"/>
                <a:cs typeface="Arial MT"/>
              </a:rPr>
              <a:t>is important because the children can interact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another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easily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having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snacks.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interaction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4480" cy="11098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73075" marR="508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this time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most </a:t>
            </a:r>
            <a:r>
              <a:rPr dirty="0" sz="1200" spc="-5">
                <a:latin typeface="Arial MT"/>
                <a:cs typeface="Arial MT"/>
              </a:rPr>
              <a:t>importantly, they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10">
                <a:latin typeface="Arial MT"/>
                <a:cs typeface="Arial MT"/>
              </a:rPr>
              <a:t>sharing </a:t>
            </a:r>
            <a:r>
              <a:rPr dirty="0" sz="1200" spc="-5">
                <a:latin typeface="Arial MT"/>
                <a:cs typeface="Arial MT"/>
              </a:rPr>
              <a:t>here; sharing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ideas in adult life comes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someone experiences these </a:t>
            </a:r>
            <a:r>
              <a:rPr dirty="0" sz="1200">
                <a:latin typeface="Arial MT"/>
                <a:cs typeface="Arial MT"/>
              </a:rPr>
              <a:t>things </a:t>
            </a:r>
            <a:r>
              <a:rPr dirty="0" sz="1200" spc="-5">
                <a:latin typeface="Arial MT"/>
                <a:cs typeface="Arial MT"/>
              </a:rPr>
              <a:t>in early childhood. Sharing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early ages starts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little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>
                <a:latin typeface="Arial MT"/>
                <a:cs typeface="Arial MT"/>
              </a:rPr>
              <a:t> e.g.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snacks,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toffees,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chips,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biscuits,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lunch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etc.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Arial MT"/>
              <a:cs typeface="Arial MT"/>
            </a:endParaRPr>
          </a:p>
          <a:p>
            <a:pPr algn="just" marL="483870" marR="5715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 children do not share these little </a:t>
            </a:r>
            <a:r>
              <a:rPr dirty="0" sz="1200">
                <a:latin typeface="Arial MT"/>
                <a:cs typeface="Arial MT"/>
              </a:rPr>
              <a:t>things at </a:t>
            </a:r>
            <a:r>
              <a:rPr dirty="0" sz="1200" spc="-5">
                <a:latin typeface="Arial MT"/>
                <a:cs typeface="Arial MT"/>
              </a:rPr>
              <a:t>early ages then they </a:t>
            </a:r>
            <a:r>
              <a:rPr dirty="0" sz="1200">
                <a:latin typeface="Arial MT"/>
                <a:cs typeface="Arial MT"/>
              </a:rPr>
              <a:t>would </a:t>
            </a:r>
            <a:r>
              <a:rPr dirty="0" sz="1200" spc="-5">
                <a:latin typeface="Arial MT"/>
                <a:cs typeface="Arial MT"/>
              </a:rPr>
              <a:t>not share </a:t>
            </a:r>
            <a:r>
              <a:rPr dirty="0" sz="1200" spc="-1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ideas </a:t>
            </a:r>
            <a:r>
              <a:rPr dirty="0" sz="1200" spc="-5">
                <a:latin typeface="Arial MT"/>
                <a:cs typeface="Arial MT"/>
              </a:rPr>
              <a:t>in their future lives.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snack time activity 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helpful in learning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vocabulary,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sentence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construction,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social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Arial MT"/>
              <a:cs typeface="Arial MT"/>
            </a:endParaRPr>
          </a:p>
          <a:p>
            <a:pPr algn="just" marL="473075" marR="5080" indent="-228600">
              <a:lnSpc>
                <a:spcPct val="144200"/>
              </a:lnSpc>
              <a:buFont typeface="Times New Roman"/>
              <a:buChar char="-"/>
              <a:tabLst>
                <a:tab pos="473709" algn="l"/>
              </a:tabLst>
            </a:pPr>
            <a:r>
              <a:rPr dirty="0" sz="1200" spc="-5" b="1">
                <a:latin typeface="Arial"/>
                <a:cs typeface="Arial"/>
              </a:rPr>
              <a:t>Circle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time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activity: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early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childhood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attention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large group </a:t>
            </a:r>
            <a:r>
              <a:rPr dirty="0" sz="1200">
                <a:latin typeface="Arial MT"/>
                <a:cs typeface="Arial MT"/>
              </a:rPr>
              <a:t>activity, </a:t>
            </a:r>
            <a:r>
              <a:rPr dirty="0" sz="1200" spc="-5">
                <a:latin typeface="Arial MT"/>
                <a:cs typeface="Arial MT"/>
              </a:rPr>
              <a:t>the child must think about the topic </a:t>
            </a:r>
            <a:r>
              <a:rPr dirty="0" sz="1200">
                <a:latin typeface="Arial MT"/>
                <a:cs typeface="Arial MT"/>
              </a:rPr>
              <a:t>for the </a:t>
            </a:r>
            <a:r>
              <a:rPr dirty="0" sz="1200" spc="-5">
                <a:latin typeface="Arial MT"/>
                <a:cs typeface="Arial MT"/>
              </a:rPr>
              <a:t>day.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child’s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she/he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retrieves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special.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-"/>
            </a:pPr>
            <a:endParaRPr sz="1900">
              <a:latin typeface="Arial MT"/>
              <a:cs typeface="Arial MT"/>
            </a:endParaRPr>
          </a:p>
          <a:p>
            <a:pPr algn="just" marL="473075" marR="6350" indent="-228600">
              <a:lnSpc>
                <a:spcPct val="144400"/>
              </a:lnSpc>
              <a:buFont typeface="Times New Roman"/>
              <a:buChar char="-"/>
              <a:tabLst>
                <a:tab pos="473709" algn="l"/>
              </a:tabLst>
            </a:pPr>
            <a:r>
              <a:rPr dirty="0" sz="1200" spc="-5" b="1">
                <a:latin typeface="Arial"/>
                <a:cs typeface="Arial"/>
              </a:rPr>
              <a:t>Art</a:t>
            </a:r>
            <a:r>
              <a:rPr dirty="0" sz="1200" b="1">
                <a:latin typeface="Arial"/>
                <a:cs typeface="Arial"/>
              </a:rPr>
              <a:t> activity: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Art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early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childhood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Char char="-"/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Physical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Development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Milestones: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00">
              <a:latin typeface="Arial"/>
              <a:cs typeface="Arial"/>
            </a:endParaRPr>
          </a:p>
          <a:p>
            <a:pPr algn="just" marL="473075" marR="11430" indent="-228600">
              <a:lnSpc>
                <a:spcPct val="143800"/>
              </a:lnSpc>
              <a:buFont typeface="Times New Roman"/>
              <a:buChar char="-"/>
              <a:tabLst>
                <a:tab pos="473709" algn="l"/>
              </a:tabLst>
            </a:pPr>
            <a:r>
              <a:rPr dirty="0" sz="1200" b="1">
                <a:latin typeface="Arial"/>
                <a:cs typeface="Arial"/>
              </a:rPr>
              <a:t>Jumping: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give the students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opportunity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jumping exercise. They 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jumping alone; there are other students as well. So </a:t>
            </a:r>
            <a:r>
              <a:rPr dirty="0" sz="1200">
                <a:latin typeface="Arial MT"/>
                <a:cs typeface="Arial MT"/>
              </a:rPr>
              <a:t>this activity </a:t>
            </a:r>
            <a:r>
              <a:rPr dirty="0" sz="1200" spc="-5">
                <a:latin typeface="Arial MT"/>
                <a:cs typeface="Arial MT"/>
              </a:rPr>
              <a:t>is not only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physical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interaction</a:t>
            </a:r>
            <a:r>
              <a:rPr dirty="0" sz="1200">
                <a:latin typeface="Arial MT"/>
                <a:cs typeface="Arial MT"/>
              </a:rPr>
              <a:t> as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-"/>
            </a:pPr>
            <a:endParaRPr sz="1900">
              <a:latin typeface="Arial MT"/>
              <a:cs typeface="Arial MT"/>
            </a:endParaRPr>
          </a:p>
          <a:p>
            <a:pPr algn="just" marL="473075" marR="12700" indent="-228600">
              <a:lnSpc>
                <a:spcPct val="143400"/>
              </a:lnSpc>
              <a:spcBef>
                <a:spcPts val="5"/>
              </a:spcBef>
              <a:buFont typeface="Times New Roman"/>
              <a:buChar char="-"/>
              <a:tabLst>
                <a:tab pos="473709" algn="l"/>
              </a:tabLst>
            </a:pPr>
            <a:r>
              <a:rPr dirty="0" sz="1200" b="1">
                <a:latin typeface="Arial"/>
                <a:cs typeface="Arial"/>
              </a:rPr>
              <a:t>Finger play: </a:t>
            </a:r>
            <a:r>
              <a:rPr dirty="0" sz="1200" spc="-5">
                <a:latin typeface="Arial MT"/>
                <a:cs typeface="Arial MT"/>
              </a:rPr>
              <a:t>When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are learning </a:t>
            </a:r>
            <a:r>
              <a:rPr dirty="0" sz="1200">
                <a:latin typeface="Arial MT"/>
                <a:cs typeface="Arial MT"/>
              </a:rPr>
              <a:t>rhymes, </a:t>
            </a:r>
            <a:r>
              <a:rPr dirty="0" sz="1200" spc="-5">
                <a:latin typeface="Arial MT"/>
                <a:cs typeface="Arial MT"/>
              </a:rPr>
              <a:t>they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always be taught through </a:t>
            </a:r>
            <a:r>
              <a:rPr dirty="0" sz="1200">
                <a:latin typeface="Arial MT"/>
                <a:cs typeface="Arial MT"/>
              </a:rPr>
              <a:t> actions. </a:t>
            </a:r>
            <a:r>
              <a:rPr dirty="0" sz="1200" spc="-5">
                <a:latin typeface="Arial MT"/>
                <a:cs typeface="Arial MT"/>
              </a:rPr>
              <a:t>Its purpose is brain development and mortar development. When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children </a:t>
            </a:r>
            <a:r>
              <a:rPr dirty="0" sz="1200" spc="-10">
                <a:latin typeface="Arial MT"/>
                <a:cs typeface="Arial MT"/>
              </a:rPr>
              <a:t>use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mortar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muscles</a:t>
            </a:r>
            <a:r>
              <a:rPr dirty="0" sz="1200" spc="-5">
                <a:latin typeface="Arial MT"/>
                <a:cs typeface="Arial MT"/>
              </a:rPr>
              <a:t> 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fin muscles, 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result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mortar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takes place.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473075" marR="10160" indent="-228600">
              <a:lnSpc>
                <a:spcPct val="144200"/>
              </a:lnSpc>
              <a:spcBef>
                <a:spcPts val="5"/>
              </a:spcBef>
              <a:buFont typeface="Times New Roman"/>
              <a:buChar char="-"/>
              <a:tabLst>
                <a:tab pos="473709" algn="l"/>
              </a:tabLst>
            </a:pPr>
            <a:r>
              <a:rPr dirty="0" sz="1200" spc="-5" b="1">
                <a:latin typeface="Arial"/>
                <a:cs typeface="Arial"/>
              </a:rPr>
              <a:t>Art activities: </a:t>
            </a:r>
            <a:r>
              <a:rPr dirty="0" sz="1200" spc="-5">
                <a:latin typeface="Arial MT"/>
                <a:cs typeface="Arial MT"/>
              </a:rPr>
              <a:t>All </a:t>
            </a:r>
            <a:r>
              <a:rPr dirty="0" sz="1200">
                <a:latin typeface="Arial MT"/>
                <a:cs typeface="Arial MT"/>
              </a:rPr>
              <a:t>art </a:t>
            </a:r>
            <a:r>
              <a:rPr dirty="0" sz="1200" spc="-5">
                <a:latin typeface="Arial MT"/>
                <a:cs typeface="Arial MT"/>
              </a:rPr>
              <a:t>activities are </a:t>
            </a:r>
            <a:r>
              <a:rPr dirty="0" sz="1200">
                <a:latin typeface="Arial MT"/>
                <a:cs typeface="Arial MT"/>
              </a:rPr>
              <a:t>part of </a:t>
            </a:r>
            <a:r>
              <a:rPr dirty="0" sz="1200" spc="-5">
                <a:latin typeface="Arial MT"/>
                <a:cs typeface="Arial MT"/>
              </a:rPr>
              <a:t>physical development. </a:t>
            </a:r>
            <a:r>
              <a:rPr dirty="0" sz="1200">
                <a:latin typeface="Arial MT"/>
                <a:cs typeface="Arial MT"/>
              </a:rPr>
              <a:t>Art </a:t>
            </a:r>
            <a:r>
              <a:rPr dirty="0" sz="1200" spc="-5">
                <a:latin typeface="Arial MT"/>
                <a:cs typeface="Arial MT"/>
              </a:rPr>
              <a:t>should be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essential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component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pre-school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directly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physical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Char char="-"/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Social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Development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Activities: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Arial"/>
              <a:cs typeface="Arial"/>
            </a:endParaRPr>
          </a:p>
          <a:p>
            <a:pPr algn="just" marL="473075" marR="8890" indent="-228600">
              <a:lnSpc>
                <a:spcPct val="144200"/>
              </a:lnSpc>
              <a:buFont typeface="Times New Roman"/>
              <a:buChar char="-"/>
              <a:tabLst>
                <a:tab pos="473709" algn="l"/>
              </a:tabLst>
            </a:pPr>
            <a:r>
              <a:rPr dirty="0" sz="1200" b="1">
                <a:latin typeface="Arial"/>
                <a:cs typeface="Arial"/>
              </a:rPr>
              <a:t>Seating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arrangement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class: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Seating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arrangement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manner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the children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easily </a:t>
            </a:r>
            <a:r>
              <a:rPr dirty="0" sz="1200">
                <a:latin typeface="Arial MT"/>
                <a:cs typeface="Arial MT"/>
              </a:rPr>
              <a:t>interact </a:t>
            </a:r>
            <a:r>
              <a:rPr dirty="0" sz="1200" spc="-5">
                <a:latin typeface="Arial MT"/>
                <a:cs typeface="Arial MT"/>
              </a:rPr>
              <a:t>with one another and they </a:t>
            </a:r>
            <a:r>
              <a:rPr dirty="0" sz="1200" spc="-10">
                <a:latin typeface="Arial MT"/>
                <a:cs typeface="Arial MT"/>
              </a:rPr>
              <a:t>could </a:t>
            </a:r>
            <a:r>
              <a:rPr dirty="0" sz="1200" spc="-5">
                <a:latin typeface="Arial MT"/>
                <a:cs typeface="Arial MT"/>
              </a:rPr>
              <a:t>work together. They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could share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-"/>
            </a:pPr>
            <a:endParaRPr sz="1300">
              <a:latin typeface="Arial MT"/>
              <a:cs typeface="Arial MT"/>
            </a:endParaRPr>
          </a:p>
          <a:p>
            <a:pPr algn="just" marL="473075" marR="10795" indent="-228600">
              <a:lnSpc>
                <a:spcPct val="144200"/>
              </a:lnSpc>
              <a:spcBef>
                <a:spcPts val="5"/>
              </a:spcBef>
              <a:buFont typeface="Times New Roman"/>
              <a:buChar char="-"/>
              <a:tabLst>
                <a:tab pos="473709" algn="l"/>
              </a:tabLst>
            </a:pPr>
            <a:r>
              <a:rPr dirty="0" sz="1200" spc="-5" b="1">
                <a:latin typeface="Arial"/>
                <a:cs typeface="Arial"/>
              </a:rPr>
              <a:t>Physical development: </a:t>
            </a:r>
            <a:r>
              <a:rPr dirty="0" sz="1200" spc="-5">
                <a:latin typeface="Arial MT"/>
                <a:cs typeface="Arial MT"/>
              </a:rPr>
              <a:t>Through physical development </a:t>
            </a:r>
            <a:r>
              <a:rPr dirty="0" sz="1200">
                <a:latin typeface="Arial MT"/>
                <a:cs typeface="Arial MT"/>
              </a:rPr>
              <a:t>activities, the </a:t>
            </a:r>
            <a:r>
              <a:rPr dirty="0" sz="1200" spc="-5">
                <a:latin typeface="Arial MT"/>
                <a:cs typeface="Arial MT"/>
              </a:rPr>
              <a:t>children </a:t>
            </a:r>
            <a:r>
              <a:rPr dirty="0" sz="1200">
                <a:latin typeface="Arial MT"/>
                <a:cs typeface="Arial MT"/>
              </a:rPr>
              <a:t>gets </a:t>
            </a:r>
            <a:r>
              <a:rPr dirty="0" sz="1200" spc="-5">
                <a:latin typeface="Arial MT"/>
                <a:cs typeface="Arial MT"/>
              </a:rPr>
              <a:t>social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interaction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well.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473075" marR="10160" indent="-228600">
              <a:lnSpc>
                <a:spcPct val="144200"/>
              </a:lnSpc>
              <a:buFont typeface="Times New Roman"/>
              <a:buChar char="-"/>
              <a:tabLst>
                <a:tab pos="473709" algn="l"/>
              </a:tabLst>
            </a:pPr>
            <a:r>
              <a:rPr dirty="0" sz="1200" spc="-5" b="1">
                <a:latin typeface="Arial"/>
                <a:cs typeface="Arial"/>
              </a:rPr>
              <a:t>Snack time &amp; circle activity: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snack time </a:t>
            </a:r>
            <a:r>
              <a:rPr dirty="0" sz="1200">
                <a:latin typeface="Arial MT"/>
                <a:cs typeface="Arial MT"/>
              </a:rPr>
              <a:t>&amp; </a:t>
            </a:r>
            <a:r>
              <a:rPr dirty="0" sz="1200" spc="-5">
                <a:latin typeface="Arial MT"/>
                <a:cs typeface="Arial MT"/>
              </a:rPr>
              <a:t>circle </a:t>
            </a:r>
            <a:r>
              <a:rPr dirty="0" sz="1200">
                <a:latin typeface="Arial MT"/>
                <a:cs typeface="Arial MT"/>
              </a:rPr>
              <a:t>activity, the </a:t>
            </a:r>
            <a:r>
              <a:rPr dirty="0" sz="1200" spc="-5">
                <a:latin typeface="Arial MT"/>
                <a:cs typeface="Arial MT"/>
              </a:rPr>
              <a:t>children share their ideas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-5">
                <a:latin typeface="Arial MT"/>
                <a:cs typeface="Arial MT"/>
              </a:rPr>
              <a:t> also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results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-"/>
            </a:pPr>
            <a:endParaRPr sz="1200">
              <a:latin typeface="Arial MT"/>
              <a:cs typeface="Arial MT"/>
            </a:endParaRPr>
          </a:p>
          <a:p>
            <a:pPr marL="473075" indent="-229235">
              <a:lnSpc>
                <a:spcPct val="100000"/>
              </a:lnSpc>
              <a:buFont typeface="Times New Roman"/>
              <a:buChar char="-"/>
              <a:tabLst>
                <a:tab pos="473075" algn="l"/>
                <a:tab pos="473709" algn="l"/>
              </a:tabLst>
            </a:pPr>
            <a:r>
              <a:rPr dirty="0" sz="1200" spc="-5" b="1">
                <a:latin typeface="Arial"/>
                <a:cs typeface="Arial"/>
              </a:rPr>
              <a:t>Vygotsky’s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theory: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Vygotsky’s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theory</a:t>
            </a:r>
            <a:r>
              <a:rPr dirty="0" sz="1200" spc="-5" b="1">
                <a:latin typeface="Arial"/>
                <a:cs typeface="Arial"/>
              </a:rPr>
              <a:t> included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four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major </a:t>
            </a:r>
            <a:r>
              <a:rPr dirty="0" sz="1200" spc="-5" b="1">
                <a:latin typeface="Arial"/>
                <a:cs typeface="Arial"/>
              </a:rPr>
              <a:t>ideas. </a:t>
            </a:r>
            <a:r>
              <a:rPr dirty="0" sz="1200" b="1">
                <a:latin typeface="Arial"/>
                <a:cs typeface="Arial"/>
              </a:rPr>
              <a:t>They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are: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Children </a:t>
            </a:r>
            <a:r>
              <a:rPr dirty="0" sz="1200" b="1">
                <a:latin typeface="Arial"/>
                <a:cs typeface="Arial"/>
              </a:rPr>
              <a:t>construct</a:t>
            </a:r>
            <a:r>
              <a:rPr dirty="0" sz="1200" spc="-5" b="1">
                <a:latin typeface="Arial"/>
                <a:cs typeface="Arial"/>
              </a:rPr>
              <a:t> their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own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knowledge.</a:t>
            </a:r>
            <a:endParaRPr sz="1200">
              <a:latin typeface="Arial"/>
              <a:cs typeface="Arial"/>
            </a:endParaRPr>
          </a:p>
          <a:p>
            <a:pPr lvl="1" marL="70612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Language </a:t>
            </a:r>
            <a:r>
              <a:rPr dirty="0" sz="1200" spc="-5" b="1">
                <a:latin typeface="Arial"/>
                <a:cs typeface="Arial"/>
              </a:rPr>
              <a:t>plays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 </a:t>
            </a:r>
            <a:r>
              <a:rPr dirty="0" sz="1200" spc="-5" b="1">
                <a:latin typeface="Arial"/>
                <a:cs typeface="Arial"/>
              </a:rPr>
              <a:t>important</a:t>
            </a:r>
            <a:r>
              <a:rPr dirty="0" sz="1200" b="1">
                <a:latin typeface="Arial"/>
                <a:cs typeface="Arial"/>
              </a:rPr>
              <a:t> role in </a:t>
            </a:r>
            <a:r>
              <a:rPr dirty="0" sz="1200" spc="-5" b="1">
                <a:latin typeface="Arial"/>
                <a:cs typeface="Arial"/>
              </a:rPr>
              <a:t>cognitive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7432" y="578611"/>
            <a:ext cx="6402070" cy="318516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474345" indent="-229235">
              <a:lnSpc>
                <a:spcPct val="100000"/>
              </a:lnSpc>
              <a:spcBef>
                <a:spcPts val="710"/>
              </a:spcBef>
              <a:buFont typeface="Times New Roman"/>
              <a:buAutoNum type="arabicPeriod" startAt="3"/>
              <a:tabLst>
                <a:tab pos="474980" algn="l"/>
              </a:tabLst>
            </a:pP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 lead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development.</a:t>
            </a:r>
            <a:endParaRPr sz="1200">
              <a:latin typeface="Arial"/>
              <a:cs typeface="Arial"/>
            </a:endParaRPr>
          </a:p>
          <a:p>
            <a:pPr marL="474345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 startAt="3"/>
              <a:tabLst>
                <a:tab pos="474980" algn="l"/>
              </a:tabLst>
            </a:pPr>
            <a:r>
              <a:rPr dirty="0" sz="1200" b="1">
                <a:latin typeface="Arial"/>
                <a:cs typeface="Arial"/>
              </a:rPr>
              <a:t>Development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cannot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separated</a:t>
            </a:r>
            <a:r>
              <a:rPr dirty="0" sz="1200" b="1">
                <a:latin typeface="Arial"/>
                <a:cs typeface="Arial"/>
              </a:rPr>
              <a:t> from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social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context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which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occurs.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"/>
              <a:cs typeface="Arial"/>
            </a:endParaRPr>
          </a:p>
          <a:p>
            <a:pPr algn="just" marL="241300" marR="5080" indent="-228600">
              <a:lnSpc>
                <a:spcPct val="144200"/>
              </a:lnSpc>
            </a:pPr>
            <a:r>
              <a:rPr dirty="0" sz="1200">
                <a:latin typeface="Times New Roman"/>
                <a:cs typeface="Times New Roman"/>
              </a:rPr>
              <a:t>-    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important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us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understand this theory and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use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in our teaching. Because </a:t>
            </a:r>
            <a:r>
              <a:rPr dirty="0" sz="1200">
                <a:latin typeface="Arial MT"/>
                <a:cs typeface="Arial MT"/>
              </a:rPr>
              <a:t> this </a:t>
            </a:r>
            <a:r>
              <a:rPr dirty="0" sz="1200" spc="-5">
                <a:latin typeface="Arial MT"/>
                <a:cs typeface="Arial MT"/>
              </a:rPr>
              <a:t>theory 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much applicable in early childhood education. Teachers must </a:t>
            </a:r>
            <a:r>
              <a:rPr dirty="0" sz="1200">
                <a:latin typeface="Arial MT"/>
                <a:cs typeface="Arial MT"/>
              </a:rPr>
              <a:t>focus </a:t>
            </a:r>
            <a:r>
              <a:rPr dirty="0" sz="1200" spc="-5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Because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can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lead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development.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focus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 social context because social interaction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helpful in social development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children.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 social development takes place, </a:t>
            </a:r>
            <a:r>
              <a:rPr dirty="0" sz="1200" spc="-1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ultimately, children increase their vocabulary </a:t>
            </a:r>
            <a:r>
              <a:rPr dirty="0" sz="1200">
                <a:latin typeface="Arial MT"/>
                <a:cs typeface="Arial MT"/>
              </a:rPr>
              <a:t> and </a:t>
            </a:r>
            <a:r>
              <a:rPr dirty="0" sz="1200" spc="-5">
                <a:latin typeface="Arial MT"/>
                <a:cs typeface="Arial MT"/>
              </a:rPr>
              <a:t>language development. Vygotsky’s theory </a:t>
            </a:r>
            <a:r>
              <a:rPr dirty="0" sz="1200">
                <a:latin typeface="Arial MT"/>
                <a:cs typeface="Arial MT"/>
              </a:rPr>
              <a:t>provides </a:t>
            </a:r>
            <a:r>
              <a:rPr dirty="0" sz="1200" spc="-5">
                <a:latin typeface="Arial MT"/>
                <a:cs typeface="Arial MT"/>
              </a:rPr>
              <a:t>us with an integrated perspective </a:t>
            </a:r>
            <a:r>
              <a:rPr dirty="0" sz="1200">
                <a:latin typeface="Arial MT"/>
                <a:cs typeface="Arial MT"/>
              </a:rPr>
              <a:t> that </a:t>
            </a:r>
            <a:r>
              <a:rPr dirty="0" sz="1200" spc="-5">
                <a:latin typeface="Arial MT"/>
                <a:cs typeface="Arial MT"/>
              </a:rPr>
              <a:t>teachers must provide such opportunities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children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early childhood education which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leads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developed in</a:t>
            </a:r>
            <a:endParaRPr sz="1200">
              <a:latin typeface="Arial MT"/>
              <a:cs typeface="Arial MT"/>
            </a:endParaRPr>
          </a:p>
          <a:p>
            <a:pPr marL="245745">
              <a:lnSpc>
                <a:spcPct val="100000"/>
              </a:lnSpc>
              <a:spcBef>
                <a:spcPts val="650"/>
              </a:spcBef>
            </a:pPr>
            <a:r>
              <a:rPr dirty="0" sz="1200" spc="-5">
                <a:latin typeface="Arial MT"/>
                <a:cs typeface="Arial MT"/>
              </a:rPr>
              <a:t>isolation.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4446142"/>
            <a:ext cx="6972300" cy="315595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 #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25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“Big</a:t>
            </a:r>
            <a:r>
              <a:rPr dirty="0" sz="18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Ideas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Core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Concepts”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Objectives: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4837303"/>
            <a:ext cx="6635115" cy="6352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the end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this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session,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reflected upon: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87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importance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big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design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importance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68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The importance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Generative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68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Outline: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Rethinking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Curriculum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Information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Core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concepts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Generating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Core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Concepts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Generative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topics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Essential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questions</a:t>
            </a:r>
            <a:endParaRPr sz="1200">
              <a:latin typeface="Arial"/>
              <a:cs typeface="Arial"/>
            </a:endParaRPr>
          </a:p>
          <a:p>
            <a:pPr marL="478790">
              <a:lnSpc>
                <a:spcPct val="100000"/>
              </a:lnSpc>
              <a:spcBef>
                <a:spcPts val="615"/>
              </a:spcBef>
            </a:pPr>
            <a:r>
              <a:rPr dirty="0" sz="1200">
                <a:latin typeface="Arial MT"/>
                <a:cs typeface="Arial MT"/>
              </a:rPr>
              <a:t>-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Wiggin’s</a:t>
            </a:r>
            <a:r>
              <a:rPr dirty="0" sz="1200" b="1">
                <a:latin typeface="Arial"/>
                <a:cs typeface="Arial"/>
              </a:rPr>
              <a:t> and </a:t>
            </a:r>
            <a:r>
              <a:rPr dirty="0" sz="1200" spc="-5" b="1">
                <a:latin typeface="Arial"/>
                <a:cs typeface="Arial"/>
              </a:rPr>
              <a:t>Mctighe’s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essential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1155"/>
              </a:spcBef>
            </a:pPr>
            <a:r>
              <a:rPr dirty="0" sz="1200" b="1">
                <a:latin typeface="Arial"/>
                <a:cs typeface="Arial"/>
              </a:rPr>
              <a:t>Case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a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Dedicated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Arial"/>
              <a:cs typeface="Arial"/>
            </a:endParaRPr>
          </a:p>
          <a:p>
            <a:pPr marL="18415" marR="12065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Saima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dedicated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teacher.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She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been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Science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elementary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last 6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However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year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struggles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finish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content.</a:t>
            </a:r>
            <a:endParaRPr sz="1200">
              <a:latin typeface="Arial MT"/>
              <a:cs typeface="Arial MT"/>
            </a:endParaRPr>
          </a:p>
          <a:p>
            <a:pPr marL="18415" marR="5080" indent="-6350">
              <a:lnSpc>
                <a:spcPct val="1442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Saima’s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ensure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room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techniques</a:t>
            </a:r>
            <a:r>
              <a:rPr dirty="0" sz="1200">
                <a:latin typeface="Arial MT"/>
                <a:cs typeface="Arial MT"/>
              </a:rPr>
              <a:t> also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course 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covered.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done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-5" b="1">
                <a:latin typeface="Arial"/>
                <a:cs typeface="Arial"/>
              </a:rPr>
              <a:t> Saima?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845" cy="10854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1016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get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little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assistance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textbook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publishers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seem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simply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rather </a:t>
            </a:r>
            <a:r>
              <a:rPr dirty="0" sz="1200" spc="-5">
                <a:latin typeface="Arial MT"/>
                <a:cs typeface="Arial MT"/>
              </a:rPr>
              <a:t>than reorganize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effectively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older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ideas.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60"/>
              </a:spcBef>
            </a:pPr>
            <a:r>
              <a:rPr dirty="0" sz="1200" b="1">
                <a:latin typeface="Arial"/>
                <a:cs typeface="Arial"/>
              </a:rPr>
              <a:t>(Schmidt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&amp;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McKnight,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1997)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missing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textbook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disorganized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integration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courses. All subjects are isolated. Because of </a:t>
            </a:r>
            <a:r>
              <a:rPr dirty="0" sz="1200" spc="-10">
                <a:latin typeface="Arial MT"/>
                <a:cs typeface="Arial MT"/>
              </a:rPr>
              <a:t>these </a:t>
            </a:r>
            <a:r>
              <a:rPr dirty="0" sz="1200" spc="-5">
                <a:latin typeface="Arial MT"/>
                <a:cs typeface="Arial MT"/>
              </a:rPr>
              <a:t>reasons teachers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unable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cover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syllabus.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 MT"/>
              <a:cs typeface="Arial MT"/>
            </a:endParaRPr>
          </a:p>
          <a:p>
            <a:pPr marL="12700" marR="313055">
              <a:lnSpc>
                <a:spcPct val="14330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brief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survey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conducted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regard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simple question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asked</a:t>
            </a:r>
            <a:r>
              <a:rPr dirty="0" sz="1200" spc="-5">
                <a:latin typeface="Arial MT"/>
                <a:cs typeface="Arial MT"/>
              </a:rPr>
              <a:t> from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30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teachers.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response</a:t>
            </a:r>
            <a:r>
              <a:rPr dirty="0" sz="1200">
                <a:latin typeface="Arial MT"/>
                <a:cs typeface="Arial MT"/>
              </a:rPr>
              <a:t> rates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below: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Concern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30 teachers </a:t>
            </a:r>
            <a:r>
              <a:rPr dirty="0" sz="1200" b="1">
                <a:latin typeface="Arial"/>
                <a:cs typeface="Arial"/>
              </a:rPr>
              <a:t>from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Lahore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major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concern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regarding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teaching?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lphaU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make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 understand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lphaU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cover</a:t>
            </a:r>
            <a:r>
              <a:rPr dirty="0" sz="1200" spc="-10">
                <a:latin typeface="Arial MT"/>
                <a:cs typeface="Arial MT"/>
              </a:rPr>
              <a:t> 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syllabus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lphaU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Both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&amp;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lphaU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Holistic</a:t>
            </a:r>
            <a:r>
              <a:rPr dirty="0" sz="1200">
                <a:latin typeface="Arial MT"/>
                <a:cs typeface="Arial MT"/>
              </a:rPr>
              <a:t> learning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regardless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time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frame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24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teachers </a:t>
            </a:r>
            <a:r>
              <a:rPr dirty="0" sz="1200" b="1">
                <a:latin typeface="Arial"/>
                <a:cs typeface="Arial"/>
              </a:rPr>
              <a:t>went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choice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“C”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6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chose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option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“D”.</a:t>
            </a:r>
            <a:endParaRPr sz="1200">
              <a:latin typeface="Arial"/>
              <a:cs typeface="Arial"/>
            </a:endParaRPr>
          </a:p>
          <a:p>
            <a:pPr algn="just" marL="18415" marR="1079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>
                <a:latin typeface="Arial MT"/>
                <a:cs typeface="Arial MT"/>
              </a:rPr>
              <a:t>mostly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concern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completion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syllabus. Administrators,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heads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 developers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help the teachers so that they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ensure learning and their syllabus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also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covered.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60"/>
              </a:spcBef>
            </a:pPr>
            <a:r>
              <a:rPr dirty="0" sz="1200" b="1">
                <a:latin typeface="Arial"/>
                <a:cs typeface="Arial"/>
              </a:rPr>
              <a:t>Lesson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Learnt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75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teach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depth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cover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syllabus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too.</a:t>
            </a:r>
            <a:endParaRPr sz="1200">
              <a:latin typeface="Arial MT"/>
              <a:cs typeface="Arial MT"/>
            </a:endParaRPr>
          </a:p>
          <a:p>
            <a:pPr marL="477520" marR="13335" indent="-228600">
              <a:lnSpc>
                <a:spcPct val="144200"/>
              </a:lnSpc>
              <a:spcBef>
                <a:spcPts val="4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Few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concerned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frame.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ensure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holistic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really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more?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50">
              <a:latin typeface="Arial"/>
              <a:cs typeface="Arial"/>
            </a:endParaRPr>
          </a:p>
          <a:p>
            <a:pPr marL="18415" marR="12065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US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textbooks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175%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than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German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textbooks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350%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topics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Japanese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textbooks.</a:t>
            </a:r>
            <a:endParaRPr sz="1200">
              <a:latin typeface="Arial MT"/>
              <a:cs typeface="Arial MT"/>
            </a:endParaRPr>
          </a:p>
          <a:p>
            <a:pPr marL="18415" marR="11430" indent="-6350">
              <a:lnSpc>
                <a:spcPct val="144400"/>
              </a:lnSpc>
              <a:spcBef>
                <a:spcPts val="20"/>
              </a:spcBef>
            </a:pPr>
            <a:r>
              <a:rPr dirty="0" sz="1200" spc="-5">
                <a:latin typeface="Arial MT"/>
                <a:cs typeface="Arial MT"/>
              </a:rPr>
              <a:t>US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Science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textbooks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cover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930%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German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textbooks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433%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topics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Japanese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textbooks</a:t>
            </a:r>
            <a:endParaRPr sz="1200">
              <a:latin typeface="Arial MT"/>
              <a:cs typeface="Arial MT"/>
            </a:endParaRPr>
          </a:p>
          <a:p>
            <a:pPr marL="18415" marR="10160" indent="-6350">
              <a:lnSpc>
                <a:spcPct val="144200"/>
              </a:lnSpc>
              <a:spcBef>
                <a:spcPts val="15"/>
              </a:spcBef>
            </a:pPr>
            <a:r>
              <a:rPr dirty="0" sz="1200">
                <a:latin typeface="Arial MT"/>
                <a:cs typeface="Arial MT"/>
              </a:rPr>
              <a:t>Yet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German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Japanese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outperform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Science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achievements.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60"/>
              </a:spcBef>
            </a:pPr>
            <a:r>
              <a:rPr dirty="0" sz="1200" b="1">
                <a:latin typeface="Arial"/>
                <a:cs typeface="Arial"/>
              </a:rPr>
              <a:t>(Schmidt,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McKnight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&amp;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Raizen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1997)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Arial"/>
              <a:cs typeface="Arial"/>
            </a:endParaRPr>
          </a:p>
          <a:p>
            <a:pPr algn="just" marL="18415" marR="6350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American books there is a lot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information than Japanese and German books. But Japanese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German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rather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American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said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America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known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higher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better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countries.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656335"/>
            <a:ext cx="6631940" cy="10494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Three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Beliefs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better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Exposing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only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contains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minimal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risk.</a:t>
            </a:r>
            <a:endParaRPr sz="1200">
              <a:latin typeface="Arial MT"/>
              <a:cs typeface="Arial MT"/>
            </a:endParaRPr>
          </a:p>
          <a:p>
            <a:pPr marL="477520" marR="158115" indent="-228600">
              <a:lnSpc>
                <a:spcPct val="142500"/>
              </a:lnSpc>
              <a:spcBef>
                <a:spcPts val="50"/>
              </a:spcBef>
              <a:buFont typeface="Times New Roman"/>
              <a:buAutoNum type="arabicPeriod"/>
              <a:tabLst>
                <a:tab pos="478155" algn="l"/>
                <a:tab pos="3800475" algn="l"/>
              </a:tabLst>
            </a:pP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quickly,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has </a:t>
            </a:r>
            <a:r>
              <a:rPr dirty="0" sz="1200" spc="-5">
                <a:latin typeface="Arial MT"/>
                <a:cs typeface="Arial MT"/>
              </a:rPr>
              <a:t>been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demonstrated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further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necessary.	</a:t>
            </a:r>
            <a:r>
              <a:rPr dirty="0" sz="1200" spc="-5" b="1">
                <a:latin typeface="Arial"/>
                <a:cs typeface="Arial"/>
              </a:rPr>
              <a:t>Dempster,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1993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Rethinking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Curriculum</a:t>
            </a:r>
            <a:endParaRPr sz="1200">
              <a:latin typeface="Arial"/>
              <a:cs typeface="Arial"/>
            </a:endParaRPr>
          </a:p>
          <a:p>
            <a:pPr algn="just" marL="18415" marR="952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Teachers are </a:t>
            </a:r>
            <a:r>
              <a:rPr dirty="0" sz="1200">
                <a:latin typeface="Arial MT"/>
                <a:cs typeface="Arial MT"/>
              </a:rPr>
              <a:t>most </a:t>
            </a:r>
            <a:r>
              <a:rPr dirty="0" sz="1200" spc="-5">
                <a:latin typeface="Arial MT"/>
                <a:cs typeface="Arial MT"/>
              </a:rPr>
              <a:t>important persons in the application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curriculum. Curriculum is a dead thing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teacher’s give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life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crowded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curriculum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makes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distributed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practice</a:t>
            </a:r>
            <a:r>
              <a:rPr dirty="0" sz="1200" spc="-5" b="1">
                <a:latin typeface="Arial"/>
                <a:cs typeface="Arial"/>
              </a:rPr>
              <a:t> unlikely.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Teachers</a:t>
            </a:r>
            <a:r>
              <a:rPr dirty="0" sz="1200" b="1">
                <a:latin typeface="Arial"/>
                <a:cs typeface="Arial"/>
              </a:rPr>
              <a:t> must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re-evaluate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they are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attempting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cover.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Less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more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Deeper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better.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990"/>
              </a:spcBef>
            </a:pPr>
            <a:r>
              <a:rPr dirty="0" sz="1200" b="1">
                <a:latin typeface="Arial"/>
                <a:cs typeface="Arial"/>
              </a:rPr>
              <a:t>Information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Theory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Learners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 only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5-9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chunks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5">
                <a:latin typeface="Arial MT"/>
                <a:cs typeface="Arial MT"/>
              </a:rPr>
              <a:t> 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Learner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process only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 </a:t>
            </a:r>
            <a:r>
              <a:rPr dirty="0" sz="1200">
                <a:latin typeface="Arial MT"/>
                <a:cs typeface="Arial MT"/>
              </a:rPr>
              <a:t>new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idea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second.</a:t>
            </a:r>
            <a:endParaRPr sz="1200">
              <a:latin typeface="Arial MT"/>
              <a:cs typeface="Arial MT"/>
            </a:endParaRPr>
          </a:p>
          <a:p>
            <a:pPr marL="477520" marR="7620" indent="-228600">
              <a:lnSpc>
                <a:spcPct val="144200"/>
              </a:lnSpc>
              <a:spcBef>
                <a:spcPts val="2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generally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textbook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writers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much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books.</a:t>
            </a:r>
            <a:endParaRPr sz="1200">
              <a:latin typeface="Arial MT"/>
              <a:cs typeface="Arial MT"/>
            </a:endParaRPr>
          </a:p>
          <a:p>
            <a:pPr marL="477520" marR="9525" indent="-228600">
              <a:lnSpc>
                <a:spcPct val="144300"/>
              </a:lnSpc>
              <a:spcBef>
                <a:spcPts val="1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Result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cover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try,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often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vain,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retain,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 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 MT"/>
              <a:cs typeface="Arial MT"/>
            </a:endParaRPr>
          </a:p>
          <a:p>
            <a:pPr algn="just" marL="18415" marR="8890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Bigger </a:t>
            </a:r>
            <a:r>
              <a:rPr dirty="0" sz="1200" spc="-5">
                <a:latin typeface="Arial MT"/>
                <a:cs typeface="Arial MT"/>
              </a:rPr>
              <a:t>ideas are our assumptions and beliefs.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should think that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-5">
                <a:latin typeface="Arial MT"/>
                <a:cs typeface="Arial MT"/>
              </a:rPr>
              <a:t>we are giving to our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ultimately rather than giving them a bundle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information. What are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skills we </a:t>
            </a:r>
            <a:r>
              <a:rPr dirty="0" sz="1200">
                <a:latin typeface="Arial MT"/>
                <a:cs typeface="Arial MT"/>
              </a:rPr>
              <a:t>want 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 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Core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concepts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337185" indent="-96520">
              <a:lnSpc>
                <a:spcPct val="100000"/>
              </a:lnSpc>
              <a:buFont typeface="Arial MT"/>
              <a:buChar char="•"/>
              <a:tabLst>
                <a:tab pos="337820" algn="l"/>
              </a:tabLst>
            </a:pPr>
            <a:r>
              <a:rPr dirty="0" sz="1200" spc="-5" b="1">
                <a:latin typeface="Arial"/>
                <a:cs typeface="Arial"/>
              </a:rPr>
              <a:t>Core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 declarative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knowledge</a:t>
            </a:r>
            <a:r>
              <a:rPr dirty="0" sz="120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455"/>
              </a:spcBef>
            </a:pP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made quite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clear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learners.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Application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</a:t>
            </a:r>
            <a:endParaRPr sz="1200">
              <a:latin typeface="Arial MT"/>
              <a:cs typeface="Arial MT"/>
            </a:endParaRPr>
          </a:p>
          <a:p>
            <a:pPr algn="just" marL="12700" marR="5080">
              <a:lnSpc>
                <a:spcPts val="2060"/>
              </a:lnSpc>
              <a:spcBef>
                <a:spcPts val="155"/>
              </a:spcBef>
            </a:pP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example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teach addition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students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lower level and they </a:t>
            </a:r>
            <a:r>
              <a:rPr dirty="0" sz="1200">
                <a:latin typeface="Arial MT"/>
                <a:cs typeface="Arial MT"/>
              </a:rPr>
              <a:t>use it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>
                <a:latin typeface="Arial MT"/>
                <a:cs typeface="Arial MT"/>
              </a:rPr>
              <a:t>latter </a:t>
            </a:r>
            <a:r>
              <a:rPr dirty="0" sz="1200" spc="-5">
                <a:latin typeface="Arial MT"/>
                <a:cs typeface="Arial MT"/>
              </a:rPr>
              <a:t>life.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Another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>
                <a:latin typeface="Arial MT"/>
                <a:cs typeface="Arial MT"/>
              </a:rPr>
              <a:t> don’t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 about</a:t>
            </a:r>
            <a:r>
              <a:rPr dirty="0" sz="1200">
                <a:latin typeface="Arial MT"/>
                <a:cs typeface="Arial MT"/>
              </a:rPr>
              <a:t> verb,</a:t>
            </a:r>
            <a:r>
              <a:rPr dirty="0" sz="1200" spc="-5">
                <a:latin typeface="Arial MT"/>
                <a:cs typeface="Arial MT"/>
              </a:rPr>
              <a:t> adverb,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noun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adjectives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but</a:t>
            </a:r>
            <a:endParaRPr sz="1200">
              <a:latin typeface="Arial MT"/>
              <a:cs typeface="Arial MT"/>
            </a:endParaRPr>
          </a:p>
          <a:p>
            <a:pPr algn="just" marL="18415" marR="10160">
              <a:lnSpc>
                <a:spcPts val="208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are 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write very good </a:t>
            </a:r>
            <a:r>
              <a:rPr dirty="0" sz="1200">
                <a:latin typeface="Arial MT"/>
                <a:cs typeface="Arial MT"/>
              </a:rPr>
              <a:t>essays. It </a:t>
            </a:r>
            <a:r>
              <a:rPr dirty="0" sz="1200" spc="-5">
                <a:latin typeface="Arial MT"/>
                <a:cs typeface="Arial MT"/>
              </a:rPr>
              <a:t>means the information we are giving is important in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 context we are giving.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our schools the focus is on grammar. Students learn only definitions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paper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definitions. </a:t>
            </a:r>
            <a:r>
              <a:rPr dirty="0" sz="1200">
                <a:latin typeface="Arial MT"/>
                <a:cs typeface="Arial MT"/>
              </a:rPr>
              <a:t>Our </a:t>
            </a:r>
            <a:r>
              <a:rPr dirty="0" sz="1200" spc="-5">
                <a:latin typeface="Arial MT"/>
                <a:cs typeface="Arial MT"/>
              </a:rPr>
              <a:t>teachers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focus on core concepts. Because </a:t>
            </a:r>
            <a:r>
              <a:rPr dirty="0" sz="1200">
                <a:latin typeface="Arial MT"/>
                <a:cs typeface="Arial MT"/>
              </a:rPr>
              <a:t>of this </a:t>
            </a:r>
            <a:r>
              <a:rPr dirty="0" sz="1200" spc="-10">
                <a:latin typeface="Arial MT"/>
                <a:cs typeface="Arial MT"/>
              </a:rPr>
              <a:t>reason </a:t>
            </a:r>
            <a:r>
              <a:rPr dirty="0" sz="1200" spc="-5">
                <a:latin typeface="Arial MT"/>
                <a:cs typeface="Arial MT"/>
              </a:rPr>
              <a:t> even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after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completion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BA</a:t>
            </a:r>
            <a:r>
              <a:rPr dirty="0" sz="1200" spc="-5">
                <a:latin typeface="Arial MT"/>
                <a:cs typeface="Arial MT"/>
              </a:rPr>
              <a:t> 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unable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compose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single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200">
                <a:latin typeface="Arial MT"/>
                <a:cs typeface="Arial MT"/>
              </a:rPr>
              <a:t>letter.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845" cy="10946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Our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interpret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short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stories.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Our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summaries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novels.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Reason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again that our focus is not on the core concepts in schools. We are seeing at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given picture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focusing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They are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central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5" b="1">
                <a:latin typeface="Arial"/>
                <a:cs typeface="Arial"/>
              </a:rPr>
              <a:t> a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domain of</a:t>
            </a:r>
            <a:r>
              <a:rPr dirty="0" sz="1200" spc="-5" b="1">
                <a:latin typeface="Arial"/>
                <a:cs typeface="Arial"/>
              </a:rPr>
              <a:t> knowledge.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Re likely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stand</a:t>
            </a:r>
            <a:r>
              <a:rPr dirty="0" sz="1200" spc="-5" b="1">
                <a:latin typeface="Arial"/>
                <a:cs typeface="Arial"/>
              </a:rPr>
              <a:t> 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test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time.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core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 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lifetime.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Generating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core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concepts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Arial"/>
              <a:cs typeface="Arial"/>
            </a:endParaRPr>
          </a:p>
          <a:p>
            <a:pPr algn="just" marL="18415" marR="5080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example is umbrella oenology. Our core concept is like big umbrella and there are </a:t>
            </a:r>
            <a:r>
              <a:rPr dirty="0" sz="1200">
                <a:latin typeface="Arial MT"/>
                <a:cs typeface="Arial MT"/>
              </a:rPr>
              <a:t>small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umbrellas under </a:t>
            </a:r>
            <a:r>
              <a:rPr dirty="0" sz="1200">
                <a:latin typeface="Arial MT"/>
                <a:cs typeface="Arial MT"/>
              </a:rPr>
              <a:t>it. </a:t>
            </a:r>
            <a:r>
              <a:rPr dirty="0" sz="1200" spc="-5">
                <a:latin typeface="Arial MT"/>
                <a:cs typeface="Arial MT"/>
              </a:rPr>
              <a:t>Small umbrella is contextual. It’s another example is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addition.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small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umbrella </a:t>
            </a:r>
            <a:r>
              <a:rPr dirty="0" sz="1200">
                <a:latin typeface="Arial MT"/>
                <a:cs typeface="Arial MT"/>
              </a:rPr>
              <a:t>may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practice the students with two digit addition, than teachers take them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addition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medium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umbrella,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bigger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umbrella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multiplication. When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teaching to the students our focus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not be the simple addition but 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multiplication. Just like </a:t>
            </a:r>
            <a:r>
              <a:rPr dirty="0" sz="1200">
                <a:latin typeface="Arial MT"/>
                <a:cs typeface="Arial MT"/>
              </a:rPr>
              <a:t>this if </a:t>
            </a:r>
            <a:r>
              <a:rPr dirty="0" sz="1200" spc="-5">
                <a:latin typeface="Arial MT"/>
                <a:cs typeface="Arial MT"/>
              </a:rPr>
              <a:t>you are teaching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the language </a:t>
            </a:r>
            <a:r>
              <a:rPr dirty="0" sz="1200">
                <a:latin typeface="Arial MT"/>
                <a:cs typeface="Arial MT"/>
              </a:rPr>
              <a:t>class, </a:t>
            </a:r>
            <a:r>
              <a:rPr dirty="0" sz="1200" spc="-5">
                <a:latin typeface="Arial MT"/>
                <a:cs typeface="Arial MT"/>
              </a:rPr>
              <a:t>you teaches them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sentence structure not only that they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make the sentence but in </a:t>
            </a:r>
            <a:r>
              <a:rPr dirty="0" sz="1200">
                <a:latin typeface="Arial MT"/>
                <a:cs typeface="Arial MT"/>
              </a:rPr>
              <a:t>long </a:t>
            </a:r>
            <a:r>
              <a:rPr dirty="0" sz="1200" spc="-10">
                <a:latin typeface="Arial MT"/>
                <a:cs typeface="Arial MT"/>
              </a:rPr>
              <a:t>run </a:t>
            </a:r>
            <a:r>
              <a:rPr dirty="0" sz="1200" spc="-5">
                <a:latin typeface="Arial MT"/>
                <a:cs typeface="Arial MT"/>
              </a:rPr>
              <a:t>they will </a:t>
            </a:r>
            <a:r>
              <a:rPr dirty="0" sz="1200" spc="3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able </a:t>
            </a:r>
            <a:r>
              <a:rPr dirty="0" sz="1200" spc="-15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concepts. Small umbrellas are the steps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reach the big one. Another example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that if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studies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ultimate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values.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internalize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values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characters.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Generative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Topics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Arial"/>
              <a:cs typeface="Arial"/>
            </a:endParaRPr>
          </a:p>
          <a:p>
            <a:pPr marL="469900" marR="8255" indent="-228600">
              <a:lnSpc>
                <a:spcPct val="143300"/>
              </a:lnSpc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They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are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topics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which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provide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opportunity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generate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new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information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from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what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you </a:t>
            </a:r>
            <a:r>
              <a:rPr dirty="0" sz="1200" spc="-5" b="1">
                <a:latin typeface="Arial"/>
                <a:cs typeface="Arial"/>
              </a:rPr>
              <a:t>have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just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learned.</a:t>
            </a:r>
            <a:endParaRPr sz="1200">
              <a:latin typeface="Arial"/>
              <a:cs typeface="Arial"/>
            </a:endParaRPr>
          </a:p>
          <a:p>
            <a:pPr marL="469900" marR="8255" indent="-228600">
              <a:lnSpc>
                <a:spcPct val="143300"/>
              </a:lnSpc>
              <a:spcBef>
                <a:spcPts val="2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They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issues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themes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concepts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ideas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which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provide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depth,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significance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connections.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Arial"/>
              <a:cs typeface="Arial"/>
            </a:endParaRPr>
          </a:p>
          <a:p>
            <a:pPr algn="just" marL="18415" marR="7620" indent="-6350">
              <a:lnSpc>
                <a:spcPct val="1442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Generative topics are generated from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leant </a:t>
            </a:r>
            <a:r>
              <a:rPr dirty="0" sz="1200" spc="-5">
                <a:latin typeface="Arial MT"/>
                <a:cs typeface="Arial MT"/>
              </a:rPr>
              <a:t>information. Students and teachers both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 interested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topics.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accessible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appropriate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relevant.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Generative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Examples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generative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topics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Rain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forests,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Global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warming,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endangered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species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Concept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zero,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patterns</a:t>
            </a:r>
            <a:r>
              <a:rPr dirty="0" sz="1200">
                <a:latin typeface="Arial MT"/>
                <a:cs typeface="Arial MT"/>
              </a:rPr>
              <a:t> symbols </a:t>
            </a:r>
            <a:r>
              <a:rPr dirty="0" sz="1200" spc="-5">
                <a:latin typeface="Arial MT"/>
                <a:cs typeface="Arial MT"/>
              </a:rPr>
              <a:t>size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scale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7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Conflict,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power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Humor,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multiple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perspective,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interpreting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texts,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folktales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Arial MT"/>
              <a:cs typeface="Arial MT"/>
            </a:endParaRPr>
          </a:p>
          <a:p>
            <a:pPr marL="12700" marR="1118235">
              <a:lnSpc>
                <a:spcPct val="141700"/>
              </a:lnSpc>
            </a:pP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 </a:t>
            </a:r>
            <a:r>
              <a:rPr dirty="0" sz="1200">
                <a:latin typeface="Arial MT"/>
                <a:cs typeface="Arial MT"/>
              </a:rPr>
              <a:t>big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generative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each</a:t>
            </a:r>
            <a:r>
              <a:rPr dirty="0" sz="1200" spc="-5">
                <a:latin typeface="Arial MT"/>
                <a:cs typeface="Arial MT"/>
              </a:rPr>
              <a:t> subject.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need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interesting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 as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8611"/>
            <a:ext cx="6634480" cy="741045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algn="just" marL="20320">
              <a:lnSpc>
                <a:spcPct val="100000"/>
              </a:lnSpc>
              <a:spcBef>
                <a:spcPts val="710"/>
              </a:spcBef>
            </a:pPr>
            <a:r>
              <a:rPr dirty="0" sz="1200" spc="-5" b="1">
                <a:latin typeface="Arial"/>
                <a:cs typeface="Arial"/>
              </a:rPr>
              <a:t>Essential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Questions</a:t>
            </a:r>
            <a:endParaRPr sz="1200">
              <a:latin typeface="Arial"/>
              <a:cs typeface="Arial"/>
            </a:endParaRPr>
          </a:p>
          <a:p>
            <a:pPr algn="just" marL="18415" marR="8890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are a lot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ways in questioning. Questions must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like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in which students are compelled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think.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  <a:spcBef>
                <a:spcPts val="1050"/>
              </a:spcBef>
            </a:pPr>
            <a:r>
              <a:rPr dirty="0" sz="1200" spc="-5" b="1">
                <a:latin typeface="Arial"/>
                <a:cs typeface="Arial"/>
              </a:rPr>
              <a:t>Wiggins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Mctighe’s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essential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Is there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around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(e.g.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food, clothes,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water)?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Does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art</a:t>
            </a:r>
            <a:r>
              <a:rPr dirty="0" sz="1200" spc="-5">
                <a:latin typeface="Arial MT"/>
                <a:cs typeface="Arial MT"/>
              </a:rPr>
              <a:t> reflect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culture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-5">
                <a:latin typeface="Arial MT"/>
                <a:cs typeface="Arial MT"/>
              </a:rPr>
              <a:t> shape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it?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4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inventions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-5">
                <a:latin typeface="Arial MT"/>
                <a:cs typeface="Arial MT"/>
              </a:rPr>
              <a:t> discoveries?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7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fear?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4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Who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owns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why?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One</a:t>
            </a:r>
            <a:r>
              <a:rPr dirty="0" sz="1200" spc="-5">
                <a:latin typeface="Arial MT"/>
                <a:cs typeface="Arial MT"/>
              </a:rPr>
              <a:t> belief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analytical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5">
                <a:latin typeface="Arial MT"/>
                <a:cs typeface="Arial MT"/>
              </a:rPr>
              <a:t> know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think.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35"/>
              </a:spcBef>
            </a:pPr>
            <a:r>
              <a:rPr dirty="0" sz="1200">
                <a:latin typeface="Arial MT"/>
                <a:cs typeface="Arial MT"/>
              </a:rPr>
              <a:t>They must </a:t>
            </a:r>
            <a:r>
              <a:rPr dirty="0" sz="1200" spc="-5">
                <a:latin typeface="Arial MT"/>
                <a:cs typeface="Arial MT"/>
              </a:rPr>
              <a:t>know problem solving. </a:t>
            </a:r>
            <a:r>
              <a:rPr dirty="0" sz="1200" spc="5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should know 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argue. There is another thinking that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 have the analytical thinking and evaluative thinking, so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will not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any change on our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societal </a:t>
            </a:r>
            <a:r>
              <a:rPr dirty="0" sz="1200">
                <a:latin typeface="Arial MT"/>
                <a:cs typeface="Arial MT"/>
              </a:rPr>
              <a:t>level.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reason is that </a:t>
            </a:r>
            <a:r>
              <a:rPr dirty="0" sz="1200">
                <a:latin typeface="Arial MT"/>
                <a:cs typeface="Arial MT"/>
              </a:rPr>
              <a:t>if the </a:t>
            </a:r>
            <a:r>
              <a:rPr dirty="0" sz="1200" spc="-5">
                <a:latin typeface="Arial MT"/>
                <a:cs typeface="Arial MT"/>
              </a:rPr>
              <a:t>thinking process is in isolation,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can benefit </a:t>
            </a:r>
            <a:r>
              <a:rPr dirty="0" sz="1200" spc="15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individual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 not to the society. Analytical thinking and problem solving must be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societal </a:t>
            </a:r>
            <a:r>
              <a:rPr dirty="0" sz="1200">
                <a:latin typeface="Arial MT"/>
                <a:cs typeface="Arial MT"/>
              </a:rPr>
              <a:t>level. </a:t>
            </a:r>
            <a:r>
              <a:rPr dirty="0" sz="1200" spc="-5">
                <a:latin typeface="Arial MT"/>
                <a:cs typeface="Arial MT"/>
              </a:rPr>
              <a:t>For </a:t>
            </a:r>
            <a:r>
              <a:rPr dirty="0" sz="1200">
                <a:latin typeface="Arial MT"/>
                <a:cs typeface="Arial MT"/>
              </a:rPr>
              <a:t>this,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Wiggin’s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view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enable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These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 given above. In </a:t>
            </a:r>
            <a:r>
              <a:rPr dirty="0" sz="1200" spc="-10">
                <a:latin typeface="Arial MT"/>
                <a:cs typeface="Arial MT"/>
              </a:rPr>
              <a:t>his </a:t>
            </a:r>
            <a:r>
              <a:rPr dirty="0" sz="1200" spc="-5">
                <a:latin typeface="Arial MT"/>
                <a:cs typeface="Arial MT"/>
              </a:rPr>
              <a:t>thinking we need </a:t>
            </a:r>
            <a:r>
              <a:rPr dirty="0" sz="1200" spc="5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develop our instruction and teaching under </a:t>
            </a:r>
            <a:r>
              <a:rPr dirty="0" sz="1200">
                <a:latin typeface="Arial MT"/>
                <a:cs typeface="Arial MT"/>
              </a:rPr>
              <a:t>these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questions.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example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are teaching the </a:t>
            </a:r>
            <a:r>
              <a:rPr dirty="0" sz="1200">
                <a:latin typeface="Arial MT"/>
                <a:cs typeface="Arial MT"/>
              </a:rPr>
              <a:t>topic </a:t>
            </a:r>
            <a:r>
              <a:rPr dirty="0" sz="1200" spc="-5">
                <a:latin typeface="Arial MT"/>
                <a:cs typeface="Arial MT"/>
              </a:rPr>
              <a:t>of global </a:t>
            </a:r>
            <a:r>
              <a:rPr dirty="0" sz="1200">
                <a:latin typeface="Arial MT"/>
                <a:cs typeface="Arial MT"/>
              </a:rPr>
              <a:t>warming </a:t>
            </a:r>
            <a:r>
              <a:rPr dirty="0" sz="1200" spc="-5">
                <a:latin typeface="Arial MT"/>
                <a:cs typeface="Arial MT"/>
              </a:rPr>
              <a:t>we can extend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by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 what do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fear </a:t>
            </a:r>
            <a:r>
              <a:rPr dirty="0" sz="1200" spc="-5">
                <a:latin typeface="Arial MT"/>
                <a:cs typeface="Arial MT"/>
              </a:rPr>
              <a:t>regarding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our environment? Another question is what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we own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causing global </a:t>
            </a:r>
            <a:r>
              <a:rPr dirty="0" sz="1200">
                <a:latin typeface="Arial MT"/>
                <a:cs typeface="Arial MT"/>
              </a:rPr>
              <a:t>warming?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remember that every individual have a role in controlling the global </a:t>
            </a:r>
            <a:r>
              <a:rPr dirty="0" sz="1200">
                <a:latin typeface="Arial MT"/>
                <a:cs typeface="Arial MT"/>
              </a:rPr>
              <a:t> warming.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ignore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questions,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bring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</a:t>
            </a:r>
            <a:endParaRPr sz="12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425"/>
              </a:spcBef>
            </a:pP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societies.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claim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changing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agents,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need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address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these</a:t>
            </a:r>
            <a:endParaRPr sz="12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questions.</a:t>
            </a:r>
            <a:endParaRPr sz="1200">
              <a:latin typeface="Arial MT"/>
              <a:cs typeface="Arial MT"/>
            </a:endParaRPr>
          </a:p>
          <a:p>
            <a:pPr algn="just" marL="18415" marR="9525" indent="-6350">
              <a:lnSpc>
                <a:spcPct val="1442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And we also need to help our children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answer </a:t>
            </a:r>
            <a:r>
              <a:rPr dirty="0" sz="1200">
                <a:latin typeface="Arial MT"/>
                <a:cs typeface="Arial MT"/>
              </a:rPr>
              <a:t>these </a:t>
            </a:r>
            <a:r>
              <a:rPr dirty="0" sz="1200" spc="-5">
                <a:latin typeface="Arial MT"/>
                <a:cs typeface="Arial MT"/>
              </a:rPr>
              <a:t>questions or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not answering than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least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Bloom’s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taxonomy,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higher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level.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collective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debate 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8437752"/>
            <a:ext cx="6979920" cy="39370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26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“Essential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Questions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Adolescent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Teaching”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8999220"/>
            <a:ext cx="3119120" cy="210693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Outlines</a:t>
            </a:r>
            <a:endParaRPr sz="1200">
              <a:latin typeface="Arial"/>
              <a:cs typeface="Arial"/>
            </a:endParaRPr>
          </a:p>
          <a:p>
            <a:pPr marL="361950">
              <a:lnSpc>
                <a:spcPct val="100000"/>
              </a:lnSpc>
              <a:spcBef>
                <a:spcPts val="605"/>
              </a:spcBef>
            </a:pP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  <a:p>
            <a:pPr marL="361950" marR="5080">
              <a:lnSpc>
                <a:spcPct val="142500"/>
              </a:lnSpc>
            </a:pPr>
            <a:r>
              <a:rPr dirty="0" sz="1200" spc="-5" b="1">
                <a:latin typeface="Arial"/>
                <a:cs typeface="Arial"/>
              </a:rPr>
              <a:t>Characteristics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essential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questions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Essential questions</a:t>
            </a:r>
            <a:endParaRPr sz="1200">
              <a:latin typeface="Arial"/>
              <a:cs typeface="Arial"/>
            </a:endParaRPr>
          </a:p>
          <a:p>
            <a:pPr marL="361950" marR="462280">
              <a:lnSpc>
                <a:spcPts val="2050"/>
              </a:lnSpc>
              <a:spcBef>
                <a:spcPts val="95"/>
              </a:spcBef>
            </a:pPr>
            <a:r>
              <a:rPr dirty="0" sz="1200" spc="-5" b="1">
                <a:latin typeface="Arial"/>
                <a:cs typeface="Arial"/>
              </a:rPr>
              <a:t>Essential vs </a:t>
            </a:r>
            <a:r>
              <a:rPr dirty="0" sz="1200" b="1">
                <a:latin typeface="Arial"/>
                <a:cs typeface="Arial"/>
              </a:rPr>
              <a:t>Unit </a:t>
            </a:r>
            <a:r>
              <a:rPr dirty="0" sz="1200" spc="-5" b="1">
                <a:latin typeface="Arial"/>
                <a:cs typeface="Arial"/>
              </a:rPr>
              <a:t>question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Adolescent</a:t>
            </a:r>
            <a:r>
              <a:rPr dirty="0" sz="1200" b="1">
                <a:latin typeface="Arial"/>
                <a:cs typeface="Arial"/>
              </a:rPr>
              <a:t> brain</a:t>
            </a:r>
            <a:r>
              <a:rPr dirty="0" sz="1200" spc="3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changes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teach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teach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Integrated</a:t>
            </a:r>
            <a:r>
              <a:rPr dirty="0" sz="1200" spc="-5" b="1">
                <a:latin typeface="Arial"/>
                <a:cs typeface="Arial"/>
              </a:rPr>
              <a:t> themes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1548059"/>
            <a:ext cx="7969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2515"/>
            <a:ext cx="6631940" cy="8198484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361950">
              <a:lnSpc>
                <a:spcPct val="100000"/>
              </a:lnSpc>
              <a:spcBef>
                <a:spcPts val="760"/>
              </a:spcBef>
            </a:pP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endParaRPr sz="1200">
              <a:latin typeface="Arial MT"/>
              <a:cs typeface="Arial MT"/>
            </a:endParaRPr>
          </a:p>
          <a:p>
            <a:pPr marL="325120" marR="1703070" indent="36195">
              <a:lnSpc>
                <a:spcPct val="144300"/>
              </a:lnSpc>
              <a:spcBef>
                <a:spcPts val="20"/>
              </a:spcBef>
            </a:pP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learn,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naturally.</a:t>
            </a:r>
            <a:endParaRPr sz="1200">
              <a:latin typeface="Arial MT"/>
              <a:cs typeface="Arial MT"/>
            </a:endParaRPr>
          </a:p>
          <a:p>
            <a:pPr marL="361950">
              <a:lnSpc>
                <a:spcPct val="100000"/>
              </a:lnSpc>
              <a:spcBef>
                <a:spcPts val="660"/>
              </a:spcBef>
            </a:pPr>
            <a:r>
              <a:rPr dirty="0" sz="1200" spc="-5">
                <a:latin typeface="Arial MT"/>
                <a:cs typeface="Arial MT"/>
              </a:rPr>
              <a:t>Integrated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Themes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Characteristics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essential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Questions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heart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discipline: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 well</a:t>
            </a:r>
            <a:r>
              <a:rPr dirty="0" sz="1200">
                <a:latin typeface="Arial MT"/>
                <a:cs typeface="Arial MT"/>
              </a:rPr>
              <a:t> as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controversial.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Recur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naturally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throughout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one’s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Raise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obvious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right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deliberately framed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provoke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sustain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interest.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7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Require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divergent thinking.</a:t>
            </a:r>
            <a:endParaRPr sz="1200">
              <a:latin typeface="Arial MT"/>
              <a:cs typeface="Arial MT"/>
            </a:endParaRPr>
          </a:p>
          <a:p>
            <a:pPr algn="just" marL="18415" marR="7620" indent="-6350">
              <a:lnSpc>
                <a:spcPct val="144200"/>
              </a:lnSpc>
              <a:spcBef>
                <a:spcPts val="975"/>
              </a:spcBef>
            </a:pP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talk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induction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specific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generalization.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hypothesis,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experiments and reach on some specific result.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do not know about the answers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induction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essential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15"/>
              </a:spcBef>
            </a:pP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box.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idea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divergent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stupid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 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 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accept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ideas.</a:t>
            </a:r>
            <a:endParaRPr sz="12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660"/>
              </a:spcBef>
            </a:pP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lives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people.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Essential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Questions</a:t>
            </a:r>
            <a:endParaRPr sz="1200">
              <a:latin typeface="Arial"/>
              <a:cs typeface="Arial"/>
            </a:endParaRPr>
          </a:p>
          <a:p>
            <a:pPr marL="26034" marR="7620" indent="-6350">
              <a:lnSpc>
                <a:spcPct val="142500"/>
              </a:lnSpc>
            </a:pPr>
            <a:r>
              <a:rPr dirty="0" sz="1200" spc="-5" b="1">
                <a:latin typeface="Arial"/>
                <a:cs typeface="Arial"/>
              </a:rPr>
              <a:t>Essential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question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1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conceptual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commitment.</a:t>
            </a:r>
            <a:r>
              <a:rPr dirty="0" sz="1200" spc="1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Selection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1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question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1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1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decision</a:t>
            </a:r>
            <a:r>
              <a:rPr dirty="0" sz="1200" spc="1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intent.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Arial"/>
              <a:cs typeface="Arial"/>
            </a:endParaRPr>
          </a:p>
          <a:p>
            <a:pPr algn="just" marL="18415" marR="5080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Teachers always identify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intent. Mainly concern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teachers is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cover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syllabus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time. </a:t>
            </a:r>
            <a:r>
              <a:rPr dirty="0" sz="1200" spc="-5">
                <a:latin typeface="Arial MT"/>
                <a:cs typeface="Arial MT"/>
              </a:rPr>
              <a:t>The ask questions which are given at the end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lessons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the books. These questions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unit questions and not essential questions. Being effective and dedicated teachers we should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5">
                <a:latin typeface="Arial MT"/>
                <a:cs typeface="Arial MT"/>
              </a:rPr>
              <a:t> compromising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definitely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>
                <a:latin typeface="Arial MT"/>
                <a:cs typeface="Arial MT"/>
              </a:rPr>
              <a:t> for </a:t>
            </a:r>
            <a:r>
              <a:rPr dirty="0" sz="1200" spc="-5">
                <a:latin typeface="Arial MT"/>
                <a:cs typeface="Arial MT"/>
              </a:rPr>
              <a:t>divergent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Essential </a:t>
            </a:r>
            <a:r>
              <a:rPr dirty="0" sz="1200" spc="-10" b="1">
                <a:latin typeface="Arial"/>
                <a:cs typeface="Arial"/>
              </a:rPr>
              <a:t>vs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Unit</a:t>
            </a:r>
            <a:r>
              <a:rPr dirty="0" sz="1200" spc="-5" b="1">
                <a:latin typeface="Arial"/>
                <a:cs typeface="Arial"/>
              </a:rPr>
              <a:t> Questions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7219" y="9033636"/>
          <a:ext cx="6091555" cy="20472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015"/>
                <a:gridCol w="3041015"/>
              </a:tblGrid>
              <a:tr h="31241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Essential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Question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Unit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Question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7977">
                <a:tc>
                  <a:txBody>
                    <a:bodyPr/>
                    <a:lstStyle/>
                    <a:p>
                      <a:pPr marL="67945" marR="525780">
                        <a:lnSpc>
                          <a:spcPct val="103299"/>
                        </a:lnSpc>
                        <a:spcBef>
                          <a:spcPts val="204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Must a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story have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 moral, hero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villain?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24765">
                        <a:lnSpc>
                          <a:spcPct val="103299"/>
                        </a:lnSpc>
                        <a:spcBef>
                          <a:spcPts val="204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What</a:t>
                      </a:r>
                      <a:r>
                        <a:rPr dirty="0" sz="12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moral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story?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Who</a:t>
                      </a:r>
                      <a:r>
                        <a:rPr dirty="0" sz="12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hero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story?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6676">
                <a:tc>
                  <a:txBody>
                    <a:bodyPr/>
                    <a:lstStyle/>
                    <a:p>
                      <a:pPr marL="67945" marR="24130">
                        <a:lnSpc>
                          <a:spcPct val="103299"/>
                        </a:lnSpc>
                        <a:spcBef>
                          <a:spcPts val="19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Do</a:t>
                      </a:r>
                      <a:r>
                        <a:rPr dirty="0" sz="120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we</a:t>
                      </a:r>
                      <a:r>
                        <a:rPr dirty="0" sz="120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always</a:t>
                      </a:r>
                      <a:r>
                        <a:rPr dirty="0" sz="12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mean</a:t>
                      </a:r>
                      <a:r>
                        <a:rPr dirty="0" sz="120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what</a:t>
                      </a:r>
                      <a:r>
                        <a:rPr dirty="0" sz="1200" spc="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we</a:t>
                      </a:r>
                      <a:r>
                        <a:rPr dirty="0" sz="12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say</a:t>
                      </a:r>
                      <a:r>
                        <a:rPr dirty="0" sz="12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11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say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what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we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mean?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7945" marR="60325">
                        <a:lnSpc>
                          <a:spcPct val="103600"/>
                        </a:lnSpc>
                        <a:spcBef>
                          <a:spcPts val="18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What are sarcasm, irony and satire? How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do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different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genres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help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communicating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without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saying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what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we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mean?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3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Who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friend?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Are Pakistan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Iran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good friends?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5115" cy="10891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1397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induction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deduction.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keep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balance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 types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Adolescent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brain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Changes</a:t>
            </a:r>
            <a:endParaRPr sz="1200">
              <a:latin typeface="Arial"/>
              <a:cs typeface="Arial"/>
            </a:endParaRPr>
          </a:p>
          <a:p>
            <a:pPr marL="477520" marR="12700" indent="-228600">
              <a:lnSpc>
                <a:spcPct val="144200"/>
              </a:lnSpc>
              <a:spcBef>
                <a:spcPts val="21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Research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now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determined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remarkable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occur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during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decade of</a:t>
            </a:r>
            <a:r>
              <a:rPr dirty="0" sz="1200">
                <a:latin typeface="Arial MT"/>
                <a:cs typeface="Arial MT"/>
              </a:rPr>
              <a:t> life.</a:t>
            </a:r>
            <a:endParaRPr sz="1200">
              <a:latin typeface="Arial MT"/>
              <a:cs typeface="Arial MT"/>
            </a:endParaRPr>
          </a:p>
          <a:p>
            <a:pPr marL="477520" marR="12065" indent="-228600">
              <a:lnSpc>
                <a:spcPct val="144200"/>
              </a:lnSpc>
              <a:spcBef>
                <a:spcPts val="240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adolescence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profound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growth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contrary </a:t>
            </a:r>
            <a:r>
              <a:rPr dirty="0" sz="1200" spc="-10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long-held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brain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mostly </a:t>
            </a:r>
            <a:r>
              <a:rPr dirty="0" sz="1200" spc="-5">
                <a:latin typeface="Arial MT"/>
                <a:cs typeface="Arial MT"/>
              </a:rPr>
              <a:t>fully</a:t>
            </a:r>
            <a:r>
              <a:rPr dirty="0" sz="1200">
                <a:latin typeface="Arial MT"/>
                <a:cs typeface="Arial MT"/>
              </a:rPr>
              <a:t> “formed”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childhood.</a:t>
            </a:r>
            <a:endParaRPr sz="1200">
              <a:latin typeface="Arial MT"/>
              <a:cs typeface="Arial MT"/>
            </a:endParaRPr>
          </a:p>
          <a:p>
            <a:pPr marL="477520" marR="6985" indent="-228600">
              <a:lnSpc>
                <a:spcPct val="144200"/>
              </a:lnSpc>
              <a:spcBef>
                <a:spcPts val="240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Like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computer,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maturing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brain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grows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“circuits”-neural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connections-that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several</a:t>
            </a:r>
            <a:r>
              <a:rPr dirty="0" sz="1200">
                <a:latin typeface="Arial MT"/>
                <a:cs typeface="Arial MT"/>
              </a:rPr>
              <a:t> tasks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simultaneously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ever-greater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efficiency.</a:t>
            </a:r>
            <a:endParaRPr sz="1200">
              <a:latin typeface="Arial MT"/>
              <a:cs typeface="Arial MT"/>
            </a:endParaRPr>
          </a:p>
          <a:p>
            <a:pPr marL="477520" marR="5715" indent="-228600">
              <a:lnSpc>
                <a:spcPct val="144200"/>
              </a:lnSpc>
              <a:spcBef>
                <a:spcPts val="22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Dopamine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inputs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PFC-a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chemical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messenger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critical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focusing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attention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necessary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choose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conflicting</a:t>
            </a:r>
            <a:r>
              <a:rPr dirty="0" sz="1200">
                <a:latin typeface="Arial MT"/>
                <a:cs typeface="Arial MT"/>
              </a:rPr>
              <a:t> options-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grow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dramatically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during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adolescence.</a:t>
            </a:r>
            <a:endParaRPr sz="1200">
              <a:latin typeface="Arial MT"/>
              <a:cs typeface="Arial MT"/>
            </a:endParaRPr>
          </a:p>
          <a:p>
            <a:pPr marL="18415" marR="14604" indent="-6350">
              <a:lnSpc>
                <a:spcPct val="144200"/>
              </a:lnSpc>
              <a:spcBef>
                <a:spcPts val="990"/>
              </a:spcBef>
            </a:pP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attention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span.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Teenagers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focus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topic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longer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period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Dopamine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chemical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attention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teenagers.</a:t>
            </a:r>
            <a:endParaRPr sz="1200">
              <a:latin typeface="Arial MT"/>
              <a:cs typeface="Arial MT"/>
            </a:endParaRPr>
          </a:p>
          <a:p>
            <a:pPr algn="just" marL="477520" marR="12700" indent="-228600">
              <a:lnSpc>
                <a:spcPct val="144200"/>
              </a:lnSpc>
              <a:spcBef>
                <a:spcPts val="250"/>
              </a:spcBef>
              <a:buChar char="•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Neuroanatomical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evidence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suggests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learning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positive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build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complex, adaptive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brains.</a:t>
            </a:r>
            <a:endParaRPr sz="1200">
              <a:latin typeface="Arial MT"/>
              <a:cs typeface="Arial MT"/>
            </a:endParaRPr>
          </a:p>
          <a:p>
            <a:pPr algn="just" marL="477520" marR="7620" indent="-228600">
              <a:lnSpc>
                <a:spcPct val="144200"/>
              </a:lnSpc>
              <a:spcBef>
                <a:spcPts val="225"/>
              </a:spcBef>
              <a:buChar char="•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the end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adolescence, the human brain, the most complicated </a:t>
            </a:r>
            <a:r>
              <a:rPr dirty="0" sz="1200">
                <a:latin typeface="Arial MT"/>
                <a:cs typeface="Arial MT"/>
              </a:rPr>
              <a:t>three-pound mass 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matter </a:t>
            </a:r>
            <a:r>
              <a:rPr dirty="0" sz="1200" spc="-5">
                <a:latin typeface="Arial MT"/>
                <a:cs typeface="Arial MT"/>
              </a:rPr>
              <a:t>in the known universe, contains over 10 </a:t>
            </a:r>
            <a:r>
              <a:rPr dirty="0" sz="1200">
                <a:latin typeface="Arial MT"/>
                <a:cs typeface="Arial MT"/>
              </a:rPr>
              <a:t>billion </a:t>
            </a:r>
            <a:r>
              <a:rPr dirty="0" sz="1200" spc="-5">
                <a:latin typeface="Arial MT"/>
                <a:cs typeface="Arial MT"/>
              </a:rPr>
              <a:t>neurons and another 100 billion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support cells. The 10 billion neurons from </a:t>
            </a:r>
            <a:r>
              <a:rPr dirty="0" sz="1200" spc="-10">
                <a:latin typeface="Arial MT"/>
                <a:cs typeface="Arial MT"/>
              </a:rPr>
              <a:t>over </a:t>
            </a:r>
            <a:r>
              <a:rPr dirty="0" sz="1200" spc="-5">
                <a:latin typeface="Arial MT"/>
                <a:cs typeface="Arial MT"/>
              </a:rPr>
              <a:t>100 trillion connections with each othermore </a:t>
            </a:r>
            <a:r>
              <a:rPr dirty="0" sz="1200">
                <a:latin typeface="Arial MT"/>
                <a:cs typeface="Arial MT"/>
              </a:rPr>
              <a:t> than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all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internet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world.</a:t>
            </a:r>
            <a:endParaRPr sz="1200">
              <a:latin typeface="Arial MT"/>
              <a:cs typeface="Arial MT"/>
            </a:endParaRPr>
          </a:p>
          <a:p>
            <a:pPr algn="just" marL="477520" marR="5715" indent="-228600">
              <a:lnSpc>
                <a:spcPct val="143800"/>
              </a:lnSpc>
              <a:spcBef>
                <a:spcPts val="250"/>
              </a:spcBef>
              <a:buChar char="•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The brain procedures a large number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neural connections just before </a:t>
            </a:r>
            <a:r>
              <a:rPr dirty="0" sz="1200" spc="5">
                <a:latin typeface="Arial MT"/>
                <a:cs typeface="Arial MT"/>
              </a:rPr>
              <a:t>puberty. </a:t>
            </a:r>
            <a:r>
              <a:rPr dirty="0" sz="1200" spc="-10">
                <a:latin typeface="Arial MT"/>
                <a:cs typeface="Arial MT"/>
              </a:rPr>
              <a:t>These </a:t>
            </a:r>
            <a:r>
              <a:rPr dirty="0" sz="1200" spc="-5">
                <a:latin typeface="Arial MT"/>
                <a:cs typeface="Arial MT"/>
              </a:rPr>
              <a:t> connections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diminish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number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adolescence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>
                <a:latin typeface="Arial MT"/>
                <a:cs typeface="Arial MT"/>
              </a:rPr>
              <a:t> 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“use-it-or-lose-it”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pruning,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leads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5">
                <a:latin typeface="Arial MT"/>
                <a:cs typeface="Arial MT"/>
              </a:rPr>
              <a:t> efficient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brain.</a:t>
            </a:r>
            <a:endParaRPr sz="1200">
              <a:latin typeface="Arial MT"/>
              <a:cs typeface="Arial MT"/>
            </a:endParaRPr>
          </a:p>
          <a:p>
            <a:pPr algn="just" marL="18415" marR="10795" indent="-6350">
              <a:lnSpc>
                <a:spcPct val="143900"/>
              </a:lnSpc>
              <a:spcBef>
                <a:spcPts val="1000"/>
              </a:spcBef>
            </a:pP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will use the connections our efficiency of doing any task will </a:t>
            </a:r>
            <a:r>
              <a:rPr dirty="0" sz="1200">
                <a:latin typeface="Arial MT"/>
                <a:cs typeface="Arial MT"/>
              </a:rPr>
              <a:t>increase. </a:t>
            </a:r>
            <a:r>
              <a:rPr dirty="0" sz="1200" spc="-5">
                <a:latin typeface="Arial MT"/>
                <a:cs typeface="Arial MT"/>
              </a:rPr>
              <a:t>All children have same </a:t>
            </a:r>
            <a:r>
              <a:rPr dirty="0" sz="1200">
                <a:latin typeface="Arial MT"/>
                <a:cs typeface="Arial MT"/>
              </a:rPr>
              <a:t> structures </a:t>
            </a:r>
            <a:r>
              <a:rPr dirty="0" sz="1200" spc="-5">
                <a:latin typeface="Arial MT"/>
                <a:cs typeface="Arial MT"/>
              </a:rPr>
              <a:t>but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growth in different areas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different. Some children go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field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medicine </a:t>
            </a:r>
            <a:r>
              <a:rPr dirty="0" sz="1200">
                <a:latin typeface="Arial MT"/>
                <a:cs typeface="Arial MT"/>
              </a:rPr>
              <a:t> this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used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field.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medicine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-5">
                <a:latin typeface="Arial MT"/>
                <a:cs typeface="Arial MT"/>
              </a:rPr>
              <a:t> 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 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developed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diminish.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5">
                <a:latin typeface="Arial MT"/>
                <a:cs typeface="Arial MT"/>
              </a:rPr>
              <a:t> means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Arial MT"/>
              <a:cs typeface="Arial MT"/>
            </a:endParaRPr>
          </a:p>
          <a:p>
            <a:pPr algn="just" marL="18415" marR="12700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that if </a:t>
            </a:r>
            <a:r>
              <a:rPr dirty="0" sz="1200" spc="-5">
                <a:latin typeface="Arial MT"/>
                <a:cs typeface="Arial MT"/>
              </a:rPr>
              <a:t>we use our connections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will progress.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will not use them they will automatically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diminish.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50">
              <a:latin typeface="Arial MT"/>
              <a:cs typeface="Arial MT"/>
            </a:endParaRPr>
          </a:p>
          <a:p>
            <a:pPr algn="just" marL="477520" marR="5080" indent="-228600">
              <a:lnSpc>
                <a:spcPct val="144200"/>
              </a:lnSpc>
              <a:buChar char="•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Because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pruning,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important that parents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complete academic </a:t>
            </a:r>
            <a:r>
              <a:rPr dirty="0" sz="1200">
                <a:latin typeface="Arial MT"/>
                <a:cs typeface="Arial MT"/>
              </a:rPr>
              <a:t>tasks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 their </a:t>
            </a:r>
            <a:r>
              <a:rPr dirty="0" sz="1200" spc="-5">
                <a:latin typeface="Arial MT"/>
                <a:cs typeface="Arial MT"/>
              </a:rPr>
              <a:t>children should be doing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themselves.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child’s </a:t>
            </a:r>
            <a:r>
              <a:rPr dirty="0" sz="1200">
                <a:latin typeface="Arial MT"/>
                <a:cs typeface="Arial MT"/>
              </a:rPr>
              <a:t>brain </a:t>
            </a:r>
            <a:r>
              <a:rPr dirty="0" sz="1200" spc="-5">
                <a:latin typeface="Arial MT"/>
                <a:cs typeface="Arial MT"/>
              </a:rPr>
              <a:t>will prune </a:t>
            </a:r>
            <a:r>
              <a:rPr dirty="0" sz="1200">
                <a:latin typeface="Arial MT"/>
                <a:cs typeface="Arial MT"/>
              </a:rPr>
              <a:t>– </a:t>
            </a:r>
            <a:r>
              <a:rPr dirty="0" sz="1200" spc="-5">
                <a:latin typeface="Arial MT"/>
                <a:cs typeface="Arial MT"/>
              </a:rPr>
              <a:t>or lose </a:t>
            </a:r>
            <a:r>
              <a:rPr dirty="0" sz="1200">
                <a:latin typeface="Arial MT"/>
                <a:cs typeface="Arial MT"/>
              </a:rPr>
              <a:t>– </a:t>
            </a:r>
            <a:r>
              <a:rPr dirty="0" sz="1200" spc="-5">
                <a:latin typeface="Arial MT"/>
                <a:cs typeface="Arial MT"/>
              </a:rPr>
              <a:t>mental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use.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Therefore,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>
                <a:latin typeface="Arial MT"/>
                <a:cs typeface="Arial MT"/>
              </a:rPr>
              <a:t> 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pre-adolescents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adolescents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solve academic problems themselves. Problem-solving skills will </a:t>
            </a:r>
            <a:r>
              <a:rPr dirty="0" sz="1200">
                <a:latin typeface="Arial MT"/>
                <a:cs typeface="Arial MT"/>
              </a:rPr>
              <a:t>increase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complexity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 patience,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strengthen neural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connections.</a:t>
            </a:r>
            <a:endParaRPr sz="1200">
              <a:latin typeface="Arial MT"/>
              <a:cs typeface="Arial MT"/>
            </a:endParaRPr>
          </a:p>
          <a:p>
            <a:pPr algn="just" marL="18415" marR="11430" indent="-6350">
              <a:lnSpc>
                <a:spcPct val="144200"/>
              </a:lnSpc>
              <a:spcBef>
                <a:spcPts val="985"/>
              </a:spcBef>
            </a:pPr>
            <a:r>
              <a:rPr dirty="0" sz="1200" spc="-5">
                <a:latin typeface="Arial MT"/>
                <a:cs typeface="Arial MT"/>
              </a:rPr>
              <a:t>Parents should let the children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their tasks on their own.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common experience that poor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 have more problem solving skill than other children. Being teachers we should allow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solve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845" cy="8024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77520" marR="5080" indent="-228600">
              <a:lnSpc>
                <a:spcPct val="144200"/>
              </a:lnSpc>
              <a:spcBef>
                <a:spcPts val="100"/>
              </a:spcBef>
              <a:buChar char="•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Other </a:t>
            </a:r>
            <a:r>
              <a:rPr dirty="0" sz="1200" spc="-5">
                <a:latin typeface="Arial MT"/>
                <a:cs typeface="Arial MT"/>
              </a:rPr>
              <a:t>dramatic changes occur within 10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15 year old children </a:t>
            </a:r>
            <a:r>
              <a:rPr dirty="0" sz="1200" spc="-1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well. These </a:t>
            </a:r>
            <a:r>
              <a:rPr dirty="0" sz="1200" spc="-10">
                <a:latin typeface="Arial MT"/>
                <a:cs typeface="Arial MT"/>
              </a:rPr>
              <a:t>changes </a:t>
            </a:r>
            <a:r>
              <a:rPr dirty="0" sz="1200" spc="-5">
                <a:latin typeface="Arial MT"/>
                <a:cs typeface="Arial MT"/>
              </a:rPr>
              <a:t> impact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types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outside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it.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Middle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energetic, enthusiastic and filled with questions and ideas. However, </a:t>
            </a:r>
            <a:r>
              <a:rPr dirty="0" sz="1200" spc="5">
                <a:latin typeface="Arial MT"/>
                <a:cs typeface="Arial MT"/>
              </a:rPr>
              <a:t>they </a:t>
            </a:r>
            <a:r>
              <a:rPr dirty="0" sz="1200">
                <a:latin typeface="Arial MT"/>
                <a:cs typeface="Arial MT"/>
              </a:rPr>
              <a:t>also can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disorganized,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moody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filled 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“smallest”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slights.</a:t>
            </a:r>
            <a:endParaRPr sz="1200">
              <a:latin typeface="Arial MT"/>
              <a:cs typeface="Arial MT"/>
            </a:endParaRPr>
          </a:p>
          <a:p>
            <a:pPr algn="just" marL="18415" marR="6985" indent="-6350">
              <a:lnSpc>
                <a:spcPct val="144200"/>
              </a:lnSpc>
              <a:spcBef>
                <a:spcPts val="980"/>
              </a:spcBef>
            </a:pPr>
            <a:r>
              <a:rPr dirty="0" sz="1200">
                <a:latin typeface="Arial MT"/>
                <a:cs typeface="Arial MT"/>
              </a:rPr>
              <a:t>At the </a:t>
            </a:r>
            <a:r>
              <a:rPr dirty="0" sz="1200" spc="-5">
                <a:latin typeface="Arial MT"/>
                <a:cs typeface="Arial MT"/>
              </a:rPr>
              <a:t>age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adolescence children have hormonal as well as classroom changes. </a:t>
            </a:r>
            <a:r>
              <a:rPr dirty="0" sz="1200" spc="-10">
                <a:latin typeface="Arial MT"/>
                <a:cs typeface="Arial MT"/>
              </a:rPr>
              <a:t>Because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start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fast.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mood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swings.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moody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disorganized inside or outside the classroom. They become angry on little things. This can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mood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swings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brain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Arial MT"/>
              <a:cs typeface="Arial MT"/>
            </a:endParaRPr>
          </a:p>
          <a:p>
            <a:pPr marL="412115" marR="4114800" indent="-400050">
              <a:lnSpc>
                <a:spcPct val="141700"/>
              </a:lnSpc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So</a:t>
            </a:r>
            <a:r>
              <a:rPr dirty="0" u="heavy" sz="12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what</a:t>
            </a:r>
            <a:r>
              <a:rPr dirty="0" u="heavy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dirty="0" u="heavy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teach</a:t>
            </a:r>
            <a:r>
              <a:rPr dirty="0" u="heavy" sz="12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dirty="0" u="heavy" sz="120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how</a:t>
            </a:r>
            <a:r>
              <a:rPr dirty="0" u="heavy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dirty="0" u="heavy" sz="12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teach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Problem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solving</a:t>
            </a:r>
            <a:endParaRPr sz="1200">
              <a:latin typeface="Arial"/>
              <a:cs typeface="Arial"/>
            </a:endParaRPr>
          </a:p>
          <a:p>
            <a:pPr algn="just" marL="18415" marR="12700" indent="-6350">
              <a:lnSpc>
                <a:spcPct val="144400"/>
              </a:lnSpc>
              <a:spcBef>
                <a:spcPts val="960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teach them reflecting so that they reflect and </a:t>
            </a:r>
            <a:r>
              <a:rPr dirty="0" sz="1200">
                <a:latin typeface="Arial MT"/>
                <a:cs typeface="Arial MT"/>
              </a:rPr>
              <a:t>assess </a:t>
            </a:r>
            <a:r>
              <a:rPr dirty="0" sz="1200" spc="-5">
                <a:latin typeface="Arial MT"/>
                <a:cs typeface="Arial MT"/>
              </a:rPr>
              <a:t>their performance. And make </a:t>
            </a:r>
            <a:r>
              <a:rPr dirty="0" sz="1200" spc="-1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action </a:t>
            </a:r>
            <a:r>
              <a:rPr dirty="0" sz="1200">
                <a:latin typeface="Arial MT"/>
                <a:cs typeface="Arial MT"/>
              </a:rPr>
              <a:t> plans.</a:t>
            </a:r>
            <a:endParaRPr sz="1200">
              <a:latin typeface="Arial MT"/>
              <a:cs typeface="Arial MT"/>
            </a:endParaRPr>
          </a:p>
          <a:p>
            <a:pPr marL="412115" marR="4163695">
              <a:lnSpc>
                <a:spcPct val="142500"/>
              </a:lnSpc>
              <a:spcBef>
                <a:spcPts val="45"/>
              </a:spcBef>
            </a:pPr>
            <a:r>
              <a:rPr dirty="0" sz="1200" b="1">
                <a:latin typeface="Arial"/>
                <a:cs typeface="Arial"/>
              </a:rPr>
              <a:t>Improving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own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performance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Team work</a:t>
            </a:r>
            <a:endParaRPr sz="1200">
              <a:latin typeface="Arial"/>
              <a:cs typeface="Arial"/>
            </a:endParaRPr>
          </a:p>
          <a:p>
            <a:pPr marL="412115">
              <a:lnSpc>
                <a:spcPct val="100000"/>
              </a:lnSpc>
              <a:spcBef>
                <a:spcPts val="615"/>
              </a:spcBef>
            </a:pPr>
            <a:r>
              <a:rPr dirty="0" sz="1200" spc="-5" b="1">
                <a:latin typeface="Arial"/>
                <a:cs typeface="Arial"/>
              </a:rPr>
              <a:t>Experience</a:t>
            </a:r>
            <a:r>
              <a:rPr dirty="0" sz="1200" spc="3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Practice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Arial"/>
              <a:cs typeface="Arial"/>
            </a:endParaRPr>
          </a:p>
          <a:p>
            <a:pPr algn="just" marL="18415" marR="6350" indent="-6350">
              <a:lnSpc>
                <a:spcPct val="1442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life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these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tangible.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Every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should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will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these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adolescence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practically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helpful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future.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most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solving.</a:t>
            </a:r>
            <a:endParaRPr sz="1200">
              <a:latin typeface="Arial MT"/>
              <a:cs typeface="Arial MT"/>
            </a:endParaRPr>
          </a:p>
          <a:p>
            <a:pPr algn="just" marL="18415" marR="8890" indent="-6350">
              <a:lnSpc>
                <a:spcPct val="144200"/>
              </a:lnSpc>
              <a:spcBef>
                <a:spcPts val="20"/>
              </a:spcBef>
            </a:pPr>
            <a:r>
              <a:rPr dirty="0" sz="1200" spc="-5">
                <a:latin typeface="Arial MT"/>
                <a:cs typeface="Arial MT"/>
              </a:rPr>
              <a:t>Experiences are unique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every individual. Teachers </a:t>
            </a:r>
            <a:r>
              <a:rPr dirty="0" sz="1200">
                <a:latin typeface="Arial MT"/>
                <a:cs typeface="Arial MT"/>
              </a:rPr>
              <a:t>demonstrate some </a:t>
            </a:r>
            <a:r>
              <a:rPr dirty="0" sz="1200" spc="-5">
                <a:latin typeface="Arial MT"/>
                <a:cs typeface="Arial MT"/>
              </a:rPr>
              <a:t>experience and children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 observe. But observing is not the whole thing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learning.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our schools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 spc="-10">
                <a:latin typeface="Arial MT"/>
                <a:cs typeface="Arial MT"/>
              </a:rPr>
              <a:t>big </a:t>
            </a:r>
            <a:r>
              <a:rPr dirty="0" sz="1200" spc="-5">
                <a:latin typeface="Arial MT"/>
                <a:cs typeface="Arial MT"/>
              </a:rPr>
              <a:t> misconception.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ride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bicycle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driving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Integrated</a:t>
            </a:r>
            <a:r>
              <a:rPr dirty="0" u="heavy" sz="1200" spc="-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themes.</a:t>
            </a:r>
            <a:endParaRPr sz="1200">
              <a:latin typeface="Arial"/>
              <a:cs typeface="Arial"/>
            </a:endParaRPr>
          </a:p>
          <a:p>
            <a:pPr algn="just" marL="18415" marR="7620" indent="-6350">
              <a:lnSpc>
                <a:spcPts val="2080"/>
              </a:lnSpc>
              <a:spcBef>
                <a:spcPts val="45"/>
              </a:spcBef>
            </a:pPr>
            <a:r>
              <a:rPr dirty="0" sz="1200">
                <a:latin typeface="Arial MT"/>
                <a:cs typeface="Arial MT"/>
              </a:rPr>
              <a:t>Our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life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integrated.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integration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easier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should encourage integration so that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can maximize the time. Being teachers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emphasis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integration. Primary school teacher should </a:t>
            </a:r>
            <a:r>
              <a:rPr dirty="0" sz="1200">
                <a:latin typeface="Arial MT"/>
                <a:cs typeface="Arial MT"/>
              </a:rPr>
              <a:t>integrate two </a:t>
            </a:r>
            <a:r>
              <a:rPr dirty="0" sz="1200" spc="-5">
                <a:latin typeface="Arial MT"/>
                <a:cs typeface="Arial MT"/>
              </a:rPr>
              <a:t>or </a:t>
            </a:r>
            <a:r>
              <a:rPr dirty="0" sz="1200">
                <a:latin typeface="Arial MT"/>
                <a:cs typeface="Arial MT"/>
              </a:rPr>
              <a:t>three </a:t>
            </a:r>
            <a:r>
              <a:rPr dirty="0" sz="1200" spc="-5">
                <a:latin typeface="Arial MT"/>
                <a:cs typeface="Arial MT"/>
              </a:rPr>
              <a:t>subjects so that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save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tell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“Subjects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isolated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entities”.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8990965"/>
            <a:ext cx="6979920" cy="391795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 # 27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“Big</a:t>
            </a:r>
            <a:r>
              <a:rPr dirty="0" sz="18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Ideas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 Essential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Questions”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9286493"/>
            <a:ext cx="3888104" cy="80772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200" spc="-5" b="1">
                <a:latin typeface="Arial"/>
                <a:cs typeface="Arial"/>
              </a:rPr>
              <a:t>Topics: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What are</a:t>
            </a:r>
            <a:r>
              <a:rPr dirty="0" sz="1200" b="1">
                <a:latin typeface="Arial"/>
                <a:cs typeface="Arial"/>
              </a:rPr>
              <a:t> different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kinds </a:t>
            </a:r>
            <a:r>
              <a:rPr dirty="0" sz="1200" b="1">
                <a:latin typeface="Arial"/>
                <a:cs typeface="Arial"/>
              </a:rPr>
              <a:t>of integrated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Themes?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b="1">
                <a:latin typeface="Arial"/>
                <a:cs typeface="Arial"/>
              </a:rPr>
              <a:t>Forms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integration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(Fogarty </a:t>
            </a:r>
            <a:r>
              <a:rPr dirty="0" sz="1200" b="1">
                <a:latin typeface="Arial"/>
                <a:cs typeface="Arial"/>
              </a:rPr>
              <a:t>&amp;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Stoehr’s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1995)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10214073"/>
            <a:ext cx="2837180" cy="116078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400" spc="-5" b="1">
                <a:latin typeface="Arial"/>
                <a:cs typeface="Arial"/>
              </a:rPr>
              <a:t>Integration: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1200" spc="-5">
                <a:latin typeface="Arial MT"/>
                <a:cs typeface="Arial MT"/>
              </a:rPr>
              <a:t>Integration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 putting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together.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Definition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of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Integration: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8611"/>
            <a:ext cx="6633845" cy="8507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320" marR="5715">
              <a:lnSpc>
                <a:spcPct val="142600"/>
              </a:lnSpc>
              <a:spcBef>
                <a:spcPts val="95"/>
              </a:spcBef>
            </a:pPr>
            <a:r>
              <a:rPr dirty="0" sz="1200" b="1">
                <a:latin typeface="Arial"/>
                <a:cs typeface="Arial"/>
              </a:rPr>
              <a:t>“Only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education,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never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life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farmer,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sailor,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merchant,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physician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laboratory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experimenter,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does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knowledge </a:t>
            </a:r>
            <a:r>
              <a:rPr dirty="0" sz="1200" spc="-5" b="1">
                <a:latin typeface="Arial"/>
                <a:cs typeface="Arial"/>
              </a:rPr>
              <a:t>means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primarily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 </a:t>
            </a:r>
            <a:r>
              <a:rPr dirty="0" sz="1200" spc="-5" b="1">
                <a:latin typeface="Arial"/>
                <a:cs typeface="Arial"/>
              </a:rPr>
              <a:t>store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information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aloof </a:t>
            </a:r>
            <a:r>
              <a:rPr dirty="0" sz="1200" spc="-5" b="1">
                <a:latin typeface="Arial"/>
                <a:cs typeface="Arial"/>
              </a:rPr>
              <a:t>from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doing.”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JOHN DEWY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Arial"/>
              <a:cs typeface="Arial"/>
            </a:endParaRPr>
          </a:p>
          <a:p>
            <a:pPr algn="just" marL="18415" marR="5080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John dewy </a:t>
            </a:r>
            <a:r>
              <a:rPr dirty="0" sz="1200">
                <a:latin typeface="Arial MT"/>
                <a:cs typeface="Arial MT"/>
              </a:rPr>
              <a:t>says </a:t>
            </a:r>
            <a:r>
              <a:rPr dirty="0" sz="1200" spc="-5">
                <a:latin typeface="Arial MT"/>
                <a:cs typeface="Arial MT"/>
              </a:rPr>
              <a:t>that there is no such profession </a:t>
            </a:r>
            <a:r>
              <a:rPr dirty="0" sz="1200">
                <a:latin typeface="Arial MT"/>
                <a:cs typeface="Arial MT"/>
              </a:rPr>
              <a:t>where </a:t>
            </a:r>
            <a:r>
              <a:rPr dirty="0" sz="1200" spc="-5">
                <a:latin typeface="Arial MT"/>
                <a:cs typeface="Arial MT"/>
              </a:rPr>
              <a:t>knowledge is separable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doing or </a:t>
            </a:r>
            <a:r>
              <a:rPr dirty="0" sz="1200">
                <a:latin typeface="Arial MT"/>
                <a:cs typeface="Arial MT"/>
              </a:rPr>
              <a:t> practice. It </a:t>
            </a:r>
            <a:r>
              <a:rPr dirty="0" sz="1200" spc="-5">
                <a:latin typeface="Arial MT"/>
                <a:cs typeface="Arial MT"/>
              </a:rPr>
              <a:t>is only education where knowledge is a </a:t>
            </a:r>
            <a:r>
              <a:rPr dirty="0" sz="1200">
                <a:latin typeface="Arial MT"/>
                <a:cs typeface="Arial MT"/>
              </a:rPr>
              <a:t>set of </a:t>
            </a:r>
            <a:r>
              <a:rPr dirty="0" sz="1200" spc="-5">
                <a:latin typeface="Arial MT"/>
                <a:cs typeface="Arial MT"/>
              </a:rPr>
              <a:t>information.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need to change </a:t>
            </a:r>
            <a:r>
              <a:rPr dirty="0" sz="1200" spc="-1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 orientation </a:t>
            </a:r>
            <a:r>
              <a:rPr dirty="0" sz="120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being teachers, we need to integrate knowledge with </a:t>
            </a:r>
            <a:r>
              <a:rPr dirty="0" sz="1200">
                <a:latin typeface="Arial MT"/>
                <a:cs typeface="Arial MT"/>
              </a:rPr>
              <a:t>practical </a:t>
            </a:r>
            <a:r>
              <a:rPr dirty="0" sz="1200" spc="-5">
                <a:latin typeface="Arial MT"/>
                <a:cs typeface="Arial MT"/>
              </a:rPr>
              <a:t>skills.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students do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5">
                <a:latin typeface="Arial MT"/>
                <a:cs typeface="Arial MT"/>
              </a:rPr>
              <a:t> skills,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means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knowledge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incomplete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Arial MT"/>
              <a:cs typeface="Arial MT"/>
            </a:endParaRPr>
          </a:p>
          <a:p>
            <a:pPr algn="just" marL="26034" marR="6985" indent="-6350">
              <a:lnSpc>
                <a:spcPct val="142500"/>
              </a:lnSpc>
            </a:pPr>
            <a:r>
              <a:rPr dirty="0" sz="1200" b="1">
                <a:latin typeface="Arial"/>
                <a:cs typeface="Arial"/>
              </a:rPr>
              <a:t>“The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integrated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curriculum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great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gift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to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experienced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teachers.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It’s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like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getting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new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pair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lenses </a:t>
            </a:r>
            <a:r>
              <a:rPr dirty="0" sz="1200" spc="-5" b="1">
                <a:latin typeface="Arial"/>
                <a:cs typeface="Arial"/>
              </a:rPr>
              <a:t>that make </a:t>
            </a:r>
            <a:r>
              <a:rPr dirty="0" sz="1200" b="1">
                <a:latin typeface="Arial"/>
                <a:cs typeface="Arial"/>
              </a:rPr>
              <a:t>teaching </a:t>
            </a:r>
            <a:r>
              <a:rPr dirty="0" sz="1200" spc="-5" b="1">
                <a:latin typeface="Arial"/>
                <a:cs typeface="Arial"/>
              </a:rPr>
              <a:t>a </a:t>
            </a:r>
            <a:r>
              <a:rPr dirty="0" sz="1200" b="1">
                <a:latin typeface="Arial"/>
                <a:cs typeface="Arial"/>
              </a:rPr>
              <a:t>lot </a:t>
            </a:r>
            <a:r>
              <a:rPr dirty="0" sz="1200" spc="5" b="1">
                <a:latin typeface="Arial"/>
                <a:cs typeface="Arial"/>
              </a:rPr>
              <a:t>more </a:t>
            </a:r>
            <a:r>
              <a:rPr dirty="0" sz="1200" b="1">
                <a:latin typeface="Arial"/>
                <a:cs typeface="Arial"/>
              </a:rPr>
              <a:t>exciting and help </a:t>
            </a:r>
            <a:r>
              <a:rPr dirty="0" sz="1200" spc="-10" b="1">
                <a:latin typeface="Arial"/>
                <a:cs typeface="Arial"/>
              </a:rPr>
              <a:t>us </a:t>
            </a:r>
            <a:r>
              <a:rPr dirty="0" sz="1200" b="1">
                <a:latin typeface="Arial"/>
                <a:cs typeface="Arial"/>
              </a:rPr>
              <a:t>look forward into the next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century.</a:t>
            </a:r>
            <a:r>
              <a:rPr dirty="0" sz="1200" b="1">
                <a:latin typeface="Arial"/>
                <a:cs typeface="Arial"/>
              </a:rPr>
              <a:t> It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helping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b="1">
                <a:latin typeface="Arial"/>
                <a:cs typeface="Arial"/>
              </a:rPr>
              <a:t> take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control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own </a:t>
            </a:r>
            <a:r>
              <a:rPr dirty="0" sz="1200" spc="-5" b="1">
                <a:latin typeface="Arial"/>
                <a:cs typeface="Arial"/>
              </a:rPr>
              <a:t>learning.”</a:t>
            </a:r>
            <a:endParaRPr sz="1200">
              <a:latin typeface="Arial"/>
              <a:cs typeface="Arial"/>
            </a:endParaRPr>
          </a:p>
          <a:p>
            <a:pPr algn="just" marL="20320">
              <a:lnSpc>
                <a:spcPct val="100000"/>
              </a:lnSpc>
              <a:spcBef>
                <a:spcPts val="615"/>
              </a:spcBef>
            </a:pPr>
            <a:r>
              <a:rPr dirty="0" sz="1200" spc="-5" b="1">
                <a:latin typeface="Arial"/>
                <a:cs typeface="Arial"/>
              </a:rPr>
              <a:t>M.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MARKUS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(1991)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Arial"/>
              <a:cs typeface="Arial"/>
            </a:endParaRPr>
          </a:p>
          <a:p>
            <a:pPr algn="just" marL="18415" marR="5715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M. Markus’s said that although integration is “putting things together”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it is very helpful for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experienced </a:t>
            </a:r>
            <a:r>
              <a:rPr dirty="0" sz="1200">
                <a:latin typeface="Arial MT"/>
                <a:cs typeface="Arial MT"/>
              </a:rPr>
              <a:t>teachers. They </a:t>
            </a:r>
            <a:r>
              <a:rPr dirty="0" sz="1200" spc="-5">
                <a:latin typeface="Arial MT"/>
                <a:cs typeface="Arial MT"/>
              </a:rPr>
              <a:t>feel that he has provided them with extra pair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lenses and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benefit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their teaching becomes </a:t>
            </a:r>
            <a:r>
              <a:rPr dirty="0" sz="1200">
                <a:latin typeface="Arial MT"/>
                <a:cs typeface="Arial MT"/>
              </a:rPr>
              <a:t>exciting. </a:t>
            </a:r>
            <a:r>
              <a:rPr dirty="0" sz="1200" spc="-5">
                <a:latin typeface="Arial MT"/>
                <a:cs typeface="Arial MT"/>
              </a:rPr>
              <a:t>Teaching 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exciting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young and new teachers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 whenever we are going to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something new, so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are excited about </a:t>
            </a:r>
            <a:r>
              <a:rPr dirty="0" sz="1200" spc="10">
                <a:latin typeface="Arial MT"/>
                <a:cs typeface="Arial MT"/>
              </a:rPr>
              <a:t>that. </a:t>
            </a:r>
            <a:r>
              <a:rPr dirty="0" sz="1200" spc="-5">
                <a:latin typeface="Arial MT"/>
                <a:cs typeface="Arial MT"/>
              </a:rPr>
              <a:t>But </a:t>
            </a:r>
            <a:r>
              <a:rPr dirty="0" sz="1200" spc="-1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do 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same </a:t>
            </a:r>
            <a:r>
              <a:rPr dirty="0" sz="1200">
                <a:latin typeface="Arial MT"/>
                <a:cs typeface="Arial MT"/>
              </a:rPr>
              <a:t>task </a:t>
            </a:r>
            <a:r>
              <a:rPr dirty="0" sz="1200" spc="-5">
                <a:latin typeface="Arial MT"/>
                <a:cs typeface="Arial MT"/>
              </a:rPr>
              <a:t>or things again and again,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becomes </a:t>
            </a:r>
            <a:r>
              <a:rPr dirty="0" sz="1200">
                <a:latin typeface="Arial MT"/>
                <a:cs typeface="Arial MT"/>
              </a:rPr>
              <a:t>part of </a:t>
            </a:r>
            <a:r>
              <a:rPr dirty="0" sz="1200" spc="-5">
                <a:latin typeface="Arial MT"/>
                <a:cs typeface="Arial MT"/>
              </a:rPr>
              <a:t>our routine. But through integration,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becomes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excited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There should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the reasons for integration or putting things together and there </a:t>
            </a:r>
            <a:r>
              <a:rPr dirty="0" sz="1200">
                <a:latin typeface="Arial MT"/>
                <a:cs typeface="Arial MT"/>
              </a:rPr>
              <a:t>should </a:t>
            </a:r>
            <a:r>
              <a:rPr dirty="0" sz="1200" spc="-5">
                <a:latin typeface="Arial MT"/>
                <a:cs typeface="Arial MT"/>
              </a:rPr>
              <a:t>be very </a:t>
            </a:r>
            <a:r>
              <a:rPr dirty="0" sz="1200">
                <a:latin typeface="Arial MT"/>
                <a:cs typeface="Arial MT"/>
              </a:rPr>
              <a:t>thin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boundaries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disciplines.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Why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integration?</a:t>
            </a:r>
            <a:endParaRPr sz="14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73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Disconnection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breeds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apathy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while </a:t>
            </a:r>
            <a:r>
              <a:rPr dirty="0" sz="1200" spc="-5" b="1">
                <a:latin typeface="Arial"/>
                <a:cs typeface="Arial"/>
              </a:rPr>
              <a:t>integration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thrives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connections.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Char char="-"/>
            </a:pPr>
            <a:endParaRPr sz="1750">
              <a:latin typeface="Arial"/>
              <a:cs typeface="Arial"/>
            </a:endParaRPr>
          </a:p>
          <a:p>
            <a:pPr algn="just" marL="477520" marR="5080" indent="-228600">
              <a:lnSpc>
                <a:spcPct val="144200"/>
              </a:lnSpc>
              <a:buFont typeface="Times New Roman"/>
              <a:buChar char="-"/>
              <a:tabLst>
                <a:tab pos="478155" algn="l"/>
              </a:tabLst>
            </a:pPr>
            <a:r>
              <a:rPr dirty="0" sz="1200" b="1">
                <a:latin typeface="Arial"/>
                <a:cs typeface="Arial"/>
              </a:rPr>
              <a:t>Integrated </a:t>
            </a:r>
            <a:r>
              <a:rPr dirty="0" sz="1200" spc="-5" b="1">
                <a:latin typeface="Arial"/>
                <a:cs typeface="Arial"/>
              </a:rPr>
              <a:t>learning more accurately approximates the lives </a:t>
            </a:r>
            <a:r>
              <a:rPr dirty="0" sz="1200" b="1">
                <a:latin typeface="Arial"/>
                <a:cs typeface="Arial"/>
              </a:rPr>
              <a:t>of human beings </a:t>
            </a:r>
            <a:r>
              <a:rPr dirty="0" sz="1200" spc="-5" b="1">
                <a:latin typeface="Arial"/>
                <a:cs typeface="Arial"/>
              </a:rPr>
              <a:t>when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they are </a:t>
            </a:r>
            <a:r>
              <a:rPr dirty="0" sz="1200" b="1">
                <a:latin typeface="Arial"/>
                <a:cs typeface="Arial"/>
              </a:rPr>
              <a:t>not in </a:t>
            </a:r>
            <a:r>
              <a:rPr dirty="0" sz="1200" spc="-5" b="1">
                <a:latin typeface="Arial"/>
                <a:cs typeface="Arial"/>
              </a:rPr>
              <a:t>schools.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are spending a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integrated life </a:t>
            </a:r>
            <a:r>
              <a:rPr dirty="0" sz="1200" spc="-1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well. Because we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 connected with different shops, milkman, sweepers, different professions etc. There are </a:t>
            </a:r>
            <a:r>
              <a:rPr dirty="0" sz="1200" spc="-15">
                <a:latin typeface="Arial MT"/>
                <a:cs typeface="Arial MT"/>
              </a:rPr>
              <a:t>no 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disconnections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disintegration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that.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school,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everything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fragmented,</a:t>
            </a:r>
            <a:r>
              <a:rPr dirty="0" sz="1200">
                <a:latin typeface="Arial MT"/>
                <a:cs typeface="Arial MT"/>
              </a:rPr>
              <a:t> there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integration.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lot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isolation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 compartmentalization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subjects.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9562338"/>
            <a:ext cx="6631305" cy="1816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What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is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integration?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50">
              <a:latin typeface="Arial"/>
              <a:cs typeface="Arial"/>
            </a:endParaRPr>
          </a:p>
          <a:p>
            <a:pPr algn="just" marL="477520" marR="5080" indent="-228600">
              <a:lnSpc>
                <a:spcPct val="144200"/>
              </a:lnSpc>
            </a:pP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 b="1">
                <a:latin typeface="Arial"/>
                <a:cs typeface="Arial"/>
              </a:rPr>
              <a:t>Integration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does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not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mean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two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teachers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teaching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subjects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simultaneously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one </a:t>
            </a:r>
            <a:r>
              <a:rPr dirty="0" sz="1200" spc="-3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classroom. </a:t>
            </a:r>
            <a:r>
              <a:rPr dirty="0" sz="1200" spc="-5">
                <a:latin typeface="Arial MT"/>
                <a:cs typeface="Arial MT"/>
              </a:rPr>
              <a:t>If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teachers are teaching a same concept in a class, we cannot </a:t>
            </a:r>
            <a:r>
              <a:rPr dirty="0" sz="1200" spc="-10">
                <a:latin typeface="Arial MT"/>
                <a:cs typeface="Arial MT"/>
              </a:rPr>
              <a:t>say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 an </a:t>
            </a:r>
            <a:r>
              <a:rPr dirty="0" sz="1200" spc="-5">
                <a:latin typeface="Arial MT"/>
                <a:cs typeface="Arial MT"/>
              </a:rPr>
              <a:t>integrated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appropriate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term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matter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‘team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teaching.’</a:t>
            </a:r>
            <a:endParaRPr sz="1200">
              <a:latin typeface="Arial MT"/>
              <a:cs typeface="Arial MT"/>
            </a:endParaRPr>
          </a:p>
          <a:p>
            <a:pPr algn="just" marL="483870" marR="8890" indent="-6350">
              <a:lnSpc>
                <a:spcPct val="1442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Team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>
                <a:latin typeface="Arial MT"/>
                <a:cs typeface="Arial MT"/>
              </a:rPr>
              <a:t> must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confused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5804" y="575563"/>
            <a:ext cx="6550025" cy="83127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17500" marR="81915" indent="-22860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245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fully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integrated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curriculum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combines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disciplines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synergistic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manner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u="heavy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makes </a:t>
            </a:r>
            <a:r>
              <a:rPr dirty="0" sz="1200" spc="-325" b="1"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knowledge of one subject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inseparable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from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that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another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subject</a:t>
            </a:r>
            <a:r>
              <a:rPr dirty="0" sz="1200" b="1">
                <a:latin typeface="Arial"/>
                <a:cs typeface="Arial"/>
              </a:rPr>
              <a:t>, with </a:t>
            </a:r>
            <a:r>
              <a:rPr dirty="0" sz="1200" spc="-5" b="1">
                <a:latin typeface="Arial"/>
                <a:cs typeface="Arial"/>
              </a:rPr>
              <a:t>division </a:t>
            </a:r>
            <a:r>
              <a:rPr dirty="0" sz="1200" b="1">
                <a:latin typeface="Arial"/>
                <a:cs typeface="Arial"/>
              </a:rPr>
              <a:t> occurring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only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teaching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sophisticated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content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vocabulary.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fully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 content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one subject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are going to separate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from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other subject. E.g.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cannot learn physic concepts or content unless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learn mathematics. </a:t>
            </a:r>
            <a:r>
              <a:rPr dirty="0" sz="1200" spc="-5">
                <a:latin typeface="Arial MT"/>
                <a:cs typeface="Arial MT"/>
              </a:rPr>
              <a:t>Similarly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chemistry, </a:t>
            </a:r>
            <a:r>
              <a:rPr dirty="0" sz="1200" spc="-5">
                <a:latin typeface="Arial MT"/>
                <a:cs typeface="Arial MT"/>
              </a:rPr>
              <a:t>mathematics and some physics is involved. Language is very important because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 tool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different </a:t>
            </a:r>
            <a:r>
              <a:rPr dirty="0" sz="1200">
                <a:latin typeface="Arial MT"/>
                <a:cs typeface="Arial MT"/>
              </a:rPr>
              <a:t>subjects. </a:t>
            </a:r>
            <a:r>
              <a:rPr dirty="0" sz="1200" spc="-5">
                <a:latin typeface="Arial MT"/>
                <a:cs typeface="Arial MT"/>
              </a:rPr>
              <a:t>You cannot learn </a:t>
            </a:r>
            <a:r>
              <a:rPr dirty="0" sz="1200">
                <a:latin typeface="Arial MT"/>
                <a:cs typeface="Arial MT"/>
              </a:rPr>
              <a:t>chemistry </a:t>
            </a:r>
            <a:r>
              <a:rPr dirty="0" sz="1200" spc="-15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isolation;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needs </a:t>
            </a:r>
            <a:r>
              <a:rPr dirty="0" sz="1200">
                <a:latin typeface="Arial MT"/>
                <a:cs typeface="Arial MT"/>
              </a:rPr>
              <a:t>to be </a:t>
            </a:r>
            <a:r>
              <a:rPr dirty="0" sz="1200" spc="-5">
                <a:latin typeface="Arial MT"/>
                <a:cs typeface="Arial MT"/>
              </a:rPr>
              <a:t>there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Why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teachers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should teach in integration?</a:t>
            </a:r>
            <a:endParaRPr sz="1400">
              <a:latin typeface="Arial"/>
              <a:cs typeface="Arial"/>
            </a:endParaRPr>
          </a:p>
          <a:p>
            <a:pPr algn="just" marL="94615" marR="81915" indent="-6350">
              <a:lnSpc>
                <a:spcPts val="2080"/>
              </a:lnSpc>
              <a:spcBef>
                <a:spcPts val="85"/>
              </a:spcBef>
            </a:pPr>
            <a:r>
              <a:rPr dirty="0" sz="1200" spc="-5">
                <a:latin typeface="Arial MT"/>
                <a:cs typeface="Arial MT"/>
              </a:rPr>
              <a:t>First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reason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living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technology.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technology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increasing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exponentially.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living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21</a:t>
            </a:r>
            <a:r>
              <a:rPr dirty="0" baseline="27777" sz="1200" spc="7">
                <a:latin typeface="Arial MT"/>
                <a:cs typeface="Arial MT"/>
              </a:rPr>
              <a:t>st </a:t>
            </a:r>
            <a:r>
              <a:rPr dirty="0" baseline="27777" sz="1200" spc="187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century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endParaRPr sz="1200">
              <a:latin typeface="Arial MT"/>
              <a:cs typeface="Arial MT"/>
            </a:endParaRPr>
          </a:p>
          <a:p>
            <a:pPr algn="just" marL="94615">
              <a:lnSpc>
                <a:spcPct val="100000"/>
              </a:lnSpc>
              <a:spcBef>
                <a:spcPts val="455"/>
              </a:spcBef>
            </a:pPr>
            <a:r>
              <a:rPr dirty="0" sz="1200">
                <a:latin typeface="Arial MT"/>
                <a:cs typeface="Arial MT"/>
              </a:rPr>
              <a:t>structure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20</a:t>
            </a:r>
            <a:r>
              <a:rPr dirty="0" baseline="27777" sz="1200">
                <a:latin typeface="Arial MT"/>
                <a:cs typeface="Arial MT"/>
              </a:rPr>
              <a:t>th</a:t>
            </a:r>
            <a:r>
              <a:rPr dirty="0" baseline="27777" sz="1200" spc="172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19</a:t>
            </a:r>
            <a:r>
              <a:rPr dirty="0" baseline="27777" sz="1200">
                <a:latin typeface="Arial MT"/>
                <a:cs typeface="Arial MT"/>
              </a:rPr>
              <a:t>th</a:t>
            </a:r>
            <a:r>
              <a:rPr dirty="0" baseline="27777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century,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where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there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specific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timetable,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endParaRPr sz="1200">
              <a:latin typeface="Arial MT"/>
              <a:cs typeface="Arial MT"/>
            </a:endParaRPr>
          </a:p>
          <a:p>
            <a:pPr algn="just" marL="94615" marR="8128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which the teachers </a:t>
            </a:r>
            <a:r>
              <a:rPr dirty="0" sz="1200" spc="-10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everything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students. Today, the only way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is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integration because through integration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can save your time and learning of 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contextualized.</a:t>
            </a:r>
            <a:endParaRPr sz="1200">
              <a:latin typeface="Arial MT"/>
              <a:cs typeface="Arial MT"/>
            </a:endParaRPr>
          </a:p>
          <a:p>
            <a:pPr algn="just" marL="94615" marR="86360" indent="-6350">
              <a:lnSpc>
                <a:spcPct val="1442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give the students information about a concept and they memorize </a:t>
            </a:r>
            <a:r>
              <a:rPr dirty="0" sz="1200">
                <a:latin typeface="Arial MT"/>
                <a:cs typeface="Arial MT"/>
              </a:rPr>
              <a:t>it.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 they are never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attitudes.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time,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comes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inseparable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10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different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methodologies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5" b="1">
                <a:latin typeface="Arial"/>
                <a:cs typeface="Arial"/>
              </a:rPr>
              <a:t> integration:</a:t>
            </a:r>
            <a:endParaRPr sz="1400">
              <a:latin typeface="Arial"/>
              <a:cs typeface="Arial"/>
            </a:endParaRPr>
          </a:p>
          <a:p>
            <a:pPr marL="86995" marR="81915" indent="-6350">
              <a:lnSpc>
                <a:spcPts val="2020"/>
              </a:lnSpc>
              <a:spcBef>
                <a:spcPts val="150"/>
              </a:spcBef>
            </a:pPr>
            <a:r>
              <a:rPr dirty="0" sz="1200" b="1">
                <a:latin typeface="Arial"/>
                <a:cs typeface="Arial"/>
              </a:rPr>
              <a:t>Fogarty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Stoehr’s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(1995)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views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integrating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curriculum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most</a:t>
            </a:r>
            <a:r>
              <a:rPr dirty="0" sz="1200" b="1">
                <a:latin typeface="Arial"/>
                <a:cs typeface="Arial"/>
              </a:rPr>
              <a:t> frequently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used planning </a:t>
            </a:r>
            <a:r>
              <a:rPr dirty="0" sz="1200" spc="-5" b="1">
                <a:latin typeface="Arial"/>
                <a:cs typeface="Arial"/>
              </a:rPr>
              <a:t>models</a:t>
            </a:r>
            <a:r>
              <a:rPr dirty="0" sz="1200" b="1">
                <a:latin typeface="Arial"/>
                <a:cs typeface="Arial"/>
              </a:rPr>
              <a:t> in the </a:t>
            </a:r>
            <a:r>
              <a:rPr dirty="0" sz="1200" spc="-5" b="1">
                <a:latin typeface="Arial"/>
                <a:cs typeface="Arial"/>
              </a:rPr>
              <a:t>field.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 methods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models</a:t>
            </a:r>
            <a:r>
              <a:rPr dirty="0" sz="1200">
                <a:latin typeface="Arial MT"/>
                <a:cs typeface="Arial MT"/>
              </a:rPr>
              <a:t> of</a:t>
            </a:r>
            <a:endParaRPr sz="120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integration.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 MT"/>
              <a:cs typeface="Arial MT"/>
            </a:endParaRPr>
          </a:p>
          <a:p>
            <a:pPr marL="8128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These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10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methodologies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divided</a:t>
            </a:r>
            <a:r>
              <a:rPr dirty="0" sz="1200" b="1">
                <a:latin typeface="Arial"/>
                <a:cs typeface="Arial"/>
              </a:rPr>
              <a:t> into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three</a:t>
            </a:r>
            <a:r>
              <a:rPr dirty="0" sz="1200" b="1">
                <a:latin typeface="Arial"/>
                <a:cs typeface="Arial"/>
              </a:rPr>
              <a:t> forms.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Form-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1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Fragmentation:</a:t>
            </a:r>
            <a:endParaRPr sz="1400">
              <a:latin typeface="Arial"/>
              <a:cs typeface="Arial"/>
            </a:endParaRPr>
          </a:p>
          <a:p>
            <a:pPr marL="86995" marR="80645" indent="-6350">
              <a:lnSpc>
                <a:spcPts val="2050"/>
              </a:lnSpc>
              <a:spcBef>
                <a:spcPts val="40"/>
              </a:spcBef>
            </a:pPr>
            <a:r>
              <a:rPr dirty="0" sz="1200" spc="-5" b="1">
                <a:latin typeface="Arial"/>
                <a:cs typeface="Arial"/>
              </a:rPr>
              <a:t>When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list</a:t>
            </a:r>
            <a:r>
              <a:rPr dirty="0" sz="1200" spc="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rank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topics,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concepts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3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systematically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organize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curricular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priorities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within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each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subject.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12104" y="10449306"/>
            <a:ext cx="1884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associated</a:t>
            </a:r>
            <a:r>
              <a:rPr dirty="0" sz="1200" spc="3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2104" y="10632185"/>
            <a:ext cx="1083310" cy="55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4200"/>
              </a:lnSpc>
              <a:spcBef>
                <a:spcPts val="100"/>
              </a:spcBef>
              <a:tabLst>
                <a:tab pos="334645" algn="l"/>
                <a:tab pos="452755" algn="l"/>
              </a:tabLst>
            </a:pP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 spc="-5">
                <a:latin typeface="Arial MT"/>
                <a:cs typeface="Arial MT"/>
              </a:rPr>
              <a:t>	</a:t>
            </a:r>
            <a:r>
              <a:rPr dirty="0" sz="1200" spc="-15">
                <a:latin typeface="Arial MT"/>
                <a:cs typeface="Arial MT"/>
              </a:rPr>
              <a:t>c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15">
                <a:latin typeface="Arial MT"/>
                <a:cs typeface="Arial MT"/>
              </a:rPr>
              <a:t>n</a:t>
            </a:r>
            <a:r>
              <a:rPr dirty="0" sz="1200" spc="-5">
                <a:latin typeface="Arial MT"/>
                <a:cs typeface="Arial MT"/>
              </a:rPr>
              <a:t>e</a:t>
            </a:r>
            <a:r>
              <a:rPr dirty="0" sz="1200">
                <a:latin typeface="Arial MT"/>
                <a:cs typeface="Arial MT"/>
              </a:rPr>
              <a:t>cti</a:t>
            </a:r>
            <a:r>
              <a:rPr dirty="0" sz="1200" spc="-15">
                <a:latin typeface="Arial MT"/>
                <a:cs typeface="Arial MT"/>
              </a:rPr>
              <a:t>o</a:t>
            </a:r>
            <a:r>
              <a:rPr dirty="0" sz="1200" spc="-5">
                <a:latin typeface="Arial MT"/>
                <a:cs typeface="Arial MT"/>
              </a:rPr>
              <a:t>n  </a:t>
            </a:r>
            <a:r>
              <a:rPr dirty="0" sz="1200" spc="-5">
                <a:latin typeface="Arial MT"/>
                <a:cs typeface="Arial MT"/>
              </a:rPr>
              <a:t>are		together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22465" y="10632185"/>
            <a:ext cx="675640" cy="55308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  <a:tabLst>
                <a:tab pos="281940" algn="l"/>
              </a:tabLst>
            </a:pP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5">
                <a:latin typeface="Arial MT"/>
                <a:cs typeface="Arial MT"/>
              </a:rPr>
              <a:t>	</a:t>
            </a:r>
            <a:r>
              <a:rPr dirty="0" sz="1200" spc="-10">
                <a:latin typeface="Arial MT"/>
                <a:cs typeface="Arial MT"/>
              </a:rPr>
              <a:t>t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5">
                <a:latin typeface="Arial MT"/>
                <a:cs typeface="Arial MT"/>
              </a:rPr>
              <a:t>m</a:t>
            </a:r>
            <a:r>
              <a:rPr dirty="0" sz="120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35"/>
              </a:spcBef>
              <a:tabLst>
                <a:tab pos="449580" algn="l"/>
              </a:tabLst>
            </a:pPr>
            <a:r>
              <a:rPr dirty="0" sz="1200" spc="-5">
                <a:latin typeface="Arial MT"/>
                <a:cs typeface="Arial MT"/>
              </a:rPr>
              <a:t>b</a:t>
            </a:r>
            <a:r>
              <a:rPr dirty="0" sz="1200" spc="-15">
                <a:latin typeface="Arial MT"/>
                <a:cs typeface="Arial MT"/>
              </a:rPr>
              <a:t>u</a:t>
            </a:r>
            <a:r>
              <a:rPr dirty="0" sz="1200">
                <a:latin typeface="Arial MT"/>
                <a:cs typeface="Arial MT"/>
              </a:rPr>
              <a:t>t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>
                <a:latin typeface="Arial MT"/>
                <a:cs typeface="Arial MT"/>
              </a:rPr>
              <a:t>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10368533"/>
            <a:ext cx="2366645" cy="1343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634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The above are four circles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 subjects. There is </a:t>
            </a:r>
            <a:r>
              <a:rPr dirty="0" sz="1200">
                <a:latin typeface="Arial MT"/>
                <a:cs typeface="Arial MT"/>
              </a:rPr>
              <a:t> They </a:t>
            </a:r>
            <a:r>
              <a:rPr dirty="0" sz="1200" spc="-5">
                <a:latin typeface="Arial MT"/>
                <a:cs typeface="Arial MT"/>
              </a:rPr>
              <a:t>are all different.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connected.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four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 spc="4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timetable</a:t>
            </a:r>
            <a:r>
              <a:rPr dirty="0" sz="1200" spc="43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4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4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9338" y="11159540"/>
            <a:ext cx="3958590" cy="55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072639">
              <a:lnSpc>
                <a:spcPct val="1441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subjects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taught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times.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four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connected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40000" y="9407525"/>
            <a:ext cx="1274445" cy="2030095"/>
            <a:chOff x="2540000" y="9407525"/>
            <a:chExt cx="1274445" cy="2030095"/>
          </a:xfrm>
        </p:grpSpPr>
        <p:sp>
          <p:nvSpPr>
            <p:cNvPr id="9" name="object 9"/>
            <p:cNvSpPr/>
            <p:nvPr/>
          </p:nvSpPr>
          <p:spPr>
            <a:xfrm>
              <a:off x="2552191" y="9419716"/>
              <a:ext cx="857885" cy="981710"/>
            </a:xfrm>
            <a:custGeom>
              <a:avLst/>
              <a:gdLst/>
              <a:ahLst/>
              <a:cxnLst/>
              <a:rect l="l" t="t" r="r" b="b"/>
              <a:pathLst>
                <a:path w="857885" h="981709">
                  <a:moveTo>
                    <a:pt x="429768" y="0"/>
                  </a:moveTo>
                  <a:lnTo>
                    <a:pt x="385762" y="2530"/>
                  </a:lnTo>
                  <a:lnTo>
                    <a:pt x="343042" y="9959"/>
                  </a:lnTo>
                  <a:lnTo>
                    <a:pt x="301823" y="22040"/>
                  </a:lnTo>
                  <a:lnTo>
                    <a:pt x="262318" y="38528"/>
                  </a:lnTo>
                  <a:lnTo>
                    <a:pt x="224742" y="59177"/>
                  </a:lnTo>
                  <a:lnTo>
                    <a:pt x="189309" y="83742"/>
                  </a:lnTo>
                  <a:lnTo>
                    <a:pt x="156233" y="111977"/>
                  </a:lnTo>
                  <a:lnTo>
                    <a:pt x="125730" y="143637"/>
                  </a:lnTo>
                  <a:lnTo>
                    <a:pt x="98012" y="178475"/>
                  </a:lnTo>
                  <a:lnTo>
                    <a:pt x="73294" y="216247"/>
                  </a:lnTo>
                  <a:lnTo>
                    <a:pt x="51792" y="256706"/>
                  </a:lnTo>
                  <a:lnTo>
                    <a:pt x="33718" y="299608"/>
                  </a:lnTo>
                  <a:lnTo>
                    <a:pt x="19288" y="344707"/>
                  </a:lnTo>
                  <a:lnTo>
                    <a:pt x="8715" y="391757"/>
                  </a:lnTo>
                  <a:lnTo>
                    <a:pt x="2214" y="440512"/>
                  </a:lnTo>
                  <a:lnTo>
                    <a:pt x="0" y="490727"/>
                  </a:lnTo>
                  <a:lnTo>
                    <a:pt x="2214" y="540943"/>
                  </a:lnTo>
                  <a:lnTo>
                    <a:pt x="8715" y="589698"/>
                  </a:lnTo>
                  <a:lnTo>
                    <a:pt x="19288" y="636748"/>
                  </a:lnTo>
                  <a:lnTo>
                    <a:pt x="33718" y="681847"/>
                  </a:lnTo>
                  <a:lnTo>
                    <a:pt x="51792" y="724749"/>
                  </a:lnTo>
                  <a:lnTo>
                    <a:pt x="73294" y="765208"/>
                  </a:lnTo>
                  <a:lnTo>
                    <a:pt x="98012" y="802980"/>
                  </a:lnTo>
                  <a:lnTo>
                    <a:pt x="125730" y="837818"/>
                  </a:lnTo>
                  <a:lnTo>
                    <a:pt x="156233" y="869478"/>
                  </a:lnTo>
                  <a:lnTo>
                    <a:pt x="189309" y="897713"/>
                  </a:lnTo>
                  <a:lnTo>
                    <a:pt x="224742" y="922278"/>
                  </a:lnTo>
                  <a:lnTo>
                    <a:pt x="262318" y="942927"/>
                  </a:lnTo>
                  <a:lnTo>
                    <a:pt x="301823" y="959415"/>
                  </a:lnTo>
                  <a:lnTo>
                    <a:pt x="343042" y="971496"/>
                  </a:lnTo>
                  <a:lnTo>
                    <a:pt x="385762" y="978925"/>
                  </a:lnTo>
                  <a:lnTo>
                    <a:pt x="429768" y="981455"/>
                  </a:lnTo>
                  <a:lnTo>
                    <a:pt x="473482" y="978925"/>
                  </a:lnTo>
                  <a:lnTo>
                    <a:pt x="515948" y="971496"/>
                  </a:lnTo>
                  <a:lnTo>
                    <a:pt x="556947" y="959415"/>
                  </a:lnTo>
                  <a:lnTo>
                    <a:pt x="596263" y="942927"/>
                  </a:lnTo>
                  <a:lnTo>
                    <a:pt x="633679" y="922278"/>
                  </a:lnTo>
                  <a:lnTo>
                    <a:pt x="668978" y="897713"/>
                  </a:lnTo>
                  <a:lnTo>
                    <a:pt x="701945" y="869478"/>
                  </a:lnTo>
                  <a:lnTo>
                    <a:pt x="732361" y="837818"/>
                  </a:lnTo>
                  <a:lnTo>
                    <a:pt x="760011" y="802980"/>
                  </a:lnTo>
                  <a:lnTo>
                    <a:pt x="784677" y="765208"/>
                  </a:lnTo>
                  <a:lnTo>
                    <a:pt x="806143" y="724749"/>
                  </a:lnTo>
                  <a:lnTo>
                    <a:pt x="824192" y="681847"/>
                  </a:lnTo>
                  <a:lnTo>
                    <a:pt x="838607" y="636748"/>
                  </a:lnTo>
                  <a:lnTo>
                    <a:pt x="849172" y="589698"/>
                  </a:lnTo>
                  <a:lnTo>
                    <a:pt x="855670" y="540943"/>
                  </a:lnTo>
                  <a:lnTo>
                    <a:pt x="857884" y="490727"/>
                  </a:lnTo>
                  <a:lnTo>
                    <a:pt x="855670" y="440512"/>
                  </a:lnTo>
                  <a:lnTo>
                    <a:pt x="849172" y="391757"/>
                  </a:lnTo>
                  <a:lnTo>
                    <a:pt x="838607" y="344707"/>
                  </a:lnTo>
                  <a:lnTo>
                    <a:pt x="824192" y="299608"/>
                  </a:lnTo>
                  <a:lnTo>
                    <a:pt x="806143" y="256706"/>
                  </a:lnTo>
                  <a:lnTo>
                    <a:pt x="784677" y="216247"/>
                  </a:lnTo>
                  <a:lnTo>
                    <a:pt x="760011" y="178475"/>
                  </a:lnTo>
                  <a:lnTo>
                    <a:pt x="732361" y="143636"/>
                  </a:lnTo>
                  <a:lnTo>
                    <a:pt x="701945" y="111977"/>
                  </a:lnTo>
                  <a:lnTo>
                    <a:pt x="668978" y="83742"/>
                  </a:lnTo>
                  <a:lnTo>
                    <a:pt x="633679" y="59177"/>
                  </a:lnTo>
                  <a:lnTo>
                    <a:pt x="596263" y="38528"/>
                  </a:lnTo>
                  <a:lnTo>
                    <a:pt x="556947" y="22040"/>
                  </a:lnTo>
                  <a:lnTo>
                    <a:pt x="515948" y="9959"/>
                  </a:lnTo>
                  <a:lnTo>
                    <a:pt x="473482" y="2530"/>
                  </a:lnTo>
                  <a:lnTo>
                    <a:pt x="4297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540000" y="9407524"/>
              <a:ext cx="882650" cy="1005840"/>
            </a:xfrm>
            <a:custGeom>
              <a:avLst/>
              <a:gdLst/>
              <a:ahLst/>
              <a:cxnLst/>
              <a:rect l="l" t="t" r="r" b="b"/>
              <a:pathLst>
                <a:path w="882650" h="1005840">
                  <a:moveTo>
                    <a:pt x="882269" y="477012"/>
                  </a:moveTo>
                  <a:lnTo>
                    <a:pt x="877697" y="426720"/>
                  </a:lnTo>
                  <a:lnTo>
                    <a:pt x="868553" y="377952"/>
                  </a:lnTo>
                  <a:lnTo>
                    <a:pt x="857885" y="336423"/>
                  </a:lnTo>
                  <a:lnTo>
                    <a:pt x="857885" y="502920"/>
                  </a:lnTo>
                  <a:lnTo>
                    <a:pt x="854837" y="553212"/>
                  </a:lnTo>
                  <a:lnTo>
                    <a:pt x="848741" y="600456"/>
                  </a:lnTo>
                  <a:lnTo>
                    <a:pt x="831977" y="669036"/>
                  </a:lnTo>
                  <a:lnTo>
                    <a:pt x="815213" y="711708"/>
                  </a:lnTo>
                  <a:lnTo>
                    <a:pt x="796925" y="751332"/>
                  </a:lnTo>
                  <a:lnTo>
                    <a:pt x="761873" y="807720"/>
                  </a:lnTo>
                  <a:lnTo>
                    <a:pt x="734428" y="842772"/>
                  </a:lnTo>
                  <a:lnTo>
                    <a:pt x="705485" y="873252"/>
                  </a:lnTo>
                  <a:lnTo>
                    <a:pt x="688721" y="886968"/>
                  </a:lnTo>
                  <a:lnTo>
                    <a:pt x="673481" y="900684"/>
                  </a:lnTo>
                  <a:lnTo>
                    <a:pt x="620141" y="934212"/>
                  </a:lnTo>
                  <a:lnTo>
                    <a:pt x="583692" y="952500"/>
                  </a:lnTo>
                  <a:lnTo>
                    <a:pt x="524256" y="972312"/>
                  </a:lnTo>
                  <a:lnTo>
                    <a:pt x="483108" y="978408"/>
                  </a:lnTo>
                  <a:lnTo>
                    <a:pt x="441960" y="981329"/>
                  </a:lnTo>
                  <a:lnTo>
                    <a:pt x="440436" y="981456"/>
                  </a:lnTo>
                  <a:lnTo>
                    <a:pt x="399288" y="978408"/>
                  </a:lnTo>
                  <a:lnTo>
                    <a:pt x="338328" y="966216"/>
                  </a:lnTo>
                  <a:lnTo>
                    <a:pt x="298704" y="952500"/>
                  </a:lnTo>
                  <a:lnTo>
                    <a:pt x="262128" y="934212"/>
                  </a:lnTo>
                  <a:lnTo>
                    <a:pt x="225552" y="912876"/>
                  </a:lnTo>
                  <a:lnTo>
                    <a:pt x="193548" y="886968"/>
                  </a:lnTo>
                  <a:lnTo>
                    <a:pt x="161544" y="858012"/>
                  </a:lnTo>
                  <a:lnTo>
                    <a:pt x="120396" y="807720"/>
                  </a:lnTo>
                  <a:lnTo>
                    <a:pt x="97536" y="771144"/>
                  </a:lnTo>
                  <a:lnTo>
                    <a:pt x="85344" y="751332"/>
                  </a:lnTo>
                  <a:lnTo>
                    <a:pt x="57912" y="688848"/>
                  </a:lnTo>
                  <a:lnTo>
                    <a:pt x="44196" y="646176"/>
                  </a:lnTo>
                  <a:lnTo>
                    <a:pt x="33528" y="600456"/>
                  </a:lnTo>
                  <a:lnTo>
                    <a:pt x="27432" y="551688"/>
                  </a:lnTo>
                  <a:lnTo>
                    <a:pt x="25908" y="527304"/>
                  </a:lnTo>
                  <a:lnTo>
                    <a:pt x="25908" y="478536"/>
                  </a:lnTo>
                  <a:lnTo>
                    <a:pt x="27432" y="454152"/>
                  </a:lnTo>
                  <a:lnTo>
                    <a:pt x="33528" y="406908"/>
                  </a:lnTo>
                  <a:lnTo>
                    <a:pt x="39624" y="384048"/>
                  </a:lnTo>
                  <a:lnTo>
                    <a:pt x="44196" y="361188"/>
                  </a:lnTo>
                  <a:lnTo>
                    <a:pt x="51816" y="338328"/>
                  </a:lnTo>
                  <a:lnTo>
                    <a:pt x="57912" y="316992"/>
                  </a:lnTo>
                  <a:lnTo>
                    <a:pt x="76200" y="274320"/>
                  </a:lnTo>
                  <a:lnTo>
                    <a:pt x="97536" y="234696"/>
                  </a:lnTo>
                  <a:lnTo>
                    <a:pt x="108204" y="216408"/>
                  </a:lnTo>
                  <a:lnTo>
                    <a:pt x="121920" y="198120"/>
                  </a:lnTo>
                  <a:lnTo>
                    <a:pt x="134112" y="181356"/>
                  </a:lnTo>
                  <a:lnTo>
                    <a:pt x="178308" y="134112"/>
                  </a:lnTo>
                  <a:lnTo>
                    <a:pt x="210312" y="106680"/>
                  </a:lnTo>
                  <a:lnTo>
                    <a:pt x="243840" y="82308"/>
                  </a:lnTo>
                  <a:lnTo>
                    <a:pt x="280416" y="62484"/>
                  </a:lnTo>
                  <a:lnTo>
                    <a:pt x="338328" y="39624"/>
                  </a:lnTo>
                  <a:lnTo>
                    <a:pt x="379476" y="30480"/>
                  </a:lnTo>
                  <a:lnTo>
                    <a:pt x="420624" y="25908"/>
                  </a:lnTo>
                  <a:lnTo>
                    <a:pt x="441960" y="25908"/>
                  </a:lnTo>
                  <a:lnTo>
                    <a:pt x="463296" y="25908"/>
                  </a:lnTo>
                  <a:lnTo>
                    <a:pt x="504444" y="30480"/>
                  </a:lnTo>
                  <a:lnTo>
                    <a:pt x="565404" y="47244"/>
                  </a:lnTo>
                  <a:lnTo>
                    <a:pt x="583692" y="54864"/>
                  </a:lnTo>
                  <a:lnTo>
                    <a:pt x="603504" y="62484"/>
                  </a:lnTo>
                  <a:lnTo>
                    <a:pt x="621665" y="73152"/>
                  </a:lnTo>
                  <a:lnTo>
                    <a:pt x="639953" y="82308"/>
                  </a:lnTo>
                  <a:lnTo>
                    <a:pt x="673481" y="106680"/>
                  </a:lnTo>
                  <a:lnTo>
                    <a:pt x="705485" y="134112"/>
                  </a:lnTo>
                  <a:lnTo>
                    <a:pt x="749668" y="181356"/>
                  </a:lnTo>
                  <a:lnTo>
                    <a:pt x="761873" y="199644"/>
                  </a:lnTo>
                  <a:lnTo>
                    <a:pt x="774065" y="216408"/>
                  </a:lnTo>
                  <a:lnTo>
                    <a:pt x="796925" y="254508"/>
                  </a:lnTo>
                  <a:lnTo>
                    <a:pt x="816737" y="295656"/>
                  </a:lnTo>
                  <a:lnTo>
                    <a:pt x="831977" y="338328"/>
                  </a:lnTo>
                  <a:lnTo>
                    <a:pt x="844169" y="384048"/>
                  </a:lnTo>
                  <a:lnTo>
                    <a:pt x="854837" y="454152"/>
                  </a:lnTo>
                  <a:lnTo>
                    <a:pt x="857885" y="502920"/>
                  </a:lnTo>
                  <a:lnTo>
                    <a:pt x="857885" y="336423"/>
                  </a:lnTo>
                  <a:lnTo>
                    <a:pt x="856361" y="330708"/>
                  </a:lnTo>
                  <a:lnTo>
                    <a:pt x="848741" y="307848"/>
                  </a:lnTo>
                  <a:lnTo>
                    <a:pt x="839597" y="284988"/>
                  </a:lnTo>
                  <a:lnTo>
                    <a:pt x="828929" y="263652"/>
                  </a:lnTo>
                  <a:lnTo>
                    <a:pt x="819785" y="242316"/>
                  </a:lnTo>
                  <a:lnTo>
                    <a:pt x="795401" y="202692"/>
                  </a:lnTo>
                  <a:lnTo>
                    <a:pt x="781685" y="182880"/>
                  </a:lnTo>
                  <a:lnTo>
                    <a:pt x="767969" y="166116"/>
                  </a:lnTo>
                  <a:lnTo>
                    <a:pt x="754253" y="147828"/>
                  </a:lnTo>
                  <a:lnTo>
                    <a:pt x="705485" y="100596"/>
                  </a:lnTo>
                  <a:lnTo>
                    <a:pt x="670433" y="73152"/>
                  </a:lnTo>
                  <a:lnTo>
                    <a:pt x="632333" y="50292"/>
                  </a:lnTo>
                  <a:lnTo>
                    <a:pt x="614045" y="39624"/>
                  </a:lnTo>
                  <a:lnTo>
                    <a:pt x="573024" y="22860"/>
                  </a:lnTo>
                  <a:lnTo>
                    <a:pt x="509016" y="6096"/>
                  </a:lnTo>
                  <a:lnTo>
                    <a:pt x="441960" y="0"/>
                  </a:lnTo>
                  <a:lnTo>
                    <a:pt x="417576" y="0"/>
                  </a:lnTo>
                  <a:lnTo>
                    <a:pt x="373380" y="6096"/>
                  </a:lnTo>
                  <a:lnTo>
                    <a:pt x="309372" y="22860"/>
                  </a:lnTo>
                  <a:lnTo>
                    <a:pt x="268224" y="39624"/>
                  </a:lnTo>
                  <a:lnTo>
                    <a:pt x="249936" y="50292"/>
                  </a:lnTo>
                  <a:lnTo>
                    <a:pt x="230124" y="60960"/>
                  </a:lnTo>
                  <a:lnTo>
                    <a:pt x="193548" y="86868"/>
                  </a:lnTo>
                  <a:lnTo>
                    <a:pt x="143256" y="131064"/>
                  </a:lnTo>
                  <a:lnTo>
                    <a:pt x="86868" y="202692"/>
                  </a:lnTo>
                  <a:lnTo>
                    <a:pt x="64008" y="243840"/>
                  </a:lnTo>
                  <a:lnTo>
                    <a:pt x="53340" y="263652"/>
                  </a:lnTo>
                  <a:lnTo>
                    <a:pt x="35052" y="307848"/>
                  </a:lnTo>
                  <a:lnTo>
                    <a:pt x="19812" y="355092"/>
                  </a:lnTo>
                  <a:lnTo>
                    <a:pt x="4572" y="426720"/>
                  </a:lnTo>
                  <a:lnTo>
                    <a:pt x="0" y="502920"/>
                  </a:lnTo>
                  <a:lnTo>
                    <a:pt x="4572" y="580644"/>
                  </a:lnTo>
                  <a:lnTo>
                    <a:pt x="13716" y="629412"/>
                  </a:lnTo>
                  <a:lnTo>
                    <a:pt x="27432" y="676656"/>
                  </a:lnTo>
                  <a:lnTo>
                    <a:pt x="53340" y="742188"/>
                  </a:lnTo>
                  <a:lnTo>
                    <a:pt x="74676" y="784860"/>
                  </a:lnTo>
                  <a:lnTo>
                    <a:pt x="114300" y="841248"/>
                  </a:lnTo>
                  <a:lnTo>
                    <a:pt x="160020" y="891540"/>
                  </a:lnTo>
                  <a:lnTo>
                    <a:pt x="195072" y="920496"/>
                  </a:lnTo>
                  <a:lnTo>
                    <a:pt x="230124" y="944880"/>
                  </a:lnTo>
                  <a:lnTo>
                    <a:pt x="309372" y="984504"/>
                  </a:lnTo>
                  <a:lnTo>
                    <a:pt x="352044" y="996696"/>
                  </a:lnTo>
                  <a:lnTo>
                    <a:pt x="396240" y="1004316"/>
                  </a:lnTo>
                  <a:lnTo>
                    <a:pt x="419100" y="1005840"/>
                  </a:lnTo>
                  <a:lnTo>
                    <a:pt x="441960" y="1005840"/>
                  </a:lnTo>
                  <a:lnTo>
                    <a:pt x="464820" y="1005840"/>
                  </a:lnTo>
                  <a:lnTo>
                    <a:pt x="509016" y="1001268"/>
                  </a:lnTo>
                  <a:lnTo>
                    <a:pt x="553212" y="990600"/>
                  </a:lnTo>
                  <a:lnTo>
                    <a:pt x="573024" y="982980"/>
                  </a:lnTo>
                  <a:lnTo>
                    <a:pt x="594360" y="975360"/>
                  </a:lnTo>
                  <a:lnTo>
                    <a:pt x="633857" y="957072"/>
                  </a:lnTo>
                  <a:lnTo>
                    <a:pt x="652145" y="944880"/>
                  </a:lnTo>
                  <a:lnTo>
                    <a:pt x="671957" y="932688"/>
                  </a:lnTo>
                  <a:lnTo>
                    <a:pt x="723773" y="891540"/>
                  </a:lnTo>
                  <a:lnTo>
                    <a:pt x="769480" y="841248"/>
                  </a:lnTo>
                  <a:lnTo>
                    <a:pt x="819785" y="763524"/>
                  </a:lnTo>
                  <a:lnTo>
                    <a:pt x="839597" y="720852"/>
                  </a:lnTo>
                  <a:lnTo>
                    <a:pt x="856361" y="675132"/>
                  </a:lnTo>
                  <a:lnTo>
                    <a:pt x="874649" y="603504"/>
                  </a:lnTo>
                  <a:lnTo>
                    <a:pt x="880745" y="554736"/>
                  </a:lnTo>
                  <a:lnTo>
                    <a:pt x="882269" y="528828"/>
                  </a:lnTo>
                  <a:lnTo>
                    <a:pt x="882269" y="477012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877311" y="10320655"/>
              <a:ext cx="923925" cy="1104900"/>
            </a:xfrm>
            <a:custGeom>
              <a:avLst/>
              <a:gdLst/>
              <a:ahLst/>
              <a:cxnLst/>
              <a:rect l="l" t="t" r="r" b="b"/>
              <a:pathLst>
                <a:path w="923925" h="1104900">
                  <a:moveTo>
                    <a:pt x="461645" y="0"/>
                  </a:moveTo>
                  <a:lnTo>
                    <a:pt x="417275" y="2523"/>
                  </a:lnTo>
                  <a:lnTo>
                    <a:pt x="374080" y="9938"/>
                  </a:lnTo>
                  <a:lnTo>
                    <a:pt x="332254" y="22016"/>
                  </a:lnTo>
                  <a:lnTo>
                    <a:pt x="291993" y="38526"/>
                  </a:lnTo>
                  <a:lnTo>
                    <a:pt x="253493" y="59236"/>
                  </a:lnTo>
                  <a:lnTo>
                    <a:pt x="216949" y="83918"/>
                  </a:lnTo>
                  <a:lnTo>
                    <a:pt x="182556" y="112339"/>
                  </a:lnTo>
                  <a:lnTo>
                    <a:pt x="150510" y="144270"/>
                  </a:lnTo>
                  <a:lnTo>
                    <a:pt x="121008" y="179481"/>
                  </a:lnTo>
                  <a:lnTo>
                    <a:pt x="94244" y="217740"/>
                  </a:lnTo>
                  <a:lnTo>
                    <a:pt x="70414" y="258818"/>
                  </a:lnTo>
                  <a:lnTo>
                    <a:pt x="49713" y="302483"/>
                  </a:lnTo>
                  <a:lnTo>
                    <a:pt x="32338" y="348506"/>
                  </a:lnTo>
                  <a:lnTo>
                    <a:pt x="18483" y="396655"/>
                  </a:lnTo>
                  <a:lnTo>
                    <a:pt x="8345" y="446701"/>
                  </a:lnTo>
                  <a:lnTo>
                    <a:pt x="2118" y="498413"/>
                  </a:lnTo>
                  <a:lnTo>
                    <a:pt x="0" y="551561"/>
                  </a:lnTo>
                  <a:lnTo>
                    <a:pt x="2118" y="604724"/>
                  </a:lnTo>
                  <a:lnTo>
                    <a:pt x="8345" y="656483"/>
                  </a:lnTo>
                  <a:lnTo>
                    <a:pt x="18483" y="706602"/>
                  </a:lnTo>
                  <a:lnTo>
                    <a:pt x="32338" y="754847"/>
                  </a:lnTo>
                  <a:lnTo>
                    <a:pt x="49713" y="800983"/>
                  </a:lnTo>
                  <a:lnTo>
                    <a:pt x="70414" y="844775"/>
                  </a:lnTo>
                  <a:lnTo>
                    <a:pt x="94244" y="885990"/>
                  </a:lnTo>
                  <a:lnTo>
                    <a:pt x="121008" y="924393"/>
                  </a:lnTo>
                  <a:lnTo>
                    <a:pt x="150510" y="959749"/>
                  </a:lnTo>
                  <a:lnTo>
                    <a:pt x="182556" y="991824"/>
                  </a:lnTo>
                  <a:lnTo>
                    <a:pt x="216949" y="1020383"/>
                  </a:lnTo>
                  <a:lnTo>
                    <a:pt x="253493" y="1045191"/>
                  </a:lnTo>
                  <a:lnTo>
                    <a:pt x="291993" y="1066015"/>
                  </a:lnTo>
                  <a:lnTo>
                    <a:pt x="332254" y="1082620"/>
                  </a:lnTo>
                  <a:lnTo>
                    <a:pt x="374080" y="1094770"/>
                  </a:lnTo>
                  <a:lnTo>
                    <a:pt x="417275" y="1102233"/>
                  </a:lnTo>
                  <a:lnTo>
                    <a:pt x="461645" y="1104773"/>
                  </a:lnTo>
                  <a:lnTo>
                    <a:pt x="506273" y="1102233"/>
                  </a:lnTo>
                  <a:lnTo>
                    <a:pt x="549667" y="1094770"/>
                  </a:lnTo>
                  <a:lnTo>
                    <a:pt x="591638" y="1082620"/>
                  </a:lnTo>
                  <a:lnTo>
                    <a:pt x="631995" y="1066015"/>
                  </a:lnTo>
                  <a:lnTo>
                    <a:pt x="670549" y="1045191"/>
                  </a:lnTo>
                  <a:lnTo>
                    <a:pt x="707109" y="1020383"/>
                  </a:lnTo>
                  <a:lnTo>
                    <a:pt x="741486" y="991824"/>
                  </a:lnTo>
                  <a:lnTo>
                    <a:pt x="773490" y="959749"/>
                  </a:lnTo>
                  <a:lnTo>
                    <a:pt x="802931" y="924393"/>
                  </a:lnTo>
                  <a:lnTo>
                    <a:pt x="829619" y="885990"/>
                  </a:lnTo>
                  <a:lnTo>
                    <a:pt x="853365" y="844775"/>
                  </a:lnTo>
                  <a:lnTo>
                    <a:pt x="873979" y="800983"/>
                  </a:lnTo>
                  <a:lnTo>
                    <a:pt x="891270" y="754847"/>
                  </a:lnTo>
                  <a:lnTo>
                    <a:pt x="905049" y="706602"/>
                  </a:lnTo>
                  <a:lnTo>
                    <a:pt x="915127" y="656483"/>
                  </a:lnTo>
                  <a:lnTo>
                    <a:pt x="921312" y="604724"/>
                  </a:lnTo>
                  <a:lnTo>
                    <a:pt x="923416" y="551561"/>
                  </a:lnTo>
                  <a:lnTo>
                    <a:pt x="921312" y="498413"/>
                  </a:lnTo>
                  <a:lnTo>
                    <a:pt x="915127" y="446701"/>
                  </a:lnTo>
                  <a:lnTo>
                    <a:pt x="905049" y="396655"/>
                  </a:lnTo>
                  <a:lnTo>
                    <a:pt x="891270" y="348506"/>
                  </a:lnTo>
                  <a:lnTo>
                    <a:pt x="873979" y="302483"/>
                  </a:lnTo>
                  <a:lnTo>
                    <a:pt x="853365" y="258818"/>
                  </a:lnTo>
                  <a:lnTo>
                    <a:pt x="829619" y="217740"/>
                  </a:lnTo>
                  <a:lnTo>
                    <a:pt x="802931" y="179481"/>
                  </a:lnTo>
                  <a:lnTo>
                    <a:pt x="773490" y="144270"/>
                  </a:lnTo>
                  <a:lnTo>
                    <a:pt x="741486" y="112339"/>
                  </a:lnTo>
                  <a:lnTo>
                    <a:pt x="707109" y="83918"/>
                  </a:lnTo>
                  <a:lnTo>
                    <a:pt x="670549" y="59236"/>
                  </a:lnTo>
                  <a:lnTo>
                    <a:pt x="631995" y="38526"/>
                  </a:lnTo>
                  <a:lnTo>
                    <a:pt x="591638" y="22016"/>
                  </a:lnTo>
                  <a:lnTo>
                    <a:pt x="549667" y="9938"/>
                  </a:lnTo>
                  <a:lnTo>
                    <a:pt x="506273" y="2523"/>
                  </a:lnTo>
                  <a:lnTo>
                    <a:pt x="461645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865120" y="10306938"/>
              <a:ext cx="949325" cy="1130935"/>
            </a:xfrm>
            <a:custGeom>
              <a:avLst/>
              <a:gdLst/>
              <a:ahLst/>
              <a:cxnLst/>
              <a:rect l="l" t="t" r="r" b="b"/>
              <a:pathLst>
                <a:path w="949325" h="1130934">
                  <a:moveTo>
                    <a:pt x="949325" y="565277"/>
                  </a:moveTo>
                  <a:lnTo>
                    <a:pt x="946277" y="507365"/>
                  </a:lnTo>
                  <a:lnTo>
                    <a:pt x="934085" y="425069"/>
                  </a:lnTo>
                  <a:lnTo>
                    <a:pt x="923417" y="382092"/>
                  </a:lnTo>
                  <a:lnTo>
                    <a:pt x="923417" y="565277"/>
                  </a:lnTo>
                  <a:lnTo>
                    <a:pt x="923417" y="594233"/>
                  </a:lnTo>
                  <a:lnTo>
                    <a:pt x="914273" y="675005"/>
                  </a:lnTo>
                  <a:lnTo>
                    <a:pt x="895985" y="752729"/>
                  </a:lnTo>
                  <a:lnTo>
                    <a:pt x="886841" y="777113"/>
                  </a:lnTo>
                  <a:lnTo>
                    <a:pt x="879221" y="799973"/>
                  </a:lnTo>
                  <a:lnTo>
                    <a:pt x="857885" y="847217"/>
                  </a:lnTo>
                  <a:lnTo>
                    <a:pt x="833501" y="889889"/>
                  </a:lnTo>
                  <a:lnTo>
                    <a:pt x="806069" y="929513"/>
                  </a:lnTo>
                  <a:lnTo>
                    <a:pt x="775589" y="966089"/>
                  </a:lnTo>
                  <a:lnTo>
                    <a:pt x="742061" y="999617"/>
                  </a:lnTo>
                  <a:lnTo>
                    <a:pt x="723773" y="1013333"/>
                  </a:lnTo>
                  <a:lnTo>
                    <a:pt x="705485" y="1028573"/>
                  </a:lnTo>
                  <a:lnTo>
                    <a:pt x="667385" y="1052957"/>
                  </a:lnTo>
                  <a:lnTo>
                    <a:pt x="627761" y="1072769"/>
                  </a:lnTo>
                  <a:lnTo>
                    <a:pt x="563753" y="1094105"/>
                  </a:lnTo>
                  <a:lnTo>
                    <a:pt x="540893" y="1098677"/>
                  </a:lnTo>
                  <a:lnTo>
                    <a:pt x="519557" y="1103249"/>
                  </a:lnTo>
                  <a:lnTo>
                    <a:pt x="496697" y="1104773"/>
                  </a:lnTo>
                  <a:lnTo>
                    <a:pt x="473837" y="1104773"/>
                  </a:lnTo>
                  <a:lnTo>
                    <a:pt x="450977" y="1104773"/>
                  </a:lnTo>
                  <a:lnTo>
                    <a:pt x="405371" y="1098677"/>
                  </a:lnTo>
                  <a:lnTo>
                    <a:pt x="341376" y="1081913"/>
                  </a:lnTo>
                  <a:lnTo>
                    <a:pt x="300228" y="1063625"/>
                  </a:lnTo>
                  <a:lnTo>
                    <a:pt x="260604" y="1040765"/>
                  </a:lnTo>
                  <a:lnTo>
                    <a:pt x="224028" y="1013333"/>
                  </a:lnTo>
                  <a:lnTo>
                    <a:pt x="188976" y="982853"/>
                  </a:lnTo>
                  <a:lnTo>
                    <a:pt x="141732" y="929513"/>
                  </a:lnTo>
                  <a:lnTo>
                    <a:pt x="114300" y="889889"/>
                  </a:lnTo>
                  <a:lnTo>
                    <a:pt x="89916" y="845693"/>
                  </a:lnTo>
                  <a:lnTo>
                    <a:pt x="70104" y="799973"/>
                  </a:lnTo>
                  <a:lnTo>
                    <a:pt x="51816" y="751205"/>
                  </a:lnTo>
                  <a:lnTo>
                    <a:pt x="33528" y="675005"/>
                  </a:lnTo>
                  <a:lnTo>
                    <a:pt x="27432" y="620141"/>
                  </a:lnTo>
                  <a:lnTo>
                    <a:pt x="24384" y="565277"/>
                  </a:lnTo>
                  <a:lnTo>
                    <a:pt x="27432" y="510413"/>
                  </a:lnTo>
                  <a:lnTo>
                    <a:pt x="33528" y="455549"/>
                  </a:lnTo>
                  <a:lnTo>
                    <a:pt x="45720" y="403733"/>
                  </a:lnTo>
                  <a:lnTo>
                    <a:pt x="70104" y="330581"/>
                  </a:lnTo>
                  <a:lnTo>
                    <a:pt x="89916" y="284861"/>
                  </a:lnTo>
                  <a:lnTo>
                    <a:pt x="114300" y="242189"/>
                  </a:lnTo>
                  <a:lnTo>
                    <a:pt x="141732" y="201168"/>
                  </a:lnTo>
                  <a:lnTo>
                    <a:pt x="188976" y="147828"/>
                  </a:lnTo>
                  <a:lnTo>
                    <a:pt x="224028" y="117348"/>
                  </a:lnTo>
                  <a:lnTo>
                    <a:pt x="260604" y="89916"/>
                  </a:lnTo>
                  <a:lnTo>
                    <a:pt x="320040" y="57912"/>
                  </a:lnTo>
                  <a:lnTo>
                    <a:pt x="362712" y="42672"/>
                  </a:lnTo>
                  <a:lnTo>
                    <a:pt x="406908" y="32004"/>
                  </a:lnTo>
                  <a:lnTo>
                    <a:pt x="450977" y="25908"/>
                  </a:lnTo>
                  <a:lnTo>
                    <a:pt x="473837" y="25908"/>
                  </a:lnTo>
                  <a:lnTo>
                    <a:pt x="519557" y="28956"/>
                  </a:lnTo>
                  <a:lnTo>
                    <a:pt x="563753" y="36576"/>
                  </a:lnTo>
                  <a:lnTo>
                    <a:pt x="607949" y="50292"/>
                  </a:lnTo>
                  <a:lnTo>
                    <a:pt x="649097" y="68580"/>
                  </a:lnTo>
                  <a:lnTo>
                    <a:pt x="687197" y="91440"/>
                  </a:lnTo>
                  <a:lnTo>
                    <a:pt x="707009" y="103632"/>
                  </a:lnTo>
                  <a:lnTo>
                    <a:pt x="742061" y="132588"/>
                  </a:lnTo>
                  <a:lnTo>
                    <a:pt x="775589" y="166116"/>
                  </a:lnTo>
                  <a:lnTo>
                    <a:pt x="806069" y="202692"/>
                  </a:lnTo>
                  <a:lnTo>
                    <a:pt x="833501" y="242189"/>
                  </a:lnTo>
                  <a:lnTo>
                    <a:pt x="857885" y="284861"/>
                  </a:lnTo>
                  <a:lnTo>
                    <a:pt x="879221" y="330581"/>
                  </a:lnTo>
                  <a:lnTo>
                    <a:pt x="895985" y="379349"/>
                  </a:lnTo>
                  <a:lnTo>
                    <a:pt x="909701" y="431165"/>
                  </a:lnTo>
                  <a:lnTo>
                    <a:pt x="920369" y="510413"/>
                  </a:lnTo>
                  <a:lnTo>
                    <a:pt x="923417" y="565277"/>
                  </a:lnTo>
                  <a:lnTo>
                    <a:pt x="923417" y="382092"/>
                  </a:lnTo>
                  <a:lnTo>
                    <a:pt x="911225" y="345821"/>
                  </a:lnTo>
                  <a:lnTo>
                    <a:pt x="880745" y="272669"/>
                  </a:lnTo>
                  <a:lnTo>
                    <a:pt x="841121" y="207264"/>
                  </a:lnTo>
                  <a:lnTo>
                    <a:pt x="810641" y="166116"/>
                  </a:lnTo>
                  <a:lnTo>
                    <a:pt x="777113" y="129540"/>
                  </a:lnTo>
                  <a:lnTo>
                    <a:pt x="740537" y="97536"/>
                  </a:lnTo>
                  <a:lnTo>
                    <a:pt x="700913" y="68580"/>
                  </a:lnTo>
                  <a:lnTo>
                    <a:pt x="659765" y="45720"/>
                  </a:lnTo>
                  <a:lnTo>
                    <a:pt x="615569" y="25908"/>
                  </a:lnTo>
                  <a:lnTo>
                    <a:pt x="569849" y="12192"/>
                  </a:lnTo>
                  <a:lnTo>
                    <a:pt x="522605" y="3048"/>
                  </a:lnTo>
                  <a:lnTo>
                    <a:pt x="473837" y="0"/>
                  </a:lnTo>
                  <a:lnTo>
                    <a:pt x="425069" y="3048"/>
                  </a:lnTo>
                  <a:lnTo>
                    <a:pt x="377952" y="12192"/>
                  </a:lnTo>
                  <a:lnTo>
                    <a:pt x="332232" y="25908"/>
                  </a:lnTo>
                  <a:lnTo>
                    <a:pt x="266700" y="56388"/>
                  </a:lnTo>
                  <a:lnTo>
                    <a:pt x="207264" y="97536"/>
                  </a:lnTo>
                  <a:lnTo>
                    <a:pt x="170688" y="131064"/>
                  </a:lnTo>
                  <a:lnTo>
                    <a:pt x="137160" y="167640"/>
                  </a:lnTo>
                  <a:lnTo>
                    <a:pt x="106680" y="207264"/>
                  </a:lnTo>
                  <a:lnTo>
                    <a:pt x="79248" y="251333"/>
                  </a:lnTo>
                  <a:lnTo>
                    <a:pt x="56388" y="297053"/>
                  </a:lnTo>
                  <a:lnTo>
                    <a:pt x="36576" y="345821"/>
                  </a:lnTo>
                  <a:lnTo>
                    <a:pt x="19812" y="397637"/>
                  </a:lnTo>
                  <a:lnTo>
                    <a:pt x="4572" y="479933"/>
                  </a:lnTo>
                  <a:lnTo>
                    <a:pt x="0" y="536321"/>
                  </a:lnTo>
                  <a:lnTo>
                    <a:pt x="0" y="594233"/>
                  </a:lnTo>
                  <a:lnTo>
                    <a:pt x="1524" y="623189"/>
                  </a:lnTo>
                  <a:lnTo>
                    <a:pt x="4572" y="652145"/>
                  </a:lnTo>
                  <a:lnTo>
                    <a:pt x="13716" y="707009"/>
                  </a:lnTo>
                  <a:lnTo>
                    <a:pt x="21336" y="732917"/>
                  </a:lnTo>
                  <a:lnTo>
                    <a:pt x="27432" y="758825"/>
                  </a:lnTo>
                  <a:lnTo>
                    <a:pt x="45720" y="810641"/>
                  </a:lnTo>
                  <a:lnTo>
                    <a:pt x="56388" y="835025"/>
                  </a:lnTo>
                  <a:lnTo>
                    <a:pt x="67056" y="857885"/>
                  </a:lnTo>
                  <a:lnTo>
                    <a:pt x="80772" y="880745"/>
                  </a:lnTo>
                  <a:lnTo>
                    <a:pt x="92964" y="903605"/>
                  </a:lnTo>
                  <a:lnTo>
                    <a:pt x="121920" y="944753"/>
                  </a:lnTo>
                  <a:lnTo>
                    <a:pt x="153924" y="982853"/>
                  </a:lnTo>
                  <a:lnTo>
                    <a:pt x="188976" y="1017905"/>
                  </a:lnTo>
                  <a:lnTo>
                    <a:pt x="208788" y="1033145"/>
                  </a:lnTo>
                  <a:lnTo>
                    <a:pt x="227076" y="1048385"/>
                  </a:lnTo>
                  <a:lnTo>
                    <a:pt x="289560" y="1086485"/>
                  </a:lnTo>
                  <a:lnTo>
                    <a:pt x="332232" y="1104773"/>
                  </a:lnTo>
                  <a:lnTo>
                    <a:pt x="377952" y="1118489"/>
                  </a:lnTo>
                  <a:lnTo>
                    <a:pt x="449453" y="1130681"/>
                  </a:lnTo>
                  <a:lnTo>
                    <a:pt x="473837" y="1130681"/>
                  </a:lnTo>
                  <a:lnTo>
                    <a:pt x="498221" y="1130681"/>
                  </a:lnTo>
                  <a:lnTo>
                    <a:pt x="546989" y="1124585"/>
                  </a:lnTo>
                  <a:lnTo>
                    <a:pt x="569849" y="1118489"/>
                  </a:lnTo>
                  <a:lnTo>
                    <a:pt x="594233" y="1112393"/>
                  </a:lnTo>
                  <a:lnTo>
                    <a:pt x="638429" y="1095629"/>
                  </a:lnTo>
                  <a:lnTo>
                    <a:pt x="681101" y="1074293"/>
                  </a:lnTo>
                  <a:lnTo>
                    <a:pt x="720725" y="1048385"/>
                  </a:lnTo>
                  <a:lnTo>
                    <a:pt x="758825" y="1017905"/>
                  </a:lnTo>
                  <a:lnTo>
                    <a:pt x="810641" y="964565"/>
                  </a:lnTo>
                  <a:lnTo>
                    <a:pt x="841121" y="923417"/>
                  </a:lnTo>
                  <a:lnTo>
                    <a:pt x="868553" y="880745"/>
                  </a:lnTo>
                  <a:lnTo>
                    <a:pt x="902081" y="809117"/>
                  </a:lnTo>
                  <a:lnTo>
                    <a:pt x="920369" y="758825"/>
                  </a:lnTo>
                  <a:lnTo>
                    <a:pt x="934085" y="705485"/>
                  </a:lnTo>
                  <a:lnTo>
                    <a:pt x="943229" y="650621"/>
                  </a:lnTo>
                  <a:lnTo>
                    <a:pt x="946277" y="623189"/>
                  </a:lnTo>
                  <a:lnTo>
                    <a:pt x="949325" y="565277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4045584" y="9407525"/>
            <a:ext cx="1263650" cy="1974214"/>
            <a:chOff x="4045584" y="9407525"/>
            <a:chExt cx="1263650" cy="1974214"/>
          </a:xfrm>
        </p:grpSpPr>
        <p:sp>
          <p:nvSpPr>
            <p:cNvPr id="14" name="object 14"/>
            <p:cNvSpPr/>
            <p:nvPr/>
          </p:nvSpPr>
          <p:spPr>
            <a:xfrm>
              <a:off x="4057776" y="9419716"/>
              <a:ext cx="885825" cy="934719"/>
            </a:xfrm>
            <a:custGeom>
              <a:avLst/>
              <a:gdLst/>
              <a:ahLst/>
              <a:cxnLst/>
              <a:rect l="l" t="t" r="r" b="b"/>
              <a:pathLst>
                <a:path w="885825" h="934720">
                  <a:moveTo>
                    <a:pt x="443357" y="0"/>
                  </a:moveTo>
                  <a:lnTo>
                    <a:pt x="397964" y="2408"/>
                  </a:lnTo>
                  <a:lnTo>
                    <a:pt x="353896" y="9477"/>
                  </a:lnTo>
                  <a:lnTo>
                    <a:pt x="311375" y="20975"/>
                  </a:lnTo>
                  <a:lnTo>
                    <a:pt x="270623" y="36671"/>
                  </a:lnTo>
                  <a:lnTo>
                    <a:pt x="231859" y="56331"/>
                  </a:lnTo>
                  <a:lnTo>
                    <a:pt x="195305" y="79724"/>
                  </a:lnTo>
                  <a:lnTo>
                    <a:pt x="161183" y="106617"/>
                  </a:lnTo>
                  <a:lnTo>
                    <a:pt x="129714" y="136778"/>
                  </a:lnTo>
                  <a:lnTo>
                    <a:pt x="101119" y="169976"/>
                  </a:lnTo>
                  <a:lnTo>
                    <a:pt x="75618" y="205978"/>
                  </a:lnTo>
                  <a:lnTo>
                    <a:pt x="53434" y="244551"/>
                  </a:lnTo>
                  <a:lnTo>
                    <a:pt x="34788" y="285464"/>
                  </a:lnTo>
                  <a:lnTo>
                    <a:pt x="19900" y="328484"/>
                  </a:lnTo>
                  <a:lnTo>
                    <a:pt x="8991" y="373379"/>
                  </a:lnTo>
                  <a:lnTo>
                    <a:pt x="2284" y="419918"/>
                  </a:lnTo>
                  <a:lnTo>
                    <a:pt x="0" y="467867"/>
                  </a:lnTo>
                  <a:lnTo>
                    <a:pt x="2284" y="515549"/>
                  </a:lnTo>
                  <a:lnTo>
                    <a:pt x="8991" y="561852"/>
                  </a:lnTo>
                  <a:lnTo>
                    <a:pt x="19900" y="606544"/>
                  </a:lnTo>
                  <a:lnTo>
                    <a:pt x="34788" y="649390"/>
                  </a:lnTo>
                  <a:lnTo>
                    <a:pt x="53434" y="690155"/>
                  </a:lnTo>
                  <a:lnTo>
                    <a:pt x="75618" y="728605"/>
                  </a:lnTo>
                  <a:lnTo>
                    <a:pt x="101119" y="764506"/>
                  </a:lnTo>
                  <a:lnTo>
                    <a:pt x="129714" y="797623"/>
                  </a:lnTo>
                  <a:lnTo>
                    <a:pt x="161183" y="827722"/>
                  </a:lnTo>
                  <a:lnTo>
                    <a:pt x="195305" y="854568"/>
                  </a:lnTo>
                  <a:lnTo>
                    <a:pt x="231859" y="877927"/>
                  </a:lnTo>
                  <a:lnTo>
                    <a:pt x="270623" y="897564"/>
                  </a:lnTo>
                  <a:lnTo>
                    <a:pt x="311375" y="913246"/>
                  </a:lnTo>
                  <a:lnTo>
                    <a:pt x="353896" y="924737"/>
                  </a:lnTo>
                  <a:lnTo>
                    <a:pt x="397964" y="931804"/>
                  </a:lnTo>
                  <a:lnTo>
                    <a:pt x="443357" y="934211"/>
                  </a:lnTo>
                  <a:lnTo>
                    <a:pt x="488504" y="931804"/>
                  </a:lnTo>
                  <a:lnTo>
                    <a:pt x="532356" y="924737"/>
                  </a:lnTo>
                  <a:lnTo>
                    <a:pt x="574690" y="913246"/>
                  </a:lnTo>
                  <a:lnTo>
                    <a:pt x="615283" y="897564"/>
                  </a:lnTo>
                  <a:lnTo>
                    <a:pt x="653911" y="877927"/>
                  </a:lnTo>
                  <a:lnTo>
                    <a:pt x="690352" y="854568"/>
                  </a:lnTo>
                  <a:lnTo>
                    <a:pt x="724381" y="827722"/>
                  </a:lnTo>
                  <a:lnTo>
                    <a:pt x="755777" y="797623"/>
                  </a:lnTo>
                  <a:lnTo>
                    <a:pt x="784314" y="764506"/>
                  </a:lnTo>
                  <a:lnTo>
                    <a:pt x="809771" y="728605"/>
                  </a:lnTo>
                  <a:lnTo>
                    <a:pt x="831924" y="690155"/>
                  </a:lnTo>
                  <a:lnTo>
                    <a:pt x="850550" y="649390"/>
                  </a:lnTo>
                  <a:lnTo>
                    <a:pt x="865426" y="606544"/>
                  </a:lnTo>
                  <a:lnTo>
                    <a:pt x="876327" y="561852"/>
                  </a:lnTo>
                  <a:lnTo>
                    <a:pt x="883032" y="515549"/>
                  </a:lnTo>
                  <a:lnTo>
                    <a:pt x="885317" y="467867"/>
                  </a:lnTo>
                  <a:lnTo>
                    <a:pt x="883032" y="419918"/>
                  </a:lnTo>
                  <a:lnTo>
                    <a:pt x="876327" y="373379"/>
                  </a:lnTo>
                  <a:lnTo>
                    <a:pt x="865426" y="328484"/>
                  </a:lnTo>
                  <a:lnTo>
                    <a:pt x="850550" y="285464"/>
                  </a:lnTo>
                  <a:lnTo>
                    <a:pt x="831924" y="244551"/>
                  </a:lnTo>
                  <a:lnTo>
                    <a:pt x="809771" y="205978"/>
                  </a:lnTo>
                  <a:lnTo>
                    <a:pt x="784314" y="169976"/>
                  </a:lnTo>
                  <a:lnTo>
                    <a:pt x="755777" y="136778"/>
                  </a:lnTo>
                  <a:lnTo>
                    <a:pt x="724381" y="106617"/>
                  </a:lnTo>
                  <a:lnTo>
                    <a:pt x="690352" y="79724"/>
                  </a:lnTo>
                  <a:lnTo>
                    <a:pt x="653911" y="56331"/>
                  </a:lnTo>
                  <a:lnTo>
                    <a:pt x="615283" y="36671"/>
                  </a:lnTo>
                  <a:lnTo>
                    <a:pt x="574690" y="20975"/>
                  </a:lnTo>
                  <a:lnTo>
                    <a:pt x="532356" y="9477"/>
                  </a:lnTo>
                  <a:lnTo>
                    <a:pt x="488504" y="2408"/>
                  </a:lnTo>
                  <a:lnTo>
                    <a:pt x="44335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45585" y="9407524"/>
              <a:ext cx="911225" cy="958850"/>
            </a:xfrm>
            <a:custGeom>
              <a:avLst/>
              <a:gdLst/>
              <a:ahLst/>
              <a:cxnLst/>
              <a:rect l="l" t="t" r="r" b="b"/>
              <a:pathLst>
                <a:path w="911225" h="958850">
                  <a:moveTo>
                    <a:pt x="911225" y="478536"/>
                  </a:moveTo>
                  <a:lnTo>
                    <a:pt x="908177" y="429768"/>
                  </a:lnTo>
                  <a:lnTo>
                    <a:pt x="900557" y="382524"/>
                  </a:lnTo>
                  <a:lnTo>
                    <a:pt x="889889" y="336804"/>
                  </a:lnTo>
                  <a:lnTo>
                    <a:pt x="885317" y="323088"/>
                  </a:lnTo>
                  <a:lnTo>
                    <a:pt x="885317" y="455676"/>
                  </a:lnTo>
                  <a:lnTo>
                    <a:pt x="885317" y="502920"/>
                  </a:lnTo>
                  <a:lnTo>
                    <a:pt x="882269" y="525780"/>
                  </a:lnTo>
                  <a:lnTo>
                    <a:pt x="880745" y="548640"/>
                  </a:lnTo>
                  <a:lnTo>
                    <a:pt x="876173" y="571500"/>
                  </a:lnTo>
                  <a:lnTo>
                    <a:pt x="865505" y="615696"/>
                  </a:lnTo>
                  <a:lnTo>
                    <a:pt x="851789" y="656844"/>
                  </a:lnTo>
                  <a:lnTo>
                    <a:pt x="833501" y="696468"/>
                  </a:lnTo>
                  <a:lnTo>
                    <a:pt x="810641" y="734568"/>
                  </a:lnTo>
                  <a:lnTo>
                    <a:pt x="758825" y="801624"/>
                  </a:lnTo>
                  <a:lnTo>
                    <a:pt x="743585" y="815340"/>
                  </a:lnTo>
                  <a:lnTo>
                    <a:pt x="728345" y="830580"/>
                  </a:lnTo>
                  <a:lnTo>
                    <a:pt x="678053" y="868680"/>
                  </a:lnTo>
                  <a:lnTo>
                    <a:pt x="641477" y="888492"/>
                  </a:lnTo>
                  <a:lnTo>
                    <a:pt x="601853" y="906780"/>
                  </a:lnTo>
                  <a:lnTo>
                    <a:pt x="562229" y="918972"/>
                  </a:lnTo>
                  <a:lnTo>
                    <a:pt x="498221" y="931164"/>
                  </a:lnTo>
                  <a:lnTo>
                    <a:pt x="454787" y="934085"/>
                  </a:lnTo>
                  <a:lnTo>
                    <a:pt x="454025" y="934212"/>
                  </a:lnTo>
                  <a:lnTo>
                    <a:pt x="411353" y="931164"/>
                  </a:lnTo>
                  <a:lnTo>
                    <a:pt x="388493" y="928116"/>
                  </a:lnTo>
                  <a:lnTo>
                    <a:pt x="368681" y="923544"/>
                  </a:lnTo>
                  <a:lnTo>
                    <a:pt x="347345" y="918972"/>
                  </a:lnTo>
                  <a:lnTo>
                    <a:pt x="306324" y="905256"/>
                  </a:lnTo>
                  <a:lnTo>
                    <a:pt x="268224" y="888492"/>
                  </a:lnTo>
                  <a:lnTo>
                    <a:pt x="231648" y="867156"/>
                  </a:lnTo>
                  <a:lnTo>
                    <a:pt x="214884" y="856488"/>
                  </a:lnTo>
                  <a:lnTo>
                    <a:pt x="198120" y="842772"/>
                  </a:lnTo>
                  <a:lnTo>
                    <a:pt x="181356" y="830580"/>
                  </a:lnTo>
                  <a:lnTo>
                    <a:pt x="150876" y="800100"/>
                  </a:lnTo>
                  <a:lnTo>
                    <a:pt x="109728" y="751332"/>
                  </a:lnTo>
                  <a:lnTo>
                    <a:pt x="76200" y="696468"/>
                  </a:lnTo>
                  <a:lnTo>
                    <a:pt x="57912" y="656844"/>
                  </a:lnTo>
                  <a:lnTo>
                    <a:pt x="38100" y="592836"/>
                  </a:lnTo>
                  <a:lnTo>
                    <a:pt x="27432" y="525780"/>
                  </a:lnTo>
                  <a:lnTo>
                    <a:pt x="24384" y="478536"/>
                  </a:lnTo>
                  <a:lnTo>
                    <a:pt x="27432" y="432816"/>
                  </a:lnTo>
                  <a:lnTo>
                    <a:pt x="33528" y="387096"/>
                  </a:lnTo>
                  <a:lnTo>
                    <a:pt x="44196" y="344424"/>
                  </a:lnTo>
                  <a:lnTo>
                    <a:pt x="59436" y="301752"/>
                  </a:lnTo>
                  <a:lnTo>
                    <a:pt x="77724" y="262128"/>
                  </a:lnTo>
                  <a:lnTo>
                    <a:pt x="86868" y="243840"/>
                  </a:lnTo>
                  <a:lnTo>
                    <a:pt x="111252" y="207264"/>
                  </a:lnTo>
                  <a:lnTo>
                    <a:pt x="137160" y="173736"/>
                  </a:lnTo>
                  <a:lnTo>
                    <a:pt x="166116" y="143256"/>
                  </a:lnTo>
                  <a:lnTo>
                    <a:pt x="214884" y="102120"/>
                  </a:lnTo>
                  <a:lnTo>
                    <a:pt x="233172" y="91440"/>
                  </a:lnTo>
                  <a:lnTo>
                    <a:pt x="249936" y="79248"/>
                  </a:lnTo>
                  <a:lnTo>
                    <a:pt x="269748" y="70104"/>
                  </a:lnTo>
                  <a:lnTo>
                    <a:pt x="288036" y="60960"/>
                  </a:lnTo>
                  <a:lnTo>
                    <a:pt x="327533" y="45720"/>
                  </a:lnTo>
                  <a:lnTo>
                    <a:pt x="347345" y="39624"/>
                  </a:lnTo>
                  <a:lnTo>
                    <a:pt x="390017" y="30480"/>
                  </a:lnTo>
                  <a:lnTo>
                    <a:pt x="411353" y="27432"/>
                  </a:lnTo>
                  <a:lnTo>
                    <a:pt x="432689" y="25908"/>
                  </a:lnTo>
                  <a:lnTo>
                    <a:pt x="454787" y="25908"/>
                  </a:lnTo>
                  <a:lnTo>
                    <a:pt x="476885" y="25908"/>
                  </a:lnTo>
                  <a:lnTo>
                    <a:pt x="521081" y="30480"/>
                  </a:lnTo>
                  <a:lnTo>
                    <a:pt x="562229" y="39624"/>
                  </a:lnTo>
                  <a:lnTo>
                    <a:pt x="623189" y="60960"/>
                  </a:lnTo>
                  <a:lnTo>
                    <a:pt x="678053" y="91440"/>
                  </a:lnTo>
                  <a:lnTo>
                    <a:pt x="694817" y="103644"/>
                  </a:lnTo>
                  <a:lnTo>
                    <a:pt x="713105" y="115824"/>
                  </a:lnTo>
                  <a:lnTo>
                    <a:pt x="743585" y="143256"/>
                  </a:lnTo>
                  <a:lnTo>
                    <a:pt x="774065" y="173736"/>
                  </a:lnTo>
                  <a:lnTo>
                    <a:pt x="786257" y="190500"/>
                  </a:lnTo>
                  <a:lnTo>
                    <a:pt x="799973" y="207264"/>
                  </a:lnTo>
                  <a:lnTo>
                    <a:pt x="822833" y="243840"/>
                  </a:lnTo>
                  <a:lnTo>
                    <a:pt x="842645" y="281940"/>
                  </a:lnTo>
                  <a:lnTo>
                    <a:pt x="859409" y="323088"/>
                  </a:lnTo>
                  <a:lnTo>
                    <a:pt x="871601" y="365760"/>
                  </a:lnTo>
                  <a:lnTo>
                    <a:pt x="876173" y="388620"/>
                  </a:lnTo>
                  <a:lnTo>
                    <a:pt x="880745" y="409956"/>
                  </a:lnTo>
                  <a:lnTo>
                    <a:pt x="882269" y="432816"/>
                  </a:lnTo>
                  <a:lnTo>
                    <a:pt x="885317" y="455676"/>
                  </a:lnTo>
                  <a:lnTo>
                    <a:pt x="885317" y="323088"/>
                  </a:lnTo>
                  <a:lnTo>
                    <a:pt x="865505" y="271272"/>
                  </a:lnTo>
                  <a:lnTo>
                    <a:pt x="844169" y="231648"/>
                  </a:lnTo>
                  <a:lnTo>
                    <a:pt x="819785" y="192024"/>
                  </a:lnTo>
                  <a:lnTo>
                    <a:pt x="806069" y="175260"/>
                  </a:lnTo>
                  <a:lnTo>
                    <a:pt x="792353" y="156972"/>
                  </a:lnTo>
                  <a:lnTo>
                    <a:pt x="761873" y="124968"/>
                  </a:lnTo>
                  <a:lnTo>
                    <a:pt x="728345" y="96012"/>
                  </a:lnTo>
                  <a:lnTo>
                    <a:pt x="691769" y="70104"/>
                  </a:lnTo>
                  <a:lnTo>
                    <a:pt x="652145" y="47244"/>
                  </a:lnTo>
                  <a:lnTo>
                    <a:pt x="610997" y="28956"/>
                  </a:lnTo>
                  <a:lnTo>
                    <a:pt x="546989" y="9144"/>
                  </a:lnTo>
                  <a:lnTo>
                    <a:pt x="478409" y="0"/>
                  </a:lnTo>
                  <a:lnTo>
                    <a:pt x="454787" y="0"/>
                  </a:lnTo>
                  <a:lnTo>
                    <a:pt x="431165" y="0"/>
                  </a:lnTo>
                  <a:lnTo>
                    <a:pt x="362585" y="9144"/>
                  </a:lnTo>
                  <a:lnTo>
                    <a:pt x="341249" y="15240"/>
                  </a:lnTo>
                  <a:lnTo>
                    <a:pt x="318389" y="21336"/>
                  </a:lnTo>
                  <a:lnTo>
                    <a:pt x="257556" y="47244"/>
                  </a:lnTo>
                  <a:lnTo>
                    <a:pt x="217932" y="70104"/>
                  </a:lnTo>
                  <a:lnTo>
                    <a:pt x="181356" y="96012"/>
                  </a:lnTo>
                  <a:lnTo>
                    <a:pt x="147828" y="124968"/>
                  </a:lnTo>
                  <a:lnTo>
                    <a:pt x="117348" y="156972"/>
                  </a:lnTo>
                  <a:lnTo>
                    <a:pt x="76200" y="211836"/>
                  </a:lnTo>
                  <a:lnTo>
                    <a:pt x="54864" y="251460"/>
                  </a:lnTo>
                  <a:lnTo>
                    <a:pt x="35052" y="292608"/>
                  </a:lnTo>
                  <a:lnTo>
                    <a:pt x="27432" y="315468"/>
                  </a:lnTo>
                  <a:lnTo>
                    <a:pt x="19812" y="336804"/>
                  </a:lnTo>
                  <a:lnTo>
                    <a:pt x="13716" y="359664"/>
                  </a:lnTo>
                  <a:lnTo>
                    <a:pt x="9144" y="384048"/>
                  </a:lnTo>
                  <a:lnTo>
                    <a:pt x="4572" y="406908"/>
                  </a:lnTo>
                  <a:lnTo>
                    <a:pt x="1524" y="431292"/>
                  </a:lnTo>
                  <a:lnTo>
                    <a:pt x="0" y="455676"/>
                  </a:lnTo>
                  <a:lnTo>
                    <a:pt x="0" y="504444"/>
                  </a:lnTo>
                  <a:lnTo>
                    <a:pt x="4572" y="553212"/>
                  </a:lnTo>
                  <a:lnTo>
                    <a:pt x="13716" y="598932"/>
                  </a:lnTo>
                  <a:lnTo>
                    <a:pt x="27432" y="644652"/>
                  </a:lnTo>
                  <a:lnTo>
                    <a:pt x="44196" y="687324"/>
                  </a:lnTo>
                  <a:lnTo>
                    <a:pt x="65532" y="728472"/>
                  </a:lnTo>
                  <a:lnTo>
                    <a:pt x="89916" y="766572"/>
                  </a:lnTo>
                  <a:lnTo>
                    <a:pt x="117348" y="801624"/>
                  </a:lnTo>
                  <a:lnTo>
                    <a:pt x="149352" y="835152"/>
                  </a:lnTo>
                  <a:lnTo>
                    <a:pt x="182880" y="864108"/>
                  </a:lnTo>
                  <a:lnTo>
                    <a:pt x="219456" y="890016"/>
                  </a:lnTo>
                  <a:lnTo>
                    <a:pt x="277368" y="922020"/>
                  </a:lnTo>
                  <a:lnTo>
                    <a:pt x="319913" y="937260"/>
                  </a:lnTo>
                  <a:lnTo>
                    <a:pt x="362585" y="949452"/>
                  </a:lnTo>
                  <a:lnTo>
                    <a:pt x="408305" y="957072"/>
                  </a:lnTo>
                  <a:lnTo>
                    <a:pt x="431165" y="958596"/>
                  </a:lnTo>
                  <a:lnTo>
                    <a:pt x="454787" y="958596"/>
                  </a:lnTo>
                  <a:lnTo>
                    <a:pt x="478409" y="958596"/>
                  </a:lnTo>
                  <a:lnTo>
                    <a:pt x="524129" y="954024"/>
                  </a:lnTo>
                  <a:lnTo>
                    <a:pt x="569849" y="943356"/>
                  </a:lnTo>
                  <a:lnTo>
                    <a:pt x="612521" y="929640"/>
                  </a:lnTo>
                  <a:lnTo>
                    <a:pt x="632333" y="920496"/>
                  </a:lnTo>
                  <a:lnTo>
                    <a:pt x="653669" y="911352"/>
                  </a:lnTo>
                  <a:lnTo>
                    <a:pt x="691769" y="888492"/>
                  </a:lnTo>
                  <a:lnTo>
                    <a:pt x="728345" y="862584"/>
                  </a:lnTo>
                  <a:lnTo>
                    <a:pt x="761873" y="833628"/>
                  </a:lnTo>
                  <a:lnTo>
                    <a:pt x="792353" y="801624"/>
                  </a:lnTo>
                  <a:lnTo>
                    <a:pt x="819785" y="766572"/>
                  </a:lnTo>
                  <a:lnTo>
                    <a:pt x="844169" y="726948"/>
                  </a:lnTo>
                  <a:lnTo>
                    <a:pt x="856361" y="707136"/>
                  </a:lnTo>
                  <a:lnTo>
                    <a:pt x="865505" y="687324"/>
                  </a:lnTo>
                  <a:lnTo>
                    <a:pt x="883793" y="644652"/>
                  </a:lnTo>
                  <a:lnTo>
                    <a:pt x="902081" y="576072"/>
                  </a:lnTo>
                  <a:lnTo>
                    <a:pt x="908177" y="528828"/>
                  </a:lnTo>
                  <a:lnTo>
                    <a:pt x="911225" y="478536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353813" y="10271886"/>
              <a:ext cx="941705" cy="1096010"/>
            </a:xfrm>
            <a:custGeom>
              <a:avLst/>
              <a:gdLst/>
              <a:ahLst/>
              <a:cxnLst/>
              <a:rect l="l" t="t" r="r" b="b"/>
              <a:pathLst>
                <a:path w="941704" h="1096009">
                  <a:moveTo>
                    <a:pt x="470915" y="0"/>
                  </a:moveTo>
                  <a:lnTo>
                    <a:pt x="425481" y="2508"/>
                  </a:lnTo>
                  <a:lnTo>
                    <a:pt x="381286" y="9882"/>
                  </a:lnTo>
                  <a:lnTo>
                    <a:pt x="338527" y="21892"/>
                  </a:lnTo>
                  <a:lnTo>
                    <a:pt x="297397" y="38308"/>
                  </a:lnTo>
                  <a:lnTo>
                    <a:pt x="258094" y="58903"/>
                  </a:lnTo>
                  <a:lnTo>
                    <a:pt x="220811" y="83446"/>
                  </a:lnTo>
                  <a:lnTo>
                    <a:pt x="185746" y="111708"/>
                  </a:lnTo>
                  <a:lnTo>
                    <a:pt x="153092" y="143461"/>
                  </a:lnTo>
                  <a:lnTo>
                    <a:pt x="123046" y="178476"/>
                  </a:lnTo>
                  <a:lnTo>
                    <a:pt x="95803" y="216522"/>
                  </a:lnTo>
                  <a:lnTo>
                    <a:pt x="71558" y="257373"/>
                  </a:lnTo>
                  <a:lnTo>
                    <a:pt x="50507" y="300797"/>
                  </a:lnTo>
                  <a:lnTo>
                    <a:pt x="32846" y="346566"/>
                  </a:lnTo>
                  <a:lnTo>
                    <a:pt x="18769" y="394451"/>
                  </a:lnTo>
                  <a:lnTo>
                    <a:pt x="8472" y="444224"/>
                  </a:lnTo>
                  <a:lnTo>
                    <a:pt x="2150" y="495654"/>
                  </a:lnTo>
                  <a:lnTo>
                    <a:pt x="0" y="548513"/>
                  </a:lnTo>
                  <a:lnTo>
                    <a:pt x="2150" y="601139"/>
                  </a:lnTo>
                  <a:lnTo>
                    <a:pt x="8472" y="652364"/>
                  </a:lnTo>
                  <a:lnTo>
                    <a:pt x="18769" y="701957"/>
                  </a:lnTo>
                  <a:lnTo>
                    <a:pt x="32846" y="749687"/>
                  </a:lnTo>
                  <a:lnTo>
                    <a:pt x="50507" y="795323"/>
                  </a:lnTo>
                  <a:lnTo>
                    <a:pt x="71558" y="838634"/>
                  </a:lnTo>
                  <a:lnTo>
                    <a:pt x="95803" y="879390"/>
                  </a:lnTo>
                  <a:lnTo>
                    <a:pt x="123046" y="917360"/>
                  </a:lnTo>
                  <a:lnTo>
                    <a:pt x="153092" y="952312"/>
                  </a:lnTo>
                  <a:lnTo>
                    <a:pt x="185746" y="984017"/>
                  </a:lnTo>
                  <a:lnTo>
                    <a:pt x="220811" y="1012244"/>
                  </a:lnTo>
                  <a:lnTo>
                    <a:pt x="258094" y="1036761"/>
                  </a:lnTo>
                  <a:lnTo>
                    <a:pt x="297397" y="1057338"/>
                  </a:lnTo>
                  <a:lnTo>
                    <a:pt x="338527" y="1073744"/>
                  </a:lnTo>
                  <a:lnTo>
                    <a:pt x="381286" y="1085748"/>
                  </a:lnTo>
                  <a:lnTo>
                    <a:pt x="425481" y="1093120"/>
                  </a:lnTo>
                  <a:lnTo>
                    <a:pt x="470915" y="1095629"/>
                  </a:lnTo>
                  <a:lnTo>
                    <a:pt x="516329" y="1093120"/>
                  </a:lnTo>
                  <a:lnTo>
                    <a:pt x="560505" y="1085748"/>
                  </a:lnTo>
                  <a:lnTo>
                    <a:pt x="603248" y="1073744"/>
                  </a:lnTo>
                  <a:lnTo>
                    <a:pt x="644364" y="1057338"/>
                  </a:lnTo>
                  <a:lnTo>
                    <a:pt x="683655" y="1036761"/>
                  </a:lnTo>
                  <a:lnTo>
                    <a:pt x="720927" y="1012244"/>
                  </a:lnTo>
                  <a:lnTo>
                    <a:pt x="755984" y="984017"/>
                  </a:lnTo>
                  <a:lnTo>
                    <a:pt x="788631" y="952312"/>
                  </a:lnTo>
                  <a:lnTo>
                    <a:pt x="818671" y="917360"/>
                  </a:lnTo>
                  <a:lnTo>
                    <a:pt x="845910" y="879390"/>
                  </a:lnTo>
                  <a:lnTo>
                    <a:pt x="870151" y="838634"/>
                  </a:lnTo>
                  <a:lnTo>
                    <a:pt x="891200" y="795323"/>
                  </a:lnTo>
                  <a:lnTo>
                    <a:pt x="908860" y="749687"/>
                  </a:lnTo>
                  <a:lnTo>
                    <a:pt x="922936" y="701957"/>
                  </a:lnTo>
                  <a:lnTo>
                    <a:pt x="933233" y="652364"/>
                  </a:lnTo>
                  <a:lnTo>
                    <a:pt x="939554" y="601139"/>
                  </a:lnTo>
                  <a:lnTo>
                    <a:pt x="941705" y="548513"/>
                  </a:lnTo>
                  <a:lnTo>
                    <a:pt x="939554" y="495654"/>
                  </a:lnTo>
                  <a:lnTo>
                    <a:pt x="933233" y="444224"/>
                  </a:lnTo>
                  <a:lnTo>
                    <a:pt x="922936" y="394451"/>
                  </a:lnTo>
                  <a:lnTo>
                    <a:pt x="908860" y="346566"/>
                  </a:lnTo>
                  <a:lnTo>
                    <a:pt x="891200" y="300797"/>
                  </a:lnTo>
                  <a:lnTo>
                    <a:pt x="870151" y="257373"/>
                  </a:lnTo>
                  <a:lnTo>
                    <a:pt x="845910" y="216522"/>
                  </a:lnTo>
                  <a:lnTo>
                    <a:pt x="818671" y="178476"/>
                  </a:lnTo>
                  <a:lnTo>
                    <a:pt x="788631" y="143461"/>
                  </a:lnTo>
                  <a:lnTo>
                    <a:pt x="755984" y="111708"/>
                  </a:lnTo>
                  <a:lnTo>
                    <a:pt x="720927" y="83446"/>
                  </a:lnTo>
                  <a:lnTo>
                    <a:pt x="683655" y="58903"/>
                  </a:lnTo>
                  <a:lnTo>
                    <a:pt x="644364" y="38308"/>
                  </a:lnTo>
                  <a:lnTo>
                    <a:pt x="603248" y="21892"/>
                  </a:lnTo>
                  <a:lnTo>
                    <a:pt x="560505" y="9882"/>
                  </a:lnTo>
                  <a:lnTo>
                    <a:pt x="516329" y="2508"/>
                  </a:lnTo>
                  <a:lnTo>
                    <a:pt x="47091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340098" y="10259694"/>
              <a:ext cx="969644" cy="1122045"/>
            </a:xfrm>
            <a:custGeom>
              <a:avLst/>
              <a:gdLst/>
              <a:ahLst/>
              <a:cxnLst/>
              <a:rect l="l" t="t" r="r" b="b"/>
              <a:pathLst>
                <a:path w="969645" h="1122045">
                  <a:moveTo>
                    <a:pt x="969137" y="560705"/>
                  </a:moveTo>
                  <a:lnTo>
                    <a:pt x="966089" y="502793"/>
                  </a:lnTo>
                  <a:lnTo>
                    <a:pt x="953897" y="420497"/>
                  </a:lnTo>
                  <a:lnTo>
                    <a:pt x="943229" y="379044"/>
                  </a:lnTo>
                  <a:lnTo>
                    <a:pt x="943229" y="533273"/>
                  </a:lnTo>
                  <a:lnTo>
                    <a:pt x="943229" y="588137"/>
                  </a:lnTo>
                  <a:lnTo>
                    <a:pt x="941705" y="615569"/>
                  </a:lnTo>
                  <a:lnTo>
                    <a:pt x="938657" y="643001"/>
                  </a:lnTo>
                  <a:lnTo>
                    <a:pt x="929513" y="694817"/>
                  </a:lnTo>
                  <a:lnTo>
                    <a:pt x="921893" y="720725"/>
                  </a:lnTo>
                  <a:lnTo>
                    <a:pt x="915797" y="745109"/>
                  </a:lnTo>
                  <a:lnTo>
                    <a:pt x="897509" y="793877"/>
                  </a:lnTo>
                  <a:lnTo>
                    <a:pt x="876173" y="839597"/>
                  </a:lnTo>
                  <a:lnTo>
                    <a:pt x="851789" y="880745"/>
                  </a:lnTo>
                  <a:lnTo>
                    <a:pt x="822833" y="920369"/>
                  </a:lnTo>
                  <a:lnTo>
                    <a:pt x="807593" y="940181"/>
                  </a:lnTo>
                  <a:lnTo>
                    <a:pt x="792353" y="956945"/>
                  </a:lnTo>
                  <a:lnTo>
                    <a:pt x="758825" y="990473"/>
                  </a:lnTo>
                  <a:lnTo>
                    <a:pt x="740537" y="1004189"/>
                  </a:lnTo>
                  <a:lnTo>
                    <a:pt x="722249" y="1019429"/>
                  </a:lnTo>
                  <a:lnTo>
                    <a:pt x="682625" y="1043813"/>
                  </a:lnTo>
                  <a:lnTo>
                    <a:pt x="641477" y="1063625"/>
                  </a:lnTo>
                  <a:lnTo>
                    <a:pt x="598805" y="1078865"/>
                  </a:lnTo>
                  <a:lnTo>
                    <a:pt x="554736" y="1089533"/>
                  </a:lnTo>
                  <a:lnTo>
                    <a:pt x="484632" y="1095629"/>
                  </a:lnTo>
                  <a:lnTo>
                    <a:pt x="437388" y="1092581"/>
                  </a:lnTo>
                  <a:lnTo>
                    <a:pt x="391668" y="1084961"/>
                  </a:lnTo>
                  <a:lnTo>
                    <a:pt x="327660" y="1063625"/>
                  </a:lnTo>
                  <a:lnTo>
                    <a:pt x="266700" y="1031621"/>
                  </a:lnTo>
                  <a:lnTo>
                    <a:pt x="228600" y="1004189"/>
                  </a:lnTo>
                  <a:lnTo>
                    <a:pt x="193548" y="973709"/>
                  </a:lnTo>
                  <a:lnTo>
                    <a:pt x="146304" y="920369"/>
                  </a:lnTo>
                  <a:lnTo>
                    <a:pt x="117348" y="880745"/>
                  </a:lnTo>
                  <a:lnTo>
                    <a:pt x="92964" y="838073"/>
                  </a:lnTo>
                  <a:lnTo>
                    <a:pt x="62484" y="769493"/>
                  </a:lnTo>
                  <a:lnTo>
                    <a:pt x="47244" y="719201"/>
                  </a:lnTo>
                  <a:lnTo>
                    <a:pt x="41148" y="694817"/>
                  </a:lnTo>
                  <a:lnTo>
                    <a:pt x="35052" y="668909"/>
                  </a:lnTo>
                  <a:lnTo>
                    <a:pt x="25908" y="588137"/>
                  </a:lnTo>
                  <a:lnTo>
                    <a:pt x="25908" y="533273"/>
                  </a:lnTo>
                  <a:lnTo>
                    <a:pt x="35052" y="452501"/>
                  </a:lnTo>
                  <a:lnTo>
                    <a:pt x="47244" y="400685"/>
                  </a:lnTo>
                  <a:lnTo>
                    <a:pt x="71628" y="327533"/>
                  </a:lnTo>
                  <a:lnTo>
                    <a:pt x="92964" y="281813"/>
                  </a:lnTo>
                  <a:lnTo>
                    <a:pt x="117348" y="239268"/>
                  </a:lnTo>
                  <a:lnTo>
                    <a:pt x="146304" y="199644"/>
                  </a:lnTo>
                  <a:lnTo>
                    <a:pt x="176784" y="163068"/>
                  </a:lnTo>
                  <a:lnTo>
                    <a:pt x="211836" y="131064"/>
                  </a:lnTo>
                  <a:lnTo>
                    <a:pt x="228600" y="115824"/>
                  </a:lnTo>
                  <a:lnTo>
                    <a:pt x="266700" y="89916"/>
                  </a:lnTo>
                  <a:lnTo>
                    <a:pt x="307848" y="67056"/>
                  </a:lnTo>
                  <a:lnTo>
                    <a:pt x="348996" y="48768"/>
                  </a:lnTo>
                  <a:lnTo>
                    <a:pt x="393192" y="36576"/>
                  </a:lnTo>
                  <a:lnTo>
                    <a:pt x="461772" y="25908"/>
                  </a:lnTo>
                  <a:lnTo>
                    <a:pt x="484632" y="25908"/>
                  </a:lnTo>
                  <a:lnTo>
                    <a:pt x="509016" y="25908"/>
                  </a:lnTo>
                  <a:lnTo>
                    <a:pt x="554736" y="32004"/>
                  </a:lnTo>
                  <a:lnTo>
                    <a:pt x="598805" y="42672"/>
                  </a:lnTo>
                  <a:lnTo>
                    <a:pt x="641477" y="57912"/>
                  </a:lnTo>
                  <a:lnTo>
                    <a:pt x="682625" y="77724"/>
                  </a:lnTo>
                  <a:lnTo>
                    <a:pt x="722249" y="102108"/>
                  </a:lnTo>
                  <a:lnTo>
                    <a:pt x="740537" y="117348"/>
                  </a:lnTo>
                  <a:lnTo>
                    <a:pt x="758825" y="131064"/>
                  </a:lnTo>
                  <a:lnTo>
                    <a:pt x="809117" y="181356"/>
                  </a:lnTo>
                  <a:lnTo>
                    <a:pt x="824357" y="201168"/>
                  </a:lnTo>
                  <a:lnTo>
                    <a:pt x="838073" y="219456"/>
                  </a:lnTo>
                  <a:lnTo>
                    <a:pt x="851789" y="240792"/>
                  </a:lnTo>
                  <a:lnTo>
                    <a:pt x="865505" y="260604"/>
                  </a:lnTo>
                  <a:lnTo>
                    <a:pt x="876173" y="281813"/>
                  </a:lnTo>
                  <a:lnTo>
                    <a:pt x="888365" y="304673"/>
                  </a:lnTo>
                  <a:lnTo>
                    <a:pt x="897509" y="327533"/>
                  </a:lnTo>
                  <a:lnTo>
                    <a:pt x="915797" y="376301"/>
                  </a:lnTo>
                  <a:lnTo>
                    <a:pt x="929513" y="426593"/>
                  </a:lnTo>
                  <a:lnTo>
                    <a:pt x="938657" y="478409"/>
                  </a:lnTo>
                  <a:lnTo>
                    <a:pt x="943229" y="533273"/>
                  </a:lnTo>
                  <a:lnTo>
                    <a:pt x="943229" y="379044"/>
                  </a:lnTo>
                  <a:lnTo>
                    <a:pt x="931037" y="342773"/>
                  </a:lnTo>
                  <a:lnTo>
                    <a:pt x="911225" y="294005"/>
                  </a:lnTo>
                  <a:lnTo>
                    <a:pt x="886841" y="248412"/>
                  </a:lnTo>
                  <a:lnTo>
                    <a:pt x="859409" y="204216"/>
                  </a:lnTo>
                  <a:lnTo>
                    <a:pt x="827405" y="164592"/>
                  </a:lnTo>
                  <a:lnTo>
                    <a:pt x="793877" y="128016"/>
                  </a:lnTo>
                  <a:lnTo>
                    <a:pt x="755777" y="96012"/>
                  </a:lnTo>
                  <a:lnTo>
                    <a:pt x="716153" y="68580"/>
                  </a:lnTo>
                  <a:lnTo>
                    <a:pt x="673481" y="44196"/>
                  </a:lnTo>
                  <a:lnTo>
                    <a:pt x="629285" y="25908"/>
                  </a:lnTo>
                  <a:lnTo>
                    <a:pt x="557784" y="6096"/>
                  </a:lnTo>
                  <a:lnTo>
                    <a:pt x="484632" y="0"/>
                  </a:lnTo>
                  <a:lnTo>
                    <a:pt x="434340" y="3048"/>
                  </a:lnTo>
                  <a:lnTo>
                    <a:pt x="409956" y="6096"/>
                  </a:lnTo>
                  <a:lnTo>
                    <a:pt x="387096" y="12192"/>
                  </a:lnTo>
                  <a:lnTo>
                    <a:pt x="362712" y="18288"/>
                  </a:lnTo>
                  <a:lnTo>
                    <a:pt x="316992" y="35052"/>
                  </a:lnTo>
                  <a:lnTo>
                    <a:pt x="252984" y="68580"/>
                  </a:lnTo>
                  <a:lnTo>
                    <a:pt x="213360" y="96012"/>
                  </a:lnTo>
                  <a:lnTo>
                    <a:pt x="175260" y="129540"/>
                  </a:lnTo>
                  <a:lnTo>
                    <a:pt x="141732" y="164592"/>
                  </a:lnTo>
                  <a:lnTo>
                    <a:pt x="109728" y="205740"/>
                  </a:lnTo>
                  <a:lnTo>
                    <a:pt x="82296" y="248412"/>
                  </a:lnTo>
                  <a:lnTo>
                    <a:pt x="57912" y="294005"/>
                  </a:lnTo>
                  <a:lnTo>
                    <a:pt x="38100" y="342773"/>
                  </a:lnTo>
                  <a:lnTo>
                    <a:pt x="22860" y="394589"/>
                  </a:lnTo>
                  <a:lnTo>
                    <a:pt x="15240" y="420497"/>
                  </a:lnTo>
                  <a:lnTo>
                    <a:pt x="6096" y="475361"/>
                  </a:lnTo>
                  <a:lnTo>
                    <a:pt x="3048" y="504317"/>
                  </a:lnTo>
                  <a:lnTo>
                    <a:pt x="0" y="560705"/>
                  </a:lnTo>
                  <a:lnTo>
                    <a:pt x="3048" y="618617"/>
                  </a:lnTo>
                  <a:lnTo>
                    <a:pt x="15240" y="700913"/>
                  </a:lnTo>
                  <a:lnTo>
                    <a:pt x="38100" y="778637"/>
                  </a:lnTo>
                  <a:lnTo>
                    <a:pt x="59436" y="827405"/>
                  </a:lnTo>
                  <a:lnTo>
                    <a:pt x="82296" y="873125"/>
                  </a:lnTo>
                  <a:lnTo>
                    <a:pt x="111252" y="915809"/>
                  </a:lnTo>
                  <a:lnTo>
                    <a:pt x="126492" y="937133"/>
                  </a:lnTo>
                  <a:lnTo>
                    <a:pt x="158496" y="975233"/>
                  </a:lnTo>
                  <a:lnTo>
                    <a:pt x="213360" y="1025525"/>
                  </a:lnTo>
                  <a:lnTo>
                    <a:pt x="252984" y="1052957"/>
                  </a:lnTo>
                  <a:lnTo>
                    <a:pt x="295656" y="1077341"/>
                  </a:lnTo>
                  <a:lnTo>
                    <a:pt x="318516" y="1086485"/>
                  </a:lnTo>
                  <a:lnTo>
                    <a:pt x="339852" y="1095629"/>
                  </a:lnTo>
                  <a:lnTo>
                    <a:pt x="364236" y="1103249"/>
                  </a:lnTo>
                  <a:lnTo>
                    <a:pt x="387096" y="1109345"/>
                  </a:lnTo>
                  <a:lnTo>
                    <a:pt x="435864" y="1118489"/>
                  </a:lnTo>
                  <a:lnTo>
                    <a:pt x="484632" y="1121537"/>
                  </a:lnTo>
                  <a:lnTo>
                    <a:pt x="534924" y="1118489"/>
                  </a:lnTo>
                  <a:lnTo>
                    <a:pt x="583565" y="1109345"/>
                  </a:lnTo>
                  <a:lnTo>
                    <a:pt x="629285" y="1095629"/>
                  </a:lnTo>
                  <a:lnTo>
                    <a:pt x="694817" y="1065149"/>
                  </a:lnTo>
                  <a:lnTo>
                    <a:pt x="737489" y="1039241"/>
                  </a:lnTo>
                  <a:lnTo>
                    <a:pt x="755777" y="1024001"/>
                  </a:lnTo>
                  <a:lnTo>
                    <a:pt x="775589" y="1008761"/>
                  </a:lnTo>
                  <a:lnTo>
                    <a:pt x="827405" y="955421"/>
                  </a:lnTo>
                  <a:lnTo>
                    <a:pt x="859409" y="915809"/>
                  </a:lnTo>
                  <a:lnTo>
                    <a:pt x="886841" y="873125"/>
                  </a:lnTo>
                  <a:lnTo>
                    <a:pt x="911225" y="827405"/>
                  </a:lnTo>
                  <a:lnTo>
                    <a:pt x="931037" y="777113"/>
                  </a:lnTo>
                  <a:lnTo>
                    <a:pt x="940181" y="752729"/>
                  </a:lnTo>
                  <a:lnTo>
                    <a:pt x="953897" y="699389"/>
                  </a:lnTo>
                  <a:lnTo>
                    <a:pt x="963041" y="644525"/>
                  </a:lnTo>
                  <a:lnTo>
                    <a:pt x="966089" y="617093"/>
                  </a:lnTo>
                  <a:lnTo>
                    <a:pt x="969137" y="560705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384" y="575563"/>
            <a:ext cx="6405880" cy="3493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6034" marR="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fragmentation is a type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integration? Fragmentation is said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primary level of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integration. This integration is </a:t>
            </a:r>
            <a:r>
              <a:rPr dirty="0" sz="1200" spc="-10">
                <a:latin typeface="Arial MT"/>
                <a:cs typeface="Arial MT"/>
              </a:rPr>
              <a:t>done </a:t>
            </a:r>
            <a:r>
              <a:rPr dirty="0" sz="1200" b="1">
                <a:latin typeface="Arial"/>
                <a:cs typeface="Arial"/>
              </a:rPr>
              <a:t>when </a:t>
            </a:r>
            <a:r>
              <a:rPr dirty="0" sz="1200" spc="-5" b="1">
                <a:latin typeface="Arial"/>
                <a:cs typeface="Arial"/>
              </a:rPr>
              <a:t>a teacher </a:t>
            </a:r>
            <a:r>
              <a:rPr dirty="0" sz="1200" b="1">
                <a:latin typeface="Arial"/>
                <a:cs typeface="Arial"/>
              </a:rPr>
              <a:t>list or </a:t>
            </a:r>
            <a:r>
              <a:rPr dirty="0" sz="1200" spc="-5" b="1">
                <a:latin typeface="Arial"/>
                <a:cs typeface="Arial"/>
              </a:rPr>
              <a:t>rank topics, </a:t>
            </a:r>
            <a:r>
              <a:rPr dirty="0" sz="1200" b="1">
                <a:latin typeface="Arial"/>
                <a:cs typeface="Arial"/>
              </a:rPr>
              <a:t>concepts and </a:t>
            </a:r>
            <a:r>
              <a:rPr dirty="0" sz="1200" spc="-5" b="1">
                <a:latin typeface="Arial"/>
                <a:cs typeface="Arial"/>
              </a:rPr>
              <a:t>skills 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systematically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organize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curricular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priorities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within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each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subject. </a:t>
            </a:r>
            <a:r>
              <a:rPr dirty="0" sz="1200" spc="-5">
                <a:latin typeface="Arial MT"/>
                <a:cs typeface="Arial MT"/>
              </a:rPr>
              <a:t>Now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teach </a:t>
            </a:r>
            <a:r>
              <a:rPr dirty="0" sz="1200" spc="-5">
                <a:latin typeface="Arial MT"/>
                <a:cs typeface="Arial MT"/>
              </a:rPr>
              <a:t>a lesson to the students, he has to decide which lesson should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taught before it.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 are the prerequisites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lesson, and </a:t>
            </a:r>
            <a:r>
              <a:rPr dirty="0" sz="1200">
                <a:latin typeface="Arial MT"/>
                <a:cs typeface="Arial MT"/>
              </a:rPr>
              <a:t>what to </a:t>
            </a:r>
            <a:r>
              <a:rPr dirty="0" sz="1200" spc="-5">
                <a:latin typeface="Arial MT"/>
                <a:cs typeface="Arial MT"/>
              </a:rPr>
              <a:t>teach </a:t>
            </a:r>
            <a:r>
              <a:rPr dirty="0" sz="1200">
                <a:latin typeface="Arial MT"/>
                <a:cs typeface="Arial MT"/>
              </a:rPr>
              <a:t>after this </a:t>
            </a:r>
            <a:r>
              <a:rPr dirty="0" sz="1200" spc="-5">
                <a:latin typeface="Arial MT"/>
                <a:cs typeface="Arial MT"/>
              </a:rPr>
              <a:t>lesson. So, we can </a:t>
            </a:r>
            <a:r>
              <a:rPr dirty="0" sz="1200" spc="-10">
                <a:latin typeface="Arial MT"/>
                <a:cs typeface="Arial MT"/>
              </a:rPr>
              <a:t>say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lesson </a:t>
            </a:r>
            <a:r>
              <a:rPr dirty="0" sz="1200" spc="-5">
                <a:latin typeface="Arial MT"/>
                <a:cs typeface="Arial MT"/>
              </a:rPr>
              <a:t>has the integration with the previous </a:t>
            </a:r>
            <a:r>
              <a:rPr dirty="0" sz="1200">
                <a:latin typeface="Arial MT"/>
                <a:cs typeface="Arial MT"/>
              </a:rPr>
              <a:t>lesson </a:t>
            </a:r>
            <a:r>
              <a:rPr dirty="0" sz="1200" spc="-5">
                <a:latin typeface="Arial MT"/>
                <a:cs typeface="Arial MT"/>
              </a:rPr>
              <a:t>and the upcoming lesson.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teacher must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 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Arial MT"/>
              <a:cs typeface="Arial MT"/>
            </a:endParaRPr>
          </a:p>
          <a:p>
            <a:pPr algn="just" marL="19685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Form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1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Connection:</a:t>
            </a:r>
            <a:endParaRPr sz="1400">
              <a:latin typeface="Arial"/>
              <a:cs typeface="Arial"/>
            </a:endParaRPr>
          </a:p>
          <a:p>
            <a:pPr algn="just" marL="18415" indent="-6350">
              <a:lnSpc>
                <a:spcPct val="100000"/>
              </a:lnSpc>
              <a:spcBef>
                <a:spcPts val="550"/>
              </a:spcBef>
            </a:pP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connected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methodology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focuses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details,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subtitles,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interconnections</a:t>
            </a:r>
            <a:r>
              <a:rPr dirty="0" sz="1200" spc="-5" b="1">
                <a:latin typeface="Arial"/>
                <a:cs typeface="Arial"/>
              </a:rPr>
              <a:t> within</a:t>
            </a:r>
            <a:endParaRPr sz="1200">
              <a:latin typeface="Arial"/>
              <a:cs typeface="Arial"/>
            </a:endParaRPr>
          </a:p>
          <a:p>
            <a:pPr algn="just" marL="18415" marR="5080">
              <a:lnSpc>
                <a:spcPct val="1422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an </a:t>
            </a:r>
            <a:r>
              <a:rPr dirty="0" sz="1200" spc="-5" b="1">
                <a:latin typeface="Arial"/>
                <a:cs typeface="Arial"/>
              </a:rPr>
              <a:t>individual discipline. Teachers </a:t>
            </a:r>
            <a:r>
              <a:rPr dirty="0" sz="1200" b="1">
                <a:latin typeface="Arial"/>
                <a:cs typeface="Arial"/>
              </a:rPr>
              <a:t>help </a:t>
            </a:r>
            <a:r>
              <a:rPr dirty="0" sz="1200" spc="-5" b="1">
                <a:latin typeface="Arial"/>
                <a:cs typeface="Arial"/>
              </a:rPr>
              <a:t>students make connections </a:t>
            </a:r>
            <a:r>
              <a:rPr dirty="0" sz="1200" b="1">
                <a:latin typeface="Arial"/>
                <a:cs typeface="Arial"/>
              </a:rPr>
              <a:t>by </a:t>
            </a:r>
            <a:r>
              <a:rPr dirty="0" sz="1200" spc="-5" b="1">
                <a:latin typeface="Arial"/>
                <a:cs typeface="Arial"/>
              </a:rPr>
              <a:t>explicitly making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linkages between subject topics, skills, and </a:t>
            </a:r>
            <a:r>
              <a:rPr dirty="0" sz="1200" b="1">
                <a:latin typeface="Arial"/>
                <a:cs typeface="Arial"/>
              </a:rPr>
              <a:t>concepts. </a:t>
            </a:r>
            <a:r>
              <a:rPr dirty="0" sz="1200" spc="-5">
                <a:latin typeface="Arial MT"/>
                <a:cs typeface="Arial MT"/>
              </a:rPr>
              <a:t>Connection is a bit advance level </a:t>
            </a:r>
            <a:r>
              <a:rPr dirty="0" sz="1200">
                <a:latin typeface="Arial MT"/>
                <a:cs typeface="Arial MT"/>
              </a:rPr>
              <a:t> from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fragmentation.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7545" y="5335523"/>
            <a:ext cx="2311400" cy="12052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5480" y="7419940"/>
            <a:ext cx="6634480" cy="135699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55"/>
              </a:spcBef>
            </a:pPr>
            <a:r>
              <a:rPr dirty="0" sz="1400" b="1">
                <a:latin typeface="Arial"/>
                <a:cs typeface="Arial"/>
              </a:rPr>
              <a:t>Form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1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Nested:</a:t>
            </a:r>
            <a:endParaRPr sz="1400">
              <a:latin typeface="Arial"/>
              <a:cs typeface="Arial"/>
            </a:endParaRPr>
          </a:p>
          <a:p>
            <a:pPr algn="just" marL="26034" marR="5080" indent="-6350">
              <a:lnSpc>
                <a:spcPts val="2050"/>
              </a:lnSpc>
              <a:spcBef>
                <a:spcPts val="120"/>
              </a:spcBef>
            </a:pPr>
            <a:r>
              <a:rPr dirty="0" sz="1200" b="1">
                <a:latin typeface="Arial"/>
                <a:cs typeface="Arial"/>
              </a:rPr>
              <a:t>Nested integration </a:t>
            </a:r>
            <a:r>
              <a:rPr dirty="0" sz="1200" spc="-5" b="1">
                <a:latin typeface="Arial"/>
                <a:cs typeface="Arial"/>
              </a:rPr>
              <a:t>takes advantage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natural </a:t>
            </a:r>
            <a:r>
              <a:rPr dirty="0" sz="1200" b="1">
                <a:latin typeface="Arial"/>
                <a:cs typeface="Arial"/>
              </a:rPr>
              <a:t>combinations. </a:t>
            </a:r>
            <a:r>
              <a:rPr dirty="0" sz="1200" spc="-5" b="1">
                <a:latin typeface="Arial"/>
                <a:cs typeface="Arial"/>
              </a:rPr>
              <a:t>Integration </a:t>
            </a:r>
            <a:r>
              <a:rPr dirty="0" sz="1200" b="1">
                <a:latin typeface="Arial"/>
                <a:cs typeface="Arial"/>
              </a:rPr>
              <a:t>is performed by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overtly making connections </a:t>
            </a:r>
            <a:r>
              <a:rPr dirty="0" sz="1200" b="1">
                <a:latin typeface="Arial"/>
                <a:cs typeface="Arial"/>
              </a:rPr>
              <a:t>or </a:t>
            </a:r>
            <a:r>
              <a:rPr dirty="0" sz="1200" spc="-5" b="1">
                <a:latin typeface="Arial"/>
                <a:cs typeface="Arial"/>
              </a:rPr>
              <a:t>creating </a:t>
            </a:r>
            <a:r>
              <a:rPr dirty="0" sz="1200" b="1">
                <a:latin typeface="Arial"/>
                <a:cs typeface="Arial"/>
              </a:rPr>
              <a:t>combinations. </a:t>
            </a:r>
            <a:r>
              <a:rPr dirty="0" sz="1200" spc="-5" b="1">
                <a:latin typeface="Arial"/>
                <a:cs typeface="Arial"/>
              </a:rPr>
              <a:t>This </a:t>
            </a:r>
            <a:r>
              <a:rPr dirty="0" sz="1200" b="1">
                <a:latin typeface="Arial"/>
                <a:cs typeface="Arial"/>
              </a:rPr>
              <a:t>could be </a:t>
            </a:r>
            <a:r>
              <a:rPr dirty="0" sz="1200" spc="-5" b="1">
                <a:latin typeface="Arial"/>
                <a:cs typeface="Arial"/>
              </a:rPr>
              <a:t>accomplished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a </a:t>
            </a:r>
            <a:r>
              <a:rPr dirty="0" sz="1200" b="1">
                <a:latin typeface="Arial"/>
                <a:cs typeface="Arial"/>
              </a:rPr>
              <a:t> lesson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circulatory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system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having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lesson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focus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both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circulatory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  <a:p>
            <a:pPr algn="just" marL="20320">
              <a:lnSpc>
                <a:spcPct val="100000"/>
              </a:lnSpc>
              <a:spcBef>
                <a:spcPts val="434"/>
              </a:spcBef>
            </a:pP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5" b="1">
                <a:latin typeface="Times New Roman"/>
                <a:cs typeface="Times New Roman"/>
              </a:rPr>
              <a:t> the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concept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systems.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4800" y="304800"/>
            <a:ext cx="7164705" cy="12193905"/>
            <a:chOff x="304800" y="304800"/>
            <a:chExt cx="7164705" cy="12193905"/>
          </a:xfrm>
        </p:grpSpPr>
        <p:sp>
          <p:nvSpPr>
            <p:cNvPr id="6" name="object 6"/>
            <p:cNvSpPr/>
            <p:nvPr/>
          </p:nvSpPr>
          <p:spPr>
            <a:xfrm>
              <a:off x="304800" y="304799"/>
              <a:ext cx="7164705" cy="12137390"/>
            </a:xfrm>
            <a:custGeom>
              <a:avLst/>
              <a:gdLst/>
              <a:ahLst/>
              <a:cxnLst/>
              <a:rect l="l" t="t" r="r" b="b"/>
              <a:pathLst>
                <a:path w="7164705" h="12137390">
                  <a:moveTo>
                    <a:pt x="56375" y="47244"/>
                  </a:moveTo>
                  <a:lnTo>
                    <a:pt x="47244" y="47244"/>
                  </a:lnTo>
                  <a:lnTo>
                    <a:pt x="47244" y="56388"/>
                  </a:lnTo>
                  <a:lnTo>
                    <a:pt x="56375" y="56388"/>
                  </a:lnTo>
                  <a:lnTo>
                    <a:pt x="56375" y="47244"/>
                  </a:lnTo>
                  <a:close/>
                </a:path>
                <a:path w="7164705" h="12137390">
                  <a:moveTo>
                    <a:pt x="7117080" y="47244"/>
                  </a:moveTo>
                  <a:lnTo>
                    <a:pt x="7107936" y="47244"/>
                  </a:lnTo>
                  <a:lnTo>
                    <a:pt x="56388" y="47244"/>
                  </a:lnTo>
                  <a:lnTo>
                    <a:pt x="56388" y="56388"/>
                  </a:lnTo>
                  <a:lnTo>
                    <a:pt x="7107936" y="56388"/>
                  </a:lnTo>
                  <a:lnTo>
                    <a:pt x="7117080" y="56388"/>
                  </a:lnTo>
                  <a:lnTo>
                    <a:pt x="7117080" y="47244"/>
                  </a:lnTo>
                  <a:close/>
                </a:path>
                <a:path w="7164705" h="12137390">
                  <a:moveTo>
                    <a:pt x="7164324" y="0"/>
                  </a:moveTo>
                  <a:lnTo>
                    <a:pt x="7164324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0" y="56388"/>
                  </a:lnTo>
                  <a:lnTo>
                    <a:pt x="0" y="12137136"/>
                  </a:lnTo>
                  <a:lnTo>
                    <a:pt x="38100" y="12137136"/>
                  </a:lnTo>
                  <a:lnTo>
                    <a:pt x="38100" y="56388"/>
                  </a:lnTo>
                  <a:lnTo>
                    <a:pt x="38100" y="38100"/>
                  </a:lnTo>
                  <a:lnTo>
                    <a:pt x="56388" y="38100"/>
                  </a:lnTo>
                  <a:lnTo>
                    <a:pt x="7107936" y="38100"/>
                  </a:lnTo>
                  <a:lnTo>
                    <a:pt x="7126224" y="38100"/>
                  </a:lnTo>
                  <a:lnTo>
                    <a:pt x="7126224" y="56388"/>
                  </a:lnTo>
                  <a:lnTo>
                    <a:pt x="7164324" y="56388"/>
                  </a:lnTo>
                  <a:lnTo>
                    <a:pt x="7164324" y="38100"/>
                  </a:lnTo>
                  <a:lnTo>
                    <a:pt x="716432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0592" y="8663940"/>
              <a:ext cx="3197224" cy="29776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353814" y="4295140"/>
              <a:ext cx="885825" cy="1028700"/>
            </a:xfrm>
            <a:custGeom>
              <a:avLst/>
              <a:gdLst/>
              <a:ahLst/>
              <a:cxnLst/>
              <a:rect l="l" t="t" r="r" b="b"/>
              <a:pathLst>
                <a:path w="885825" h="1028700">
                  <a:moveTo>
                    <a:pt x="441960" y="0"/>
                  </a:moveTo>
                  <a:lnTo>
                    <a:pt x="396812" y="2652"/>
                  </a:lnTo>
                  <a:lnTo>
                    <a:pt x="352960" y="10436"/>
                  </a:lnTo>
                  <a:lnTo>
                    <a:pt x="310626" y="23093"/>
                  </a:lnTo>
                  <a:lnTo>
                    <a:pt x="270033" y="40364"/>
                  </a:lnTo>
                  <a:lnTo>
                    <a:pt x="231405" y="61990"/>
                  </a:lnTo>
                  <a:lnTo>
                    <a:pt x="194964" y="87714"/>
                  </a:lnTo>
                  <a:lnTo>
                    <a:pt x="160935" y="117275"/>
                  </a:lnTo>
                  <a:lnTo>
                    <a:pt x="129539" y="150415"/>
                  </a:lnTo>
                  <a:lnTo>
                    <a:pt x="101002" y="186876"/>
                  </a:lnTo>
                  <a:lnTo>
                    <a:pt x="75545" y="226398"/>
                  </a:lnTo>
                  <a:lnTo>
                    <a:pt x="53392" y="268723"/>
                  </a:lnTo>
                  <a:lnTo>
                    <a:pt x="34766" y="313592"/>
                  </a:lnTo>
                  <a:lnTo>
                    <a:pt x="19890" y="360747"/>
                  </a:lnTo>
                  <a:lnTo>
                    <a:pt x="8989" y="409927"/>
                  </a:lnTo>
                  <a:lnTo>
                    <a:pt x="2284" y="460876"/>
                  </a:lnTo>
                  <a:lnTo>
                    <a:pt x="0" y="513333"/>
                  </a:lnTo>
                  <a:lnTo>
                    <a:pt x="2284" y="566059"/>
                  </a:lnTo>
                  <a:lnTo>
                    <a:pt x="8989" y="617243"/>
                  </a:lnTo>
                  <a:lnTo>
                    <a:pt x="19890" y="666627"/>
                  </a:lnTo>
                  <a:lnTo>
                    <a:pt x="34766" y="713956"/>
                  </a:lnTo>
                  <a:lnTo>
                    <a:pt x="53392" y="758973"/>
                  </a:lnTo>
                  <a:lnTo>
                    <a:pt x="75545" y="801421"/>
                  </a:lnTo>
                  <a:lnTo>
                    <a:pt x="101002" y="841044"/>
                  </a:lnTo>
                  <a:lnTo>
                    <a:pt x="129539" y="877585"/>
                  </a:lnTo>
                  <a:lnTo>
                    <a:pt x="160935" y="910789"/>
                  </a:lnTo>
                  <a:lnTo>
                    <a:pt x="194964" y="940397"/>
                  </a:lnTo>
                  <a:lnTo>
                    <a:pt x="231405" y="966154"/>
                  </a:lnTo>
                  <a:lnTo>
                    <a:pt x="270033" y="987804"/>
                  </a:lnTo>
                  <a:lnTo>
                    <a:pt x="310626" y="1005088"/>
                  </a:lnTo>
                  <a:lnTo>
                    <a:pt x="352960" y="1017752"/>
                  </a:lnTo>
                  <a:lnTo>
                    <a:pt x="396812" y="1025539"/>
                  </a:lnTo>
                  <a:lnTo>
                    <a:pt x="441960" y="1028191"/>
                  </a:lnTo>
                  <a:lnTo>
                    <a:pt x="487375" y="1025539"/>
                  </a:lnTo>
                  <a:lnTo>
                    <a:pt x="531462" y="1017752"/>
                  </a:lnTo>
                  <a:lnTo>
                    <a:pt x="573999" y="1005088"/>
                  </a:lnTo>
                  <a:lnTo>
                    <a:pt x="614767" y="987804"/>
                  </a:lnTo>
                  <a:lnTo>
                    <a:pt x="653543" y="966154"/>
                  </a:lnTo>
                  <a:lnTo>
                    <a:pt x="690107" y="940397"/>
                  </a:lnTo>
                  <a:lnTo>
                    <a:pt x="724237" y="910789"/>
                  </a:lnTo>
                  <a:lnTo>
                    <a:pt x="755713" y="877585"/>
                  </a:lnTo>
                  <a:lnTo>
                    <a:pt x="784314" y="841044"/>
                  </a:lnTo>
                  <a:lnTo>
                    <a:pt x="809818" y="801421"/>
                  </a:lnTo>
                  <a:lnTo>
                    <a:pt x="832005" y="758973"/>
                  </a:lnTo>
                  <a:lnTo>
                    <a:pt x="850653" y="713956"/>
                  </a:lnTo>
                  <a:lnTo>
                    <a:pt x="865543" y="666627"/>
                  </a:lnTo>
                  <a:lnTo>
                    <a:pt x="876451" y="617243"/>
                  </a:lnTo>
                  <a:lnTo>
                    <a:pt x="883159" y="566059"/>
                  </a:lnTo>
                  <a:lnTo>
                    <a:pt x="885444" y="513333"/>
                  </a:lnTo>
                  <a:lnTo>
                    <a:pt x="883159" y="460876"/>
                  </a:lnTo>
                  <a:lnTo>
                    <a:pt x="876451" y="409927"/>
                  </a:lnTo>
                  <a:lnTo>
                    <a:pt x="865543" y="360747"/>
                  </a:lnTo>
                  <a:lnTo>
                    <a:pt x="850653" y="313592"/>
                  </a:lnTo>
                  <a:lnTo>
                    <a:pt x="832005" y="268723"/>
                  </a:lnTo>
                  <a:lnTo>
                    <a:pt x="809818" y="226398"/>
                  </a:lnTo>
                  <a:lnTo>
                    <a:pt x="784314" y="186876"/>
                  </a:lnTo>
                  <a:lnTo>
                    <a:pt x="755713" y="150415"/>
                  </a:lnTo>
                  <a:lnTo>
                    <a:pt x="724237" y="117275"/>
                  </a:lnTo>
                  <a:lnTo>
                    <a:pt x="690107" y="87714"/>
                  </a:lnTo>
                  <a:lnTo>
                    <a:pt x="653543" y="61990"/>
                  </a:lnTo>
                  <a:lnTo>
                    <a:pt x="614767" y="40364"/>
                  </a:lnTo>
                  <a:lnTo>
                    <a:pt x="573999" y="23093"/>
                  </a:lnTo>
                  <a:lnTo>
                    <a:pt x="531462" y="10436"/>
                  </a:lnTo>
                  <a:lnTo>
                    <a:pt x="487375" y="2652"/>
                  </a:lnTo>
                  <a:lnTo>
                    <a:pt x="44196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340098" y="4281423"/>
              <a:ext cx="911860" cy="1054100"/>
            </a:xfrm>
            <a:custGeom>
              <a:avLst/>
              <a:gdLst/>
              <a:ahLst/>
              <a:cxnLst/>
              <a:rect l="l" t="t" r="r" b="b"/>
              <a:pathLst>
                <a:path w="911860" h="1054100">
                  <a:moveTo>
                    <a:pt x="911352" y="499618"/>
                  </a:moveTo>
                  <a:lnTo>
                    <a:pt x="906780" y="447929"/>
                  </a:lnTo>
                  <a:lnTo>
                    <a:pt x="897636" y="396113"/>
                  </a:lnTo>
                  <a:lnTo>
                    <a:pt x="886968" y="357098"/>
                  </a:lnTo>
                  <a:lnTo>
                    <a:pt x="886968" y="527050"/>
                  </a:lnTo>
                  <a:lnTo>
                    <a:pt x="883920" y="578866"/>
                  </a:lnTo>
                  <a:lnTo>
                    <a:pt x="877824" y="629158"/>
                  </a:lnTo>
                  <a:lnTo>
                    <a:pt x="867156" y="677926"/>
                  </a:lnTo>
                  <a:lnTo>
                    <a:pt x="844296" y="746379"/>
                  </a:lnTo>
                  <a:lnTo>
                    <a:pt x="822960" y="789051"/>
                  </a:lnTo>
                  <a:lnTo>
                    <a:pt x="800100" y="828675"/>
                  </a:lnTo>
                  <a:lnTo>
                    <a:pt x="774192" y="865251"/>
                  </a:lnTo>
                  <a:lnTo>
                    <a:pt x="745236" y="900303"/>
                  </a:lnTo>
                  <a:lnTo>
                    <a:pt x="728472" y="915543"/>
                  </a:lnTo>
                  <a:lnTo>
                    <a:pt x="713232" y="930783"/>
                  </a:lnTo>
                  <a:lnTo>
                    <a:pt x="659892" y="968883"/>
                  </a:lnTo>
                  <a:lnTo>
                    <a:pt x="623316" y="990092"/>
                  </a:lnTo>
                  <a:lnTo>
                    <a:pt x="583692" y="1006856"/>
                  </a:lnTo>
                  <a:lnTo>
                    <a:pt x="562356" y="1012952"/>
                  </a:lnTo>
                  <a:lnTo>
                    <a:pt x="542544" y="1019048"/>
                  </a:lnTo>
                  <a:lnTo>
                    <a:pt x="521208" y="1023620"/>
                  </a:lnTo>
                  <a:lnTo>
                    <a:pt x="499872" y="1026668"/>
                  </a:lnTo>
                  <a:lnTo>
                    <a:pt x="478536" y="1028192"/>
                  </a:lnTo>
                  <a:lnTo>
                    <a:pt x="456438" y="1028192"/>
                  </a:lnTo>
                  <a:lnTo>
                    <a:pt x="434340" y="1028192"/>
                  </a:lnTo>
                  <a:lnTo>
                    <a:pt x="390144" y="1023620"/>
                  </a:lnTo>
                  <a:lnTo>
                    <a:pt x="329184" y="1006856"/>
                  </a:lnTo>
                  <a:lnTo>
                    <a:pt x="289560" y="990092"/>
                  </a:lnTo>
                  <a:lnTo>
                    <a:pt x="251460" y="968883"/>
                  </a:lnTo>
                  <a:lnTo>
                    <a:pt x="182880" y="915543"/>
                  </a:lnTo>
                  <a:lnTo>
                    <a:pt x="152400" y="882015"/>
                  </a:lnTo>
                  <a:lnTo>
                    <a:pt x="111252" y="828675"/>
                  </a:lnTo>
                  <a:lnTo>
                    <a:pt x="77724" y="766191"/>
                  </a:lnTo>
                  <a:lnTo>
                    <a:pt x="59436" y="723646"/>
                  </a:lnTo>
                  <a:lnTo>
                    <a:pt x="45720" y="676402"/>
                  </a:lnTo>
                  <a:lnTo>
                    <a:pt x="39624" y="653542"/>
                  </a:lnTo>
                  <a:lnTo>
                    <a:pt x="35052" y="629158"/>
                  </a:lnTo>
                  <a:lnTo>
                    <a:pt x="30480" y="603250"/>
                  </a:lnTo>
                  <a:lnTo>
                    <a:pt x="28956" y="578866"/>
                  </a:lnTo>
                  <a:lnTo>
                    <a:pt x="25908" y="552958"/>
                  </a:lnTo>
                  <a:lnTo>
                    <a:pt x="25908" y="501142"/>
                  </a:lnTo>
                  <a:lnTo>
                    <a:pt x="28956" y="475234"/>
                  </a:lnTo>
                  <a:lnTo>
                    <a:pt x="30480" y="450977"/>
                  </a:lnTo>
                  <a:lnTo>
                    <a:pt x="39624" y="402209"/>
                  </a:lnTo>
                  <a:lnTo>
                    <a:pt x="51816" y="354965"/>
                  </a:lnTo>
                  <a:lnTo>
                    <a:pt x="68580" y="309245"/>
                  </a:lnTo>
                  <a:lnTo>
                    <a:pt x="88392" y="266573"/>
                  </a:lnTo>
                  <a:lnTo>
                    <a:pt x="124968" y="207137"/>
                  </a:lnTo>
                  <a:lnTo>
                    <a:pt x="152400" y="172212"/>
                  </a:lnTo>
                  <a:lnTo>
                    <a:pt x="182880" y="140208"/>
                  </a:lnTo>
                  <a:lnTo>
                    <a:pt x="216408" y="111252"/>
                  </a:lnTo>
                  <a:lnTo>
                    <a:pt x="251460" y="85344"/>
                  </a:lnTo>
                  <a:lnTo>
                    <a:pt x="289560" y="65532"/>
                  </a:lnTo>
                  <a:lnTo>
                    <a:pt x="348996" y="41148"/>
                  </a:lnTo>
                  <a:lnTo>
                    <a:pt x="391668" y="32004"/>
                  </a:lnTo>
                  <a:lnTo>
                    <a:pt x="456438" y="26035"/>
                  </a:lnTo>
                  <a:lnTo>
                    <a:pt x="457200" y="25908"/>
                  </a:lnTo>
                  <a:lnTo>
                    <a:pt x="499872" y="28956"/>
                  </a:lnTo>
                  <a:lnTo>
                    <a:pt x="563880" y="41148"/>
                  </a:lnTo>
                  <a:lnTo>
                    <a:pt x="603504" y="56388"/>
                  </a:lnTo>
                  <a:lnTo>
                    <a:pt x="641604" y="74676"/>
                  </a:lnTo>
                  <a:lnTo>
                    <a:pt x="678180" y="99060"/>
                  </a:lnTo>
                  <a:lnTo>
                    <a:pt x="696468" y="111252"/>
                  </a:lnTo>
                  <a:lnTo>
                    <a:pt x="729996" y="140208"/>
                  </a:lnTo>
                  <a:lnTo>
                    <a:pt x="760476" y="172212"/>
                  </a:lnTo>
                  <a:lnTo>
                    <a:pt x="787908" y="208661"/>
                  </a:lnTo>
                  <a:lnTo>
                    <a:pt x="824484" y="266573"/>
                  </a:lnTo>
                  <a:lnTo>
                    <a:pt x="833628" y="287909"/>
                  </a:lnTo>
                  <a:lnTo>
                    <a:pt x="844296" y="309245"/>
                  </a:lnTo>
                  <a:lnTo>
                    <a:pt x="867156" y="377825"/>
                  </a:lnTo>
                  <a:lnTo>
                    <a:pt x="877824" y="426593"/>
                  </a:lnTo>
                  <a:lnTo>
                    <a:pt x="883920" y="476758"/>
                  </a:lnTo>
                  <a:lnTo>
                    <a:pt x="886968" y="527050"/>
                  </a:lnTo>
                  <a:lnTo>
                    <a:pt x="886968" y="357098"/>
                  </a:lnTo>
                  <a:lnTo>
                    <a:pt x="867156" y="300101"/>
                  </a:lnTo>
                  <a:lnTo>
                    <a:pt x="845820" y="254381"/>
                  </a:lnTo>
                  <a:lnTo>
                    <a:pt x="821436" y="213233"/>
                  </a:lnTo>
                  <a:lnTo>
                    <a:pt x="794004" y="173736"/>
                  </a:lnTo>
                  <a:lnTo>
                    <a:pt x="763524" y="138684"/>
                  </a:lnTo>
                  <a:lnTo>
                    <a:pt x="729996" y="105156"/>
                  </a:lnTo>
                  <a:lnTo>
                    <a:pt x="693420" y="77724"/>
                  </a:lnTo>
                  <a:lnTo>
                    <a:pt x="633984" y="42672"/>
                  </a:lnTo>
                  <a:lnTo>
                    <a:pt x="591312" y="24384"/>
                  </a:lnTo>
                  <a:lnTo>
                    <a:pt x="548640" y="10668"/>
                  </a:lnTo>
                  <a:lnTo>
                    <a:pt x="502920" y="3048"/>
                  </a:lnTo>
                  <a:lnTo>
                    <a:pt x="456438" y="127"/>
                  </a:lnTo>
                  <a:lnTo>
                    <a:pt x="455676" y="0"/>
                  </a:lnTo>
                  <a:lnTo>
                    <a:pt x="408432" y="3048"/>
                  </a:lnTo>
                  <a:lnTo>
                    <a:pt x="385572" y="6096"/>
                  </a:lnTo>
                  <a:lnTo>
                    <a:pt x="364236" y="12192"/>
                  </a:lnTo>
                  <a:lnTo>
                    <a:pt x="341376" y="16764"/>
                  </a:lnTo>
                  <a:lnTo>
                    <a:pt x="277368" y="42672"/>
                  </a:lnTo>
                  <a:lnTo>
                    <a:pt x="237744" y="65532"/>
                  </a:lnTo>
                  <a:lnTo>
                    <a:pt x="201168" y="91440"/>
                  </a:lnTo>
                  <a:lnTo>
                    <a:pt x="166116" y="121920"/>
                  </a:lnTo>
                  <a:lnTo>
                    <a:pt x="132588" y="155448"/>
                  </a:lnTo>
                  <a:lnTo>
                    <a:pt x="118872" y="173736"/>
                  </a:lnTo>
                  <a:lnTo>
                    <a:pt x="103632" y="193548"/>
                  </a:lnTo>
                  <a:lnTo>
                    <a:pt x="65532" y="255905"/>
                  </a:lnTo>
                  <a:lnTo>
                    <a:pt x="36576" y="322961"/>
                  </a:lnTo>
                  <a:lnTo>
                    <a:pt x="15240" y="396113"/>
                  </a:lnTo>
                  <a:lnTo>
                    <a:pt x="3048" y="473710"/>
                  </a:lnTo>
                  <a:lnTo>
                    <a:pt x="0" y="527050"/>
                  </a:lnTo>
                  <a:lnTo>
                    <a:pt x="3048" y="581914"/>
                  </a:lnTo>
                  <a:lnTo>
                    <a:pt x="9144" y="633730"/>
                  </a:lnTo>
                  <a:lnTo>
                    <a:pt x="27432" y="708406"/>
                  </a:lnTo>
                  <a:lnTo>
                    <a:pt x="54864" y="778383"/>
                  </a:lnTo>
                  <a:lnTo>
                    <a:pt x="77724" y="821055"/>
                  </a:lnTo>
                  <a:lnTo>
                    <a:pt x="91440" y="842391"/>
                  </a:lnTo>
                  <a:lnTo>
                    <a:pt x="103632" y="862203"/>
                  </a:lnTo>
                  <a:lnTo>
                    <a:pt x="118872" y="880491"/>
                  </a:lnTo>
                  <a:lnTo>
                    <a:pt x="134112" y="900303"/>
                  </a:lnTo>
                  <a:lnTo>
                    <a:pt x="149352" y="917067"/>
                  </a:lnTo>
                  <a:lnTo>
                    <a:pt x="182880" y="949071"/>
                  </a:lnTo>
                  <a:lnTo>
                    <a:pt x="219456" y="978027"/>
                  </a:lnTo>
                  <a:lnTo>
                    <a:pt x="239268" y="990092"/>
                  </a:lnTo>
                  <a:lnTo>
                    <a:pt x="257556" y="1002284"/>
                  </a:lnTo>
                  <a:lnTo>
                    <a:pt x="278892" y="1012952"/>
                  </a:lnTo>
                  <a:lnTo>
                    <a:pt x="298704" y="1022096"/>
                  </a:lnTo>
                  <a:lnTo>
                    <a:pt x="320040" y="1031240"/>
                  </a:lnTo>
                  <a:lnTo>
                    <a:pt x="342900" y="1037336"/>
                  </a:lnTo>
                  <a:lnTo>
                    <a:pt x="364236" y="1043432"/>
                  </a:lnTo>
                  <a:lnTo>
                    <a:pt x="387096" y="1048004"/>
                  </a:lnTo>
                  <a:lnTo>
                    <a:pt x="432816" y="1054100"/>
                  </a:lnTo>
                  <a:lnTo>
                    <a:pt x="456438" y="1054100"/>
                  </a:lnTo>
                  <a:lnTo>
                    <a:pt x="480060" y="1054100"/>
                  </a:lnTo>
                  <a:lnTo>
                    <a:pt x="525780" y="1048004"/>
                  </a:lnTo>
                  <a:lnTo>
                    <a:pt x="571500" y="1037336"/>
                  </a:lnTo>
                  <a:lnTo>
                    <a:pt x="614172" y="1022096"/>
                  </a:lnTo>
                  <a:lnTo>
                    <a:pt x="655320" y="1002284"/>
                  </a:lnTo>
                  <a:lnTo>
                    <a:pt x="693420" y="978027"/>
                  </a:lnTo>
                  <a:lnTo>
                    <a:pt x="729996" y="949071"/>
                  </a:lnTo>
                  <a:lnTo>
                    <a:pt x="763524" y="917067"/>
                  </a:lnTo>
                  <a:lnTo>
                    <a:pt x="794004" y="880491"/>
                  </a:lnTo>
                  <a:lnTo>
                    <a:pt x="821436" y="842391"/>
                  </a:lnTo>
                  <a:lnTo>
                    <a:pt x="845820" y="799719"/>
                  </a:lnTo>
                  <a:lnTo>
                    <a:pt x="858012" y="778383"/>
                  </a:lnTo>
                  <a:lnTo>
                    <a:pt x="876300" y="731139"/>
                  </a:lnTo>
                  <a:lnTo>
                    <a:pt x="891540" y="684022"/>
                  </a:lnTo>
                  <a:lnTo>
                    <a:pt x="902208" y="633730"/>
                  </a:lnTo>
                  <a:lnTo>
                    <a:pt x="909828" y="580390"/>
                  </a:lnTo>
                  <a:lnTo>
                    <a:pt x="911352" y="554482"/>
                  </a:lnTo>
                  <a:lnTo>
                    <a:pt x="911352" y="499618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944241" y="4295140"/>
              <a:ext cx="856615" cy="981075"/>
            </a:xfrm>
            <a:custGeom>
              <a:avLst/>
              <a:gdLst/>
              <a:ahLst/>
              <a:cxnLst/>
              <a:rect l="l" t="t" r="r" b="b"/>
              <a:pathLst>
                <a:path w="856614" h="981075">
                  <a:moveTo>
                    <a:pt x="428244" y="0"/>
                  </a:moveTo>
                  <a:lnTo>
                    <a:pt x="384506" y="2529"/>
                  </a:lnTo>
                  <a:lnTo>
                    <a:pt x="342021" y="9953"/>
                  </a:lnTo>
                  <a:lnTo>
                    <a:pt x="301005" y="22028"/>
                  </a:lnTo>
                  <a:lnTo>
                    <a:pt x="261675" y="38506"/>
                  </a:lnTo>
                  <a:lnTo>
                    <a:pt x="224247" y="59144"/>
                  </a:lnTo>
                  <a:lnTo>
                    <a:pt x="188937" y="83695"/>
                  </a:lnTo>
                  <a:lnTo>
                    <a:pt x="155962" y="111915"/>
                  </a:lnTo>
                  <a:lnTo>
                    <a:pt x="125539" y="143557"/>
                  </a:lnTo>
                  <a:lnTo>
                    <a:pt x="97884" y="178377"/>
                  </a:lnTo>
                  <a:lnTo>
                    <a:pt x="73214" y="216129"/>
                  </a:lnTo>
                  <a:lnTo>
                    <a:pt x="51745" y="256568"/>
                  </a:lnTo>
                  <a:lnTo>
                    <a:pt x="33694" y="299448"/>
                  </a:lnTo>
                  <a:lnTo>
                    <a:pt x="19278" y="344524"/>
                  </a:lnTo>
                  <a:lnTo>
                    <a:pt x="8712" y="391550"/>
                  </a:lnTo>
                  <a:lnTo>
                    <a:pt x="2214" y="440282"/>
                  </a:lnTo>
                  <a:lnTo>
                    <a:pt x="0" y="490474"/>
                  </a:lnTo>
                  <a:lnTo>
                    <a:pt x="2214" y="540414"/>
                  </a:lnTo>
                  <a:lnTo>
                    <a:pt x="8712" y="588959"/>
                  </a:lnTo>
                  <a:lnTo>
                    <a:pt x="19278" y="635857"/>
                  </a:lnTo>
                  <a:lnTo>
                    <a:pt x="33694" y="680856"/>
                  </a:lnTo>
                  <a:lnTo>
                    <a:pt x="51745" y="723704"/>
                  </a:lnTo>
                  <a:lnTo>
                    <a:pt x="73214" y="764148"/>
                  </a:lnTo>
                  <a:lnTo>
                    <a:pt x="97884" y="801937"/>
                  </a:lnTo>
                  <a:lnTo>
                    <a:pt x="125539" y="836818"/>
                  </a:lnTo>
                  <a:lnTo>
                    <a:pt x="155962" y="868540"/>
                  </a:lnTo>
                  <a:lnTo>
                    <a:pt x="188937" y="896850"/>
                  </a:lnTo>
                  <a:lnTo>
                    <a:pt x="224247" y="921496"/>
                  </a:lnTo>
                  <a:lnTo>
                    <a:pt x="261675" y="942226"/>
                  </a:lnTo>
                  <a:lnTo>
                    <a:pt x="301005" y="958789"/>
                  </a:lnTo>
                  <a:lnTo>
                    <a:pt x="342021" y="970931"/>
                  </a:lnTo>
                  <a:lnTo>
                    <a:pt x="384506" y="978401"/>
                  </a:lnTo>
                  <a:lnTo>
                    <a:pt x="428244" y="980948"/>
                  </a:lnTo>
                  <a:lnTo>
                    <a:pt x="471981" y="978401"/>
                  </a:lnTo>
                  <a:lnTo>
                    <a:pt x="514466" y="970931"/>
                  </a:lnTo>
                  <a:lnTo>
                    <a:pt x="555482" y="958789"/>
                  </a:lnTo>
                  <a:lnTo>
                    <a:pt x="594812" y="942226"/>
                  </a:lnTo>
                  <a:lnTo>
                    <a:pt x="632240" y="921496"/>
                  </a:lnTo>
                  <a:lnTo>
                    <a:pt x="667550" y="896850"/>
                  </a:lnTo>
                  <a:lnTo>
                    <a:pt x="700525" y="868540"/>
                  </a:lnTo>
                  <a:lnTo>
                    <a:pt x="730948" y="836818"/>
                  </a:lnTo>
                  <a:lnTo>
                    <a:pt x="758603" y="801937"/>
                  </a:lnTo>
                  <a:lnTo>
                    <a:pt x="783273" y="764148"/>
                  </a:lnTo>
                  <a:lnTo>
                    <a:pt x="804742" y="723704"/>
                  </a:lnTo>
                  <a:lnTo>
                    <a:pt x="822793" y="680856"/>
                  </a:lnTo>
                  <a:lnTo>
                    <a:pt x="837209" y="635857"/>
                  </a:lnTo>
                  <a:lnTo>
                    <a:pt x="847775" y="588959"/>
                  </a:lnTo>
                  <a:lnTo>
                    <a:pt x="854273" y="540414"/>
                  </a:lnTo>
                  <a:lnTo>
                    <a:pt x="856487" y="490474"/>
                  </a:lnTo>
                  <a:lnTo>
                    <a:pt x="854273" y="440282"/>
                  </a:lnTo>
                  <a:lnTo>
                    <a:pt x="847775" y="391550"/>
                  </a:lnTo>
                  <a:lnTo>
                    <a:pt x="837209" y="344524"/>
                  </a:lnTo>
                  <a:lnTo>
                    <a:pt x="822793" y="299448"/>
                  </a:lnTo>
                  <a:lnTo>
                    <a:pt x="804742" y="256568"/>
                  </a:lnTo>
                  <a:lnTo>
                    <a:pt x="783273" y="216129"/>
                  </a:lnTo>
                  <a:lnTo>
                    <a:pt x="758603" y="178377"/>
                  </a:lnTo>
                  <a:lnTo>
                    <a:pt x="730948" y="143557"/>
                  </a:lnTo>
                  <a:lnTo>
                    <a:pt x="700525" y="111915"/>
                  </a:lnTo>
                  <a:lnTo>
                    <a:pt x="667550" y="83695"/>
                  </a:lnTo>
                  <a:lnTo>
                    <a:pt x="632240" y="59144"/>
                  </a:lnTo>
                  <a:lnTo>
                    <a:pt x="594812" y="38506"/>
                  </a:lnTo>
                  <a:lnTo>
                    <a:pt x="555482" y="22028"/>
                  </a:lnTo>
                  <a:lnTo>
                    <a:pt x="514466" y="9953"/>
                  </a:lnTo>
                  <a:lnTo>
                    <a:pt x="471981" y="2529"/>
                  </a:lnTo>
                  <a:lnTo>
                    <a:pt x="42824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930525" y="4281423"/>
              <a:ext cx="883919" cy="1007110"/>
            </a:xfrm>
            <a:custGeom>
              <a:avLst/>
              <a:gdLst/>
              <a:ahLst/>
              <a:cxnLst/>
              <a:rect l="l" t="t" r="r" b="b"/>
              <a:pathLst>
                <a:path w="883920" h="1007110">
                  <a:moveTo>
                    <a:pt x="883920" y="502666"/>
                  </a:moveTo>
                  <a:lnTo>
                    <a:pt x="880872" y="452501"/>
                  </a:lnTo>
                  <a:lnTo>
                    <a:pt x="874776" y="402209"/>
                  </a:lnTo>
                  <a:lnTo>
                    <a:pt x="868680" y="377825"/>
                  </a:lnTo>
                  <a:lnTo>
                    <a:pt x="864108" y="354965"/>
                  </a:lnTo>
                  <a:lnTo>
                    <a:pt x="858012" y="335457"/>
                  </a:lnTo>
                  <a:lnTo>
                    <a:pt x="858012" y="479806"/>
                  </a:lnTo>
                  <a:lnTo>
                    <a:pt x="858012" y="528574"/>
                  </a:lnTo>
                  <a:lnTo>
                    <a:pt x="854964" y="552958"/>
                  </a:lnTo>
                  <a:lnTo>
                    <a:pt x="853440" y="577342"/>
                  </a:lnTo>
                  <a:lnTo>
                    <a:pt x="839724" y="645922"/>
                  </a:lnTo>
                  <a:lnTo>
                    <a:pt x="816864" y="711454"/>
                  </a:lnTo>
                  <a:lnTo>
                    <a:pt x="786384" y="772287"/>
                  </a:lnTo>
                  <a:lnTo>
                    <a:pt x="762000" y="808863"/>
                  </a:lnTo>
                  <a:lnTo>
                    <a:pt x="720852" y="857631"/>
                  </a:lnTo>
                  <a:lnTo>
                    <a:pt x="690372" y="886587"/>
                  </a:lnTo>
                  <a:lnTo>
                    <a:pt x="656844" y="912495"/>
                  </a:lnTo>
                  <a:lnTo>
                    <a:pt x="621792" y="935355"/>
                  </a:lnTo>
                  <a:lnTo>
                    <a:pt x="583692" y="952119"/>
                  </a:lnTo>
                  <a:lnTo>
                    <a:pt x="565404" y="959739"/>
                  </a:lnTo>
                  <a:lnTo>
                    <a:pt x="525780" y="971931"/>
                  </a:lnTo>
                  <a:lnTo>
                    <a:pt x="504444" y="976503"/>
                  </a:lnTo>
                  <a:lnTo>
                    <a:pt x="484632" y="979551"/>
                  </a:lnTo>
                  <a:lnTo>
                    <a:pt x="463296" y="981075"/>
                  </a:lnTo>
                  <a:lnTo>
                    <a:pt x="441960" y="981075"/>
                  </a:lnTo>
                  <a:lnTo>
                    <a:pt x="420624" y="981075"/>
                  </a:lnTo>
                  <a:lnTo>
                    <a:pt x="377952" y="976503"/>
                  </a:lnTo>
                  <a:lnTo>
                    <a:pt x="318516" y="959739"/>
                  </a:lnTo>
                  <a:lnTo>
                    <a:pt x="280416" y="944499"/>
                  </a:lnTo>
                  <a:lnTo>
                    <a:pt x="243840" y="923163"/>
                  </a:lnTo>
                  <a:lnTo>
                    <a:pt x="210312" y="900303"/>
                  </a:lnTo>
                  <a:lnTo>
                    <a:pt x="178308" y="872871"/>
                  </a:lnTo>
                  <a:lnTo>
                    <a:pt x="147828" y="842391"/>
                  </a:lnTo>
                  <a:lnTo>
                    <a:pt x="121920" y="807339"/>
                  </a:lnTo>
                  <a:lnTo>
                    <a:pt x="108204" y="789051"/>
                  </a:lnTo>
                  <a:lnTo>
                    <a:pt x="76200" y="731139"/>
                  </a:lnTo>
                  <a:lnTo>
                    <a:pt x="51816" y="668782"/>
                  </a:lnTo>
                  <a:lnTo>
                    <a:pt x="35052" y="600202"/>
                  </a:lnTo>
                  <a:lnTo>
                    <a:pt x="27432" y="552958"/>
                  </a:lnTo>
                  <a:lnTo>
                    <a:pt x="25908" y="528574"/>
                  </a:lnTo>
                  <a:lnTo>
                    <a:pt x="25908" y="478282"/>
                  </a:lnTo>
                  <a:lnTo>
                    <a:pt x="30480" y="431165"/>
                  </a:lnTo>
                  <a:lnTo>
                    <a:pt x="44196" y="361061"/>
                  </a:lnTo>
                  <a:lnTo>
                    <a:pt x="67056" y="295529"/>
                  </a:lnTo>
                  <a:lnTo>
                    <a:pt x="97536" y="236093"/>
                  </a:lnTo>
                  <a:lnTo>
                    <a:pt x="121920" y="199517"/>
                  </a:lnTo>
                  <a:lnTo>
                    <a:pt x="134112" y="181356"/>
                  </a:lnTo>
                  <a:lnTo>
                    <a:pt x="178308" y="134112"/>
                  </a:lnTo>
                  <a:lnTo>
                    <a:pt x="210312" y="106680"/>
                  </a:lnTo>
                  <a:lnTo>
                    <a:pt x="243840" y="83820"/>
                  </a:lnTo>
                  <a:lnTo>
                    <a:pt x="280416" y="62484"/>
                  </a:lnTo>
                  <a:lnTo>
                    <a:pt x="300228" y="54864"/>
                  </a:lnTo>
                  <a:lnTo>
                    <a:pt x="318516" y="47244"/>
                  </a:lnTo>
                  <a:lnTo>
                    <a:pt x="358140" y="35052"/>
                  </a:lnTo>
                  <a:lnTo>
                    <a:pt x="399288" y="28956"/>
                  </a:lnTo>
                  <a:lnTo>
                    <a:pt x="441960" y="25908"/>
                  </a:lnTo>
                  <a:lnTo>
                    <a:pt x="484632" y="28956"/>
                  </a:lnTo>
                  <a:lnTo>
                    <a:pt x="545592" y="41148"/>
                  </a:lnTo>
                  <a:lnTo>
                    <a:pt x="585216" y="54864"/>
                  </a:lnTo>
                  <a:lnTo>
                    <a:pt x="621792" y="73152"/>
                  </a:lnTo>
                  <a:lnTo>
                    <a:pt x="656844" y="94488"/>
                  </a:lnTo>
                  <a:lnTo>
                    <a:pt x="690372" y="120396"/>
                  </a:lnTo>
                  <a:lnTo>
                    <a:pt x="720852" y="149352"/>
                  </a:lnTo>
                  <a:lnTo>
                    <a:pt x="749808" y="182880"/>
                  </a:lnTo>
                  <a:lnTo>
                    <a:pt x="786384" y="236093"/>
                  </a:lnTo>
                  <a:lnTo>
                    <a:pt x="807720" y="275717"/>
                  </a:lnTo>
                  <a:lnTo>
                    <a:pt x="824484" y="316865"/>
                  </a:lnTo>
                  <a:lnTo>
                    <a:pt x="832104" y="339725"/>
                  </a:lnTo>
                  <a:lnTo>
                    <a:pt x="839724" y="361061"/>
                  </a:lnTo>
                  <a:lnTo>
                    <a:pt x="848868" y="406781"/>
                  </a:lnTo>
                  <a:lnTo>
                    <a:pt x="853440" y="431165"/>
                  </a:lnTo>
                  <a:lnTo>
                    <a:pt x="854964" y="455549"/>
                  </a:lnTo>
                  <a:lnTo>
                    <a:pt x="858012" y="479806"/>
                  </a:lnTo>
                  <a:lnTo>
                    <a:pt x="858012" y="335457"/>
                  </a:lnTo>
                  <a:lnTo>
                    <a:pt x="856488" y="330581"/>
                  </a:lnTo>
                  <a:lnTo>
                    <a:pt x="848868" y="307721"/>
                  </a:lnTo>
                  <a:lnTo>
                    <a:pt x="839724" y="286385"/>
                  </a:lnTo>
                  <a:lnTo>
                    <a:pt x="830580" y="263525"/>
                  </a:lnTo>
                  <a:lnTo>
                    <a:pt x="807720" y="222377"/>
                  </a:lnTo>
                  <a:lnTo>
                    <a:pt x="783336" y="184404"/>
                  </a:lnTo>
                  <a:lnTo>
                    <a:pt x="754380" y="147828"/>
                  </a:lnTo>
                  <a:lnTo>
                    <a:pt x="722376" y="115824"/>
                  </a:lnTo>
                  <a:lnTo>
                    <a:pt x="707136" y="100584"/>
                  </a:lnTo>
                  <a:lnTo>
                    <a:pt x="670560" y="73152"/>
                  </a:lnTo>
                  <a:lnTo>
                    <a:pt x="633984" y="50292"/>
                  </a:lnTo>
                  <a:lnTo>
                    <a:pt x="594360" y="32004"/>
                  </a:lnTo>
                  <a:lnTo>
                    <a:pt x="573024" y="22860"/>
                  </a:lnTo>
                  <a:lnTo>
                    <a:pt x="530352" y="10668"/>
                  </a:lnTo>
                  <a:lnTo>
                    <a:pt x="509016" y="6096"/>
                  </a:lnTo>
                  <a:lnTo>
                    <a:pt x="486156" y="3048"/>
                  </a:lnTo>
                  <a:lnTo>
                    <a:pt x="441960" y="0"/>
                  </a:lnTo>
                  <a:lnTo>
                    <a:pt x="396240" y="3048"/>
                  </a:lnTo>
                  <a:lnTo>
                    <a:pt x="352044" y="10668"/>
                  </a:lnTo>
                  <a:lnTo>
                    <a:pt x="309372" y="24384"/>
                  </a:lnTo>
                  <a:lnTo>
                    <a:pt x="249936" y="50292"/>
                  </a:lnTo>
                  <a:lnTo>
                    <a:pt x="193548" y="86868"/>
                  </a:lnTo>
                  <a:lnTo>
                    <a:pt x="176784" y="102108"/>
                  </a:lnTo>
                  <a:lnTo>
                    <a:pt x="160020" y="115824"/>
                  </a:lnTo>
                  <a:lnTo>
                    <a:pt x="114300" y="166116"/>
                  </a:lnTo>
                  <a:lnTo>
                    <a:pt x="64008" y="243713"/>
                  </a:lnTo>
                  <a:lnTo>
                    <a:pt x="44196" y="286385"/>
                  </a:lnTo>
                  <a:lnTo>
                    <a:pt x="19812" y="354965"/>
                  </a:lnTo>
                  <a:lnTo>
                    <a:pt x="9144" y="403733"/>
                  </a:lnTo>
                  <a:lnTo>
                    <a:pt x="3048" y="452501"/>
                  </a:lnTo>
                  <a:lnTo>
                    <a:pt x="0" y="504190"/>
                  </a:lnTo>
                  <a:lnTo>
                    <a:pt x="3048" y="556006"/>
                  </a:lnTo>
                  <a:lnTo>
                    <a:pt x="9144" y="604774"/>
                  </a:lnTo>
                  <a:lnTo>
                    <a:pt x="19812" y="653542"/>
                  </a:lnTo>
                  <a:lnTo>
                    <a:pt x="35052" y="699262"/>
                  </a:lnTo>
                  <a:lnTo>
                    <a:pt x="53340" y="743331"/>
                  </a:lnTo>
                  <a:lnTo>
                    <a:pt x="88392" y="804291"/>
                  </a:lnTo>
                  <a:lnTo>
                    <a:pt x="114300" y="840867"/>
                  </a:lnTo>
                  <a:lnTo>
                    <a:pt x="144780" y="875919"/>
                  </a:lnTo>
                  <a:lnTo>
                    <a:pt x="161544" y="891159"/>
                  </a:lnTo>
                  <a:lnTo>
                    <a:pt x="176784" y="906399"/>
                  </a:lnTo>
                  <a:lnTo>
                    <a:pt x="213360" y="933831"/>
                  </a:lnTo>
                  <a:lnTo>
                    <a:pt x="249936" y="956691"/>
                  </a:lnTo>
                  <a:lnTo>
                    <a:pt x="289560" y="976503"/>
                  </a:lnTo>
                  <a:lnTo>
                    <a:pt x="353555" y="996188"/>
                  </a:lnTo>
                  <a:lnTo>
                    <a:pt x="396240" y="1003808"/>
                  </a:lnTo>
                  <a:lnTo>
                    <a:pt x="441960" y="1006856"/>
                  </a:lnTo>
                  <a:lnTo>
                    <a:pt x="487680" y="1003808"/>
                  </a:lnTo>
                  <a:lnTo>
                    <a:pt x="531876" y="996188"/>
                  </a:lnTo>
                  <a:lnTo>
                    <a:pt x="574548" y="984123"/>
                  </a:lnTo>
                  <a:lnTo>
                    <a:pt x="614172" y="967359"/>
                  </a:lnTo>
                  <a:lnTo>
                    <a:pt x="653796" y="946023"/>
                  </a:lnTo>
                  <a:lnTo>
                    <a:pt x="688848" y="920115"/>
                  </a:lnTo>
                  <a:lnTo>
                    <a:pt x="707136" y="906399"/>
                  </a:lnTo>
                  <a:lnTo>
                    <a:pt x="739140" y="875919"/>
                  </a:lnTo>
                  <a:lnTo>
                    <a:pt x="769620" y="840867"/>
                  </a:lnTo>
                  <a:lnTo>
                    <a:pt x="795528" y="804291"/>
                  </a:lnTo>
                  <a:lnTo>
                    <a:pt x="819912" y="763143"/>
                  </a:lnTo>
                  <a:lnTo>
                    <a:pt x="848868" y="699262"/>
                  </a:lnTo>
                  <a:lnTo>
                    <a:pt x="864108" y="652018"/>
                  </a:lnTo>
                  <a:lnTo>
                    <a:pt x="874776" y="604774"/>
                  </a:lnTo>
                  <a:lnTo>
                    <a:pt x="880872" y="554482"/>
                  </a:lnTo>
                  <a:lnTo>
                    <a:pt x="883920" y="502666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4800" y="361187"/>
              <a:ext cx="7164705" cy="12137390"/>
            </a:xfrm>
            <a:custGeom>
              <a:avLst/>
              <a:gdLst/>
              <a:ahLst/>
              <a:cxnLst/>
              <a:rect l="l" t="t" r="r" b="b"/>
              <a:pathLst>
                <a:path w="7164705" h="12137390">
                  <a:moveTo>
                    <a:pt x="56375" y="0"/>
                  </a:moveTo>
                  <a:lnTo>
                    <a:pt x="47244" y="0"/>
                  </a:lnTo>
                  <a:lnTo>
                    <a:pt x="47244" y="12080748"/>
                  </a:lnTo>
                  <a:lnTo>
                    <a:pt x="47244" y="12089892"/>
                  </a:lnTo>
                  <a:lnTo>
                    <a:pt x="56375" y="12089892"/>
                  </a:lnTo>
                  <a:lnTo>
                    <a:pt x="56375" y="12080748"/>
                  </a:lnTo>
                  <a:lnTo>
                    <a:pt x="56375" y="0"/>
                  </a:lnTo>
                  <a:close/>
                </a:path>
                <a:path w="7164705" h="12137390">
                  <a:moveTo>
                    <a:pt x="7117080" y="0"/>
                  </a:moveTo>
                  <a:lnTo>
                    <a:pt x="7107936" y="0"/>
                  </a:lnTo>
                  <a:lnTo>
                    <a:pt x="7107936" y="12080748"/>
                  </a:lnTo>
                  <a:lnTo>
                    <a:pt x="56388" y="12080748"/>
                  </a:lnTo>
                  <a:lnTo>
                    <a:pt x="56388" y="12089892"/>
                  </a:lnTo>
                  <a:lnTo>
                    <a:pt x="7107936" y="12089892"/>
                  </a:lnTo>
                  <a:lnTo>
                    <a:pt x="7117080" y="12089892"/>
                  </a:lnTo>
                  <a:lnTo>
                    <a:pt x="7117080" y="12080748"/>
                  </a:lnTo>
                  <a:lnTo>
                    <a:pt x="7117080" y="0"/>
                  </a:lnTo>
                  <a:close/>
                </a:path>
                <a:path w="7164705" h="12137390">
                  <a:moveTo>
                    <a:pt x="7164324" y="0"/>
                  </a:moveTo>
                  <a:lnTo>
                    <a:pt x="7126224" y="0"/>
                  </a:lnTo>
                  <a:lnTo>
                    <a:pt x="7126224" y="12080748"/>
                  </a:lnTo>
                  <a:lnTo>
                    <a:pt x="7126224" y="12099036"/>
                  </a:lnTo>
                  <a:lnTo>
                    <a:pt x="7107936" y="12099036"/>
                  </a:lnTo>
                  <a:lnTo>
                    <a:pt x="56388" y="12099036"/>
                  </a:lnTo>
                  <a:lnTo>
                    <a:pt x="38100" y="12099036"/>
                  </a:lnTo>
                  <a:lnTo>
                    <a:pt x="38100" y="12080748"/>
                  </a:lnTo>
                  <a:lnTo>
                    <a:pt x="0" y="12080748"/>
                  </a:lnTo>
                  <a:lnTo>
                    <a:pt x="0" y="12099036"/>
                  </a:lnTo>
                  <a:lnTo>
                    <a:pt x="0" y="12137136"/>
                  </a:lnTo>
                  <a:lnTo>
                    <a:pt x="7164324" y="12137136"/>
                  </a:lnTo>
                  <a:lnTo>
                    <a:pt x="7164324" y="12099036"/>
                  </a:lnTo>
                  <a:lnTo>
                    <a:pt x="7164324" y="12080748"/>
                  </a:lnTo>
                  <a:lnTo>
                    <a:pt x="716432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1978"/>
            <a:ext cx="6630034" cy="138112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400" b="1">
                <a:latin typeface="Arial"/>
                <a:cs typeface="Arial"/>
              </a:rPr>
              <a:t>Form-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2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Sequenced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integration:</a:t>
            </a:r>
            <a:endParaRPr sz="1400">
              <a:latin typeface="Arial"/>
              <a:cs typeface="Arial"/>
            </a:endParaRPr>
          </a:p>
          <a:p>
            <a:pPr marL="469900" marR="5080" indent="-228600">
              <a:lnSpc>
                <a:spcPts val="2070"/>
              </a:lnSpc>
              <a:spcBef>
                <a:spcPts val="9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Topics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units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are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taught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independently,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but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they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are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arranged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sequenced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provide </a:t>
            </a:r>
            <a:r>
              <a:rPr dirty="0" sz="1200" spc="-5" b="1">
                <a:latin typeface="Arial"/>
                <a:cs typeface="Arial"/>
              </a:rPr>
              <a:t>a framework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b="1">
                <a:latin typeface="Arial"/>
                <a:cs typeface="Arial"/>
              </a:rPr>
              <a:t> related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concepts.</a:t>
            </a:r>
            <a:endParaRPr sz="1200">
              <a:latin typeface="Arial"/>
              <a:cs typeface="Arial"/>
            </a:endParaRPr>
          </a:p>
          <a:p>
            <a:pPr marL="469900" marR="5715" indent="-228600">
              <a:lnSpc>
                <a:spcPts val="2100"/>
              </a:lnSpc>
              <a:spcBef>
                <a:spcPts val="2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Teachers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arrange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topics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similar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units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articulate.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example,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graphing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units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coincide </a:t>
            </a:r>
            <a:r>
              <a:rPr dirty="0" sz="1200" b="1">
                <a:latin typeface="Arial"/>
                <a:cs typeface="Arial"/>
              </a:rPr>
              <a:t>with</a:t>
            </a:r>
            <a:r>
              <a:rPr dirty="0" sz="1200" spc="-5" b="1">
                <a:latin typeface="Arial"/>
                <a:cs typeface="Arial"/>
              </a:rPr>
              <a:t> data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collection</a:t>
            </a:r>
            <a:r>
              <a:rPr dirty="0" sz="1200" b="1">
                <a:latin typeface="Arial"/>
                <a:cs typeface="Arial"/>
              </a:rPr>
              <a:t> in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weather</a:t>
            </a:r>
            <a:r>
              <a:rPr dirty="0" sz="1200" b="1">
                <a:latin typeface="Arial"/>
                <a:cs typeface="Arial"/>
              </a:rPr>
              <a:t> unit.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3583813"/>
            <a:ext cx="6632575" cy="5874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There are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subjects with colors green </a:t>
            </a:r>
            <a:r>
              <a:rPr dirty="0" sz="1200" spc="-1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yellow, they are with each other but not connected. </a:t>
            </a:r>
            <a:r>
              <a:rPr dirty="0" sz="1200">
                <a:latin typeface="Arial MT"/>
                <a:cs typeface="Arial MT"/>
              </a:rPr>
              <a:t> They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fragmented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sequenced.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Sequenced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where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disciplines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sequenced in the timetable. There is no overlapping but similar </a:t>
            </a:r>
            <a:r>
              <a:rPr dirty="0" sz="1200">
                <a:latin typeface="Arial MT"/>
                <a:cs typeface="Arial MT"/>
              </a:rPr>
              <a:t>topics </a:t>
            </a:r>
            <a:r>
              <a:rPr dirty="0" sz="1200" spc="-5">
                <a:latin typeface="Arial MT"/>
                <a:cs typeface="Arial MT"/>
              </a:rPr>
              <a:t>are taught </a:t>
            </a:r>
            <a:r>
              <a:rPr dirty="0" sz="1200">
                <a:latin typeface="Arial MT"/>
                <a:cs typeface="Arial MT"/>
              </a:rPr>
              <a:t> together.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two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linked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taught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time.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An</a:t>
            </a:r>
            <a:r>
              <a:rPr dirty="0" sz="1200" spc="-5" b="1">
                <a:latin typeface="Arial"/>
                <a:cs typeface="Arial"/>
              </a:rPr>
              <a:t> important</a:t>
            </a:r>
            <a:r>
              <a:rPr dirty="0" sz="1200" b="1">
                <a:latin typeface="Arial"/>
                <a:cs typeface="Arial"/>
              </a:rPr>
              <a:t> thing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about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sequenced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integration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was </a:t>
            </a:r>
            <a:r>
              <a:rPr dirty="0" sz="1200" b="1">
                <a:latin typeface="Arial"/>
                <a:cs typeface="Arial"/>
              </a:rPr>
              <a:t>said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John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Adams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is:</a:t>
            </a:r>
            <a:endParaRPr sz="1200">
              <a:latin typeface="Arial"/>
              <a:cs typeface="Arial"/>
            </a:endParaRPr>
          </a:p>
          <a:p>
            <a:pPr marL="26034" marR="8890" indent="-6350">
              <a:lnSpc>
                <a:spcPts val="2060"/>
              </a:lnSpc>
              <a:spcBef>
                <a:spcPts val="150"/>
              </a:spcBef>
            </a:pPr>
            <a:r>
              <a:rPr dirty="0" sz="1200" b="1">
                <a:latin typeface="Arial"/>
                <a:cs typeface="Arial"/>
              </a:rPr>
              <a:t>“The</a:t>
            </a:r>
            <a:r>
              <a:rPr dirty="0" sz="1200" spc="1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textbook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not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moral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contract</a:t>
            </a:r>
            <a:r>
              <a:rPr dirty="0" sz="1200" spc="1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teachers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1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obliged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</a:t>
            </a:r>
            <a:r>
              <a:rPr dirty="0" sz="1200" spc="1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…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teachers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obliged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teach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[students].”</a:t>
            </a:r>
            <a:endParaRPr sz="12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445"/>
              </a:spcBef>
            </a:pPr>
            <a:r>
              <a:rPr dirty="0" sz="1200" spc="-5" b="1">
                <a:latin typeface="Arial"/>
                <a:cs typeface="Arial"/>
              </a:rPr>
              <a:t>JOHN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ADAMS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Arial"/>
              <a:cs typeface="Arial"/>
            </a:endParaRPr>
          </a:p>
          <a:p>
            <a:pPr algn="just" marL="18415" marR="6350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major </a:t>
            </a:r>
            <a:r>
              <a:rPr dirty="0" sz="1200" spc="-5">
                <a:latin typeface="Arial MT"/>
                <a:cs typeface="Arial MT"/>
              </a:rPr>
              <a:t>concern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our teachers is to </a:t>
            </a:r>
            <a:r>
              <a:rPr dirty="0" sz="1200" spc="-10">
                <a:latin typeface="Arial MT"/>
                <a:cs typeface="Arial MT"/>
              </a:rPr>
              <a:t>cover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syllabus, which means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textbook provided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be taught completely to the students. But john Adams says that actually textbook is </a:t>
            </a:r>
            <a:r>
              <a:rPr dirty="0" sz="1200">
                <a:latin typeface="Arial MT"/>
                <a:cs typeface="Arial MT"/>
              </a:rPr>
              <a:t>not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moral </a:t>
            </a:r>
            <a:r>
              <a:rPr dirty="0" sz="1200" spc="-5">
                <a:latin typeface="Arial MT"/>
                <a:cs typeface="Arial MT"/>
              </a:rPr>
              <a:t>contract that a teacher needs to carry out or obliged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teach. Teachers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not there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set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Form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2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Shared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integration: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Arial"/>
              <a:cs typeface="Arial"/>
            </a:endParaRPr>
          </a:p>
          <a:p>
            <a:pPr marL="469900" marR="9525" indent="-228600">
              <a:lnSpc>
                <a:spcPct val="142500"/>
              </a:lnSpc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shared</a:t>
            </a:r>
            <a:r>
              <a:rPr dirty="0" sz="1200" spc="1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brings</a:t>
            </a:r>
            <a:r>
              <a:rPr dirty="0" sz="1200" spc="1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two</a:t>
            </a:r>
            <a:r>
              <a:rPr dirty="0" sz="1200" spc="1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distinct</a:t>
            </a:r>
            <a:r>
              <a:rPr dirty="0" sz="1200" spc="1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disciplines</a:t>
            </a:r>
            <a:r>
              <a:rPr dirty="0" sz="1200" spc="1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together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into</a:t>
            </a:r>
            <a:r>
              <a:rPr dirty="0" sz="1200" spc="1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single</a:t>
            </a:r>
            <a:r>
              <a:rPr dirty="0" sz="1200" spc="1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focus.</a:t>
            </a:r>
            <a:r>
              <a:rPr dirty="0" sz="1200" spc="1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shared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methodology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overlaps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concepts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as </a:t>
            </a:r>
            <a:r>
              <a:rPr dirty="0" sz="1200" b="1">
                <a:latin typeface="Arial"/>
                <a:cs typeface="Arial"/>
              </a:rPr>
              <a:t>the organizer.</a:t>
            </a:r>
            <a:endParaRPr sz="1200">
              <a:latin typeface="Arial"/>
              <a:cs typeface="Arial"/>
            </a:endParaRPr>
          </a:p>
          <a:p>
            <a:pPr marL="469900" marR="8890" indent="-228600">
              <a:lnSpc>
                <a:spcPct val="142700"/>
              </a:lnSpc>
              <a:spcBef>
                <a:spcPts val="4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teachers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two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disciplines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plan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teaching,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which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will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take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place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individual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classes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together.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10193273"/>
            <a:ext cx="1215390" cy="55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44200"/>
              </a:lnSpc>
              <a:spcBef>
                <a:spcPts val="100"/>
              </a:spcBef>
              <a:tabLst>
                <a:tab pos="455295" algn="l"/>
                <a:tab pos="1092200" algn="l"/>
              </a:tabLst>
            </a:pPr>
            <a:r>
              <a:rPr dirty="0" sz="1200">
                <a:latin typeface="Arial MT"/>
                <a:cs typeface="Arial MT"/>
              </a:rPr>
              <a:t>O</a:t>
            </a:r>
            <a:r>
              <a:rPr dirty="0" sz="1200" spc="5">
                <a:latin typeface="Arial MT"/>
                <a:cs typeface="Arial MT"/>
              </a:rPr>
              <a:t>n</a:t>
            </a:r>
            <a:r>
              <a:rPr dirty="0" sz="1200" spc="-5">
                <a:latin typeface="Arial MT"/>
                <a:cs typeface="Arial MT"/>
              </a:rPr>
              <a:t>e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s</a:t>
            </a:r>
            <a:r>
              <a:rPr dirty="0" sz="1200" spc="-15">
                <a:latin typeface="Arial MT"/>
                <a:cs typeface="Arial MT"/>
              </a:rPr>
              <a:t>u</a:t>
            </a:r>
            <a:r>
              <a:rPr dirty="0" sz="1200" spc="-5">
                <a:latin typeface="Arial MT"/>
                <a:cs typeface="Arial MT"/>
              </a:rPr>
              <a:t>b</a:t>
            </a:r>
            <a:r>
              <a:rPr dirty="0" sz="1200">
                <a:latin typeface="Arial MT"/>
                <a:cs typeface="Arial MT"/>
              </a:rPr>
              <a:t>ject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is 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1576" y="10720578"/>
            <a:ext cx="1208405" cy="55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4200"/>
              </a:lnSpc>
              <a:spcBef>
                <a:spcPts val="100"/>
              </a:spcBef>
              <a:tabLst>
                <a:tab pos="789940" algn="l"/>
                <a:tab pos="1109980" algn="l"/>
              </a:tabLst>
            </a:pP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physics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</a:t>
            </a:r>
            <a:r>
              <a:rPr dirty="0" sz="1200" spc="5">
                <a:latin typeface="Arial MT"/>
                <a:cs typeface="Arial MT"/>
              </a:rPr>
              <a:t>e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5">
                <a:latin typeface="Arial MT"/>
                <a:cs typeface="Arial MT"/>
              </a:rPr>
              <a:t>ch</a:t>
            </a:r>
            <a:r>
              <a:rPr dirty="0" sz="1200" spc="-20">
                <a:latin typeface="Arial MT"/>
                <a:cs typeface="Arial MT"/>
              </a:rPr>
              <a:t>i</a:t>
            </a:r>
            <a:r>
              <a:rPr dirty="0" sz="1200" spc="-5">
                <a:latin typeface="Arial MT"/>
                <a:cs typeface="Arial MT"/>
              </a:rPr>
              <a:t>ng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1576" y="11247932"/>
            <a:ext cx="1209040" cy="55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41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aims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different.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4804" y="10193273"/>
            <a:ext cx="3142615" cy="160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overlapping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integration.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done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a single teacher. </a:t>
            </a:r>
            <a:r>
              <a:rPr dirty="0" sz="1200">
                <a:latin typeface="Arial MT"/>
                <a:cs typeface="Arial MT"/>
              </a:rPr>
              <a:t>E.g. </a:t>
            </a:r>
            <a:r>
              <a:rPr dirty="0" sz="1200" spc="-5">
                <a:latin typeface="Arial MT"/>
                <a:cs typeface="Arial MT"/>
              </a:rPr>
              <a:t>one teacher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mathematics.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combined way but teach in individual classes.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their</a:t>
            </a:r>
            <a:r>
              <a:rPr dirty="0" sz="1200" spc="3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</a:t>
            </a:r>
            <a:r>
              <a:rPr dirty="0" sz="1200" spc="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integration.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50594" y="2097277"/>
            <a:ext cx="988060" cy="1292225"/>
            <a:chOff x="1150594" y="2097277"/>
            <a:chExt cx="988060" cy="1292225"/>
          </a:xfrm>
        </p:grpSpPr>
        <p:sp>
          <p:nvSpPr>
            <p:cNvPr id="9" name="object 9"/>
            <p:cNvSpPr/>
            <p:nvPr/>
          </p:nvSpPr>
          <p:spPr>
            <a:xfrm>
              <a:off x="1162786" y="2109469"/>
              <a:ext cx="962025" cy="1268095"/>
            </a:xfrm>
            <a:custGeom>
              <a:avLst/>
              <a:gdLst/>
              <a:ahLst/>
              <a:cxnLst/>
              <a:rect l="l" t="t" r="r" b="b"/>
              <a:pathLst>
                <a:path w="962025" h="1268095">
                  <a:moveTo>
                    <a:pt x="481609" y="0"/>
                  </a:moveTo>
                  <a:lnTo>
                    <a:pt x="439953" y="2336"/>
                  </a:lnTo>
                  <a:lnTo>
                    <a:pt x="399300" y="9215"/>
                  </a:lnTo>
                  <a:lnTo>
                    <a:pt x="359793" y="20444"/>
                  </a:lnTo>
                  <a:lnTo>
                    <a:pt x="321575" y="35830"/>
                  </a:lnTo>
                  <a:lnTo>
                    <a:pt x="284789" y="55178"/>
                  </a:lnTo>
                  <a:lnTo>
                    <a:pt x="249577" y="78296"/>
                  </a:lnTo>
                  <a:lnTo>
                    <a:pt x="216082" y="104990"/>
                  </a:lnTo>
                  <a:lnTo>
                    <a:pt x="184446" y="135067"/>
                  </a:lnTo>
                  <a:lnTo>
                    <a:pt x="154813" y="168333"/>
                  </a:lnTo>
                  <a:lnTo>
                    <a:pt x="127325" y="204596"/>
                  </a:lnTo>
                  <a:lnTo>
                    <a:pt x="102124" y="243660"/>
                  </a:lnTo>
                  <a:lnTo>
                    <a:pt x="79354" y="285334"/>
                  </a:lnTo>
                  <a:lnTo>
                    <a:pt x="59157" y="329423"/>
                  </a:lnTo>
                  <a:lnTo>
                    <a:pt x="41676" y="375735"/>
                  </a:lnTo>
                  <a:lnTo>
                    <a:pt x="27053" y="424075"/>
                  </a:lnTo>
                  <a:lnTo>
                    <a:pt x="15431" y="474251"/>
                  </a:lnTo>
                  <a:lnTo>
                    <a:pt x="6953" y="526069"/>
                  </a:lnTo>
                  <a:lnTo>
                    <a:pt x="1762" y="579335"/>
                  </a:lnTo>
                  <a:lnTo>
                    <a:pt x="0" y="633856"/>
                  </a:lnTo>
                  <a:lnTo>
                    <a:pt x="1762" y="688613"/>
                  </a:lnTo>
                  <a:lnTo>
                    <a:pt x="6953" y="742066"/>
                  </a:lnTo>
                  <a:lnTo>
                    <a:pt x="15431" y="794025"/>
                  </a:lnTo>
                  <a:lnTo>
                    <a:pt x="27053" y="844302"/>
                  </a:lnTo>
                  <a:lnTo>
                    <a:pt x="41676" y="892708"/>
                  </a:lnTo>
                  <a:lnTo>
                    <a:pt x="59157" y="939052"/>
                  </a:lnTo>
                  <a:lnTo>
                    <a:pt x="79354" y="983146"/>
                  </a:lnTo>
                  <a:lnTo>
                    <a:pt x="102124" y="1024800"/>
                  </a:lnTo>
                  <a:lnTo>
                    <a:pt x="127325" y="1063826"/>
                  </a:lnTo>
                  <a:lnTo>
                    <a:pt x="154813" y="1100033"/>
                  </a:lnTo>
                  <a:lnTo>
                    <a:pt x="184446" y="1133233"/>
                  </a:lnTo>
                  <a:lnTo>
                    <a:pt x="216082" y="1163235"/>
                  </a:lnTo>
                  <a:lnTo>
                    <a:pt x="249577" y="1189852"/>
                  </a:lnTo>
                  <a:lnTo>
                    <a:pt x="284789" y="1212893"/>
                  </a:lnTo>
                  <a:lnTo>
                    <a:pt x="321575" y="1232169"/>
                  </a:lnTo>
                  <a:lnTo>
                    <a:pt x="359793" y="1247491"/>
                  </a:lnTo>
                  <a:lnTo>
                    <a:pt x="399300" y="1258670"/>
                  </a:lnTo>
                  <a:lnTo>
                    <a:pt x="439953" y="1265516"/>
                  </a:lnTo>
                  <a:lnTo>
                    <a:pt x="481609" y="1267840"/>
                  </a:lnTo>
                  <a:lnTo>
                    <a:pt x="523036" y="1265516"/>
                  </a:lnTo>
                  <a:lnTo>
                    <a:pt x="563481" y="1258670"/>
                  </a:lnTo>
                  <a:lnTo>
                    <a:pt x="602801" y="1247491"/>
                  </a:lnTo>
                  <a:lnTo>
                    <a:pt x="640851" y="1232169"/>
                  </a:lnTo>
                  <a:lnTo>
                    <a:pt x="677489" y="1212893"/>
                  </a:lnTo>
                  <a:lnTo>
                    <a:pt x="712569" y="1189852"/>
                  </a:lnTo>
                  <a:lnTo>
                    <a:pt x="745949" y="1163235"/>
                  </a:lnTo>
                  <a:lnTo>
                    <a:pt x="777485" y="1133233"/>
                  </a:lnTo>
                  <a:lnTo>
                    <a:pt x="807033" y="1100033"/>
                  </a:lnTo>
                  <a:lnTo>
                    <a:pt x="834449" y="1063826"/>
                  </a:lnTo>
                  <a:lnTo>
                    <a:pt x="859589" y="1024800"/>
                  </a:lnTo>
                  <a:lnTo>
                    <a:pt x="882310" y="983146"/>
                  </a:lnTo>
                  <a:lnTo>
                    <a:pt x="902469" y="939052"/>
                  </a:lnTo>
                  <a:lnTo>
                    <a:pt x="919920" y="892708"/>
                  </a:lnTo>
                  <a:lnTo>
                    <a:pt x="934520" y="844302"/>
                  </a:lnTo>
                  <a:lnTo>
                    <a:pt x="946127" y="794025"/>
                  </a:lnTo>
                  <a:lnTo>
                    <a:pt x="954595" y="742066"/>
                  </a:lnTo>
                  <a:lnTo>
                    <a:pt x="959781" y="688613"/>
                  </a:lnTo>
                  <a:lnTo>
                    <a:pt x="961542" y="633856"/>
                  </a:lnTo>
                  <a:lnTo>
                    <a:pt x="959781" y="579335"/>
                  </a:lnTo>
                  <a:lnTo>
                    <a:pt x="954595" y="526069"/>
                  </a:lnTo>
                  <a:lnTo>
                    <a:pt x="946127" y="474251"/>
                  </a:lnTo>
                  <a:lnTo>
                    <a:pt x="934520" y="424075"/>
                  </a:lnTo>
                  <a:lnTo>
                    <a:pt x="919920" y="375735"/>
                  </a:lnTo>
                  <a:lnTo>
                    <a:pt x="902469" y="329423"/>
                  </a:lnTo>
                  <a:lnTo>
                    <a:pt x="882310" y="285334"/>
                  </a:lnTo>
                  <a:lnTo>
                    <a:pt x="859589" y="243660"/>
                  </a:lnTo>
                  <a:lnTo>
                    <a:pt x="834449" y="204596"/>
                  </a:lnTo>
                  <a:lnTo>
                    <a:pt x="807033" y="168333"/>
                  </a:lnTo>
                  <a:lnTo>
                    <a:pt x="777485" y="135067"/>
                  </a:lnTo>
                  <a:lnTo>
                    <a:pt x="745949" y="104990"/>
                  </a:lnTo>
                  <a:lnTo>
                    <a:pt x="712569" y="78296"/>
                  </a:lnTo>
                  <a:lnTo>
                    <a:pt x="677489" y="55178"/>
                  </a:lnTo>
                  <a:lnTo>
                    <a:pt x="640851" y="35830"/>
                  </a:lnTo>
                  <a:lnTo>
                    <a:pt x="602801" y="20444"/>
                  </a:lnTo>
                  <a:lnTo>
                    <a:pt x="563481" y="9215"/>
                  </a:lnTo>
                  <a:lnTo>
                    <a:pt x="523036" y="2336"/>
                  </a:lnTo>
                  <a:lnTo>
                    <a:pt x="48160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50594" y="2097277"/>
              <a:ext cx="988060" cy="1292225"/>
            </a:xfrm>
            <a:custGeom>
              <a:avLst/>
              <a:gdLst/>
              <a:ahLst/>
              <a:cxnLst/>
              <a:rect l="l" t="t" r="r" b="b"/>
              <a:pathLst>
                <a:path w="988060" h="1292225">
                  <a:moveTo>
                    <a:pt x="987450" y="646049"/>
                  </a:moveTo>
                  <a:lnTo>
                    <a:pt x="984402" y="580644"/>
                  </a:lnTo>
                  <a:lnTo>
                    <a:pt x="976782" y="516636"/>
                  </a:lnTo>
                  <a:lnTo>
                    <a:pt x="964590" y="454152"/>
                  </a:lnTo>
                  <a:lnTo>
                    <a:pt x="961542" y="442569"/>
                  </a:lnTo>
                  <a:lnTo>
                    <a:pt x="961542" y="646049"/>
                  </a:lnTo>
                  <a:lnTo>
                    <a:pt x="958494" y="710057"/>
                  </a:lnTo>
                  <a:lnTo>
                    <a:pt x="952398" y="772541"/>
                  </a:lnTo>
                  <a:lnTo>
                    <a:pt x="940206" y="831977"/>
                  </a:lnTo>
                  <a:lnTo>
                    <a:pt x="923442" y="889889"/>
                  </a:lnTo>
                  <a:lnTo>
                    <a:pt x="892962" y="969137"/>
                  </a:lnTo>
                  <a:lnTo>
                    <a:pt x="867054" y="1019429"/>
                  </a:lnTo>
                  <a:lnTo>
                    <a:pt x="838225" y="1065149"/>
                  </a:lnTo>
                  <a:lnTo>
                    <a:pt x="806221" y="1107821"/>
                  </a:lnTo>
                  <a:lnTo>
                    <a:pt x="752881" y="1162685"/>
                  </a:lnTo>
                  <a:lnTo>
                    <a:pt x="714781" y="1193165"/>
                  </a:lnTo>
                  <a:lnTo>
                    <a:pt x="673633" y="1219073"/>
                  </a:lnTo>
                  <a:lnTo>
                    <a:pt x="609625" y="1248029"/>
                  </a:lnTo>
                  <a:lnTo>
                    <a:pt x="563905" y="1260221"/>
                  </a:lnTo>
                  <a:lnTo>
                    <a:pt x="516661" y="1266317"/>
                  </a:lnTo>
                  <a:lnTo>
                    <a:pt x="493026" y="1266317"/>
                  </a:lnTo>
                  <a:lnTo>
                    <a:pt x="469417" y="1266317"/>
                  </a:lnTo>
                  <a:lnTo>
                    <a:pt x="422173" y="1260221"/>
                  </a:lnTo>
                  <a:lnTo>
                    <a:pt x="376453" y="1248029"/>
                  </a:lnTo>
                  <a:lnTo>
                    <a:pt x="355117" y="1238885"/>
                  </a:lnTo>
                  <a:lnTo>
                    <a:pt x="332257" y="1229741"/>
                  </a:lnTo>
                  <a:lnTo>
                    <a:pt x="291109" y="1206881"/>
                  </a:lnTo>
                  <a:lnTo>
                    <a:pt x="251485" y="1177925"/>
                  </a:lnTo>
                  <a:lnTo>
                    <a:pt x="213385" y="1144397"/>
                  </a:lnTo>
                  <a:lnTo>
                    <a:pt x="163093" y="1086485"/>
                  </a:lnTo>
                  <a:lnTo>
                    <a:pt x="132613" y="1042289"/>
                  </a:lnTo>
                  <a:lnTo>
                    <a:pt x="105156" y="995045"/>
                  </a:lnTo>
                  <a:lnTo>
                    <a:pt x="82296" y="943229"/>
                  </a:lnTo>
                  <a:lnTo>
                    <a:pt x="53340" y="860933"/>
                  </a:lnTo>
                  <a:lnTo>
                    <a:pt x="39624" y="801497"/>
                  </a:lnTo>
                  <a:lnTo>
                    <a:pt x="30480" y="740537"/>
                  </a:lnTo>
                  <a:lnTo>
                    <a:pt x="24384" y="646049"/>
                  </a:lnTo>
                  <a:lnTo>
                    <a:pt x="27432" y="582168"/>
                  </a:lnTo>
                  <a:lnTo>
                    <a:pt x="35052" y="519684"/>
                  </a:lnTo>
                  <a:lnTo>
                    <a:pt x="45720" y="460248"/>
                  </a:lnTo>
                  <a:lnTo>
                    <a:pt x="71628" y="376428"/>
                  </a:lnTo>
                  <a:lnTo>
                    <a:pt x="92964" y="323088"/>
                  </a:lnTo>
                  <a:lnTo>
                    <a:pt x="118872" y="272796"/>
                  </a:lnTo>
                  <a:lnTo>
                    <a:pt x="147853" y="227076"/>
                  </a:lnTo>
                  <a:lnTo>
                    <a:pt x="196621" y="166116"/>
                  </a:lnTo>
                  <a:lnTo>
                    <a:pt x="251485" y="114300"/>
                  </a:lnTo>
                  <a:lnTo>
                    <a:pt x="291109" y="85344"/>
                  </a:lnTo>
                  <a:lnTo>
                    <a:pt x="333781" y="62484"/>
                  </a:lnTo>
                  <a:lnTo>
                    <a:pt x="377977" y="44196"/>
                  </a:lnTo>
                  <a:lnTo>
                    <a:pt x="422173" y="32004"/>
                  </a:lnTo>
                  <a:lnTo>
                    <a:pt x="469417" y="25908"/>
                  </a:lnTo>
                  <a:lnTo>
                    <a:pt x="493026" y="25908"/>
                  </a:lnTo>
                  <a:lnTo>
                    <a:pt x="518185" y="25908"/>
                  </a:lnTo>
                  <a:lnTo>
                    <a:pt x="563905" y="32004"/>
                  </a:lnTo>
                  <a:lnTo>
                    <a:pt x="632485" y="53340"/>
                  </a:lnTo>
                  <a:lnTo>
                    <a:pt x="675157" y="74676"/>
                  </a:lnTo>
                  <a:lnTo>
                    <a:pt x="734593" y="114300"/>
                  </a:lnTo>
                  <a:lnTo>
                    <a:pt x="772693" y="147828"/>
                  </a:lnTo>
                  <a:lnTo>
                    <a:pt x="807745" y="185928"/>
                  </a:lnTo>
                  <a:lnTo>
                    <a:pt x="838225" y="228600"/>
                  </a:lnTo>
                  <a:lnTo>
                    <a:pt x="853338" y="249936"/>
                  </a:lnTo>
                  <a:lnTo>
                    <a:pt x="880770" y="298704"/>
                  </a:lnTo>
                  <a:lnTo>
                    <a:pt x="892962" y="323088"/>
                  </a:lnTo>
                  <a:lnTo>
                    <a:pt x="905154" y="348996"/>
                  </a:lnTo>
                  <a:lnTo>
                    <a:pt x="914298" y="376428"/>
                  </a:lnTo>
                  <a:lnTo>
                    <a:pt x="924966" y="403860"/>
                  </a:lnTo>
                  <a:lnTo>
                    <a:pt x="940206" y="461772"/>
                  </a:lnTo>
                  <a:lnTo>
                    <a:pt x="952398" y="521208"/>
                  </a:lnTo>
                  <a:lnTo>
                    <a:pt x="958494" y="582168"/>
                  </a:lnTo>
                  <a:lnTo>
                    <a:pt x="961542" y="646049"/>
                  </a:lnTo>
                  <a:lnTo>
                    <a:pt x="961542" y="442569"/>
                  </a:lnTo>
                  <a:lnTo>
                    <a:pt x="938682" y="367284"/>
                  </a:lnTo>
                  <a:lnTo>
                    <a:pt x="915822" y="312420"/>
                  </a:lnTo>
                  <a:lnTo>
                    <a:pt x="889914" y="260604"/>
                  </a:lnTo>
                  <a:lnTo>
                    <a:pt x="859434" y="213360"/>
                  </a:lnTo>
                  <a:lnTo>
                    <a:pt x="826033" y="169164"/>
                  </a:lnTo>
                  <a:lnTo>
                    <a:pt x="789457" y="129540"/>
                  </a:lnTo>
                  <a:lnTo>
                    <a:pt x="749833" y="94488"/>
                  </a:lnTo>
                  <a:lnTo>
                    <a:pt x="708685" y="64008"/>
                  </a:lnTo>
                  <a:lnTo>
                    <a:pt x="685825" y="51816"/>
                  </a:lnTo>
                  <a:lnTo>
                    <a:pt x="664489" y="39624"/>
                  </a:lnTo>
                  <a:lnTo>
                    <a:pt x="617245" y="21336"/>
                  </a:lnTo>
                  <a:lnTo>
                    <a:pt x="568477" y="7620"/>
                  </a:lnTo>
                  <a:lnTo>
                    <a:pt x="493026" y="0"/>
                  </a:lnTo>
                  <a:lnTo>
                    <a:pt x="492277" y="0"/>
                  </a:lnTo>
                  <a:lnTo>
                    <a:pt x="441985" y="3048"/>
                  </a:lnTo>
                  <a:lnTo>
                    <a:pt x="393217" y="13716"/>
                  </a:lnTo>
                  <a:lnTo>
                    <a:pt x="344449" y="30480"/>
                  </a:lnTo>
                  <a:lnTo>
                    <a:pt x="298729" y="51816"/>
                  </a:lnTo>
                  <a:lnTo>
                    <a:pt x="256057" y="79248"/>
                  </a:lnTo>
                  <a:lnTo>
                    <a:pt x="214909" y="111252"/>
                  </a:lnTo>
                  <a:lnTo>
                    <a:pt x="160045" y="169164"/>
                  </a:lnTo>
                  <a:lnTo>
                    <a:pt x="126517" y="213360"/>
                  </a:lnTo>
                  <a:lnTo>
                    <a:pt x="96012" y="260604"/>
                  </a:lnTo>
                  <a:lnTo>
                    <a:pt x="70104" y="312420"/>
                  </a:lnTo>
                  <a:lnTo>
                    <a:pt x="47244" y="367284"/>
                  </a:lnTo>
                  <a:lnTo>
                    <a:pt x="28956" y="425196"/>
                  </a:lnTo>
                  <a:lnTo>
                    <a:pt x="9144" y="516636"/>
                  </a:lnTo>
                  <a:lnTo>
                    <a:pt x="1524" y="580644"/>
                  </a:lnTo>
                  <a:lnTo>
                    <a:pt x="0" y="614172"/>
                  </a:lnTo>
                  <a:lnTo>
                    <a:pt x="0" y="679577"/>
                  </a:lnTo>
                  <a:lnTo>
                    <a:pt x="4572" y="745109"/>
                  </a:lnTo>
                  <a:lnTo>
                    <a:pt x="15240" y="807593"/>
                  </a:lnTo>
                  <a:lnTo>
                    <a:pt x="28956" y="867029"/>
                  </a:lnTo>
                  <a:lnTo>
                    <a:pt x="47244" y="924941"/>
                  </a:lnTo>
                  <a:lnTo>
                    <a:pt x="70104" y="979805"/>
                  </a:lnTo>
                  <a:lnTo>
                    <a:pt x="97536" y="1031621"/>
                  </a:lnTo>
                  <a:lnTo>
                    <a:pt x="126517" y="1078865"/>
                  </a:lnTo>
                  <a:lnTo>
                    <a:pt x="160045" y="1123061"/>
                  </a:lnTo>
                  <a:lnTo>
                    <a:pt x="196621" y="1162685"/>
                  </a:lnTo>
                  <a:lnTo>
                    <a:pt x="236245" y="1197737"/>
                  </a:lnTo>
                  <a:lnTo>
                    <a:pt x="278917" y="1228217"/>
                  </a:lnTo>
                  <a:lnTo>
                    <a:pt x="323113" y="1252601"/>
                  </a:lnTo>
                  <a:lnTo>
                    <a:pt x="368833" y="1272413"/>
                  </a:lnTo>
                  <a:lnTo>
                    <a:pt x="417601" y="1284605"/>
                  </a:lnTo>
                  <a:lnTo>
                    <a:pt x="493026" y="1292225"/>
                  </a:lnTo>
                  <a:lnTo>
                    <a:pt x="544093" y="1289177"/>
                  </a:lnTo>
                  <a:lnTo>
                    <a:pt x="570001" y="1284605"/>
                  </a:lnTo>
                  <a:lnTo>
                    <a:pt x="594385" y="1278509"/>
                  </a:lnTo>
                  <a:lnTo>
                    <a:pt x="617245" y="1270889"/>
                  </a:lnTo>
                  <a:lnTo>
                    <a:pt x="641629" y="1263269"/>
                  </a:lnTo>
                  <a:lnTo>
                    <a:pt x="687349" y="1240409"/>
                  </a:lnTo>
                  <a:lnTo>
                    <a:pt x="751357" y="1197737"/>
                  </a:lnTo>
                  <a:lnTo>
                    <a:pt x="809269" y="1142873"/>
                  </a:lnTo>
                  <a:lnTo>
                    <a:pt x="844321" y="1101725"/>
                  </a:lnTo>
                  <a:lnTo>
                    <a:pt x="874674" y="1056005"/>
                  </a:lnTo>
                  <a:lnTo>
                    <a:pt x="903630" y="1005713"/>
                  </a:lnTo>
                  <a:lnTo>
                    <a:pt x="928014" y="952373"/>
                  </a:lnTo>
                  <a:lnTo>
                    <a:pt x="956970" y="867029"/>
                  </a:lnTo>
                  <a:lnTo>
                    <a:pt x="976782" y="775589"/>
                  </a:lnTo>
                  <a:lnTo>
                    <a:pt x="984402" y="711581"/>
                  </a:lnTo>
                  <a:lnTo>
                    <a:pt x="987450" y="646049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2397125" y="2155189"/>
            <a:ext cx="960119" cy="1234440"/>
            <a:chOff x="2397125" y="2155189"/>
            <a:chExt cx="960119" cy="1234440"/>
          </a:xfrm>
        </p:grpSpPr>
        <p:sp>
          <p:nvSpPr>
            <p:cNvPr id="12" name="object 12"/>
            <p:cNvSpPr/>
            <p:nvPr/>
          </p:nvSpPr>
          <p:spPr>
            <a:xfrm>
              <a:off x="2410841" y="2167381"/>
              <a:ext cx="932815" cy="1210310"/>
            </a:xfrm>
            <a:custGeom>
              <a:avLst/>
              <a:gdLst/>
              <a:ahLst/>
              <a:cxnLst/>
              <a:rect l="l" t="t" r="r" b="b"/>
              <a:pathLst>
                <a:path w="932814" h="1210310">
                  <a:moveTo>
                    <a:pt x="466344" y="0"/>
                  </a:moveTo>
                  <a:lnTo>
                    <a:pt x="423896" y="2475"/>
                  </a:lnTo>
                  <a:lnTo>
                    <a:pt x="382517" y="9760"/>
                  </a:lnTo>
                  <a:lnTo>
                    <a:pt x="342370" y="21638"/>
                  </a:lnTo>
                  <a:lnTo>
                    <a:pt x="303620" y="37895"/>
                  </a:lnTo>
                  <a:lnTo>
                    <a:pt x="266432" y="58316"/>
                  </a:lnTo>
                  <a:lnTo>
                    <a:pt x="230970" y="82686"/>
                  </a:lnTo>
                  <a:lnTo>
                    <a:pt x="197399" y="110790"/>
                  </a:lnTo>
                  <a:lnTo>
                    <a:pt x="165883" y="142412"/>
                  </a:lnTo>
                  <a:lnTo>
                    <a:pt x="136588" y="177339"/>
                  </a:lnTo>
                  <a:lnTo>
                    <a:pt x="109677" y="215355"/>
                  </a:lnTo>
                  <a:lnTo>
                    <a:pt x="85316" y="256245"/>
                  </a:lnTo>
                  <a:lnTo>
                    <a:pt x="63669" y="299795"/>
                  </a:lnTo>
                  <a:lnTo>
                    <a:pt x="44900" y="345789"/>
                  </a:lnTo>
                  <a:lnTo>
                    <a:pt x="29175" y="394012"/>
                  </a:lnTo>
                  <a:lnTo>
                    <a:pt x="16658" y="444250"/>
                  </a:lnTo>
                  <a:lnTo>
                    <a:pt x="7513" y="496287"/>
                  </a:lnTo>
                  <a:lnTo>
                    <a:pt x="1905" y="549909"/>
                  </a:lnTo>
                  <a:lnTo>
                    <a:pt x="0" y="604901"/>
                  </a:lnTo>
                  <a:lnTo>
                    <a:pt x="1905" y="659912"/>
                  </a:lnTo>
                  <a:lnTo>
                    <a:pt x="7513" y="713552"/>
                  </a:lnTo>
                  <a:lnTo>
                    <a:pt x="16658" y="765605"/>
                  </a:lnTo>
                  <a:lnTo>
                    <a:pt x="29175" y="815856"/>
                  </a:lnTo>
                  <a:lnTo>
                    <a:pt x="44900" y="864092"/>
                  </a:lnTo>
                  <a:lnTo>
                    <a:pt x="63669" y="910096"/>
                  </a:lnTo>
                  <a:lnTo>
                    <a:pt x="85316" y="953654"/>
                  </a:lnTo>
                  <a:lnTo>
                    <a:pt x="109677" y="994551"/>
                  </a:lnTo>
                  <a:lnTo>
                    <a:pt x="136588" y="1032573"/>
                  </a:lnTo>
                  <a:lnTo>
                    <a:pt x="165883" y="1067505"/>
                  </a:lnTo>
                  <a:lnTo>
                    <a:pt x="197399" y="1099131"/>
                  </a:lnTo>
                  <a:lnTo>
                    <a:pt x="230970" y="1127237"/>
                  </a:lnTo>
                  <a:lnTo>
                    <a:pt x="266432" y="1151609"/>
                  </a:lnTo>
                  <a:lnTo>
                    <a:pt x="303620" y="1172031"/>
                  </a:lnTo>
                  <a:lnTo>
                    <a:pt x="342370" y="1188289"/>
                  </a:lnTo>
                  <a:lnTo>
                    <a:pt x="382517" y="1200168"/>
                  </a:lnTo>
                  <a:lnTo>
                    <a:pt x="423896" y="1207453"/>
                  </a:lnTo>
                  <a:lnTo>
                    <a:pt x="466344" y="1209928"/>
                  </a:lnTo>
                  <a:lnTo>
                    <a:pt x="508791" y="1207453"/>
                  </a:lnTo>
                  <a:lnTo>
                    <a:pt x="550170" y="1200168"/>
                  </a:lnTo>
                  <a:lnTo>
                    <a:pt x="590317" y="1188289"/>
                  </a:lnTo>
                  <a:lnTo>
                    <a:pt x="629067" y="1172031"/>
                  </a:lnTo>
                  <a:lnTo>
                    <a:pt x="666255" y="1151609"/>
                  </a:lnTo>
                  <a:lnTo>
                    <a:pt x="701717" y="1127237"/>
                  </a:lnTo>
                  <a:lnTo>
                    <a:pt x="735288" y="1099131"/>
                  </a:lnTo>
                  <a:lnTo>
                    <a:pt x="766804" y="1067505"/>
                  </a:lnTo>
                  <a:lnTo>
                    <a:pt x="796099" y="1032573"/>
                  </a:lnTo>
                  <a:lnTo>
                    <a:pt x="823010" y="994551"/>
                  </a:lnTo>
                  <a:lnTo>
                    <a:pt x="847371" y="953654"/>
                  </a:lnTo>
                  <a:lnTo>
                    <a:pt x="869018" y="910096"/>
                  </a:lnTo>
                  <a:lnTo>
                    <a:pt x="887787" y="864092"/>
                  </a:lnTo>
                  <a:lnTo>
                    <a:pt x="903512" y="815856"/>
                  </a:lnTo>
                  <a:lnTo>
                    <a:pt x="916029" y="765605"/>
                  </a:lnTo>
                  <a:lnTo>
                    <a:pt x="925174" y="713552"/>
                  </a:lnTo>
                  <a:lnTo>
                    <a:pt x="930782" y="659912"/>
                  </a:lnTo>
                  <a:lnTo>
                    <a:pt x="932687" y="604901"/>
                  </a:lnTo>
                  <a:lnTo>
                    <a:pt x="930782" y="549909"/>
                  </a:lnTo>
                  <a:lnTo>
                    <a:pt x="925174" y="496287"/>
                  </a:lnTo>
                  <a:lnTo>
                    <a:pt x="916029" y="444250"/>
                  </a:lnTo>
                  <a:lnTo>
                    <a:pt x="903512" y="394012"/>
                  </a:lnTo>
                  <a:lnTo>
                    <a:pt x="887787" y="345789"/>
                  </a:lnTo>
                  <a:lnTo>
                    <a:pt x="869018" y="299795"/>
                  </a:lnTo>
                  <a:lnTo>
                    <a:pt x="847371" y="256245"/>
                  </a:lnTo>
                  <a:lnTo>
                    <a:pt x="823010" y="215355"/>
                  </a:lnTo>
                  <a:lnTo>
                    <a:pt x="796099" y="177339"/>
                  </a:lnTo>
                  <a:lnTo>
                    <a:pt x="766804" y="142412"/>
                  </a:lnTo>
                  <a:lnTo>
                    <a:pt x="735288" y="110790"/>
                  </a:lnTo>
                  <a:lnTo>
                    <a:pt x="701717" y="82686"/>
                  </a:lnTo>
                  <a:lnTo>
                    <a:pt x="666255" y="58316"/>
                  </a:lnTo>
                  <a:lnTo>
                    <a:pt x="629067" y="37895"/>
                  </a:lnTo>
                  <a:lnTo>
                    <a:pt x="590317" y="21638"/>
                  </a:lnTo>
                  <a:lnTo>
                    <a:pt x="550170" y="9760"/>
                  </a:lnTo>
                  <a:lnTo>
                    <a:pt x="508791" y="2475"/>
                  </a:lnTo>
                  <a:lnTo>
                    <a:pt x="466344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397125" y="2155189"/>
              <a:ext cx="960119" cy="1234440"/>
            </a:xfrm>
            <a:custGeom>
              <a:avLst/>
              <a:gdLst/>
              <a:ahLst/>
              <a:cxnLst/>
              <a:rect l="l" t="t" r="r" b="b"/>
              <a:pathLst>
                <a:path w="960120" h="1234439">
                  <a:moveTo>
                    <a:pt x="960120" y="617093"/>
                  </a:moveTo>
                  <a:lnTo>
                    <a:pt x="957072" y="553212"/>
                  </a:lnTo>
                  <a:lnTo>
                    <a:pt x="944880" y="463296"/>
                  </a:lnTo>
                  <a:lnTo>
                    <a:pt x="934212" y="416966"/>
                  </a:lnTo>
                  <a:lnTo>
                    <a:pt x="934212" y="617093"/>
                  </a:lnTo>
                  <a:lnTo>
                    <a:pt x="934212" y="647573"/>
                  </a:lnTo>
                  <a:lnTo>
                    <a:pt x="925055" y="737489"/>
                  </a:lnTo>
                  <a:lnTo>
                    <a:pt x="906767" y="821309"/>
                  </a:lnTo>
                  <a:lnTo>
                    <a:pt x="879348" y="900557"/>
                  </a:lnTo>
                  <a:lnTo>
                    <a:pt x="854964" y="949325"/>
                  </a:lnTo>
                  <a:lnTo>
                    <a:pt x="829056" y="995045"/>
                  </a:lnTo>
                  <a:lnTo>
                    <a:pt x="800100" y="1037717"/>
                  </a:lnTo>
                  <a:lnTo>
                    <a:pt x="783336" y="1056005"/>
                  </a:lnTo>
                  <a:lnTo>
                    <a:pt x="768096" y="1075817"/>
                  </a:lnTo>
                  <a:lnTo>
                    <a:pt x="749808" y="1092581"/>
                  </a:lnTo>
                  <a:lnTo>
                    <a:pt x="733044" y="1109345"/>
                  </a:lnTo>
                  <a:lnTo>
                    <a:pt x="713232" y="1124585"/>
                  </a:lnTo>
                  <a:lnTo>
                    <a:pt x="675132" y="1152017"/>
                  </a:lnTo>
                  <a:lnTo>
                    <a:pt x="633984" y="1173353"/>
                  </a:lnTo>
                  <a:lnTo>
                    <a:pt x="592836" y="1190117"/>
                  </a:lnTo>
                  <a:lnTo>
                    <a:pt x="548640" y="1202309"/>
                  </a:lnTo>
                  <a:lnTo>
                    <a:pt x="502920" y="1208405"/>
                  </a:lnTo>
                  <a:lnTo>
                    <a:pt x="480060" y="1208405"/>
                  </a:lnTo>
                  <a:lnTo>
                    <a:pt x="455676" y="1208405"/>
                  </a:lnTo>
                  <a:lnTo>
                    <a:pt x="411480" y="1202309"/>
                  </a:lnTo>
                  <a:lnTo>
                    <a:pt x="345948" y="1182497"/>
                  </a:lnTo>
                  <a:lnTo>
                    <a:pt x="304800" y="1162685"/>
                  </a:lnTo>
                  <a:lnTo>
                    <a:pt x="265176" y="1138301"/>
                  </a:lnTo>
                  <a:lnTo>
                    <a:pt x="227076" y="1109345"/>
                  </a:lnTo>
                  <a:lnTo>
                    <a:pt x="175260" y="1056005"/>
                  </a:lnTo>
                  <a:lnTo>
                    <a:pt x="144780" y="1016381"/>
                  </a:lnTo>
                  <a:lnTo>
                    <a:pt x="103632" y="949325"/>
                  </a:lnTo>
                  <a:lnTo>
                    <a:pt x="80772" y="900557"/>
                  </a:lnTo>
                  <a:lnTo>
                    <a:pt x="62484" y="848741"/>
                  </a:lnTo>
                  <a:lnTo>
                    <a:pt x="47244" y="793877"/>
                  </a:lnTo>
                  <a:lnTo>
                    <a:pt x="39624" y="764921"/>
                  </a:lnTo>
                  <a:lnTo>
                    <a:pt x="30480" y="707009"/>
                  </a:lnTo>
                  <a:lnTo>
                    <a:pt x="28956" y="678053"/>
                  </a:lnTo>
                  <a:lnTo>
                    <a:pt x="25908" y="647573"/>
                  </a:lnTo>
                  <a:lnTo>
                    <a:pt x="25908" y="586613"/>
                  </a:lnTo>
                  <a:lnTo>
                    <a:pt x="35052" y="496824"/>
                  </a:lnTo>
                  <a:lnTo>
                    <a:pt x="53340" y="413004"/>
                  </a:lnTo>
                  <a:lnTo>
                    <a:pt x="80772" y="333756"/>
                  </a:lnTo>
                  <a:lnTo>
                    <a:pt x="103632" y="284988"/>
                  </a:lnTo>
                  <a:lnTo>
                    <a:pt x="144780" y="217932"/>
                  </a:lnTo>
                  <a:lnTo>
                    <a:pt x="192024" y="158496"/>
                  </a:lnTo>
                  <a:lnTo>
                    <a:pt x="210312" y="141732"/>
                  </a:lnTo>
                  <a:lnTo>
                    <a:pt x="227076" y="124968"/>
                  </a:lnTo>
                  <a:lnTo>
                    <a:pt x="284988" y="82296"/>
                  </a:lnTo>
                  <a:lnTo>
                    <a:pt x="324612" y="59436"/>
                  </a:lnTo>
                  <a:lnTo>
                    <a:pt x="367284" y="42672"/>
                  </a:lnTo>
                  <a:lnTo>
                    <a:pt x="411480" y="32004"/>
                  </a:lnTo>
                  <a:lnTo>
                    <a:pt x="480060" y="24384"/>
                  </a:lnTo>
                  <a:lnTo>
                    <a:pt x="525780" y="27432"/>
                  </a:lnTo>
                  <a:lnTo>
                    <a:pt x="571500" y="36576"/>
                  </a:lnTo>
                  <a:lnTo>
                    <a:pt x="592836" y="42672"/>
                  </a:lnTo>
                  <a:lnTo>
                    <a:pt x="635508" y="60960"/>
                  </a:lnTo>
                  <a:lnTo>
                    <a:pt x="655320" y="71628"/>
                  </a:lnTo>
                  <a:lnTo>
                    <a:pt x="676656" y="82296"/>
                  </a:lnTo>
                  <a:lnTo>
                    <a:pt x="694944" y="96012"/>
                  </a:lnTo>
                  <a:lnTo>
                    <a:pt x="714756" y="109728"/>
                  </a:lnTo>
                  <a:lnTo>
                    <a:pt x="733044" y="124968"/>
                  </a:lnTo>
                  <a:lnTo>
                    <a:pt x="768096" y="158496"/>
                  </a:lnTo>
                  <a:lnTo>
                    <a:pt x="800100" y="196596"/>
                  </a:lnTo>
                  <a:lnTo>
                    <a:pt x="829056" y="239268"/>
                  </a:lnTo>
                  <a:lnTo>
                    <a:pt x="856488" y="284988"/>
                  </a:lnTo>
                  <a:lnTo>
                    <a:pt x="867143" y="309372"/>
                  </a:lnTo>
                  <a:lnTo>
                    <a:pt x="879348" y="333756"/>
                  </a:lnTo>
                  <a:lnTo>
                    <a:pt x="897636" y="385572"/>
                  </a:lnTo>
                  <a:lnTo>
                    <a:pt x="918972" y="467868"/>
                  </a:lnTo>
                  <a:lnTo>
                    <a:pt x="931164" y="556260"/>
                  </a:lnTo>
                  <a:lnTo>
                    <a:pt x="934212" y="617093"/>
                  </a:lnTo>
                  <a:lnTo>
                    <a:pt x="934212" y="416966"/>
                  </a:lnTo>
                  <a:lnTo>
                    <a:pt x="912876" y="350520"/>
                  </a:lnTo>
                  <a:lnTo>
                    <a:pt x="890003" y="297180"/>
                  </a:lnTo>
                  <a:lnTo>
                    <a:pt x="865632" y="248412"/>
                  </a:lnTo>
                  <a:lnTo>
                    <a:pt x="835152" y="202692"/>
                  </a:lnTo>
                  <a:lnTo>
                    <a:pt x="786384" y="141732"/>
                  </a:lnTo>
                  <a:lnTo>
                    <a:pt x="749808" y="105156"/>
                  </a:lnTo>
                  <a:lnTo>
                    <a:pt x="710184" y="74676"/>
                  </a:lnTo>
                  <a:lnTo>
                    <a:pt x="646176" y="36576"/>
                  </a:lnTo>
                  <a:lnTo>
                    <a:pt x="600456" y="18288"/>
                  </a:lnTo>
                  <a:lnTo>
                    <a:pt x="553212" y="6096"/>
                  </a:lnTo>
                  <a:lnTo>
                    <a:pt x="504444" y="0"/>
                  </a:lnTo>
                  <a:lnTo>
                    <a:pt x="480060" y="0"/>
                  </a:lnTo>
                  <a:lnTo>
                    <a:pt x="454152" y="0"/>
                  </a:lnTo>
                  <a:lnTo>
                    <a:pt x="405384" y="6096"/>
                  </a:lnTo>
                  <a:lnTo>
                    <a:pt x="336804" y="27432"/>
                  </a:lnTo>
                  <a:lnTo>
                    <a:pt x="292608" y="48768"/>
                  </a:lnTo>
                  <a:lnTo>
                    <a:pt x="249936" y="74676"/>
                  </a:lnTo>
                  <a:lnTo>
                    <a:pt x="210312" y="106680"/>
                  </a:lnTo>
                  <a:lnTo>
                    <a:pt x="173736" y="141732"/>
                  </a:lnTo>
                  <a:lnTo>
                    <a:pt x="140208" y="181356"/>
                  </a:lnTo>
                  <a:lnTo>
                    <a:pt x="109728" y="225552"/>
                  </a:lnTo>
                  <a:lnTo>
                    <a:pt x="94488" y="248412"/>
                  </a:lnTo>
                  <a:lnTo>
                    <a:pt x="82296" y="272796"/>
                  </a:lnTo>
                  <a:lnTo>
                    <a:pt x="68580" y="298704"/>
                  </a:lnTo>
                  <a:lnTo>
                    <a:pt x="47244" y="350520"/>
                  </a:lnTo>
                  <a:lnTo>
                    <a:pt x="28956" y="405384"/>
                  </a:lnTo>
                  <a:lnTo>
                    <a:pt x="15240" y="463296"/>
                  </a:lnTo>
                  <a:lnTo>
                    <a:pt x="6096" y="524256"/>
                  </a:lnTo>
                  <a:lnTo>
                    <a:pt x="0" y="617093"/>
                  </a:lnTo>
                  <a:lnTo>
                    <a:pt x="3048" y="679577"/>
                  </a:lnTo>
                  <a:lnTo>
                    <a:pt x="15240" y="771017"/>
                  </a:lnTo>
                  <a:lnTo>
                    <a:pt x="28956" y="828929"/>
                  </a:lnTo>
                  <a:lnTo>
                    <a:pt x="47244" y="883793"/>
                  </a:lnTo>
                  <a:lnTo>
                    <a:pt x="82296" y="961517"/>
                  </a:lnTo>
                  <a:lnTo>
                    <a:pt x="124968" y="1031621"/>
                  </a:lnTo>
                  <a:lnTo>
                    <a:pt x="173736" y="1092581"/>
                  </a:lnTo>
                  <a:lnTo>
                    <a:pt x="210312" y="1127633"/>
                  </a:lnTo>
                  <a:lnTo>
                    <a:pt x="249936" y="1159637"/>
                  </a:lnTo>
                  <a:lnTo>
                    <a:pt x="292608" y="1185545"/>
                  </a:lnTo>
                  <a:lnTo>
                    <a:pt x="336804" y="1206881"/>
                  </a:lnTo>
                  <a:lnTo>
                    <a:pt x="382524" y="1222121"/>
                  </a:lnTo>
                  <a:lnTo>
                    <a:pt x="431292" y="1231265"/>
                  </a:lnTo>
                  <a:lnTo>
                    <a:pt x="455676" y="1234313"/>
                  </a:lnTo>
                  <a:lnTo>
                    <a:pt x="480060" y="1234313"/>
                  </a:lnTo>
                  <a:lnTo>
                    <a:pt x="530352" y="1231265"/>
                  </a:lnTo>
                  <a:lnTo>
                    <a:pt x="553212" y="1226693"/>
                  </a:lnTo>
                  <a:lnTo>
                    <a:pt x="577596" y="1222121"/>
                  </a:lnTo>
                  <a:lnTo>
                    <a:pt x="646176" y="1196213"/>
                  </a:lnTo>
                  <a:lnTo>
                    <a:pt x="688848" y="1173353"/>
                  </a:lnTo>
                  <a:lnTo>
                    <a:pt x="710184" y="1158113"/>
                  </a:lnTo>
                  <a:lnTo>
                    <a:pt x="729996" y="1144397"/>
                  </a:lnTo>
                  <a:lnTo>
                    <a:pt x="768096" y="1110869"/>
                  </a:lnTo>
                  <a:lnTo>
                    <a:pt x="803148" y="1072769"/>
                  </a:lnTo>
                  <a:lnTo>
                    <a:pt x="836676" y="1030097"/>
                  </a:lnTo>
                  <a:lnTo>
                    <a:pt x="865632" y="984377"/>
                  </a:lnTo>
                  <a:lnTo>
                    <a:pt x="877824" y="959993"/>
                  </a:lnTo>
                  <a:lnTo>
                    <a:pt x="891540" y="935609"/>
                  </a:lnTo>
                  <a:lnTo>
                    <a:pt x="912876" y="883793"/>
                  </a:lnTo>
                  <a:lnTo>
                    <a:pt x="931164" y="827405"/>
                  </a:lnTo>
                  <a:lnTo>
                    <a:pt x="944880" y="769493"/>
                  </a:lnTo>
                  <a:lnTo>
                    <a:pt x="954024" y="710057"/>
                  </a:lnTo>
                  <a:lnTo>
                    <a:pt x="957072" y="679577"/>
                  </a:lnTo>
                  <a:lnTo>
                    <a:pt x="960120" y="617093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1981200" y="10265423"/>
            <a:ext cx="2070735" cy="1357630"/>
            <a:chOff x="1981200" y="10265423"/>
            <a:chExt cx="2070735" cy="135763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1200" y="10265423"/>
              <a:ext cx="1324082" cy="135748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816225" y="10280650"/>
              <a:ext cx="1235710" cy="1292225"/>
            </a:xfrm>
            <a:custGeom>
              <a:avLst/>
              <a:gdLst/>
              <a:ahLst/>
              <a:cxnLst/>
              <a:rect l="l" t="t" r="r" b="b"/>
              <a:pathLst>
                <a:path w="1235710" h="1292225">
                  <a:moveTo>
                    <a:pt x="1235710" y="646049"/>
                  </a:moveTo>
                  <a:lnTo>
                    <a:pt x="1232662" y="580517"/>
                  </a:lnTo>
                  <a:lnTo>
                    <a:pt x="1223518" y="516509"/>
                  </a:lnTo>
                  <a:lnTo>
                    <a:pt x="1215898" y="484505"/>
                  </a:lnTo>
                  <a:lnTo>
                    <a:pt x="1209802" y="460121"/>
                  </a:lnTo>
                  <a:lnTo>
                    <a:pt x="1209802" y="614045"/>
                  </a:lnTo>
                  <a:lnTo>
                    <a:pt x="1209802" y="678053"/>
                  </a:lnTo>
                  <a:lnTo>
                    <a:pt x="1203706" y="741934"/>
                  </a:lnTo>
                  <a:lnTo>
                    <a:pt x="1191514" y="801370"/>
                  </a:lnTo>
                  <a:lnTo>
                    <a:pt x="1173226" y="860806"/>
                  </a:lnTo>
                  <a:lnTo>
                    <a:pt x="1151890" y="915670"/>
                  </a:lnTo>
                  <a:lnTo>
                    <a:pt x="1124458" y="969010"/>
                  </a:lnTo>
                  <a:lnTo>
                    <a:pt x="1092454" y="1017778"/>
                  </a:lnTo>
                  <a:lnTo>
                    <a:pt x="1055878" y="1063498"/>
                  </a:lnTo>
                  <a:lnTo>
                    <a:pt x="1016254" y="1106170"/>
                  </a:lnTo>
                  <a:lnTo>
                    <a:pt x="972058" y="1144270"/>
                  </a:lnTo>
                  <a:lnTo>
                    <a:pt x="947674" y="1161034"/>
                  </a:lnTo>
                  <a:lnTo>
                    <a:pt x="924814" y="1177798"/>
                  </a:lnTo>
                  <a:lnTo>
                    <a:pt x="898906" y="1192911"/>
                  </a:lnTo>
                  <a:lnTo>
                    <a:pt x="874649" y="1205103"/>
                  </a:lnTo>
                  <a:lnTo>
                    <a:pt x="848741" y="1218819"/>
                  </a:lnTo>
                  <a:lnTo>
                    <a:pt x="793877" y="1238631"/>
                  </a:lnTo>
                  <a:lnTo>
                    <a:pt x="737489" y="1253921"/>
                  </a:lnTo>
                  <a:lnTo>
                    <a:pt x="647573" y="1266101"/>
                  </a:lnTo>
                  <a:lnTo>
                    <a:pt x="617855" y="1267587"/>
                  </a:lnTo>
                  <a:lnTo>
                    <a:pt x="586613" y="1266101"/>
                  </a:lnTo>
                  <a:lnTo>
                    <a:pt x="527177" y="1260005"/>
                  </a:lnTo>
                  <a:lnTo>
                    <a:pt x="469265" y="1247775"/>
                  </a:lnTo>
                  <a:lnTo>
                    <a:pt x="414401" y="1229487"/>
                  </a:lnTo>
                  <a:lnTo>
                    <a:pt x="361061" y="1205103"/>
                  </a:lnTo>
                  <a:lnTo>
                    <a:pt x="310769" y="1177798"/>
                  </a:lnTo>
                  <a:lnTo>
                    <a:pt x="263525" y="1144270"/>
                  </a:lnTo>
                  <a:lnTo>
                    <a:pt x="219329" y="1106170"/>
                  </a:lnTo>
                  <a:lnTo>
                    <a:pt x="179832" y="1063498"/>
                  </a:lnTo>
                  <a:lnTo>
                    <a:pt x="143256" y="1017778"/>
                  </a:lnTo>
                  <a:lnTo>
                    <a:pt x="111252" y="967486"/>
                  </a:lnTo>
                  <a:lnTo>
                    <a:pt x="83820" y="915670"/>
                  </a:lnTo>
                  <a:lnTo>
                    <a:pt x="51816" y="830326"/>
                  </a:lnTo>
                  <a:lnTo>
                    <a:pt x="32004" y="740410"/>
                  </a:lnTo>
                  <a:lnTo>
                    <a:pt x="25908" y="646049"/>
                  </a:lnTo>
                  <a:lnTo>
                    <a:pt x="28956" y="582041"/>
                  </a:lnTo>
                  <a:lnTo>
                    <a:pt x="38100" y="521081"/>
                  </a:lnTo>
                  <a:lnTo>
                    <a:pt x="62484" y="432689"/>
                  </a:lnTo>
                  <a:lnTo>
                    <a:pt x="83820" y="376301"/>
                  </a:lnTo>
                  <a:lnTo>
                    <a:pt x="111252" y="324485"/>
                  </a:lnTo>
                  <a:lnTo>
                    <a:pt x="128016" y="298577"/>
                  </a:lnTo>
                  <a:lnTo>
                    <a:pt x="143256" y="274320"/>
                  </a:lnTo>
                  <a:lnTo>
                    <a:pt x="179832" y="228600"/>
                  </a:lnTo>
                  <a:lnTo>
                    <a:pt x="220853" y="185928"/>
                  </a:lnTo>
                  <a:lnTo>
                    <a:pt x="263525" y="149352"/>
                  </a:lnTo>
                  <a:lnTo>
                    <a:pt x="310769" y="115824"/>
                  </a:lnTo>
                  <a:lnTo>
                    <a:pt x="361061" y="86868"/>
                  </a:lnTo>
                  <a:lnTo>
                    <a:pt x="388493" y="74676"/>
                  </a:lnTo>
                  <a:lnTo>
                    <a:pt x="414401" y="62484"/>
                  </a:lnTo>
                  <a:lnTo>
                    <a:pt x="441833" y="53340"/>
                  </a:lnTo>
                  <a:lnTo>
                    <a:pt x="499745" y="38100"/>
                  </a:lnTo>
                  <a:lnTo>
                    <a:pt x="557657" y="28956"/>
                  </a:lnTo>
                  <a:lnTo>
                    <a:pt x="588137" y="25908"/>
                  </a:lnTo>
                  <a:lnTo>
                    <a:pt x="617855" y="25908"/>
                  </a:lnTo>
                  <a:lnTo>
                    <a:pt x="649097" y="25908"/>
                  </a:lnTo>
                  <a:lnTo>
                    <a:pt x="737489" y="38100"/>
                  </a:lnTo>
                  <a:lnTo>
                    <a:pt x="793877" y="53340"/>
                  </a:lnTo>
                  <a:lnTo>
                    <a:pt x="848741" y="74676"/>
                  </a:lnTo>
                  <a:lnTo>
                    <a:pt x="900430" y="100584"/>
                  </a:lnTo>
                  <a:lnTo>
                    <a:pt x="949198" y="132588"/>
                  </a:lnTo>
                  <a:lnTo>
                    <a:pt x="994918" y="167640"/>
                  </a:lnTo>
                  <a:lnTo>
                    <a:pt x="1036066" y="207264"/>
                  </a:lnTo>
                  <a:lnTo>
                    <a:pt x="1074166" y="251460"/>
                  </a:lnTo>
                  <a:lnTo>
                    <a:pt x="1109218" y="300101"/>
                  </a:lnTo>
                  <a:lnTo>
                    <a:pt x="1138174" y="350393"/>
                  </a:lnTo>
                  <a:lnTo>
                    <a:pt x="1164082" y="405257"/>
                  </a:lnTo>
                  <a:lnTo>
                    <a:pt x="1183894" y="461645"/>
                  </a:lnTo>
                  <a:lnTo>
                    <a:pt x="1197610" y="521081"/>
                  </a:lnTo>
                  <a:lnTo>
                    <a:pt x="1209802" y="614045"/>
                  </a:lnTo>
                  <a:lnTo>
                    <a:pt x="1209802" y="460121"/>
                  </a:lnTo>
                  <a:lnTo>
                    <a:pt x="1197610" y="423545"/>
                  </a:lnTo>
                  <a:lnTo>
                    <a:pt x="1174750" y="365633"/>
                  </a:lnTo>
                  <a:lnTo>
                    <a:pt x="1145794" y="310769"/>
                  </a:lnTo>
                  <a:lnTo>
                    <a:pt x="1075690" y="211836"/>
                  </a:lnTo>
                  <a:lnTo>
                    <a:pt x="1033018" y="167640"/>
                  </a:lnTo>
                  <a:lnTo>
                    <a:pt x="987298" y="128016"/>
                  </a:lnTo>
                  <a:lnTo>
                    <a:pt x="938530" y="94488"/>
                  </a:lnTo>
                  <a:lnTo>
                    <a:pt x="885317" y="64008"/>
                  </a:lnTo>
                  <a:lnTo>
                    <a:pt x="830453" y="39624"/>
                  </a:lnTo>
                  <a:lnTo>
                    <a:pt x="772541" y="21336"/>
                  </a:lnTo>
                  <a:lnTo>
                    <a:pt x="711581" y="7620"/>
                  </a:lnTo>
                  <a:lnTo>
                    <a:pt x="617855" y="0"/>
                  </a:lnTo>
                  <a:lnTo>
                    <a:pt x="617093" y="0"/>
                  </a:lnTo>
                  <a:lnTo>
                    <a:pt x="554609" y="3048"/>
                  </a:lnTo>
                  <a:lnTo>
                    <a:pt x="493649" y="13716"/>
                  </a:lnTo>
                  <a:lnTo>
                    <a:pt x="434213" y="28956"/>
                  </a:lnTo>
                  <a:lnTo>
                    <a:pt x="350393" y="64008"/>
                  </a:lnTo>
                  <a:lnTo>
                    <a:pt x="297053" y="94488"/>
                  </a:lnTo>
                  <a:lnTo>
                    <a:pt x="248285" y="129540"/>
                  </a:lnTo>
                  <a:lnTo>
                    <a:pt x="202565" y="169164"/>
                  </a:lnTo>
                  <a:lnTo>
                    <a:pt x="160020" y="211836"/>
                  </a:lnTo>
                  <a:lnTo>
                    <a:pt x="105156" y="284861"/>
                  </a:lnTo>
                  <a:lnTo>
                    <a:pt x="89916" y="312293"/>
                  </a:lnTo>
                  <a:lnTo>
                    <a:pt x="74676" y="338201"/>
                  </a:lnTo>
                  <a:lnTo>
                    <a:pt x="60960" y="367157"/>
                  </a:lnTo>
                  <a:lnTo>
                    <a:pt x="48768" y="394589"/>
                  </a:lnTo>
                  <a:lnTo>
                    <a:pt x="38100" y="425069"/>
                  </a:lnTo>
                  <a:lnTo>
                    <a:pt x="27432" y="454025"/>
                  </a:lnTo>
                  <a:lnTo>
                    <a:pt x="13716" y="516509"/>
                  </a:lnTo>
                  <a:lnTo>
                    <a:pt x="3048" y="580517"/>
                  </a:lnTo>
                  <a:lnTo>
                    <a:pt x="0" y="646049"/>
                  </a:lnTo>
                  <a:lnTo>
                    <a:pt x="1524" y="679577"/>
                  </a:lnTo>
                  <a:lnTo>
                    <a:pt x="7620" y="744982"/>
                  </a:lnTo>
                  <a:lnTo>
                    <a:pt x="19812" y="807466"/>
                  </a:lnTo>
                  <a:lnTo>
                    <a:pt x="38100" y="868426"/>
                  </a:lnTo>
                  <a:lnTo>
                    <a:pt x="60960" y="926338"/>
                  </a:lnTo>
                  <a:lnTo>
                    <a:pt x="89916" y="981202"/>
                  </a:lnTo>
                  <a:lnTo>
                    <a:pt x="123444" y="1033018"/>
                  </a:lnTo>
                  <a:lnTo>
                    <a:pt x="181356" y="1103122"/>
                  </a:lnTo>
                  <a:lnTo>
                    <a:pt x="248285" y="1164082"/>
                  </a:lnTo>
                  <a:lnTo>
                    <a:pt x="297053" y="1199007"/>
                  </a:lnTo>
                  <a:lnTo>
                    <a:pt x="377825" y="1241679"/>
                  </a:lnTo>
                  <a:lnTo>
                    <a:pt x="434213" y="1263053"/>
                  </a:lnTo>
                  <a:lnTo>
                    <a:pt x="493649" y="1279817"/>
                  </a:lnTo>
                  <a:lnTo>
                    <a:pt x="554609" y="1288961"/>
                  </a:lnTo>
                  <a:lnTo>
                    <a:pt x="586613" y="1292009"/>
                  </a:lnTo>
                  <a:lnTo>
                    <a:pt x="617855" y="1292009"/>
                  </a:lnTo>
                  <a:lnTo>
                    <a:pt x="650621" y="1292009"/>
                  </a:lnTo>
                  <a:lnTo>
                    <a:pt x="743585" y="1279817"/>
                  </a:lnTo>
                  <a:lnTo>
                    <a:pt x="801497" y="1263053"/>
                  </a:lnTo>
                  <a:lnTo>
                    <a:pt x="859409" y="1241679"/>
                  </a:lnTo>
                  <a:lnTo>
                    <a:pt x="912622" y="1214247"/>
                  </a:lnTo>
                  <a:lnTo>
                    <a:pt x="962914" y="1182370"/>
                  </a:lnTo>
                  <a:lnTo>
                    <a:pt x="1011682" y="1144270"/>
                  </a:lnTo>
                  <a:lnTo>
                    <a:pt x="1054354" y="1103122"/>
                  </a:lnTo>
                  <a:lnTo>
                    <a:pt x="1095502" y="1057402"/>
                  </a:lnTo>
                  <a:lnTo>
                    <a:pt x="1112266" y="1033018"/>
                  </a:lnTo>
                  <a:lnTo>
                    <a:pt x="1130554" y="1007110"/>
                  </a:lnTo>
                  <a:lnTo>
                    <a:pt x="1161034" y="953770"/>
                  </a:lnTo>
                  <a:lnTo>
                    <a:pt x="1186942" y="897382"/>
                  </a:lnTo>
                  <a:lnTo>
                    <a:pt x="1208278" y="837946"/>
                  </a:lnTo>
                  <a:lnTo>
                    <a:pt x="1223518" y="775462"/>
                  </a:lnTo>
                  <a:lnTo>
                    <a:pt x="1232662" y="711581"/>
                  </a:lnTo>
                  <a:lnTo>
                    <a:pt x="1235710" y="646049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844478"/>
            <a:ext cx="5792470" cy="5740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400" b="1">
                <a:latin typeface="Arial"/>
                <a:cs typeface="Arial"/>
              </a:rPr>
              <a:t>Form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2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Webbed: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5">
                <a:latin typeface="Arial MT"/>
                <a:cs typeface="Arial MT"/>
              </a:rPr>
              <a:t> different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linked </a:t>
            </a:r>
            <a:r>
              <a:rPr dirty="0" sz="1200" spc="-5">
                <a:latin typeface="Arial MT"/>
                <a:cs typeface="Arial MT"/>
              </a:rPr>
              <a:t>together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 shown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diagram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below: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384" y="5311267"/>
            <a:ext cx="6403340" cy="1456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5080" indent="-228600">
              <a:lnSpc>
                <a:spcPct val="1425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Webbed curricula commonly use a thematic </a:t>
            </a:r>
            <a:r>
              <a:rPr dirty="0" sz="1200" b="1">
                <a:latin typeface="Arial"/>
                <a:cs typeface="Arial"/>
              </a:rPr>
              <a:t>approach to </a:t>
            </a:r>
            <a:r>
              <a:rPr dirty="0" sz="1200" spc="-5" b="1">
                <a:latin typeface="Arial"/>
                <a:cs typeface="Arial"/>
              </a:rPr>
              <a:t>integrate subject matter. </a:t>
            </a:r>
            <a:r>
              <a:rPr dirty="0" sz="1200" b="1">
                <a:latin typeface="Arial"/>
                <a:cs typeface="Arial"/>
              </a:rPr>
              <a:t> Broad </a:t>
            </a:r>
            <a:r>
              <a:rPr dirty="0" sz="1200" spc="-5" b="1">
                <a:latin typeface="Arial"/>
                <a:cs typeface="Arial"/>
              </a:rPr>
              <a:t>themes such as change, cultures, discovery, environments, interactions, and </a:t>
            </a:r>
            <a:r>
              <a:rPr dirty="0" sz="1200" b="1">
                <a:latin typeface="Arial"/>
                <a:cs typeface="Arial"/>
              </a:rPr>
              <a:t> work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provide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greater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opportunity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teachers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various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disciplines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find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common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topics, concepts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example: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46124" y="7031101"/>
          <a:ext cx="5862320" cy="1572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5005"/>
                <a:gridCol w="1955799"/>
                <a:gridCol w="1952625"/>
              </a:tblGrid>
              <a:tr h="313943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Concepts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Topics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Categories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Change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Community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Adventure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Culture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Partnership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Biographies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Discovery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Relationship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Medieval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times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Freedom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Society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Science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fiction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94384" y="8758808"/>
            <a:ext cx="6404610" cy="2648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34" marR="1143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One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could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culture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unless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he/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she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change.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interconnected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each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other.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presented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 MT"/>
              <a:cs typeface="Arial MT"/>
            </a:endParaRPr>
          </a:p>
          <a:p>
            <a:pPr marL="26034" marR="508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webbed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way,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done,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those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concepts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much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better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Form-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2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Threaded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integration:</a:t>
            </a:r>
            <a:endParaRPr sz="1400">
              <a:latin typeface="Arial"/>
              <a:cs typeface="Arial"/>
            </a:endParaRPr>
          </a:p>
          <a:p>
            <a:pPr marL="241300" marR="8255" indent="-228600">
              <a:lnSpc>
                <a:spcPts val="2050"/>
              </a:lnSpc>
              <a:spcBef>
                <a:spcPts val="110"/>
              </a:spcBef>
              <a:tabLst>
                <a:tab pos="240665" algn="l"/>
              </a:tabLst>
            </a:pPr>
            <a:r>
              <a:rPr dirty="0" sz="1200">
                <a:latin typeface="Times New Roman"/>
                <a:cs typeface="Times New Roman"/>
              </a:rPr>
              <a:t>-	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threaded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approach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integration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meta-curricular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approach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where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big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ideas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2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enlarged.</a:t>
            </a:r>
            <a:r>
              <a:rPr dirty="0" sz="1200" spc="2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This</a:t>
            </a:r>
            <a:r>
              <a:rPr dirty="0" sz="1200" spc="2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methodology</a:t>
            </a:r>
            <a:r>
              <a:rPr dirty="0" sz="1200" spc="2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threads</a:t>
            </a:r>
            <a:r>
              <a:rPr dirty="0" sz="1200" spc="2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thinking</a:t>
            </a:r>
            <a:r>
              <a:rPr dirty="0" sz="1200" spc="2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skills,</a:t>
            </a:r>
            <a:r>
              <a:rPr dirty="0" sz="1200" spc="2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social</a:t>
            </a:r>
            <a:r>
              <a:rPr dirty="0" sz="1200" spc="2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skills,</a:t>
            </a:r>
            <a:r>
              <a:rPr dirty="0" sz="1200" spc="2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study</a:t>
            </a:r>
            <a:r>
              <a:rPr dirty="0" sz="1200" spc="2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skills,</a:t>
            </a:r>
            <a:endParaRPr sz="12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5"/>
              </a:spcBef>
            </a:pPr>
            <a:r>
              <a:rPr dirty="0" sz="1200" b="1">
                <a:latin typeface="Arial"/>
                <a:cs typeface="Arial"/>
              </a:rPr>
              <a:t>graphic </a:t>
            </a:r>
            <a:r>
              <a:rPr dirty="0" sz="1200" spc="-5" b="1">
                <a:latin typeface="Arial"/>
                <a:cs typeface="Arial"/>
              </a:rPr>
              <a:t>organizers,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technology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multiple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intelligences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approach to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1144" y="1423035"/>
            <a:ext cx="3235325" cy="360553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384" y="3294634"/>
            <a:ext cx="6402705" cy="2447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6034" marR="8890" indent="-6350">
              <a:lnSpc>
                <a:spcPct val="144300"/>
              </a:lnSpc>
              <a:spcBef>
                <a:spcPts val="95"/>
              </a:spcBef>
            </a:pPr>
            <a:r>
              <a:rPr dirty="0" sz="1200" spc="-5">
                <a:latin typeface="Arial MT"/>
                <a:cs typeface="Arial MT"/>
              </a:rPr>
              <a:t>Here a teacher needs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know what are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skills needed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taught to students in science,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mathematics, English </a:t>
            </a:r>
            <a:r>
              <a:rPr dirty="0" sz="1200">
                <a:latin typeface="Arial MT"/>
                <a:cs typeface="Arial MT"/>
              </a:rPr>
              <a:t>etc. </a:t>
            </a:r>
            <a:r>
              <a:rPr dirty="0" sz="1200" spc="-5">
                <a:latin typeface="Arial MT"/>
                <a:cs typeface="Arial MT"/>
              </a:rPr>
              <a:t>Then a teachers needs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identify the common skills in all these </a:t>
            </a:r>
            <a:r>
              <a:rPr dirty="0" sz="1200">
                <a:latin typeface="Arial MT"/>
                <a:cs typeface="Arial MT"/>
              </a:rPr>
              <a:t> subjects.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must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taught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algn="just" marL="19685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Form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2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Integrated: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50">
              <a:latin typeface="Arial"/>
              <a:cs typeface="Arial"/>
            </a:endParaRPr>
          </a:p>
          <a:p>
            <a:pPr marL="241300" marR="5080" indent="-228600">
              <a:lnSpc>
                <a:spcPct val="142500"/>
              </a:lnSpc>
              <a:tabLst>
                <a:tab pos="240665" algn="l"/>
              </a:tabLst>
            </a:pPr>
            <a:r>
              <a:rPr dirty="0" sz="1200">
                <a:latin typeface="Times New Roman"/>
                <a:cs typeface="Times New Roman"/>
              </a:rPr>
              <a:t>-	</a:t>
            </a:r>
            <a:r>
              <a:rPr dirty="0" sz="1200" b="1">
                <a:latin typeface="Arial"/>
                <a:cs typeface="Arial"/>
              </a:rPr>
              <a:t>This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</a:t>
            </a:r>
            <a:r>
              <a:rPr dirty="0" sz="1200" b="1">
                <a:latin typeface="Arial"/>
                <a:cs typeface="Arial"/>
              </a:rPr>
              <a:t> blends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disciplines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by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finding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overlapping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skills,</a:t>
            </a:r>
            <a:r>
              <a:rPr dirty="0" sz="1200" b="1">
                <a:latin typeface="Arial"/>
                <a:cs typeface="Arial"/>
              </a:rPr>
              <a:t> concepts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attitudes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found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across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disciplines.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Much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like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shared</a:t>
            </a:r>
            <a:r>
              <a:rPr dirty="0" sz="1200" spc="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methodology, </a:t>
            </a:r>
            <a:r>
              <a:rPr dirty="0" sz="1200" b="1">
                <a:latin typeface="Arial"/>
                <a:cs typeface="Arial"/>
              </a:rPr>
              <a:t> integration 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5" b="1">
                <a:latin typeface="Arial"/>
                <a:cs typeface="Arial"/>
              </a:rPr>
              <a:t> result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-5" b="1">
                <a:latin typeface="Arial"/>
                <a:cs typeface="Arial"/>
              </a:rPr>
              <a:t> shifting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related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ideas out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5" b="1">
                <a:latin typeface="Arial"/>
                <a:cs typeface="Arial"/>
              </a:rPr>
              <a:t> subject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matter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content.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8513444"/>
            <a:ext cx="6628765" cy="2814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Form </a:t>
            </a:r>
            <a:r>
              <a:rPr dirty="0" sz="1200" spc="-5">
                <a:latin typeface="Arial MT"/>
                <a:cs typeface="Arial MT"/>
              </a:rPr>
              <a:t>2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1.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Form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3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Immersed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integration: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 that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 disciplines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5">
                <a:latin typeface="Arial MT"/>
                <a:cs typeface="Arial MT"/>
              </a:rPr>
              <a:t> immersed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 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umbrella.</a:t>
            </a:r>
            <a:endParaRPr sz="1200">
              <a:latin typeface="Arial MT"/>
              <a:cs typeface="Arial MT"/>
            </a:endParaRPr>
          </a:p>
          <a:p>
            <a:pPr algn="just" marL="469900" marR="5080" indent="-228600">
              <a:lnSpc>
                <a:spcPct val="142500"/>
              </a:lnSpc>
              <a:spcBef>
                <a:spcPts val="70"/>
              </a:spcBef>
            </a:pP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immersed methodology focuses all curricular content </a:t>
            </a:r>
            <a:r>
              <a:rPr dirty="0" sz="1200" b="1">
                <a:latin typeface="Arial"/>
                <a:cs typeface="Arial"/>
              </a:rPr>
              <a:t>on </a:t>
            </a:r>
            <a:r>
              <a:rPr dirty="0" sz="1200" spc="-5" b="1">
                <a:latin typeface="Arial"/>
                <a:cs typeface="Arial"/>
              </a:rPr>
              <a:t>interest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expertise.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With this methodology, integration takes place within the learners, </a:t>
            </a:r>
            <a:r>
              <a:rPr dirty="0" sz="1200" b="1">
                <a:latin typeface="Arial"/>
                <a:cs typeface="Arial"/>
              </a:rPr>
              <a:t>with </a:t>
            </a:r>
            <a:r>
              <a:rPr dirty="0" sz="1200" spc="-5" b="1">
                <a:latin typeface="Arial"/>
                <a:cs typeface="Arial"/>
              </a:rPr>
              <a:t>little </a:t>
            </a:r>
            <a:r>
              <a:rPr dirty="0" sz="1200" b="1">
                <a:latin typeface="Arial"/>
                <a:cs typeface="Arial"/>
              </a:rPr>
              <a:t>or </a:t>
            </a:r>
            <a:r>
              <a:rPr dirty="0" sz="1200" spc="-10" b="1">
                <a:latin typeface="Arial"/>
                <a:cs typeface="Arial"/>
              </a:rPr>
              <a:t>no </a:t>
            </a:r>
            <a:r>
              <a:rPr dirty="0" sz="1200" spc="-5" b="1">
                <a:latin typeface="Arial"/>
                <a:cs typeface="Arial"/>
              </a:rPr>
              <a:t> outside intervention. Immersed learners continually make connections between their </a:t>
            </a:r>
            <a:r>
              <a:rPr dirty="0" sz="1200" b="1">
                <a:latin typeface="Arial"/>
                <a:cs typeface="Arial"/>
              </a:rPr>
              <a:t> chosen</a:t>
            </a:r>
            <a:r>
              <a:rPr dirty="0" sz="1200" spc="-5" b="1">
                <a:latin typeface="Arial"/>
                <a:cs typeface="Arial"/>
              </a:rPr>
              <a:t> topic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interest</a:t>
            </a:r>
            <a:r>
              <a:rPr dirty="0" sz="1200" b="1">
                <a:latin typeface="Arial"/>
                <a:cs typeface="Arial"/>
              </a:rPr>
              <a:t> and </a:t>
            </a:r>
            <a:r>
              <a:rPr dirty="0" sz="1200" spc="-5" b="1">
                <a:latin typeface="Arial"/>
                <a:cs typeface="Arial"/>
              </a:rPr>
              <a:t>subjects.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Arial"/>
              <a:cs typeface="Arial"/>
            </a:endParaRPr>
          </a:p>
          <a:p>
            <a:pPr marL="255270" marR="5080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Do remember,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teacher is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integrate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lessons with child’s interest.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not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10">
                <a:latin typeface="Arial MT"/>
                <a:cs typeface="Arial MT"/>
              </a:rPr>
              <a:t>subject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specified integration but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 content 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child’s </a:t>
            </a:r>
            <a:r>
              <a:rPr dirty="0" sz="1200">
                <a:latin typeface="Arial MT"/>
                <a:cs typeface="Arial MT"/>
              </a:rPr>
              <a:t>interest.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604" y="654811"/>
            <a:ext cx="2302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Times New Roman"/>
                <a:cs typeface="Times New Roman"/>
              </a:rPr>
              <a:t>thinking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throughout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all disciplines.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1308" y="704469"/>
            <a:ext cx="4044441" cy="24196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8925" y="6132703"/>
            <a:ext cx="2102992" cy="20447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384" y="653287"/>
            <a:ext cx="6404610" cy="2750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Form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3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–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Networked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integration: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50">
              <a:latin typeface="Arial"/>
              <a:cs typeface="Arial"/>
            </a:endParaRPr>
          </a:p>
          <a:p>
            <a:pPr algn="just" marL="241300" marR="5080" indent="-228600">
              <a:lnSpc>
                <a:spcPct val="142500"/>
              </a:lnSpc>
              <a:buFont typeface="Times New Roman"/>
              <a:buChar char="-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network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methodology</a:t>
            </a:r>
            <a:r>
              <a:rPr dirty="0" sz="1200" b="1">
                <a:latin typeface="Arial"/>
                <a:cs typeface="Arial"/>
              </a:rPr>
              <a:t> 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totally</a:t>
            </a:r>
            <a:r>
              <a:rPr dirty="0" sz="1200" b="1">
                <a:latin typeface="Arial"/>
                <a:cs typeface="Arial"/>
              </a:rPr>
              <a:t> student-centered.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professes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b="1">
                <a:latin typeface="Arial"/>
                <a:cs typeface="Arial"/>
              </a:rPr>
              <a:t> only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learner</a:t>
            </a:r>
            <a:r>
              <a:rPr dirty="0" sz="1200" spc="-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direct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integration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process.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methodology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professes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learner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knows </a:t>
            </a:r>
            <a:r>
              <a:rPr dirty="0" sz="1200" spc="-5" b="1">
                <a:latin typeface="Arial"/>
                <a:cs typeface="Arial"/>
              </a:rPr>
              <a:t>their topic and can </a:t>
            </a:r>
            <a:r>
              <a:rPr dirty="0" sz="1200" b="1">
                <a:latin typeface="Arial"/>
                <a:cs typeface="Arial"/>
              </a:rPr>
              <a:t>self-direct </a:t>
            </a:r>
            <a:r>
              <a:rPr dirty="0" sz="1200" spc="-5" b="1">
                <a:latin typeface="Arial"/>
                <a:cs typeface="Arial"/>
              </a:rPr>
              <a:t>their focus </a:t>
            </a:r>
            <a:r>
              <a:rPr dirty="0" sz="1200" b="1">
                <a:latin typeface="Arial"/>
                <a:cs typeface="Arial"/>
              </a:rPr>
              <a:t>on </a:t>
            </a:r>
            <a:r>
              <a:rPr dirty="0" sz="1200" spc="-5" b="1">
                <a:latin typeface="Arial"/>
                <a:cs typeface="Arial"/>
              </a:rPr>
              <a:t>the necessary resources both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within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across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subject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areas.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-"/>
            </a:pPr>
            <a:endParaRPr sz="115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Networked</a:t>
            </a:r>
            <a:r>
              <a:rPr dirty="0" sz="1200" spc="-10" b="1">
                <a:latin typeface="Arial"/>
                <a:cs typeface="Arial"/>
              </a:rPr>
              <a:t> are </a:t>
            </a:r>
            <a:r>
              <a:rPr dirty="0" sz="1200" spc="-5" b="1">
                <a:latin typeface="Arial"/>
                <a:cs typeface="Arial"/>
              </a:rPr>
              <a:t>created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between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learners.</a:t>
            </a:r>
            <a:endParaRPr sz="1200">
              <a:latin typeface="Arial"/>
              <a:cs typeface="Arial"/>
            </a:endParaRPr>
          </a:p>
          <a:p>
            <a:pPr marL="12700" marR="441325">
              <a:lnSpc>
                <a:spcPct val="142500"/>
              </a:lnSpc>
              <a:spcBef>
                <a:spcPts val="1045"/>
              </a:spcBef>
            </a:pPr>
            <a:r>
              <a:rPr dirty="0" sz="1200" b="1">
                <a:latin typeface="Arial"/>
                <a:cs typeface="Arial"/>
              </a:rPr>
              <a:t>Form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3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focuses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integration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subject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content</a:t>
            </a:r>
            <a:r>
              <a:rPr dirty="0" sz="1200" b="1">
                <a:latin typeface="Arial"/>
                <a:cs typeface="Arial"/>
              </a:rPr>
              <a:t> with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children’s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interest.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3671570"/>
            <a:ext cx="6979920" cy="39370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28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“Integrated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Themes”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4229227"/>
            <a:ext cx="6633845" cy="739648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Outlines</a:t>
            </a:r>
            <a:endParaRPr sz="1200">
              <a:latin typeface="Arial"/>
              <a:cs typeface="Arial"/>
            </a:endParaRPr>
          </a:p>
          <a:p>
            <a:pPr marL="477520">
              <a:lnSpc>
                <a:spcPct val="100000"/>
              </a:lnSpc>
              <a:spcBef>
                <a:spcPts val="600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talked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about:</a:t>
            </a:r>
            <a:endParaRPr sz="120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  <a:spcBef>
                <a:spcPts val="610"/>
              </a:spcBef>
            </a:pPr>
            <a:r>
              <a:rPr dirty="0" sz="1200">
                <a:latin typeface="Arial MT"/>
                <a:cs typeface="Arial MT"/>
              </a:rPr>
              <a:t>Reasons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integration.</a:t>
            </a:r>
            <a:endParaRPr sz="1200">
              <a:latin typeface="Arial MT"/>
              <a:cs typeface="Arial MT"/>
            </a:endParaRPr>
          </a:p>
          <a:p>
            <a:pPr marL="477520" marR="4430395">
              <a:lnSpc>
                <a:spcPct val="1425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Planning integrated units.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Integrated project.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Ten</a:t>
            </a:r>
            <a:r>
              <a:rPr dirty="0" sz="1200" spc="-5" b="1">
                <a:latin typeface="Arial"/>
                <a:cs typeface="Arial"/>
              </a:rPr>
              <a:t> reasons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-5" b="1">
                <a:latin typeface="Arial"/>
                <a:cs typeface="Arial"/>
              </a:rPr>
              <a:t> teach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 integrated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curriculum.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Arial"/>
              <a:cs typeface="Arial"/>
            </a:endParaRPr>
          </a:p>
          <a:p>
            <a:pPr algn="just" marL="477520" indent="-229235">
              <a:lnSpc>
                <a:spcPct val="100000"/>
              </a:lnSpc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Unless</a:t>
            </a:r>
            <a:r>
              <a:rPr dirty="0" sz="1200">
                <a:latin typeface="Arial MT"/>
                <a:cs typeface="Arial MT"/>
              </a:rPr>
              <a:t> you</a:t>
            </a:r>
            <a:r>
              <a:rPr dirty="0" sz="1200" spc="-5">
                <a:latin typeface="Arial MT"/>
                <a:cs typeface="Arial MT"/>
              </a:rPr>
              <a:t> have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50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hours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day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teach,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never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get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all </a:t>
            </a:r>
            <a:r>
              <a:rPr dirty="0" sz="1200" spc="-5">
                <a:latin typeface="Arial MT"/>
                <a:cs typeface="Arial MT"/>
              </a:rPr>
              <a:t>in.</a:t>
            </a:r>
            <a:endParaRPr sz="1200">
              <a:latin typeface="Arial MT"/>
              <a:cs typeface="Arial MT"/>
            </a:endParaRPr>
          </a:p>
          <a:p>
            <a:pPr algn="just" marL="483870" marR="5715" indent="-6350">
              <a:lnSpc>
                <a:spcPts val="2080"/>
              </a:lnSpc>
              <a:spcBef>
                <a:spcPts val="165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can not teach the subjects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students in isolation.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have enough time to </a:t>
            </a:r>
            <a:r>
              <a:rPr dirty="0" sz="1200">
                <a:latin typeface="Arial MT"/>
                <a:cs typeface="Arial MT"/>
              </a:rPr>
              <a:t> teach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single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 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integrate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 subject.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Arial MT"/>
              <a:cs typeface="Arial MT"/>
            </a:endParaRPr>
          </a:p>
          <a:p>
            <a:pPr algn="just" marL="477520" marR="10160" indent="-228600">
              <a:lnSpc>
                <a:spcPct val="144200"/>
              </a:lnSpc>
              <a:spcBef>
                <a:spcPts val="5"/>
              </a:spcBef>
              <a:buFont typeface="Times New Roman"/>
              <a:buAutoNum type="arabicPeriod" startAt="2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allows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science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studies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frame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reading,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math.</a:t>
            </a:r>
            <a:endParaRPr sz="1200">
              <a:latin typeface="Arial MT"/>
              <a:cs typeface="Arial MT"/>
            </a:endParaRPr>
          </a:p>
          <a:p>
            <a:pPr algn="just" marL="483870" marR="5715" indent="-6350">
              <a:lnSpc>
                <a:spcPct val="144200"/>
              </a:lnSpc>
              <a:spcBef>
                <a:spcPts val="20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teach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grammar,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descriptive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writings,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argumentative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essays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 </a:t>
            </a:r>
            <a:r>
              <a:rPr dirty="0" sz="1200">
                <a:latin typeface="Arial MT"/>
                <a:cs typeface="Arial MT"/>
              </a:rPr>
              <a:t>studies </a:t>
            </a:r>
            <a:r>
              <a:rPr dirty="0" sz="1200" spc="-5">
                <a:latin typeface="Arial MT"/>
                <a:cs typeface="Arial MT"/>
              </a:rPr>
              <a:t>and science instead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English and Urdu. There should be good integration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overlapping.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 algn="just" marL="477520" indent="-229235">
              <a:lnSpc>
                <a:spcPct val="100000"/>
              </a:lnSpc>
              <a:buFont typeface="Times New Roman"/>
              <a:buAutoNum type="arabicPeriod" startAt="3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The brain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thrives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connections.</a:t>
            </a:r>
            <a:endParaRPr sz="1200">
              <a:latin typeface="Arial MT"/>
              <a:cs typeface="Arial MT"/>
            </a:endParaRPr>
          </a:p>
          <a:p>
            <a:pPr algn="just" marL="483870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observe a lot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things in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world. But we </a:t>
            </a:r>
            <a:r>
              <a:rPr dirty="0" sz="1200">
                <a:latin typeface="Arial MT"/>
                <a:cs typeface="Arial MT"/>
              </a:rPr>
              <a:t>try to reflect at </a:t>
            </a:r>
            <a:r>
              <a:rPr dirty="0" sz="1200" spc="-5">
                <a:latin typeface="Arial MT"/>
                <a:cs typeface="Arial MT"/>
              </a:rPr>
              <a:t>the end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-5">
                <a:latin typeface="Arial MT"/>
                <a:cs typeface="Arial MT"/>
              </a:rPr>
              <a:t>day we can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remember only a </a:t>
            </a:r>
            <a:r>
              <a:rPr dirty="0" sz="1200">
                <a:latin typeface="Arial MT"/>
                <a:cs typeface="Arial MT"/>
              </a:rPr>
              <a:t>few </a:t>
            </a:r>
            <a:r>
              <a:rPr dirty="0" sz="1200" spc="-5">
                <a:latin typeface="Arial MT"/>
                <a:cs typeface="Arial MT"/>
              </a:rPr>
              <a:t>things.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remember those things which are connected with our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prior learning. </a:t>
            </a:r>
            <a:r>
              <a:rPr dirty="0" sz="1200">
                <a:latin typeface="Arial MT"/>
                <a:cs typeface="Arial MT"/>
              </a:rPr>
              <a:t>Our </a:t>
            </a:r>
            <a:r>
              <a:rPr dirty="0" sz="1200" spc="-5">
                <a:latin typeface="Arial MT"/>
                <a:cs typeface="Arial MT"/>
              </a:rPr>
              <a:t>mind works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connection. </a:t>
            </a:r>
            <a:r>
              <a:rPr dirty="0" sz="1200">
                <a:latin typeface="Arial MT"/>
                <a:cs typeface="Arial MT"/>
              </a:rPr>
              <a:t>Our </a:t>
            </a:r>
            <a:r>
              <a:rPr dirty="0" sz="1200" spc="-5">
                <a:latin typeface="Arial MT"/>
                <a:cs typeface="Arial MT"/>
              </a:rPr>
              <a:t>mind can not capture the </a:t>
            </a:r>
            <a:r>
              <a:rPr dirty="0" sz="1200">
                <a:latin typeface="Arial MT"/>
                <a:cs typeface="Arial MT"/>
              </a:rPr>
              <a:t>information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without connections. Human </a:t>
            </a:r>
            <a:r>
              <a:rPr dirty="0" sz="1200">
                <a:latin typeface="Arial MT"/>
                <a:cs typeface="Arial MT"/>
              </a:rPr>
              <a:t>mind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hold 5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9 isolated chunks of information. But more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saved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mind</a:t>
            </a:r>
            <a:r>
              <a:rPr dirty="0" sz="1200" spc="-5">
                <a:latin typeface="Arial MT"/>
                <a:cs typeface="Arial MT"/>
              </a:rPr>
              <a:t> through integration.</a:t>
            </a:r>
            <a:endParaRPr sz="1200">
              <a:latin typeface="Arial MT"/>
              <a:cs typeface="Arial MT"/>
            </a:endParaRPr>
          </a:p>
          <a:p>
            <a:pPr algn="just" marL="477520">
              <a:lnSpc>
                <a:spcPct val="100000"/>
              </a:lnSpc>
              <a:spcBef>
                <a:spcPts val="459"/>
              </a:spcBef>
            </a:pPr>
            <a:r>
              <a:rPr dirty="0" sz="1200" spc="-5">
                <a:latin typeface="Arial MT"/>
                <a:cs typeface="Arial MT"/>
              </a:rPr>
              <a:t>Integration 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 MT"/>
              <a:cs typeface="Arial MT"/>
            </a:endParaRPr>
          </a:p>
          <a:p>
            <a:pPr algn="just" marL="477520" marR="9525" indent="-228600">
              <a:lnSpc>
                <a:spcPct val="144100"/>
              </a:lnSpc>
              <a:buFont typeface="Times New Roman"/>
              <a:buAutoNum type="arabicPeriod" startAt="4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Life is not divided into </a:t>
            </a:r>
            <a:r>
              <a:rPr dirty="0" sz="1200">
                <a:latin typeface="Arial MT"/>
                <a:cs typeface="Arial MT"/>
              </a:rPr>
              <a:t>neat </a:t>
            </a:r>
            <a:r>
              <a:rPr dirty="0" sz="1200" spc="-5">
                <a:latin typeface="Arial MT"/>
                <a:cs typeface="Arial MT"/>
              </a:rPr>
              <a:t>little blocks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time called science, </a:t>
            </a:r>
            <a:r>
              <a:rPr dirty="0" sz="1200">
                <a:latin typeface="Arial MT"/>
                <a:cs typeface="Arial MT"/>
              </a:rPr>
              <a:t>math, reading, </a:t>
            </a:r>
            <a:r>
              <a:rPr dirty="0" sz="1200" spc="-5">
                <a:latin typeface="Arial MT"/>
                <a:cs typeface="Arial MT"/>
              </a:rPr>
              <a:t>writing, social </a:t>
            </a:r>
            <a:r>
              <a:rPr dirty="0" sz="1200">
                <a:latin typeface="Arial MT"/>
                <a:cs typeface="Arial MT"/>
              </a:rPr>
              <a:t> studies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history.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78611"/>
            <a:ext cx="6396990" cy="11126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635635">
              <a:lnSpc>
                <a:spcPct val="1425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5">
                <a:latin typeface="Arial MT"/>
                <a:cs typeface="Arial MT"/>
              </a:rPr>
              <a:t> do not teach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interpersonal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5">
                <a:latin typeface="Arial MT"/>
                <a:cs typeface="Arial MT"/>
              </a:rPr>
              <a:t> need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 </a:t>
            </a:r>
            <a:r>
              <a:rPr dirty="0" sz="1200">
                <a:latin typeface="Arial MT"/>
                <a:cs typeface="Arial MT"/>
              </a:rPr>
              <a:t>think</a:t>
            </a:r>
            <a:r>
              <a:rPr dirty="0" sz="1200" spc="-5">
                <a:latin typeface="Arial MT"/>
                <a:cs typeface="Arial MT"/>
              </a:rPr>
              <a:t> our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approach.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life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divided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little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blocks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subjects.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 MT"/>
              <a:cs typeface="Arial MT"/>
            </a:endParaRPr>
          </a:p>
          <a:p>
            <a:pPr algn="just" marL="241300" marR="10160" indent="-228600">
              <a:lnSpc>
                <a:spcPct val="144200"/>
              </a:lnSpc>
              <a:buFont typeface="Times New Roman"/>
              <a:buAutoNum type="arabicPeriod" startAt="5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Problem solving skills soar when all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our knowledge and higher </a:t>
            </a:r>
            <a:r>
              <a:rPr dirty="0" sz="1200">
                <a:latin typeface="Arial MT"/>
                <a:cs typeface="Arial MT"/>
              </a:rPr>
              <a:t>level </a:t>
            </a:r>
            <a:r>
              <a:rPr dirty="0" sz="1200" spc="-5">
                <a:latin typeface="Arial MT"/>
                <a:cs typeface="Arial MT"/>
              </a:rPr>
              <a:t>thinking from all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tapped.</a:t>
            </a:r>
            <a:endParaRPr sz="1200">
              <a:latin typeface="Arial MT"/>
              <a:cs typeface="Arial MT"/>
            </a:endParaRPr>
          </a:p>
          <a:p>
            <a:pPr marL="247015" marR="11430" indent="-6350">
              <a:lnSpc>
                <a:spcPct val="1442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solving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it.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need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subject.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Our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decrease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with </a:t>
            </a:r>
            <a:r>
              <a:rPr dirty="0" sz="1200" spc="-5">
                <a:latin typeface="Arial MT"/>
                <a:cs typeface="Arial MT"/>
              </a:rPr>
              <a:t>the passage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Arial MT"/>
              <a:cs typeface="Arial MT"/>
            </a:endParaRPr>
          </a:p>
          <a:p>
            <a:pPr algn="just" marL="241300" marR="5715" indent="-228600">
              <a:lnSpc>
                <a:spcPct val="144200"/>
              </a:lnSpc>
              <a:spcBef>
                <a:spcPts val="5"/>
              </a:spcBef>
              <a:buFont typeface="Times New Roman"/>
              <a:buAutoNum type="arabicPeriod" startAt="6"/>
              <a:tabLst>
                <a:tab pos="241300" algn="l"/>
              </a:tabLst>
            </a:pPr>
            <a:r>
              <a:rPr dirty="0" sz="1200">
                <a:latin typeface="Arial MT"/>
                <a:cs typeface="Arial MT"/>
              </a:rPr>
              <a:t>Real </a:t>
            </a:r>
            <a:r>
              <a:rPr dirty="0" sz="1200" spc="-5">
                <a:latin typeface="Arial MT"/>
                <a:cs typeface="Arial MT"/>
              </a:rPr>
              <a:t>literature in real books provides an authentic diving board into learning all subjects.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Award winning literature provides models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problem solving, peer relationships, character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development, and skill building as students are captivated by exciting adventures with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realistic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characters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who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go</a:t>
            </a:r>
            <a:r>
              <a:rPr dirty="0" sz="1200" spc="-5">
                <a:latin typeface="Arial MT"/>
                <a:cs typeface="Arial MT"/>
              </a:rPr>
              <a:t> through problems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like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5">
                <a:latin typeface="Arial MT"/>
                <a:cs typeface="Arial MT"/>
              </a:rPr>
              <a:t> own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problems.</a:t>
            </a:r>
            <a:endParaRPr sz="1200">
              <a:latin typeface="Arial MT"/>
              <a:cs typeface="Arial MT"/>
            </a:endParaRPr>
          </a:p>
          <a:p>
            <a:pPr algn="just" marL="241300" marR="396240">
              <a:lnSpc>
                <a:spcPct val="1433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Case method is a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good approach to know problem solving.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the integration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 MT"/>
              <a:cs typeface="Arial MT"/>
            </a:endParaRPr>
          </a:p>
          <a:p>
            <a:pPr algn="just" marL="241300" marR="5080" indent="-228600">
              <a:lnSpc>
                <a:spcPct val="144200"/>
              </a:lnSpc>
              <a:buFont typeface="Times New Roman"/>
              <a:buAutoNum type="arabicPeriod" startAt="7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School’s got it backwards. In real life you are tested with a problem and then must scramble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answers,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in traditional schools you are given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answers </a:t>
            </a:r>
            <a:r>
              <a:rPr dirty="0" sz="120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asked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…….. repeat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 algn="just" marL="247015" marR="10160" indent="-6350">
              <a:lnSpc>
                <a:spcPct val="1442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Children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10">
                <a:latin typeface="Arial MT"/>
                <a:cs typeface="Arial MT"/>
              </a:rPr>
              <a:t>good </a:t>
            </a:r>
            <a:r>
              <a:rPr dirty="0" sz="1200" spc="-5">
                <a:latin typeface="Arial MT"/>
                <a:cs typeface="Arial MT"/>
              </a:rPr>
              <a:t>problem solvers. Schools got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backward.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schools we do not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opportunities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show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capacities.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Arial MT"/>
              <a:cs typeface="Arial MT"/>
            </a:endParaRPr>
          </a:p>
          <a:p>
            <a:pPr algn="just" marL="241300" marR="12065" indent="-228600">
              <a:lnSpc>
                <a:spcPct val="144200"/>
              </a:lnSpc>
              <a:buFont typeface="Times New Roman"/>
              <a:buAutoNum type="arabicPeriod" startAt="8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Group interaction and team building inherent in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integrated curriculum depend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using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various</a:t>
            </a:r>
            <a:r>
              <a:rPr dirty="0" sz="1200">
                <a:latin typeface="Arial MT"/>
                <a:cs typeface="Arial MT"/>
              </a:rPr>
              <a:t> strengths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create bridges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understanding.</a:t>
            </a:r>
            <a:endParaRPr sz="1200">
              <a:latin typeface="Arial MT"/>
              <a:cs typeface="Arial MT"/>
            </a:endParaRPr>
          </a:p>
          <a:p>
            <a:pPr algn="just" marL="247015" marR="8890" indent="-6350">
              <a:lnSpc>
                <a:spcPct val="1442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team work is very important but we never get an opportunity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learn this skill.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 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share. Because we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teach this to our students. We only </a:t>
            </a:r>
            <a:r>
              <a:rPr dirty="0" sz="1200">
                <a:latin typeface="Arial MT"/>
                <a:cs typeface="Arial MT"/>
              </a:rPr>
              <a:t>want </a:t>
            </a:r>
            <a:r>
              <a:rPr dirty="0" sz="1200" spc="-5">
                <a:latin typeface="Arial MT"/>
                <a:cs typeface="Arial MT"/>
              </a:rPr>
              <a:t>to give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a lot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information. And the </a:t>
            </a:r>
            <a:r>
              <a:rPr dirty="0" sz="1200">
                <a:latin typeface="Arial MT"/>
                <a:cs typeface="Arial MT"/>
              </a:rPr>
              <a:t>most </a:t>
            </a:r>
            <a:r>
              <a:rPr dirty="0" sz="1200" spc="-5">
                <a:latin typeface="Arial MT"/>
                <a:cs typeface="Arial MT"/>
              </a:rPr>
              <a:t>important things group learning and team work 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always ignored.</a:t>
            </a:r>
            <a:endParaRPr sz="1200">
              <a:latin typeface="Arial MT"/>
              <a:cs typeface="Arial MT"/>
            </a:endParaRPr>
          </a:p>
          <a:p>
            <a:pPr algn="just" marL="247015" marR="5080" indent="-6350">
              <a:lnSpc>
                <a:spcPct val="1442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interest.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 different people. Integration is not only the integration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knowledge but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the same </a:t>
            </a:r>
            <a:r>
              <a:rPr dirty="0" sz="1200">
                <a:latin typeface="Arial MT"/>
                <a:cs typeface="Arial MT"/>
              </a:rPr>
              <a:t> time </a:t>
            </a:r>
            <a:r>
              <a:rPr dirty="0" sz="1200" spc="-5">
                <a:latin typeface="Arial MT"/>
                <a:cs typeface="Arial MT"/>
              </a:rPr>
              <a:t>integration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content,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attitudes.</a:t>
            </a:r>
            <a:endParaRPr sz="1200">
              <a:latin typeface="Arial MT"/>
              <a:cs typeface="Arial MT"/>
            </a:endParaRPr>
          </a:p>
          <a:p>
            <a:pPr algn="just" marL="247015" marR="10160" indent="-6350">
              <a:lnSpc>
                <a:spcPct val="1440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do not teach the negotiation skills. It is a common observation that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have a </a:t>
            </a:r>
            <a:r>
              <a:rPr dirty="0" sz="1200" spc="-10">
                <a:latin typeface="Arial MT"/>
                <a:cs typeface="Arial MT"/>
              </a:rPr>
              <a:t>lot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intelligent people around us </a:t>
            </a:r>
            <a:r>
              <a:rPr dirty="0" sz="1200" spc="-10">
                <a:latin typeface="Arial MT"/>
                <a:cs typeface="Arial MT"/>
              </a:rPr>
              <a:t>who can </a:t>
            </a:r>
            <a:r>
              <a:rPr dirty="0" sz="1200" spc="-5">
                <a:latin typeface="Arial MT"/>
                <a:cs typeface="Arial MT"/>
              </a:rPr>
              <a:t>talk on </a:t>
            </a:r>
            <a:r>
              <a:rPr dirty="0" sz="1200">
                <a:latin typeface="Arial MT"/>
                <a:cs typeface="Arial MT"/>
              </a:rPr>
              <a:t>every </a:t>
            </a:r>
            <a:r>
              <a:rPr dirty="0" sz="1200" spc="-5">
                <a:latin typeface="Arial MT"/>
                <a:cs typeface="Arial MT"/>
              </a:rPr>
              <a:t>topic but they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not 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present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 argument.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argue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seems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confronting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these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schools.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Arial MT"/>
              <a:cs typeface="Arial MT"/>
            </a:endParaRPr>
          </a:p>
          <a:p>
            <a:pPr algn="just" marL="241300" marR="6985" indent="-228600">
              <a:lnSpc>
                <a:spcPct val="144200"/>
              </a:lnSpc>
              <a:buFont typeface="Times New Roman"/>
              <a:buAutoNum type="arabicPeriod" startAt="9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Your standardized test </a:t>
            </a:r>
            <a:r>
              <a:rPr dirty="0" sz="1200">
                <a:latin typeface="Arial MT"/>
                <a:cs typeface="Arial MT"/>
              </a:rPr>
              <a:t>scores </a:t>
            </a:r>
            <a:r>
              <a:rPr dirty="0" sz="1200" spc="-5">
                <a:latin typeface="Arial MT"/>
                <a:cs typeface="Arial MT"/>
              </a:rPr>
              <a:t>will hit the top.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inspiring students to think, to love learning,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put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learning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work in </a:t>
            </a:r>
            <a:r>
              <a:rPr dirty="0" sz="1200">
                <a:latin typeface="Arial MT"/>
                <a:cs typeface="Arial MT"/>
              </a:rPr>
              <a:t>authentic </a:t>
            </a:r>
            <a:r>
              <a:rPr dirty="0" sz="1200" spc="-5">
                <a:latin typeface="Arial MT"/>
                <a:cs typeface="Arial MT"/>
              </a:rPr>
              <a:t>ways, your kids will be equipped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whatever </a:t>
            </a:r>
            <a:r>
              <a:rPr dirty="0" sz="1200">
                <a:latin typeface="Arial MT"/>
                <a:cs typeface="Arial MT"/>
              </a:rPr>
              <a:t> curves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might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thrown…..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standardized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tests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life.</a:t>
            </a:r>
            <a:endParaRPr sz="1200">
              <a:latin typeface="Arial MT"/>
              <a:cs typeface="Arial MT"/>
            </a:endParaRPr>
          </a:p>
          <a:p>
            <a:pPr algn="just" marL="247015" marR="8890" indent="-6350">
              <a:lnSpc>
                <a:spcPct val="144200"/>
              </a:lnSpc>
              <a:spcBef>
                <a:spcPts val="10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emphasis on the </a:t>
            </a:r>
            <a:r>
              <a:rPr dirty="0" sz="1200">
                <a:latin typeface="Arial MT"/>
                <a:cs typeface="Arial MT"/>
              </a:rPr>
              <a:t>marks of </a:t>
            </a:r>
            <a:r>
              <a:rPr dirty="0" sz="1200" spc="-5">
                <a:latin typeface="Arial MT"/>
                <a:cs typeface="Arial MT"/>
              </a:rPr>
              <a:t>the students </a:t>
            </a:r>
            <a:r>
              <a:rPr dirty="0" sz="1200">
                <a:latin typeface="Arial MT"/>
                <a:cs typeface="Arial MT"/>
              </a:rPr>
              <a:t>that’s </a:t>
            </a:r>
            <a:r>
              <a:rPr dirty="0" sz="1200" spc="-5">
                <a:latin typeface="Arial MT"/>
                <a:cs typeface="Arial MT"/>
              </a:rPr>
              <a:t>the achievement.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lot </a:t>
            </a:r>
            <a:r>
              <a:rPr dirty="0" sz="1200">
                <a:latin typeface="Arial MT"/>
                <a:cs typeface="Arial MT"/>
              </a:rPr>
              <a:t>of marks are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guarantee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job </a:t>
            </a:r>
            <a:r>
              <a:rPr dirty="0" sz="1200" spc="-10">
                <a:latin typeface="Arial MT"/>
                <a:cs typeface="Arial MT"/>
              </a:rPr>
              <a:t>or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good </a:t>
            </a:r>
            <a:r>
              <a:rPr dirty="0" sz="1200">
                <a:latin typeface="Arial MT"/>
                <a:cs typeface="Arial MT"/>
              </a:rPr>
              <a:t>life. </a:t>
            </a:r>
            <a:r>
              <a:rPr dirty="0" sz="1200" spc="-5">
                <a:latin typeface="Arial MT"/>
                <a:cs typeface="Arial MT"/>
              </a:rPr>
              <a:t>Enjoying the learning is </a:t>
            </a:r>
            <a:r>
              <a:rPr dirty="0" sz="1200">
                <a:latin typeface="Arial MT"/>
                <a:cs typeface="Arial MT"/>
              </a:rPr>
              <a:t>the most </a:t>
            </a:r>
            <a:r>
              <a:rPr dirty="0" sz="1200" spc="-5">
                <a:latin typeface="Arial MT"/>
                <a:cs typeface="Arial MT"/>
              </a:rPr>
              <a:t>important thing.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 who enjoys his learning, improves his communication skills knows 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solve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 problem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successful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than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get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full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marks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3525" y="3494277"/>
            <a:ext cx="5620385" cy="302260"/>
          </a:xfrm>
          <a:custGeom>
            <a:avLst/>
            <a:gdLst/>
            <a:ahLst/>
            <a:cxnLst/>
            <a:rect l="l" t="t" r="r" b="b"/>
            <a:pathLst>
              <a:path w="5620384" h="302260">
                <a:moveTo>
                  <a:pt x="5620042" y="0"/>
                </a:moveTo>
                <a:lnTo>
                  <a:pt x="5610898" y="0"/>
                </a:lnTo>
                <a:lnTo>
                  <a:pt x="5610898" y="9144"/>
                </a:lnTo>
                <a:lnTo>
                  <a:pt x="5610898" y="292608"/>
                </a:lnTo>
                <a:lnTo>
                  <a:pt x="9144" y="292608"/>
                </a:lnTo>
                <a:lnTo>
                  <a:pt x="9144" y="9144"/>
                </a:lnTo>
                <a:lnTo>
                  <a:pt x="5610898" y="9144"/>
                </a:lnTo>
                <a:lnTo>
                  <a:pt x="5610898" y="0"/>
                </a:lnTo>
                <a:lnTo>
                  <a:pt x="9144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144"/>
                </a:lnTo>
                <a:lnTo>
                  <a:pt x="0" y="292608"/>
                </a:lnTo>
                <a:lnTo>
                  <a:pt x="0" y="301752"/>
                </a:lnTo>
                <a:lnTo>
                  <a:pt x="6096" y="301752"/>
                </a:lnTo>
                <a:lnTo>
                  <a:pt x="9144" y="301752"/>
                </a:lnTo>
                <a:lnTo>
                  <a:pt x="5610898" y="301752"/>
                </a:lnTo>
                <a:lnTo>
                  <a:pt x="5620042" y="301752"/>
                </a:lnTo>
                <a:lnTo>
                  <a:pt x="5620042" y="292608"/>
                </a:lnTo>
                <a:lnTo>
                  <a:pt x="5620042" y="9144"/>
                </a:lnTo>
                <a:lnTo>
                  <a:pt x="5620042" y="6096"/>
                </a:lnTo>
                <a:lnTo>
                  <a:pt x="562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82001" y="4118990"/>
            <a:ext cx="5621655" cy="836930"/>
          </a:xfrm>
          <a:custGeom>
            <a:avLst/>
            <a:gdLst/>
            <a:ahLst/>
            <a:cxnLst/>
            <a:rect l="l" t="t" r="r" b="b"/>
            <a:pathLst>
              <a:path w="5621655" h="836929">
                <a:moveTo>
                  <a:pt x="5621566" y="542417"/>
                </a:moveTo>
                <a:lnTo>
                  <a:pt x="5612422" y="542417"/>
                </a:lnTo>
                <a:lnTo>
                  <a:pt x="5612422" y="551561"/>
                </a:lnTo>
                <a:lnTo>
                  <a:pt x="5612422" y="827405"/>
                </a:lnTo>
                <a:lnTo>
                  <a:pt x="9144" y="827405"/>
                </a:lnTo>
                <a:lnTo>
                  <a:pt x="9144" y="551561"/>
                </a:lnTo>
                <a:lnTo>
                  <a:pt x="5612422" y="551561"/>
                </a:lnTo>
                <a:lnTo>
                  <a:pt x="5612422" y="542417"/>
                </a:lnTo>
                <a:lnTo>
                  <a:pt x="9144" y="542417"/>
                </a:lnTo>
                <a:lnTo>
                  <a:pt x="6096" y="542417"/>
                </a:lnTo>
                <a:lnTo>
                  <a:pt x="0" y="542417"/>
                </a:lnTo>
                <a:lnTo>
                  <a:pt x="0" y="548513"/>
                </a:lnTo>
                <a:lnTo>
                  <a:pt x="0" y="551561"/>
                </a:lnTo>
                <a:lnTo>
                  <a:pt x="0" y="827405"/>
                </a:lnTo>
                <a:lnTo>
                  <a:pt x="0" y="836549"/>
                </a:lnTo>
                <a:lnTo>
                  <a:pt x="6096" y="836549"/>
                </a:lnTo>
                <a:lnTo>
                  <a:pt x="9144" y="836549"/>
                </a:lnTo>
                <a:lnTo>
                  <a:pt x="5612422" y="836549"/>
                </a:lnTo>
                <a:lnTo>
                  <a:pt x="5621566" y="836549"/>
                </a:lnTo>
                <a:lnTo>
                  <a:pt x="5621566" y="827405"/>
                </a:lnTo>
                <a:lnTo>
                  <a:pt x="5621566" y="551561"/>
                </a:lnTo>
                <a:lnTo>
                  <a:pt x="5621566" y="548513"/>
                </a:lnTo>
                <a:lnTo>
                  <a:pt x="5621566" y="542417"/>
                </a:lnTo>
                <a:close/>
              </a:path>
              <a:path w="5621655" h="836929">
                <a:moveTo>
                  <a:pt x="5621566" y="0"/>
                </a:moveTo>
                <a:lnTo>
                  <a:pt x="5612422" y="0"/>
                </a:lnTo>
                <a:lnTo>
                  <a:pt x="5612422" y="9144"/>
                </a:lnTo>
                <a:lnTo>
                  <a:pt x="5612422" y="286512"/>
                </a:lnTo>
                <a:lnTo>
                  <a:pt x="9144" y="286512"/>
                </a:lnTo>
                <a:lnTo>
                  <a:pt x="9144" y="9144"/>
                </a:lnTo>
                <a:lnTo>
                  <a:pt x="5612422" y="9144"/>
                </a:lnTo>
                <a:lnTo>
                  <a:pt x="5612422" y="0"/>
                </a:lnTo>
                <a:lnTo>
                  <a:pt x="9144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144"/>
                </a:lnTo>
                <a:lnTo>
                  <a:pt x="0" y="286512"/>
                </a:lnTo>
                <a:lnTo>
                  <a:pt x="0" y="295656"/>
                </a:lnTo>
                <a:lnTo>
                  <a:pt x="6096" y="295656"/>
                </a:lnTo>
                <a:lnTo>
                  <a:pt x="9144" y="295656"/>
                </a:lnTo>
                <a:lnTo>
                  <a:pt x="5612422" y="295656"/>
                </a:lnTo>
                <a:lnTo>
                  <a:pt x="5621566" y="295656"/>
                </a:lnTo>
                <a:lnTo>
                  <a:pt x="5621566" y="286512"/>
                </a:lnTo>
                <a:lnTo>
                  <a:pt x="5621566" y="9144"/>
                </a:lnTo>
                <a:lnTo>
                  <a:pt x="5621566" y="6096"/>
                </a:lnTo>
                <a:lnTo>
                  <a:pt x="56215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5480" y="575563"/>
            <a:ext cx="6634480" cy="10968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3870" marR="889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examination. 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skill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life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learning.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social</a:t>
            </a:r>
            <a:r>
              <a:rPr dirty="0" sz="1200" spc="-5">
                <a:latin typeface="Arial MT"/>
                <a:cs typeface="Arial MT"/>
              </a:rPr>
              <a:t> skills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anybody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solve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10. </a:t>
            </a:r>
            <a:r>
              <a:rPr dirty="0" sz="1200" spc="-5">
                <a:latin typeface="Arial MT"/>
                <a:cs typeface="Arial MT"/>
              </a:rPr>
              <a:t>Students LOVE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thrive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challenges.</a:t>
            </a:r>
            <a:endParaRPr sz="1200">
              <a:latin typeface="Arial MT"/>
              <a:cs typeface="Arial MT"/>
            </a:endParaRPr>
          </a:p>
          <a:p>
            <a:pPr marL="483870" marR="5080" indent="-6350">
              <a:lnSpc>
                <a:spcPts val="2080"/>
              </a:lnSpc>
              <a:spcBef>
                <a:spcPts val="160"/>
              </a:spcBef>
            </a:pP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least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reason.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love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integrated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provides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context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 marL="477520">
              <a:lnSpc>
                <a:spcPct val="100000"/>
              </a:lnSpc>
              <a:spcBef>
                <a:spcPts val="480"/>
              </a:spcBef>
            </a:pPr>
            <a:r>
              <a:rPr dirty="0" sz="1200" spc="-5" i="1">
                <a:latin typeface="Arial"/>
                <a:cs typeface="Arial"/>
              </a:rPr>
              <a:t>The Little Red</a:t>
            </a:r>
            <a:r>
              <a:rPr dirty="0" sz="1200" spc="-10" i="1">
                <a:latin typeface="Arial"/>
                <a:cs typeface="Arial"/>
              </a:rPr>
              <a:t> </a:t>
            </a:r>
            <a:r>
              <a:rPr dirty="0" sz="1200" spc="-5" i="1">
                <a:latin typeface="Arial"/>
                <a:cs typeface="Arial"/>
              </a:rPr>
              <a:t>Schoolhouse.2002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"/>
              <a:cs typeface="Arial"/>
            </a:endParaRPr>
          </a:p>
          <a:p>
            <a:pPr marL="477520">
              <a:lnSpc>
                <a:spcPct val="100000"/>
              </a:lnSpc>
            </a:pP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Getting</a:t>
            </a:r>
            <a:r>
              <a:rPr dirty="0" u="heavy" sz="12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dirty="0" u="heavy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dirty="0" u="heavy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Core</a:t>
            </a:r>
            <a:r>
              <a:rPr dirty="0" u="heavy" sz="12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Concepts</a:t>
            </a:r>
            <a:endParaRPr sz="1200">
              <a:latin typeface="Arial"/>
              <a:cs typeface="Arial"/>
            </a:endParaRPr>
          </a:p>
          <a:p>
            <a:pPr marL="477520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latin typeface="Times New Roman"/>
                <a:cs typeface="Times New Roman"/>
              </a:rPr>
              <a:t>Core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concept: Less is more.</a:t>
            </a:r>
            <a:endParaRPr sz="1200">
              <a:latin typeface="Times New Roman"/>
              <a:cs typeface="Times New Roman"/>
            </a:endParaRPr>
          </a:p>
          <a:p>
            <a:pPr marL="488315" marR="2435225">
              <a:lnSpc>
                <a:spcPts val="4910"/>
              </a:lnSpc>
              <a:spcBef>
                <a:spcPts val="210"/>
              </a:spcBef>
            </a:pPr>
            <a:r>
              <a:rPr dirty="0" sz="1200" spc="-5">
                <a:latin typeface="Times New Roman"/>
                <a:cs typeface="Times New Roman"/>
              </a:rPr>
              <a:t>Does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focusing</a:t>
            </a:r>
            <a:r>
              <a:rPr dirty="0" sz="1200">
                <a:latin typeface="Times New Roman"/>
                <a:cs typeface="Times New Roman"/>
              </a:rPr>
              <a:t> on big ideas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help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design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better</a:t>
            </a:r>
            <a:r>
              <a:rPr dirty="0" sz="1200">
                <a:latin typeface="Times New Roman"/>
                <a:cs typeface="Times New Roman"/>
              </a:rPr>
              <a:t> instruction?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What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core</a:t>
            </a:r>
            <a:r>
              <a:rPr dirty="0" sz="1200" spc="-5">
                <a:latin typeface="Times New Roman"/>
                <a:cs typeface="Times New Roman"/>
              </a:rPr>
              <a:t> concepts?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Times New Roman"/>
              <a:cs typeface="Times New Roman"/>
            </a:endParaRPr>
          </a:p>
          <a:p>
            <a:pPr marL="488315">
              <a:lnSpc>
                <a:spcPct val="100000"/>
              </a:lnSpc>
              <a:spcBef>
                <a:spcPts val="5"/>
              </a:spcBef>
            </a:pPr>
            <a:r>
              <a:rPr dirty="0" sz="1200" spc="-5">
                <a:latin typeface="Times New Roman"/>
                <a:cs typeface="Times New Roman"/>
              </a:rPr>
              <a:t>What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generative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topics?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00">
              <a:latin typeface="Times New Roman"/>
              <a:cs typeface="Times New Roman"/>
            </a:endParaRPr>
          </a:p>
          <a:p>
            <a:pPr marL="488315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What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essential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questions?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Times New Roman"/>
              <a:cs typeface="Times New Roman"/>
            </a:endParaRPr>
          </a:p>
          <a:p>
            <a:pPr algn="just" marL="18415" marR="6350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lot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information is not important depth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information is important. In school we </a:t>
            </a:r>
            <a:r>
              <a:rPr dirty="0" sz="1200" spc="-10">
                <a:latin typeface="Arial MT"/>
                <a:cs typeface="Arial MT"/>
              </a:rPr>
              <a:t>do not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 much time </a:t>
            </a:r>
            <a:r>
              <a:rPr dirty="0" sz="1200" spc="-5">
                <a:latin typeface="Arial MT"/>
                <a:cs typeface="Arial MT"/>
              </a:rPr>
              <a:t>to deliver information so we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know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core concept. </a:t>
            </a:r>
            <a:r>
              <a:rPr dirty="0" sz="1200">
                <a:latin typeface="Arial MT"/>
                <a:cs typeface="Arial MT"/>
              </a:rPr>
              <a:t>Which </a:t>
            </a:r>
            <a:r>
              <a:rPr dirty="0" sz="1200" spc="-5">
                <a:latin typeface="Arial MT"/>
                <a:cs typeface="Arial MT"/>
              </a:rPr>
              <a:t>we want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deliver </a:t>
            </a:r>
            <a:r>
              <a:rPr dirty="0" sz="1200">
                <a:latin typeface="Arial MT"/>
                <a:cs typeface="Arial MT"/>
              </a:rPr>
              <a:t>too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Generative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topics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linked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with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last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before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integration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 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</a:t>
            </a:r>
            <a:endParaRPr sz="1200">
              <a:latin typeface="Arial MT"/>
              <a:cs typeface="Arial MT"/>
            </a:endParaRPr>
          </a:p>
          <a:p>
            <a:pPr marL="12700" marR="3676015" indent="7620">
              <a:lnSpc>
                <a:spcPct val="283300"/>
              </a:lnSpc>
              <a:spcBef>
                <a:spcPts val="75"/>
              </a:spcBef>
            </a:pPr>
            <a:r>
              <a:rPr dirty="0" sz="1200" b="1">
                <a:latin typeface="Arial"/>
                <a:cs typeface="Arial"/>
              </a:rPr>
              <a:t>Designing an </a:t>
            </a:r>
            <a:r>
              <a:rPr dirty="0" sz="1200" spc="-5" b="1">
                <a:latin typeface="Arial"/>
                <a:cs typeface="Arial"/>
              </a:rPr>
              <a:t>Integrated curriculum </a:t>
            </a:r>
            <a:r>
              <a:rPr dirty="0" sz="1200" b="1">
                <a:latin typeface="Arial"/>
                <a:cs typeface="Arial"/>
              </a:rPr>
              <a:t>unit.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Step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dirty="0" sz="1200" spc="5">
                <a:latin typeface="Arial MT"/>
                <a:cs typeface="Arial MT"/>
              </a:rPr>
              <a:t>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 goals</a:t>
            </a:r>
            <a:endParaRPr sz="1200">
              <a:latin typeface="Arial MT"/>
              <a:cs typeface="Arial MT"/>
            </a:endParaRPr>
          </a:p>
          <a:p>
            <a:pPr marL="477520" marR="8255" indent="-228600">
              <a:lnSpc>
                <a:spcPct val="144200"/>
              </a:lnSpc>
              <a:spcBef>
                <a:spcPts val="2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List </a:t>
            </a:r>
            <a:r>
              <a:rPr dirty="0" sz="1200" spc="-5">
                <a:latin typeface="Arial MT"/>
                <a:cs typeface="Arial MT"/>
              </a:rPr>
              <a:t>5-15 learning goals, concepts, objectives, competencies or outcomes for your particular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discipline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course(s).</a:t>
            </a:r>
            <a:endParaRPr sz="1200">
              <a:latin typeface="Arial MT"/>
              <a:cs typeface="Arial MT"/>
            </a:endParaRPr>
          </a:p>
          <a:p>
            <a:pPr marL="477520" marR="8255" indent="-228600">
              <a:lnSpc>
                <a:spcPct val="143300"/>
              </a:lnSpc>
              <a:spcBef>
                <a:spcPts val="35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Creating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goals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maps: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Draw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two-column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grid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paper.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Enter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title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in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left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column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corresponding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right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column.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Share 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 MT"/>
              <a:cs typeface="Arial MT"/>
            </a:endParaRPr>
          </a:p>
          <a:p>
            <a:pPr algn="r" marR="4121785">
              <a:lnSpc>
                <a:spcPct val="100000"/>
              </a:lnSpc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Step 2.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Identifying Generative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theme</a:t>
            </a:r>
            <a:endParaRPr sz="1200">
              <a:latin typeface="Arial MT"/>
              <a:cs typeface="Arial MT"/>
            </a:endParaRPr>
          </a:p>
          <a:p>
            <a:pPr algn="r" marR="4175125">
              <a:lnSpc>
                <a:spcPct val="100000"/>
              </a:lnSpc>
              <a:spcBef>
                <a:spcPts val="660"/>
              </a:spcBef>
            </a:pPr>
            <a:r>
              <a:rPr dirty="0" sz="1200">
                <a:latin typeface="Arial MT"/>
                <a:cs typeface="Arial MT"/>
              </a:rPr>
              <a:t>1.</a:t>
            </a:r>
            <a:r>
              <a:rPr dirty="0" sz="1200" spc="-5">
                <a:latin typeface="Arial MT"/>
                <a:cs typeface="Arial MT"/>
              </a:rPr>
              <a:t> Identifying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generative themes.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Generative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themes</a:t>
            </a:r>
            <a:endParaRPr sz="1200">
              <a:latin typeface="Arial"/>
              <a:cs typeface="Arial"/>
            </a:endParaRPr>
          </a:p>
          <a:p>
            <a:pPr marL="412115">
              <a:lnSpc>
                <a:spcPct val="100000"/>
              </a:lnSpc>
              <a:spcBef>
                <a:spcPts val="600"/>
              </a:spcBef>
            </a:pPr>
            <a:r>
              <a:rPr dirty="0" sz="1200" spc="-5">
                <a:latin typeface="Arial MT"/>
                <a:cs typeface="Arial MT"/>
              </a:rPr>
              <a:t>Are 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focal point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unit.</a:t>
            </a:r>
            <a:endParaRPr sz="1200">
              <a:latin typeface="Arial MT"/>
              <a:cs typeface="Arial MT"/>
            </a:endParaRPr>
          </a:p>
          <a:p>
            <a:pPr marL="412115" marR="363220">
              <a:lnSpc>
                <a:spcPct val="1450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Cut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cross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disciplines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may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addressed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variety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disciplinary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perspectives.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Link 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interests.</a:t>
            </a:r>
            <a:endParaRPr sz="1200">
              <a:latin typeface="Arial MT"/>
              <a:cs typeface="Arial MT"/>
            </a:endParaRPr>
          </a:p>
          <a:p>
            <a:pPr marL="412115" marR="2547620">
              <a:lnSpc>
                <a:spcPct val="1450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Lend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themselves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investigation 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projects.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Link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community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issues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29001" y="3299205"/>
            <a:ext cx="103505" cy="266700"/>
          </a:xfrm>
          <a:custGeom>
            <a:avLst/>
            <a:gdLst/>
            <a:ahLst/>
            <a:cxnLst/>
            <a:rect l="l" t="t" r="r" b="b"/>
            <a:pathLst>
              <a:path w="103505" h="266700">
                <a:moveTo>
                  <a:pt x="57785" y="0"/>
                </a:moveTo>
                <a:lnTo>
                  <a:pt x="45593" y="0"/>
                </a:lnTo>
                <a:lnTo>
                  <a:pt x="45593" y="233045"/>
                </a:lnTo>
                <a:lnTo>
                  <a:pt x="12192" y="175260"/>
                </a:lnTo>
                <a:lnTo>
                  <a:pt x="10668" y="172212"/>
                </a:lnTo>
                <a:lnTo>
                  <a:pt x="7619" y="170688"/>
                </a:lnTo>
                <a:lnTo>
                  <a:pt x="1524" y="173736"/>
                </a:lnTo>
                <a:lnTo>
                  <a:pt x="0" y="178308"/>
                </a:lnTo>
                <a:lnTo>
                  <a:pt x="1524" y="181355"/>
                </a:lnTo>
                <a:lnTo>
                  <a:pt x="51688" y="266700"/>
                </a:lnTo>
                <a:lnTo>
                  <a:pt x="101981" y="181355"/>
                </a:lnTo>
                <a:lnTo>
                  <a:pt x="103505" y="178308"/>
                </a:lnTo>
                <a:lnTo>
                  <a:pt x="101981" y="173736"/>
                </a:lnTo>
                <a:lnTo>
                  <a:pt x="95885" y="170688"/>
                </a:lnTo>
                <a:lnTo>
                  <a:pt x="92837" y="172212"/>
                </a:lnTo>
                <a:lnTo>
                  <a:pt x="89788" y="175260"/>
                </a:lnTo>
                <a:lnTo>
                  <a:pt x="57785" y="230377"/>
                </a:lnTo>
                <a:lnTo>
                  <a:pt x="57785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16809" y="3890390"/>
            <a:ext cx="109855" cy="826135"/>
          </a:xfrm>
          <a:custGeom>
            <a:avLst/>
            <a:gdLst/>
            <a:ahLst/>
            <a:cxnLst/>
            <a:rect l="l" t="t" r="r" b="b"/>
            <a:pathLst>
              <a:path w="109855" h="826135">
                <a:moveTo>
                  <a:pt x="103505" y="179832"/>
                </a:moveTo>
                <a:lnTo>
                  <a:pt x="101981" y="175260"/>
                </a:lnTo>
                <a:lnTo>
                  <a:pt x="95885" y="172212"/>
                </a:lnTo>
                <a:lnTo>
                  <a:pt x="92837" y="172212"/>
                </a:lnTo>
                <a:lnTo>
                  <a:pt x="91313" y="175260"/>
                </a:lnTo>
                <a:lnTo>
                  <a:pt x="57785" y="231140"/>
                </a:lnTo>
                <a:lnTo>
                  <a:pt x="57785" y="0"/>
                </a:lnTo>
                <a:lnTo>
                  <a:pt x="45593" y="0"/>
                </a:lnTo>
                <a:lnTo>
                  <a:pt x="45593" y="231140"/>
                </a:lnTo>
                <a:lnTo>
                  <a:pt x="12192" y="175260"/>
                </a:lnTo>
                <a:lnTo>
                  <a:pt x="10668" y="172212"/>
                </a:lnTo>
                <a:lnTo>
                  <a:pt x="7620" y="172212"/>
                </a:lnTo>
                <a:lnTo>
                  <a:pt x="1524" y="175260"/>
                </a:lnTo>
                <a:lnTo>
                  <a:pt x="0" y="179832"/>
                </a:lnTo>
                <a:lnTo>
                  <a:pt x="1524" y="182880"/>
                </a:lnTo>
                <a:lnTo>
                  <a:pt x="51689" y="268224"/>
                </a:lnTo>
                <a:lnTo>
                  <a:pt x="101981" y="182880"/>
                </a:lnTo>
                <a:lnTo>
                  <a:pt x="103505" y="179832"/>
                </a:lnTo>
                <a:close/>
              </a:path>
              <a:path w="109855" h="826135">
                <a:moveTo>
                  <a:pt x="109601" y="735965"/>
                </a:moveTo>
                <a:lnTo>
                  <a:pt x="108077" y="732917"/>
                </a:lnTo>
                <a:lnTo>
                  <a:pt x="101981" y="729869"/>
                </a:lnTo>
                <a:lnTo>
                  <a:pt x="97409" y="729869"/>
                </a:lnTo>
                <a:lnTo>
                  <a:pt x="95885" y="732917"/>
                </a:lnTo>
                <a:lnTo>
                  <a:pt x="63881" y="788162"/>
                </a:lnTo>
                <a:lnTo>
                  <a:pt x="63881" y="557784"/>
                </a:lnTo>
                <a:lnTo>
                  <a:pt x="51689" y="557784"/>
                </a:lnTo>
                <a:lnTo>
                  <a:pt x="51689" y="790829"/>
                </a:lnTo>
                <a:lnTo>
                  <a:pt x="18288" y="732917"/>
                </a:lnTo>
                <a:lnTo>
                  <a:pt x="16764" y="729869"/>
                </a:lnTo>
                <a:lnTo>
                  <a:pt x="12192" y="729869"/>
                </a:lnTo>
                <a:lnTo>
                  <a:pt x="6096" y="732917"/>
                </a:lnTo>
                <a:lnTo>
                  <a:pt x="6096" y="735965"/>
                </a:lnTo>
                <a:lnTo>
                  <a:pt x="7620" y="739013"/>
                </a:lnTo>
                <a:lnTo>
                  <a:pt x="57785" y="825881"/>
                </a:lnTo>
                <a:lnTo>
                  <a:pt x="106553" y="739013"/>
                </a:lnTo>
                <a:lnTo>
                  <a:pt x="109601" y="735965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1082001" y="5048503"/>
            <a:ext cx="5621655" cy="502920"/>
            <a:chOff x="1082001" y="5048503"/>
            <a:chExt cx="5621655" cy="502920"/>
          </a:xfrm>
        </p:grpSpPr>
        <p:sp>
          <p:nvSpPr>
            <p:cNvPr id="8" name="object 8"/>
            <p:cNvSpPr/>
            <p:nvPr/>
          </p:nvSpPr>
          <p:spPr>
            <a:xfrm>
              <a:off x="1082001" y="5258815"/>
              <a:ext cx="5621655" cy="292735"/>
            </a:xfrm>
            <a:custGeom>
              <a:avLst/>
              <a:gdLst/>
              <a:ahLst/>
              <a:cxnLst/>
              <a:rect l="l" t="t" r="r" b="b"/>
              <a:pathLst>
                <a:path w="5621655" h="292735">
                  <a:moveTo>
                    <a:pt x="5621566" y="0"/>
                  </a:moveTo>
                  <a:lnTo>
                    <a:pt x="5612422" y="0"/>
                  </a:lnTo>
                  <a:lnTo>
                    <a:pt x="5612422" y="9144"/>
                  </a:lnTo>
                  <a:lnTo>
                    <a:pt x="5612422" y="283337"/>
                  </a:lnTo>
                  <a:lnTo>
                    <a:pt x="9144" y="283337"/>
                  </a:lnTo>
                  <a:lnTo>
                    <a:pt x="9144" y="9144"/>
                  </a:lnTo>
                  <a:lnTo>
                    <a:pt x="5612422" y="9144"/>
                  </a:lnTo>
                  <a:lnTo>
                    <a:pt x="5612422" y="0"/>
                  </a:lnTo>
                  <a:lnTo>
                    <a:pt x="9144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96"/>
                  </a:lnTo>
                  <a:lnTo>
                    <a:pt x="0" y="9144"/>
                  </a:lnTo>
                  <a:lnTo>
                    <a:pt x="0" y="283337"/>
                  </a:lnTo>
                  <a:lnTo>
                    <a:pt x="0" y="292481"/>
                  </a:lnTo>
                  <a:lnTo>
                    <a:pt x="6096" y="292481"/>
                  </a:lnTo>
                  <a:lnTo>
                    <a:pt x="9144" y="292481"/>
                  </a:lnTo>
                  <a:lnTo>
                    <a:pt x="5612422" y="292481"/>
                  </a:lnTo>
                  <a:lnTo>
                    <a:pt x="5621566" y="292481"/>
                  </a:lnTo>
                  <a:lnTo>
                    <a:pt x="5621566" y="283337"/>
                  </a:lnTo>
                  <a:lnTo>
                    <a:pt x="5621566" y="9144"/>
                  </a:lnTo>
                  <a:lnTo>
                    <a:pt x="5621566" y="6096"/>
                  </a:lnTo>
                  <a:lnTo>
                    <a:pt x="5621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910712" y="5048503"/>
              <a:ext cx="103505" cy="268605"/>
            </a:xfrm>
            <a:custGeom>
              <a:avLst/>
              <a:gdLst/>
              <a:ahLst/>
              <a:cxnLst/>
              <a:rect l="l" t="t" r="r" b="b"/>
              <a:pathLst>
                <a:path w="103505" h="268604">
                  <a:moveTo>
                    <a:pt x="57785" y="0"/>
                  </a:moveTo>
                  <a:lnTo>
                    <a:pt x="45593" y="0"/>
                  </a:lnTo>
                  <a:lnTo>
                    <a:pt x="45593" y="233045"/>
                  </a:lnTo>
                  <a:lnTo>
                    <a:pt x="12192" y="175260"/>
                  </a:lnTo>
                  <a:lnTo>
                    <a:pt x="10668" y="172212"/>
                  </a:lnTo>
                  <a:lnTo>
                    <a:pt x="7619" y="172212"/>
                  </a:lnTo>
                  <a:lnTo>
                    <a:pt x="1524" y="175260"/>
                  </a:lnTo>
                  <a:lnTo>
                    <a:pt x="0" y="179831"/>
                  </a:lnTo>
                  <a:lnTo>
                    <a:pt x="1524" y="182879"/>
                  </a:lnTo>
                  <a:lnTo>
                    <a:pt x="51688" y="268097"/>
                  </a:lnTo>
                  <a:lnTo>
                    <a:pt x="101981" y="182879"/>
                  </a:lnTo>
                  <a:lnTo>
                    <a:pt x="103505" y="179831"/>
                  </a:lnTo>
                  <a:lnTo>
                    <a:pt x="101981" y="175260"/>
                  </a:lnTo>
                  <a:lnTo>
                    <a:pt x="95885" y="172212"/>
                  </a:lnTo>
                  <a:lnTo>
                    <a:pt x="92837" y="172212"/>
                  </a:lnTo>
                  <a:lnTo>
                    <a:pt x="89788" y="175260"/>
                  </a:lnTo>
                  <a:lnTo>
                    <a:pt x="57785" y="230377"/>
                  </a:lnTo>
                  <a:lnTo>
                    <a:pt x="57785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4680" y="656335"/>
            <a:ext cx="6734175" cy="1085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Sample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generative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themes</a:t>
            </a:r>
            <a:endParaRPr sz="1200">
              <a:latin typeface="Arial"/>
              <a:cs typeface="Arial"/>
            </a:endParaRPr>
          </a:p>
          <a:p>
            <a:pPr marL="528320" indent="-229235">
              <a:lnSpc>
                <a:spcPct val="100000"/>
              </a:lnSpc>
              <a:spcBef>
                <a:spcPts val="860"/>
              </a:spcBef>
              <a:buChar char="•"/>
              <a:tabLst>
                <a:tab pos="528320" algn="l"/>
                <a:tab pos="528955" algn="l"/>
              </a:tabLst>
            </a:pPr>
            <a:r>
              <a:rPr dirty="0" sz="1200" spc="-5">
                <a:latin typeface="Arial MT"/>
                <a:cs typeface="Arial MT"/>
              </a:rPr>
              <a:t>The Environment: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Love</a:t>
            </a:r>
            <a:r>
              <a:rPr dirty="0" sz="1200">
                <a:latin typeface="Arial MT"/>
                <a:cs typeface="Arial MT"/>
              </a:rPr>
              <a:t> it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lose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it?</a:t>
            </a:r>
            <a:endParaRPr sz="1200">
              <a:latin typeface="Arial MT"/>
              <a:cs typeface="Arial MT"/>
            </a:endParaRPr>
          </a:p>
          <a:p>
            <a:pPr marL="528320" indent="-229235">
              <a:lnSpc>
                <a:spcPct val="100000"/>
              </a:lnSpc>
              <a:spcBef>
                <a:spcPts val="690"/>
              </a:spcBef>
              <a:buChar char="•"/>
              <a:tabLst>
                <a:tab pos="528320" algn="l"/>
                <a:tab pos="528955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Two-Edged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Sword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Technology.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Next</a:t>
            </a:r>
            <a:r>
              <a:rPr dirty="0" u="heavy" sz="120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</a:t>
            </a:r>
            <a:r>
              <a:rPr dirty="0" u="heavy" sz="12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step</a:t>
            </a:r>
            <a:r>
              <a:rPr dirty="0" u="heavy" sz="120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  <a:p>
            <a:pPr marL="63500" marR="2280920">
              <a:lnSpc>
                <a:spcPts val="2060"/>
              </a:lnSpc>
              <a:spcBef>
                <a:spcPts val="155"/>
              </a:spcBef>
            </a:pPr>
            <a:r>
              <a:rPr dirty="0" sz="1200" spc="-5">
                <a:latin typeface="Arial MT"/>
                <a:cs typeface="Arial MT"/>
              </a:rPr>
              <a:t>Brainstorm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Agree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Sub-Themes.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Establish “Essential Questions”</a:t>
            </a:r>
            <a:endParaRPr sz="12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430"/>
              </a:spcBef>
            </a:pP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Backward: Set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endParaRPr sz="12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625"/>
              </a:spcBef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look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like:</a:t>
            </a:r>
            <a:endParaRPr sz="1200">
              <a:latin typeface="Arial MT"/>
              <a:cs typeface="Arial MT"/>
            </a:endParaRPr>
          </a:p>
          <a:p>
            <a:pPr marL="69215" marR="57785" indent="164465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completion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participants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propose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solutions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algn="just" marL="63500">
              <a:lnSpc>
                <a:spcPct val="100000"/>
              </a:lnSpc>
              <a:spcBef>
                <a:spcPts val="1025"/>
              </a:spcBef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Step </a:t>
            </a:r>
            <a:r>
              <a:rPr dirty="0" u="heavy" sz="12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</a:t>
            </a:r>
            <a:r>
              <a:rPr dirty="0" sz="1200" spc="5">
                <a:latin typeface="Arial MT"/>
                <a:cs typeface="Arial MT"/>
              </a:rPr>
              <a:t>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Decide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Activities, </a:t>
            </a:r>
            <a:r>
              <a:rPr dirty="0" sz="1200" spc="-5">
                <a:latin typeface="Arial MT"/>
                <a:cs typeface="Arial MT"/>
              </a:rPr>
              <a:t>Diagrams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Timeline.</a:t>
            </a:r>
            <a:endParaRPr sz="1200">
              <a:latin typeface="Arial MT"/>
              <a:cs typeface="Arial MT"/>
            </a:endParaRPr>
          </a:p>
          <a:p>
            <a:pPr algn="just" marL="69215" marR="59690" indent="-6350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There will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teaching as well as learning activities. Then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10">
                <a:latin typeface="Arial MT"/>
                <a:cs typeface="Arial MT"/>
              </a:rPr>
              <a:t>will </a:t>
            </a:r>
            <a:r>
              <a:rPr dirty="0" sz="1200" spc="-5">
                <a:latin typeface="Arial MT"/>
                <a:cs typeface="Arial MT"/>
              </a:rPr>
              <a:t>be time frame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these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activated.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system.</a:t>
            </a:r>
            <a:endParaRPr sz="1200">
              <a:latin typeface="Arial MT"/>
              <a:cs typeface="Arial MT"/>
            </a:endParaRPr>
          </a:p>
          <a:p>
            <a:pPr algn="just" marL="69215" marR="55880" indent="-6350">
              <a:lnSpc>
                <a:spcPts val="2080"/>
              </a:lnSpc>
              <a:spcBef>
                <a:spcPts val="20"/>
              </a:spcBef>
            </a:pPr>
            <a:r>
              <a:rPr dirty="0" sz="1200" spc="-5">
                <a:latin typeface="Arial MT"/>
                <a:cs typeface="Arial MT"/>
              </a:rPr>
              <a:t>The most important part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integration is assessment. We have listed 5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15 </a:t>
            </a:r>
            <a:r>
              <a:rPr dirty="0" sz="1200" spc="-5">
                <a:latin typeface="Arial MT"/>
                <a:cs typeface="Arial MT"/>
              </a:rPr>
              <a:t>goals and we 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against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listed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across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those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multiple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strategies.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paper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pencil.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can </a:t>
            </a:r>
            <a:r>
              <a:rPr dirty="0" sz="1200">
                <a:latin typeface="Arial MT"/>
                <a:cs typeface="Arial MT"/>
              </a:rPr>
              <a:t>assess </a:t>
            </a:r>
            <a:r>
              <a:rPr dirty="0" sz="1200" spc="-5">
                <a:latin typeface="Arial MT"/>
                <a:cs typeface="Arial MT"/>
              </a:rPr>
              <a:t>their cognition but we can not observe their performance.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identify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 strategies 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tools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carefully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t6he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algn="just" marL="63500">
              <a:lnSpc>
                <a:spcPct val="100000"/>
              </a:lnSpc>
              <a:spcBef>
                <a:spcPts val="1000"/>
              </a:spcBef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Step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4</a:t>
            </a:r>
            <a:r>
              <a:rPr dirty="0" sz="1200" spc="5">
                <a:latin typeface="Arial MT"/>
                <a:cs typeface="Arial MT"/>
              </a:rPr>
              <a:t>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 marL="711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Sample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integrated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unit</a:t>
            </a:r>
            <a:endParaRPr sz="1200">
              <a:latin typeface="Arial"/>
              <a:cs typeface="Arial"/>
            </a:endParaRPr>
          </a:p>
          <a:p>
            <a:pPr marL="71120">
              <a:lnSpc>
                <a:spcPct val="100000"/>
              </a:lnSpc>
              <a:spcBef>
                <a:spcPts val="610"/>
              </a:spcBef>
            </a:pPr>
            <a:r>
              <a:rPr dirty="0" sz="1200" spc="-5" b="1">
                <a:latin typeface="Arial"/>
                <a:cs typeface="Arial"/>
              </a:rPr>
              <a:t>Century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week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celebration(Project)</a:t>
            </a:r>
            <a:endParaRPr sz="12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615"/>
              </a:spcBef>
            </a:pP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project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 done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America.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core concept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 development.</a:t>
            </a:r>
            <a:endParaRPr sz="1200">
              <a:latin typeface="Arial MT"/>
              <a:cs typeface="Arial MT"/>
            </a:endParaRPr>
          </a:p>
          <a:p>
            <a:pPr marL="71120">
              <a:lnSpc>
                <a:spcPct val="100000"/>
              </a:lnSpc>
              <a:spcBef>
                <a:spcPts val="635"/>
              </a:spcBef>
            </a:pPr>
            <a:r>
              <a:rPr dirty="0" sz="1200" spc="-5" b="1">
                <a:latin typeface="Arial"/>
                <a:cs typeface="Arial"/>
              </a:rPr>
              <a:t>Generative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topic:</a:t>
            </a:r>
            <a:endParaRPr sz="12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610"/>
              </a:spcBef>
            </a:pPr>
            <a:r>
              <a:rPr dirty="0" sz="1200">
                <a:latin typeface="Arial MT"/>
                <a:cs typeface="Arial MT"/>
              </a:rPr>
              <a:t>Forces</a:t>
            </a:r>
            <a:endParaRPr sz="1200">
              <a:latin typeface="Arial MT"/>
              <a:cs typeface="Arial MT"/>
            </a:endParaRPr>
          </a:p>
          <a:p>
            <a:pPr marL="71120">
              <a:lnSpc>
                <a:spcPct val="100000"/>
              </a:lnSpc>
              <a:spcBef>
                <a:spcPts val="635"/>
              </a:spcBef>
            </a:pPr>
            <a:r>
              <a:rPr dirty="0" sz="1200" spc="-5" b="1">
                <a:latin typeface="Arial"/>
                <a:cs typeface="Arial"/>
              </a:rPr>
              <a:t>Essential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</a:t>
            </a:r>
            <a:endParaRPr sz="1200">
              <a:latin typeface="Arial"/>
              <a:cs typeface="Arial"/>
            </a:endParaRPr>
          </a:p>
          <a:p>
            <a:pPr algn="just" marL="63500">
              <a:lnSpc>
                <a:spcPct val="100000"/>
              </a:lnSpc>
              <a:spcBef>
                <a:spcPts val="600"/>
              </a:spcBef>
            </a:pP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>
                <a:latin typeface="Arial MT"/>
                <a:cs typeface="Arial MT"/>
              </a:rPr>
              <a:t> forces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shaped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twentieth century?</a:t>
            </a:r>
            <a:endParaRPr sz="1200">
              <a:latin typeface="Arial MT"/>
              <a:cs typeface="Arial MT"/>
            </a:endParaRPr>
          </a:p>
          <a:p>
            <a:pPr marL="71120">
              <a:lnSpc>
                <a:spcPct val="100000"/>
              </a:lnSpc>
              <a:spcBef>
                <a:spcPts val="640"/>
              </a:spcBef>
            </a:pPr>
            <a:r>
              <a:rPr dirty="0" sz="1200" b="1">
                <a:latin typeface="Arial"/>
                <a:cs typeface="Arial"/>
              </a:rPr>
              <a:t>Topic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(forces):</a:t>
            </a:r>
            <a:endParaRPr sz="1200">
              <a:latin typeface="Arial"/>
              <a:cs typeface="Arial"/>
            </a:endParaRPr>
          </a:p>
          <a:p>
            <a:pPr marL="69215" marR="59055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Popular culture; mass media; science and the environment; medicine, health and nutrition; politics,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government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economics;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war</a:t>
            </a:r>
            <a:r>
              <a:rPr dirty="0" sz="1200" spc="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 peace;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transportation;  communication;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arts,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family</a:t>
            </a:r>
            <a:r>
              <a:rPr dirty="0" sz="1200" spc="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endParaRPr sz="1200">
              <a:latin typeface="Arial MT"/>
              <a:cs typeface="Arial MT"/>
            </a:endParaRPr>
          </a:p>
          <a:p>
            <a:pPr marL="69215">
              <a:lnSpc>
                <a:spcPct val="100000"/>
              </a:lnSpc>
              <a:spcBef>
                <a:spcPts val="459"/>
              </a:spcBef>
            </a:pPr>
            <a:r>
              <a:rPr dirty="0" sz="1200">
                <a:latin typeface="Arial MT"/>
                <a:cs typeface="Arial MT"/>
              </a:rPr>
              <a:t>society.</a:t>
            </a:r>
            <a:endParaRPr sz="1200">
              <a:latin typeface="Arial MT"/>
              <a:cs typeface="Arial MT"/>
            </a:endParaRPr>
          </a:p>
          <a:p>
            <a:pPr algn="just" marL="69215" marR="55880" indent="-6350">
              <a:lnSpc>
                <a:spcPct val="1442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The project was done with </a:t>
            </a:r>
            <a:r>
              <a:rPr dirty="0" sz="1200" spc="5">
                <a:latin typeface="Arial MT"/>
                <a:cs typeface="Arial MT"/>
              </a:rPr>
              <a:t>8</a:t>
            </a:r>
            <a:r>
              <a:rPr dirty="0" baseline="27777" sz="1200" spc="7">
                <a:latin typeface="Arial MT"/>
                <a:cs typeface="Arial MT"/>
              </a:rPr>
              <a:t>th </a:t>
            </a:r>
            <a:r>
              <a:rPr dirty="0" sz="1200" spc="-5">
                <a:latin typeface="Arial MT"/>
                <a:cs typeface="Arial MT"/>
              </a:rPr>
              <a:t>grade students and they </a:t>
            </a:r>
            <a:r>
              <a:rPr dirty="0" sz="1200">
                <a:latin typeface="Arial MT"/>
                <a:cs typeface="Arial MT"/>
              </a:rPr>
              <a:t>were </a:t>
            </a:r>
            <a:r>
              <a:rPr dirty="0" sz="1200" spc="-5">
                <a:latin typeface="Arial MT"/>
                <a:cs typeface="Arial MT"/>
              </a:rPr>
              <a:t>51.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most important thing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project </a:t>
            </a:r>
            <a:r>
              <a:rPr dirty="0" sz="1200" spc="-10">
                <a:latin typeface="Arial MT"/>
                <a:cs typeface="Arial MT"/>
              </a:rPr>
              <a:t>was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all the colleagues made this project with mutual cooperation. They all decided that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week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rather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celebrate century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week.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711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Steps</a:t>
            </a:r>
            <a:endParaRPr sz="1200">
              <a:latin typeface="Arial"/>
              <a:cs typeface="Arial"/>
            </a:endParaRPr>
          </a:p>
          <a:p>
            <a:pPr marL="52832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528955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first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confirm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choice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forces.</a:t>
            </a:r>
            <a:endParaRPr sz="1200">
              <a:latin typeface="Arial MT"/>
              <a:cs typeface="Arial MT"/>
            </a:endParaRPr>
          </a:p>
          <a:p>
            <a:pPr marL="5283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528955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51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were divided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 10 groups.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75563"/>
            <a:ext cx="6398895" cy="5849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6985" indent="-228600">
              <a:lnSpc>
                <a:spcPct val="144200"/>
              </a:lnSpc>
              <a:spcBef>
                <a:spcPts val="100"/>
              </a:spcBef>
              <a:buFont typeface="Times New Roman"/>
              <a:buAutoNum type="arabicPeriod" startAt="3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Each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5 students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group was assigned a </a:t>
            </a:r>
            <a:r>
              <a:rPr dirty="0" sz="1200">
                <a:latin typeface="Arial MT"/>
                <a:cs typeface="Arial MT"/>
              </a:rPr>
              <a:t>20-year </a:t>
            </a:r>
            <a:r>
              <a:rPr dirty="0" sz="1200" spc="-5">
                <a:latin typeface="Arial MT"/>
                <a:cs typeface="Arial MT"/>
              </a:rPr>
              <a:t>time period and a specific </a:t>
            </a:r>
            <a:r>
              <a:rPr dirty="0" sz="1200">
                <a:latin typeface="Arial MT"/>
                <a:cs typeface="Arial MT"/>
              </a:rPr>
              <a:t>force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study.</a:t>
            </a:r>
            <a:endParaRPr sz="1200">
              <a:latin typeface="Arial MT"/>
              <a:cs typeface="Arial MT"/>
            </a:endParaRPr>
          </a:p>
          <a:p>
            <a:pPr marL="241300" marR="5080" indent="-228600">
              <a:lnSpc>
                <a:spcPct val="143300"/>
              </a:lnSpc>
              <a:spcBef>
                <a:spcPts val="35"/>
              </a:spcBef>
              <a:buFont typeface="Times New Roman"/>
              <a:buAutoNum type="arabicPeriod" startAt="3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jigsawed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10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presentation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forces</a:t>
            </a:r>
            <a:r>
              <a:rPr dirty="0" sz="1200" spc="-5">
                <a:latin typeface="Arial MT"/>
                <a:cs typeface="Arial MT"/>
              </a:rPr>
              <a:t> 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20-year </a:t>
            </a:r>
            <a:r>
              <a:rPr dirty="0" sz="1200" spc="-5">
                <a:latin typeface="Arial MT"/>
                <a:cs typeface="Arial MT"/>
              </a:rPr>
              <a:t>periods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century.</a:t>
            </a:r>
            <a:endParaRPr sz="1200">
              <a:latin typeface="Arial MT"/>
              <a:cs typeface="Arial MT"/>
            </a:endParaRPr>
          </a:p>
          <a:p>
            <a:pPr marL="241300" marR="13335" indent="-228600">
              <a:lnSpc>
                <a:spcPct val="144200"/>
              </a:lnSpc>
              <a:spcBef>
                <a:spcPts val="25"/>
              </a:spcBef>
              <a:buFont typeface="Times New Roman"/>
              <a:buAutoNum type="arabicPeriod" startAt="3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team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wrote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guiding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force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core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guide.</a:t>
            </a:r>
            <a:endParaRPr sz="1200">
              <a:latin typeface="Arial MT"/>
              <a:cs typeface="Arial MT"/>
            </a:endParaRPr>
          </a:p>
          <a:p>
            <a:pPr marL="241300" marR="9525" indent="-228600">
              <a:lnSpc>
                <a:spcPct val="144200"/>
              </a:lnSpc>
              <a:spcBef>
                <a:spcPts val="25"/>
              </a:spcBef>
              <a:buFont typeface="Times New Roman"/>
              <a:buAutoNum type="arabicPeriod" startAt="3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designed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assignments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helps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facilitate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variety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authentic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implemented.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Times New Roman"/>
              <a:buAutoNum type="arabicPeriod" startAt="3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rate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forces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preferred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study.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Times New Roman"/>
              <a:buAutoNum type="arabicPeriod" startAt="3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 asked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name 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with whom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would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like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work.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Times New Roman"/>
              <a:buAutoNum type="arabicPeriod" startAt="3"/>
              <a:tabLst>
                <a:tab pos="241300" algn="l"/>
              </a:tabLst>
            </a:pPr>
            <a:r>
              <a:rPr dirty="0" sz="1200">
                <a:latin typeface="Arial MT"/>
                <a:cs typeface="Arial MT"/>
              </a:rPr>
              <a:t>After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teachers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assigned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booklets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marL="241300" marR="12065" indent="-228600">
              <a:lnSpc>
                <a:spcPct val="143500"/>
              </a:lnSpc>
              <a:spcBef>
                <a:spcPts val="45"/>
              </a:spcBef>
              <a:buFont typeface="Times New Roman"/>
              <a:buAutoNum type="arabicPeriod" startAt="3"/>
              <a:tabLst>
                <a:tab pos="241300" algn="l"/>
              </a:tabLst>
            </a:pP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booklet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schedule,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roster,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guiding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questions,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assignments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rubrics.</a:t>
            </a:r>
            <a:endParaRPr sz="1200">
              <a:latin typeface="Arial MT"/>
              <a:cs typeface="Arial MT"/>
            </a:endParaRPr>
          </a:p>
          <a:p>
            <a:pPr marL="241300" marR="12700" indent="-228600">
              <a:lnSpc>
                <a:spcPct val="144200"/>
              </a:lnSpc>
              <a:spcBef>
                <a:spcPts val="25"/>
              </a:spcBef>
              <a:buFont typeface="Times New Roman"/>
              <a:buAutoNum type="arabicPeriod" startAt="3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seven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day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schedule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began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day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2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PBS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film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introducing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twentieth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century.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 startAt="3"/>
              <a:tabLst>
                <a:tab pos="241300" algn="l"/>
              </a:tabLst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keynote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speaker.</a:t>
            </a:r>
            <a:endParaRPr sz="1200">
              <a:latin typeface="Arial MT"/>
              <a:cs typeface="Arial MT"/>
            </a:endParaRPr>
          </a:p>
          <a:p>
            <a:pPr algn="just" marL="247015" marR="5715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In this </a:t>
            </a:r>
            <a:r>
              <a:rPr dirty="0" sz="1200" spc="-5">
                <a:latin typeface="Arial MT"/>
                <a:cs typeface="Arial MT"/>
              </a:rPr>
              <a:t>way the students are learning problem solving. Communication skills </a:t>
            </a:r>
            <a:r>
              <a:rPr dirty="0" sz="1200">
                <a:latin typeface="Arial MT"/>
                <a:cs typeface="Arial MT"/>
              </a:rPr>
              <a:t>, </a:t>
            </a:r>
            <a:r>
              <a:rPr dirty="0" sz="1200" spc="-5">
                <a:latin typeface="Arial MT"/>
                <a:cs typeface="Arial MT"/>
              </a:rPr>
              <a:t>team work,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interpersonal communication. The important </a:t>
            </a:r>
            <a:r>
              <a:rPr dirty="0" sz="1200">
                <a:latin typeface="Arial MT"/>
                <a:cs typeface="Arial MT"/>
              </a:rPr>
              <a:t>thing </a:t>
            </a:r>
            <a:r>
              <a:rPr dirty="0" sz="1200" spc="-5">
                <a:latin typeface="Arial MT"/>
                <a:cs typeface="Arial MT"/>
              </a:rPr>
              <a:t>in jigsaw reading is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-5">
                <a:latin typeface="Arial MT"/>
                <a:cs typeface="Arial MT"/>
              </a:rPr>
              <a:t>we know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unless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project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subjects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integrated.</a:t>
            </a:r>
            <a:endParaRPr sz="1200">
              <a:latin typeface="Arial MT"/>
              <a:cs typeface="Arial MT"/>
            </a:endParaRPr>
          </a:p>
          <a:p>
            <a:pPr algn="just" marL="241300">
              <a:lnSpc>
                <a:spcPct val="100000"/>
              </a:lnSpc>
              <a:spcBef>
                <a:spcPts val="459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often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 inquiry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endParaRPr sz="1200">
              <a:latin typeface="Arial MT"/>
              <a:cs typeface="Arial MT"/>
            </a:endParaRPr>
          </a:p>
          <a:p>
            <a:pPr algn="just" marL="247015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6982333"/>
            <a:ext cx="6972300" cy="28194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 #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29</a:t>
            </a:r>
            <a:r>
              <a:rPr dirty="0" sz="16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“Inquiry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Teaching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 Higher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Level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Thinking”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7263765"/>
            <a:ext cx="3185160" cy="144907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200" spc="-5" b="1">
                <a:latin typeface="Arial"/>
                <a:cs typeface="Arial"/>
              </a:rPr>
              <a:t>Objectives: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780"/>
              </a:spcBef>
              <a:buFont typeface="Times New Roman"/>
              <a:buChar char="-"/>
              <a:tabLst>
                <a:tab pos="462280" algn="l"/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Thinking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2280" algn="l"/>
                <a:tab pos="462915" algn="l"/>
              </a:tabLst>
            </a:pPr>
            <a:r>
              <a:rPr dirty="0" sz="1200" b="1">
                <a:latin typeface="Arial"/>
                <a:cs typeface="Arial"/>
              </a:rPr>
              <a:t>Critical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thinking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2280" algn="l"/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Strategies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critical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thinking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825"/>
              </a:spcBef>
              <a:buFont typeface="Times New Roman"/>
              <a:buChar char="-"/>
              <a:tabLst>
                <a:tab pos="462280" algn="l"/>
                <a:tab pos="462915" algn="l"/>
              </a:tabLst>
            </a:pPr>
            <a:r>
              <a:rPr dirty="0" sz="1200" b="1">
                <a:latin typeface="Arial"/>
                <a:cs typeface="Arial"/>
              </a:rPr>
              <a:t>Inquiry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critical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9155048"/>
            <a:ext cx="4740910" cy="19234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Before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talking about thinking,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Arial"/>
                <a:cs typeface="Arial"/>
              </a:rPr>
              <a:t>What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is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learning?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9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memorizing facts?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 concepts?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acquiring skills?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above?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845" cy="1342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behaviorism, learning </a:t>
            </a:r>
            <a:r>
              <a:rPr dirty="0" sz="1200" b="1">
                <a:latin typeface="Arial"/>
                <a:cs typeface="Arial"/>
              </a:rPr>
              <a:t>is defined </a:t>
            </a:r>
            <a:r>
              <a:rPr dirty="0" sz="1200" spc="-5" b="1">
                <a:latin typeface="Arial"/>
                <a:cs typeface="Arial"/>
              </a:rPr>
              <a:t>as a permanent change </a:t>
            </a:r>
            <a:r>
              <a:rPr dirty="0" sz="1200" b="1">
                <a:latin typeface="Arial"/>
                <a:cs typeface="Arial"/>
              </a:rPr>
              <a:t>in behavior.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schools, </a:t>
            </a:r>
            <a:r>
              <a:rPr dirty="0" sz="1200">
                <a:latin typeface="Arial MT"/>
                <a:cs typeface="Arial MT"/>
              </a:rPr>
              <a:t>most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assume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memorizing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book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learning</a:t>
            </a:r>
            <a:r>
              <a:rPr dirty="0" sz="1200" spc="-5" b="1">
                <a:latin typeface="Arial"/>
                <a:cs typeface="Arial"/>
              </a:rPr>
              <a:t>,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rote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memorization.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assume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 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understand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depth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concepts.</a:t>
            </a:r>
            <a:endParaRPr sz="1200">
              <a:latin typeface="Arial MT"/>
              <a:cs typeface="Arial MT"/>
            </a:endParaRPr>
          </a:p>
          <a:p>
            <a:pPr marL="469900" marR="8890" indent="-228600">
              <a:lnSpc>
                <a:spcPct val="142500"/>
              </a:lnSpc>
              <a:spcBef>
                <a:spcPts val="35"/>
              </a:spcBef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-	</a:t>
            </a:r>
            <a:r>
              <a:rPr dirty="0" sz="1200" b="1">
                <a:latin typeface="Arial"/>
                <a:cs typeface="Arial"/>
              </a:rPr>
              <a:t>According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Kolb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(1984),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combination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grasping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experience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transforming</a:t>
            </a:r>
            <a:r>
              <a:rPr dirty="0" sz="1200" b="1">
                <a:latin typeface="Arial"/>
                <a:cs typeface="Arial"/>
              </a:rPr>
              <a:t> it.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2306285"/>
            <a:ext cx="6633209" cy="7563484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400" spc="-5" b="1">
                <a:latin typeface="Arial"/>
                <a:cs typeface="Arial"/>
              </a:rPr>
              <a:t>Thinking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skills:</a:t>
            </a:r>
            <a:endParaRPr sz="1400">
              <a:latin typeface="Arial"/>
              <a:cs typeface="Arial"/>
            </a:endParaRPr>
          </a:p>
          <a:p>
            <a:pPr marL="469900" marR="6350" indent="-228600">
              <a:lnSpc>
                <a:spcPts val="2050"/>
              </a:lnSpc>
              <a:spcBef>
                <a:spcPts val="120"/>
              </a:spcBef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-	</a:t>
            </a:r>
            <a:r>
              <a:rPr dirty="0" sz="1200" spc="-5" b="1">
                <a:latin typeface="Arial"/>
                <a:cs typeface="Arial"/>
              </a:rPr>
              <a:t>Robinson</a:t>
            </a:r>
            <a:r>
              <a:rPr dirty="0" sz="1200" spc="25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notes</a:t>
            </a:r>
            <a:r>
              <a:rPr dirty="0" sz="1200" spc="2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2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while</a:t>
            </a:r>
            <a:r>
              <a:rPr dirty="0" sz="1200" spc="25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2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importance</a:t>
            </a:r>
            <a:r>
              <a:rPr dirty="0" sz="1200" spc="2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2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cognitive</a:t>
            </a:r>
            <a:r>
              <a:rPr dirty="0" sz="1200" spc="2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r>
              <a:rPr dirty="0" sz="1200" spc="25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has</a:t>
            </a:r>
            <a:r>
              <a:rPr dirty="0" sz="1200" spc="2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become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widespread,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students’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performance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measures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higher-order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thinking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ability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has</a:t>
            </a:r>
            <a:endParaRPr sz="1200">
              <a:latin typeface="Arial"/>
              <a:cs typeface="Arial"/>
            </a:endParaRPr>
          </a:p>
          <a:p>
            <a:pPr marL="469900" marR="10795">
              <a:lnSpc>
                <a:spcPts val="2050"/>
              </a:lnSpc>
              <a:spcBef>
                <a:spcPts val="20"/>
              </a:spcBef>
            </a:pPr>
            <a:r>
              <a:rPr dirty="0" sz="1200" spc="-5" b="1">
                <a:latin typeface="Arial"/>
                <a:cs typeface="Arial"/>
              </a:rPr>
              <a:t>displayed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critical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need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develop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attitudes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effective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thinking.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Glossary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Thinking skills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terms: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50">
              <a:latin typeface="Arial"/>
              <a:cs typeface="Arial"/>
            </a:endParaRPr>
          </a:p>
          <a:p>
            <a:pPr algn="just" marL="18415" marR="5715" indent="-6350">
              <a:lnSpc>
                <a:spcPct val="144200"/>
              </a:lnSpc>
            </a:pPr>
            <a:r>
              <a:rPr dirty="0" sz="1200" b="1">
                <a:latin typeface="Arial"/>
                <a:cs typeface="Arial"/>
              </a:rPr>
              <a:t>Critical </a:t>
            </a:r>
            <a:r>
              <a:rPr dirty="0" sz="1200" spc="-5" b="1">
                <a:latin typeface="Arial"/>
                <a:cs typeface="Arial"/>
              </a:rPr>
              <a:t>Thinking: </a:t>
            </a:r>
            <a:r>
              <a:rPr dirty="0" sz="1200" spc="-5">
                <a:latin typeface="Arial MT"/>
                <a:cs typeface="Arial MT"/>
              </a:rPr>
              <a:t>The process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determining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authenticity, accuracy, or value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something;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characterized by the ability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seek reasons and alternatives, perceive </a:t>
            </a:r>
            <a:r>
              <a:rPr dirty="0" sz="1200">
                <a:latin typeface="Arial MT"/>
                <a:cs typeface="Arial MT"/>
              </a:rPr>
              <a:t>the total </a:t>
            </a:r>
            <a:r>
              <a:rPr dirty="0" sz="1200" spc="-5">
                <a:latin typeface="Arial MT"/>
                <a:cs typeface="Arial MT"/>
              </a:rPr>
              <a:t>situation, </a:t>
            </a:r>
            <a:r>
              <a:rPr dirty="0" sz="1200" spc="-1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 change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one’s </a:t>
            </a:r>
            <a:r>
              <a:rPr dirty="0" sz="1200">
                <a:latin typeface="Arial MT"/>
                <a:cs typeface="Arial MT"/>
              </a:rPr>
              <a:t>view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evidence.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called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“logical” thinking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“analytical” thinking.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Arial MT"/>
              <a:cs typeface="Arial MT"/>
            </a:endParaRPr>
          </a:p>
          <a:p>
            <a:pPr algn="just" marL="18415" marR="10160" indent="-6350">
              <a:lnSpc>
                <a:spcPct val="144200"/>
              </a:lnSpc>
            </a:pPr>
            <a:r>
              <a:rPr dirty="0" sz="1200" b="1">
                <a:latin typeface="Arial"/>
                <a:cs typeface="Arial"/>
              </a:rPr>
              <a:t>Infusion: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process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planning, assessing and monitoring one’s own thinking; the pinnacle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mental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functioning.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term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correction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order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Infusion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 disposition.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</a:pPr>
            <a:r>
              <a:rPr dirty="0" sz="1200" spc="-5" b="1">
                <a:latin typeface="Arial"/>
                <a:cs typeface="Arial"/>
              </a:rPr>
              <a:t>Metacognition: </a:t>
            </a:r>
            <a:r>
              <a:rPr dirty="0" sz="1200" spc="-5">
                <a:latin typeface="Arial MT"/>
                <a:cs typeface="Arial MT"/>
              </a:rPr>
              <a:t>The set of basic </a:t>
            </a:r>
            <a:r>
              <a:rPr dirty="0" sz="120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advanced skills and </a:t>
            </a:r>
            <a:r>
              <a:rPr dirty="0" sz="1200">
                <a:latin typeface="Arial MT"/>
                <a:cs typeface="Arial MT"/>
              </a:rPr>
              <a:t>sub-skills that </a:t>
            </a:r>
            <a:r>
              <a:rPr dirty="0" sz="1200" spc="-5">
                <a:latin typeface="Arial MT"/>
                <a:cs typeface="Arial MT"/>
              </a:rPr>
              <a:t>govern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person’s </a:t>
            </a:r>
            <a:r>
              <a:rPr dirty="0" sz="1200">
                <a:latin typeface="Arial MT"/>
                <a:cs typeface="Arial MT"/>
              </a:rPr>
              <a:t>mental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consist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dispositions,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metacognitive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operations.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Transfer: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ability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taught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separately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Arial MT"/>
              <a:cs typeface="Arial MT"/>
            </a:endParaRPr>
          </a:p>
          <a:p>
            <a:pPr marL="12700" marR="356235">
              <a:lnSpc>
                <a:spcPct val="143300"/>
              </a:lnSpc>
            </a:pPr>
            <a:r>
              <a:rPr dirty="0" sz="1200" b="1">
                <a:latin typeface="Arial"/>
                <a:cs typeface="Arial"/>
              </a:rPr>
              <a:t>Bloom’s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taxonomy: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It 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 skills.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six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evaluation.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lower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order.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Arial MT"/>
              <a:cs typeface="Arial MT"/>
            </a:endParaRPr>
          </a:p>
          <a:p>
            <a:pPr algn="just" marL="18415" marR="6350" indent="-6350">
              <a:lnSpc>
                <a:spcPct val="144000"/>
              </a:lnSpc>
            </a:pPr>
            <a:r>
              <a:rPr dirty="0" sz="1200" spc="-5" b="1">
                <a:latin typeface="Arial"/>
                <a:cs typeface="Arial"/>
              </a:rPr>
              <a:t>De Bono Six Thinking Hats: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term </a:t>
            </a:r>
            <a:r>
              <a:rPr dirty="0" sz="1200" spc="-5" i="1">
                <a:latin typeface="Arial"/>
                <a:cs typeface="Arial"/>
              </a:rPr>
              <a:t>Six Thinking </a:t>
            </a:r>
            <a:r>
              <a:rPr dirty="0" sz="1200" i="1">
                <a:latin typeface="Arial"/>
                <a:cs typeface="Arial"/>
              </a:rPr>
              <a:t>Hats </a:t>
            </a:r>
            <a:r>
              <a:rPr dirty="0" sz="1200" spc="-5">
                <a:latin typeface="Arial MT"/>
                <a:cs typeface="Arial MT"/>
              </a:rPr>
              <a:t>is used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describe the tool </a:t>
            </a:r>
            <a:r>
              <a:rPr dirty="0" sz="1200" spc="-1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group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 and individual thinking. </a:t>
            </a:r>
            <a:r>
              <a:rPr dirty="0" sz="1200">
                <a:latin typeface="Arial MT"/>
                <a:cs typeface="Arial MT"/>
              </a:rPr>
              <a:t>"Six </a:t>
            </a:r>
            <a:r>
              <a:rPr dirty="0" sz="1200" spc="-5">
                <a:latin typeface="Arial MT"/>
                <a:cs typeface="Arial MT"/>
              </a:rPr>
              <a:t>Thinking Hats" and the associated idea parallel </a:t>
            </a:r>
            <a:r>
              <a:rPr dirty="0" sz="1200">
                <a:latin typeface="Arial MT"/>
                <a:cs typeface="Arial MT"/>
              </a:rPr>
              <a:t>thinking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detailed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cohesive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way,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think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together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effectively.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1460" y="10962893"/>
            <a:ext cx="24479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Six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Thinking</a:t>
            </a:r>
            <a:r>
              <a:rPr dirty="0" sz="1200" spc="-10" b="1">
                <a:latin typeface="Arial"/>
                <a:cs typeface="Arial"/>
              </a:rPr>
              <a:t> Hats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(or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modes)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1460" y="1084580"/>
            <a:ext cx="3014345" cy="627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674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White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0" spc="-5">
                <a:latin typeface="Arial MT"/>
                <a:cs typeface="Arial MT"/>
              </a:rPr>
              <a:t>The White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Hat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calls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for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information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known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or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needed.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1460" y="2287269"/>
            <a:ext cx="3014345" cy="456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674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Red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000" spc="-5">
                <a:latin typeface="Arial MT"/>
                <a:cs typeface="Arial MT"/>
              </a:rPr>
              <a:t>The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Red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Hat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signifies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feelings,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hunches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and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intuition.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1460" y="3215385"/>
            <a:ext cx="4629785" cy="456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674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Black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000" spc="-5">
                <a:latin typeface="Arial MT"/>
                <a:cs typeface="Arial MT"/>
              </a:rPr>
              <a:t>The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Black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Hat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judgment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--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the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devil's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advocate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or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why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something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may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not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work.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1460" y="4142358"/>
            <a:ext cx="2993390" cy="456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674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Yellow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000" spc="-5">
                <a:latin typeface="Arial MT"/>
                <a:cs typeface="Arial MT"/>
              </a:rPr>
              <a:t>The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Yellow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Hat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symbolizes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brightness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and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optimism.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1460" y="5068951"/>
            <a:ext cx="4588510" cy="456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674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Green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000" spc="-5">
                <a:latin typeface="Arial MT"/>
                <a:cs typeface="Arial MT"/>
              </a:rPr>
              <a:t>The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Green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Hat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focuses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on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creativity: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the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possibilities,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alternatives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and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new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ideas.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5480" y="5997067"/>
            <a:ext cx="6635750" cy="5720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8267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Blue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Hat</a:t>
            </a:r>
            <a:endParaRPr sz="1200">
              <a:latin typeface="Arial"/>
              <a:cs typeface="Arial"/>
            </a:endParaRPr>
          </a:p>
          <a:p>
            <a:pPr marL="468630">
              <a:lnSpc>
                <a:spcPct val="100000"/>
              </a:lnSpc>
              <a:spcBef>
                <a:spcPts val="740"/>
              </a:spcBef>
            </a:pPr>
            <a:r>
              <a:rPr dirty="0" sz="1000" spc="-5">
                <a:latin typeface="Arial MT"/>
                <a:cs typeface="Arial MT"/>
              </a:rPr>
              <a:t>The Blue Hat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is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used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to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manage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the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thinking process.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How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these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thinking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skills can</a:t>
            </a:r>
            <a:r>
              <a:rPr dirty="0" sz="1400" b="1">
                <a:latin typeface="Arial"/>
                <a:cs typeface="Arial"/>
              </a:rPr>
              <a:t> be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incorporated </a:t>
            </a:r>
            <a:r>
              <a:rPr dirty="0" sz="1400" b="1">
                <a:latin typeface="Arial"/>
                <a:cs typeface="Arial"/>
              </a:rPr>
              <a:t>in</a:t>
            </a:r>
            <a:r>
              <a:rPr dirty="0" sz="1400" spc="-5" b="1">
                <a:latin typeface="Arial"/>
                <a:cs typeface="Arial"/>
              </a:rPr>
              <a:t> our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classrooms?</a:t>
            </a:r>
            <a:endParaRPr sz="1400">
              <a:latin typeface="Arial"/>
              <a:cs typeface="Arial"/>
            </a:endParaRPr>
          </a:p>
          <a:p>
            <a:pPr algn="just" marL="18415" marR="11430" indent="-6350">
              <a:lnSpc>
                <a:spcPts val="2080"/>
              </a:lnSpc>
              <a:spcBef>
                <a:spcPts val="85"/>
              </a:spcBef>
            </a:pPr>
            <a:r>
              <a:rPr dirty="0" sz="1200">
                <a:latin typeface="Arial MT"/>
                <a:cs typeface="Arial MT"/>
              </a:rPr>
              <a:t>We must </a:t>
            </a:r>
            <a:r>
              <a:rPr dirty="0" sz="1200" spc="-5">
                <a:latin typeface="Arial MT"/>
                <a:cs typeface="Arial MT"/>
              </a:rPr>
              <a:t>change our assumptions </a:t>
            </a:r>
            <a:r>
              <a:rPr dirty="0" sz="1200">
                <a:latin typeface="Arial MT"/>
                <a:cs typeface="Arial MT"/>
              </a:rPr>
              <a:t>first, </a:t>
            </a:r>
            <a:r>
              <a:rPr dirty="0" sz="1200" spc="-5">
                <a:latin typeface="Arial MT"/>
                <a:cs typeface="Arial MT"/>
              </a:rPr>
              <a:t>that is </a:t>
            </a:r>
            <a:r>
              <a:rPr dirty="0" sz="1200">
                <a:latin typeface="Arial MT"/>
                <a:cs typeface="Arial MT"/>
              </a:rPr>
              <a:t>“the more a </a:t>
            </a:r>
            <a:r>
              <a:rPr dirty="0" sz="1200" spc="-5">
                <a:latin typeface="Arial MT"/>
                <a:cs typeface="Arial MT"/>
              </a:rPr>
              <a:t>teacher teaches, the </a:t>
            </a:r>
            <a:r>
              <a:rPr dirty="0" sz="1200">
                <a:latin typeface="Arial MT"/>
                <a:cs typeface="Arial MT"/>
              </a:rPr>
              <a:t>more a </a:t>
            </a:r>
            <a:r>
              <a:rPr dirty="0" sz="1200" spc="-5">
                <a:latin typeface="Arial MT"/>
                <a:cs typeface="Arial MT"/>
              </a:rPr>
              <a:t>student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learns.” This assumption </a:t>
            </a:r>
            <a:r>
              <a:rPr dirty="0" sz="1200" spc="5">
                <a:latin typeface="Arial MT"/>
                <a:cs typeface="Arial MT"/>
              </a:rPr>
              <a:t>can </a:t>
            </a:r>
            <a:r>
              <a:rPr dirty="0" sz="120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changed by thinking that “the more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student experiences,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learns”</a:t>
            </a:r>
            <a:r>
              <a:rPr dirty="0" sz="1200">
                <a:latin typeface="Arial MT"/>
                <a:cs typeface="Arial MT"/>
              </a:rPr>
              <a:t> 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“deeper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more.” </a:t>
            </a:r>
            <a:r>
              <a:rPr dirty="0" sz="1200" spc="-5">
                <a:latin typeface="Arial MT"/>
                <a:cs typeface="Arial MT"/>
              </a:rPr>
              <a:t>There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different methods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deeper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 e.g.</a:t>
            </a:r>
            <a:endParaRPr sz="12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475"/>
              </a:spcBef>
            </a:pPr>
            <a:r>
              <a:rPr dirty="0" sz="1200" spc="-5">
                <a:latin typeface="Arial MT"/>
                <a:cs typeface="Arial MT"/>
              </a:rPr>
              <a:t>generative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core concepts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 big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800"/>
              </a:spcBef>
            </a:pPr>
            <a:r>
              <a:rPr dirty="0" sz="1400" spc="-5" b="1">
                <a:latin typeface="Arial"/>
                <a:cs typeface="Arial"/>
              </a:rPr>
              <a:t>Critical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thinking:</a:t>
            </a:r>
            <a:endParaRPr sz="1400">
              <a:latin typeface="Arial"/>
              <a:cs typeface="Arial"/>
            </a:endParaRPr>
          </a:p>
          <a:p>
            <a:pPr algn="just" marL="469900" marR="10160" indent="-228600">
              <a:lnSpc>
                <a:spcPts val="2060"/>
              </a:lnSpc>
              <a:spcBef>
                <a:spcPts val="100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What </a:t>
            </a:r>
            <a:r>
              <a:rPr dirty="0" sz="1200" b="1">
                <a:latin typeface="Arial"/>
                <a:cs typeface="Arial"/>
              </a:rPr>
              <a:t>it isn’t: </a:t>
            </a:r>
            <a:r>
              <a:rPr dirty="0" sz="1200" spc="-5" b="1">
                <a:latin typeface="Arial"/>
                <a:cs typeface="Arial"/>
              </a:rPr>
              <a:t>Critical </a:t>
            </a:r>
            <a:r>
              <a:rPr dirty="0" sz="1200" b="1">
                <a:latin typeface="Arial"/>
                <a:cs typeface="Arial"/>
              </a:rPr>
              <a:t>thinking is not </a:t>
            </a:r>
            <a:r>
              <a:rPr dirty="0" sz="1200" spc="-5" b="1">
                <a:latin typeface="Arial"/>
                <a:cs typeface="Arial"/>
              </a:rPr>
              <a:t>necessarily being “critical”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negative.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fact,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more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accurate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term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would be </a:t>
            </a:r>
            <a:r>
              <a:rPr dirty="0" sz="1200" spc="-5" b="1">
                <a:latin typeface="Arial"/>
                <a:cs typeface="Arial"/>
              </a:rPr>
              <a:t>evaluating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thinking.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Char char="-"/>
            </a:pPr>
            <a:endParaRPr sz="1650">
              <a:latin typeface="Arial"/>
              <a:cs typeface="Arial"/>
            </a:endParaRPr>
          </a:p>
          <a:p>
            <a:pPr algn="just" marL="469900" marR="8255" indent="-228600">
              <a:lnSpc>
                <a:spcPct val="142500"/>
              </a:lnSpc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According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Robert,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“critical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thinking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disciplined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manner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thought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that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person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uses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assess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validity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something: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statement,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news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story,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argument,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research.”</a:t>
            </a:r>
            <a:endParaRPr sz="1200">
              <a:latin typeface="Arial"/>
              <a:cs typeface="Arial"/>
            </a:endParaRPr>
          </a:p>
          <a:p>
            <a:pPr algn="just" marL="469900" marR="5080" indent="-228600">
              <a:lnSpc>
                <a:spcPct val="141700"/>
              </a:lnSpc>
              <a:spcBef>
                <a:spcPts val="50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Beyer says that “critical </a:t>
            </a:r>
            <a:r>
              <a:rPr dirty="0" sz="1200" b="1">
                <a:latin typeface="Arial"/>
                <a:cs typeface="Arial"/>
              </a:rPr>
              <a:t>thinking </a:t>
            </a:r>
            <a:r>
              <a:rPr dirty="0" sz="1200" spc="-5" b="1">
                <a:latin typeface="Arial"/>
                <a:cs typeface="Arial"/>
              </a:rPr>
              <a:t>has </a:t>
            </a:r>
            <a:r>
              <a:rPr dirty="0" sz="1200" b="1">
                <a:latin typeface="Arial"/>
                <a:cs typeface="Arial"/>
              </a:rPr>
              <a:t>two </a:t>
            </a:r>
            <a:r>
              <a:rPr dirty="0" sz="1200" spc="-5" b="1">
                <a:latin typeface="Arial"/>
                <a:cs typeface="Arial"/>
              </a:rPr>
              <a:t>important dimensions: </a:t>
            </a:r>
            <a:r>
              <a:rPr dirty="0" sz="1200" b="1">
                <a:latin typeface="Arial"/>
                <a:cs typeface="Arial"/>
              </a:rPr>
              <a:t>it is </a:t>
            </a:r>
            <a:r>
              <a:rPr dirty="0" sz="1200" spc="-5" b="1">
                <a:latin typeface="Arial"/>
                <a:cs typeface="Arial"/>
              </a:rPr>
              <a:t>both </a:t>
            </a:r>
            <a:r>
              <a:rPr dirty="0" sz="1200" b="1">
                <a:latin typeface="Arial"/>
                <a:cs typeface="Arial"/>
              </a:rPr>
              <a:t>a </a:t>
            </a:r>
            <a:r>
              <a:rPr dirty="0" sz="1200" spc="5" b="1">
                <a:latin typeface="Arial"/>
                <a:cs typeface="Arial"/>
              </a:rPr>
              <a:t>frame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mind </a:t>
            </a:r>
            <a:r>
              <a:rPr dirty="0" sz="1200" b="1">
                <a:latin typeface="Arial"/>
                <a:cs typeface="Arial"/>
              </a:rPr>
              <a:t>and a number of </a:t>
            </a:r>
            <a:r>
              <a:rPr dirty="0" sz="1200" spc="-5" b="1">
                <a:latin typeface="Arial"/>
                <a:cs typeface="Arial"/>
              </a:rPr>
              <a:t>specific mental operations.” </a:t>
            </a:r>
            <a:r>
              <a:rPr dirty="0" sz="1200" spc="-5">
                <a:latin typeface="Arial MT"/>
                <a:cs typeface="Arial MT"/>
              </a:rPr>
              <a:t>Firstly, you should have evaluative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could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evaluate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unless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evidence.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469900" marR="13335" indent="-228600">
              <a:lnSpc>
                <a:spcPct val="143300"/>
              </a:lnSpc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Norris (1985) agrees, </a:t>
            </a:r>
            <a:r>
              <a:rPr dirty="0" sz="1200" b="1">
                <a:latin typeface="Arial"/>
                <a:cs typeface="Arial"/>
              </a:rPr>
              <a:t>stating </a:t>
            </a:r>
            <a:r>
              <a:rPr dirty="0" sz="1200" spc="-5" b="1">
                <a:latin typeface="Arial"/>
                <a:cs typeface="Arial"/>
              </a:rPr>
              <a:t>that: </a:t>
            </a:r>
            <a:r>
              <a:rPr dirty="0" sz="1200" b="1">
                <a:latin typeface="Arial"/>
                <a:cs typeface="Arial"/>
              </a:rPr>
              <a:t>Having </a:t>
            </a:r>
            <a:r>
              <a:rPr dirty="0" sz="1200" spc="-5" b="1">
                <a:latin typeface="Arial"/>
                <a:cs typeface="Arial"/>
              </a:rPr>
              <a:t>a critical </a:t>
            </a:r>
            <a:r>
              <a:rPr dirty="0" sz="1200" b="1">
                <a:latin typeface="Arial"/>
                <a:cs typeface="Arial"/>
              </a:rPr>
              <a:t>spirit is </a:t>
            </a:r>
            <a:r>
              <a:rPr dirty="0" sz="1200" spc="-10" b="1">
                <a:latin typeface="Arial"/>
                <a:cs typeface="Arial"/>
              </a:rPr>
              <a:t>as </a:t>
            </a:r>
            <a:r>
              <a:rPr dirty="0" sz="1200" spc="-5" b="1">
                <a:latin typeface="Arial"/>
                <a:cs typeface="Arial"/>
              </a:rPr>
              <a:t>important as thinking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critically.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9735" y="744909"/>
            <a:ext cx="430695" cy="43374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9735" y="1943950"/>
            <a:ext cx="430695" cy="4713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9735" y="2875432"/>
            <a:ext cx="430695" cy="4335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9735" y="3798023"/>
            <a:ext cx="430695" cy="43801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99735" y="4724996"/>
            <a:ext cx="430695" cy="43801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735" y="5652549"/>
            <a:ext cx="430695" cy="470964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845058"/>
            <a:ext cx="6635750" cy="10664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69900" marR="10160" indent="-228600">
              <a:lnSpc>
                <a:spcPct val="142600"/>
              </a:lnSpc>
              <a:spcBef>
                <a:spcPts val="100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critical spirit requires one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think critically </a:t>
            </a:r>
            <a:r>
              <a:rPr dirty="0" sz="1200" b="1">
                <a:latin typeface="Arial"/>
                <a:cs typeface="Arial"/>
              </a:rPr>
              <a:t>about </a:t>
            </a:r>
            <a:r>
              <a:rPr dirty="0" sz="1200" spc="-5" b="1">
                <a:latin typeface="Arial"/>
                <a:cs typeface="Arial"/>
              </a:rPr>
              <a:t>all aspects </a:t>
            </a:r>
            <a:r>
              <a:rPr dirty="0" sz="1200" b="1">
                <a:latin typeface="Arial"/>
                <a:cs typeface="Arial"/>
              </a:rPr>
              <a:t>of life, to </a:t>
            </a:r>
            <a:r>
              <a:rPr dirty="0" sz="1200" spc="-5" b="1">
                <a:latin typeface="Arial"/>
                <a:cs typeface="Arial"/>
              </a:rPr>
              <a:t>think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</a:t>
            </a:r>
            <a:r>
              <a:rPr dirty="0" sz="1200" spc="-5" b="1">
                <a:latin typeface="Arial"/>
                <a:cs typeface="Arial"/>
              </a:rPr>
              <a:t>riti</a:t>
            </a:r>
            <a:r>
              <a:rPr dirty="0" sz="1200" spc="5" b="1">
                <a:latin typeface="Arial"/>
                <a:cs typeface="Arial"/>
              </a:rPr>
              <a:t>c</a:t>
            </a:r>
            <a:r>
              <a:rPr dirty="0" sz="1200" spc="-10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lly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about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one’s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own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</a:t>
            </a:r>
            <a:r>
              <a:rPr dirty="0" sz="1200" spc="-5" b="1">
                <a:latin typeface="Arial"/>
                <a:cs typeface="Arial"/>
              </a:rPr>
              <a:t>h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5" b="1">
                <a:latin typeface="Arial"/>
                <a:cs typeface="Arial"/>
              </a:rPr>
              <a:t>k</a:t>
            </a:r>
            <a:r>
              <a:rPr dirty="0" sz="1200" b="1">
                <a:latin typeface="Arial"/>
                <a:cs typeface="Arial"/>
              </a:rPr>
              <a:t>ing,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act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</a:t>
            </a:r>
            <a:r>
              <a:rPr dirty="0" sz="1200" spc="-5" b="1">
                <a:latin typeface="Arial"/>
                <a:cs typeface="Arial"/>
              </a:rPr>
              <a:t>h</a:t>
            </a:r>
            <a:r>
              <a:rPr dirty="0" sz="1200" b="1">
                <a:latin typeface="Arial"/>
                <a:cs typeface="Arial"/>
              </a:rPr>
              <a:t>e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bas</a:t>
            </a:r>
            <a:r>
              <a:rPr dirty="0" sz="1200" spc="-10" b="1">
                <a:latin typeface="Arial"/>
                <a:cs typeface="Arial"/>
              </a:rPr>
              <a:t>i</a:t>
            </a:r>
            <a:r>
              <a:rPr dirty="0" sz="1200" b="1">
                <a:latin typeface="Arial"/>
                <a:cs typeface="Arial"/>
              </a:rPr>
              <a:t>s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</a:t>
            </a:r>
            <a:r>
              <a:rPr dirty="0" sz="1200" spc="-15" b="1">
                <a:latin typeface="Arial"/>
                <a:cs typeface="Arial"/>
              </a:rPr>
              <a:t>h</a:t>
            </a:r>
            <a:r>
              <a:rPr dirty="0" sz="1200" b="1">
                <a:latin typeface="Arial"/>
                <a:cs typeface="Arial"/>
              </a:rPr>
              <a:t>at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one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has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conside</a:t>
            </a:r>
            <a:r>
              <a:rPr dirty="0" sz="1200" spc="-15" b="1">
                <a:latin typeface="Arial"/>
                <a:cs typeface="Arial"/>
              </a:rPr>
              <a:t>r</a:t>
            </a:r>
            <a:r>
              <a:rPr dirty="0" sz="1200" spc="-10" b="1">
                <a:latin typeface="Arial"/>
                <a:cs typeface="Arial"/>
              </a:rPr>
              <a:t>e</a:t>
            </a:r>
            <a:r>
              <a:rPr dirty="0" sz="1200" b="1">
                <a:latin typeface="Arial"/>
                <a:cs typeface="Arial"/>
              </a:rPr>
              <a:t>d  </a:t>
            </a:r>
            <a:r>
              <a:rPr dirty="0" sz="1200" b="1">
                <a:latin typeface="Arial"/>
                <a:cs typeface="Arial"/>
              </a:rPr>
              <a:t>when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using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critical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-"/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Teaching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Critical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Thinking:</a:t>
            </a:r>
            <a:endParaRPr sz="14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50"/>
              </a:spcBef>
            </a:pP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5">
                <a:latin typeface="Arial MT"/>
                <a:cs typeface="Arial MT"/>
              </a:rPr>
              <a:t> number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ways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critical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79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Acting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like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questioners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Critical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reading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While reading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Children’s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literature</a:t>
            </a:r>
            <a:endParaRPr sz="1200">
              <a:latin typeface="Arial"/>
              <a:cs typeface="Arial"/>
            </a:endParaRPr>
          </a:p>
          <a:p>
            <a:pPr algn="just" marL="469900" marR="8255" indent="-228600">
              <a:lnSpc>
                <a:spcPts val="2060"/>
              </a:lnSpc>
              <a:spcBef>
                <a:spcPts val="15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According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research, </a:t>
            </a:r>
            <a:r>
              <a:rPr dirty="0" sz="1200" b="1">
                <a:latin typeface="Arial"/>
                <a:cs typeface="Arial"/>
              </a:rPr>
              <a:t>children’s </a:t>
            </a:r>
            <a:r>
              <a:rPr dirty="0" sz="1200" spc="-5" b="1">
                <a:latin typeface="Arial"/>
                <a:cs typeface="Arial"/>
              </a:rPr>
              <a:t>literature </a:t>
            </a:r>
            <a:r>
              <a:rPr dirty="0" sz="1200" b="1">
                <a:latin typeface="Arial"/>
                <a:cs typeface="Arial"/>
              </a:rPr>
              <a:t>is </a:t>
            </a:r>
            <a:r>
              <a:rPr dirty="0" sz="1200" spc="-5" b="1">
                <a:latin typeface="Arial"/>
                <a:cs typeface="Arial"/>
              </a:rPr>
              <a:t>another powerful tool for teaching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skills.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Somers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Worthington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(1979)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noted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“…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literature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offers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children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more</a:t>
            </a:r>
            <a:endParaRPr sz="1200">
              <a:latin typeface="Arial"/>
              <a:cs typeface="Arial"/>
            </a:endParaRPr>
          </a:p>
          <a:p>
            <a:pPr algn="just" marL="469900" marR="8255">
              <a:lnSpc>
                <a:spcPts val="205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opportunities than any other area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the curriculum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consider ideas, values and </a:t>
            </a:r>
            <a:r>
              <a:rPr dirty="0" sz="1200" b="1">
                <a:latin typeface="Arial"/>
                <a:cs typeface="Arial"/>
              </a:rPr>
              <a:t> ethical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questions.”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Furthermore,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literature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inspires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challenges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helps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 learn</a:t>
            </a:r>
            <a:r>
              <a:rPr dirty="0" sz="1200" b="1">
                <a:latin typeface="Arial"/>
                <a:cs typeface="Arial"/>
              </a:rPr>
              <a:t> how </a:t>
            </a:r>
            <a:r>
              <a:rPr dirty="0" sz="1200" spc="-10" b="1">
                <a:latin typeface="Arial"/>
                <a:cs typeface="Arial"/>
              </a:rPr>
              <a:t>to</a:t>
            </a:r>
            <a:r>
              <a:rPr dirty="0" sz="1200" b="1">
                <a:latin typeface="Arial"/>
                <a:cs typeface="Arial"/>
              </a:rPr>
              <a:t> engage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interact</a:t>
            </a:r>
            <a:r>
              <a:rPr dirty="0" sz="1200" b="1">
                <a:latin typeface="Arial"/>
                <a:cs typeface="Arial"/>
              </a:rPr>
              <a:t> with</a:t>
            </a:r>
            <a:r>
              <a:rPr dirty="0" sz="1200" spc="-5" b="1">
                <a:latin typeface="Arial"/>
                <a:cs typeface="Arial"/>
              </a:rPr>
              <a:t> 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book.</a:t>
            </a:r>
            <a:endParaRPr sz="1200">
              <a:latin typeface="Arial"/>
              <a:cs typeface="Arial"/>
            </a:endParaRPr>
          </a:p>
          <a:p>
            <a:pPr marL="477520" marR="4845050" indent="-236220">
              <a:lnSpc>
                <a:spcPts val="2050"/>
              </a:lnSpc>
              <a:spcBef>
                <a:spcPts val="16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Writing </a:t>
            </a:r>
            <a:r>
              <a:rPr dirty="0" sz="1200" b="1">
                <a:latin typeface="Arial"/>
                <a:cs typeface="Arial"/>
              </a:rPr>
              <a:t>to learn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Free writing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Controlled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writing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Classification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games for</a:t>
            </a:r>
            <a:r>
              <a:rPr dirty="0" sz="1200" b="1">
                <a:latin typeface="Arial"/>
                <a:cs typeface="Arial"/>
              </a:rPr>
              <a:t> young </a:t>
            </a:r>
            <a:r>
              <a:rPr dirty="0" sz="1200" spc="-5" b="1">
                <a:latin typeface="Arial"/>
                <a:cs typeface="Arial"/>
              </a:rPr>
              <a:t>learners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Thinking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games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Finding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problems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Proposing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appropriate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solutions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Riddles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-"/>
            </a:pPr>
            <a:endParaRPr sz="14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riddle for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reading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critical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thinking:</a:t>
            </a:r>
            <a:endParaRPr sz="1200">
              <a:latin typeface="Arial"/>
              <a:cs typeface="Arial"/>
            </a:endParaRPr>
          </a:p>
          <a:p>
            <a:pPr algn="just" marL="469900" marR="5080" indent="-228600">
              <a:lnSpc>
                <a:spcPts val="2080"/>
              </a:lnSpc>
              <a:spcBef>
                <a:spcPts val="14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This is </a:t>
            </a:r>
            <a:r>
              <a:rPr dirty="0" sz="120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unusual paragraph. </a:t>
            </a:r>
            <a:r>
              <a:rPr dirty="0" sz="1200">
                <a:latin typeface="Arial MT"/>
                <a:cs typeface="Arial MT"/>
              </a:rPr>
              <a:t>I’m </a:t>
            </a:r>
            <a:r>
              <a:rPr dirty="0" sz="1200" spc="-5">
                <a:latin typeface="Arial MT"/>
                <a:cs typeface="Arial MT"/>
              </a:rPr>
              <a:t>curious </a:t>
            </a:r>
            <a:r>
              <a:rPr dirty="0" sz="1200">
                <a:latin typeface="Arial MT"/>
                <a:cs typeface="Arial MT"/>
              </a:rPr>
              <a:t>as to </a:t>
            </a:r>
            <a:r>
              <a:rPr dirty="0" sz="1200" spc="-5">
                <a:latin typeface="Arial MT"/>
                <a:cs typeface="Arial MT"/>
              </a:rPr>
              <a:t>just </a:t>
            </a:r>
            <a:r>
              <a:rPr dirty="0" sz="1200">
                <a:latin typeface="Arial MT"/>
                <a:cs typeface="Arial MT"/>
              </a:rPr>
              <a:t>how </a:t>
            </a:r>
            <a:r>
              <a:rPr dirty="0" sz="1200" spc="-5">
                <a:latin typeface="Arial MT"/>
                <a:cs typeface="Arial MT"/>
              </a:rPr>
              <a:t>quickly </a:t>
            </a:r>
            <a:r>
              <a:rPr dirty="0" sz="1200">
                <a:latin typeface="Arial MT"/>
                <a:cs typeface="Arial MT"/>
              </a:rPr>
              <a:t>you can </a:t>
            </a:r>
            <a:r>
              <a:rPr dirty="0" sz="1200" spc="-5">
                <a:latin typeface="Arial MT"/>
                <a:cs typeface="Arial MT"/>
              </a:rPr>
              <a:t>find out what is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 unusual about </a:t>
            </a:r>
            <a:r>
              <a:rPr dirty="0" sz="1200">
                <a:latin typeface="Arial MT"/>
                <a:cs typeface="Arial MT"/>
              </a:rPr>
              <a:t>it. It </a:t>
            </a:r>
            <a:r>
              <a:rPr dirty="0" sz="1200" spc="-10">
                <a:latin typeface="Arial MT"/>
                <a:cs typeface="Arial MT"/>
              </a:rPr>
              <a:t>looks </a:t>
            </a:r>
            <a:r>
              <a:rPr dirty="0" sz="1200" spc="-5">
                <a:latin typeface="Arial MT"/>
                <a:cs typeface="Arial MT"/>
              </a:rPr>
              <a:t>so ordinary and plain as you would think nothing </a:t>
            </a:r>
            <a:r>
              <a:rPr dirty="0" sz="1200" spc="-10">
                <a:latin typeface="Arial MT"/>
                <a:cs typeface="Arial MT"/>
              </a:rPr>
              <a:t>was </a:t>
            </a:r>
            <a:r>
              <a:rPr dirty="0" sz="1200" spc="-5">
                <a:latin typeface="Arial MT"/>
                <a:cs typeface="Arial MT"/>
              </a:rPr>
              <a:t>wrong with </a:t>
            </a:r>
            <a:r>
              <a:rPr dirty="0" sz="1200">
                <a:latin typeface="Arial MT"/>
                <a:cs typeface="Arial MT"/>
              </a:rPr>
              <a:t>it.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fact, nothing is wrong with </a:t>
            </a:r>
            <a:r>
              <a:rPr dirty="0" sz="1200">
                <a:latin typeface="Arial MT"/>
                <a:cs typeface="Arial MT"/>
              </a:rPr>
              <a:t>it! It </a:t>
            </a:r>
            <a:r>
              <a:rPr dirty="0" sz="1200" spc="-5">
                <a:latin typeface="Arial MT"/>
                <a:cs typeface="Arial MT"/>
              </a:rPr>
              <a:t>is highly unusual though. Study </a:t>
            </a:r>
            <a:r>
              <a:rPr dirty="0" sz="1200" spc="-1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think </a:t>
            </a:r>
            <a:r>
              <a:rPr dirty="0" sz="1200" spc="-5">
                <a:latin typeface="Arial MT"/>
                <a:cs typeface="Arial MT"/>
              </a:rPr>
              <a:t>about </a:t>
            </a:r>
            <a:r>
              <a:rPr dirty="0" sz="1200">
                <a:latin typeface="Arial MT"/>
                <a:cs typeface="Arial MT"/>
              </a:rPr>
              <a:t>it, </a:t>
            </a:r>
            <a:r>
              <a:rPr dirty="0" sz="1200" spc="-5">
                <a:latin typeface="Arial MT"/>
                <a:cs typeface="Arial MT"/>
              </a:rPr>
              <a:t>but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 still </a:t>
            </a:r>
            <a:r>
              <a:rPr dirty="0" sz="1200">
                <a:latin typeface="Arial MT"/>
                <a:cs typeface="Arial MT"/>
              </a:rPr>
              <a:t>may </a:t>
            </a:r>
            <a:r>
              <a:rPr dirty="0" sz="1200" spc="-5">
                <a:latin typeface="Arial MT"/>
                <a:cs typeface="Arial MT"/>
              </a:rPr>
              <a:t>not find anything odd. But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you work </a:t>
            </a:r>
            <a:r>
              <a:rPr dirty="0" sz="1200">
                <a:latin typeface="Arial MT"/>
                <a:cs typeface="Arial MT"/>
              </a:rPr>
              <a:t>at it </a:t>
            </a:r>
            <a:r>
              <a:rPr dirty="0" sz="1200" spc="-5">
                <a:latin typeface="Arial MT"/>
                <a:cs typeface="Arial MT"/>
              </a:rPr>
              <a:t>a bit, you might find out. Try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find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unusual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 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paragraph</a:t>
            </a:r>
            <a:r>
              <a:rPr dirty="0" sz="1200">
                <a:latin typeface="Arial MT"/>
                <a:cs typeface="Arial MT"/>
              </a:rPr>
              <a:t> quickly.</a:t>
            </a:r>
            <a:endParaRPr sz="1200">
              <a:latin typeface="Arial MT"/>
              <a:cs typeface="Arial MT"/>
            </a:endParaRPr>
          </a:p>
          <a:p>
            <a:pPr algn="just" marL="18415" marR="9525" indent="-6350">
              <a:lnSpc>
                <a:spcPct val="144300"/>
              </a:lnSpc>
              <a:spcBef>
                <a:spcPts val="790"/>
              </a:spcBef>
            </a:pPr>
            <a:r>
              <a:rPr dirty="0" sz="1200" spc="-5" b="1">
                <a:latin typeface="Arial"/>
                <a:cs typeface="Arial"/>
              </a:rPr>
              <a:t>Answer: 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>
                <a:latin typeface="Arial MT"/>
                <a:cs typeface="Arial MT"/>
              </a:rPr>
              <a:t>E”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vowel, which is </a:t>
            </a:r>
            <a:r>
              <a:rPr dirty="0" sz="1200">
                <a:latin typeface="Arial MT"/>
                <a:cs typeface="Arial MT"/>
              </a:rPr>
              <a:t>most </a:t>
            </a:r>
            <a:r>
              <a:rPr dirty="0" sz="1200" spc="-5">
                <a:latin typeface="Arial MT"/>
                <a:cs typeface="Arial MT"/>
              </a:rPr>
              <a:t>frequently used in our writing. But in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paragraph, there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no “E”</a:t>
            </a:r>
            <a:r>
              <a:rPr dirty="0" sz="1200" b="1">
                <a:latin typeface="Arial"/>
                <a:cs typeface="Arial"/>
              </a:rPr>
              <a:t>. </a:t>
            </a:r>
            <a:r>
              <a:rPr dirty="0" sz="1200" spc="-5">
                <a:latin typeface="Arial MT"/>
                <a:cs typeface="Arial MT"/>
              </a:rPr>
              <a:t>Although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interesting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a child. He will not only read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paragraph but </a:t>
            </a:r>
            <a:r>
              <a:rPr dirty="0" sz="1200" spc="-10">
                <a:latin typeface="Arial MT"/>
                <a:cs typeface="Arial MT"/>
              </a:rPr>
              <a:t>his </a:t>
            </a:r>
            <a:r>
              <a:rPr dirty="0" sz="1200" spc="-5">
                <a:latin typeface="Arial MT"/>
                <a:cs typeface="Arial MT"/>
              </a:rPr>
              <a:t>critical </a:t>
            </a:r>
            <a:r>
              <a:rPr dirty="0" sz="1200">
                <a:latin typeface="Arial MT"/>
                <a:cs typeface="Arial MT"/>
              </a:rPr>
              <a:t> thinking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improved.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Inquiry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Learning:</a:t>
            </a:r>
            <a:endParaRPr sz="1400">
              <a:latin typeface="Arial"/>
              <a:cs typeface="Arial"/>
            </a:endParaRPr>
          </a:p>
          <a:p>
            <a:pPr algn="just" marL="18415" marR="12065" indent="-6350">
              <a:lnSpc>
                <a:spcPts val="2080"/>
              </a:lnSpc>
            </a:pPr>
            <a:r>
              <a:rPr dirty="0" sz="1200" spc="-5">
                <a:latin typeface="Arial MT"/>
                <a:cs typeface="Arial MT"/>
              </a:rPr>
              <a:t>Inquiry itself is a big discipline.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has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own place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education and constructivism. Inquiry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 actually investigation and </a:t>
            </a:r>
            <a:r>
              <a:rPr dirty="0" sz="1200">
                <a:latin typeface="Arial MT"/>
                <a:cs typeface="Arial MT"/>
              </a:rPr>
              <a:t>it starts </a:t>
            </a:r>
            <a:r>
              <a:rPr dirty="0" sz="1200" spc="-5">
                <a:latin typeface="Arial MT"/>
                <a:cs typeface="Arial MT"/>
              </a:rPr>
              <a:t>with questioning. Inquiry learning actually includes all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three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elements of dale’s cone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learning. These three elements help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determine the level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critical </a:t>
            </a:r>
            <a:r>
              <a:rPr dirty="0" sz="1200">
                <a:latin typeface="Arial MT"/>
                <a:cs typeface="Arial MT"/>
              </a:rPr>
              <a:t> thinking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1978"/>
            <a:ext cx="6634480" cy="1942464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45"/>
              </a:spcBef>
            </a:pPr>
            <a:r>
              <a:rPr dirty="0" sz="1400" spc="-5" b="1">
                <a:latin typeface="Arial"/>
                <a:cs typeface="Arial"/>
              </a:rPr>
              <a:t>Dale’s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Cone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of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Learning:</a:t>
            </a:r>
            <a:endParaRPr sz="1400">
              <a:latin typeface="Arial"/>
              <a:cs typeface="Arial"/>
            </a:endParaRPr>
          </a:p>
          <a:p>
            <a:pPr algn="just" marL="469900" marR="8255" indent="-228600">
              <a:lnSpc>
                <a:spcPts val="2050"/>
              </a:lnSpc>
              <a:spcBef>
                <a:spcPts val="10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Learning </a:t>
            </a:r>
            <a:r>
              <a:rPr dirty="0" sz="1200" spc="-5" b="1">
                <a:latin typeface="Arial"/>
                <a:cs typeface="Arial"/>
              </a:rPr>
              <a:t>through doing, through observation,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through abstraction. Dale claims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that, </a:t>
            </a:r>
            <a:r>
              <a:rPr dirty="0" sz="1200" b="1">
                <a:latin typeface="Arial"/>
                <a:cs typeface="Arial"/>
              </a:rPr>
              <a:t>by </a:t>
            </a:r>
            <a:r>
              <a:rPr dirty="0" sz="1200" spc="-5" b="1">
                <a:latin typeface="Arial"/>
                <a:cs typeface="Arial"/>
              </a:rPr>
              <a:t>directly participating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the </a:t>
            </a:r>
            <a:r>
              <a:rPr dirty="0" sz="1200" b="1">
                <a:latin typeface="Arial"/>
                <a:cs typeface="Arial"/>
              </a:rPr>
              <a:t>learning process, </a:t>
            </a:r>
            <a:r>
              <a:rPr dirty="0" sz="1200" spc="-5" b="1">
                <a:latin typeface="Arial"/>
                <a:cs typeface="Arial"/>
              </a:rPr>
              <a:t>students are more motivated 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take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greater interest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(Abstraction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5" b="1">
                <a:latin typeface="Arial"/>
                <a:cs typeface="Arial"/>
              </a:rPr>
              <a:t> very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higher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learning.)</a:t>
            </a:r>
            <a:endParaRPr sz="1200">
              <a:latin typeface="Arial"/>
              <a:cs typeface="Arial"/>
            </a:endParaRPr>
          </a:p>
          <a:p>
            <a:pPr algn="just" marL="469900" marR="5080" indent="-228600">
              <a:lnSpc>
                <a:spcPct val="142500"/>
              </a:lnSpc>
              <a:spcBef>
                <a:spcPts val="35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children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develop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higher-level</a:t>
            </a:r>
            <a:r>
              <a:rPr dirty="0" sz="1200" b="1">
                <a:latin typeface="Arial"/>
                <a:cs typeface="Arial"/>
              </a:rPr>
              <a:t> abstract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grasp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 significance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abstract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descriptions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concrete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things,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they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should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provided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with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opportunities</a:t>
            </a:r>
            <a:r>
              <a:rPr dirty="0" sz="1200" b="1">
                <a:latin typeface="Arial"/>
                <a:cs typeface="Arial"/>
              </a:rPr>
              <a:t> to </a:t>
            </a:r>
            <a:r>
              <a:rPr dirty="0" sz="1200" spc="-5" b="1">
                <a:latin typeface="Arial"/>
                <a:cs typeface="Arial"/>
              </a:rPr>
              <a:t>use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senses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learn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from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empirical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observation.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5706491"/>
            <a:ext cx="6979920" cy="39370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 # 30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“Inquiry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Processes and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Constructivism”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6263512"/>
            <a:ext cx="6633209" cy="537591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715"/>
              </a:spcBef>
            </a:pP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  <a:p>
            <a:pPr marL="412115" marR="5060315">
              <a:lnSpc>
                <a:spcPct val="142500"/>
              </a:lnSpc>
            </a:pPr>
            <a:r>
              <a:rPr dirty="0" sz="1200" spc="-5" b="1">
                <a:latin typeface="Arial"/>
                <a:cs typeface="Arial"/>
              </a:rPr>
              <a:t>Brun</a:t>
            </a:r>
            <a:r>
              <a:rPr dirty="0" sz="1200" b="1">
                <a:latin typeface="Arial"/>
                <a:cs typeface="Arial"/>
              </a:rPr>
              <a:t>e</a:t>
            </a:r>
            <a:r>
              <a:rPr dirty="0" sz="1200" spc="-5" b="1">
                <a:latin typeface="Arial"/>
                <a:cs typeface="Arial"/>
              </a:rPr>
              <a:t>r’</a:t>
            </a:r>
            <a:r>
              <a:rPr dirty="0" sz="1200" b="1">
                <a:latin typeface="Arial"/>
                <a:cs typeface="Arial"/>
              </a:rPr>
              <a:t>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stages  </a:t>
            </a:r>
            <a:r>
              <a:rPr dirty="0" sz="1200" b="1">
                <a:latin typeface="Arial"/>
                <a:cs typeface="Arial"/>
              </a:rPr>
              <a:t>Inquiry</a:t>
            </a:r>
            <a:endParaRPr sz="1200">
              <a:latin typeface="Arial"/>
              <a:cs typeface="Arial"/>
            </a:endParaRPr>
          </a:p>
          <a:p>
            <a:pPr marL="412115">
              <a:lnSpc>
                <a:spcPct val="100000"/>
              </a:lnSpc>
              <a:spcBef>
                <a:spcPts val="600"/>
              </a:spcBef>
            </a:pPr>
            <a:r>
              <a:rPr dirty="0" sz="1200" b="1">
                <a:latin typeface="Arial"/>
                <a:cs typeface="Arial"/>
              </a:rPr>
              <a:t>Five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whys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inquiry</a:t>
            </a:r>
            <a:endParaRPr sz="1200">
              <a:latin typeface="Arial"/>
              <a:cs typeface="Arial"/>
            </a:endParaRPr>
          </a:p>
          <a:p>
            <a:pPr marL="412115" marR="3697604">
              <a:lnSpc>
                <a:spcPct val="142500"/>
              </a:lnSpc>
            </a:pPr>
            <a:r>
              <a:rPr dirty="0" sz="1200" b="1">
                <a:latin typeface="Arial"/>
                <a:cs typeface="Arial"/>
              </a:rPr>
              <a:t>Basic </a:t>
            </a:r>
            <a:r>
              <a:rPr dirty="0" sz="1200" spc="-5" b="1">
                <a:latin typeface="Arial"/>
                <a:cs typeface="Arial"/>
              </a:rPr>
              <a:t>elements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inquiry teaching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Inquiry </a:t>
            </a:r>
            <a:r>
              <a:rPr dirty="0" sz="1200" spc="-5" b="1">
                <a:latin typeface="Arial"/>
                <a:cs typeface="Arial"/>
              </a:rPr>
              <a:t>processes</a:t>
            </a:r>
            <a:endParaRPr sz="1200">
              <a:latin typeface="Arial"/>
              <a:cs typeface="Arial"/>
            </a:endParaRPr>
          </a:p>
          <a:p>
            <a:pPr marL="412115">
              <a:lnSpc>
                <a:spcPct val="100000"/>
              </a:lnSpc>
              <a:spcBef>
                <a:spcPts val="610"/>
              </a:spcBef>
            </a:pPr>
            <a:r>
              <a:rPr dirty="0" sz="1200" b="1">
                <a:latin typeface="Arial"/>
                <a:cs typeface="Arial"/>
              </a:rPr>
              <a:t>Constructivism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inquiry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teaching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5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Bruner’s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stages</a:t>
            </a:r>
            <a:endParaRPr sz="1200">
              <a:latin typeface="Arial"/>
              <a:cs typeface="Arial"/>
            </a:endParaRPr>
          </a:p>
          <a:p>
            <a:pPr algn="just" marL="18415" marR="1016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Bruner’s work was very much influenced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Piaget’s work. He made the stages like Piaget but his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later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 much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influenced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-5">
                <a:latin typeface="Arial MT"/>
                <a:cs typeface="Arial MT"/>
              </a:rPr>
              <a:t> Vygotsky. </a:t>
            </a:r>
            <a:r>
              <a:rPr dirty="0" sz="1200">
                <a:latin typeface="Arial MT"/>
                <a:cs typeface="Arial MT"/>
              </a:rPr>
              <a:t>Under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influences 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devised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stages.</a:t>
            </a:r>
            <a:endParaRPr sz="1200">
              <a:latin typeface="Arial MT"/>
              <a:cs typeface="Arial MT"/>
            </a:endParaRPr>
          </a:p>
          <a:p>
            <a:pPr marL="477520" marR="5080" indent="-116205">
              <a:lnSpc>
                <a:spcPts val="2039"/>
              </a:lnSpc>
              <a:spcBef>
                <a:spcPts val="50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first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stage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he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termed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Enactive”,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when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person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learns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about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spc="10" b="1">
                <a:latin typeface="Arial"/>
                <a:cs typeface="Arial"/>
              </a:rPr>
              <a:t>the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world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through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actions on </a:t>
            </a:r>
            <a:r>
              <a:rPr dirty="0" sz="1200" spc="-5" b="1">
                <a:latin typeface="Arial"/>
                <a:cs typeface="Arial"/>
              </a:rPr>
              <a:t>physical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outcomes</a:t>
            </a:r>
            <a:r>
              <a:rPr dirty="0" sz="1200" b="1">
                <a:latin typeface="Arial"/>
                <a:cs typeface="Arial"/>
              </a:rPr>
              <a:t> of </a:t>
            </a:r>
            <a:r>
              <a:rPr dirty="0" sz="1200" spc="-5" b="1">
                <a:latin typeface="Arial"/>
                <a:cs typeface="Arial"/>
              </a:rPr>
              <a:t>these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actions.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stage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relationships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concrete objects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 marL="477520" marR="10795" indent="-116205">
              <a:lnSpc>
                <a:spcPct val="142500"/>
              </a:lnSpc>
              <a:spcBef>
                <a:spcPts val="70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second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stage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was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called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“Iconic”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where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can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obtained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through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using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pictures.</a:t>
            </a:r>
            <a:endParaRPr sz="1200">
              <a:latin typeface="Arial"/>
              <a:cs typeface="Arial"/>
            </a:endParaRPr>
          </a:p>
          <a:p>
            <a:pPr algn="just" marL="18415" marR="8255" indent="-6350">
              <a:lnSpc>
                <a:spcPct val="144200"/>
              </a:lnSpc>
              <a:spcBef>
                <a:spcPts val="950"/>
              </a:spcBef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pre schools pictures and model are not sufficient </a:t>
            </a:r>
            <a:r>
              <a:rPr dirty="0" sz="1200" spc="-10">
                <a:latin typeface="Arial MT"/>
                <a:cs typeface="Arial MT"/>
              </a:rPr>
              <a:t>way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learning.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the stage when child </a:t>
            </a:r>
            <a:r>
              <a:rPr dirty="0" sz="1200">
                <a:latin typeface="Arial MT"/>
                <a:cs typeface="Arial MT"/>
              </a:rPr>
              <a:t> makes </a:t>
            </a:r>
            <a:r>
              <a:rPr dirty="0" sz="1200" spc="-5">
                <a:latin typeface="Arial MT"/>
                <a:cs typeface="Arial MT"/>
              </a:rPr>
              <a:t>relationships </a:t>
            </a:r>
            <a:r>
              <a:rPr dirty="0" sz="1200" spc="-10">
                <a:latin typeface="Arial MT"/>
                <a:cs typeface="Arial MT"/>
              </a:rPr>
              <a:t>with </a:t>
            </a:r>
            <a:r>
              <a:rPr dirty="0" sz="1200" spc="-5">
                <a:latin typeface="Arial MT"/>
                <a:cs typeface="Arial MT"/>
              </a:rPr>
              <a:t>real objects and want to learn.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child has not </a:t>
            </a:r>
            <a:r>
              <a:rPr dirty="0" sz="1200" spc="-10">
                <a:latin typeface="Arial MT"/>
                <a:cs typeface="Arial MT"/>
              </a:rPr>
              <a:t>seen </a:t>
            </a:r>
            <a:r>
              <a:rPr dirty="0" sz="1200" spc="-5">
                <a:latin typeface="Arial MT"/>
                <a:cs typeface="Arial MT"/>
              </a:rPr>
              <a:t>a table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cannot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comprehend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table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picture.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superficial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4480" cy="11210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10795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depth.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Pictures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beneficial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seen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reality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seen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original thing.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want to </a:t>
            </a:r>
            <a:r>
              <a:rPr dirty="0" sz="1200" spc="-5">
                <a:latin typeface="Arial MT"/>
                <a:cs typeface="Arial MT"/>
              </a:rPr>
              <a:t>show the animals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students we must take them </a:t>
            </a:r>
            <a:r>
              <a:rPr dirty="0" sz="1200">
                <a:latin typeface="Arial MT"/>
                <a:cs typeface="Arial MT"/>
              </a:rPr>
              <a:t>to the </a:t>
            </a:r>
            <a:r>
              <a:rPr dirty="0" sz="1200" spc="-5">
                <a:latin typeface="Arial MT"/>
                <a:cs typeface="Arial MT"/>
              </a:rPr>
              <a:t>zoo. </a:t>
            </a:r>
            <a:r>
              <a:rPr dirty="0" sz="1200">
                <a:latin typeface="Arial MT"/>
                <a:cs typeface="Arial MT"/>
              </a:rPr>
              <a:t> After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visit to </a:t>
            </a:r>
            <a:r>
              <a:rPr dirty="0" sz="1200" spc="-5">
                <a:latin typeface="Arial MT"/>
                <a:cs typeface="Arial MT"/>
              </a:rPr>
              <a:t>the zoo </a:t>
            </a:r>
            <a:r>
              <a:rPr dirty="0" sz="1200">
                <a:latin typeface="Arial MT"/>
                <a:cs typeface="Arial MT"/>
              </a:rPr>
              <a:t>when </a:t>
            </a:r>
            <a:r>
              <a:rPr dirty="0" sz="1200" spc="-5">
                <a:latin typeface="Arial MT"/>
                <a:cs typeface="Arial MT"/>
              </a:rPr>
              <a:t>we show them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pictures of </a:t>
            </a:r>
            <a:r>
              <a:rPr dirty="0" sz="1200" spc="-5">
                <a:latin typeface="Arial MT"/>
                <a:cs typeface="Arial MT"/>
              </a:rPr>
              <a:t>animals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be easy </a:t>
            </a:r>
            <a:r>
              <a:rPr dirty="0" sz="1200" spc="-5">
                <a:latin typeface="Arial MT"/>
                <a:cs typeface="Arial MT"/>
              </a:rPr>
              <a:t>to understand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them. If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only </a:t>
            </a:r>
            <a:r>
              <a:rPr dirty="0" sz="1200" spc="-5">
                <a:latin typeface="Arial MT"/>
                <a:cs typeface="Arial MT"/>
              </a:rPr>
              <a:t>show them the pictures they </a:t>
            </a:r>
            <a:r>
              <a:rPr dirty="0" sz="120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memorize the names but </a:t>
            </a:r>
            <a:r>
              <a:rPr dirty="0" sz="1200" spc="-10">
                <a:latin typeface="Arial MT"/>
                <a:cs typeface="Arial MT"/>
              </a:rPr>
              <a:t>can no </a:t>
            </a:r>
            <a:r>
              <a:rPr dirty="0" sz="1200" spc="-5">
                <a:latin typeface="Arial MT"/>
                <a:cs typeface="Arial MT"/>
              </a:rPr>
              <a:t>take the </a:t>
            </a:r>
            <a:r>
              <a:rPr dirty="0" sz="1200">
                <a:latin typeface="Arial MT"/>
                <a:cs typeface="Arial MT"/>
              </a:rPr>
              <a:t>proper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image.</a:t>
            </a:r>
            <a:endParaRPr sz="1200">
              <a:latin typeface="Arial MT"/>
              <a:cs typeface="Arial MT"/>
            </a:endParaRPr>
          </a:p>
          <a:p>
            <a:pPr marL="477520" marR="6985" indent="177800">
              <a:lnSpc>
                <a:spcPct val="142500"/>
              </a:lnSpc>
              <a:spcBef>
                <a:spcPts val="35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final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stage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was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“Symbolic”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which</a:t>
            </a:r>
            <a:r>
              <a:rPr dirty="0" sz="1200" b="1">
                <a:latin typeface="Arial"/>
                <a:cs typeface="Arial"/>
              </a:rPr>
              <a:t> the learner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capacity</a:t>
            </a:r>
            <a:r>
              <a:rPr dirty="0" sz="1200" b="1">
                <a:latin typeface="Arial"/>
                <a:cs typeface="Arial"/>
              </a:rPr>
              <a:t> to </a:t>
            </a:r>
            <a:r>
              <a:rPr dirty="0" sz="1200" spc="-5" b="1">
                <a:latin typeface="Arial"/>
                <a:cs typeface="Arial"/>
              </a:rPr>
              <a:t>think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abstract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terms.</a:t>
            </a:r>
            <a:endParaRPr sz="1200">
              <a:latin typeface="Arial"/>
              <a:cs typeface="Arial"/>
            </a:endParaRPr>
          </a:p>
          <a:p>
            <a:pPr marL="18415" marR="12065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stage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think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abstractly.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Algebra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starts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grade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six.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offer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earlier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classes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reason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its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expressions 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abstract.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Small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 </a:t>
            </a:r>
            <a:r>
              <a:rPr dirty="0" sz="1200">
                <a:latin typeface="Arial MT"/>
                <a:cs typeface="Arial MT"/>
              </a:rPr>
              <a:t>learn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200">
                <a:latin typeface="Arial MT"/>
                <a:cs typeface="Arial MT"/>
              </a:rPr>
              <a:t>this.</a:t>
            </a:r>
            <a:endParaRPr sz="1200">
              <a:latin typeface="Arial MT"/>
              <a:cs typeface="Arial MT"/>
            </a:endParaRPr>
          </a:p>
          <a:p>
            <a:pPr algn="just" marL="18415" marR="7620" indent="-6350">
              <a:lnSpc>
                <a:spcPts val="2080"/>
              </a:lnSpc>
              <a:spcBef>
                <a:spcPts val="140"/>
              </a:spcBef>
            </a:pPr>
            <a:r>
              <a:rPr dirty="0" sz="1200">
                <a:latin typeface="Arial MT"/>
                <a:cs typeface="Arial MT"/>
              </a:rPr>
              <a:t>Bruner </a:t>
            </a:r>
            <a:r>
              <a:rPr dirty="0" sz="1200" spc="-5">
                <a:latin typeface="Arial MT"/>
                <a:cs typeface="Arial MT"/>
              </a:rPr>
              <a:t>did </a:t>
            </a:r>
            <a:r>
              <a:rPr dirty="0" sz="120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clearly divide these stages he </a:t>
            </a:r>
            <a:r>
              <a:rPr dirty="0" sz="1200">
                <a:latin typeface="Arial MT"/>
                <a:cs typeface="Arial MT"/>
              </a:rPr>
              <a:t>kept </a:t>
            </a:r>
            <a:r>
              <a:rPr dirty="0" sz="1200" spc="-5">
                <a:latin typeface="Arial MT"/>
                <a:cs typeface="Arial MT"/>
              </a:rPr>
              <a:t>them merged. Importance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Bruner’s </a:t>
            </a:r>
            <a:r>
              <a:rPr dirty="0" sz="1200">
                <a:latin typeface="Arial MT"/>
                <a:cs typeface="Arial MT"/>
              </a:rPr>
              <a:t>stages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 to constructivism is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lesson plan should </a:t>
            </a:r>
            <a:r>
              <a:rPr dirty="0" sz="120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according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stages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children.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stage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through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concrete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objects.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stage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teach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models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pictures.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last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stage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endParaRPr sz="1200">
              <a:latin typeface="Arial MT"/>
              <a:cs typeface="Arial MT"/>
            </a:endParaRPr>
          </a:p>
          <a:p>
            <a:pPr algn="just" marL="18415" marR="10795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give them abstract ideas.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 teacher is giving concrete objects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children at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last </a:t>
            </a:r>
            <a:r>
              <a:rPr dirty="0" sz="1200">
                <a:latin typeface="Arial MT"/>
                <a:cs typeface="Arial MT"/>
              </a:rPr>
              <a:t> stage it </a:t>
            </a:r>
            <a:r>
              <a:rPr dirty="0" sz="1200" spc="-5">
                <a:latin typeface="Arial MT"/>
                <a:cs typeface="Arial MT"/>
              </a:rPr>
              <a:t>will waste their </a:t>
            </a:r>
            <a:r>
              <a:rPr dirty="0" sz="1200">
                <a:latin typeface="Arial MT"/>
                <a:cs typeface="Arial MT"/>
              </a:rPr>
              <a:t>time </a:t>
            </a:r>
            <a:r>
              <a:rPr dirty="0" sz="1200" spc="-5">
                <a:latin typeface="Arial MT"/>
                <a:cs typeface="Arial MT"/>
              </a:rPr>
              <a:t>and also the students will lose their </a:t>
            </a:r>
            <a:r>
              <a:rPr dirty="0" sz="1200">
                <a:latin typeface="Arial MT"/>
                <a:cs typeface="Arial MT"/>
              </a:rPr>
              <a:t>interest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learning. Its small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playgroup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love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coloring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write,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interest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coloring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becomes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20"/>
              </a:spcBef>
            </a:pPr>
            <a:r>
              <a:rPr dirty="0" sz="1200" spc="-5">
                <a:latin typeface="Arial MT"/>
                <a:cs typeface="Arial MT"/>
              </a:rPr>
              <a:t>The capacity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coloring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playgroup </a:t>
            </a:r>
            <a:r>
              <a:rPr dirty="0" sz="1200" spc="-5">
                <a:latin typeface="Arial MT"/>
                <a:cs typeface="Arial MT"/>
              </a:rPr>
              <a:t>child and grade one child 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10">
                <a:latin typeface="Arial MT"/>
                <a:cs typeface="Arial MT"/>
              </a:rPr>
              <a:t>same </a:t>
            </a:r>
            <a:r>
              <a:rPr dirty="0" sz="1200" spc="-5">
                <a:latin typeface="Arial MT"/>
                <a:cs typeface="Arial MT"/>
              </a:rPr>
              <a:t>because when child </a:t>
            </a:r>
            <a:r>
              <a:rPr dirty="0" sz="1200">
                <a:latin typeface="Arial MT"/>
                <a:cs typeface="Arial MT"/>
              </a:rPr>
              <a:t> gets </a:t>
            </a:r>
            <a:r>
              <a:rPr dirty="0" sz="1200" spc="-5">
                <a:latin typeface="Arial MT"/>
                <a:cs typeface="Arial MT"/>
              </a:rPr>
              <a:t>his expertise in writing, his coloring development stops there. Child </a:t>
            </a:r>
            <a:r>
              <a:rPr dirty="0" sz="1200">
                <a:latin typeface="Arial MT"/>
                <a:cs typeface="Arial MT"/>
              </a:rPr>
              <a:t>loves to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the tasks 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 own. The main quality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constructivism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demands from the teachers to plan </a:t>
            </a:r>
            <a:r>
              <a:rPr dirty="0" sz="1200">
                <a:latin typeface="Arial MT"/>
                <a:cs typeface="Arial MT"/>
              </a:rPr>
              <a:t>activities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 </a:t>
            </a:r>
            <a:r>
              <a:rPr dirty="0" sz="1200">
                <a:latin typeface="Arial MT"/>
                <a:cs typeface="Arial MT"/>
              </a:rPr>
              <a:t>to the </a:t>
            </a:r>
            <a:r>
              <a:rPr dirty="0" sz="1200" spc="-5">
                <a:latin typeface="Arial MT"/>
                <a:cs typeface="Arial MT"/>
              </a:rPr>
              <a:t>interests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children. When we </a:t>
            </a:r>
            <a:r>
              <a:rPr dirty="0" sz="1200">
                <a:latin typeface="Arial MT"/>
                <a:cs typeface="Arial MT"/>
              </a:rPr>
              <a:t>talk </a:t>
            </a:r>
            <a:r>
              <a:rPr dirty="0" sz="1200" spc="-5">
                <a:latin typeface="Arial MT"/>
                <a:cs typeface="Arial MT"/>
              </a:rPr>
              <a:t>about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child </a:t>
            </a:r>
            <a:r>
              <a:rPr dirty="0" sz="1200">
                <a:latin typeface="Arial MT"/>
                <a:cs typeface="Arial MT"/>
              </a:rPr>
              <a:t>loves to </a:t>
            </a:r>
            <a:r>
              <a:rPr dirty="0" sz="1200" spc="-5">
                <a:latin typeface="Arial MT"/>
                <a:cs typeface="Arial MT"/>
              </a:rPr>
              <a:t>work on hos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own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directly linked with Inquiry method. When children destroy </a:t>
            </a:r>
            <a:r>
              <a:rPr dirty="0" sz="1200">
                <a:latin typeface="Arial MT"/>
                <a:cs typeface="Arial MT"/>
              </a:rPr>
              <a:t>the toys they </a:t>
            </a:r>
            <a:r>
              <a:rPr dirty="0" sz="1200" spc="-5">
                <a:latin typeface="Arial MT"/>
                <a:cs typeface="Arial MT"/>
              </a:rPr>
              <a:t>actually </a:t>
            </a:r>
            <a:r>
              <a:rPr dirty="0" sz="1200">
                <a:latin typeface="Arial MT"/>
                <a:cs typeface="Arial MT"/>
              </a:rPr>
              <a:t>want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inquire.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ask</a:t>
            </a:r>
            <a:r>
              <a:rPr dirty="0" sz="1200" spc="-5">
                <a:latin typeface="Arial MT"/>
                <a:cs typeface="Arial MT"/>
              </a:rPr>
              <a:t> 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questions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also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linked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Basically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Inquiry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610"/>
              </a:spcBef>
            </a:pPr>
            <a:r>
              <a:rPr dirty="0" sz="1200" spc="-5">
                <a:latin typeface="Arial MT"/>
                <a:cs typeface="Arial MT"/>
              </a:rPr>
              <a:t>May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a: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Problem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Procedure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Solution</a:t>
            </a:r>
            <a:endParaRPr sz="1200">
              <a:latin typeface="Arial"/>
              <a:cs typeface="Arial"/>
            </a:endParaRPr>
          </a:p>
          <a:p>
            <a:pPr algn="just" marL="18415" marR="13335" indent="-6350">
              <a:lnSpc>
                <a:spcPct val="144200"/>
              </a:lnSpc>
              <a:spcBef>
                <a:spcPts val="780"/>
              </a:spcBef>
            </a:pPr>
            <a:r>
              <a:rPr dirty="0" sz="1200">
                <a:latin typeface="Arial MT"/>
                <a:cs typeface="Arial MT"/>
              </a:rPr>
              <a:t>It may </a:t>
            </a:r>
            <a:r>
              <a:rPr dirty="0" sz="1200" spc="-5">
                <a:latin typeface="Arial MT"/>
                <a:cs typeface="Arial MT"/>
              </a:rPr>
              <a:t>happen that all </a:t>
            </a:r>
            <a:r>
              <a:rPr dirty="0" sz="1200">
                <a:latin typeface="Arial MT"/>
                <a:cs typeface="Arial MT"/>
              </a:rPr>
              <a:t>three </a:t>
            </a:r>
            <a:r>
              <a:rPr dirty="0" sz="1200" spc="-5">
                <a:latin typeface="Arial MT"/>
                <a:cs typeface="Arial MT"/>
              </a:rPr>
              <a:t>things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involved in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inquiry. In all above three </a:t>
            </a:r>
            <a:r>
              <a:rPr dirty="0" sz="1200">
                <a:latin typeface="Arial MT"/>
                <a:cs typeface="Arial MT"/>
              </a:rPr>
              <a:t>topics </a:t>
            </a:r>
            <a:r>
              <a:rPr dirty="0" sz="1200" spc="-5">
                <a:latin typeface="Arial MT"/>
                <a:cs typeface="Arial MT"/>
              </a:rPr>
              <a:t>question is 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Five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whys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inquiry.</a:t>
            </a:r>
            <a:endParaRPr sz="1200">
              <a:latin typeface="Arial"/>
              <a:cs typeface="Arial"/>
            </a:endParaRPr>
          </a:p>
          <a:p>
            <a:pPr marL="18415" marR="11430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five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whys.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techniques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“the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whys”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scaffolding guidance.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200">
                <a:latin typeface="Arial MT"/>
                <a:cs typeface="Arial MT"/>
              </a:rPr>
              <a:t>Why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bread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burnt?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200" spc="-5">
                <a:latin typeface="Arial MT"/>
                <a:cs typeface="Arial MT"/>
              </a:rPr>
              <a:t>Perhaps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close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heat source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oven.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>
                <a:latin typeface="Arial MT"/>
                <a:cs typeface="Arial MT"/>
              </a:rPr>
              <a:t>Why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close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source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the top?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dough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big.</a:t>
            </a:r>
            <a:endParaRPr sz="1200">
              <a:latin typeface="Arial MT"/>
              <a:cs typeface="Arial MT"/>
            </a:endParaRPr>
          </a:p>
          <a:p>
            <a:pPr marL="18415" marR="12700" indent="-6350">
              <a:lnSpc>
                <a:spcPts val="2080"/>
              </a:lnSpc>
              <a:spcBef>
                <a:spcPts val="140"/>
              </a:spcBef>
            </a:pP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yet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completed.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just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like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police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investigate.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lot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questioning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15">
                <a:latin typeface="Arial MT"/>
                <a:cs typeface="Arial MT"/>
              </a:rPr>
              <a:t>the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necessary thing</a:t>
            </a:r>
            <a:r>
              <a:rPr dirty="0" sz="1200">
                <a:latin typeface="Arial MT"/>
                <a:cs typeface="Arial MT"/>
              </a:rPr>
              <a:t> for </a:t>
            </a:r>
            <a:r>
              <a:rPr dirty="0" sz="1200" spc="-5">
                <a:latin typeface="Arial MT"/>
                <a:cs typeface="Arial MT"/>
              </a:rPr>
              <a:t>inquiry.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200" spc="-5">
                <a:latin typeface="Arial MT"/>
                <a:cs typeface="Arial MT"/>
              </a:rPr>
              <a:t>The next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 </a:t>
            </a:r>
            <a:r>
              <a:rPr dirty="0" sz="1200">
                <a:latin typeface="Arial MT"/>
                <a:cs typeface="Arial MT"/>
              </a:rPr>
              <a:t>is: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8611"/>
            <a:ext cx="6633845" cy="1076515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200">
                <a:latin typeface="Arial MT"/>
                <a:cs typeface="Arial MT"/>
              </a:rPr>
              <a:t>Why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dough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big?</a:t>
            </a:r>
            <a:endParaRPr sz="1200">
              <a:latin typeface="Arial MT"/>
              <a:cs typeface="Arial MT"/>
            </a:endParaRPr>
          </a:p>
          <a:p>
            <a:pPr marL="12700" marR="2670810">
              <a:lnSpc>
                <a:spcPts val="2070"/>
              </a:lnSpc>
              <a:spcBef>
                <a:spcPts val="155"/>
              </a:spcBef>
            </a:pPr>
            <a:r>
              <a:rPr dirty="0" sz="1200" spc="-5">
                <a:latin typeface="Arial MT"/>
                <a:cs typeface="Arial MT"/>
              </a:rPr>
              <a:t>Probably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 we did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measure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made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it.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measure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it?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only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measure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size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finished product.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200" spc="-5">
                <a:latin typeface="Arial MT"/>
                <a:cs typeface="Arial MT"/>
              </a:rPr>
              <a:t>So why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did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bread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burn?</a:t>
            </a:r>
            <a:endParaRPr sz="1200">
              <a:latin typeface="Arial MT"/>
              <a:cs typeface="Arial MT"/>
            </a:endParaRPr>
          </a:p>
          <a:p>
            <a:pPr algn="just" marL="18415" marR="11430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take into consideration the </a:t>
            </a:r>
            <a:r>
              <a:rPr dirty="0" sz="1200">
                <a:latin typeface="Arial MT"/>
                <a:cs typeface="Arial MT"/>
              </a:rPr>
              <a:t>fact </a:t>
            </a:r>
            <a:r>
              <a:rPr dirty="0" sz="1200" spc="-5">
                <a:latin typeface="Arial MT"/>
                <a:cs typeface="Arial MT"/>
              </a:rPr>
              <a:t>that the dough will rise in the oven,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becomes bigger </a:t>
            </a:r>
            <a:r>
              <a:rPr dirty="0" sz="1200">
                <a:latin typeface="Arial MT"/>
                <a:cs typeface="Arial MT"/>
              </a:rPr>
              <a:t> than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might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burnt.</a:t>
            </a:r>
            <a:endParaRPr sz="1200">
              <a:latin typeface="Arial MT"/>
              <a:cs typeface="Arial MT"/>
            </a:endParaRPr>
          </a:p>
          <a:p>
            <a:pPr algn="just" marL="18415" marR="6985" indent="-6350">
              <a:lnSpc>
                <a:spcPts val="2080"/>
              </a:lnSpc>
              <a:spcBef>
                <a:spcPts val="15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previous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last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first </a:t>
            </a:r>
            <a:r>
              <a:rPr dirty="0" sz="1200" spc="-5">
                <a:latin typeface="Arial MT"/>
                <a:cs typeface="Arial MT"/>
              </a:rPr>
              <a:t>one. That will be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conclusion. First one was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simple answer and </a:t>
            </a:r>
            <a:r>
              <a:rPr dirty="0" sz="1200">
                <a:latin typeface="Arial MT"/>
                <a:cs typeface="Arial MT"/>
              </a:rPr>
              <a:t>last </a:t>
            </a:r>
            <a:r>
              <a:rPr dirty="0" sz="1200" spc="-5">
                <a:latin typeface="Arial MT"/>
                <a:cs typeface="Arial MT"/>
              </a:rPr>
              <a:t>answer was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given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after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inquiry.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After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reach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conclusion.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 inter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linked.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  <a:spcBef>
                <a:spcPts val="1055"/>
              </a:spcBef>
            </a:pPr>
            <a:r>
              <a:rPr dirty="0" sz="1200" b="1">
                <a:latin typeface="Arial"/>
                <a:cs typeface="Arial"/>
              </a:rPr>
              <a:t>Basic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elements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inquiry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teaching</a:t>
            </a:r>
            <a:endParaRPr sz="1200">
              <a:latin typeface="Arial"/>
              <a:cs typeface="Arial"/>
            </a:endParaRPr>
          </a:p>
          <a:p>
            <a:pPr algn="just" marL="477520" marR="5080" indent="-228600">
              <a:lnSpc>
                <a:spcPts val="2080"/>
              </a:lnSpc>
              <a:spcBef>
                <a:spcPts val="15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Inquiry method requires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learner to develop various processes associated with inquiry.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involved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interpretation,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making</a:t>
            </a:r>
            <a:r>
              <a:rPr dirty="0" sz="1200">
                <a:latin typeface="Arial MT"/>
                <a:cs typeface="Arial MT"/>
              </a:rPr>
              <a:t> conclusions,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data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collection, doing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observation.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master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 processes.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650">
              <a:latin typeface="Arial MT"/>
              <a:cs typeface="Arial MT"/>
            </a:endParaRPr>
          </a:p>
          <a:p>
            <a:pPr algn="just" marL="477520" marR="5080" indent="-228600">
              <a:lnSpc>
                <a:spcPct val="143300"/>
              </a:lnSpc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principals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support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adapt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own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administrative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styles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concepts.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necessary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introduce inquiry learning.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can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happen when teachers will know that actual learning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be gained through inquiry method.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should not stuff the children with facts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critical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learners.</a:t>
            </a:r>
            <a:endParaRPr sz="1200">
              <a:latin typeface="Arial MT"/>
              <a:cs typeface="Arial MT"/>
            </a:endParaRPr>
          </a:p>
          <a:p>
            <a:pPr algn="just" marL="477520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 MT"/>
                <a:cs typeface="Arial MT"/>
              </a:rPr>
              <a:t>For this </a:t>
            </a:r>
            <a:r>
              <a:rPr dirty="0" sz="1200" spc="-5">
                <a:latin typeface="Arial MT"/>
                <a:cs typeface="Arial MT"/>
              </a:rPr>
              <a:t>purpose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implement</a:t>
            </a:r>
            <a:r>
              <a:rPr dirty="0" sz="1200">
                <a:latin typeface="Arial MT"/>
                <a:cs typeface="Arial MT"/>
              </a:rPr>
              <a:t> them.</a:t>
            </a:r>
            <a:endParaRPr sz="1200">
              <a:latin typeface="Arial MT"/>
              <a:cs typeface="Arial MT"/>
            </a:endParaRPr>
          </a:p>
          <a:p>
            <a:pPr algn="just" marL="477520" indent="-229235">
              <a:lnSpc>
                <a:spcPct val="100000"/>
              </a:lnSpc>
              <a:spcBef>
                <a:spcPts val="75"/>
              </a:spcBef>
              <a:buFont typeface="Times New Roman"/>
              <a:buAutoNum type="arabicPeriod" startAt="3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ages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genuine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interest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discovering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endParaRPr sz="1200">
              <a:latin typeface="Arial MT"/>
              <a:cs typeface="Arial MT"/>
            </a:endParaRPr>
          </a:p>
          <a:p>
            <a:pPr algn="just" marL="477520" marR="10795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providing solutions or alternatives to unsolved questions or problems.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 </a:t>
            </a:r>
            <a:r>
              <a:rPr dirty="0" sz="1200">
                <a:latin typeface="Arial MT"/>
                <a:cs typeface="Arial MT"/>
              </a:rPr>
              <a:t>says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Arial MT"/>
              <a:cs typeface="Arial MT"/>
            </a:endParaRPr>
          </a:p>
          <a:p>
            <a:pPr algn="just" marL="477520" marR="8890" indent="-228600">
              <a:lnSpc>
                <a:spcPct val="144200"/>
              </a:lnSpc>
              <a:buFont typeface="Times New Roman"/>
              <a:buAutoNum type="arabicPeriod" startAt="4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The solutions, alternatives or responses </a:t>
            </a:r>
            <a:r>
              <a:rPr dirty="0" sz="1200">
                <a:latin typeface="Arial MT"/>
                <a:cs typeface="Arial MT"/>
              </a:rPr>
              <a:t>provided </a:t>
            </a:r>
            <a:r>
              <a:rPr dirty="0" sz="1200" spc="-5">
                <a:latin typeface="Arial MT"/>
                <a:cs typeface="Arial MT"/>
              </a:rPr>
              <a:t>by learners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not found in textbooks.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use reference material and textbooks during inquiry lessons </a:t>
            </a:r>
            <a:r>
              <a:rPr dirty="0" sz="1200">
                <a:latin typeface="Arial MT"/>
                <a:cs typeface="Arial MT"/>
              </a:rPr>
              <a:t>just </a:t>
            </a:r>
            <a:r>
              <a:rPr dirty="0" sz="1200" spc="-5">
                <a:latin typeface="Arial MT"/>
                <a:cs typeface="Arial MT"/>
              </a:rPr>
              <a:t>as a scientist </a:t>
            </a:r>
            <a:r>
              <a:rPr dirty="0" sz="1200" spc="-10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professionals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use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books,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articles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reference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conduct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/>
              <a:buAutoNum type="arabicPeriod" startAt="4"/>
            </a:pPr>
            <a:endParaRPr sz="1800">
              <a:latin typeface="Arial MT"/>
              <a:cs typeface="Arial MT"/>
            </a:endParaRPr>
          </a:p>
          <a:p>
            <a:pPr algn="just" marL="477520" marR="6985" indent="-228600">
              <a:lnSpc>
                <a:spcPct val="144200"/>
              </a:lnSpc>
              <a:buFont typeface="Times New Roman"/>
              <a:buAutoNum type="arabicPeriod" startAt="4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The objective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inquiry teaching is often as </a:t>
            </a:r>
            <a:r>
              <a:rPr dirty="0" sz="1200">
                <a:latin typeface="Arial MT"/>
                <a:cs typeface="Arial MT"/>
              </a:rPr>
              <a:t>process, </a:t>
            </a:r>
            <a:r>
              <a:rPr dirty="0" sz="1200" spc="-5">
                <a:latin typeface="Arial MT"/>
                <a:cs typeface="Arial MT"/>
              </a:rPr>
              <a:t>in many instances, the </a:t>
            </a:r>
            <a:r>
              <a:rPr dirty="0" sz="1200">
                <a:latin typeface="Arial MT"/>
                <a:cs typeface="Arial MT"/>
              </a:rPr>
              <a:t>end </a:t>
            </a:r>
            <a:r>
              <a:rPr dirty="0" sz="1200" spc="-5">
                <a:latin typeface="Arial MT"/>
                <a:cs typeface="Arial MT"/>
              </a:rPr>
              <a:t>product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 inquiry </a:t>
            </a:r>
            <a:r>
              <a:rPr dirty="0" sz="1200">
                <a:latin typeface="Arial MT"/>
                <a:cs typeface="Arial MT"/>
              </a:rPr>
              <a:t>activity </a:t>
            </a:r>
            <a:r>
              <a:rPr dirty="0" sz="1200" spc="-5">
                <a:latin typeface="Arial MT"/>
                <a:cs typeface="Arial MT"/>
              </a:rPr>
              <a:t>is relatively unimportant compare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processes used to create </a:t>
            </a:r>
            <a:r>
              <a:rPr dirty="0" sz="1200">
                <a:latin typeface="Arial MT"/>
                <a:cs typeface="Arial MT"/>
              </a:rPr>
              <a:t>it.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Maybe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nothing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new. End product is not important but the child has passed through every step included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observation. Data collection, data interpretation and conclusion is the main thing. Objective 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end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AutoNum type="arabicPeriod" startAt="4"/>
            </a:pPr>
            <a:endParaRPr sz="1800">
              <a:latin typeface="Arial MT"/>
              <a:cs typeface="Arial MT"/>
            </a:endParaRPr>
          </a:p>
          <a:p>
            <a:pPr algn="just" marL="477520" marR="9525" indent="-228600">
              <a:lnSpc>
                <a:spcPct val="144200"/>
              </a:lnSpc>
              <a:buFont typeface="Times New Roman"/>
              <a:buAutoNum type="arabicPeriod" startAt="4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All conclusions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considered relative or tentative, not final. Students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learn to </a:t>
            </a:r>
            <a:r>
              <a:rPr dirty="0" sz="1200">
                <a:latin typeface="Arial MT"/>
                <a:cs typeface="Arial MT"/>
              </a:rPr>
              <a:t> modify their </a:t>
            </a:r>
            <a:r>
              <a:rPr dirty="0" sz="1200" spc="-5">
                <a:latin typeface="Arial MT"/>
                <a:cs typeface="Arial MT"/>
              </a:rPr>
              <a:t>conclusions as new data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discovered.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develop flexibility in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 develops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spirit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575563"/>
            <a:ext cx="6397625" cy="11054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5080" indent="-228600">
              <a:lnSpc>
                <a:spcPct val="144200"/>
              </a:lnSpc>
              <a:spcBef>
                <a:spcPts val="100"/>
              </a:spcBef>
              <a:buFont typeface="Times New Roman"/>
              <a:buAutoNum type="arabicPeriod" startAt="7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Inquiry learning cannot be gauged by the </a:t>
            </a:r>
            <a:r>
              <a:rPr dirty="0" sz="1200">
                <a:latin typeface="Arial MT"/>
                <a:cs typeface="Arial MT"/>
              </a:rPr>
              <a:t>clock. In </a:t>
            </a:r>
            <a:r>
              <a:rPr dirty="0" sz="1200" spc="-5">
                <a:latin typeface="Arial MT"/>
                <a:cs typeface="Arial MT"/>
              </a:rPr>
              <a:t>the real world, </a:t>
            </a:r>
            <a:r>
              <a:rPr dirty="0" sz="1200">
                <a:latin typeface="Arial MT"/>
                <a:cs typeface="Arial MT"/>
              </a:rPr>
              <a:t>when </a:t>
            </a:r>
            <a:r>
              <a:rPr dirty="0" sz="1200" spc="-5">
                <a:latin typeface="Arial MT"/>
                <a:cs typeface="Arial MT"/>
              </a:rPr>
              <a:t>people think or </a:t>
            </a:r>
            <a:r>
              <a:rPr dirty="0" sz="1200">
                <a:latin typeface="Arial MT"/>
                <a:cs typeface="Arial MT"/>
              </a:rPr>
              <a:t> create, it </a:t>
            </a:r>
            <a:r>
              <a:rPr dirty="0" sz="1200" spc="-5">
                <a:latin typeface="Arial MT"/>
                <a:cs typeface="Arial MT"/>
              </a:rPr>
              <a:t>is not usually done in </a:t>
            </a:r>
            <a:r>
              <a:rPr dirty="0" sz="1200">
                <a:latin typeface="Arial MT"/>
                <a:cs typeface="Arial MT"/>
              </a:rPr>
              <a:t>fifty-minute </a:t>
            </a:r>
            <a:r>
              <a:rPr dirty="0" sz="1200" spc="-5">
                <a:latin typeface="Arial MT"/>
                <a:cs typeface="Arial MT"/>
              </a:rPr>
              <a:t>increments.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effect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inquiry method is </a:t>
            </a:r>
            <a:r>
              <a:rPr dirty="0" sz="1200" spc="5">
                <a:latin typeface="Arial MT"/>
                <a:cs typeface="Arial MT"/>
              </a:rPr>
              <a:t>life- 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long.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30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minutes. 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plenty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time.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AutoNum type="arabicPeriod" startAt="7"/>
            </a:pPr>
            <a:endParaRPr sz="1800">
              <a:latin typeface="Arial MT"/>
              <a:cs typeface="Arial MT"/>
            </a:endParaRPr>
          </a:p>
          <a:p>
            <a:pPr algn="just" marL="241300" marR="10795" indent="-228600">
              <a:lnSpc>
                <a:spcPct val="144200"/>
              </a:lnSpc>
              <a:buFont typeface="Times New Roman"/>
              <a:buAutoNum type="arabicPeriod" startAt="7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Learners are responsible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planning, conducting and evaluating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own efforts.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 essential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the teacher play only a supportive role, not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active </a:t>
            </a:r>
            <a:r>
              <a:rPr dirty="0" sz="1200">
                <a:latin typeface="Arial MT"/>
                <a:cs typeface="Arial MT"/>
              </a:rPr>
              <a:t>one </a:t>
            </a:r>
            <a:r>
              <a:rPr dirty="0" sz="1200" spc="-5">
                <a:latin typeface="Arial MT"/>
                <a:cs typeface="Arial MT"/>
              </a:rPr>
              <a:t>(that </a:t>
            </a:r>
            <a:r>
              <a:rPr dirty="0" sz="1200">
                <a:latin typeface="Arial MT"/>
                <a:cs typeface="Arial MT"/>
              </a:rPr>
              <a:t>is, </a:t>
            </a:r>
            <a:r>
              <a:rPr dirty="0" sz="1200" spc="-5">
                <a:latin typeface="Arial MT"/>
                <a:cs typeface="Arial MT"/>
              </a:rPr>
              <a:t>the teacher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 not do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work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 students). We need to active the students and teacher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 support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 startAt="7"/>
            </a:pPr>
            <a:endParaRPr sz="1800">
              <a:latin typeface="Arial MT"/>
              <a:cs typeface="Arial MT"/>
            </a:endParaRPr>
          </a:p>
          <a:p>
            <a:pPr algn="just" marL="241300" marR="12065" indent="-228600">
              <a:lnSpc>
                <a:spcPct val="144200"/>
              </a:lnSpc>
              <a:spcBef>
                <a:spcPts val="5"/>
              </a:spcBef>
              <a:buFont typeface="Times New Roman"/>
              <a:buAutoNum type="arabicPeriod" startAt="7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Students 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taught the processes associated with inquiry learning in a systematic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manner.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 startAt="7"/>
            </a:pPr>
            <a:endParaRPr sz="1300">
              <a:latin typeface="Arial MT"/>
              <a:cs typeface="Arial MT"/>
            </a:endParaRPr>
          </a:p>
          <a:p>
            <a:pPr algn="just" marL="247015" marR="8890" indent="-6350">
              <a:lnSpc>
                <a:spcPct val="143900"/>
              </a:lnSpc>
            </a:pPr>
            <a:r>
              <a:rPr dirty="0" sz="1200">
                <a:latin typeface="Arial MT"/>
                <a:cs typeface="Arial MT"/>
              </a:rPr>
              <a:t>Every </a:t>
            </a:r>
            <a:r>
              <a:rPr dirty="0" sz="1200" spc="-5">
                <a:latin typeface="Arial MT"/>
                <a:cs typeface="Arial MT"/>
              </a:rPr>
              <a:t>time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“teachable moment” arrives, the teacher should capitalized on it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further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building of inquiry processes.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teacher </a:t>
            </a:r>
            <a:r>
              <a:rPr dirty="0" sz="1200" spc="-5">
                <a:latin typeface="Arial MT"/>
                <a:cs typeface="Arial MT"/>
              </a:rPr>
              <a:t>himself give the answer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-5">
                <a:latin typeface="Arial MT"/>
                <a:cs typeface="Arial MT"/>
              </a:rPr>
              <a:t>question so </a:t>
            </a:r>
            <a:r>
              <a:rPr dirty="0" sz="1200" spc="-15">
                <a:latin typeface="Arial MT"/>
                <a:cs typeface="Arial MT"/>
              </a:rPr>
              <a:t>he 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allow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next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Arial MT"/>
              <a:cs typeface="Arial MT"/>
            </a:endParaRPr>
          </a:p>
          <a:p>
            <a:pPr algn="just" marL="241300" marR="9525" indent="-228600">
              <a:lnSpc>
                <a:spcPct val="144200"/>
              </a:lnSpc>
              <a:spcBef>
                <a:spcPts val="5"/>
              </a:spcBef>
              <a:buFont typeface="Times New Roman"/>
              <a:buAutoNum type="arabicPeriod" startAt="10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complicates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expands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teacher’s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owing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many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interactions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originate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 inquiry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 algn="just" marL="247015" marR="8255" indent="-6350">
              <a:lnSpc>
                <a:spcPct val="144200"/>
              </a:lnSpc>
              <a:spcBef>
                <a:spcPts val="20"/>
              </a:spcBef>
            </a:pPr>
            <a:r>
              <a:rPr dirty="0" sz="1200" spc="-5">
                <a:latin typeface="Arial MT"/>
                <a:cs typeface="Arial MT"/>
              </a:rPr>
              <a:t>Different </a:t>
            </a:r>
            <a:r>
              <a:rPr dirty="0" sz="1200">
                <a:latin typeface="Arial MT"/>
                <a:cs typeface="Arial MT"/>
              </a:rPr>
              <a:t>children </a:t>
            </a:r>
            <a:r>
              <a:rPr dirty="0" sz="1200" spc="-5">
                <a:latin typeface="Arial MT"/>
                <a:cs typeface="Arial MT"/>
              </a:rPr>
              <a:t>have different responses. Teachers have </a:t>
            </a:r>
            <a:r>
              <a:rPr dirty="0" sz="1200">
                <a:latin typeface="Arial MT"/>
                <a:cs typeface="Arial MT"/>
              </a:rPr>
              <a:t>to tackle </a:t>
            </a:r>
            <a:r>
              <a:rPr dirty="0" sz="1200" spc="-5">
                <a:latin typeface="Arial MT"/>
                <a:cs typeface="Arial MT"/>
              </a:rPr>
              <a:t>all the responses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build the learning on their responses. Inquiry is </a:t>
            </a:r>
            <a:r>
              <a:rPr dirty="0" sz="1200">
                <a:latin typeface="Arial MT"/>
                <a:cs typeface="Arial MT"/>
              </a:rPr>
              <a:t>itself </a:t>
            </a:r>
            <a:r>
              <a:rPr dirty="0" sz="1200" spc="-5">
                <a:latin typeface="Arial MT"/>
                <a:cs typeface="Arial MT"/>
              </a:rPr>
              <a:t>a process but teacher guidance is the </a:t>
            </a:r>
            <a:r>
              <a:rPr dirty="0" sz="1200">
                <a:latin typeface="Arial MT"/>
                <a:cs typeface="Arial MT"/>
              </a:rPr>
              <a:t> most</a:t>
            </a:r>
            <a:r>
              <a:rPr dirty="0" sz="1200" spc="-5">
                <a:latin typeface="Arial MT"/>
                <a:cs typeface="Arial MT"/>
              </a:rPr>
              <a:t> important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Arial MT"/>
              <a:cs typeface="Arial MT"/>
            </a:endParaRPr>
          </a:p>
          <a:p>
            <a:pPr algn="just" marL="2413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Basic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inquiry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processes.</a:t>
            </a:r>
            <a:endParaRPr sz="1200">
              <a:latin typeface="Arial"/>
              <a:cs typeface="Arial"/>
            </a:endParaRPr>
          </a:p>
          <a:p>
            <a:pPr lvl="1" marL="469265" indent="-228600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dirty="0" sz="1200" spc="-5" b="1">
                <a:latin typeface="Arial"/>
                <a:cs typeface="Arial"/>
              </a:rPr>
              <a:t>Observing</a:t>
            </a:r>
            <a:endParaRPr sz="1200">
              <a:latin typeface="Arial"/>
              <a:cs typeface="Arial"/>
            </a:endParaRPr>
          </a:p>
          <a:p>
            <a:pPr algn="just" marL="247015" marR="10160" indent="-6350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Identifying objects, object properties and changes in various systems; making controlled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observations;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ordering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series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observations.</a:t>
            </a:r>
            <a:r>
              <a:rPr dirty="0" sz="1200">
                <a:latin typeface="Arial MT"/>
                <a:cs typeface="Arial MT"/>
              </a:rPr>
              <a:t> 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</a:t>
            </a:r>
            <a:r>
              <a:rPr dirty="0" sz="1200">
                <a:latin typeface="Arial MT"/>
                <a:cs typeface="Arial MT"/>
              </a:rPr>
              <a:t> leads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controlled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>
                <a:latin typeface="Arial MT"/>
                <a:cs typeface="Arial MT"/>
              </a:rPr>
              <a:t> free.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Controlled observation 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observation in which we are specific about the things we 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observation. In </a:t>
            </a:r>
            <a:r>
              <a:rPr dirty="0" sz="1200">
                <a:latin typeface="Arial MT"/>
                <a:cs typeface="Arial MT"/>
              </a:rPr>
              <a:t>free </a:t>
            </a:r>
            <a:r>
              <a:rPr dirty="0" sz="1200" spc="-5">
                <a:latin typeface="Arial MT"/>
                <a:cs typeface="Arial MT"/>
              </a:rPr>
              <a:t>observation we observe everything in our surrounding. Both </a:t>
            </a:r>
            <a:r>
              <a:rPr dirty="0" sz="1200">
                <a:latin typeface="Arial MT"/>
                <a:cs typeface="Arial MT"/>
              </a:rPr>
              <a:t>types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</a:t>
            </a:r>
            <a:endParaRPr sz="1200">
              <a:latin typeface="Arial MT"/>
              <a:cs typeface="Arial MT"/>
            </a:endParaRPr>
          </a:p>
          <a:p>
            <a:pPr algn="just" marL="247015" marR="8255" indent="-6350">
              <a:lnSpc>
                <a:spcPts val="2080"/>
              </a:lnSpc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inductive mode </a:t>
            </a:r>
            <a:r>
              <a:rPr dirty="0" sz="1200" spc="-1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free </a:t>
            </a:r>
            <a:r>
              <a:rPr dirty="0" sz="1200" spc="-5">
                <a:latin typeface="Arial MT"/>
                <a:cs typeface="Arial MT"/>
              </a:rPr>
              <a:t>observation.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can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controlled.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deductive mode there 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controlled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lvl="1" marL="469265" indent="-228600">
              <a:lnSpc>
                <a:spcPct val="100000"/>
              </a:lnSpc>
              <a:spcBef>
                <a:spcPts val="1100"/>
              </a:spcBef>
              <a:buFont typeface="Times New Roman"/>
              <a:buAutoNum type="arabicPeriod" startAt="2"/>
              <a:tabLst>
                <a:tab pos="469900" algn="l"/>
              </a:tabLst>
            </a:pPr>
            <a:r>
              <a:rPr dirty="0" sz="1200" spc="-5" b="1">
                <a:latin typeface="Arial"/>
                <a:cs typeface="Arial"/>
              </a:rPr>
              <a:t>Classifying</a:t>
            </a:r>
            <a:endParaRPr sz="1200">
              <a:latin typeface="Arial"/>
              <a:cs typeface="Arial"/>
            </a:endParaRPr>
          </a:p>
          <a:p>
            <a:pPr marL="469265" marR="577850">
              <a:lnSpc>
                <a:spcPts val="2050"/>
              </a:lnSpc>
              <a:spcBef>
                <a:spcPts val="160"/>
              </a:spcBef>
            </a:pPr>
            <a:r>
              <a:rPr dirty="0" sz="1200" spc="-5">
                <a:latin typeface="Arial MT"/>
                <a:cs typeface="Arial MT"/>
              </a:rPr>
              <a:t>Making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simple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classifications;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tabulating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coding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preschool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 also.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lvl="1" marL="469265" indent="-228600">
              <a:lnSpc>
                <a:spcPct val="100000"/>
              </a:lnSpc>
              <a:spcBef>
                <a:spcPts val="1075"/>
              </a:spcBef>
              <a:buFont typeface="Times New Roman"/>
              <a:buAutoNum type="arabicPeriod" startAt="3"/>
              <a:tabLst>
                <a:tab pos="469900" algn="l"/>
              </a:tabLst>
            </a:pPr>
            <a:r>
              <a:rPr dirty="0" sz="1200" b="1">
                <a:latin typeface="Arial"/>
                <a:cs typeface="Arial"/>
              </a:rPr>
              <a:t>Inferring</a:t>
            </a:r>
            <a:endParaRPr sz="1200">
              <a:latin typeface="Arial"/>
              <a:cs typeface="Arial"/>
            </a:endParaRPr>
          </a:p>
          <a:p>
            <a:pPr marL="475615" marR="698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Drawing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conclusions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observations;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constructing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solutions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test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conclusions.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lvl="1" marL="469265" indent="-228600">
              <a:lnSpc>
                <a:spcPct val="100000"/>
              </a:lnSpc>
              <a:spcBef>
                <a:spcPts val="1095"/>
              </a:spcBef>
              <a:buFont typeface="Times New Roman"/>
              <a:buAutoNum type="arabicPeriod" startAt="4"/>
              <a:tabLst>
                <a:tab pos="469900" algn="l"/>
              </a:tabLst>
            </a:pPr>
            <a:r>
              <a:rPr dirty="0" sz="1200" b="1">
                <a:latin typeface="Arial"/>
                <a:cs typeface="Arial"/>
              </a:rPr>
              <a:t>Using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numbers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575563"/>
            <a:ext cx="6163310" cy="4780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0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Identifying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sets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numbers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progressing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higher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processes.</a:t>
            </a:r>
            <a:endParaRPr sz="1200">
              <a:latin typeface="Arial MT"/>
              <a:cs typeface="Arial MT"/>
            </a:endParaRPr>
          </a:p>
          <a:p>
            <a:pPr marL="240665">
              <a:lnSpc>
                <a:spcPct val="100000"/>
              </a:lnSpc>
              <a:spcBef>
                <a:spcPts val="660"/>
              </a:spcBef>
            </a:pP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labeling.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Arial MT"/>
              <a:cs typeface="Arial MT"/>
            </a:endParaRPr>
          </a:p>
          <a:p>
            <a:pPr marL="240665" indent="-228600">
              <a:lnSpc>
                <a:spcPct val="100000"/>
              </a:lnSpc>
              <a:buFont typeface="Times New Roman"/>
              <a:buAutoNum type="arabicPeriod" startAt="5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Measuring</a:t>
            </a:r>
            <a:endParaRPr sz="1200">
              <a:latin typeface="Arial"/>
              <a:cs typeface="Arial"/>
            </a:endParaRPr>
          </a:p>
          <a:p>
            <a:pPr marL="247015" marR="5080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Identifying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ordering</a:t>
            </a:r>
            <a:r>
              <a:rPr dirty="0" sz="1200" spc="2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lengths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areas,</a:t>
            </a:r>
            <a:r>
              <a:rPr dirty="0" sz="1200" spc="2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volume,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weights,</a:t>
            </a:r>
            <a:r>
              <a:rPr dirty="0" sz="1200" spc="2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temperature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speeds.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40665" indent="-228600">
              <a:lnSpc>
                <a:spcPct val="100000"/>
              </a:lnSpc>
              <a:spcBef>
                <a:spcPts val="1110"/>
              </a:spcBef>
              <a:buFont typeface="Times New Roman"/>
              <a:buAutoNum type="arabicPeriod" startAt="6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Using</a:t>
            </a:r>
            <a:r>
              <a:rPr dirty="0" sz="1200" spc="-5" b="1">
                <a:latin typeface="Arial"/>
                <a:cs typeface="Arial"/>
              </a:rPr>
              <a:t> space-time relationships</a:t>
            </a:r>
            <a:endParaRPr sz="12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600"/>
              </a:spcBef>
            </a:pPr>
            <a:r>
              <a:rPr dirty="0" sz="1200" spc="-5">
                <a:latin typeface="Arial MT"/>
                <a:cs typeface="Arial MT"/>
              </a:rPr>
              <a:t>Identifying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movements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direction;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rules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governing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position.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Arial MT"/>
              <a:cs typeface="Arial MT"/>
            </a:endParaRPr>
          </a:p>
          <a:p>
            <a:pPr marL="240665" indent="-228600">
              <a:lnSpc>
                <a:spcPct val="100000"/>
              </a:lnSpc>
              <a:buFont typeface="Times New Roman"/>
              <a:buAutoNum type="arabicPeriod" startAt="7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Communicating</a:t>
            </a:r>
            <a:endParaRPr sz="1200">
              <a:latin typeface="Arial"/>
              <a:cs typeface="Arial"/>
            </a:endParaRPr>
          </a:p>
          <a:p>
            <a:pPr marL="247015" marR="5080" indent="-6350">
              <a:lnSpc>
                <a:spcPts val="2080"/>
              </a:lnSpc>
              <a:spcBef>
                <a:spcPts val="140"/>
              </a:spcBef>
            </a:pPr>
            <a:r>
              <a:rPr dirty="0" sz="1200" spc="-5">
                <a:latin typeface="Arial MT"/>
                <a:cs typeface="Arial MT"/>
              </a:rPr>
              <a:t>Communicating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graphs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diagrams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describe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simple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phenomena</a:t>
            </a:r>
            <a:r>
              <a:rPr dirty="0" sz="1200">
                <a:latin typeface="Arial MT"/>
                <a:cs typeface="Arial MT"/>
              </a:rPr>
              <a:t> ;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written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oral </a:t>
            </a:r>
            <a:r>
              <a:rPr dirty="0" sz="1200" spc="-5">
                <a:latin typeface="Arial MT"/>
                <a:cs typeface="Arial MT"/>
              </a:rPr>
              <a:t>reports.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40665" indent="-228600">
              <a:lnSpc>
                <a:spcPct val="100000"/>
              </a:lnSpc>
              <a:spcBef>
                <a:spcPts val="1100"/>
              </a:spcBef>
              <a:buFont typeface="Times New Roman"/>
              <a:buAutoNum type="arabicPeriod" startAt="8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Predicting</a:t>
            </a:r>
            <a:endParaRPr sz="1200">
              <a:latin typeface="Arial"/>
              <a:cs typeface="Arial"/>
            </a:endParaRPr>
          </a:p>
          <a:p>
            <a:pPr marL="240665" marR="1003935">
              <a:lnSpc>
                <a:spcPct val="142500"/>
              </a:lnSpc>
            </a:pPr>
            <a:r>
              <a:rPr dirty="0" sz="1200" spc="-5">
                <a:latin typeface="Arial MT"/>
                <a:cs typeface="Arial MT"/>
              </a:rPr>
              <a:t>Interpolating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extrapolating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data;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formulating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testing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predictions.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36135" y="5939155"/>
            <a:ext cx="10890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 spc="25">
                <a:latin typeface="Arial MT"/>
                <a:cs typeface="Arial MT"/>
              </a:rPr>
              <a:t>n</a:t>
            </a:r>
            <a:r>
              <a:rPr dirty="0" sz="1200" spc="-5">
                <a:latin typeface="Arial MT"/>
                <a:cs typeface="Arial MT"/>
              </a:rPr>
              <a:t>-</a:t>
            </a:r>
            <a:r>
              <a:rPr dirty="0" sz="1200" spc="-15">
                <a:latin typeface="Arial MT"/>
                <a:cs typeface="Arial MT"/>
              </a:rPr>
              <a:t>o</a:t>
            </a:r>
            <a:r>
              <a:rPr dirty="0" sz="1200" spc="-5">
                <a:latin typeface="Arial MT"/>
                <a:cs typeface="Arial MT"/>
              </a:rPr>
              <a:t>pe</a:t>
            </a:r>
            <a:r>
              <a:rPr dirty="0" sz="1200" spc="-5">
                <a:latin typeface="Arial MT"/>
                <a:cs typeface="Arial MT"/>
              </a:rPr>
              <a:t>rati</a:t>
            </a:r>
            <a:r>
              <a:rPr dirty="0" sz="1200" spc="-15">
                <a:latin typeface="Arial MT"/>
                <a:cs typeface="Arial MT"/>
              </a:rPr>
              <a:t>o</a:t>
            </a:r>
            <a:r>
              <a:rPr dirty="0" sz="1200" spc="-5">
                <a:latin typeface="Arial MT"/>
                <a:cs typeface="Arial MT"/>
              </a:rPr>
              <a:t>na</a:t>
            </a:r>
            <a:r>
              <a:rPr dirty="0" sz="1200" spc="-5">
                <a:latin typeface="Arial MT"/>
                <a:cs typeface="Arial MT"/>
              </a:rPr>
              <a:t>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0695" y="5939155"/>
            <a:ext cx="7531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definitions;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1625" y="5939155"/>
            <a:ext cx="84581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constructing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604" y="5600826"/>
            <a:ext cx="3070860" cy="81026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40665" marR="5080" indent="-228600">
              <a:lnSpc>
                <a:spcPct val="143300"/>
              </a:lnSpc>
              <a:spcBef>
                <a:spcPts val="85"/>
              </a:spcBef>
              <a:tabLst>
                <a:tab pos="1148715" algn="l"/>
                <a:tab pos="1887220" algn="l"/>
                <a:tab pos="2802255" algn="l"/>
              </a:tabLst>
            </a:pPr>
            <a:r>
              <a:rPr dirty="0" sz="1200" b="1">
                <a:latin typeface="Times New Roman"/>
                <a:cs typeface="Times New Roman"/>
              </a:rPr>
              <a:t>9.</a:t>
            </a:r>
            <a:r>
              <a:rPr dirty="0" sz="1200" spc="59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Making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operational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definition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D</a:t>
            </a:r>
            <a:r>
              <a:rPr dirty="0" sz="1200" spc="-10">
                <a:latin typeface="Arial MT"/>
                <a:cs typeface="Arial MT"/>
              </a:rPr>
              <a:t>i</a:t>
            </a:r>
            <a:r>
              <a:rPr dirty="0" sz="1200">
                <a:latin typeface="Arial MT"/>
                <a:cs typeface="Arial MT"/>
              </a:rPr>
              <a:t>stin</a:t>
            </a:r>
            <a:r>
              <a:rPr dirty="0" sz="1200" spc="-5">
                <a:latin typeface="Arial MT"/>
                <a:cs typeface="Arial MT"/>
              </a:rPr>
              <a:t>guish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5">
                <a:latin typeface="Arial MT"/>
                <a:cs typeface="Arial MT"/>
              </a:rPr>
              <a:t>tw</a:t>
            </a:r>
            <a:r>
              <a:rPr dirty="0" sz="1200" spc="-15">
                <a:latin typeface="Arial MT"/>
                <a:cs typeface="Arial MT"/>
              </a:rPr>
              <a:t>e</a:t>
            </a:r>
            <a:r>
              <a:rPr dirty="0" sz="1200" spc="-5">
                <a:latin typeface="Arial MT"/>
                <a:cs typeface="Arial MT"/>
              </a:rPr>
              <a:t>en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o</a:t>
            </a:r>
            <a:r>
              <a:rPr dirty="0" sz="1200" spc="-15">
                <a:latin typeface="Arial MT"/>
                <a:cs typeface="Arial MT"/>
              </a:rPr>
              <a:t>p</a:t>
            </a:r>
            <a:r>
              <a:rPr dirty="0" sz="1200" spc="-5">
                <a:latin typeface="Arial MT"/>
                <a:cs typeface="Arial MT"/>
              </a:rPr>
              <a:t>e</a:t>
            </a:r>
            <a:r>
              <a:rPr dirty="0" sz="1200" spc="-5">
                <a:latin typeface="Arial MT"/>
                <a:cs typeface="Arial MT"/>
              </a:rPr>
              <a:t>ratio</a:t>
            </a:r>
            <a:r>
              <a:rPr dirty="0" sz="1200" spc="-15">
                <a:latin typeface="Arial MT"/>
                <a:cs typeface="Arial MT"/>
              </a:rPr>
              <a:t>n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5">
                <a:latin typeface="Arial MT"/>
                <a:cs typeface="Arial MT"/>
              </a:rPr>
              <a:t>l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and  </a:t>
            </a:r>
            <a:r>
              <a:rPr dirty="0" sz="1200" spc="-5">
                <a:latin typeface="Arial MT"/>
                <a:cs typeface="Arial MT"/>
              </a:rPr>
              <a:t>operational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definitions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6660260"/>
            <a:ext cx="6396990" cy="503110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469265" indent="-228600">
              <a:lnSpc>
                <a:spcPct val="100000"/>
              </a:lnSpc>
              <a:spcBef>
                <a:spcPts val="710"/>
              </a:spcBef>
              <a:buFont typeface="Times New Roman"/>
              <a:buAutoNum type="arabicPeriod" startAt="10"/>
              <a:tabLst>
                <a:tab pos="469900" algn="l"/>
              </a:tabLst>
            </a:pPr>
            <a:r>
              <a:rPr dirty="0" sz="1200" b="1">
                <a:latin typeface="Arial"/>
                <a:cs typeface="Arial"/>
              </a:rPr>
              <a:t>Formulating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hypotheses.</a:t>
            </a:r>
            <a:endParaRPr sz="1200">
              <a:latin typeface="Arial"/>
              <a:cs typeface="Arial"/>
            </a:endParaRPr>
          </a:p>
          <a:p>
            <a:pPr marL="475615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Distinguish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hypotheses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inferences,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observations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predictions;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constructing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testing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hypotheses.</a:t>
            </a:r>
            <a:endParaRPr sz="1200">
              <a:latin typeface="Arial MT"/>
              <a:cs typeface="Arial MT"/>
            </a:endParaRPr>
          </a:p>
          <a:p>
            <a:pPr marL="469265">
              <a:lnSpc>
                <a:spcPct val="100000"/>
              </a:lnSpc>
              <a:spcBef>
                <a:spcPts val="480"/>
              </a:spcBef>
            </a:pP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hypothesis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tentative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170"/>
              </a:spcBef>
              <a:buFont typeface="Times New Roman"/>
              <a:buAutoNum type="arabicPeriod" startAt="11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Interpreting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  <a:p>
            <a:pPr marL="475615" marR="5715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Describing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data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inferences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them;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equations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represent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data;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relating data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hypotheses;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making generalizations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supported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 experimental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findings.</a:t>
            </a:r>
            <a:endParaRPr sz="1200">
              <a:latin typeface="Arial MT"/>
              <a:cs typeface="Arial MT"/>
            </a:endParaRPr>
          </a:p>
          <a:p>
            <a:pPr marL="469265">
              <a:lnSpc>
                <a:spcPct val="100000"/>
              </a:lnSpc>
              <a:spcBef>
                <a:spcPts val="470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know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communicate our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data 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interpret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data.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Times New Roman"/>
              <a:buAutoNum type="arabicPeriod" startAt="12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Experimenting</a:t>
            </a:r>
            <a:endParaRPr sz="1200">
              <a:latin typeface="Arial"/>
              <a:cs typeface="Arial"/>
            </a:endParaRPr>
          </a:p>
          <a:p>
            <a:pPr marL="475615" marR="9525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Interpreting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account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scientific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experiments;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stating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problems’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conducting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hypotheses;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conducting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experimental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procedures.</a:t>
            </a:r>
            <a:endParaRPr sz="1200">
              <a:latin typeface="Arial MT"/>
              <a:cs typeface="Arial MT"/>
            </a:endParaRPr>
          </a:p>
          <a:p>
            <a:pPr marL="475615" marR="6985" indent="-6350">
              <a:lnSpc>
                <a:spcPts val="2080"/>
              </a:lnSpc>
              <a:spcBef>
                <a:spcPts val="20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ensure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twelve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</a:t>
            </a:r>
            <a:r>
              <a:rPr dirty="0" sz="1200" spc="-5">
                <a:latin typeface="Arial MT"/>
                <a:cs typeface="Arial MT"/>
              </a:rPr>
              <a:t> 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benefit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 </a:t>
            </a:r>
            <a:r>
              <a:rPr dirty="0" sz="1200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469265">
              <a:lnSpc>
                <a:spcPct val="100000"/>
              </a:lnSpc>
              <a:spcBef>
                <a:spcPts val="1045"/>
              </a:spcBef>
            </a:pPr>
            <a:r>
              <a:rPr dirty="0" sz="1200" b="1">
                <a:latin typeface="Arial"/>
                <a:cs typeface="Arial"/>
              </a:rPr>
              <a:t>Relationship </a:t>
            </a:r>
            <a:r>
              <a:rPr dirty="0" sz="1200" spc="-5" b="1">
                <a:latin typeface="Arial"/>
                <a:cs typeface="Arial"/>
              </a:rPr>
              <a:t>between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constructivism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inquiry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teaching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Arial"/>
              <a:cs typeface="Arial"/>
            </a:endParaRPr>
          </a:p>
          <a:p>
            <a:pPr lvl="1" marL="697865" indent="-229235">
              <a:lnSpc>
                <a:spcPct val="100000"/>
              </a:lnSpc>
              <a:buFont typeface="Times New Roman"/>
              <a:buAutoNum type="arabicPeriod"/>
              <a:tabLst>
                <a:tab pos="698500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 is 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students.</a:t>
            </a:r>
            <a:endParaRPr sz="1200">
              <a:latin typeface="Arial MT"/>
              <a:cs typeface="Arial MT"/>
            </a:endParaRPr>
          </a:p>
          <a:p>
            <a:pPr lvl="1" marL="697865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698500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pace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 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flexible, not </a:t>
            </a:r>
            <a:r>
              <a:rPr dirty="0" sz="1200">
                <a:latin typeface="Arial MT"/>
                <a:cs typeface="Arial MT"/>
              </a:rPr>
              <a:t>fixed.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9153" y="572515"/>
            <a:ext cx="4225290" cy="55880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Times New Roman"/>
              <a:buAutoNum type="arabicPeriod" startAt="3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encouraged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search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implications.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 startAt="3"/>
              <a:tabLst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encouraged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generate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multiple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conclusions.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1600453"/>
            <a:ext cx="6972300" cy="28194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31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“Guided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 Inductive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Inquiry”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2086102"/>
            <a:ext cx="6635115" cy="9152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Objectives: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Arial"/>
              <a:cs typeface="Arial"/>
            </a:endParaRPr>
          </a:p>
          <a:p>
            <a:pPr marL="706120" indent="-236854">
              <a:lnSpc>
                <a:spcPct val="100000"/>
              </a:lnSpc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should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done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 </a:t>
            </a:r>
            <a:r>
              <a:rPr dirty="0" sz="1200" spc="-5" b="1">
                <a:latin typeface="Arial"/>
                <a:cs typeface="Arial"/>
              </a:rPr>
              <a:t>teachers?</a:t>
            </a:r>
            <a:endParaRPr sz="1200">
              <a:latin typeface="Arial"/>
              <a:cs typeface="Arial"/>
            </a:endParaRPr>
          </a:p>
          <a:p>
            <a:pPr marL="706120" indent="-236854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Reinforcement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concept of </a:t>
            </a:r>
            <a:r>
              <a:rPr dirty="0" sz="1200" spc="-5" b="1">
                <a:latin typeface="Arial"/>
                <a:cs typeface="Arial"/>
              </a:rPr>
              <a:t>inquiry.</a:t>
            </a:r>
            <a:endParaRPr sz="1200">
              <a:latin typeface="Arial"/>
              <a:cs typeface="Arial"/>
            </a:endParaRPr>
          </a:p>
          <a:p>
            <a:pPr marL="706120" indent="-236854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Aspects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Inquiry</a:t>
            </a:r>
            <a:endParaRPr sz="1200">
              <a:latin typeface="Arial"/>
              <a:cs typeface="Arial"/>
            </a:endParaRPr>
          </a:p>
          <a:p>
            <a:pPr marL="706120" indent="-236854">
              <a:lnSpc>
                <a:spcPct val="100000"/>
              </a:lnSpc>
              <a:spcBef>
                <a:spcPts val="82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Assimilation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Inquiry</a:t>
            </a:r>
            <a:endParaRPr sz="1200">
              <a:latin typeface="Arial"/>
              <a:cs typeface="Arial"/>
            </a:endParaRPr>
          </a:p>
          <a:p>
            <a:pPr marL="706120" indent="-236854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b="1">
                <a:latin typeface="Arial"/>
                <a:cs typeface="Arial"/>
              </a:rPr>
              <a:t>Guided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Inductive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Inquiry</a:t>
            </a:r>
            <a:endParaRPr sz="1200">
              <a:latin typeface="Arial"/>
              <a:cs typeface="Arial"/>
            </a:endParaRPr>
          </a:p>
          <a:p>
            <a:pPr marL="706120" indent="-236854">
              <a:lnSpc>
                <a:spcPct val="100000"/>
              </a:lnSpc>
              <a:spcBef>
                <a:spcPts val="595"/>
              </a:spcBef>
              <a:buFont typeface="Times New Roman"/>
              <a:buChar char="-"/>
              <a:tabLst>
                <a:tab pos="706120" algn="l"/>
                <a:tab pos="706755" algn="l"/>
              </a:tabLst>
            </a:pPr>
            <a:r>
              <a:rPr dirty="0" sz="1200" spc="-5" b="1">
                <a:latin typeface="Arial"/>
                <a:cs typeface="Arial"/>
              </a:rPr>
              <a:t>General </a:t>
            </a:r>
            <a:r>
              <a:rPr dirty="0" sz="1200" b="1">
                <a:latin typeface="Arial"/>
                <a:cs typeface="Arial"/>
              </a:rPr>
              <a:t>model 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Guided</a:t>
            </a:r>
            <a:r>
              <a:rPr dirty="0" sz="1200" b="1">
                <a:latin typeface="Arial"/>
                <a:cs typeface="Arial"/>
              </a:rPr>
              <a:t> Inductive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Inquiry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What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should </a:t>
            </a:r>
            <a:r>
              <a:rPr dirty="0" sz="1400" b="1">
                <a:latin typeface="Arial"/>
                <a:cs typeface="Arial"/>
              </a:rPr>
              <a:t>we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do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as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teachers?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5">
                <a:latin typeface="Arial MT"/>
                <a:cs typeface="Arial MT"/>
              </a:rPr>
              <a:t> teacher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try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following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-5">
                <a:latin typeface="Arial MT"/>
                <a:cs typeface="Arial MT"/>
              </a:rPr>
              <a:t> class:</a:t>
            </a:r>
            <a:endParaRPr sz="1200">
              <a:latin typeface="Arial MT"/>
              <a:cs typeface="Arial MT"/>
            </a:endParaRPr>
          </a:p>
          <a:p>
            <a:pPr algn="just" marL="469900" marR="7620" indent="-228600">
              <a:lnSpc>
                <a:spcPct val="144000"/>
              </a:lnSpc>
              <a:spcBef>
                <a:spcPts val="103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Focus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big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ideas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design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instruction.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(We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worry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certain topic in a given time frame. So we should focus on big </a:t>
            </a:r>
            <a:r>
              <a:rPr dirty="0" sz="1200">
                <a:latin typeface="Arial MT"/>
                <a:cs typeface="Arial MT"/>
              </a:rPr>
              <a:t>ideas. We </a:t>
            </a:r>
            <a:r>
              <a:rPr dirty="0" sz="1200" spc="-5">
                <a:latin typeface="Arial MT"/>
                <a:cs typeface="Arial MT"/>
              </a:rPr>
              <a:t>should </a:t>
            </a:r>
            <a:r>
              <a:rPr dirty="0" sz="1200" spc="-10">
                <a:latin typeface="Arial MT"/>
                <a:cs typeface="Arial MT"/>
              </a:rPr>
              <a:t>know </a:t>
            </a:r>
            <a:r>
              <a:rPr dirty="0" sz="1200" spc="-5">
                <a:latin typeface="Arial MT"/>
                <a:cs typeface="Arial MT"/>
              </a:rPr>
              <a:t> about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lesson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taught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expectations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regarding their learning. Teachers must </a:t>
            </a:r>
            <a:r>
              <a:rPr dirty="0" sz="1200" spc="-10">
                <a:latin typeface="Arial MT"/>
                <a:cs typeface="Arial MT"/>
              </a:rPr>
              <a:t>know </a:t>
            </a:r>
            <a:r>
              <a:rPr dirty="0" sz="1200" spc="-5">
                <a:latin typeface="Arial MT"/>
                <a:cs typeface="Arial MT"/>
              </a:rPr>
              <a:t>about the skills that are to be developed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469900" marR="10160" indent="-228600">
              <a:lnSpc>
                <a:spcPct val="144200"/>
              </a:lnSpc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Generate </a:t>
            </a:r>
            <a:r>
              <a:rPr dirty="0" sz="1200" spc="-5" b="1">
                <a:latin typeface="Arial"/>
                <a:cs typeface="Arial"/>
              </a:rPr>
              <a:t>core concepts. </a:t>
            </a:r>
            <a:r>
              <a:rPr dirty="0" sz="1200" spc="-5">
                <a:latin typeface="Arial MT"/>
                <a:cs typeface="Arial MT"/>
              </a:rPr>
              <a:t>(Those concepts should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generated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the class which gave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birth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certain other concepts. Teachers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not supposed to teach dead concepts rather </a:t>
            </a:r>
            <a:r>
              <a:rPr dirty="0" sz="1200">
                <a:latin typeface="Arial MT"/>
                <a:cs typeface="Arial MT"/>
              </a:rPr>
              <a:t> teach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 </a:t>
            </a: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-5">
                <a:latin typeface="Arial MT"/>
                <a:cs typeface="Arial MT"/>
              </a:rPr>
              <a:t> 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can</a:t>
            </a:r>
            <a:r>
              <a:rPr dirty="0" sz="1200" spc="-5">
                <a:latin typeface="Arial MT"/>
                <a:cs typeface="Arial MT"/>
              </a:rPr>
              <a:t> explore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further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studies.)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-"/>
            </a:pPr>
            <a:endParaRPr sz="115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Use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generative </a:t>
            </a:r>
            <a:r>
              <a:rPr dirty="0" sz="1200" b="1">
                <a:latin typeface="Arial"/>
                <a:cs typeface="Arial"/>
              </a:rPr>
              <a:t>concepts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ensure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students’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understanding.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-"/>
            </a:pPr>
            <a:endParaRPr sz="1750">
              <a:latin typeface="Arial"/>
              <a:cs typeface="Arial"/>
            </a:endParaRPr>
          </a:p>
          <a:p>
            <a:pPr algn="just" marL="469900" marR="5080" indent="-228600">
              <a:lnSpc>
                <a:spcPct val="143900"/>
              </a:lnSpc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Ask essential questions </a:t>
            </a:r>
            <a:r>
              <a:rPr dirty="0" sz="1200" b="1">
                <a:latin typeface="Arial"/>
                <a:cs typeface="Arial"/>
              </a:rPr>
              <a:t>which </a:t>
            </a:r>
            <a:r>
              <a:rPr dirty="0" sz="1200" spc="-10" b="1">
                <a:latin typeface="Arial"/>
                <a:cs typeface="Arial"/>
              </a:rPr>
              <a:t>are </a:t>
            </a:r>
            <a:r>
              <a:rPr dirty="0" sz="1200" spc="-5" b="1">
                <a:latin typeface="Arial"/>
                <a:cs typeface="Arial"/>
              </a:rPr>
              <a:t>definitely different </a:t>
            </a:r>
            <a:r>
              <a:rPr dirty="0" sz="1200" b="1">
                <a:latin typeface="Arial"/>
                <a:cs typeface="Arial"/>
              </a:rPr>
              <a:t>from </a:t>
            </a:r>
            <a:r>
              <a:rPr dirty="0" sz="1200" spc="-5" b="1">
                <a:latin typeface="Arial"/>
                <a:cs typeface="Arial"/>
              </a:rPr>
              <a:t>unit </a:t>
            </a:r>
            <a:r>
              <a:rPr dirty="0" sz="1200" b="1">
                <a:latin typeface="Arial"/>
                <a:cs typeface="Arial"/>
              </a:rPr>
              <a:t>questions</a:t>
            </a:r>
            <a:r>
              <a:rPr dirty="0" sz="1200">
                <a:latin typeface="Arial MT"/>
                <a:cs typeface="Arial MT"/>
              </a:rPr>
              <a:t>. </a:t>
            </a:r>
            <a:r>
              <a:rPr dirty="0" sz="1200" spc="-5">
                <a:latin typeface="Arial MT"/>
                <a:cs typeface="Arial MT"/>
              </a:rPr>
              <a:t>(Essential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different </a:t>
            </a:r>
            <a:r>
              <a:rPr dirty="0" sz="1200">
                <a:latin typeface="Arial MT"/>
                <a:cs typeface="Arial MT"/>
              </a:rPr>
              <a:t>from unit </a:t>
            </a:r>
            <a:r>
              <a:rPr dirty="0" sz="1200" spc="-5">
                <a:latin typeface="Arial MT"/>
                <a:cs typeface="Arial MT"/>
              </a:rPr>
              <a:t>questions, </a:t>
            </a:r>
            <a:r>
              <a:rPr dirty="0" sz="1200" spc="-10">
                <a:latin typeface="Arial MT"/>
                <a:cs typeface="Arial MT"/>
              </a:rPr>
              <a:t>unit </a:t>
            </a:r>
            <a:r>
              <a:rPr dirty="0" sz="1200" spc="-5">
                <a:latin typeface="Arial MT"/>
                <a:cs typeface="Arial MT"/>
              </a:rPr>
              <a:t>questions are very technical questions, and </a:t>
            </a:r>
            <a:r>
              <a:rPr dirty="0" sz="1200">
                <a:latin typeface="Arial MT"/>
                <a:cs typeface="Arial MT"/>
              </a:rPr>
              <a:t> they </a:t>
            </a:r>
            <a:r>
              <a:rPr dirty="0" sz="1200" spc="-5">
                <a:latin typeface="Arial MT"/>
                <a:cs typeface="Arial MT"/>
              </a:rPr>
              <a:t>address only a particular content. While essential questions are those which actually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widens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aims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Char char="-"/>
            </a:pPr>
            <a:endParaRPr sz="185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age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appropriate tasks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different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-"/>
            </a:pPr>
            <a:endParaRPr sz="1800">
              <a:latin typeface="Arial"/>
              <a:cs typeface="Arial"/>
            </a:endParaRPr>
          </a:p>
          <a:p>
            <a:pPr algn="just" marL="469900" marR="6350" indent="-228600">
              <a:lnSpc>
                <a:spcPct val="142500"/>
              </a:lnSpc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Use different </a:t>
            </a:r>
            <a:r>
              <a:rPr dirty="0" sz="1200" b="1">
                <a:latin typeface="Arial"/>
                <a:cs typeface="Arial"/>
              </a:rPr>
              <a:t>models of integration to </a:t>
            </a:r>
            <a:r>
              <a:rPr dirty="0" sz="1200" spc="-5" b="1">
                <a:latin typeface="Arial"/>
                <a:cs typeface="Arial"/>
              </a:rPr>
              <a:t>develop deeper understanding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cater for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students’ interests.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Apply</a:t>
            </a:r>
            <a:r>
              <a:rPr dirty="0" sz="1200" b="1">
                <a:latin typeface="Arial"/>
                <a:cs typeface="Arial"/>
              </a:rPr>
              <a:t> inquiry</a:t>
            </a:r>
            <a:r>
              <a:rPr dirty="0" sz="1200" spc="-5" b="1">
                <a:latin typeface="Arial"/>
                <a:cs typeface="Arial"/>
              </a:rPr>
              <a:t> teaching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develop</a:t>
            </a:r>
            <a:r>
              <a:rPr dirty="0" sz="1200" spc="-5" b="1">
                <a:latin typeface="Arial"/>
                <a:cs typeface="Arial"/>
              </a:rPr>
              <a:t> higher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level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thinking.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Why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inquiry?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4480" cy="5195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1270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know that inquiry is not about memorizing facts. Inquiry is about investigating things. </a:t>
            </a:r>
            <a:r>
              <a:rPr dirty="0" sz="1200">
                <a:latin typeface="Arial MT"/>
                <a:cs typeface="Arial MT"/>
              </a:rPr>
              <a:t>Why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 spc="-1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 important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inquiry?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Because,</a:t>
            </a:r>
            <a:endParaRPr sz="1200">
              <a:latin typeface="Arial MT"/>
              <a:cs typeface="Arial MT"/>
            </a:endParaRPr>
          </a:p>
          <a:p>
            <a:pPr algn="just" marL="469900" marR="6985" indent="-228600">
              <a:lnSpc>
                <a:spcPct val="142500"/>
              </a:lnSpc>
              <a:spcBef>
                <a:spcPts val="1070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Memorizing </a:t>
            </a:r>
            <a:r>
              <a:rPr dirty="0" sz="1200" b="1">
                <a:latin typeface="Arial"/>
                <a:cs typeface="Arial"/>
              </a:rPr>
              <a:t>facts </a:t>
            </a:r>
            <a:r>
              <a:rPr dirty="0" sz="1200" spc="-5" b="1">
                <a:latin typeface="Arial"/>
                <a:cs typeface="Arial"/>
              </a:rPr>
              <a:t>and </a:t>
            </a:r>
            <a:r>
              <a:rPr dirty="0" sz="1200" b="1">
                <a:latin typeface="Arial"/>
                <a:cs typeface="Arial"/>
              </a:rPr>
              <a:t>information is not </a:t>
            </a:r>
            <a:r>
              <a:rPr dirty="0" sz="1200" spc="-5" b="1">
                <a:latin typeface="Arial"/>
                <a:cs typeface="Arial"/>
              </a:rPr>
              <a:t>the most </a:t>
            </a:r>
            <a:r>
              <a:rPr dirty="0" sz="1200" b="1">
                <a:latin typeface="Arial"/>
                <a:cs typeface="Arial"/>
              </a:rPr>
              <a:t>important skill in </a:t>
            </a:r>
            <a:r>
              <a:rPr dirty="0" sz="1200" spc="-5" b="1">
                <a:latin typeface="Arial"/>
                <a:cs typeface="Arial"/>
              </a:rPr>
              <a:t>today’s world.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Facts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change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information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readily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available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–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what’s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needed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understanding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how to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get and </a:t>
            </a:r>
            <a:r>
              <a:rPr dirty="0" sz="1200" spc="-5" b="1">
                <a:latin typeface="Arial"/>
                <a:cs typeface="Arial"/>
              </a:rPr>
              <a:t>make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sense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mass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data.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780"/>
              </a:spcBef>
            </a:pPr>
            <a:r>
              <a:rPr dirty="0" sz="1400" b="1">
                <a:latin typeface="Arial"/>
                <a:cs typeface="Arial"/>
              </a:rPr>
              <a:t>Effective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inquiry:</a:t>
            </a:r>
            <a:endParaRPr sz="1400">
              <a:latin typeface="Arial"/>
              <a:cs typeface="Arial"/>
            </a:endParaRPr>
          </a:p>
          <a:p>
            <a:pPr algn="just" marL="469900" marR="10795" indent="-228600">
              <a:lnSpc>
                <a:spcPct val="143300"/>
              </a:lnSpc>
              <a:spcBef>
                <a:spcPts val="969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Effective </a:t>
            </a:r>
            <a:r>
              <a:rPr dirty="0" sz="1200" b="1">
                <a:latin typeface="Arial"/>
                <a:cs typeface="Arial"/>
              </a:rPr>
              <a:t>inquiry </a:t>
            </a:r>
            <a:r>
              <a:rPr dirty="0" sz="1200" spc="-5" b="1">
                <a:latin typeface="Arial"/>
                <a:cs typeface="Arial"/>
              </a:rPr>
              <a:t>is more than </a:t>
            </a:r>
            <a:r>
              <a:rPr dirty="0" sz="1200" b="1">
                <a:latin typeface="Arial"/>
                <a:cs typeface="Arial"/>
              </a:rPr>
              <a:t>just </a:t>
            </a:r>
            <a:r>
              <a:rPr dirty="0" sz="1200" spc="-5" b="1">
                <a:latin typeface="Arial"/>
                <a:cs typeface="Arial"/>
              </a:rPr>
              <a:t>asking </a:t>
            </a:r>
            <a:r>
              <a:rPr dirty="0" sz="1200" b="1">
                <a:latin typeface="Arial"/>
                <a:cs typeface="Arial"/>
              </a:rPr>
              <a:t>questions. </a:t>
            </a:r>
            <a:r>
              <a:rPr dirty="0" sz="1200" spc="-5" b="1">
                <a:latin typeface="Arial"/>
                <a:cs typeface="Arial"/>
              </a:rPr>
              <a:t>A complex process is involved </a:t>
            </a:r>
            <a:r>
              <a:rPr dirty="0" sz="1200" b="1">
                <a:latin typeface="Arial"/>
                <a:cs typeface="Arial"/>
              </a:rPr>
              <a:t> when </a:t>
            </a:r>
            <a:r>
              <a:rPr dirty="0" sz="1200" spc="-5" b="1">
                <a:latin typeface="Arial"/>
                <a:cs typeface="Arial"/>
              </a:rPr>
              <a:t>individuals attempt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convert information 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data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into useful </a:t>
            </a:r>
            <a:r>
              <a:rPr dirty="0" sz="1200" spc="-5" b="1">
                <a:latin typeface="Arial"/>
                <a:cs typeface="Arial"/>
              </a:rPr>
              <a:t>knowledge.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770"/>
              </a:spcBef>
            </a:pPr>
            <a:r>
              <a:rPr dirty="0" sz="1400" spc="-5" b="1">
                <a:latin typeface="Arial"/>
                <a:cs typeface="Arial"/>
              </a:rPr>
              <a:t>Application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Inquiry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learning:</a:t>
            </a:r>
            <a:endParaRPr sz="1400">
              <a:latin typeface="Arial"/>
              <a:cs typeface="Arial"/>
            </a:endParaRPr>
          </a:p>
          <a:p>
            <a:pPr algn="just" marL="469900" marR="5080" indent="-228600">
              <a:lnSpc>
                <a:spcPct val="142600"/>
              </a:lnSpc>
              <a:spcBef>
                <a:spcPts val="99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Useful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application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inquiry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involves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several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factors: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context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question,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</a:t>
            </a:r>
            <a:r>
              <a:rPr dirty="0" sz="1200" b="1">
                <a:latin typeface="Arial"/>
                <a:cs typeface="Arial"/>
              </a:rPr>
              <a:t>framework </a:t>
            </a:r>
            <a:r>
              <a:rPr dirty="0" sz="1200" spc="-5" b="1">
                <a:latin typeface="Arial"/>
                <a:cs typeface="Arial"/>
              </a:rPr>
              <a:t>for questions, a focus for </a:t>
            </a:r>
            <a:r>
              <a:rPr dirty="0" sz="1200" b="1">
                <a:latin typeface="Arial"/>
                <a:cs typeface="Arial"/>
              </a:rPr>
              <a:t>questions, and </a:t>
            </a:r>
            <a:r>
              <a:rPr dirty="0" sz="1200" spc="-5" b="1">
                <a:latin typeface="Arial"/>
                <a:cs typeface="Arial"/>
              </a:rPr>
              <a:t>different </a:t>
            </a:r>
            <a:r>
              <a:rPr dirty="0" sz="1200" b="1">
                <a:latin typeface="Arial"/>
                <a:cs typeface="Arial"/>
              </a:rPr>
              <a:t>levels of questions.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Well-designed inquiry learning produced </a:t>
            </a:r>
            <a:r>
              <a:rPr dirty="0" sz="1200" b="1">
                <a:latin typeface="Arial"/>
                <a:cs typeface="Arial"/>
              </a:rPr>
              <a:t>knowledge </a:t>
            </a:r>
            <a:r>
              <a:rPr dirty="0" sz="1200" spc="-5" b="1">
                <a:latin typeface="Arial"/>
                <a:cs typeface="Arial"/>
              </a:rPr>
              <a:t>formation that can </a:t>
            </a:r>
            <a:r>
              <a:rPr dirty="0" sz="1200" b="1">
                <a:latin typeface="Arial"/>
                <a:cs typeface="Arial"/>
              </a:rPr>
              <a:t>be </a:t>
            </a:r>
            <a:r>
              <a:rPr dirty="0" sz="1200" spc="-5" b="1">
                <a:latin typeface="Arial"/>
                <a:cs typeface="Arial"/>
              </a:rPr>
              <a:t>widely </a:t>
            </a:r>
            <a:r>
              <a:rPr dirty="0" sz="1200" b="1">
                <a:latin typeface="Arial"/>
                <a:cs typeface="Arial"/>
              </a:rPr>
              <a:t> applied.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780"/>
              </a:spcBef>
            </a:pPr>
            <a:r>
              <a:rPr dirty="0" sz="1400" spc="-5" b="1">
                <a:latin typeface="Arial"/>
                <a:cs typeface="Arial"/>
              </a:rPr>
              <a:t>Inquiry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may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involve: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Problem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Procedure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Solution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6437502"/>
            <a:ext cx="6630670" cy="4789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Arial"/>
                <a:cs typeface="Arial"/>
              </a:rPr>
              <a:t>Aspects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of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Inquiry:</a:t>
            </a:r>
            <a:endParaRPr sz="1400">
              <a:latin typeface="Arial"/>
              <a:cs typeface="Arial"/>
            </a:endParaRPr>
          </a:p>
          <a:p>
            <a:pPr marL="469900" marR="5080" indent="-228600">
              <a:lnSpc>
                <a:spcPct val="142500"/>
              </a:lnSpc>
              <a:spcBef>
                <a:spcPts val="99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We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often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jump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all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aspects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inquiry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together.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However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each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aspect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inquiry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requires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specific skills,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resources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tools.</a:t>
            </a:r>
            <a:endParaRPr sz="12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615"/>
              </a:spcBef>
            </a:pPr>
            <a:r>
              <a:rPr dirty="0" sz="1200" b="1">
                <a:latin typeface="Arial"/>
                <a:cs typeface="Arial"/>
              </a:rPr>
              <a:t>Inquiry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could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be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Information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Critical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inquiry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Scientific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inquiry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Graphic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inquiry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Historical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Personal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Media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Social/Democratic</a:t>
            </a:r>
            <a:endParaRPr sz="1200">
              <a:latin typeface="Arial"/>
              <a:cs typeface="Arial"/>
            </a:endParaRPr>
          </a:p>
          <a:p>
            <a:pPr algn="just" marL="18415" marR="8890" indent="-6350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Above all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the different aspects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inquiry. Some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them involve only problem. Some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them </a:t>
            </a:r>
            <a:r>
              <a:rPr dirty="0" sz="1200">
                <a:latin typeface="Arial MT"/>
                <a:cs typeface="Arial MT"/>
              </a:rPr>
              <a:t> involve </a:t>
            </a:r>
            <a:r>
              <a:rPr dirty="0" sz="1200" spc="-5">
                <a:latin typeface="Arial MT"/>
                <a:cs typeface="Arial MT"/>
              </a:rPr>
              <a:t>problem and procedure and some involve problem, procedure as well as a solution.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 inquiry</a:t>
            </a:r>
            <a:r>
              <a:rPr dirty="0" sz="1200">
                <a:latin typeface="Arial MT"/>
                <a:cs typeface="Arial MT"/>
              </a:rPr>
              <a:t> has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 aspects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deal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 inquiry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accordingly.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Information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Inquiry: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578611"/>
            <a:ext cx="6624320" cy="2117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62280" marR="5080" indent="-228600">
              <a:lnSpc>
                <a:spcPct val="142500"/>
              </a:lnSpc>
              <a:spcBef>
                <a:spcPts val="100"/>
              </a:spcBef>
              <a:buFont typeface="Times New Roman"/>
              <a:buChar char="-"/>
              <a:tabLst>
                <a:tab pos="462915" algn="l"/>
              </a:tabLst>
            </a:pPr>
            <a:r>
              <a:rPr dirty="0" sz="1200" b="1">
                <a:latin typeface="Arial"/>
                <a:cs typeface="Arial"/>
              </a:rPr>
              <a:t>Information inquiry </a:t>
            </a:r>
            <a:r>
              <a:rPr dirty="0" sz="1200" spc="-5" b="1">
                <a:latin typeface="Arial"/>
                <a:cs typeface="Arial"/>
              </a:rPr>
              <a:t>involves the processes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searching for information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applying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information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answer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questions.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rise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personally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questions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addressed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us. </a:t>
            </a:r>
            <a:r>
              <a:rPr dirty="0" sz="1200" spc="-5" b="1">
                <a:latin typeface="Arial"/>
                <a:cs typeface="Arial"/>
              </a:rPr>
              <a:t>Techniques for </a:t>
            </a:r>
            <a:r>
              <a:rPr dirty="0" sz="1200" b="1">
                <a:latin typeface="Arial"/>
                <a:cs typeface="Arial"/>
              </a:rPr>
              <a:t>gaining </a:t>
            </a:r>
            <a:r>
              <a:rPr dirty="0" sz="1200" spc="-5" b="1">
                <a:latin typeface="Arial"/>
                <a:cs typeface="Arial"/>
              </a:rPr>
              <a:t>meaningful information may involve reading, listening, </a:t>
            </a:r>
            <a:r>
              <a:rPr dirty="0" sz="1200" b="1">
                <a:latin typeface="Arial"/>
                <a:cs typeface="Arial"/>
              </a:rPr>
              <a:t> viewing,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observing,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interviewing,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surveying,</a:t>
            </a:r>
            <a:r>
              <a:rPr dirty="0" sz="1200" b="1">
                <a:latin typeface="Arial"/>
                <a:cs typeface="Arial"/>
              </a:rPr>
              <a:t> testing and </a:t>
            </a:r>
            <a:r>
              <a:rPr dirty="0" sz="1200" spc="-5" b="1">
                <a:latin typeface="Arial"/>
                <a:cs typeface="Arial"/>
              </a:rPr>
              <a:t>more.</a:t>
            </a:r>
            <a:endParaRPr sz="1200">
              <a:latin typeface="Arial"/>
              <a:cs typeface="Arial"/>
            </a:endParaRPr>
          </a:p>
          <a:p>
            <a:pPr algn="just" marL="462280" marR="9525" indent="-228600">
              <a:lnSpc>
                <a:spcPct val="142500"/>
              </a:lnSpc>
              <a:spcBef>
                <a:spcPts val="45"/>
              </a:spcBef>
              <a:buFont typeface="Times New Roman"/>
              <a:buChar char="-"/>
              <a:tabLst>
                <a:tab pos="462915" algn="l"/>
              </a:tabLst>
            </a:pPr>
            <a:r>
              <a:rPr dirty="0" sz="1200" b="1">
                <a:latin typeface="Arial"/>
                <a:cs typeface="Arial"/>
              </a:rPr>
              <a:t>Information inquiry </a:t>
            </a:r>
            <a:r>
              <a:rPr dirty="0" sz="1200" spc="-5" b="1">
                <a:latin typeface="Arial"/>
                <a:cs typeface="Arial"/>
              </a:rPr>
              <a:t>is very widely used in </a:t>
            </a:r>
            <a:r>
              <a:rPr dirty="0" sz="1200" b="1">
                <a:latin typeface="Arial"/>
                <a:cs typeface="Arial"/>
              </a:rPr>
              <a:t>our school </a:t>
            </a:r>
            <a:r>
              <a:rPr dirty="0" sz="1200" spc="-5" b="1">
                <a:latin typeface="Arial"/>
                <a:cs typeface="Arial"/>
              </a:rPr>
              <a:t>settings </a:t>
            </a:r>
            <a:r>
              <a:rPr dirty="0" sz="1200" b="1">
                <a:latin typeface="Arial"/>
                <a:cs typeface="Arial"/>
              </a:rPr>
              <a:t>in which </a:t>
            </a:r>
            <a:r>
              <a:rPr dirty="0" sz="1200" spc="-5" b="1">
                <a:latin typeface="Arial"/>
                <a:cs typeface="Arial"/>
              </a:rPr>
              <a:t>we ask </a:t>
            </a:r>
            <a:r>
              <a:rPr dirty="0" sz="1200" spc="-1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 students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-5" b="1">
                <a:latin typeface="Arial"/>
                <a:cs typeface="Arial"/>
              </a:rPr>
              <a:t> gather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information.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five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interactive </a:t>
            </a:r>
            <a:r>
              <a:rPr dirty="0" sz="1200" b="1">
                <a:latin typeface="Arial"/>
                <a:cs typeface="Arial"/>
              </a:rPr>
              <a:t>components 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information inquiry</a:t>
            </a:r>
            <a:r>
              <a:rPr dirty="0" sz="1200" spc="-5" b="1">
                <a:latin typeface="Arial"/>
                <a:cs typeface="Arial"/>
              </a:rPr>
              <a:t> are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(Callison,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2006):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384" y="2663699"/>
            <a:ext cx="1068705" cy="145097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00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Questioning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Exploring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Assimilation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Inference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>
                <a:latin typeface="Arial MT"/>
                <a:cs typeface="Arial MT"/>
              </a:rPr>
              <a:t>Reflection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4017390"/>
            <a:ext cx="6626859" cy="55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component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assimilation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brings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change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 belief</a:t>
            </a:r>
            <a:r>
              <a:rPr dirty="0" sz="1200">
                <a:latin typeface="Arial MT"/>
                <a:cs typeface="Arial MT"/>
              </a:rPr>
              <a:t> system.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4773295"/>
            <a:ext cx="6633845" cy="6265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Graphic/Visual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Inquiry:</a:t>
            </a:r>
            <a:endParaRPr sz="1400">
              <a:latin typeface="Arial"/>
              <a:cs typeface="Arial"/>
            </a:endParaRPr>
          </a:p>
          <a:p>
            <a:pPr algn="just" marL="469900" marR="5080" indent="-228600">
              <a:lnSpc>
                <a:spcPct val="144200"/>
              </a:lnSpc>
              <a:spcBef>
                <a:spcPts val="944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Use historical drawings </a:t>
            </a:r>
            <a:r>
              <a:rPr dirty="0" sz="1200" b="1">
                <a:latin typeface="Arial"/>
                <a:cs typeface="Arial"/>
              </a:rPr>
              <a:t>and painting to </a:t>
            </a:r>
            <a:r>
              <a:rPr dirty="0" sz="1200" spc="-5" b="1">
                <a:latin typeface="Arial"/>
                <a:cs typeface="Arial"/>
              </a:rPr>
              <a:t>stimulate questions. (</a:t>
            </a:r>
            <a:r>
              <a:rPr dirty="0" sz="1200" spc="-5">
                <a:latin typeface="Arial MT"/>
                <a:cs typeface="Arial MT"/>
              </a:rPr>
              <a:t>Students will </a:t>
            </a:r>
            <a:r>
              <a:rPr dirty="0" sz="1200">
                <a:latin typeface="Arial MT"/>
                <a:cs typeface="Arial MT"/>
              </a:rPr>
              <a:t>observe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acquire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following information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 </a:t>
            </a:r>
            <a:r>
              <a:rPr dirty="0" sz="1200">
                <a:latin typeface="Arial MT"/>
                <a:cs typeface="Arial MT"/>
              </a:rPr>
              <a:t>questioning.</a:t>
            </a:r>
            <a:r>
              <a:rPr dirty="0" sz="1200" b="1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Was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this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person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5" b="1">
                <a:latin typeface="Arial"/>
                <a:cs typeface="Arial"/>
              </a:rPr>
              <a:t> 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myth?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When </a:t>
            </a:r>
            <a:r>
              <a:rPr dirty="0" sz="1200" b="1">
                <a:latin typeface="Arial"/>
                <a:cs typeface="Arial"/>
              </a:rPr>
              <a:t>did</a:t>
            </a:r>
            <a:r>
              <a:rPr dirty="0" sz="1200" spc="-5" b="1">
                <a:latin typeface="Arial"/>
                <a:cs typeface="Arial"/>
              </a:rPr>
              <a:t> the event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take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place?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Is the</a:t>
            </a:r>
            <a:r>
              <a:rPr dirty="0" sz="1200" spc="-5" b="1">
                <a:latin typeface="Arial"/>
                <a:cs typeface="Arial"/>
              </a:rPr>
              <a:t> illustrator bias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some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way?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9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Is the</a:t>
            </a:r>
            <a:r>
              <a:rPr dirty="0" sz="1200" spc="-5" b="1">
                <a:latin typeface="Arial"/>
                <a:cs typeface="Arial"/>
              </a:rPr>
              <a:t> image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realistic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5" b="1">
                <a:latin typeface="Arial"/>
                <a:cs typeface="Arial"/>
              </a:rPr>
              <a:t> invented?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How are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these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images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alike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different?</a:t>
            </a:r>
            <a:endParaRPr sz="1200">
              <a:latin typeface="Arial"/>
              <a:cs typeface="Arial"/>
            </a:endParaRPr>
          </a:p>
          <a:p>
            <a:pPr algn="just"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Which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most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accurate?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819"/>
              </a:spcBef>
            </a:pPr>
            <a:r>
              <a:rPr dirty="0" sz="1400" spc="-5" b="1">
                <a:latin typeface="Arial"/>
                <a:cs typeface="Arial"/>
              </a:rPr>
              <a:t>Assimilation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inquiry:</a:t>
            </a:r>
            <a:endParaRPr sz="1400">
              <a:latin typeface="Arial"/>
              <a:cs typeface="Arial"/>
            </a:endParaRPr>
          </a:p>
          <a:p>
            <a:pPr algn="just" marL="469900" marR="7620" indent="-228600">
              <a:lnSpc>
                <a:spcPct val="142900"/>
              </a:lnSpc>
              <a:spcBef>
                <a:spcPts val="97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process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assimilation involves reinforcing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confirming </a:t>
            </a:r>
            <a:r>
              <a:rPr dirty="0" sz="1200" b="1">
                <a:latin typeface="Arial"/>
                <a:cs typeface="Arial"/>
              </a:rPr>
              <a:t>information </a:t>
            </a:r>
            <a:r>
              <a:rPr dirty="0" sz="1200" spc="-5" b="1">
                <a:latin typeface="Arial"/>
                <a:cs typeface="Arial"/>
              </a:rPr>
              <a:t>that is </a:t>
            </a:r>
            <a:r>
              <a:rPr dirty="0" sz="1200" b="1">
                <a:latin typeface="Arial"/>
                <a:cs typeface="Arial"/>
              </a:rPr>
              <a:t> known,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altering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thinking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based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new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information,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rejecting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information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does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match the </a:t>
            </a:r>
            <a:r>
              <a:rPr dirty="0" sz="1200" spc="-5" b="1">
                <a:latin typeface="Arial"/>
                <a:cs typeface="Arial"/>
              </a:rPr>
              <a:t>students’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belief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system.</a:t>
            </a:r>
            <a:endParaRPr sz="1200">
              <a:latin typeface="Arial"/>
              <a:cs typeface="Arial"/>
            </a:endParaRPr>
          </a:p>
          <a:p>
            <a:pPr algn="just" marL="469900" marR="6350" indent="-228600">
              <a:lnSpc>
                <a:spcPct val="141700"/>
              </a:lnSpc>
              <a:spcBef>
                <a:spcPts val="60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Assimilation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leads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consideration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new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options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points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view.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(Callison,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2006,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p.7)</a:t>
            </a:r>
            <a:endParaRPr sz="1200">
              <a:latin typeface="Arial"/>
              <a:cs typeface="Arial"/>
            </a:endParaRPr>
          </a:p>
          <a:p>
            <a:pPr algn="just" marL="469900" marR="7620" indent="-228600">
              <a:lnSpc>
                <a:spcPct val="142700"/>
              </a:lnSpc>
              <a:spcBef>
                <a:spcPts val="4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As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explore,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look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unique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aspects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at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least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3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pieces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evidence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make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comparisons.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785"/>
              </a:spcBef>
            </a:pPr>
            <a:r>
              <a:rPr dirty="0" sz="1400" spc="-5" b="1">
                <a:latin typeface="Arial"/>
                <a:cs typeface="Arial"/>
              </a:rPr>
              <a:t>Inductive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Inquiry: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Inductive inquiry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two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types: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Arial MT"/>
              <a:cs typeface="Arial MT"/>
            </a:endParaRPr>
          </a:p>
          <a:p>
            <a:pPr algn="just" marL="469900" indent="-229235">
              <a:lnSpc>
                <a:spcPct val="100000"/>
              </a:lnSpc>
              <a:buFont typeface="Times New Roman"/>
              <a:buChar char="-"/>
              <a:tabLst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Guided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inductive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endParaRPr sz="1200">
              <a:latin typeface="Arial MT"/>
              <a:cs typeface="Arial MT"/>
            </a:endParaRPr>
          </a:p>
          <a:p>
            <a:pPr algn="just"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Unguided inductive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100" y="11487098"/>
            <a:ext cx="18630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Guided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inductive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inquiry: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656335"/>
            <a:ext cx="6631940" cy="196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investigate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teacher-presented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designed/selected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Unguided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inductive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inquiry: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955"/>
              </a:spcBef>
            </a:pP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investigate</a:t>
            </a:r>
            <a:r>
              <a:rPr dirty="0" sz="1200">
                <a:latin typeface="Arial MT"/>
                <a:cs typeface="Arial MT"/>
              </a:rPr>
              <a:t> topic-related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formulated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designed/selected procedures. When an </a:t>
            </a:r>
            <a:r>
              <a:rPr dirty="0" sz="1200">
                <a:latin typeface="Arial MT"/>
                <a:cs typeface="Arial MT"/>
              </a:rPr>
              <a:t>activity </a:t>
            </a:r>
            <a:r>
              <a:rPr dirty="0" sz="1200" spc="-5">
                <a:latin typeface="Arial MT"/>
                <a:cs typeface="Arial MT"/>
              </a:rPr>
              <a:t>is evaluated </a:t>
            </a:r>
            <a:r>
              <a:rPr dirty="0" sz="1200">
                <a:latin typeface="Arial MT"/>
                <a:cs typeface="Arial MT"/>
              </a:rPr>
              <a:t>for its level of </a:t>
            </a:r>
            <a:r>
              <a:rPr dirty="0" sz="1200" spc="-5">
                <a:latin typeface="Arial MT"/>
                <a:cs typeface="Arial MT"/>
              </a:rPr>
              <a:t>inquiry, a simple </a:t>
            </a:r>
            <a:r>
              <a:rPr dirty="0" sz="1200">
                <a:latin typeface="Arial MT"/>
                <a:cs typeface="Arial MT"/>
              </a:rPr>
              <a:t>table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establishing what is given </a:t>
            </a:r>
            <a:r>
              <a:rPr dirty="0" sz="1200">
                <a:latin typeface="Arial MT"/>
                <a:cs typeface="Arial MT"/>
              </a:rPr>
              <a:t>to the </a:t>
            </a:r>
            <a:r>
              <a:rPr dirty="0" sz="1200" spc="-5">
                <a:latin typeface="Arial MT"/>
                <a:cs typeface="Arial MT"/>
              </a:rPr>
              <a:t>learner determines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which level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inquiry the given </a:t>
            </a:r>
            <a:r>
              <a:rPr dirty="0" sz="1200">
                <a:latin typeface="Arial MT"/>
                <a:cs typeface="Arial MT"/>
              </a:rPr>
              <a:t>activity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resides.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3955" y="3191002"/>
            <a:ext cx="6637020" cy="5096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further</a:t>
            </a:r>
            <a:r>
              <a:rPr dirty="0" sz="1200" spc="-5">
                <a:latin typeface="Arial MT"/>
                <a:cs typeface="Arial MT"/>
              </a:rPr>
              <a:t> reading about inquiry processes…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Arial MT"/>
              <a:cs typeface="Arial MT"/>
            </a:endParaRPr>
          </a:p>
          <a:p>
            <a:pPr marL="2159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Inquiry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Processes</a:t>
            </a:r>
            <a:endParaRPr sz="1200">
              <a:latin typeface="Arial"/>
              <a:cs typeface="Arial"/>
            </a:endParaRPr>
          </a:p>
          <a:p>
            <a:pPr marL="18415" marR="8255" indent="-6350">
              <a:lnSpc>
                <a:spcPts val="1410"/>
              </a:lnSpc>
              <a:spcBef>
                <a:spcPts val="120"/>
              </a:spcBef>
              <a:buClr>
                <a:srgbClr val="00FFFF"/>
              </a:buClr>
              <a:buFont typeface="Arial"/>
              <a:buAutoNum type="arabicPeriod"/>
              <a:tabLst>
                <a:tab pos="250825" algn="l"/>
              </a:tabLst>
            </a:pPr>
            <a:r>
              <a:rPr dirty="0" sz="1200" spc="-5" i="1">
                <a:latin typeface="Arial"/>
                <a:cs typeface="Arial"/>
              </a:rPr>
              <a:t>Observing.</a:t>
            </a:r>
            <a:r>
              <a:rPr dirty="0" sz="1200" spc="270" i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Identifying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objects,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properties,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changes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various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systems;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making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controlled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observations;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ordering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series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observations</a:t>
            </a:r>
            <a:endParaRPr sz="1200">
              <a:latin typeface="Arial MT"/>
              <a:cs typeface="Arial MT"/>
            </a:endParaRPr>
          </a:p>
          <a:p>
            <a:pPr marL="250190" indent="-238125">
              <a:lnSpc>
                <a:spcPts val="1370"/>
              </a:lnSpc>
              <a:buClr>
                <a:srgbClr val="00FFFF"/>
              </a:buClr>
              <a:buFont typeface="Arial"/>
              <a:buAutoNum type="arabicPeriod"/>
              <a:tabLst>
                <a:tab pos="250825" algn="l"/>
              </a:tabLst>
            </a:pPr>
            <a:r>
              <a:rPr dirty="0" sz="1200" spc="-5" i="1">
                <a:latin typeface="Arial"/>
                <a:cs typeface="Arial"/>
              </a:rPr>
              <a:t>Classifying.</a:t>
            </a:r>
            <a:r>
              <a:rPr dirty="0" sz="1200" spc="20" i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Making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simple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classifications;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tabulating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coding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observations</a:t>
            </a:r>
            <a:endParaRPr sz="1200">
              <a:latin typeface="Arial MT"/>
              <a:cs typeface="Arial MT"/>
            </a:endParaRPr>
          </a:p>
          <a:p>
            <a:pPr marL="18415" marR="8890" indent="-6350">
              <a:lnSpc>
                <a:spcPts val="1400"/>
              </a:lnSpc>
              <a:spcBef>
                <a:spcPts val="70"/>
              </a:spcBef>
              <a:buClr>
                <a:srgbClr val="00FFFF"/>
              </a:buClr>
              <a:buFont typeface="Arial"/>
              <a:buAutoNum type="arabicPeriod"/>
              <a:tabLst>
                <a:tab pos="250825" algn="l"/>
              </a:tabLst>
            </a:pPr>
            <a:r>
              <a:rPr dirty="0" sz="1200" i="1">
                <a:latin typeface="Arial"/>
                <a:cs typeface="Arial"/>
              </a:rPr>
              <a:t>Inferring.</a:t>
            </a:r>
            <a:r>
              <a:rPr dirty="0" sz="1200" spc="245" i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Drawing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conclusions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observations;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constructing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situations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test</a:t>
            </a:r>
            <a:r>
              <a:rPr dirty="0" sz="1200" spc="2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conclusions</a:t>
            </a:r>
            <a:endParaRPr sz="1200">
              <a:latin typeface="Arial MT"/>
              <a:cs typeface="Arial MT"/>
            </a:endParaRPr>
          </a:p>
          <a:p>
            <a:pPr marL="18415" marR="8890" indent="-6350">
              <a:lnSpc>
                <a:spcPts val="1400"/>
              </a:lnSpc>
              <a:spcBef>
                <a:spcPts val="30"/>
              </a:spcBef>
              <a:buClr>
                <a:srgbClr val="00FFFF"/>
              </a:buClr>
              <a:buFont typeface="Arial"/>
              <a:buAutoNum type="arabicPeriod"/>
              <a:tabLst>
                <a:tab pos="250825" algn="l"/>
              </a:tabLst>
            </a:pPr>
            <a:r>
              <a:rPr dirty="0" sz="1200" spc="-5" i="1">
                <a:latin typeface="Arial"/>
                <a:cs typeface="Arial"/>
              </a:rPr>
              <a:t>Using</a:t>
            </a:r>
            <a:r>
              <a:rPr dirty="0" sz="1200" spc="-70" i="1">
                <a:latin typeface="Arial"/>
                <a:cs typeface="Arial"/>
              </a:rPr>
              <a:t> </a:t>
            </a:r>
            <a:r>
              <a:rPr dirty="0" sz="1200" spc="-5" i="1">
                <a:latin typeface="Arial"/>
                <a:cs typeface="Arial"/>
              </a:rPr>
              <a:t>numbers.</a:t>
            </a:r>
            <a:r>
              <a:rPr dirty="0" sz="1200" spc="-70" i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sets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members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progressing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higher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mathematical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</a:t>
            </a:r>
            <a:endParaRPr sz="1200">
              <a:latin typeface="Arial MT"/>
              <a:cs typeface="Arial MT"/>
            </a:endParaRPr>
          </a:p>
          <a:p>
            <a:pPr marL="18415" marR="5080" indent="-6350">
              <a:lnSpc>
                <a:spcPts val="1420"/>
              </a:lnSpc>
              <a:spcBef>
                <a:spcPts val="5"/>
              </a:spcBef>
              <a:buClr>
                <a:srgbClr val="00FFFF"/>
              </a:buClr>
              <a:buFont typeface="Arial"/>
              <a:buAutoNum type="arabicPeriod"/>
              <a:tabLst>
                <a:tab pos="250825" algn="l"/>
              </a:tabLst>
            </a:pPr>
            <a:r>
              <a:rPr dirty="0" sz="1200" spc="-5" i="1">
                <a:latin typeface="Arial"/>
                <a:cs typeface="Arial"/>
              </a:rPr>
              <a:t>Measuring.</a:t>
            </a:r>
            <a:r>
              <a:rPr dirty="0" sz="1200" spc="105" i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Identifying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ordering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lengths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areas,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volumes,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weights,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temperatures,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speeds</a:t>
            </a:r>
            <a:endParaRPr sz="1200">
              <a:latin typeface="Arial MT"/>
              <a:cs typeface="Arial MT"/>
            </a:endParaRPr>
          </a:p>
          <a:p>
            <a:pPr marL="18415" marR="6985" indent="-6350">
              <a:lnSpc>
                <a:spcPts val="1400"/>
              </a:lnSpc>
              <a:spcBef>
                <a:spcPts val="10"/>
              </a:spcBef>
              <a:buClr>
                <a:srgbClr val="00FFFF"/>
              </a:buClr>
              <a:buFont typeface="Arial"/>
              <a:buAutoNum type="arabicPeriod"/>
              <a:tabLst>
                <a:tab pos="250825" algn="l"/>
              </a:tabLst>
            </a:pPr>
            <a:r>
              <a:rPr dirty="0" sz="1200" spc="-5" i="1">
                <a:latin typeface="Arial"/>
                <a:cs typeface="Arial"/>
              </a:rPr>
              <a:t>Using</a:t>
            </a:r>
            <a:r>
              <a:rPr dirty="0" sz="1200" spc="114" i="1">
                <a:latin typeface="Arial"/>
                <a:cs typeface="Arial"/>
              </a:rPr>
              <a:t> </a:t>
            </a:r>
            <a:r>
              <a:rPr dirty="0" sz="1200" spc="-5" i="1">
                <a:latin typeface="Arial"/>
                <a:cs typeface="Arial"/>
              </a:rPr>
              <a:t>space–time</a:t>
            </a:r>
            <a:r>
              <a:rPr dirty="0" sz="1200" spc="114" i="1">
                <a:latin typeface="Arial"/>
                <a:cs typeface="Arial"/>
              </a:rPr>
              <a:t> </a:t>
            </a:r>
            <a:r>
              <a:rPr dirty="0" sz="1200" spc="-5" i="1">
                <a:latin typeface="Arial"/>
                <a:cs typeface="Arial"/>
              </a:rPr>
              <a:t>relationships.</a:t>
            </a:r>
            <a:r>
              <a:rPr dirty="0" sz="1200" spc="125" i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Identifying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movement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direction;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rules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governing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changes 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position</a:t>
            </a:r>
            <a:endParaRPr sz="1200">
              <a:latin typeface="Arial MT"/>
              <a:cs typeface="Arial MT"/>
            </a:endParaRPr>
          </a:p>
          <a:p>
            <a:pPr marL="18415" marR="6350" indent="-6350">
              <a:lnSpc>
                <a:spcPts val="1420"/>
              </a:lnSpc>
              <a:buClr>
                <a:srgbClr val="00FFFF"/>
              </a:buClr>
              <a:buFont typeface="Arial"/>
              <a:buAutoNum type="arabicPeriod"/>
              <a:tabLst>
                <a:tab pos="250825" algn="l"/>
              </a:tabLst>
            </a:pPr>
            <a:r>
              <a:rPr dirty="0" sz="1200" spc="-5" i="1">
                <a:latin typeface="Arial"/>
                <a:cs typeface="Arial"/>
              </a:rPr>
              <a:t>Communicating.</a:t>
            </a:r>
            <a:r>
              <a:rPr dirty="0" sz="1200" spc="5" i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graphs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diagrams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describe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simple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phenomena;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written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oral </a:t>
            </a:r>
            <a:r>
              <a:rPr dirty="0" sz="1200" spc="-5">
                <a:latin typeface="Arial MT"/>
                <a:cs typeface="Arial MT"/>
              </a:rPr>
              <a:t>reports</a:t>
            </a:r>
            <a:endParaRPr sz="1200">
              <a:latin typeface="Arial MT"/>
              <a:cs typeface="Arial MT"/>
            </a:endParaRPr>
          </a:p>
          <a:p>
            <a:pPr marL="250190" indent="-238125">
              <a:lnSpc>
                <a:spcPts val="1355"/>
              </a:lnSpc>
              <a:buClr>
                <a:srgbClr val="00FFFF"/>
              </a:buClr>
              <a:buFont typeface="Arial"/>
              <a:buAutoNum type="arabicPeriod"/>
              <a:tabLst>
                <a:tab pos="250825" algn="l"/>
              </a:tabLst>
            </a:pPr>
            <a:r>
              <a:rPr dirty="0" sz="1200" spc="-5" i="1">
                <a:latin typeface="Arial"/>
                <a:cs typeface="Arial"/>
              </a:rPr>
              <a:t>Predicting.</a:t>
            </a:r>
            <a:r>
              <a:rPr dirty="0" sz="1200" spc="-40" i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Interpolating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extrapolating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data;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formulating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testing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predictions</a:t>
            </a:r>
            <a:endParaRPr sz="1200">
              <a:latin typeface="Arial MT"/>
              <a:cs typeface="Arial MT"/>
            </a:endParaRPr>
          </a:p>
          <a:p>
            <a:pPr marL="18415" marR="177165" indent="-6350">
              <a:lnSpc>
                <a:spcPts val="1420"/>
              </a:lnSpc>
              <a:spcBef>
                <a:spcPts val="55"/>
              </a:spcBef>
              <a:buClr>
                <a:srgbClr val="00FFFF"/>
              </a:buClr>
              <a:buFont typeface="Arial"/>
              <a:buAutoNum type="arabicPeriod"/>
              <a:tabLst>
                <a:tab pos="250825" algn="l"/>
                <a:tab pos="1164590" algn="l"/>
                <a:tab pos="2079625" algn="l"/>
                <a:tab pos="2994025" algn="l"/>
                <a:tab pos="4365625" algn="l"/>
                <a:tab pos="5280660" algn="l"/>
                <a:tab pos="6195060" algn="l"/>
              </a:tabLst>
            </a:pPr>
            <a:r>
              <a:rPr dirty="0" sz="1200" spc="-5" i="1">
                <a:latin typeface="Arial"/>
                <a:cs typeface="Arial"/>
              </a:rPr>
              <a:t>M</a:t>
            </a:r>
            <a:r>
              <a:rPr dirty="0" sz="1200" spc="-5" i="1">
                <a:latin typeface="Arial"/>
                <a:cs typeface="Arial"/>
              </a:rPr>
              <a:t>aking</a:t>
            </a:r>
            <a:r>
              <a:rPr dirty="0" sz="1200" i="1">
                <a:latin typeface="Arial"/>
                <a:cs typeface="Arial"/>
              </a:rPr>
              <a:t>	</a:t>
            </a:r>
            <a:r>
              <a:rPr dirty="0" sz="1200" spc="-5" i="1">
                <a:latin typeface="Arial"/>
                <a:cs typeface="Arial"/>
              </a:rPr>
              <a:t>ope</a:t>
            </a:r>
            <a:r>
              <a:rPr dirty="0" sz="1200" spc="-5" i="1">
                <a:latin typeface="Arial"/>
                <a:cs typeface="Arial"/>
              </a:rPr>
              <a:t>rat</a:t>
            </a:r>
            <a:r>
              <a:rPr dirty="0" sz="1200" spc="-15" i="1">
                <a:latin typeface="Arial"/>
                <a:cs typeface="Arial"/>
              </a:rPr>
              <a:t>i</a:t>
            </a:r>
            <a:r>
              <a:rPr dirty="0" sz="1200" spc="-5" i="1">
                <a:latin typeface="Arial"/>
                <a:cs typeface="Arial"/>
              </a:rPr>
              <a:t>ona</a:t>
            </a:r>
            <a:r>
              <a:rPr dirty="0" sz="1200" spc="-5" i="1">
                <a:latin typeface="Arial"/>
                <a:cs typeface="Arial"/>
              </a:rPr>
              <a:t>l</a:t>
            </a:r>
            <a:r>
              <a:rPr dirty="0" sz="1200" i="1">
                <a:latin typeface="Arial"/>
                <a:cs typeface="Arial"/>
              </a:rPr>
              <a:t>	</a:t>
            </a:r>
            <a:r>
              <a:rPr dirty="0" sz="1200" spc="-5" i="1">
                <a:latin typeface="Arial"/>
                <a:cs typeface="Arial"/>
              </a:rPr>
              <a:t>de</a:t>
            </a:r>
            <a:r>
              <a:rPr dirty="0" sz="1200" spc="-5" i="1">
                <a:latin typeface="Arial"/>
                <a:cs typeface="Arial"/>
              </a:rPr>
              <a:t>fin</a:t>
            </a:r>
            <a:r>
              <a:rPr dirty="0" sz="1200" spc="-5" i="1">
                <a:latin typeface="Arial"/>
                <a:cs typeface="Arial"/>
              </a:rPr>
              <a:t>iti</a:t>
            </a:r>
            <a:r>
              <a:rPr dirty="0" sz="1200" spc="-15" i="1">
                <a:latin typeface="Arial"/>
                <a:cs typeface="Arial"/>
              </a:rPr>
              <a:t>o</a:t>
            </a:r>
            <a:r>
              <a:rPr dirty="0" sz="1200" spc="-5" i="1">
                <a:latin typeface="Arial"/>
                <a:cs typeface="Arial"/>
              </a:rPr>
              <a:t>n</a:t>
            </a:r>
            <a:r>
              <a:rPr dirty="0" sz="1200" i="1">
                <a:latin typeface="Arial"/>
                <a:cs typeface="Arial"/>
              </a:rPr>
              <a:t>s.</a:t>
            </a:r>
            <a:r>
              <a:rPr dirty="0" sz="1200" i="1">
                <a:latin typeface="Arial"/>
                <a:cs typeface="Arial"/>
              </a:rPr>
              <a:t>	</a:t>
            </a:r>
            <a:r>
              <a:rPr dirty="0" sz="1200" spc="-5">
                <a:latin typeface="Arial MT"/>
                <a:cs typeface="Arial MT"/>
              </a:rPr>
              <a:t>D</a:t>
            </a:r>
            <a:r>
              <a:rPr dirty="0" sz="1200" spc="-10">
                <a:latin typeface="Arial MT"/>
                <a:cs typeface="Arial MT"/>
              </a:rPr>
              <a:t>i</a:t>
            </a:r>
            <a:r>
              <a:rPr dirty="0" sz="1200">
                <a:latin typeface="Arial MT"/>
                <a:cs typeface="Arial MT"/>
              </a:rPr>
              <a:t>stin</a:t>
            </a:r>
            <a:r>
              <a:rPr dirty="0" sz="1200" spc="-5">
                <a:latin typeface="Arial MT"/>
                <a:cs typeface="Arial MT"/>
              </a:rPr>
              <a:t>guishing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5">
                <a:latin typeface="Arial MT"/>
                <a:cs typeface="Arial MT"/>
              </a:rPr>
              <a:t>tw</a:t>
            </a:r>
            <a:r>
              <a:rPr dirty="0" sz="1200" spc="-15">
                <a:latin typeface="Arial MT"/>
                <a:cs typeface="Arial MT"/>
              </a:rPr>
              <a:t>e</a:t>
            </a:r>
            <a:r>
              <a:rPr dirty="0" sz="1200" spc="-5">
                <a:latin typeface="Arial MT"/>
                <a:cs typeface="Arial MT"/>
              </a:rPr>
              <a:t>en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ope</a:t>
            </a:r>
            <a:r>
              <a:rPr dirty="0" sz="1200" spc="-5">
                <a:latin typeface="Arial MT"/>
                <a:cs typeface="Arial MT"/>
              </a:rPr>
              <a:t>rat</a:t>
            </a:r>
            <a:r>
              <a:rPr dirty="0" sz="1200" spc="-15">
                <a:latin typeface="Arial MT"/>
                <a:cs typeface="Arial MT"/>
              </a:rPr>
              <a:t>i</a:t>
            </a:r>
            <a:r>
              <a:rPr dirty="0" sz="1200" spc="-5">
                <a:latin typeface="Arial MT"/>
                <a:cs typeface="Arial MT"/>
              </a:rPr>
              <a:t>ona</a:t>
            </a:r>
            <a:r>
              <a:rPr dirty="0" sz="1200" spc="-5">
                <a:latin typeface="Arial MT"/>
                <a:cs typeface="Arial MT"/>
              </a:rPr>
              <a:t>l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and  </a:t>
            </a:r>
            <a:r>
              <a:rPr dirty="0" sz="1200" spc="-5">
                <a:latin typeface="Arial MT"/>
                <a:cs typeface="Arial MT"/>
              </a:rPr>
              <a:t>nonoperational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definitions;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constructing operational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definitions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</a:t>
            </a:r>
            <a:endParaRPr sz="1200">
              <a:latin typeface="Arial MT"/>
              <a:cs typeface="Arial MT"/>
            </a:endParaRPr>
          </a:p>
          <a:p>
            <a:pPr marL="18415" marR="6985" indent="-6350">
              <a:lnSpc>
                <a:spcPts val="1400"/>
              </a:lnSpc>
              <a:spcBef>
                <a:spcPts val="10"/>
              </a:spcBef>
              <a:buClr>
                <a:srgbClr val="00FFFF"/>
              </a:buClr>
              <a:buFont typeface="Arial"/>
              <a:buAutoNum type="arabicPeriod"/>
              <a:tabLst>
                <a:tab pos="250825" algn="l"/>
              </a:tabLst>
            </a:pPr>
            <a:r>
              <a:rPr dirty="0" sz="1200" spc="-5" i="1">
                <a:latin typeface="Arial"/>
                <a:cs typeface="Arial"/>
              </a:rPr>
              <a:t>Formulating</a:t>
            </a:r>
            <a:r>
              <a:rPr dirty="0" sz="1200" spc="260" i="1">
                <a:latin typeface="Arial"/>
                <a:cs typeface="Arial"/>
              </a:rPr>
              <a:t> </a:t>
            </a:r>
            <a:r>
              <a:rPr dirty="0" sz="1200" spc="-5" i="1">
                <a:latin typeface="Arial"/>
                <a:cs typeface="Arial"/>
              </a:rPr>
              <a:t>hypotheses.</a:t>
            </a:r>
            <a:r>
              <a:rPr dirty="0" sz="1200" spc="290" i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Distinguishing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hypotheses</a:t>
            </a:r>
            <a:r>
              <a:rPr dirty="0" sz="1200" spc="25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inferences,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observations,</a:t>
            </a:r>
            <a:r>
              <a:rPr dirty="0" sz="1200" spc="2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predictions;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testing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hypotheses</a:t>
            </a:r>
            <a:endParaRPr sz="1200">
              <a:latin typeface="Arial MT"/>
              <a:cs typeface="Arial MT"/>
            </a:endParaRPr>
          </a:p>
          <a:p>
            <a:pPr marL="18415" indent="-6350">
              <a:lnSpc>
                <a:spcPts val="1370"/>
              </a:lnSpc>
              <a:buClr>
                <a:srgbClr val="00FFFF"/>
              </a:buClr>
              <a:buFont typeface="Arial"/>
              <a:buAutoNum type="arabicPeriod"/>
              <a:tabLst>
                <a:tab pos="250825" algn="l"/>
              </a:tabLst>
            </a:pPr>
            <a:r>
              <a:rPr dirty="0" sz="1200" spc="-5" i="1">
                <a:latin typeface="Arial"/>
                <a:cs typeface="Arial"/>
              </a:rPr>
              <a:t>Interpreting</a:t>
            </a:r>
            <a:r>
              <a:rPr dirty="0" sz="1200" spc="180" i="1">
                <a:latin typeface="Arial"/>
                <a:cs typeface="Arial"/>
              </a:rPr>
              <a:t> </a:t>
            </a:r>
            <a:r>
              <a:rPr dirty="0" sz="1200" spc="-5" i="1">
                <a:latin typeface="Arial"/>
                <a:cs typeface="Arial"/>
              </a:rPr>
              <a:t>data.</a:t>
            </a:r>
            <a:r>
              <a:rPr dirty="0" sz="1200" spc="200" i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Describing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data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inferences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them;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constructing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equations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endParaRPr sz="1200">
              <a:latin typeface="Arial MT"/>
              <a:cs typeface="Arial MT"/>
            </a:endParaRPr>
          </a:p>
          <a:p>
            <a:pPr marL="18415" marR="9525">
              <a:lnSpc>
                <a:spcPts val="1400"/>
              </a:lnSpc>
              <a:spcBef>
                <a:spcPts val="65"/>
              </a:spcBef>
            </a:pPr>
            <a:r>
              <a:rPr dirty="0" sz="1200" spc="-5">
                <a:latin typeface="Arial MT"/>
                <a:cs typeface="Arial MT"/>
              </a:rPr>
              <a:t>represent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data;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relating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data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hypotheses;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making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generalizations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supported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experimental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findings</a:t>
            </a:r>
            <a:endParaRPr sz="1200">
              <a:latin typeface="Arial MT"/>
              <a:cs typeface="Arial MT"/>
            </a:endParaRPr>
          </a:p>
          <a:p>
            <a:pPr marL="18415" marR="5080" indent="-6350">
              <a:lnSpc>
                <a:spcPts val="1420"/>
              </a:lnSpc>
              <a:spcBef>
                <a:spcPts val="5"/>
              </a:spcBef>
              <a:buClr>
                <a:srgbClr val="00FFFF"/>
              </a:buClr>
              <a:buFont typeface="Arial"/>
              <a:buAutoNum type="arabicPeriod" startAt="12"/>
              <a:tabLst>
                <a:tab pos="250825" algn="l"/>
                <a:tab pos="1136650" algn="l"/>
                <a:tab pos="1945639" algn="l"/>
                <a:tab pos="2796540" algn="l"/>
                <a:tab pos="3790950" algn="l"/>
                <a:tab pos="4200525" algn="l"/>
                <a:tab pos="5080000" algn="l"/>
                <a:tab pos="5888990" algn="l"/>
              </a:tabLst>
            </a:pPr>
            <a:r>
              <a:rPr dirty="0" sz="1200" spc="-5" i="1">
                <a:latin typeface="Arial"/>
                <a:cs typeface="Arial"/>
              </a:rPr>
              <a:t>Co</a:t>
            </a:r>
            <a:r>
              <a:rPr dirty="0" sz="1200" i="1">
                <a:latin typeface="Arial"/>
                <a:cs typeface="Arial"/>
              </a:rPr>
              <a:t>n</a:t>
            </a:r>
            <a:r>
              <a:rPr dirty="0" sz="1200" i="1">
                <a:latin typeface="Arial"/>
                <a:cs typeface="Arial"/>
              </a:rPr>
              <a:t>tro</a:t>
            </a:r>
            <a:r>
              <a:rPr dirty="0" sz="1200" spc="-5" i="1">
                <a:latin typeface="Arial"/>
                <a:cs typeface="Arial"/>
              </a:rPr>
              <a:t>l</a:t>
            </a:r>
            <a:r>
              <a:rPr dirty="0" sz="1200" spc="-10" i="1">
                <a:latin typeface="Arial"/>
                <a:cs typeface="Arial"/>
              </a:rPr>
              <a:t>l</a:t>
            </a:r>
            <a:r>
              <a:rPr dirty="0" sz="1200" spc="-5" i="1">
                <a:latin typeface="Arial"/>
                <a:cs typeface="Arial"/>
              </a:rPr>
              <a:t>ing</a:t>
            </a:r>
            <a:r>
              <a:rPr dirty="0" sz="1200" i="1">
                <a:latin typeface="Arial"/>
                <a:cs typeface="Arial"/>
              </a:rPr>
              <a:t>	</a:t>
            </a:r>
            <a:r>
              <a:rPr dirty="0" sz="1200" spc="-15" i="1">
                <a:latin typeface="Arial"/>
                <a:cs typeface="Arial"/>
              </a:rPr>
              <a:t>v</a:t>
            </a:r>
            <a:r>
              <a:rPr dirty="0" sz="1200" spc="-5" i="1">
                <a:latin typeface="Arial"/>
                <a:cs typeface="Arial"/>
              </a:rPr>
              <a:t>ar</a:t>
            </a:r>
            <a:r>
              <a:rPr dirty="0" sz="1200" spc="-15" i="1">
                <a:latin typeface="Arial"/>
                <a:cs typeface="Arial"/>
              </a:rPr>
              <a:t>i</a:t>
            </a:r>
            <a:r>
              <a:rPr dirty="0" sz="1200" spc="-5" i="1">
                <a:latin typeface="Arial"/>
                <a:cs typeface="Arial"/>
              </a:rPr>
              <a:t>ab</a:t>
            </a:r>
            <a:r>
              <a:rPr dirty="0" sz="1200" i="1">
                <a:latin typeface="Arial"/>
                <a:cs typeface="Arial"/>
              </a:rPr>
              <a:t>les.</a:t>
            </a:r>
            <a:r>
              <a:rPr dirty="0" sz="1200" i="1">
                <a:latin typeface="Arial"/>
                <a:cs typeface="Arial"/>
              </a:rPr>
              <a:t>	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5">
                <a:latin typeface="Arial MT"/>
                <a:cs typeface="Arial MT"/>
              </a:rPr>
              <a:t>d</a:t>
            </a:r>
            <a:r>
              <a:rPr dirty="0" sz="1200" spc="-15">
                <a:latin typeface="Arial MT"/>
                <a:cs typeface="Arial MT"/>
              </a:rPr>
              <a:t>e</a:t>
            </a:r>
            <a:r>
              <a:rPr dirty="0" sz="1200" spc="-5">
                <a:latin typeface="Arial MT"/>
                <a:cs typeface="Arial MT"/>
              </a:rPr>
              <a:t>n</a:t>
            </a:r>
            <a:r>
              <a:rPr dirty="0" sz="1200">
                <a:latin typeface="Arial MT"/>
                <a:cs typeface="Arial MT"/>
              </a:rPr>
              <a:t>tifyin</a:t>
            </a:r>
            <a:r>
              <a:rPr dirty="0" sz="1200" spc="-5">
                <a:latin typeface="Arial MT"/>
                <a:cs typeface="Arial MT"/>
              </a:rPr>
              <a:t>g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d</a:t>
            </a:r>
            <a:r>
              <a:rPr dirty="0" sz="1200" spc="-5">
                <a:latin typeface="Arial MT"/>
                <a:cs typeface="Arial MT"/>
              </a:rPr>
              <a:t>ep</a:t>
            </a:r>
            <a:r>
              <a:rPr dirty="0" sz="1200" spc="-15">
                <a:latin typeface="Arial MT"/>
                <a:cs typeface="Arial MT"/>
              </a:rPr>
              <a:t>en</a:t>
            </a:r>
            <a:r>
              <a:rPr dirty="0" sz="1200" spc="-5">
                <a:latin typeface="Arial MT"/>
                <a:cs typeface="Arial MT"/>
              </a:rPr>
              <a:t>den</a:t>
            </a:r>
            <a:r>
              <a:rPr dirty="0" sz="1200">
                <a:latin typeface="Arial MT"/>
                <a:cs typeface="Arial MT"/>
              </a:rPr>
              <a:t>t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n</a:t>
            </a:r>
            <a:r>
              <a:rPr dirty="0" sz="1200" spc="-5">
                <a:latin typeface="Arial MT"/>
                <a:cs typeface="Arial MT"/>
              </a:rPr>
              <a:t>d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de</a:t>
            </a:r>
            <a:r>
              <a:rPr dirty="0" sz="1200" spc="-15">
                <a:latin typeface="Arial MT"/>
                <a:cs typeface="Arial MT"/>
              </a:rPr>
              <a:t>p</a:t>
            </a:r>
            <a:r>
              <a:rPr dirty="0" sz="1200" spc="-5">
                <a:latin typeface="Arial MT"/>
                <a:cs typeface="Arial MT"/>
              </a:rPr>
              <a:t>en</a:t>
            </a:r>
            <a:r>
              <a:rPr dirty="0" sz="1200" spc="10">
                <a:latin typeface="Arial MT"/>
                <a:cs typeface="Arial MT"/>
              </a:rPr>
              <a:t>d</a:t>
            </a:r>
            <a:r>
              <a:rPr dirty="0" sz="1200" spc="-5">
                <a:latin typeface="Arial MT"/>
                <a:cs typeface="Arial MT"/>
              </a:rPr>
              <a:t>e</a:t>
            </a:r>
            <a:r>
              <a:rPr dirty="0" sz="1200" spc="-15">
                <a:latin typeface="Arial MT"/>
                <a:cs typeface="Arial MT"/>
              </a:rPr>
              <a:t>n</a:t>
            </a:r>
            <a:r>
              <a:rPr dirty="0" sz="1200">
                <a:latin typeface="Arial MT"/>
                <a:cs typeface="Arial MT"/>
              </a:rPr>
              <a:t>t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va</a:t>
            </a:r>
            <a:r>
              <a:rPr dirty="0" sz="1200" spc="-5">
                <a:latin typeface="Arial MT"/>
                <a:cs typeface="Arial MT"/>
              </a:rPr>
              <a:t>r</a:t>
            </a:r>
            <a:r>
              <a:rPr dirty="0" sz="1200" spc="-15">
                <a:latin typeface="Arial MT"/>
                <a:cs typeface="Arial MT"/>
              </a:rPr>
              <a:t>i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15">
                <a:latin typeface="Arial MT"/>
                <a:cs typeface="Arial MT"/>
              </a:rPr>
              <a:t>s</a:t>
            </a:r>
            <a:r>
              <a:rPr dirty="0" sz="1200">
                <a:latin typeface="Arial MT"/>
                <a:cs typeface="Arial MT"/>
              </a:rPr>
              <a:t>;</a:t>
            </a:r>
            <a:r>
              <a:rPr dirty="0" sz="1200">
                <a:latin typeface="Arial MT"/>
                <a:cs typeface="Arial MT"/>
              </a:rPr>
              <a:t>	</a:t>
            </a:r>
            <a:r>
              <a:rPr dirty="0" sz="1200" spc="-5">
                <a:latin typeface="Arial MT"/>
                <a:cs typeface="Arial MT"/>
              </a:rPr>
              <a:t>c</a:t>
            </a:r>
            <a:r>
              <a:rPr dirty="0" sz="1200" spc="-15">
                <a:latin typeface="Arial MT"/>
                <a:cs typeface="Arial MT"/>
              </a:rPr>
              <a:t>o</a:t>
            </a:r>
            <a:r>
              <a:rPr dirty="0" sz="1200" spc="-5">
                <a:latin typeface="Arial MT"/>
                <a:cs typeface="Arial MT"/>
              </a:rPr>
              <a:t>ndu</a:t>
            </a:r>
            <a:r>
              <a:rPr dirty="0" sz="1200" spc="-15">
                <a:latin typeface="Arial MT"/>
                <a:cs typeface="Arial MT"/>
              </a:rPr>
              <a:t>c</a:t>
            </a:r>
            <a:r>
              <a:rPr dirty="0" sz="1200" spc="-10">
                <a:latin typeface="Arial MT"/>
                <a:cs typeface="Arial MT"/>
              </a:rPr>
              <a:t>t</a:t>
            </a:r>
            <a:r>
              <a:rPr dirty="0" sz="1200" spc="-5">
                <a:latin typeface="Arial MT"/>
                <a:cs typeface="Arial MT"/>
              </a:rPr>
              <a:t>ing  </a:t>
            </a:r>
            <a:r>
              <a:rPr dirty="0" sz="1200" spc="-5">
                <a:latin typeface="Arial MT"/>
                <a:cs typeface="Arial MT"/>
              </a:rPr>
              <a:t>experiments;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describing</a:t>
            </a:r>
            <a:r>
              <a:rPr dirty="0" sz="1200">
                <a:latin typeface="Arial MT"/>
                <a:cs typeface="Arial MT"/>
              </a:rPr>
              <a:t> how </a:t>
            </a:r>
            <a:r>
              <a:rPr dirty="0" sz="1200" spc="-5">
                <a:latin typeface="Arial MT"/>
                <a:cs typeface="Arial MT"/>
              </a:rPr>
              <a:t>variables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controlled</a:t>
            </a:r>
            <a:endParaRPr sz="1200">
              <a:latin typeface="Arial MT"/>
              <a:cs typeface="Arial MT"/>
            </a:endParaRPr>
          </a:p>
          <a:p>
            <a:pPr marL="18415" marR="8255" indent="-6350">
              <a:lnSpc>
                <a:spcPts val="1400"/>
              </a:lnSpc>
              <a:spcBef>
                <a:spcPts val="10"/>
              </a:spcBef>
              <a:buClr>
                <a:srgbClr val="00FFFF"/>
              </a:buClr>
              <a:buFont typeface="Arial"/>
              <a:buAutoNum type="arabicPeriod" startAt="12"/>
              <a:tabLst>
                <a:tab pos="250825" algn="l"/>
              </a:tabLst>
            </a:pPr>
            <a:r>
              <a:rPr dirty="0" sz="1200" spc="-5" i="1">
                <a:latin typeface="Arial"/>
                <a:cs typeface="Arial"/>
              </a:rPr>
              <a:t>Experimenting.</a:t>
            </a:r>
            <a:r>
              <a:rPr dirty="0" sz="1200" spc="135" i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Interpreting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accounts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scientific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experiments;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stating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problems;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hypotheses;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conducting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experimental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572" y="9044304"/>
            <a:ext cx="6979920" cy="353695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4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4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32</a:t>
            </a:r>
            <a:r>
              <a:rPr dirty="0" sz="14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“Models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6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Considerations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6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Guided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Inductive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Inquiry”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9559290"/>
            <a:ext cx="6629400" cy="16027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8415" marR="5080" indent="-6350">
              <a:lnSpc>
                <a:spcPct val="143800"/>
              </a:lnSpc>
              <a:spcBef>
                <a:spcPts val="105"/>
              </a:spcBef>
            </a:pPr>
            <a:r>
              <a:rPr dirty="0" sz="1200" spc="-5">
                <a:latin typeface="Arial MT"/>
                <a:cs typeface="Arial MT"/>
              </a:rPr>
              <a:t>An </a:t>
            </a:r>
            <a:r>
              <a:rPr dirty="0" sz="1200" b="1">
                <a:latin typeface="Arial"/>
                <a:cs typeface="Arial"/>
              </a:rPr>
              <a:t>inquiry </a:t>
            </a:r>
            <a:r>
              <a:rPr dirty="0" sz="1200" spc="-5">
                <a:latin typeface="Arial MT"/>
                <a:cs typeface="Arial MT"/>
              </a:rPr>
              <a:t>is any process that has the </a:t>
            </a:r>
            <a:r>
              <a:rPr dirty="0" sz="1200" spc="-10">
                <a:latin typeface="Arial MT"/>
                <a:cs typeface="Arial MT"/>
              </a:rPr>
              <a:t>aim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augmenting knowledge, resolving doubt, or solving a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-5">
                <a:solidFill>
                  <a:srgbClr val="7E7E7E"/>
                </a:solidFill>
                <a:latin typeface="Arial MT"/>
                <a:cs typeface="Arial MT"/>
              </a:rPr>
              <a:t>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theory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inquiry is an account of the various </a:t>
            </a:r>
            <a:r>
              <a:rPr dirty="0" sz="1200">
                <a:latin typeface="Arial MT"/>
                <a:cs typeface="Arial MT"/>
              </a:rPr>
              <a:t>types of </a:t>
            </a:r>
            <a:r>
              <a:rPr dirty="0" sz="1200" spc="-5">
                <a:latin typeface="Arial MT"/>
                <a:cs typeface="Arial MT"/>
              </a:rPr>
              <a:t>inquiry and a treatment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type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achieves</a:t>
            </a:r>
            <a:r>
              <a:rPr dirty="0" sz="1200">
                <a:latin typeface="Arial MT"/>
                <a:cs typeface="Arial MT"/>
              </a:rPr>
              <a:t> its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aim.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Arial MT"/>
              <a:cs typeface="Arial MT"/>
            </a:endParaRPr>
          </a:p>
          <a:p>
            <a:pPr algn="just" marL="26034" marR="5080" indent="-6350">
              <a:lnSpc>
                <a:spcPct val="142500"/>
              </a:lnSpc>
            </a:pPr>
            <a:r>
              <a:rPr dirty="0" sz="1200" b="1">
                <a:latin typeface="Arial"/>
                <a:cs typeface="Arial"/>
              </a:rPr>
              <a:t>Inquiry </a:t>
            </a:r>
            <a:r>
              <a:rPr dirty="0" sz="1200" spc="-5" b="1">
                <a:latin typeface="Arial"/>
                <a:cs typeface="Arial"/>
              </a:rPr>
              <a:t>is </a:t>
            </a:r>
            <a:r>
              <a:rPr dirty="0" sz="1200" b="1">
                <a:latin typeface="Arial"/>
                <a:cs typeface="Arial"/>
              </a:rPr>
              <a:t>not </a:t>
            </a:r>
            <a:r>
              <a:rPr dirty="0" sz="1200" spc="-5" b="1">
                <a:latin typeface="Arial"/>
                <a:cs typeface="Arial"/>
              </a:rPr>
              <a:t>mere </a:t>
            </a:r>
            <a:r>
              <a:rPr dirty="0" sz="1200" b="1">
                <a:latin typeface="Arial"/>
                <a:cs typeface="Arial"/>
              </a:rPr>
              <a:t>questioning, it is </a:t>
            </a:r>
            <a:r>
              <a:rPr dirty="0" sz="1200" spc="-5" b="1">
                <a:latin typeface="Arial"/>
                <a:cs typeface="Arial"/>
              </a:rPr>
              <a:t>much more than that. </a:t>
            </a:r>
            <a:r>
              <a:rPr dirty="0" sz="1200" b="1">
                <a:latin typeface="Arial"/>
                <a:cs typeface="Arial"/>
              </a:rPr>
              <a:t>Inquiry is not </a:t>
            </a:r>
            <a:r>
              <a:rPr dirty="0" sz="1200" spc="-5" b="1">
                <a:latin typeface="Arial"/>
                <a:cs typeface="Arial"/>
              </a:rPr>
              <a:t>a theoretical </a:t>
            </a:r>
            <a:r>
              <a:rPr dirty="0" sz="1200" b="1">
                <a:latin typeface="Arial"/>
                <a:cs typeface="Arial"/>
              </a:rPr>
              <a:t> technique</a:t>
            </a:r>
            <a:r>
              <a:rPr dirty="0" sz="1200" spc="-5" b="1">
                <a:latin typeface="Arial"/>
                <a:cs typeface="Arial"/>
              </a:rPr>
              <a:t> only,</a:t>
            </a:r>
            <a:r>
              <a:rPr dirty="0" sz="1200" b="1">
                <a:latin typeface="Arial"/>
                <a:cs typeface="Arial"/>
              </a:rPr>
              <a:t> it is</a:t>
            </a:r>
            <a:r>
              <a:rPr dirty="0" sz="1200" spc="-5" b="1">
                <a:latin typeface="Arial"/>
                <a:cs typeface="Arial"/>
              </a:rPr>
              <a:t> very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practical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indeed.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209" cy="6479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9525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Inquiry learning begins when students are presented with questions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answered, problems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solved,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observations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explained.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 MT"/>
              <a:cs typeface="Arial MT"/>
            </a:endParaRPr>
          </a:p>
          <a:p>
            <a:pPr algn="just" marL="18415" marR="7620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If the </a:t>
            </a:r>
            <a:r>
              <a:rPr dirty="0" sz="1200" spc="-5">
                <a:latin typeface="Arial MT"/>
                <a:cs typeface="Arial MT"/>
              </a:rPr>
              <a:t>method is implemented effectively, the students should learn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"formulate </a:t>
            </a:r>
            <a:r>
              <a:rPr dirty="0" sz="1200" spc="-10">
                <a:latin typeface="Arial MT"/>
                <a:cs typeface="Arial MT"/>
              </a:rPr>
              <a:t>good </a:t>
            </a:r>
            <a:r>
              <a:rPr dirty="0" sz="1200" spc="-5">
                <a:latin typeface="Arial MT"/>
                <a:cs typeface="Arial MT"/>
              </a:rPr>
              <a:t>questions, </a:t>
            </a:r>
            <a:r>
              <a:rPr dirty="0" sz="1200">
                <a:latin typeface="Arial MT"/>
                <a:cs typeface="Arial MT"/>
              </a:rPr>
              <a:t> identify </a:t>
            </a:r>
            <a:r>
              <a:rPr dirty="0" sz="1200" spc="-5">
                <a:latin typeface="Arial MT"/>
                <a:cs typeface="Arial MT"/>
              </a:rPr>
              <a:t>and collect appropriate evidence, present results systematically,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analyze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interpret </a:t>
            </a:r>
            <a:r>
              <a:rPr dirty="0" sz="1200">
                <a:latin typeface="Arial MT"/>
                <a:cs typeface="Arial MT"/>
              </a:rPr>
              <a:t> results,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formulate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conclusions,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evaluate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importance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conclusions.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Problem-based, learning, project-based learning, </a:t>
            </a:r>
            <a:r>
              <a:rPr dirty="0" sz="1200">
                <a:latin typeface="Arial MT"/>
                <a:cs typeface="Arial MT"/>
              </a:rPr>
              <a:t>discovery </a:t>
            </a:r>
            <a:r>
              <a:rPr dirty="0" sz="1200" spc="-5">
                <a:latin typeface="Arial MT"/>
                <a:cs typeface="Arial MT"/>
              </a:rPr>
              <a:t>learning, certain forms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case based </a:t>
            </a:r>
            <a:r>
              <a:rPr dirty="0" sz="1200">
                <a:latin typeface="Arial MT"/>
                <a:cs typeface="Arial MT"/>
              </a:rPr>
              <a:t> instruction,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Objectives: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Steps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GII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(Guided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Inductive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Inquiry)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Model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GII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Characteristics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GII</a:t>
            </a:r>
            <a:endParaRPr sz="12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450"/>
              </a:spcBef>
            </a:pPr>
            <a:r>
              <a:rPr dirty="0" sz="1200" b="1">
                <a:latin typeface="Arial"/>
                <a:cs typeface="Arial"/>
              </a:rPr>
              <a:t>Steps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Guided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Inductive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Theory: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Decide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generalizations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should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make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during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particular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unit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study.</a:t>
            </a:r>
            <a:endParaRPr sz="1200">
              <a:latin typeface="Arial"/>
              <a:cs typeface="Arial"/>
            </a:endParaRPr>
          </a:p>
          <a:p>
            <a:pPr marL="469900" marR="5080" indent="-228600">
              <a:lnSpc>
                <a:spcPct val="143300"/>
              </a:lnSpc>
              <a:spcBef>
                <a:spcPts val="2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Organize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materials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expose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strands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generalizations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students.</a:t>
            </a:r>
            <a:endParaRPr sz="1200">
              <a:latin typeface="Arial"/>
              <a:cs typeface="Arial"/>
            </a:endParaRPr>
          </a:p>
          <a:p>
            <a:pPr marL="477520" marR="966469" indent="-236220">
              <a:lnSpc>
                <a:spcPct val="142500"/>
              </a:lnSpc>
              <a:spcBef>
                <a:spcPts val="3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Ask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write summary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content</a:t>
            </a:r>
            <a:r>
              <a:rPr dirty="0" sz="1200" b="1">
                <a:latin typeface="Arial"/>
                <a:cs typeface="Arial"/>
              </a:rPr>
              <a:t> that will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form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basis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the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generalizations.</a:t>
            </a:r>
            <a:endParaRPr sz="1200">
              <a:latin typeface="Arial"/>
              <a:cs typeface="Arial"/>
            </a:endParaRPr>
          </a:p>
          <a:p>
            <a:pPr marL="469900" marR="7620" indent="-228600">
              <a:lnSpc>
                <a:spcPct val="141700"/>
              </a:lnSpc>
              <a:spcBef>
                <a:spcPts val="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Ask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identify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sequences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patterns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events,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objects,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other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data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content.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Ask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summarize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these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sequences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 </a:t>
            </a:r>
            <a:r>
              <a:rPr dirty="0" sz="1200" spc="-5" b="1">
                <a:latin typeface="Arial"/>
                <a:cs typeface="Arial"/>
              </a:rPr>
              <a:t>patterns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sentence.</a:t>
            </a:r>
            <a:endParaRPr sz="1200">
              <a:latin typeface="Arial"/>
              <a:cs typeface="Arial"/>
            </a:endParaRPr>
          </a:p>
          <a:p>
            <a:pPr marL="469900" marR="9525" indent="-228600">
              <a:lnSpc>
                <a:spcPts val="2070"/>
              </a:lnSpc>
              <a:spcBef>
                <a:spcPts val="15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Ask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offer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proof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statement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generalization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applying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to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other events,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 data.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400" b="1">
                <a:latin typeface="Arial"/>
                <a:cs typeface="Arial"/>
              </a:rPr>
              <a:t>Example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of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steps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for</a:t>
            </a:r>
            <a:r>
              <a:rPr dirty="0" sz="1400" spc="-5" b="1">
                <a:latin typeface="Arial"/>
                <a:cs typeface="Arial"/>
              </a:rPr>
              <a:t> Guided Inductive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Theory: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99288" y="7334377"/>
          <a:ext cx="6583680" cy="395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7320"/>
                <a:gridCol w="3886834"/>
              </a:tblGrid>
              <a:tr h="313944">
                <a:tc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Steps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51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Examples: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33855"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1.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Decide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generalization(s)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25780" marR="78740">
                        <a:lnSpc>
                          <a:spcPts val="2060"/>
                        </a:lnSpc>
                        <a:spcBef>
                          <a:spcPts val="15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students should make during a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particular unit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of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study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5780" indent="-229235">
                        <a:lnSpc>
                          <a:spcPct val="100000"/>
                        </a:lnSpc>
                        <a:spcBef>
                          <a:spcPts val="250"/>
                        </a:spcBef>
                        <a:buChar char="•"/>
                        <a:tabLst>
                          <a:tab pos="525145" algn="l"/>
                          <a:tab pos="525780" algn="l"/>
                        </a:tabLst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Humans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need balanced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diet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keep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good health.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25780" indent="-229235">
                        <a:lnSpc>
                          <a:spcPct val="100000"/>
                        </a:lnSpc>
                        <a:spcBef>
                          <a:spcPts val="685"/>
                        </a:spcBef>
                        <a:buChar char="•"/>
                        <a:tabLst>
                          <a:tab pos="525145" algn="l"/>
                          <a:tab pos="525780" algn="l"/>
                        </a:tabLst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Shortage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minerals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can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cause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serious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illness.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25145" marR="456565" indent="-228600">
                        <a:lnSpc>
                          <a:spcPct val="103299"/>
                        </a:lnSpc>
                        <a:spcBef>
                          <a:spcPts val="650"/>
                        </a:spcBef>
                        <a:buChar char="•"/>
                        <a:tabLst>
                          <a:tab pos="525145" algn="l"/>
                          <a:tab pos="525780" algn="l"/>
                        </a:tabLst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Galileo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was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condemned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by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the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inquisition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because he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questioned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 accepted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facts.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0017">
                <a:tc>
                  <a:txBody>
                    <a:bodyPr/>
                    <a:lstStyle/>
                    <a:p>
                      <a:pPr algn="just" marL="525780" marR="61594" indent="-229235">
                        <a:lnSpc>
                          <a:spcPct val="103400"/>
                        </a:lnSpc>
                        <a:spcBef>
                          <a:spcPts val="20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2.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Organize the learning activities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materials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to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expose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strands and generalizations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students.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54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5780" indent="-229235">
                        <a:lnSpc>
                          <a:spcPct val="100000"/>
                        </a:lnSpc>
                        <a:spcBef>
                          <a:spcPts val="250"/>
                        </a:spcBef>
                        <a:buChar char="•"/>
                        <a:tabLst>
                          <a:tab pos="525145" algn="l"/>
                          <a:tab pos="525780" algn="l"/>
                        </a:tabLst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Cases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representing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different diseases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caused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by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2514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imbalanced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diet.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25145" marR="58419" indent="-228600">
                        <a:lnSpc>
                          <a:spcPct val="145000"/>
                        </a:lnSpc>
                        <a:spcBef>
                          <a:spcPts val="240"/>
                        </a:spcBef>
                        <a:buChar char="•"/>
                        <a:tabLst>
                          <a:tab pos="525145" algn="l"/>
                          <a:tab pos="525780" algn="l"/>
                        </a:tabLst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Cases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representing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different diseases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caused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by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shortage of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minerals.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25145" marR="169545" indent="-228600">
                        <a:lnSpc>
                          <a:spcPct val="104200"/>
                        </a:lnSpc>
                        <a:spcBef>
                          <a:spcPts val="815"/>
                        </a:spcBef>
                        <a:buChar char="•"/>
                        <a:tabLst>
                          <a:tab pos="525145" algn="l"/>
                          <a:tab pos="525780" algn="l"/>
                        </a:tabLst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Analysis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of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Galileo’s work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the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religious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rule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that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time.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just" marL="525780" marR="60960" indent="-229235">
                        <a:lnSpc>
                          <a:spcPct val="103299"/>
                        </a:lnSpc>
                        <a:spcBef>
                          <a:spcPts val="204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3. Ask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students to write summary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of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content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form 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basis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generalizations.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Students summarize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read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cases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texts.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99288" y="678180"/>
          <a:ext cx="6583680" cy="3490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7320"/>
                <a:gridCol w="3886834"/>
              </a:tblGrid>
              <a:tr h="1281937">
                <a:tc>
                  <a:txBody>
                    <a:bodyPr/>
                    <a:lstStyle/>
                    <a:p>
                      <a:pPr algn="just" marL="3213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4. Ask    </a:t>
                      </a:r>
                      <a:r>
                        <a:rPr dirty="0" sz="1200" spc="1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students</a:t>
                      </a:r>
                      <a:r>
                        <a:rPr dirty="0" sz="1200" spc="4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4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     </a:t>
                      </a:r>
                      <a:r>
                        <a:rPr dirty="0" sz="1200" spc="1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identify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algn="just" marL="525780" marR="23495">
                        <a:lnSpc>
                          <a:spcPct val="143000"/>
                        </a:lnSpc>
                        <a:spcBef>
                          <a:spcPts val="1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sequences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patterns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of 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events, objects, or other data in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content.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13459"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557530" algn="l"/>
                          <a:tab pos="944244" algn="l"/>
                          <a:tab pos="1652270" algn="l"/>
                          <a:tab pos="1910080" algn="l"/>
                        </a:tabLst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5.	Ask	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students	to	summarize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25780" marR="23495">
                        <a:lnSpc>
                          <a:spcPts val="2050"/>
                        </a:lnSpc>
                        <a:spcBef>
                          <a:spcPts val="16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these</a:t>
                      </a:r>
                      <a:r>
                        <a:rPr dirty="0" sz="1200" spc="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sequences</a:t>
                      </a:r>
                      <a:r>
                        <a:rPr dirty="0" sz="1200" spc="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patterns</a:t>
                      </a:r>
                      <a:r>
                        <a:rPr dirty="0" sz="1200" spc="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 </a:t>
                      </a:r>
                      <a:r>
                        <a:rPr dirty="0" sz="1200" spc="-3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one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2578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sentence.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1124">
                <a:tc>
                  <a:txBody>
                    <a:bodyPr/>
                    <a:lstStyle/>
                    <a:p>
                      <a:pPr algn="just" marL="525780" marR="24130" indent="-229235">
                        <a:lnSpc>
                          <a:spcPct val="103299"/>
                        </a:lnSpc>
                        <a:spcBef>
                          <a:spcPts val="204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6. Ask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students to offer proof that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their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statement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generalization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7976">
                <a:tc>
                  <a:txBody>
                    <a:bodyPr/>
                    <a:lstStyle/>
                    <a:p>
                      <a:pPr marL="67945" marR="24130">
                        <a:lnSpc>
                          <a:spcPct val="103299"/>
                        </a:lnSpc>
                        <a:spcBef>
                          <a:spcPts val="204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2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applying</a:t>
                      </a:r>
                      <a:r>
                        <a:rPr dirty="0" sz="120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12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other</a:t>
                      </a:r>
                      <a:r>
                        <a:rPr dirty="0" sz="1200" spc="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events,</a:t>
                      </a:r>
                      <a:r>
                        <a:rPr dirty="0" sz="12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objects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or data.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65480" y="4328286"/>
            <a:ext cx="6626859" cy="11309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8415" marR="5080" indent="-6350">
              <a:lnSpc>
                <a:spcPct val="143800"/>
              </a:lnSpc>
              <a:spcBef>
                <a:spcPts val="105"/>
              </a:spcBef>
            </a:pPr>
            <a:r>
              <a:rPr dirty="0" sz="1200" spc="-5">
                <a:latin typeface="Arial MT"/>
                <a:cs typeface="Arial MT"/>
              </a:rPr>
              <a:t>The most important thing in inquiry is evidence. You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never </a:t>
            </a:r>
            <a:r>
              <a:rPr dirty="0" sz="1200">
                <a:latin typeface="Arial MT"/>
                <a:cs typeface="Arial MT"/>
              </a:rPr>
              <a:t>justify </a:t>
            </a:r>
            <a:r>
              <a:rPr dirty="0" sz="1200" spc="-5">
                <a:latin typeface="Arial MT"/>
                <a:cs typeface="Arial MT"/>
              </a:rPr>
              <a:t>your statement without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evidence. Above are the six steps that will be used whenever you are planning a guided learning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inquiry.</a:t>
            </a:r>
            <a:endParaRPr sz="12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805"/>
              </a:spcBef>
            </a:pPr>
            <a:r>
              <a:rPr dirty="0" sz="1400" b="1">
                <a:latin typeface="Arial"/>
                <a:cs typeface="Arial"/>
              </a:rPr>
              <a:t>A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General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Model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Guided learning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Inquiry: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11436807"/>
            <a:ext cx="24460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Characteristics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GII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model: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826" y="5482209"/>
            <a:ext cx="4702708" cy="576973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38045" y="5771514"/>
            <a:ext cx="35782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Identifying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(being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aware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 something)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72513" y="6635877"/>
            <a:ext cx="3796029" cy="448309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195705" marR="5080" indent="-1183005">
              <a:lnSpc>
                <a:spcPts val="1639"/>
              </a:lnSpc>
              <a:spcBef>
                <a:spcPts val="190"/>
              </a:spcBef>
            </a:pP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Preparing</a:t>
            </a:r>
            <a:r>
              <a:rPr dirty="0" sz="14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 of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research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(making </a:t>
            </a:r>
            <a:r>
              <a:rPr dirty="0" sz="1400" spc="-3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testable hypothesis)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2345" y="7692008"/>
            <a:ext cx="3435985" cy="448309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895350" marR="5080" indent="-883285">
              <a:lnSpc>
                <a:spcPts val="1639"/>
              </a:lnSpc>
              <a:spcBef>
                <a:spcPts val="190"/>
              </a:spcBef>
            </a:pP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Collecting data (gathering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evidence,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conducting </a:t>
            </a:r>
            <a:r>
              <a:rPr dirty="0" sz="1400" spc="-3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experiment,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surveying)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1930" y="8682608"/>
            <a:ext cx="4052570" cy="448309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617345" marR="5080" indent="-1605280">
              <a:lnSpc>
                <a:spcPts val="1639"/>
              </a:lnSpc>
              <a:spcBef>
                <a:spcPts val="190"/>
              </a:spcBef>
            </a:pP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Interpreting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14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(making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meaningful</a:t>
            </a:r>
            <a:r>
              <a:rPr dirty="0" sz="14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statements,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testing </a:t>
            </a:r>
            <a:r>
              <a:rPr dirty="0" sz="1400" spc="-3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hypothesis)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3913" y="9678161"/>
            <a:ext cx="4309110" cy="448309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844675" marR="5080" indent="-1832610">
              <a:lnSpc>
                <a:spcPts val="1639"/>
              </a:lnSpc>
              <a:spcBef>
                <a:spcPts val="190"/>
              </a:spcBef>
            </a:pP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Developing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tentative conclusions</a:t>
            </a:r>
            <a:r>
              <a:rPr dirty="0" sz="14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(Establishing</a:t>
            </a:r>
            <a:r>
              <a:rPr dirty="0" sz="14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relationship/ </a:t>
            </a:r>
            <a:r>
              <a:rPr dirty="0" sz="1400" spc="-3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patterns)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32989" y="10824209"/>
            <a:ext cx="24060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Replication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(Obtaining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data)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384" y="578611"/>
            <a:ext cx="6401435" cy="290766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Learners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progress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from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specific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observations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inferences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generalizations.</a:t>
            </a:r>
            <a:endParaRPr sz="1200">
              <a:latin typeface="Arial"/>
              <a:cs typeface="Arial"/>
            </a:endParaRPr>
          </a:p>
          <a:p>
            <a:pPr marL="241300" marR="5715" indent="-228600">
              <a:lnSpc>
                <a:spcPct val="141800"/>
              </a:lnSpc>
              <a:spcBef>
                <a:spcPts val="10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(or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reinforce)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examining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events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and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then</a:t>
            </a:r>
            <a:r>
              <a:rPr dirty="0" sz="1200" b="1">
                <a:latin typeface="Arial"/>
                <a:cs typeface="Arial"/>
              </a:rPr>
              <a:t> arriving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at an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appropriate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generalization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from</a:t>
            </a:r>
            <a:r>
              <a:rPr dirty="0" sz="1200" b="1">
                <a:latin typeface="Arial"/>
                <a:cs typeface="Arial"/>
              </a:rPr>
              <a:t> the </a:t>
            </a:r>
            <a:r>
              <a:rPr dirty="0" sz="1200" spc="-5" b="1">
                <a:latin typeface="Arial"/>
                <a:cs typeface="Arial"/>
              </a:rPr>
              <a:t>observations.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controls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specifics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 </a:t>
            </a:r>
            <a:r>
              <a:rPr dirty="0" sz="1200" b="1">
                <a:latin typeface="Arial"/>
                <a:cs typeface="Arial"/>
              </a:rPr>
              <a:t>lesson---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events,</a:t>
            </a:r>
            <a:r>
              <a:rPr dirty="0" sz="1200" spc="-5" b="1">
                <a:latin typeface="Arial"/>
                <a:cs typeface="Arial"/>
              </a:rPr>
              <a:t> data,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materials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etc.</a:t>
            </a:r>
            <a:endParaRPr sz="1200">
              <a:latin typeface="Arial"/>
              <a:cs typeface="Arial"/>
            </a:endParaRPr>
          </a:p>
          <a:p>
            <a:pPr marL="241300" marR="5080" indent="-228600">
              <a:lnSpc>
                <a:spcPts val="2060"/>
              </a:lnSpc>
              <a:spcBef>
                <a:spcPts val="165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Each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student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structures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meaningful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pattern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based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his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her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observations</a:t>
            </a:r>
            <a:r>
              <a:rPr dirty="0" sz="1200" spc="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those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others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 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class.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455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Classroom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laboratory.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created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here.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inferences</a:t>
            </a:r>
            <a:endParaRPr sz="1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and generalizations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end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inquiry 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knowledge.</a:t>
            </a: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 startAt="6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Usually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fixed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number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generalizations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will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5" b="1">
                <a:latin typeface="Arial"/>
                <a:cs typeface="Arial"/>
              </a:rPr>
              <a:t> elicited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from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learners.</a:t>
            </a: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 startAt="6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encourages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participation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each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child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ensure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collaborative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learning.</a:t>
            </a:r>
            <a:endParaRPr sz="120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615"/>
              </a:spcBef>
            </a:pP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applied</a:t>
            </a:r>
            <a:r>
              <a:rPr dirty="0" sz="1200">
                <a:latin typeface="Arial MT"/>
                <a:cs typeface="Arial MT"/>
              </a:rPr>
              <a:t> on </a:t>
            </a:r>
            <a:r>
              <a:rPr dirty="0" sz="1200" spc="-5">
                <a:latin typeface="Arial MT"/>
                <a:cs typeface="Arial MT"/>
              </a:rPr>
              <a:t>specified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3856254"/>
            <a:ext cx="6635115" cy="774255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00" spc="-5" b="1">
                <a:latin typeface="Arial"/>
                <a:cs typeface="Arial"/>
              </a:rPr>
              <a:t>Important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considerations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regarding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inquiry: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inquiry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cannot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5" b="1">
                <a:latin typeface="Arial"/>
                <a:cs typeface="Arial"/>
              </a:rPr>
              <a:t> rushed.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Then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how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5" b="1">
                <a:latin typeface="Arial"/>
                <a:cs typeface="Arial"/>
              </a:rPr>
              <a:t> cover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5" b="1">
                <a:latin typeface="Arial"/>
                <a:cs typeface="Arial"/>
              </a:rPr>
              <a:t> syllabus.</a:t>
            </a:r>
            <a:endParaRPr sz="1200">
              <a:latin typeface="Arial"/>
              <a:cs typeface="Arial"/>
            </a:endParaRPr>
          </a:p>
          <a:p>
            <a:pPr algn="just"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Need to </a:t>
            </a:r>
            <a:r>
              <a:rPr dirty="0" sz="1200" spc="-5" b="1">
                <a:latin typeface="Arial"/>
                <a:cs typeface="Arial"/>
              </a:rPr>
              <a:t>see</a:t>
            </a:r>
            <a:r>
              <a:rPr dirty="0" sz="1200" b="1">
                <a:latin typeface="Arial"/>
                <a:cs typeface="Arial"/>
              </a:rPr>
              <a:t> 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bigger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picture.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What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5" b="1">
                <a:latin typeface="Arial"/>
                <a:cs typeface="Arial"/>
              </a:rPr>
              <a:t> essential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need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be </a:t>
            </a:r>
            <a:r>
              <a:rPr dirty="0" sz="1200" spc="-5" b="1">
                <a:latin typeface="Arial"/>
                <a:cs typeface="Arial"/>
              </a:rPr>
              <a:t>taught?</a:t>
            </a:r>
            <a:endParaRPr sz="1200">
              <a:latin typeface="Arial"/>
              <a:cs typeface="Arial"/>
            </a:endParaRPr>
          </a:p>
          <a:p>
            <a:pPr algn="just" marL="469900" marR="7620" indent="-228600">
              <a:lnSpc>
                <a:spcPct val="142500"/>
              </a:lnSpc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Remember,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less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actually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more.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More</a:t>
            </a:r>
            <a:r>
              <a:rPr dirty="0" sz="1200" b="1">
                <a:latin typeface="Arial"/>
                <a:cs typeface="Arial"/>
              </a:rPr>
              <a:t> information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guarantee</a:t>
            </a:r>
            <a:r>
              <a:rPr dirty="0" sz="1200" b="1">
                <a:latin typeface="Arial"/>
                <a:cs typeface="Arial"/>
              </a:rPr>
              <a:t> high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performance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pupils’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exams.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conceptual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understanding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which </a:t>
            </a:r>
            <a:r>
              <a:rPr dirty="0" sz="1200" spc="-3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important.</a:t>
            </a:r>
            <a:endParaRPr sz="1200">
              <a:latin typeface="Arial"/>
              <a:cs typeface="Arial"/>
            </a:endParaRPr>
          </a:p>
          <a:p>
            <a:pPr algn="just" marL="469900" marR="6985" indent="-228600">
              <a:lnSpc>
                <a:spcPct val="143300"/>
              </a:lnSpc>
              <a:spcBef>
                <a:spcPts val="2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Students </a:t>
            </a:r>
            <a:r>
              <a:rPr dirty="0" sz="1200" b="1">
                <a:latin typeface="Arial"/>
                <a:cs typeface="Arial"/>
              </a:rPr>
              <a:t>must find </a:t>
            </a:r>
            <a:r>
              <a:rPr dirty="0" sz="1200" spc="-1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pattern. </a:t>
            </a:r>
            <a:r>
              <a:rPr dirty="0" sz="1200" b="1">
                <a:latin typeface="Arial"/>
                <a:cs typeface="Arial"/>
              </a:rPr>
              <a:t>For </a:t>
            </a:r>
            <a:r>
              <a:rPr dirty="0" sz="1200" spc="-5" b="1">
                <a:latin typeface="Arial"/>
                <a:cs typeface="Arial"/>
              </a:rPr>
              <a:t>example, students need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learn that </a:t>
            </a:r>
            <a:r>
              <a:rPr dirty="0" sz="1200" b="1">
                <a:latin typeface="Arial"/>
                <a:cs typeface="Arial"/>
              </a:rPr>
              <a:t>inferences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cannot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drawn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absence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evidence.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"/>
              <a:cs typeface="Arial"/>
            </a:endParaRPr>
          </a:p>
          <a:p>
            <a:pPr marL="55244">
              <a:lnSpc>
                <a:spcPct val="100000"/>
              </a:lnSpc>
              <a:spcBef>
                <a:spcPts val="830"/>
              </a:spcBef>
            </a:pPr>
            <a:r>
              <a:rPr dirty="0" sz="1400" spc="-5" b="1">
                <a:latin typeface="Arial"/>
                <a:cs typeface="Arial"/>
              </a:rPr>
              <a:t>Unguided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inductive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inquiry:</a:t>
            </a:r>
            <a:endParaRPr sz="1400">
              <a:latin typeface="Arial"/>
              <a:cs typeface="Arial"/>
            </a:endParaRPr>
          </a:p>
          <a:p>
            <a:pPr algn="just" marL="55244">
              <a:lnSpc>
                <a:spcPct val="100000"/>
              </a:lnSpc>
              <a:spcBef>
                <a:spcPts val="560"/>
              </a:spcBef>
            </a:pPr>
            <a:r>
              <a:rPr dirty="0" sz="1200" spc="-5">
                <a:latin typeface="Arial MT"/>
                <a:cs typeface="Arial MT"/>
              </a:rPr>
              <a:t>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study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unguided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inductive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is?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how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inquiry.</a:t>
            </a:r>
            <a:endParaRPr sz="1200">
              <a:latin typeface="Arial MT"/>
              <a:cs typeface="Arial MT"/>
            </a:endParaRPr>
          </a:p>
          <a:p>
            <a:pPr algn="just" marL="469900" marR="8890" indent="-228600">
              <a:lnSpc>
                <a:spcPct val="143300"/>
              </a:lnSpc>
              <a:spcBef>
                <a:spcPts val="2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During </a:t>
            </a:r>
            <a:r>
              <a:rPr dirty="0" sz="1200" b="1">
                <a:latin typeface="Arial"/>
                <a:cs typeface="Arial"/>
              </a:rPr>
              <a:t>guided inductive </a:t>
            </a:r>
            <a:r>
              <a:rPr dirty="0" sz="1200" spc="-5" b="1">
                <a:latin typeface="Arial"/>
                <a:cs typeface="Arial"/>
              </a:rPr>
              <a:t>inquiry, the teacher plays the key </a:t>
            </a:r>
            <a:r>
              <a:rPr dirty="0" sz="1200" b="1">
                <a:latin typeface="Arial"/>
                <a:cs typeface="Arial"/>
              </a:rPr>
              <a:t>role in </a:t>
            </a:r>
            <a:r>
              <a:rPr dirty="0" sz="1200" spc="-5" b="1">
                <a:latin typeface="Arial"/>
                <a:cs typeface="Arial"/>
              </a:rPr>
              <a:t>asking questions,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prompting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responses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structuring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 material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situations.</a:t>
            </a:r>
            <a:endParaRPr sz="1200">
              <a:latin typeface="Arial"/>
              <a:cs typeface="Arial"/>
            </a:endParaRPr>
          </a:p>
          <a:p>
            <a:pPr algn="just" marL="469900" marR="8890" indent="-228600">
              <a:lnSpc>
                <a:spcPct val="142500"/>
              </a:lnSpc>
              <a:spcBef>
                <a:spcPts val="520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Once </a:t>
            </a:r>
            <a:r>
              <a:rPr dirty="0" sz="1200" spc="-5" b="1">
                <a:latin typeface="Arial"/>
                <a:cs typeface="Arial"/>
              </a:rPr>
              <a:t>the class has </a:t>
            </a:r>
            <a:r>
              <a:rPr dirty="0" sz="1200" b="1">
                <a:latin typeface="Arial"/>
                <a:cs typeface="Arial"/>
              </a:rPr>
              <a:t>mastered </a:t>
            </a:r>
            <a:r>
              <a:rPr dirty="0" sz="1200" spc="-5" b="1">
                <a:latin typeface="Arial"/>
                <a:cs typeface="Arial"/>
              </a:rPr>
              <a:t>the techniques </a:t>
            </a:r>
            <a:r>
              <a:rPr dirty="0" sz="1200" b="1">
                <a:latin typeface="Arial"/>
                <a:cs typeface="Arial"/>
              </a:rPr>
              <a:t>of guided </a:t>
            </a:r>
            <a:r>
              <a:rPr dirty="0" sz="1200" spc="-5" b="1">
                <a:latin typeface="Arial"/>
                <a:cs typeface="Arial"/>
              </a:rPr>
              <a:t>inductive </a:t>
            </a:r>
            <a:r>
              <a:rPr dirty="0" sz="1200" b="1">
                <a:latin typeface="Arial"/>
                <a:cs typeface="Arial"/>
              </a:rPr>
              <a:t>inquiry, </a:t>
            </a:r>
            <a:r>
              <a:rPr dirty="0" sz="1200" spc="-5" b="1">
                <a:latin typeface="Arial"/>
                <a:cs typeface="Arial"/>
              </a:rPr>
              <a:t>teacher can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introduce </a:t>
            </a:r>
            <a:r>
              <a:rPr dirty="0" sz="1200" b="1">
                <a:latin typeface="Arial"/>
                <a:cs typeface="Arial"/>
              </a:rPr>
              <a:t>or </a:t>
            </a:r>
            <a:r>
              <a:rPr dirty="0" sz="1200" spc="-5" b="1">
                <a:latin typeface="Arial"/>
                <a:cs typeface="Arial"/>
              </a:rPr>
              <a:t>allow </a:t>
            </a:r>
            <a:r>
              <a:rPr dirty="0" sz="1200" spc="-10" b="1">
                <a:latin typeface="Arial"/>
                <a:cs typeface="Arial"/>
              </a:rPr>
              <a:t>for </a:t>
            </a:r>
            <a:r>
              <a:rPr dirty="0" sz="1200" b="1">
                <a:latin typeface="Arial"/>
                <a:cs typeface="Arial"/>
              </a:rPr>
              <a:t>student-initiated situations </a:t>
            </a:r>
            <a:r>
              <a:rPr dirty="0" sz="1200" spc="-5" b="1">
                <a:latin typeface="Arial"/>
                <a:cs typeface="Arial"/>
              </a:rPr>
              <a:t>for examining </a:t>
            </a:r>
            <a:r>
              <a:rPr dirty="0" sz="1200" b="1">
                <a:latin typeface="Arial"/>
                <a:cs typeface="Arial"/>
              </a:rPr>
              <a:t>data, </a:t>
            </a:r>
            <a:r>
              <a:rPr dirty="0" sz="1200" spc="-5" b="1">
                <a:latin typeface="Arial"/>
                <a:cs typeface="Arial"/>
              </a:rPr>
              <a:t>objects and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events.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Because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teacher’s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role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minimized,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students’ </a:t>
            </a:r>
            <a:r>
              <a:rPr dirty="0" sz="1200" b="1">
                <a:latin typeface="Arial"/>
                <a:cs typeface="Arial"/>
              </a:rPr>
              <a:t>activity</a:t>
            </a:r>
            <a:r>
              <a:rPr dirty="0" sz="1200" spc="-5" b="1">
                <a:latin typeface="Arial"/>
                <a:cs typeface="Arial"/>
              </a:rPr>
              <a:t> increases.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Guided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Inquiry?</a:t>
            </a:r>
            <a:endParaRPr sz="1200">
              <a:latin typeface="Arial"/>
              <a:cs typeface="Arial"/>
            </a:endParaRPr>
          </a:p>
          <a:p>
            <a:pPr algn="just" marL="18415" marR="10160" indent="-6350">
              <a:lnSpc>
                <a:spcPct val="144200"/>
              </a:lnSpc>
              <a:spcBef>
                <a:spcPts val="265"/>
              </a:spcBef>
            </a:pPr>
            <a:r>
              <a:rPr dirty="0" sz="1200" spc="-5">
                <a:latin typeface="Arial MT"/>
                <a:cs typeface="Arial MT"/>
              </a:rPr>
              <a:t>Guided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carefully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planned,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closely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supervised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targeted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intervention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team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librarians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teachers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build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deep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deep</a:t>
            </a:r>
            <a:r>
              <a:rPr dirty="0" sz="1200">
                <a:latin typeface="Arial MT"/>
                <a:cs typeface="Arial MT"/>
              </a:rPr>
              <a:t> understanding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gradually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towards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 algn="just" marL="18415" marR="5080" indent="36195">
              <a:lnSpc>
                <a:spcPct val="1442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Guided Inquiry is grounded in a constructivist approach to learning, based on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Information </a:t>
            </a:r>
            <a:r>
              <a:rPr dirty="0" sz="1200">
                <a:latin typeface="Arial MT"/>
                <a:cs typeface="Arial MT"/>
              </a:rPr>
              <a:t> Search </a:t>
            </a:r>
            <a:r>
              <a:rPr dirty="0" sz="1200" spc="-5">
                <a:latin typeface="Arial MT"/>
                <a:cs typeface="Arial MT"/>
              </a:rPr>
              <a:t>Process developed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Kuhlthau, for developing students’ competence with </a:t>
            </a:r>
            <a:r>
              <a:rPr dirty="0" sz="1200">
                <a:latin typeface="Arial MT"/>
                <a:cs typeface="Arial MT"/>
              </a:rPr>
              <a:t>learning from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variety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sources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enhancing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understanding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areas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Key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ideas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unguided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inquiry: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80135"/>
            <a:ext cx="6633845" cy="8526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69900" marR="8890" indent="-228600">
              <a:lnSpc>
                <a:spcPct val="141700"/>
              </a:lnSpc>
              <a:spcBef>
                <a:spcPts val="10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Learners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progress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from</a:t>
            </a:r>
            <a:r>
              <a:rPr dirty="0" sz="1200" b="1">
                <a:latin typeface="Arial"/>
                <a:cs typeface="Arial"/>
              </a:rPr>
              <a:t> making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specific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observations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making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inference</a:t>
            </a:r>
            <a:r>
              <a:rPr dirty="0" sz="1200" b="1">
                <a:latin typeface="Arial"/>
                <a:cs typeface="Arial"/>
              </a:rPr>
              <a:t> or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generalizations.</a:t>
            </a:r>
            <a:endParaRPr sz="1200">
              <a:latin typeface="Arial"/>
              <a:cs typeface="Arial"/>
            </a:endParaRPr>
          </a:p>
          <a:p>
            <a:pPr algn="just" marL="469900" marR="8890" indent="-228600">
              <a:lnSpc>
                <a:spcPct val="141700"/>
              </a:lnSpc>
              <a:spcBef>
                <a:spcPts val="7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objective </a:t>
            </a:r>
            <a:r>
              <a:rPr dirty="0" sz="1200" b="1">
                <a:latin typeface="Arial"/>
                <a:cs typeface="Arial"/>
              </a:rPr>
              <a:t>is to </a:t>
            </a:r>
            <a:r>
              <a:rPr dirty="0" sz="1200" spc="-5" b="1">
                <a:latin typeface="Arial"/>
                <a:cs typeface="Arial"/>
              </a:rPr>
              <a:t>learn (or </a:t>
            </a:r>
            <a:r>
              <a:rPr dirty="0" sz="1200" b="1">
                <a:latin typeface="Arial"/>
                <a:cs typeface="Arial"/>
              </a:rPr>
              <a:t>reinforce) </a:t>
            </a:r>
            <a:r>
              <a:rPr dirty="0" sz="1200" spc="-1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processes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examining events, objects, </a:t>
            </a:r>
            <a:r>
              <a:rPr dirty="0" sz="1200" b="1">
                <a:latin typeface="Arial"/>
                <a:cs typeface="Arial"/>
              </a:rPr>
              <a:t> and data and </a:t>
            </a:r>
            <a:r>
              <a:rPr dirty="0" sz="1200" spc="-5" b="1">
                <a:latin typeface="Arial"/>
                <a:cs typeface="Arial"/>
              </a:rPr>
              <a:t>then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arrive</a:t>
            </a:r>
            <a:r>
              <a:rPr dirty="0" sz="1200" b="1">
                <a:latin typeface="Arial"/>
                <a:cs typeface="Arial"/>
              </a:rPr>
              <a:t> at </a:t>
            </a:r>
            <a:r>
              <a:rPr dirty="0" sz="1200" spc="-5" b="1">
                <a:latin typeface="Arial"/>
                <a:cs typeface="Arial"/>
              </a:rPr>
              <a:t>appropriate sets</a:t>
            </a:r>
            <a:r>
              <a:rPr dirty="0" sz="1200" b="1">
                <a:latin typeface="Arial"/>
                <a:cs typeface="Arial"/>
              </a:rPr>
              <a:t> of </a:t>
            </a:r>
            <a:r>
              <a:rPr dirty="0" sz="1200" spc="-5" b="1">
                <a:latin typeface="Arial"/>
                <a:cs typeface="Arial"/>
              </a:rPr>
              <a:t>generalizations.</a:t>
            </a:r>
            <a:endParaRPr sz="1200">
              <a:latin typeface="Arial"/>
              <a:cs typeface="Arial"/>
            </a:endParaRPr>
          </a:p>
          <a:p>
            <a:pPr algn="just" marL="469900" marR="5080" indent="-228600">
              <a:lnSpc>
                <a:spcPct val="143100"/>
              </a:lnSpc>
              <a:spcBef>
                <a:spcPts val="1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>
                <a:latin typeface="Arial MT"/>
                <a:cs typeface="Arial MT"/>
              </a:rPr>
              <a:t>The difference from guided inductive inquiry is that, </a:t>
            </a: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teacher may control </a:t>
            </a:r>
            <a:r>
              <a:rPr dirty="0" sz="1200" b="1">
                <a:latin typeface="Arial"/>
                <a:cs typeface="Arial"/>
              </a:rPr>
              <a:t>only </a:t>
            </a:r>
            <a:r>
              <a:rPr dirty="0" sz="1200" spc="-5" b="1">
                <a:latin typeface="Arial"/>
                <a:cs typeface="Arial"/>
              </a:rPr>
              <a:t>the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materials</a:t>
            </a:r>
            <a:r>
              <a:rPr dirty="0" sz="1200" b="1">
                <a:latin typeface="Arial"/>
                <a:cs typeface="Arial"/>
              </a:rPr>
              <a:t> provided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encourage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student-initiated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materials.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may</a:t>
            </a:r>
            <a:r>
              <a:rPr dirty="0" sz="1200" spc="-5" b="1">
                <a:latin typeface="Arial"/>
                <a:cs typeface="Arial"/>
              </a:rPr>
              <a:t> pose </a:t>
            </a:r>
            <a:r>
              <a:rPr dirty="0" sz="1200" b="1">
                <a:latin typeface="Arial"/>
                <a:cs typeface="Arial"/>
              </a:rPr>
              <a:t> questions,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such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“what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can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you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generalize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from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..?”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“Tell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everything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you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can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 about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X</a:t>
            </a:r>
            <a:r>
              <a:rPr dirty="0" sz="1200" spc="-5" b="1">
                <a:latin typeface="Arial"/>
                <a:cs typeface="Arial"/>
              </a:rPr>
              <a:t> after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examining</a:t>
            </a:r>
            <a:r>
              <a:rPr dirty="0" sz="1200" b="1">
                <a:latin typeface="Arial"/>
                <a:cs typeface="Arial"/>
              </a:rPr>
              <a:t> these…”</a:t>
            </a:r>
            <a:endParaRPr sz="1200">
              <a:latin typeface="Arial"/>
              <a:cs typeface="Arial"/>
            </a:endParaRPr>
          </a:p>
          <a:p>
            <a:pPr algn="just" marL="469900" marR="5715" indent="-228600">
              <a:lnSpc>
                <a:spcPct val="141700"/>
              </a:lnSpc>
              <a:spcBef>
                <a:spcPts val="6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students </a:t>
            </a:r>
            <a:r>
              <a:rPr dirty="0" sz="1200" b="1">
                <a:latin typeface="Arial"/>
                <a:cs typeface="Arial"/>
              </a:rPr>
              <a:t>without </a:t>
            </a:r>
            <a:r>
              <a:rPr dirty="0" sz="1200" spc="-5" b="1">
                <a:latin typeface="Arial"/>
                <a:cs typeface="Arial"/>
              </a:rPr>
              <a:t>further teacher </a:t>
            </a:r>
            <a:r>
              <a:rPr dirty="0" sz="1200" b="1">
                <a:latin typeface="Arial"/>
                <a:cs typeface="Arial"/>
              </a:rPr>
              <a:t>guidance </a:t>
            </a:r>
            <a:r>
              <a:rPr dirty="0" sz="1200" spc="-5" b="1">
                <a:latin typeface="Arial"/>
                <a:cs typeface="Arial"/>
              </a:rPr>
              <a:t>ask all the </a:t>
            </a:r>
            <a:r>
              <a:rPr dirty="0" sz="1200" b="1">
                <a:latin typeface="Arial"/>
                <a:cs typeface="Arial"/>
              </a:rPr>
              <a:t>questions </a:t>
            </a:r>
            <a:r>
              <a:rPr dirty="0" sz="1200" spc="-5" b="1">
                <a:latin typeface="Arial"/>
                <a:cs typeface="Arial"/>
              </a:rPr>
              <a:t>that come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mind.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Unguided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inquiry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and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the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teacher:</a:t>
            </a:r>
            <a:endParaRPr sz="1400">
              <a:latin typeface="Arial"/>
              <a:cs typeface="Arial"/>
            </a:endParaRPr>
          </a:p>
          <a:p>
            <a:pPr algn="just" marL="469900" indent="-229235">
              <a:lnSpc>
                <a:spcPct val="100000"/>
              </a:lnSpc>
              <a:spcBef>
                <a:spcPts val="71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b="1">
                <a:latin typeface="Arial"/>
                <a:cs typeface="Arial"/>
              </a:rPr>
              <a:t> is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clarifier,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guiding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</a:t>
            </a:r>
            <a:r>
              <a:rPr dirty="0" sz="1200" b="1">
                <a:latin typeface="Arial"/>
                <a:cs typeface="Arial"/>
              </a:rPr>
              <a:t> logical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skills.</a:t>
            </a:r>
            <a:endParaRPr sz="1200">
              <a:latin typeface="Arial"/>
              <a:cs typeface="Arial"/>
            </a:endParaRPr>
          </a:p>
          <a:p>
            <a:pPr algn="just" marL="469900" marR="5080" indent="-228600">
              <a:lnSpc>
                <a:spcPct val="142500"/>
              </a:lnSpc>
              <a:spcBef>
                <a:spcPts val="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Students will make generalizations that </a:t>
            </a:r>
            <a:r>
              <a:rPr dirty="0" sz="1200" spc="-10" b="1">
                <a:latin typeface="Arial"/>
                <a:cs typeface="Arial"/>
              </a:rPr>
              <a:t>are </a:t>
            </a:r>
            <a:r>
              <a:rPr dirty="0" sz="1200" spc="-5" b="1">
                <a:latin typeface="Arial"/>
                <a:cs typeface="Arial"/>
              </a:rPr>
              <a:t>too broad, </a:t>
            </a:r>
            <a:r>
              <a:rPr dirty="0" sz="1200" b="1">
                <a:latin typeface="Arial"/>
                <a:cs typeface="Arial"/>
              </a:rPr>
              <a:t>infer single </a:t>
            </a:r>
            <a:r>
              <a:rPr dirty="0" sz="1200" spc="-5" b="1">
                <a:latin typeface="Arial"/>
                <a:cs typeface="Arial"/>
              </a:rPr>
              <a:t>cause –and-effect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relationships where there </a:t>
            </a:r>
            <a:r>
              <a:rPr dirty="0" sz="1200" spc="-10" b="1">
                <a:latin typeface="Arial"/>
                <a:cs typeface="Arial"/>
              </a:rPr>
              <a:t>are </a:t>
            </a:r>
            <a:r>
              <a:rPr dirty="0" sz="1200" spc="-5" b="1">
                <a:latin typeface="Arial"/>
                <a:cs typeface="Arial"/>
              </a:rPr>
              <a:t>several, and perceive cause-and-effect relationships </a:t>
            </a:r>
            <a:r>
              <a:rPr dirty="0" sz="1200" b="1">
                <a:latin typeface="Arial"/>
                <a:cs typeface="Arial"/>
              </a:rPr>
              <a:t> where none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exist.</a:t>
            </a:r>
            <a:endParaRPr sz="1200">
              <a:latin typeface="Arial"/>
              <a:cs typeface="Arial"/>
            </a:endParaRPr>
          </a:p>
          <a:p>
            <a:pPr algn="just" marL="469900" marR="7620" indent="-228600">
              <a:lnSpc>
                <a:spcPct val="142500"/>
              </a:lnSpc>
              <a:spcBef>
                <a:spcPts val="51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If </a:t>
            </a:r>
            <a:r>
              <a:rPr dirty="0" sz="1200" spc="-5" b="1">
                <a:latin typeface="Arial"/>
                <a:cs typeface="Arial"/>
              </a:rPr>
              <a:t>errors exist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the student’s </a:t>
            </a:r>
            <a:r>
              <a:rPr dirty="0" sz="1200" b="1">
                <a:latin typeface="Arial"/>
                <a:cs typeface="Arial"/>
              </a:rPr>
              <a:t>logics or </a:t>
            </a:r>
            <a:r>
              <a:rPr dirty="0" sz="1200" spc="-5" b="1">
                <a:latin typeface="Arial"/>
                <a:cs typeface="Arial"/>
              </a:rPr>
              <a:t>inferences, teacher needs </a:t>
            </a:r>
            <a:r>
              <a:rPr dirty="0" sz="1200" b="1">
                <a:latin typeface="Arial"/>
                <a:cs typeface="Arial"/>
              </a:rPr>
              <a:t>to point </a:t>
            </a:r>
            <a:r>
              <a:rPr dirty="0" sz="1200" spc="-5" b="1">
                <a:latin typeface="Arial"/>
                <a:cs typeface="Arial"/>
              </a:rPr>
              <a:t>them </a:t>
            </a:r>
            <a:r>
              <a:rPr dirty="0" sz="1200" b="1">
                <a:latin typeface="Arial"/>
                <a:cs typeface="Arial"/>
              </a:rPr>
              <a:t>out.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But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should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tell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5" b="1">
                <a:latin typeface="Arial"/>
                <a:cs typeface="Arial"/>
              </a:rPr>
              <a:t>what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correct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inference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is.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there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much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less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direct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probing</a:t>
            </a:r>
            <a:r>
              <a:rPr dirty="0" sz="1200" b="1">
                <a:latin typeface="Arial"/>
                <a:cs typeface="Arial"/>
              </a:rPr>
              <a:t> in </a:t>
            </a:r>
            <a:r>
              <a:rPr dirty="0" sz="1200" spc="-5" b="1">
                <a:latin typeface="Arial"/>
                <a:cs typeface="Arial"/>
              </a:rPr>
              <a:t>unguided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b="1">
                <a:latin typeface="Arial"/>
                <a:cs typeface="Arial"/>
              </a:rPr>
              <a:t> inquiry.</a:t>
            </a:r>
            <a:endParaRPr sz="1200">
              <a:latin typeface="Arial"/>
              <a:cs typeface="Arial"/>
            </a:endParaRPr>
          </a:p>
          <a:p>
            <a:pPr algn="just" marL="469900" marR="5080" indent="-228600">
              <a:lnSpc>
                <a:spcPct val="142500"/>
              </a:lnSpc>
              <a:spcBef>
                <a:spcPts val="3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Under </a:t>
            </a:r>
            <a:r>
              <a:rPr dirty="0" sz="1200" b="1">
                <a:latin typeface="Arial"/>
                <a:cs typeface="Arial"/>
              </a:rPr>
              <a:t>unguided inductive </a:t>
            </a:r>
            <a:r>
              <a:rPr dirty="0" sz="1200" spc="-5" b="1">
                <a:latin typeface="Arial"/>
                <a:cs typeface="Arial"/>
              </a:rPr>
              <a:t>inquiry, </a:t>
            </a:r>
            <a:r>
              <a:rPr dirty="0" sz="1200" b="1">
                <a:latin typeface="Arial"/>
                <a:cs typeface="Arial"/>
              </a:rPr>
              <a:t>during </a:t>
            </a:r>
            <a:r>
              <a:rPr dirty="0" sz="1200" spc="-5" b="1">
                <a:latin typeface="Arial"/>
                <a:cs typeface="Arial"/>
              </a:rPr>
              <a:t>initial stage teacher should ask students </a:t>
            </a:r>
            <a:r>
              <a:rPr dirty="0" sz="1200" spc="-10" b="1">
                <a:latin typeface="Arial"/>
                <a:cs typeface="Arial"/>
              </a:rPr>
              <a:t>to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work </a:t>
            </a:r>
            <a:r>
              <a:rPr dirty="0" sz="1200" spc="-5" b="1">
                <a:latin typeface="Arial"/>
                <a:cs typeface="Arial"/>
              </a:rPr>
              <a:t>alone. When students </a:t>
            </a:r>
            <a:r>
              <a:rPr dirty="0" sz="1200" b="1">
                <a:latin typeface="Arial"/>
                <a:cs typeface="Arial"/>
              </a:rPr>
              <a:t>work </a:t>
            </a:r>
            <a:r>
              <a:rPr dirty="0" sz="1200" spc="-5" b="1">
                <a:latin typeface="Arial"/>
                <a:cs typeface="Arial"/>
              </a:rPr>
              <a:t>alone, they </a:t>
            </a:r>
            <a:r>
              <a:rPr dirty="0" sz="1200" b="1">
                <a:latin typeface="Arial"/>
                <a:cs typeface="Arial"/>
              </a:rPr>
              <a:t>tend to do most of </a:t>
            </a:r>
            <a:r>
              <a:rPr dirty="0" sz="1200" spc="-5" b="1">
                <a:latin typeface="Arial"/>
                <a:cs typeface="Arial"/>
              </a:rPr>
              <a:t>the </a:t>
            </a:r>
            <a:r>
              <a:rPr dirty="0" sz="1200" b="1">
                <a:latin typeface="Arial"/>
                <a:cs typeface="Arial"/>
              </a:rPr>
              <a:t>work </a:t>
            </a:r>
            <a:r>
              <a:rPr dirty="0" sz="1200" spc="-5" b="1">
                <a:latin typeface="Arial"/>
                <a:cs typeface="Arial"/>
              </a:rPr>
              <a:t>themselves.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If </a:t>
            </a:r>
            <a:r>
              <a:rPr dirty="0" sz="1200" spc="-5" b="1">
                <a:latin typeface="Arial"/>
                <a:cs typeface="Arial"/>
              </a:rPr>
              <a:t>at </a:t>
            </a:r>
            <a:r>
              <a:rPr dirty="0" sz="1200" b="1">
                <a:latin typeface="Arial"/>
                <a:cs typeface="Arial"/>
              </a:rPr>
              <a:t>initial </a:t>
            </a:r>
            <a:r>
              <a:rPr dirty="0" sz="1200" spc="-5" b="1">
                <a:latin typeface="Arial"/>
                <a:cs typeface="Arial"/>
              </a:rPr>
              <a:t>stage, Teacher divides the students </a:t>
            </a:r>
            <a:r>
              <a:rPr dirty="0" sz="1200" b="1">
                <a:latin typeface="Arial"/>
                <a:cs typeface="Arial"/>
              </a:rPr>
              <a:t>in pair or </a:t>
            </a:r>
            <a:r>
              <a:rPr dirty="0" sz="1200" spc="-5" b="1">
                <a:latin typeface="Arial"/>
                <a:cs typeface="Arial"/>
              </a:rPr>
              <a:t>groups, </a:t>
            </a:r>
            <a:r>
              <a:rPr dirty="0" sz="1200" b="1">
                <a:latin typeface="Arial"/>
                <a:cs typeface="Arial"/>
              </a:rPr>
              <a:t>one in </a:t>
            </a:r>
            <a:r>
              <a:rPr dirty="0" sz="1200" spc="-5" b="1">
                <a:latin typeface="Arial"/>
                <a:cs typeface="Arial"/>
              </a:rPr>
              <a:t>the </a:t>
            </a:r>
            <a:r>
              <a:rPr dirty="0" sz="1200" b="1">
                <a:latin typeface="Arial"/>
                <a:cs typeface="Arial"/>
              </a:rPr>
              <a:t>group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usually </a:t>
            </a:r>
            <a:r>
              <a:rPr dirty="0" sz="1200" spc="-5" b="1">
                <a:latin typeface="Arial"/>
                <a:cs typeface="Arial"/>
              </a:rPr>
              <a:t>takes the leadership role </a:t>
            </a:r>
            <a:r>
              <a:rPr dirty="0" sz="1200" b="1">
                <a:latin typeface="Arial"/>
                <a:cs typeface="Arial"/>
              </a:rPr>
              <a:t>and dominates </a:t>
            </a:r>
            <a:r>
              <a:rPr dirty="0" sz="1200" spc="-5" b="1">
                <a:latin typeface="Arial"/>
                <a:cs typeface="Arial"/>
              </a:rPr>
              <a:t>the group’s </a:t>
            </a:r>
            <a:r>
              <a:rPr dirty="0" sz="1200" b="1">
                <a:latin typeface="Arial"/>
                <a:cs typeface="Arial"/>
              </a:rPr>
              <a:t>thinking, so </a:t>
            </a:r>
            <a:r>
              <a:rPr dirty="0" sz="1200" spc="-5" b="1">
                <a:latin typeface="Arial"/>
                <a:cs typeface="Arial"/>
              </a:rPr>
              <a:t>that there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really</a:t>
            </a:r>
            <a:r>
              <a:rPr dirty="0" sz="1200" b="1">
                <a:latin typeface="Arial"/>
                <a:cs typeface="Arial"/>
              </a:rPr>
              <a:t> only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one </a:t>
            </a:r>
            <a:r>
              <a:rPr dirty="0" sz="1200" spc="-5" b="1">
                <a:latin typeface="Arial"/>
                <a:cs typeface="Arial"/>
              </a:rPr>
              <a:t>participant </a:t>
            </a:r>
            <a:r>
              <a:rPr dirty="0" sz="1200" b="1">
                <a:latin typeface="Arial"/>
                <a:cs typeface="Arial"/>
              </a:rPr>
              <a:t>and two </a:t>
            </a:r>
            <a:r>
              <a:rPr dirty="0" sz="1200" spc="-5" b="1">
                <a:latin typeface="Arial"/>
                <a:cs typeface="Arial"/>
              </a:rPr>
              <a:t>observers.</a:t>
            </a:r>
            <a:endParaRPr sz="1200">
              <a:latin typeface="Arial"/>
              <a:cs typeface="Arial"/>
            </a:endParaRPr>
          </a:p>
          <a:p>
            <a:pPr marL="469900" marR="9525" indent="-228600">
              <a:lnSpc>
                <a:spcPct val="142500"/>
              </a:lnSpc>
              <a:spcBef>
                <a:spcPts val="6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When</a:t>
            </a:r>
            <a:r>
              <a:rPr dirty="0" sz="1200" spc="2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2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demonstrate</a:t>
            </a:r>
            <a:r>
              <a:rPr dirty="0" sz="1200" spc="2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2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necessary</a:t>
            </a:r>
            <a:r>
              <a:rPr dirty="0" sz="1200" spc="2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aptitude</a:t>
            </a:r>
            <a:r>
              <a:rPr dirty="0" sz="1200" spc="2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2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use</a:t>
            </a:r>
            <a:r>
              <a:rPr dirty="0" sz="1200" spc="25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2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inductive</a:t>
            </a:r>
            <a:r>
              <a:rPr dirty="0" sz="1200" spc="2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successfully </a:t>
            </a:r>
            <a:r>
              <a:rPr dirty="0" sz="1200" b="1">
                <a:latin typeface="Arial"/>
                <a:cs typeface="Arial"/>
              </a:rPr>
              <a:t>in an unguided fashion, </a:t>
            </a:r>
            <a:r>
              <a:rPr dirty="0" sz="1200" spc="-5" b="1">
                <a:latin typeface="Arial"/>
                <a:cs typeface="Arial"/>
              </a:rPr>
              <a:t>teacher </a:t>
            </a:r>
            <a:r>
              <a:rPr dirty="0" sz="1200" b="1">
                <a:latin typeface="Arial"/>
                <a:cs typeface="Arial"/>
              </a:rPr>
              <a:t>can </a:t>
            </a:r>
            <a:r>
              <a:rPr dirty="0" sz="1200" spc="-5" b="1">
                <a:latin typeface="Arial"/>
                <a:cs typeface="Arial"/>
              </a:rPr>
              <a:t>assign small groups </a:t>
            </a:r>
            <a:r>
              <a:rPr dirty="0" sz="1200" b="1">
                <a:latin typeface="Arial"/>
                <a:cs typeface="Arial"/>
              </a:rPr>
              <a:t>to work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together.</a:t>
            </a:r>
            <a:endParaRPr sz="1200">
              <a:latin typeface="Arial"/>
              <a:cs typeface="Arial"/>
            </a:endParaRPr>
          </a:p>
          <a:p>
            <a:pPr algn="just" marL="18415" marR="8890" indent="-6350">
              <a:lnSpc>
                <a:spcPct val="144200"/>
              </a:lnSpc>
              <a:spcBef>
                <a:spcPts val="960"/>
              </a:spcBef>
            </a:pPr>
            <a:r>
              <a:rPr dirty="0" sz="1200" spc="-5">
                <a:latin typeface="Arial MT"/>
                <a:cs typeface="Arial MT"/>
              </a:rPr>
              <a:t>Unguided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teacher’s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role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passive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sense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not the active participant in the inquiry process. </a:t>
            </a:r>
            <a:r>
              <a:rPr dirty="0" sz="1200">
                <a:latin typeface="Arial MT"/>
                <a:cs typeface="Arial MT"/>
              </a:rPr>
              <a:t>But to </a:t>
            </a:r>
            <a:r>
              <a:rPr dirty="0" sz="1200" spc="-5">
                <a:latin typeface="Arial MT"/>
                <a:cs typeface="Arial MT"/>
              </a:rPr>
              <a:t>make students actively participate in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process, </a:t>
            </a:r>
            <a:r>
              <a:rPr dirty="0" sz="1200" spc="-5">
                <a:latin typeface="Arial MT"/>
                <a:cs typeface="Arial MT"/>
              </a:rPr>
              <a:t>teacher needs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form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 spc="5">
                <a:latin typeface="Arial MT"/>
                <a:cs typeface="Arial MT"/>
              </a:rPr>
              <a:t>prompter.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students do not </a:t>
            </a:r>
            <a:r>
              <a:rPr dirty="0" sz="1200">
                <a:latin typeface="Arial MT"/>
                <a:cs typeface="Arial MT"/>
              </a:rPr>
              <a:t>tell </a:t>
            </a:r>
            <a:r>
              <a:rPr dirty="0" sz="1200" spc="-5">
                <a:latin typeface="Arial MT"/>
                <a:cs typeface="Arial MT"/>
              </a:rPr>
              <a:t>the correct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inference, then teacher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>
                <a:latin typeface="Arial MT"/>
                <a:cs typeface="Arial MT"/>
              </a:rPr>
              <a:t>tell </a:t>
            </a:r>
            <a:r>
              <a:rPr dirty="0" sz="1200" spc="-5">
                <a:latin typeface="Arial MT"/>
                <a:cs typeface="Arial MT"/>
              </a:rPr>
              <a:t>them the correct inference. </a:t>
            </a:r>
            <a:r>
              <a:rPr dirty="0" sz="1200" spc="-1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are there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just guide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9450070"/>
            <a:ext cx="6979920" cy="39370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33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“Scientific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Method”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10085069"/>
            <a:ext cx="2640330" cy="1310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850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Deductive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8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Scientific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method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Brief history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scientific method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85"/>
              </a:spcBef>
              <a:buChar char="•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Variables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27495" cy="819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inductive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move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specific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Deductive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just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opposite.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talk</a:t>
            </a:r>
            <a:r>
              <a:rPr dirty="0" sz="1200" spc="-5">
                <a:latin typeface="Arial MT"/>
                <a:cs typeface="Arial MT"/>
              </a:rPr>
              <a:t> about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deduce.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60"/>
              </a:spcBef>
            </a:pPr>
            <a:r>
              <a:rPr dirty="0" sz="1200" b="1">
                <a:latin typeface="Arial"/>
                <a:cs typeface="Arial"/>
              </a:rPr>
              <a:t>Deduction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4463" y="1470913"/>
            <a:ext cx="6673850" cy="19685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1390"/>
              </a:lnSpc>
            </a:pPr>
            <a:r>
              <a:rPr dirty="0" sz="1200" spc="-5" b="1">
                <a:latin typeface="Arial"/>
                <a:cs typeface="Arial"/>
              </a:rPr>
              <a:t>Theory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4473066"/>
            <a:ext cx="6627495" cy="1080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statement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generalization.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Generalization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consists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two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concepts.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Confirmation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stage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complication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deduction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Induction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8297037"/>
            <a:ext cx="6634480" cy="344614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35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5">
                <a:latin typeface="Arial MT"/>
                <a:cs typeface="Arial MT"/>
              </a:rPr>
              <a:t> mathematics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mostly</a:t>
            </a:r>
            <a:r>
              <a:rPr dirty="0" sz="1200" spc="-5">
                <a:latin typeface="Arial MT"/>
                <a:cs typeface="Arial MT"/>
              </a:rPr>
              <a:t> deduction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being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used.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35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scientific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</a:t>
            </a:r>
            <a:endParaRPr sz="1200">
              <a:latin typeface="Arial"/>
              <a:cs typeface="Arial"/>
            </a:endParaRPr>
          </a:p>
          <a:p>
            <a:pPr algn="just" marL="18415" marR="12700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Science </a:t>
            </a:r>
            <a:r>
              <a:rPr dirty="0" sz="1200" spc="-5">
                <a:latin typeface="Arial MT"/>
                <a:cs typeface="Arial MT"/>
              </a:rPr>
              <a:t>is an attitude basically.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method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defined on skill </a:t>
            </a:r>
            <a:r>
              <a:rPr dirty="0" sz="1200">
                <a:latin typeface="Arial MT"/>
                <a:cs typeface="Arial MT"/>
              </a:rPr>
              <a:t>level. It </a:t>
            </a:r>
            <a:r>
              <a:rPr dirty="0" sz="1200" spc="-5">
                <a:latin typeface="Arial MT"/>
                <a:cs typeface="Arial MT"/>
              </a:rPr>
              <a:t>is a step by step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towards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inquiry.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often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say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research.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</a:t>
            </a:r>
            <a:endParaRPr sz="12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455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scientific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tool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helps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scientists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5" b="1">
                <a:latin typeface="Arial"/>
                <a:cs typeface="Arial"/>
              </a:rPr>
              <a:t>the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rest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solve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problems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640"/>
              </a:spcBef>
            </a:pPr>
            <a:r>
              <a:rPr dirty="0" sz="1200" b="1">
                <a:latin typeface="Arial"/>
                <a:cs typeface="Arial"/>
              </a:rPr>
              <a:t>determine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answers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to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questions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logical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format.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History</a:t>
            </a:r>
            <a:r>
              <a:rPr dirty="0" sz="1200" b="1">
                <a:latin typeface="Arial"/>
                <a:cs typeface="Arial"/>
              </a:rPr>
              <a:t> of </a:t>
            </a:r>
            <a:r>
              <a:rPr dirty="0" sz="1200" spc="-5" b="1">
                <a:latin typeface="Arial"/>
                <a:cs typeface="Arial"/>
              </a:rPr>
              <a:t>scientific method.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55"/>
              </a:spcBef>
            </a:pP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method is not invented by someone. Work on scientific method was started by Aristotle to </a:t>
            </a:r>
            <a:r>
              <a:rPr dirty="0" sz="1200">
                <a:latin typeface="Arial MT"/>
                <a:cs typeface="Arial MT"/>
              </a:rPr>
              <a:t> Galileo. 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said </a:t>
            </a:r>
            <a:r>
              <a:rPr dirty="0" sz="1200" spc="-5">
                <a:latin typeface="Arial MT"/>
                <a:cs typeface="Arial MT"/>
              </a:rPr>
              <a:t>that Galileo is </a:t>
            </a:r>
            <a:r>
              <a:rPr dirty="0" sz="1200">
                <a:latin typeface="Arial MT"/>
                <a:cs typeface="Arial MT"/>
              </a:rPr>
              <a:t>the father of scientific </a:t>
            </a:r>
            <a:r>
              <a:rPr dirty="0" sz="1200" spc="-5">
                <a:latin typeface="Arial MT"/>
                <a:cs typeface="Arial MT"/>
              </a:rPr>
              <a:t>method.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Aristotle talked about logics and 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 one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pioneers.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 promoted deduction. </a:t>
            </a:r>
            <a:r>
              <a:rPr dirty="0" sz="1200">
                <a:latin typeface="Arial MT"/>
                <a:cs typeface="Arial MT"/>
              </a:rPr>
              <a:t>Scientific </a:t>
            </a:r>
            <a:r>
              <a:rPr dirty="0" sz="1200" spc="-5">
                <a:latin typeface="Arial MT"/>
                <a:cs typeface="Arial MT"/>
              </a:rPr>
              <a:t>methods were basically developed. </a:t>
            </a:r>
            <a:r>
              <a:rPr dirty="0" sz="1200">
                <a:latin typeface="Arial MT"/>
                <a:cs typeface="Arial MT"/>
              </a:rPr>
              <a:t> Greeks,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Muslim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scientists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were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Galileo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contributed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much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scientific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method.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modern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culture,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98520" y="1670050"/>
            <a:ext cx="290830" cy="411480"/>
            <a:chOff x="3398520" y="1670050"/>
            <a:chExt cx="290830" cy="411480"/>
          </a:xfrm>
        </p:grpSpPr>
        <p:sp>
          <p:nvSpPr>
            <p:cNvPr id="7" name="object 7"/>
            <p:cNvSpPr/>
            <p:nvPr/>
          </p:nvSpPr>
          <p:spPr>
            <a:xfrm>
              <a:off x="3429000" y="1682241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172085" y="0"/>
                  </a:moveTo>
                  <a:lnTo>
                    <a:pt x="57785" y="0"/>
                  </a:lnTo>
                  <a:lnTo>
                    <a:pt x="57785" y="266700"/>
                  </a:lnTo>
                  <a:lnTo>
                    <a:pt x="0" y="266700"/>
                  </a:lnTo>
                  <a:lnTo>
                    <a:pt x="114173" y="381000"/>
                  </a:lnTo>
                  <a:lnTo>
                    <a:pt x="228346" y="266700"/>
                  </a:lnTo>
                  <a:lnTo>
                    <a:pt x="172085" y="266700"/>
                  </a:lnTo>
                  <a:lnTo>
                    <a:pt x="17208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398520" y="1670049"/>
              <a:ext cx="290830" cy="411480"/>
            </a:xfrm>
            <a:custGeom>
              <a:avLst/>
              <a:gdLst/>
              <a:ahLst/>
              <a:cxnLst/>
              <a:rect l="l" t="t" r="r" b="b"/>
              <a:pathLst>
                <a:path w="290829" h="411480">
                  <a:moveTo>
                    <a:pt x="290830" y="266700"/>
                  </a:moveTo>
                  <a:lnTo>
                    <a:pt x="228346" y="266700"/>
                  </a:lnTo>
                  <a:lnTo>
                    <a:pt x="228346" y="292608"/>
                  </a:lnTo>
                  <a:lnTo>
                    <a:pt x="145415" y="375666"/>
                  </a:lnTo>
                  <a:lnTo>
                    <a:pt x="62484" y="292608"/>
                  </a:lnTo>
                  <a:lnTo>
                    <a:pt x="100457" y="292608"/>
                  </a:lnTo>
                  <a:lnTo>
                    <a:pt x="100457" y="25908"/>
                  </a:lnTo>
                  <a:lnTo>
                    <a:pt x="145415" y="25908"/>
                  </a:lnTo>
                  <a:lnTo>
                    <a:pt x="190373" y="25908"/>
                  </a:lnTo>
                  <a:lnTo>
                    <a:pt x="190373" y="292608"/>
                  </a:lnTo>
                  <a:lnTo>
                    <a:pt x="228346" y="292608"/>
                  </a:lnTo>
                  <a:lnTo>
                    <a:pt x="228346" y="266700"/>
                  </a:lnTo>
                  <a:lnTo>
                    <a:pt x="214757" y="266700"/>
                  </a:lnTo>
                  <a:lnTo>
                    <a:pt x="214757" y="0"/>
                  </a:lnTo>
                  <a:lnTo>
                    <a:pt x="145415" y="0"/>
                  </a:lnTo>
                  <a:lnTo>
                    <a:pt x="76073" y="0"/>
                  </a:lnTo>
                  <a:lnTo>
                    <a:pt x="76073" y="266700"/>
                  </a:lnTo>
                  <a:lnTo>
                    <a:pt x="0" y="266700"/>
                  </a:lnTo>
                  <a:lnTo>
                    <a:pt x="144653" y="411480"/>
                  </a:lnTo>
                  <a:lnTo>
                    <a:pt x="145415" y="410718"/>
                  </a:lnTo>
                  <a:lnTo>
                    <a:pt x="290830" y="266700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73100" y="2166873"/>
            <a:ext cx="748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H</a:t>
            </a:r>
            <a:r>
              <a:rPr dirty="0" sz="1200" spc="-5" b="1">
                <a:latin typeface="Times New Roman"/>
                <a:cs typeface="Times New Roman"/>
              </a:rPr>
              <a:t>y</a:t>
            </a:r>
            <a:r>
              <a:rPr dirty="0" sz="1200" b="1">
                <a:latin typeface="Times New Roman"/>
                <a:cs typeface="Times New Roman"/>
              </a:rPr>
              <a:t>p</a:t>
            </a:r>
            <a:r>
              <a:rPr dirty="0" sz="1200" spc="-5" b="1">
                <a:latin typeface="Times New Roman"/>
                <a:cs typeface="Times New Roman"/>
              </a:rPr>
              <a:t>othesi</a:t>
            </a:r>
            <a:r>
              <a:rPr dirty="0" sz="1200" spc="-5" b="1">
                <a:latin typeface="Times New Roman"/>
                <a:cs typeface="Times New Roman"/>
              </a:rPr>
              <a:t>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3100" y="3753053"/>
            <a:ext cx="9169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Con</a:t>
            </a:r>
            <a:r>
              <a:rPr dirty="0" sz="1200" spc="-5" b="1">
                <a:latin typeface="Times New Roman"/>
                <a:cs typeface="Times New Roman"/>
              </a:rPr>
              <a:t>f</a:t>
            </a:r>
            <a:r>
              <a:rPr dirty="0" sz="1200" b="1">
                <a:latin typeface="Times New Roman"/>
                <a:cs typeface="Times New Roman"/>
              </a:rPr>
              <a:t>ir</a:t>
            </a:r>
            <a:r>
              <a:rPr dirty="0" sz="1200" spc="5" b="1">
                <a:latin typeface="Times New Roman"/>
                <a:cs typeface="Times New Roman"/>
              </a:rPr>
              <a:t>m</a:t>
            </a:r>
            <a:r>
              <a:rPr dirty="0" sz="1200" b="1">
                <a:latin typeface="Times New Roman"/>
                <a:cs typeface="Times New Roman"/>
              </a:rPr>
              <a:t>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8616" y="2934970"/>
            <a:ext cx="6080760" cy="26987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229"/>
              </a:spcBef>
            </a:pPr>
            <a:r>
              <a:rPr dirty="0" sz="1200" b="1">
                <a:latin typeface="Times New Roman"/>
                <a:cs typeface="Times New Roman"/>
              </a:rPr>
              <a:t>Experimentation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Times New Roman"/>
                <a:cs typeface="Times New Roman"/>
              </a:rPr>
              <a:t>Observation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51021" y="2520569"/>
            <a:ext cx="289560" cy="411480"/>
            <a:chOff x="3351021" y="2520569"/>
            <a:chExt cx="289560" cy="411480"/>
          </a:xfrm>
        </p:grpSpPr>
        <p:sp>
          <p:nvSpPr>
            <p:cNvPr id="13" name="object 13"/>
            <p:cNvSpPr/>
            <p:nvPr/>
          </p:nvSpPr>
          <p:spPr>
            <a:xfrm>
              <a:off x="3381501" y="2534285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172212" y="0"/>
                  </a:moveTo>
                  <a:lnTo>
                    <a:pt x="57912" y="0"/>
                  </a:lnTo>
                  <a:lnTo>
                    <a:pt x="57912" y="266700"/>
                  </a:lnTo>
                  <a:lnTo>
                    <a:pt x="0" y="266700"/>
                  </a:lnTo>
                  <a:lnTo>
                    <a:pt x="114300" y="380873"/>
                  </a:lnTo>
                  <a:lnTo>
                    <a:pt x="228600" y="266700"/>
                  </a:lnTo>
                  <a:lnTo>
                    <a:pt x="172212" y="266700"/>
                  </a:lnTo>
                  <a:lnTo>
                    <a:pt x="17221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351021" y="2520568"/>
              <a:ext cx="289560" cy="411480"/>
            </a:xfrm>
            <a:custGeom>
              <a:avLst/>
              <a:gdLst/>
              <a:ahLst/>
              <a:cxnLst/>
              <a:rect l="l" t="t" r="r" b="b"/>
              <a:pathLst>
                <a:path w="289560" h="411480">
                  <a:moveTo>
                    <a:pt x="289560" y="266700"/>
                  </a:moveTo>
                  <a:lnTo>
                    <a:pt x="228600" y="266700"/>
                  </a:lnTo>
                  <a:lnTo>
                    <a:pt x="228600" y="292608"/>
                  </a:lnTo>
                  <a:lnTo>
                    <a:pt x="144780" y="376301"/>
                  </a:lnTo>
                  <a:lnTo>
                    <a:pt x="60960" y="292608"/>
                  </a:lnTo>
                  <a:lnTo>
                    <a:pt x="100584" y="292608"/>
                  </a:lnTo>
                  <a:lnTo>
                    <a:pt x="100584" y="25908"/>
                  </a:lnTo>
                  <a:lnTo>
                    <a:pt x="144780" y="25908"/>
                  </a:lnTo>
                  <a:lnTo>
                    <a:pt x="188976" y="25908"/>
                  </a:lnTo>
                  <a:lnTo>
                    <a:pt x="188976" y="292608"/>
                  </a:lnTo>
                  <a:lnTo>
                    <a:pt x="228600" y="292608"/>
                  </a:lnTo>
                  <a:lnTo>
                    <a:pt x="228600" y="266700"/>
                  </a:lnTo>
                  <a:lnTo>
                    <a:pt x="214884" y="266700"/>
                  </a:lnTo>
                  <a:lnTo>
                    <a:pt x="214884" y="0"/>
                  </a:lnTo>
                  <a:lnTo>
                    <a:pt x="144780" y="0"/>
                  </a:lnTo>
                  <a:lnTo>
                    <a:pt x="74676" y="0"/>
                  </a:lnTo>
                  <a:lnTo>
                    <a:pt x="74676" y="266700"/>
                  </a:lnTo>
                  <a:lnTo>
                    <a:pt x="0" y="266700"/>
                  </a:lnTo>
                  <a:lnTo>
                    <a:pt x="144780" y="411353"/>
                  </a:lnTo>
                  <a:lnTo>
                    <a:pt x="289560" y="266700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3398265" y="3270250"/>
            <a:ext cx="291465" cy="411480"/>
            <a:chOff x="3398265" y="3270250"/>
            <a:chExt cx="291465" cy="411480"/>
          </a:xfrm>
        </p:grpSpPr>
        <p:sp>
          <p:nvSpPr>
            <p:cNvPr id="16" name="object 16"/>
            <p:cNvSpPr/>
            <p:nvPr/>
          </p:nvSpPr>
          <p:spPr>
            <a:xfrm>
              <a:off x="3428745" y="3282441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172212" y="0"/>
                  </a:moveTo>
                  <a:lnTo>
                    <a:pt x="57912" y="0"/>
                  </a:lnTo>
                  <a:lnTo>
                    <a:pt x="57912" y="266700"/>
                  </a:lnTo>
                  <a:lnTo>
                    <a:pt x="0" y="266700"/>
                  </a:lnTo>
                  <a:lnTo>
                    <a:pt x="114300" y="381000"/>
                  </a:lnTo>
                  <a:lnTo>
                    <a:pt x="228600" y="266700"/>
                  </a:lnTo>
                  <a:lnTo>
                    <a:pt x="172212" y="266700"/>
                  </a:lnTo>
                  <a:lnTo>
                    <a:pt x="17221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398265" y="3270249"/>
              <a:ext cx="291465" cy="411480"/>
            </a:xfrm>
            <a:custGeom>
              <a:avLst/>
              <a:gdLst/>
              <a:ahLst/>
              <a:cxnLst/>
              <a:rect l="l" t="t" r="r" b="b"/>
              <a:pathLst>
                <a:path w="291464" h="411479">
                  <a:moveTo>
                    <a:pt x="290957" y="266700"/>
                  </a:moveTo>
                  <a:lnTo>
                    <a:pt x="228600" y="266700"/>
                  </a:lnTo>
                  <a:lnTo>
                    <a:pt x="228600" y="292608"/>
                  </a:lnTo>
                  <a:lnTo>
                    <a:pt x="145542" y="375666"/>
                  </a:lnTo>
                  <a:lnTo>
                    <a:pt x="62484" y="292608"/>
                  </a:lnTo>
                  <a:lnTo>
                    <a:pt x="100584" y="292608"/>
                  </a:lnTo>
                  <a:lnTo>
                    <a:pt x="100584" y="25908"/>
                  </a:lnTo>
                  <a:lnTo>
                    <a:pt x="145542" y="25908"/>
                  </a:lnTo>
                  <a:lnTo>
                    <a:pt x="190500" y="25908"/>
                  </a:lnTo>
                  <a:lnTo>
                    <a:pt x="190500" y="292608"/>
                  </a:lnTo>
                  <a:lnTo>
                    <a:pt x="228600" y="292608"/>
                  </a:lnTo>
                  <a:lnTo>
                    <a:pt x="228600" y="266700"/>
                  </a:lnTo>
                  <a:lnTo>
                    <a:pt x="214884" y="266700"/>
                  </a:lnTo>
                  <a:lnTo>
                    <a:pt x="214884" y="0"/>
                  </a:lnTo>
                  <a:lnTo>
                    <a:pt x="145542" y="0"/>
                  </a:lnTo>
                  <a:lnTo>
                    <a:pt x="76200" y="0"/>
                  </a:lnTo>
                  <a:lnTo>
                    <a:pt x="76200" y="266700"/>
                  </a:lnTo>
                  <a:lnTo>
                    <a:pt x="0" y="266700"/>
                  </a:lnTo>
                  <a:lnTo>
                    <a:pt x="144780" y="411480"/>
                  </a:lnTo>
                  <a:lnTo>
                    <a:pt x="145542" y="410718"/>
                  </a:lnTo>
                  <a:lnTo>
                    <a:pt x="290957" y="266700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18616" y="5820028"/>
            <a:ext cx="6080760" cy="26987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229"/>
              </a:spcBef>
            </a:pPr>
            <a:r>
              <a:rPr dirty="0" sz="1200" b="1">
                <a:latin typeface="Times New Roman"/>
                <a:cs typeface="Times New Roman"/>
              </a:rPr>
              <a:t>Observation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8616" y="6482969"/>
            <a:ext cx="6080760" cy="26860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229"/>
              </a:spcBef>
            </a:pPr>
            <a:r>
              <a:rPr dirty="0" sz="1200" spc="-5" b="1">
                <a:latin typeface="Times New Roman"/>
                <a:cs typeface="Times New Roman"/>
              </a:rPr>
              <a:t>Pattern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8616" y="7185532"/>
            <a:ext cx="6080760" cy="26987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2794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220"/>
              </a:spcBef>
            </a:pPr>
            <a:r>
              <a:rPr dirty="0" sz="1200" spc="-5" b="1">
                <a:latin typeface="Times New Roman"/>
                <a:cs typeface="Times New Roman"/>
              </a:rPr>
              <a:t>Tentative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Hypothesis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8616" y="7819390"/>
            <a:ext cx="6080760" cy="26987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29845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235"/>
              </a:spcBef>
            </a:pPr>
            <a:r>
              <a:rPr dirty="0" sz="1200" b="1">
                <a:latin typeface="Times New Roman"/>
                <a:cs typeface="Times New Roman"/>
              </a:rPr>
              <a:t>Theory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485134" y="6062345"/>
            <a:ext cx="289560" cy="411480"/>
            <a:chOff x="3485134" y="6062345"/>
            <a:chExt cx="289560" cy="411480"/>
          </a:xfrm>
        </p:grpSpPr>
        <p:sp>
          <p:nvSpPr>
            <p:cNvPr id="23" name="object 23"/>
            <p:cNvSpPr/>
            <p:nvPr/>
          </p:nvSpPr>
          <p:spPr>
            <a:xfrm>
              <a:off x="3515614" y="6074537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170561" y="0"/>
                  </a:moveTo>
                  <a:lnTo>
                    <a:pt x="56387" y="0"/>
                  </a:lnTo>
                  <a:lnTo>
                    <a:pt x="56387" y="266700"/>
                  </a:lnTo>
                  <a:lnTo>
                    <a:pt x="0" y="266700"/>
                  </a:lnTo>
                  <a:lnTo>
                    <a:pt x="114300" y="381000"/>
                  </a:lnTo>
                  <a:lnTo>
                    <a:pt x="228473" y="266700"/>
                  </a:lnTo>
                  <a:lnTo>
                    <a:pt x="170561" y="266700"/>
                  </a:lnTo>
                  <a:lnTo>
                    <a:pt x="17056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485134" y="6062344"/>
              <a:ext cx="289560" cy="411480"/>
            </a:xfrm>
            <a:custGeom>
              <a:avLst/>
              <a:gdLst/>
              <a:ahLst/>
              <a:cxnLst/>
              <a:rect l="l" t="t" r="r" b="b"/>
              <a:pathLst>
                <a:path w="289560" h="411479">
                  <a:moveTo>
                    <a:pt x="289433" y="266700"/>
                  </a:moveTo>
                  <a:lnTo>
                    <a:pt x="228473" y="266700"/>
                  </a:lnTo>
                  <a:lnTo>
                    <a:pt x="228473" y="292608"/>
                  </a:lnTo>
                  <a:lnTo>
                    <a:pt x="144780" y="376428"/>
                  </a:lnTo>
                  <a:lnTo>
                    <a:pt x="60960" y="292608"/>
                  </a:lnTo>
                  <a:lnTo>
                    <a:pt x="100584" y="292608"/>
                  </a:lnTo>
                  <a:lnTo>
                    <a:pt x="100584" y="25908"/>
                  </a:lnTo>
                  <a:lnTo>
                    <a:pt x="144780" y="25908"/>
                  </a:lnTo>
                  <a:lnTo>
                    <a:pt x="188849" y="25908"/>
                  </a:lnTo>
                  <a:lnTo>
                    <a:pt x="188849" y="292608"/>
                  </a:lnTo>
                  <a:lnTo>
                    <a:pt x="228473" y="292608"/>
                  </a:lnTo>
                  <a:lnTo>
                    <a:pt x="228473" y="266700"/>
                  </a:lnTo>
                  <a:lnTo>
                    <a:pt x="214757" y="266700"/>
                  </a:lnTo>
                  <a:lnTo>
                    <a:pt x="214757" y="0"/>
                  </a:lnTo>
                  <a:lnTo>
                    <a:pt x="144780" y="0"/>
                  </a:lnTo>
                  <a:lnTo>
                    <a:pt x="74676" y="0"/>
                  </a:lnTo>
                  <a:lnTo>
                    <a:pt x="74676" y="266700"/>
                  </a:lnTo>
                  <a:lnTo>
                    <a:pt x="0" y="266700"/>
                  </a:lnTo>
                  <a:lnTo>
                    <a:pt x="144780" y="411480"/>
                  </a:lnTo>
                  <a:lnTo>
                    <a:pt x="289433" y="266700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3485134" y="6766432"/>
            <a:ext cx="289560" cy="411480"/>
            <a:chOff x="3485134" y="6766432"/>
            <a:chExt cx="289560" cy="411480"/>
          </a:xfrm>
        </p:grpSpPr>
        <p:sp>
          <p:nvSpPr>
            <p:cNvPr id="26" name="object 26"/>
            <p:cNvSpPr/>
            <p:nvPr/>
          </p:nvSpPr>
          <p:spPr>
            <a:xfrm>
              <a:off x="3515614" y="6778624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170561" y="0"/>
                  </a:moveTo>
                  <a:lnTo>
                    <a:pt x="56387" y="0"/>
                  </a:lnTo>
                  <a:lnTo>
                    <a:pt x="56387" y="266700"/>
                  </a:lnTo>
                  <a:lnTo>
                    <a:pt x="0" y="266700"/>
                  </a:lnTo>
                  <a:lnTo>
                    <a:pt x="114300" y="381000"/>
                  </a:lnTo>
                  <a:lnTo>
                    <a:pt x="228473" y="266700"/>
                  </a:lnTo>
                  <a:lnTo>
                    <a:pt x="170561" y="266700"/>
                  </a:lnTo>
                  <a:lnTo>
                    <a:pt x="17056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485134" y="6766432"/>
              <a:ext cx="289560" cy="411480"/>
            </a:xfrm>
            <a:custGeom>
              <a:avLst/>
              <a:gdLst/>
              <a:ahLst/>
              <a:cxnLst/>
              <a:rect l="l" t="t" r="r" b="b"/>
              <a:pathLst>
                <a:path w="289560" h="411479">
                  <a:moveTo>
                    <a:pt x="289433" y="266700"/>
                  </a:moveTo>
                  <a:lnTo>
                    <a:pt x="228473" y="266700"/>
                  </a:lnTo>
                  <a:lnTo>
                    <a:pt x="228473" y="291084"/>
                  </a:lnTo>
                  <a:lnTo>
                    <a:pt x="144780" y="374904"/>
                  </a:lnTo>
                  <a:lnTo>
                    <a:pt x="60960" y="291084"/>
                  </a:lnTo>
                  <a:lnTo>
                    <a:pt x="100584" y="291084"/>
                  </a:lnTo>
                  <a:lnTo>
                    <a:pt x="100584" y="24384"/>
                  </a:lnTo>
                  <a:lnTo>
                    <a:pt x="144780" y="24384"/>
                  </a:lnTo>
                  <a:lnTo>
                    <a:pt x="188849" y="24384"/>
                  </a:lnTo>
                  <a:lnTo>
                    <a:pt x="188849" y="291084"/>
                  </a:lnTo>
                  <a:lnTo>
                    <a:pt x="228473" y="291084"/>
                  </a:lnTo>
                  <a:lnTo>
                    <a:pt x="228473" y="266700"/>
                  </a:lnTo>
                  <a:lnTo>
                    <a:pt x="214757" y="266700"/>
                  </a:lnTo>
                  <a:lnTo>
                    <a:pt x="214757" y="0"/>
                  </a:lnTo>
                  <a:lnTo>
                    <a:pt x="144780" y="0"/>
                  </a:lnTo>
                  <a:lnTo>
                    <a:pt x="74676" y="0"/>
                  </a:lnTo>
                  <a:lnTo>
                    <a:pt x="74676" y="266700"/>
                  </a:lnTo>
                  <a:lnTo>
                    <a:pt x="0" y="266700"/>
                  </a:lnTo>
                  <a:lnTo>
                    <a:pt x="144780" y="411480"/>
                  </a:lnTo>
                  <a:lnTo>
                    <a:pt x="289433" y="266700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3485134" y="7433818"/>
            <a:ext cx="289560" cy="411480"/>
            <a:chOff x="3485134" y="7433818"/>
            <a:chExt cx="289560" cy="411480"/>
          </a:xfrm>
        </p:grpSpPr>
        <p:sp>
          <p:nvSpPr>
            <p:cNvPr id="29" name="object 29"/>
            <p:cNvSpPr/>
            <p:nvPr/>
          </p:nvSpPr>
          <p:spPr>
            <a:xfrm>
              <a:off x="3515614" y="7446010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170561" y="0"/>
                  </a:moveTo>
                  <a:lnTo>
                    <a:pt x="56387" y="0"/>
                  </a:lnTo>
                  <a:lnTo>
                    <a:pt x="56387" y="266700"/>
                  </a:lnTo>
                  <a:lnTo>
                    <a:pt x="0" y="266700"/>
                  </a:lnTo>
                  <a:lnTo>
                    <a:pt x="114300" y="381000"/>
                  </a:lnTo>
                  <a:lnTo>
                    <a:pt x="228473" y="266700"/>
                  </a:lnTo>
                  <a:lnTo>
                    <a:pt x="170561" y="266700"/>
                  </a:lnTo>
                  <a:lnTo>
                    <a:pt x="17056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485134" y="7433818"/>
              <a:ext cx="289560" cy="411480"/>
            </a:xfrm>
            <a:custGeom>
              <a:avLst/>
              <a:gdLst/>
              <a:ahLst/>
              <a:cxnLst/>
              <a:rect l="l" t="t" r="r" b="b"/>
              <a:pathLst>
                <a:path w="289560" h="411479">
                  <a:moveTo>
                    <a:pt x="289433" y="266700"/>
                  </a:moveTo>
                  <a:lnTo>
                    <a:pt x="226949" y="266700"/>
                  </a:lnTo>
                  <a:lnTo>
                    <a:pt x="226949" y="292608"/>
                  </a:lnTo>
                  <a:lnTo>
                    <a:pt x="144780" y="374904"/>
                  </a:lnTo>
                  <a:lnTo>
                    <a:pt x="62484" y="292608"/>
                  </a:lnTo>
                  <a:lnTo>
                    <a:pt x="100584" y="292608"/>
                  </a:lnTo>
                  <a:lnTo>
                    <a:pt x="100584" y="25908"/>
                  </a:lnTo>
                  <a:lnTo>
                    <a:pt x="144780" y="25908"/>
                  </a:lnTo>
                  <a:lnTo>
                    <a:pt x="188849" y="25908"/>
                  </a:lnTo>
                  <a:lnTo>
                    <a:pt x="188849" y="292608"/>
                  </a:lnTo>
                  <a:lnTo>
                    <a:pt x="226949" y="292608"/>
                  </a:lnTo>
                  <a:lnTo>
                    <a:pt x="226949" y="266700"/>
                  </a:lnTo>
                  <a:lnTo>
                    <a:pt x="214757" y="266700"/>
                  </a:lnTo>
                  <a:lnTo>
                    <a:pt x="214757" y="0"/>
                  </a:lnTo>
                  <a:lnTo>
                    <a:pt x="144780" y="0"/>
                  </a:lnTo>
                  <a:lnTo>
                    <a:pt x="74676" y="0"/>
                  </a:lnTo>
                  <a:lnTo>
                    <a:pt x="74676" y="266700"/>
                  </a:lnTo>
                  <a:lnTo>
                    <a:pt x="0" y="266700"/>
                  </a:lnTo>
                  <a:lnTo>
                    <a:pt x="144780" y="411480"/>
                  </a:lnTo>
                  <a:lnTo>
                    <a:pt x="289433" y="266700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880" y="575563"/>
            <a:ext cx="6836409" cy="10804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0014" marR="10668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Galileo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(1564-1642) is generally credited with being the </a:t>
            </a:r>
            <a:r>
              <a:rPr dirty="0" sz="1200">
                <a:latin typeface="Arial MT"/>
                <a:cs typeface="Arial MT"/>
              </a:rPr>
              <a:t>father of </a:t>
            </a:r>
            <a:r>
              <a:rPr dirty="0" sz="1200" spc="-5">
                <a:latin typeface="Arial MT"/>
                <a:cs typeface="Arial MT"/>
              </a:rPr>
              <a:t>the scientific method.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Encyclopedia Britannica (1970) </a:t>
            </a:r>
            <a:r>
              <a:rPr dirty="0" sz="1200">
                <a:latin typeface="Arial MT"/>
                <a:cs typeface="Arial MT"/>
              </a:rPr>
              <a:t>says: “ </a:t>
            </a:r>
            <a:r>
              <a:rPr dirty="0" sz="1200" spc="-5">
                <a:latin typeface="Arial MT"/>
                <a:cs typeface="Arial MT"/>
              </a:rPr>
              <a:t>Even while Bacon </a:t>
            </a:r>
            <a:r>
              <a:rPr dirty="0" sz="1200" spc="5">
                <a:latin typeface="Arial MT"/>
                <a:cs typeface="Arial MT"/>
              </a:rPr>
              <a:t>was </a:t>
            </a:r>
            <a:r>
              <a:rPr dirty="0" sz="1200" spc="-5">
                <a:latin typeface="Arial MT"/>
                <a:cs typeface="Arial MT"/>
              </a:rPr>
              <a:t>philosophizing, the true method </a:t>
            </a:r>
            <a:r>
              <a:rPr dirty="0" sz="1200" spc="-10">
                <a:latin typeface="Arial MT"/>
                <a:cs typeface="Arial MT"/>
              </a:rPr>
              <a:t>was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 practiced by Galileo, who, with a combination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observation, hypothesis, mathematical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deduction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confirmatory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experiment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founded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science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dynamics.</a:t>
            </a:r>
            <a:endParaRPr sz="120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  <a:spcBef>
                <a:spcPts val="645"/>
              </a:spcBef>
            </a:pPr>
            <a:r>
              <a:rPr dirty="0" sz="1200" spc="-5" b="1">
                <a:latin typeface="Arial"/>
                <a:cs typeface="Arial"/>
              </a:rPr>
              <a:t>Name</a:t>
            </a:r>
            <a:endParaRPr sz="1200">
              <a:latin typeface="Arial"/>
              <a:cs typeface="Arial"/>
            </a:endParaRPr>
          </a:p>
          <a:p>
            <a:pPr algn="just" marL="120014" marR="10858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Originally the scientific method was called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experimental method and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method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science.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 the word scientific was devised in the </a:t>
            </a:r>
            <a:r>
              <a:rPr dirty="0" sz="1200" spc="5">
                <a:latin typeface="Arial MT"/>
                <a:cs typeface="Arial MT"/>
              </a:rPr>
              <a:t>19</a:t>
            </a:r>
            <a:r>
              <a:rPr dirty="0" baseline="27777" sz="1200" spc="7">
                <a:latin typeface="Arial MT"/>
                <a:cs typeface="Arial MT"/>
              </a:rPr>
              <a:t>th </a:t>
            </a:r>
            <a:r>
              <a:rPr dirty="0" sz="1200" spc="-5">
                <a:latin typeface="Arial MT"/>
                <a:cs typeface="Arial MT"/>
              </a:rPr>
              <a:t>century, the most widespread term applied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became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scientific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method.</a:t>
            </a:r>
            <a:endParaRPr sz="1200">
              <a:latin typeface="Arial MT"/>
              <a:cs typeface="Arial MT"/>
            </a:endParaRPr>
          </a:p>
          <a:p>
            <a:pPr algn="just" marL="114300">
              <a:lnSpc>
                <a:spcPct val="100000"/>
              </a:lnSpc>
              <a:spcBef>
                <a:spcPts val="475"/>
              </a:spcBef>
            </a:pP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started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technology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importance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increased.</a:t>
            </a:r>
            <a:endParaRPr sz="1200">
              <a:latin typeface="Arial MT"/>
              <a:cs typeface="Arial MT"/>
            </a:endParaRPr>
          </a:p>
          <a:p>
            <a:pPr algn="just" marL="120014" marR="10795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most </a:t>
            </a:r>
            <a:r>
              <a:rPr dirty="0" sz="1200" spc="-5">
                <a:latin typeface="Arial MT"/>
                <a:cs typeface="Arial MT"/>
              </a:rPr>
              <a:t>important thing of scientific method is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any theory can </a:t>
            </a:r>
            <a:r>
              <a:rPr dirty="0" sz="120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falsified. Nothing is a static </a:t>
            </a:r>
            <a:r>
              <a:rPr dirty="0" sz="1200">
                <a:latin typeface="Arial MT"/>
                <a:cs typeface="Arial MT"/>
              </a:rPr>
              <a:t> truth. If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do not falsify development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not be possible. Advancement of technology is also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this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point.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Scientific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attitude also.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accept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challenges</a:t>
            </a:r>
            <a:endParaRPr sz="1200">
              <a:latin typeface="Arial MT"/>
              <a:cs typeface="Arial MT"/>
            </a:endParaRPr>
          </a:p>
          <a:p>
            <a:pPr algn="just" marL="120014" marR="109220">
              <a:lnSpc>
                <a:spcPts val="206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and gather arguments about </a:t>
            </a:r>
            <a:r>
              <a:rPr dirty="0" sz="1200">
                <a:latin typeface="Arial MT"/>
                <a:cs typeface="Arial MT"/>
              </a:rPr>
              <a:t>it, it </a:t>
            </a:r>
            <a:r>
              <a:rPr dirty="0" sz="1200" spc="-5">
                <a:latin typeface="Arial MT"/>
                <a:cs typeface="Arial MT"/>
              </a:rPr>
              <a:t>shows that we are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much open minded.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Scientific method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cab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sciences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Psychology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science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scientific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methods</a:t>
            </a:r>
            <a:endParaRPr sz="1200">
              <a:latin typeface="Arial MT"/>
              <a:cs typeface="Arial MT"/>
            </a:endParaRPr>
          </a:p>
          <a:p>
            <a:pPr algn="just" marL="120014" marR="106680">
              <a:lnSpc>
                <a:spcPts val="208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to its </a:t>
            </a:r>
            <a:r>
              <a:rPr dirty="0" sz="1200" spc="-5">
                <a:latin typeface="Arial MT"/>
                <a:cs typeface="Arial MT"/>
              </a:rPr>
              <a:t>researches. Roots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research of all social sciences are based on scientific method.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scientific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researches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authentic.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Its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small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traditional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truth.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falsify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also means that our attitude is not scientific. Main thing is that we should be open. Usually we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tradition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authority.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Scientific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without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scientific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attitude.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  <a:spcBef>
                <a:spcPts val="1025"/>
              </a:spcBef>
            </a:pPr>
            <a:r>
              <a:rPr dirty="0" sz="1200" spc="-5" b="1"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1920">
              <a:lnSpc>
                <a:spcPct val="100000"/>
              </a:lnSpc>
              <a:spcBef>
                <a:spcPts val="1155"/>
              </a:spcBef>
            </a:pPr>
            <a:r>
              <a:rPr dirty="0" sz="1200" spc="-5" b="1">
                <a:latin typeface="Arial"/>
                <a:cs typeface="Arial"/>
              </a:rPr>
              <a:t>Identify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problem</a:t>
            </a:r>
            <a:endParaRPr sz="1200">
              <a:latin typeface="Arial"/>
              <a:cs typeface="Arial"/>
            </a:endParaRPr>
          </a:p>
          <a:p>
            <a:pPr algn="just" marL="120014" marR="11112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emergency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light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work,</a:t>
            </a:r>
            <a:r>
              <a:rPr dirty="0" sz="1200" spc="-5">
                <a:latin typeface="Arial MT"/>
                <a:cs typeface="Arial MT"/>
              </a:rPr>
              <a:t> 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happy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  <a:spcBef>
                <a:spcPts val="1040"/>
              </a:spcBef>
            </a:pPr>
            <a:r>
              <a:rPr dirty="0" sz="1200" spc="-5" b="1">
                <a:latin typeface="Arial"/>
                <a:cs typeface="Arial"/>
              </a:rPr>
              <a:t>Research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problem</a:t>
            </a:r>
            <a:endParaRPr sz="1200">
              <a:latin typeface="Arial"/>
              <a:cs typeface="Arial"/>
            </a:endParaRPr>
          </a:p>
          <a:p>
            <a:pPr algn="just" marL="120014" marR="113664" indent="-6350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You think back to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last </a:t>
            </a:r>
            <a:r>
              <a:rPr dirty="0" sz="1200">
                <a:latin typeface="Arial MT"/>
                <a:cs typeface="Arial MT"/>
              </a:rPr>
              <a:t>time </a:t>
            </a:r>
            <a:r>
              <a:rPr dirty="0" sz="1200" spc="-5">
                <a:latin typeface="Arial MT"/>
                <a:cs typeface="Arial MT"/>
              </a:rPr>
              <a:t>your light </a:t>
            </a:r>
            <a:r>
              <a:rPr dirty="0" sz="1200" spc="-10">
                <a:latin typeface="Arial MT"/>
                <a:cs typeface="Arial MT"/>
              </a:rPr>
              <a:t>does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>
                <a:latin typeface="Arial MT"/>
                <a:cs typeface="Arial MT"/>
              </a:rPr>
              <a:t>work, </a:t>
            </a:r>
            <a:r>
              <a:rPr dirty="0" sz="1200" spc="-5">
                <a:latin typeface="Arial MT"/>
                <a:cs typeface="Arial MT"/>
              </a:rPr>
              <a:t>and you remember </a:t>
            </a:r>
            <a:r>
              <a:rPr dirty="0" sz="1200">
                <a:latin typeface="Arial MT"/>
                <a:cs typeface="Arial MT"/>
              </a:rPr>
              <a:t>that it </a:t>
            </a:r>
            <a:r>
              <a:rPr dirty="0" sz="1200" spc="-5">
                <a:latin typeface="Arial MT"/>
                <a:cs typeface="Arial MT"/>
              </a:rPr>
              <a:t>was because of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worn-out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batteries.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  <a:spcBef>
                <a:spcPts val="1035"/>
              </a:spcBef>
            </a:pPr>
            <a:r>
              <a:rPr dirty="0" sz="1200" b="1">
                <a:latin typeface="Arial"/>
                <a:cs typeface="Arial"/>
              </a:rPr>
              <a:t>Formulate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hypothesis</a:t>
            </a:r>
            <a:endParaRPr sz="1200">
              <a:latin typeface="Arial"/>
              <a:cs typeface="Arial"/>
            </a:endParaRPr>
          </a:p>
          <a:p>
            <a:pPr algn="just" marL="114300">
              <a:lnSpc>
                <a:spcPct val="100000"/>
              </a:lnSpc>
              <a:spcBef>
                <a:spcPts val="615"/>
              </a:spcBef>
            </a:pPr>
            <a:r>
              <a:rPr dirty="0" sz="1200" spc="-5">
                <a:latin typeface="Arial MT"/>
                <a:cs typeface="Arial MT"/>
              </a:rPr>
              <a:t>You guess that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worn-out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batteries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reason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emergency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light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Conduct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experiment</a:t>
            </a:r>
            <a:endParaRPr sz="1200">
              <a:latin typeface="Arial"/>
              <a:cs typeface="Arial"/>
            </a:endParaRPr>
          </a:p>
          <a:p>
            <a:pPr algn="just" marL="120014" marR="110489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Now,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you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some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batteries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drawer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next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replace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light.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  <a:spcBef>
                <a:spcPts val="1035"/>
              </a:spcBef>
            </a:pPr>
            <a:r>
              <a:rPr dirty="0" sz="1200" b="1">
                <a:latin typeface="Arial"/>
                <a:cs typeface="Arial"/>
              </a:rPr>
              <a:t>Reach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conclusion</a:t>
            </a:r>
            <a:endParaRPr sz="1200">
              <a:latin typeface="Arial"/>
              <a:cs typeface="Arial"/>
            </a:endParaRPr>
          </a:p>
          <a:p>
            <a:pPr algn="just" marL="114300">
              <a:lnSpc>
                <a:spcPct val="100000"/>
              </a:lnSpc>
              <a:spcBef>
                <a:spcPts val="610"/>
              </a:spcBef>
            </a:pPr>
            <a:r>
              <a:rPr dirty="0" sz="1200">
                <a:latin typeface="Arial MT"/>
                <a:cs typeface="Arial MT"/>
              </a:rPr>
              <a:t>Oh!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emergency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light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works.</a:t>
            </a:r>
            <a:endParaRPr sz="1200">
              <a:latin typeface="Arial MT"/>
              <a:cs typeface="Arial MT"/>
            </a:endParaRPr>
          </a:p>
          <a:p>
            <a:pPr algn="just" marL="120014" marR="106680" indent="-6350">
              <a:lnSpc>
                <a:spcPts val="2080"/>
              </a:lnSpc>
              <a:spcBef>
                <a:spcPts val="80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interesting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often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example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playing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toys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across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with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many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problems,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hypothesize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209" cy="1119187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735"/>
              </a:spcBef>
            </a:pPr>
            <a:r>
              <a:rPr dirty="0" sz="1200" spc="-5">
                <a:latin typeface="Arial MT"/>
                <a:cs typeface="Arial MT"/>
              </a:rPr>
              <a:t>experiment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try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solve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problem.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Scientific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applied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day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situation.</a:t>
            </a:r>
            <a:endParaRPr sz="1200">
              <a:latin typeface="Arial MT"/>
              <a:cs typeface="Arial MT"/>
            </a:endParaRPr>
          </a:p>
          <a:p>
            <a:pPr marL="12700" marR="690880" indent="5715">
              <a:lnSpc>
                <a:spcPts val="2100"/>
              </a:lnSpc>
              <a:spcBef>
                <a:spcPts val="155"/>
              </a:spcBef>
            </a:pP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teach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how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lives.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theory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human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mind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5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9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chunks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isolated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endParaRPr sz="12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take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picture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takes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space.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Arial MT"/>
              <a:cs typeface="Arial MT"/>
            </a:endParaRPr>
          </a:p>
          <a:p>
            <a:pPr marL="361950" indent="-349885">
              <a:lnSpc>
                <a:spcPct val="100000"/>
              </a:lnSpc>
            </a:pP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How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does</a:t>
            </a:r>
            <a:r>
              <a:rPr dirty="0" u="heavy" sz="12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scientific</a:t>
            </a:r>
            <a:r>
              <a:rPr dirty="0" u="heavy" sz="120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method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looks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like: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Arial"/>
              <a:cs typeface="Arial"/>
            </a:endParaRPr>
          </a:p>
          <a:p>
            <a:pPr marL="361950" marR="3764915">
              <a:lnSpc>
                <a:spcPct val="142500"/>
              </a:lnSpc>
            </a:pPr>
            <a:r>
              <a:rPr dirty="0" sz="1200" b="1">
                <a:latin typeface="Arial"/>
                <a:cs typeface="Arial"/>
              </a:rPr>
              <a:t>It </a:t>
            </a:r>
            <a:r>
              <a:rPr dirty="0" sz="1200" spc="-5" b="1">
                <a:latin typeface="Arial"/>
                <a:cs typeface="Arial"/>
              </a:rPr>
              <a:t>starts with asking the </a:t>
            </a:r>
            <a:r>
              <a:rPr dirty="0" sz="1200" b="1">
                <a:latin typeface="Arial"/>
                <a:cs typeface="Arial"/>
              </a:rPr>
              <a:t>questions.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Doing background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research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Constructing hypothesis</a:t>
            </a:r>
            <a:endParaRPr sz="1200">
              <a:latin typeface="Arial"/>
              <a:cs typeface="Arial"/>
            </a:endParaRPr>
          </a:p>
          <a:p>
            <a:pPr marL="361950" marR="4603115">
              <a:lnSpc>
                <a:spcPct val="1422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Testing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hypothesis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Analyzing </a:t>
            </a:r>
            <a:r>
              <a:rPr dirty="0" sz="1200" spc="-5" b="1">
                <a:latin typeface="Arial"/>
                <a:cs typeface="Arial"/>
              </a:rPr>
              <a:t>Results </a:t>
            </a:r>
            <a:r>
              <a:rPr dirty="0" sz="1200" b="1">
                <a:latin typeface="Arial"/>
                <a:cs typeface="Arial"/>
              </a:rPr>
              <a:t> Drawing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conclusions</a:t>
            </a:r>
            <a:endParaRPr sz="1200">
              <a:latin typeface="Arial"/>
              <a:cs typeface="Arial"/>
            </a:endParaRPr>
          </a:p>
          <a:p>
            <a:pPr marL="361950">
              <a:lnSpc>
                <a:spcPct val="100000"/>
              </a:lnSpc>
              <a:spcBef>
                <a:spcPts val="615"/>
              </a:spcBef>
            </a:pPr>
            <a:r>
              <a:rPr dirty="0" sz="1200" b="1">
                <a:latin typeface="Arial"/>
                <a:cs typeface="Arial"/>
              </a:rPr>
              <a:t>If</a:t>
            </a:r>
            <a:r>
              <a:rPr dirty="0" sz="1200" spc="-5" b="1">
                <a:latin typeface="Arial"/>
                <a:cs typeface="Arial"/>
              </a:rPr>
              <a:t> hypothesis </a:t>
            </a:r>
            <a:r>
              <a:rPr dirty="0" sz="1200" b="1">
                <a:latin typeface="Arial"/>
                <a:cs typeface="Arial"/>
              </a:rPr>
              <a:t>turns </a:t>
            </a:r>
            <a:r>
              <a:rPr dirty="0" sz="1200" spc="-5" b="1">
                <a:latin typeface="Arial"/>
                <a:cs typeface="Arial"/>
              </a:rPr>
              <a:t>true</a:t>
            </a:r>
            <a:r>
              <a:rPr dirty="0" sz="1200" b="1">
                <a:latin typeface="Arial"/>
                <a:cs typeface="Arial"/>
              </a:rPr>
              <a:t> then </a:t>
            </a:r>
            <a:r>
              <a:rPr dirty="0" sz="1200" spc="-5" b="1">
                <a:latin typeface="Arial"/>
                <a:cs typeface="Arial"/>
              </a:rPr>
              <a:t>results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reported</a:t>
            </a:r>
            <a:endParaRPr sz="1200">
              <a:latin typeface="Arial"/>
              <a:cs typeface="Arial"/>
            </a:endParaRPr>
          </a:p>
          <a:p>
            <a:pPr marL="477520" marR="8890" indent="-116205">
              <a:lnSpc>
                <a:spcPts val="2060"/>
              </a:lnSpc>
              <a:spcBef>
                <a:spcPts val="165"/>
              </a:spcBef>
            </a:pPr>
            <a:r>
              <a:rPr dirty="0" sz="1200" b="1">
                <a:latin typeface="Arial"/>
                <a:cs typeface="Arial"/>
              </a:rPr>
              <a:t>If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hypothesis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turns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false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then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new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hypothesis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constructed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same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steps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are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tried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out.</a:t>
            </a:r>
            <a:endParaRPr sz="1200">
              <a:latin typeface="Arial"/>
              <a:cs typeface="Arial"/>
            </a:endParaRPr>
          </a:p>
          <a:p>
            <a:pPr marL="361950">
              <a:lnSpc>
                <a:spcPct val="100000"/>
              </a:lnSpc>
              <a:spcBef>
                <a:spcPts val="480"/>
              </a:spcBef>
            </a:pPr>
            <a:r>
              <a:rPr dirty="0" sz="1200" b="1">
                <a:latin typeface="Arial"/>
                <a:cs typeface="Arial"/>
              </a:rPr>
              <a:t>Communicating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results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955"/>
              </a:spcBef>
            </a:pPr>
            <a:r>
              <a:rPr dirty="0" sz="1200" spc="-5">
                <a:latin typeface="Arial MT"/>
                <a:cs typeface="Arial MT"/>
              </a:rPr>
              <a:t>Edison had done minimum 1800 </a:t>
            </a:r>
            <a:r>
              <a:rPr dirty="0" sz="1200">
                <a:latin typeface="Arial MT"/>
                <a:cs typeface="Arial MT"/>
              </a:rPr>
              <a:t>efforts to </a:t>
            </a:r>
            <a:r>
              <a:rPr dirty="0" sz="1200" spc="-5">
                <a:latin typeface="Arial MT"/>
                <a:cs typeface="Arial MT"/>
              </a:rPr>
              <a:t>make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bulb. Somebody asked him why don’t </a:t>
            </a:r>
            <a:r>
              <a:rPr dirty="0" sz="120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give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up? He said that every </a:t>
            </a:r>
            <a:r>
              <a:rPr dirty="0" sz="1200">
                <a:latin typeface="Arial MT"/>
                <a:cs typeface="Arial MT"/>
              </a:rPr>
              <a:t>time I </a:t>
            </a:r>
            <a:r>
              <a:rPr dirty="0" sz="1200" spc="-5">
                <a:latin typeface="Arial MT"/>
                <a:cs typeface="Arial MT"/>
              </a:rPr>
              <a:t>learnt that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method is not right </a:t>
            </a:r>
            <a:r>
              <a:rPr dirty="0" sz="1200">
                <a:latin typeface="Arial MT"/>
                <a:cs typeface="Arial MT"/>
              </a:rPr>
              <a:t>to make </a:t>
            </a:r>
            <a:r>
              <a:rPr dirty="0" sz="1200" spc="-5">
                <a:latin typeface="Arial MT"/>
                <a:cs typeface="Arial MT"/>
              </a:rPr>
              <a:t>a bulb. He rejected so </a:t>
            </a:r>
            <a:r>
              <a:rPr dirty="0" sz="1200">
                <a:latin typeface="Arial MT"/>
                <a:cs typeface="Arial MT"/>
              </a:rPr>
              <a:t> many </a:t>
            </a:r>
            <a:r>
              <a:rPr dirty="0" sz="1200" spc="-5">
                <a:latin typeface="Arial MT"/>
                <a:cs typeface="Arial MT"/>
              </a:rPr>
              <a:t>hypotheses and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the end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reported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method, many people experimented on that </a:t>
            </a:r>
            <a:r>
              <a:rPr dirty="0" sz="1200">
                <a:latin typeface="Arial MT"/>
                <a:cs typeface="Arial MT"/>
              </a:rPr>
              <a:t>.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main thing in scientific method is openness, we should be 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accept the rejection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our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hypothesis.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step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step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process.</a:t>
            </a:r>
            <a:endParaRPr sz="12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660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scientific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</a:t>
            </a:r>
            <a:endParaRPr sz="1200">
              <a:latin typeface="Arial"/>
              <a:cs typeface="Arial"/>
            </a:endParaRPr>
          </a:p>
          <a:p>
            <a:pPr marL="18415" marR="8890" indent="-6350">
              <a:lnSpc>
                <a:spcPts val="2080"/>
              </a:lnSpc>
              <a:spcBef>
                <a:spcPts val="140"/>
              </a:spcBef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starts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asking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questions.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Questioning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starts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observation.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hear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listen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r>
              <a:rPr dirty="0" sz="1200">
                <a:latin typeface="Arial MT"/>
                <a:cs typeface="Arial MT"/>
              </a:rPr>
              <a:t> We </a:t>
            </a:r>
            <a:r>
              <a:rPr dirty="0" sz="1200" spc="-10">
                <a:latin typeface="Arial MT"/>
                <a:cs typeface="Arial MT"/>
              </a:rPr>
              <a:t>see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observe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45"/>
              </a:spcBef>
            </a:pPr>
            <a:r>
              <a:rPr dirty="0" sz="1200" spc="-5" b="1">
                <a:latin typeface="Arial"/>
                <a:cs typeface="Arial"/>
              </a:rPr>
              <a:t>Observation</a:t>
            </a:r>
            <a:endParaRPr sz="1200">
              <a:latin typeface="Arial"/>
              <a:cs typeface="Arial"/>
            </a:endParaRPr>
          </a:p>
          <a:p>
            <a:pPr algn="just" marL="18415" marR="571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Curious observation 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start of the inductive process. Discovery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new problems, ideas,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theories, and decisions needed and problem prevention usually begins with curious observation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senses: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smelling,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tasting,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hearing,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feeling,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seeing.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Instruments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tools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extend </a:t>
            </a:r>
            <a:r>
              <a:rPr dirty="0" sz="1200" spc="-10">
                <a:latin typeface="Arial MT"/>
                <a:cs typeface="Arial MT"/>
              </a:rPr>
              <a:t>these </a:t>
            </a:r>
            <a:r>
              <a:rPr dirty="0" sz="1200" spc="-5">
                <a:latin typeface="Arial MT"/>
                <a:cs typeface="Arial MT"/>
              </a:rPr>
              <a:t>senses. Use your sense perceptions and projections visually and mentally.we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believe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nothing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Curious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attitude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about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45"/>
              </a:spcBef>
            </a:pP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curious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Identifying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5" b="1">
                <a:latin typeface="Arial"/>
                <a:cs typeface="Arial"/>
              </a:rPr>
              <a:t> problem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615"/>
              </a:spcBef>
            </a:pPr>
            <a:r>
              <a:rPr dirty="0" sz="1200" spc="-5">
                <a:latin typeface="Arial MT"/>
                <a:cs typeface="Arial MT"/>
              </a:rPr>
              <a:t>See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 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 problem.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Look </a:t>
            </a:r>
            <a:r>
              <a:rPr dirty="0" sz="1200" spc="-5" b="1">
                <a:latin typeface="Arial"/>
                <a:cs typeface="Arial"/>
              </a:rPr>
              <a:t>at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problem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challenges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opportunities</a:t>
            </a:r>
            <a:endParaRPr sz="1200">
              <a:latin typeface="Arial"/>
              <a:cs typeface="Arial"/>
            </a:endParaRPr>
          </a:p>
          <a:p>
            <a:pPr algn="just" marL="18415" marR="12065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An idea, problem, decision or tentative theory should be presented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the form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question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because: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encourages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keep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</a:t>
            </a:r>
            <a:r>
              <a:rPr dirty="0" sz="1200" spc="-5">
                <a:latin typeface="Arial MT"/>
                <a:cs typeface="Arial MT"/>
              </a:rPr>
              <a:t> open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mind,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thus </a:t>
            </a:r>
            <a:r>
              <a:rPr dirty="0" sz="1200" spc="-5">
                <a:latin typeface="Arial MT"/>
                <a:cs typeface="Arial MT"/>
              </a:rPr>
              <a:t>seek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“truth”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prove</a:t>
            </a:r>
            <a:r>
              <a:rPr dirty="0" sz="1200">
                <a:latin typeface="Arial MT"/>
                <a:cs typeface="Arial MT"/>
              </a:rPr>
              <a:t> a </a:t>
            </a:r>
            <a:r>
              <a:rPr dirty="0" sz="1200" spc="-5">
                <a:latin typeface="Arial MT"/>
                <a:cs typeface="Arial MT"/>
              </a:rPr>
              <a:t>statement.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3845" cy="1106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tool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productive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solving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investigation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new subject. Any challenge is an opportunity. Problem should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stated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question form. We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try to </a:t>
            </a:r>
            <a:r>
              <a:rPr dirty="0" sz="1200" spc="-5">
                <a:latin typeface="Arial MT"/>
                <a:cs typeface="Arial MT"/>
              </a:rPr>
              <a:t>get the experts opinion. Then </a:t>
            </a:r>
            <a:r>
              <a:rPr dirty="0" sz="1200" spc="-10">
                <a:latin typeface="Arial MT"/>
                <a:cs typeface="Arial MT"/>
              </a:rPr>
              <a:t>we will </a:t>
            </a:r>
            <a:r>
              <a:rPr dirty="0" sz="1200">
                <a:latin typeface="Arial MT"/>
                <a:cs typeface="Arial MT"/>
              </a:rPr>
              <a:t>make </a:t>
            </a:r>
            <a:r>
              <a:rPr dirty="0" sz="1200" spc="-5">
                <a:latin typeface="Arial MT"/>
                <a:cs typeface="Arial MT"/>
              </a:rPr>
              <a:t>the hypothesis </a:t>
            </a:r>
            <a:r>
              <a:rPr dirty="0" sz="1200">
                <a:latin typeface="Arial MT"/>
                <a:cs typeface="Arial MT"/>
              </a:rPr>
              <a:t>, </a:t>
            </a:r>
            <a:r>
              <a:rPr dirty="0" sz="1200" spc="-5">
                <a:latin typeface="Arial MT"/>
                <a:cs typeface="Arial MT"/>
              </a:rPr>
              <a:t>experiment on the problem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communicate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result.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algn="just" marL="18415" marR="10160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child sees </a:t>
            </a:r>
            <a:r>
              <a:rPr dirty="0" sz="1200">
                <a:latin typeface="Arial MT"/>
                <a:cs typeface="Arial MT"/>
              </a:rPr>
              <a:t>his </a:t>
            </a:r>
            <a:r>
              <a:rPr dirty="0" sz="1200" spc="-5">
                <a:latin typeface="Arial MT"/>
                <a:cs typeface="Arial MT"/>
              </a:rPr>
              <a:t>mother making a cake. He sees that after completion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cake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becomes </a:t>
            </a:r>
            <a:r>
              <a:rPr dirty="0" sz="1200">
                <a:latin typeface="Arial MT"/>
                <a:cs typeface="Arial MT"/>
              </a:rPr>
              <a:t>bigger </a:t>
            </a:r>
            <a:r>
              <a:rPr dirty="0" sz="1200" spc="-15">
                <a:latin typeface="Arial MT"/>
                <a:cs typeface="Arial MT"/>
              </a:rPr>
              <a:t>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size. </a:t>
            </a:r>
            <a:r>
              <a:rPr dirty="0" sz="1200" spc="-5">
                <a:latin typeface="Arial MT"/>
                <a:cs typeface="Arial MT"/>
              </a:rPr>
              <a:t>Because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his curious observation he </a:t>
            </a:r>
            <a:r>
              <a:rPr dirty="0" sz="1200">
                <a:latin typeface="Arial MT"/>
                <a:cs typeface="Arial MT"/>
              </a:rPr>
              <a:t>asks </a:t>
            </a:r>
            <a:r>
              <a:rPr dirty="0" sz="1200" spc="-5">
                <a:latin typeface="Arial MT"/>
                <a:cs typeface="Arial MT"/>
              </a:rPr>
              <a:t>the question that why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has become bigger in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size? Mother answers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we have added baking powder in </a:t>
            </a:r>
            <a:r>
              <a:rPr dirty="0" sz="1200">
                <a:latin typeface="Arial MT"/>
                <a:cs typeface="Arial MT"/>
              </a:rPr>
              <a:t>it, </a:t>
            </a:r>
            <a:r>
              <a:rPr dirty="0" sz="1200" spc="-5">
                <a:latin typeface="Arial MT"/>
                <a:cs typeface="Arial MT"/>
              </a:rPr>
              <a:t>because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carbon dioxide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has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increased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size.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next</a:t>
            </a:r>
            <a:r>
              <a:rPr dirty="0" sz="1200" spc="-5">
                <a:latin typeface="Arial MT"/>
                <a:cs typeface="Arial MT"/>
              </a:rPr>
              <a:t> question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process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fermentation.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30"/>
              </a:spcBef>
            </a:pPr>
            <a:r>
              <a:rPr dirty="0" sz="1200" spc="-5" b="1">
                <a:latin typeface="Arial"/>
                <a:cs typeface="Arial"/>
              </a:rPr>
              <a:t>Problem/Question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200">
                <a:latin typeface="Arial MT"/>
                <a:cs typeface="Arial MT"/>
              </a:rPr>
              <a:t>Hassan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wonders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if the amount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sugar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recipe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affect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size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cake?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Observation/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Research</a:t>
            </a:r>
            <a:endParaRPr sz="1200">
              <a:latin typeface="Arial"/>
              <a:cs typeface="Arial"/>
            </a:endParaRPr>
          </a:p>
          <a:p>
            <a:pPr marL="18415" marR="10795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Hassan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researches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areas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baking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fermentation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tries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up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way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test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 question.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keeps</a:t>
            </a:r>
            <a:r>
              <a:rPr dirty="0" sz="1200">
                <a:latin typeface="Arial MT"/>
                <a:cs typeface="Arial MT"/>
              </a:rPr>
              <a:t> all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topic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journal.</a:t>
            </a:r>
            <a:endParaRPr sz="1200">
              <a:latin typeface="Arial MT"/>
              <a:cs typeface="Arial MT"/>
            </a:endParaRPr>
          </a:p>
          <a:p>
            <a:pPr marL="18415" marR="5080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Hassan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talks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him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Experimental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Design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Diagram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10">
                <a:latin typeface="Arial MT"/>
                <a:cs typeface="Arial MT"/>
              </a:rPr>
              <a:t>help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him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set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 </a:t>
            </a:r>
            <a:r>
              <a:rPr dirty="0" sz="1200">
                <a:latin typeface="Arial MT"/>
                <a:cs typeface="Arial MT"/>
              </a:rPr>
              <a:t>his </a:t>
            </a:r>
            <a:r>
              <a:rPr dirty="0" sz="1200" spc="-5">
                <a:latin typeface="Arial MT"/>
                <a:cs typeface="Arial MT"/>
              </a:rPr>
              <a:t>investigation.</a:t>
            </a:r>
            <a:endParaRPr sz="1200">
              <a:latin typeface="Arial MT"/>
              <a:cs typeface="Arial MT"/>
            </a:endParaRPr>
          </a:p>
          <a:p>
            <a:pPr marL="20320" marR="5207000">
              <a:lnSpc>
                <a:spcPts val="4120"/>
              </a:lnSpc>
              <a:spcBef>
                <a:spcPts val="450"/>
              </a:spcBef>
            </a:pPr>
            <a:r>
              <a:rPr dirty="0" sz="1200" spc="-5" b="1">
                <a:latin typeface="Arial"/>
                <a:cs typeface="Arial"/>
              </a:rPr>
              <a:t>Experimental sheet </a:t>
            </a:r>
            <a:r>
              <a:rPr dirty="0" sz="1200" spc="-3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Title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effect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sugar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size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cake.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200" spc="-5">
                <a:latin typeface="Arial MT"/>
                <a:cs typeface="Arial MT"/>
              </a:rPr>
              <a:t>Hypothesis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sugar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increased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size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cake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increase.</a:t>
            </a:r>
            <a:endParaRPr sz="1200">
              <a:latin typeface="Arial MT"/>
              <a:cs typeface="Arial MT"/>
            </a:endParaRPr>
          </a:p>
          <a:p>
            <a:pPr marL="20320" marR="3659504">
              <a:lnSpc>
                <a:spcPct val="285000"/>
              </a:lnSpc>
              <a:spcBef>
                <a:spcPts val="35"/>
              </a:spcBef>
            </a:pPr>
            <a:r>
              <a:rPr dirty="0" sz="1200" spc="-5" b="1">
                <a:latin typeface="Arial"/>
                <a:cs typeface="Arial"/>
              </a:rPr>
              <a:t>Observations: (Variables </a:t>
            </a:r>
            <a:r>
              <a:rPr dirty="0" sz="1200" b="1">
                <a:latin typeface="Arial"/>
                <a:cs typeface="Arial"/>
              </a:rPr>
              <a:t>and Constants)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Hypothesis</a:t>
            </a:r>
            <a:endParaRPr sz="1200">
              <a:latin typeface="Arial"/>
              <a:cs typeface="Arial"/>
            </a:endParaRPr>
          </a:p>
          <a:p>
            <a:pPr marL="18415" marR="10795" indent="-6350">
              <a:lnSpc>
                <a:spcPts val="2060"/>
              </a:lnSpc>
              <a:spcBef>
                <a:spcPts val="165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hypothesis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educated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guess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relationship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dependent variables.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200">
                <a:latin typeface="Arial MT"/>
                <a:cs typeface="Arial MT"/>
              </a:rPr>
              <a:t>Reading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behind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educated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guess.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Experts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opinions 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Variables</a:t>
            </a:r>
            <a:endParaRPr sz="1200">
              <a:latin typeface="Arial"/>
              <a:cs typeface="Arial"/>
            </a:endParaRPr>
          </a:p>
          <a:p>
            <a:pPr algn="just" marL="18415" marR="825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Variables are much important in scientific method.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not apply scientific method without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variables. Variables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those </a:t>
            </a:r>
            <a:r>
              <a:rPr dirty="0" sz="1200" spc="-5">
                <a:latin typeface="Arial MT"/>
                <a:cs typeface="Arial MT"/>
              </a:rPr>
              <a:t>things that can be changed. Constant </a:t>
            </a:r>
            <a:r>
              <a:rPr dirty="0" sz="1200">
                <a:latin typeface="Arial MT"/>
                <a:cs typeface="Arial MT"/>
              </a:rPr>
              <a:t>things </a:t>
            </a:r>
            <a:r>
              <a:rPr dirty="0" sz="1200" spc="-5">
                <a:latin typeface="Arial MT"/>
                <a:cs typeface="Arial MT"/>
              </a:rPr>
              <a:t>do not change.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size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cake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quantity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sugar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would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variables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would</a:t>
            </a:r>
            <a:r>
              <a:rPr dirty="0" sz="1200" spc="-10">
                <a:latin typeface="Arial MT"/>
                <a:cs typeface="Arial MT"/>
              </a:rPr>
              <a:t> be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constant.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Temperature </a:t>
            </a:r>
            <a:r>
              <a:rPr dirty="0" sz="1200">
                <a:latin typeface="Arial MT"/>
                <a:cs typeface="Arial MT"/>
              </a:rPr>
              <a:t>would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constant.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25"/>
              </a:spcBef>
            </a:pPr>
            <a:r>
              <a:rPr dirty="0" sz="1200" spc="-5" b="1">
                <a:latin typeface="Arial"/>
                <a:cs typeface="Arial"/>
              </a:rPr>
              <a:t>Collect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Analyze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Results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1940" cy="1341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12065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Hassan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examines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data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notices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control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worked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best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experiment,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significantly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better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100g.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sugar.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Conclusion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200">
                <a:latin typeface="Arial MT"/>
                <a:cs typeface="Arial MT"/>
              </a:rPr>
              <a:t>Hassan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rejects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hypothesis,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decides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re-test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sugar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amounts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50g.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100g.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2452370"/>
            <a:ext cx="6972300" cy="28194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“Problem-Based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Learning (PBL)”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2811526"/>
            <a:ext cx="6631940" cy="879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Outlines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Problem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based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Difference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between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project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problem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based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Learners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outcome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PBL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Special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features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PBL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Theoretical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support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PBL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Managing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PBL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Assessing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PBL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Obstacle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PBL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Approaches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PBL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Arial"/>
              <a:cs typeface="Arial"/>
            </a:endParaRPr>
          </a:p>
          <a:p>
            <a:pPr algn="just" marL="18415" marR="6350" indent="-6350">
              <a:lnSpc>
                <a:spcPct val="1442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Being teachers we must identify the problems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children and help them </a:t>
            </a:r>
            <a:r>
              <a:rPr dirty="0" sz="1200">
                <a:latin typeface="Arial MT"/>
                <a:cs typeface="Arial MT"/>
              </a:rPr>
              <a:t>to solve </a:t>
            </a:r>
            <a:r>
              <a:rPr dirty="0" sz="1200" spc="-5">
                <a:latin typeface="Arial MT"/>
                <a:cs typeface="Arial MT"/>
              </a:rPr>
              <a:t>the problems.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 also have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problems.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times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are unable to solve the problems, the reason is that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>
                <a:latin typeface="Arial MT"/>
                <a:cs typeface="Arial MT"/>
              </a:rPr>
              <a:t>learn </a:t>
            </a:r>
            <a:r>
              <a:rPr dirty="0" sz="1200" spc="-5">
                <a:latin typeface="Arial MT"/>
                <a:cs typeface="Arial MT"/>
              </a:rPr>
              <a:t>to identify and solve the problems in our schools and homes. Problem solving 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 useful learner centered teaching and learning strategy. Good teachers are those who help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Problem-based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 (PBL)</a:t>
            </a:r>
            <a:r>
              <a:rPr dirty="0" sz="1200" b="1">
                <a:latin typeface="Arial"/>
                <a:cs typeface="Arial"/>
              </a:rPr>
              <a:t> overview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problem-based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consist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authentic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meaningful problem situations that can serve as springboards for </a:t>
            </a:r>
            <a:r>
              <a:rPr dirty="0" sz="1200">
                <a:latin typeface="Arial MT"/>
                <a:cs typeface="Arial MT"/>
              </a:rPr>
              <a:t>investigation </a:t>
            </a:r>
            <a:r>
              <a:rPr dirty="0" sz="1200" spc="-5">
                <a:latin typeface="Arial MT"/>
                <a:cs typeface="Arial MT"/>
              </a:rPr>
              <a:t>and inquiry. PBL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 designed primarily to help students develop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thinking, problem solving and intellectual skills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autonomous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opportunity.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030"/>
              </a:spcBef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5" b="1">
                <a:latin typeface="Arial"/>
                <a:cs typeface="Arial"/>
              </a:rPr>
              <a:t> Problem-Based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Learning?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“flow”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problem-based learning: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 learning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starts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engagement.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investigation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resolution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debriefing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Arial MT"/>
              <a:cs typeface="Arial MT"/>
            </a:endParaRPr>
          </a:p>
          <a:p>
            <a:pPr algn="just" marL="18415" marR="6350" indent="-6350">
              <a:lnSpc>
                <a:spcPct val="144100"/>
              </a:lnSpc>
            </a:pPr>
            <a:r>
              <a:rPr dirty="0" sz="1200" spc="-5">
                <a:latin typeface="Arial MT"/>
                <a:cs typeface="Arial MT"/>
              </a:rPr>
              <a:t>Basically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 give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 problem</a:t>
            </a:r>
            <a:r>
              <a:rPr dirty="0" sz="1200">
                <a:latin typeface="Arial MT"/>
                <a:cs typeface="Arial MT"/>
              </a:rPr>
              <a:t> to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>
                <a:latin typeface="Arial MT"/>
                <a:cs typeface="Arial MT"/>
              </a:rPr>
              <a:t> Students </a:t>
            </a:r>
            <a:r>
              <a:rPr dirty="0" sz="1200" spc="-5">
                <a:latin typeface="Arial MT"/>
                <a:cs typeface="Arial MT"/>
              </a:rPr>
              <a:t>engage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themselves 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problems.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carry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investigation.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problem.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talk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0034" cy="318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relevant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irrelevant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irrelevant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not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able to identify the exact problem and solve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problem.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define the problem 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 based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try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clarify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Difference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between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Project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Problem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Based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 algn="just" marL="18415" marR="8890" indent="-6350">
              <a:lnSpc>
                <a:spcPts val="2080"/>
              </a:lnSpc>
              <a:spcBef>
                <a:spcPts val="135"/>
              </a:spcBef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problem base learning the focus is on process.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project learning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focus is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ultimate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outcome 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product.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project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 approaches.</a:t>
            </a:r>
            <a:endParaRPr sz="1200">
              <a:latin typeface="Arial MT"/>
              <a:cs typeface="Arial MT"/>
            </a:endParaRPr>
          </a:p>
          <a:p>
            <a:pPr algn="just" marL="18415" marR="6350" indent="-6350">
              <a:lnSpc>
                <a:spcPts val="2080"/>
              </a:lnSpc>
              <a:spcBef>
                <a:spcPts val="15"/>
              </a:spcBef>
            </a:pPr>
            <a:r>
              <a:rPr dirty="0" sz="1200" spc="-5">
                <a:latin typeface="Arial MT"/>
                <a:cs typeface="Arial MT"/>
              </a:rPr>
              <a:t>When we </a:t>
            </a:r>
            <a:r>
              <a:rPr dirty="0" sz="1200">
                <a:latin typeface="Arial MT"/>
                <a:cs typeface="Arial MT"/>
              </a:rPr>
              <a:t>talk </a:t>
            </a:r>
            <a:r>
              <a:rPr dirty="0" sz="1200" spc="-5">
                <a:latin typeface="Arial MT"/>
                <a:cs typeface="Arial MT"/>
              </a:rPr>
              <a:t>about learning approaches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has a lot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importance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process rather than product. </a:t>
            </a:r>
            <a:r>
              <a:rPr dirty="0" sz="1200">
                <a:latin typeface="Arial MT"/>
                <a:cs typeface="Arial MT"/>
              </a:rPr>
              <a:t> If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talk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factories,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basis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product.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Later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assessed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 process 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  <a:spcBef>
                <a:spcPts val="1025"/>
              </a:spcBef>
            </a:pPr>
            <a:r>
              <a:rPr dirty="0" sz="1200" spc="-5" b="1">
                <a:latin typeface="Arial"/>
                <a:cs typeface="Arial"/>
              </a:rPr>
              <a:t>Learner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Outcomes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Problem-Based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6742556"/>
            <a:ext cx="6633209" cy="4612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Usually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</a:t>
            </a:r>
            <a:r>
              <a:rPr dirty="0" sz="1200">
                <a:latin typeface="Arial MT"/>
                <a:cs typeface="Arial MT"/>
              </a:rPr>
              <a:t> learning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groups.</a:t>
            </a:r>
            <a:r>
              <a:rPr dirty="0" sz="1200">
                <a:latin typeface="Arial MT"/>
                <a:cs typeface="Arial MT"/>
              </a:rPr>
              <a:t> 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naturally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communicate with </a:t>
            </a:r>
            <a:r>
              <a:rPr dirty="0" sz="1200" spc="-10">
                <a:latin typeface="Arial MT"/>
                <a:cs typeface="Arial MT"/>
              </a:rPr>
              <a:t>each </a:t>
            </a:r>
            <a:r>
              <a:rPr dirty="0" sz="1200" spc="-5">
                <a:latin typeface="Arial MT"/>
                <a:cs typeface="Arial MT"/>
              </a:rPr>
              <a:t>other and learn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each other. Cooperative learning is very important. </a:t>
            </a:r>
            <a:r>
              <a:rPr dirty="0" sz="1200">
                <a:latin typeface="Arial MT"/>
                <a:cs typeface="Arial MT"/>
              </a:rPr>
              <a:t> For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child </a:t>
            </a:r>
            <a:r>
              <a:rPr dirty="0" sz="1200" spc="-10">
                <a:latin typeface="Arial MT"/>
                <a:cs typeface="Arial MT"/>
              </a:rPr>
              <a:t>spend </a:t>
            </a:r>
            <a:r>
              <a:rPr dirty="0" sz="1200" spc="-5">
                <a:latin typeface="Arial MT"/>
                <a:cs typeface="Arial MT"/>
              </a:rPr>
              <a:t>six hours in thinking and comes up with two brilliant ideas. While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 make </a:t>
            </a:r>
            <a:r>
              <a:rPr dirty="0" sz="1200" spc="-5">
                <a:latin typeface="Arial MT"/>
                <a:cs typeface="Arial MT"/>
              </a:rPr>
              <a:t>the groups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children and they brainstorm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one hour and come </a:t>
            </a:r>
            <a:r>
              <a:rPr dirty="0" sz="1200">
                <a:latin typeface="Arial MT"/>
                <a:cs typeface="Arial MT"/>
              </a:rPr>
              <a:t>up </a:t>
            </a:r>
            <a:r>
              <a:rPr dirty="0" sz="1200" spc="-5">
                <a:latin typeface="Arial MT"/>
                <a:cs typeface="Arial MT"/>
              </a:rPr>
              <a:t>with six brilliant </a:t>
            </a:r>
            <a:r>
              <a:rPr dirty="0" sz="1200">
                <a:latin typeface="Arial MT"/>
                <a:cs typeface="Arial MT"/>
              </a:rPr>
              <a:t>ideas.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 learning will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more efficient for developing the </a:t>
            </a:r>
            <a:r>
              <a:rPr dirty="0" sz="1200" spc="-10">
                <a:latin typeface="Arial MT"/>
                <a:cs typeface="Arial MT"/>
              </a:rPr>
              <a:t>ideas. </a:t>
            </a:r>
            <a:r>
              <a:rPr dirty="0" sz="1200" spc="-5">
                <a:latin typeface="Arial MT"/>
                <a:cs typeface="Arial MT"/>
              </a:rPr>
              <a:t>Group learning lso develops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Arial MT"/>
              <a:cs typeface="Arial MT"/>
            </a:endParaRPr>
          </a:p>
          <a:p>
            <a:pPr marL="361950" marR="3489325" indent="-342265">
              <a:lnSpc>
                <a:spcPct val="142500"/>
              </a:lnSpc>
            </a:pPr>
            <a:r>
              <a:rPr dirty="0" sz="1200" spc="-5" b="1">
                <a:latin typeface="Arial"/>
                <a:cs typeface="Arial"/>
              </a:rPr>
              <a:t>Special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features</a:t>
            </a:r>
            <a:r>
              <a:rPr dirty="0" sz="1200" b="1">
                <a:latin typeface="Arial"/>
                <a:cs typeface="Arial"/>
              </a:rPr>
              <a:t> of </a:t>
            </a:r>
            <a:r>
              <a:rPr dirty="0" sz="1200" spc="-5" b="1">
                <a:latin typeface="Arial"/>
                <a:cs typeface="Arial"/>
              </a:rPr>
              <a:t>problem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based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Driving</a:t>
            </a:r>
            <a:r>
              <a:rPr dirty="0" sz="1200" spc="-5" b="1">
                <a:latin typeface="Arial"/>
                <a:cs typeface="Arial"/>
              </a:rPr>
              <a:t> question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problem</a:t>
            </a:r>
            <a:endParaRPr sz="1200">
              <a:latin typeface="Arial"/>
              <a:cs typeface="Arial"/>
            </a:endParaRPr>
          </a:p>
          <a:p>
            <a:pPr marL="361950" marR="3265170">
              <a:lnSpc>
                <a:spcPct val="141900"/>
              </a:lnSpc>
              <a:spcBef>
                <a:spcPts val="10"/>
              </a:spcBef>
            </a:pPr>
            <a:r>
              <a:rPr dirty="0" sz="1200" b="1">
                <a:latin typeface="Arial"/>
                <a:cs typeface="Arial"/>
              </a:rPr>
              <a:t>Focusing on </a:t>
            </a:r>
            <a:r>
              <a:rPr dirty="0" sz="1200" spc="-5" b="1">
                <a:latin typeface="Arial"/>
                <a:cs typeface="Arial"/>
              </a:rPr>
              <a:t>interdisciplinary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integration.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Authentic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investigation</a:t>
            </a:r>
            <a:endParaRPr sz="1200">
              <a:latin typeface="Arial"/>
              <a:cs typeface="Arial"/>
            </a:endParaRPr>
          </a:p>
          <a:p>
            <a:pPr marL="361950" marR="3662679">
              <a:lnSpc>
                <a:spcPct val="142500"/>
              </a:lnSpc>
            </a:pPr>
            <a:r>
              <a:rPr dirty="0" sz="1200" b="1">
                <a:latin typeface="Arial"/>
                <a:cs typeface="Arial"/>
              </a:rPr>
              <a:t>Production of </a:t>
            </a:r>
            <a:r>
              <a:rPr dirty="0" sz="1200" spc="-5" b="1">
                <a:latin typeface="Arial"/>
                <a:cs typeface="Arial"/>
              </a:rPr>
              <a:t>artifacts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exhibits.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Collaboration</a:t>
            </a:r>
            <a:endParaRPr sz="1200">
              <a:latin typeface="Arial"/>
              <a:cs typeface="Arial"/>
            </a:endParaRPr>
          </a:p>
          <a:p>
            <a:pPr algn="just" marL="18415" marR="11430" indent="-6350">
              <a:lnSpc>
                <a:spcPct val="144200"/>
              </a:lnSpc>
              <a:spcBef>
                <a:spcPts val="960"/>
              </a:spcBef>
            </a:pP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curious observation, curious attributes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required. Problem based learning also starts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reason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investigate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Integrate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with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particular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topic.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1899" y="5481954"/>
            <a:ext cx="1419860" cy="1028700"/>
          </a:xfrm>
          <a:prstGeom prst="rect">
            <a:avLst/>
          </a:prstGeom>
          <a:solidFill>
            <a:srgbClr val="4F81BC"/>
          </a:solidFill>
          <a:ln w="24383">
            <a:solidFill>
              <a:srgbClr val="385D89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Times New Roman"/>
              <a:cs typeface="Times New Roman"/>
            </a:endParaRPr>
          </a:p>
          <a:p>
            <a:pPr algn="ctr" marL="337820" marR="330200">
              <a:lnSpc>
                <a:spcPct val="97100"/>
              </a:lnSpc>
            </a:pP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Skills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dirty="0" sz="12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indep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nd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nt 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36392" y="3856990"/>
            <a:ext cx="1444625" cy="1054100"/>
            <a:chOff x="2636392" y="3856990"/>
            <a:chExt cx="1444625" cy="1054100"/>
          </a:xfrm>
        </p:grpSpPr>
        <p:sp>
          <p:nvSpPr>
            <p:cNvPr id="6" name="object 6"/>
            <p:cNvSpPr/>
            <p:nvPr/>
          </p:nvSpPr>
          <p:spPr>
            <a:xfrm>
              <a:off x="2648584" y="3868674"/>
              <a:ext cx="1419225" cy="1028700"/>
            </a:xfrm>
            <a:custGeom>
              <a:avLst/>
              <a:gdLst/>
              <a:ahLst/>
              <a:cxnLst/>
              <a:rect l="l" t="t" r="r" b="b"/>
              <a:pathLst>
                <a:path w="1419225" h="1028700">
                  <a:moveTo>
                    <a:pt x="1418716" y="0"/>
                  </a:moveTo>
                  <a:lnTo>
                    <a:pt x="0" y="0"/>
                  </a:lnTo>
                  <a:lnTo>
                    <a:pt x="0" y="1028573"/>
                  </a:lnTo>
                  <a:lnTo>
                    <a:pt x="1418716" y="1028573"/>
                  </a:lnTo>
                  <a:lnTo>
                    <a:pt x="141871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636393" y="3856989"/>
              <a:ext cx="1444625" cy="1054100"/>
            </a:xfrm>
            <a:custGeom>
              <a:avLst/>
              <a:gdLst/>
              <a:ahLst/>
              <a:cxnLst/>
              <a:rect l="l" t="t" r="r" b="b"/>
              <a:pathLst>
                <a:path w="1444625" h="1054100">
                  <a:moveTo>
                    <a:pt x="1444625" y="5080"/>
                  </a:moveTo>
                  <a:lnTo>
                    <a:pt x="1441564" y="5080"/>
                  </a:lnTo>
                  <a:lnTo>
                    <a:pt x="1441564" y="0"/>
                  </a:lnTo>
                  <a:lnTo>
                    <a:pt x="1418717" y="0"/>
                  </a:lnTo>
                  <a:lnTo>
                    <a:pt x="1418717" y="25400"/>
                  </a:lnTo>
                  <a:lnTo>
                    <a:pt x="1418717" y="1028700"/>
                  </a:lnTo>
                  <a:lnTo>
                    <a:pt x="721487" y="1028700"/>
                  </a:lnTo>
                  <a:lnTo>
                    <a:pt x="24384" y="1028700"/>
                  </a:lnTo>
                  <a:lnTo>
                    <a:pt x="24384" y="25400"/>
                  </a:lnTo>
                  <a:lnTo>
                    <a:pt x="721487" y="25400"/>
                  </a:lnTo>
                  <a:lnTo>
                    <a:pt x="1418717" y="25400"/>
                  </a:lnTo>
                  <a:lnTo>
                    <a:pt x="1418717" y="0"/>
                  </a:lnTo>
                  <a:lnTo>
                    <a:pt x="721487" y="0"/>
                  </a:lnTo>
                  <a:lnTo>
                    <a:pt x="2286" y="0"/>
                  </a:lnTo>
                  <a:lnTo>
                    <a:pt x="2286" y="5080"/>
                  </a:lnTo>
                  <a:lnTo>
                    <a:pt x="0" y="5080"/>
                  </a:lnTo>
                  <a:lnTo>
                    <a:pt x="0" y="25400"/>
                  </a:lnTo>
                  <a:lnTo>
                    <a:pt x="0" y="1028700"/>
                  </a:lnTo>
                  <a:lnTo>
                    <a:pt x="0" y="1047750"/>
                  </a:lnTo>
                  <a:lnTo>
                    <a:pt x="2273" y="1047750"/>
                  </a:lnTo>
                  <a:lnTo>
                    <a:pt x="2273" y="1054100"/>
                  </a:lnTo>
                  <a:lnTo>
                    <a:pt x="721487" y="1054100"/>
                  </a:lnTo>
                  <a:lnTo>
                    <a:pt x="1441577" y="1054100"/>
                  </a:lnTo>
                  <a:lnTo>
                    <a:pt x="1441577" y="1047750"/>
                  </a:lnTo>
                  <a:lnTo>
                    <a:pt x="1444625" y="1047750"/>
                  </a:lnTo>
                  <a:lnTo>
                    <a:pt x="1444625" y="1028700"/>
                  </a:lnTo>
                  <a:lnTo>
                    <a:pt x="1444625" y="25400"/>
                  </a:lnTo>
                  <a:lnTo>
                    <a:pt x="1444625" y="5080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921635" y="4128643"/>
            <a:ext cx="874394" cy="56388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ctr" marL="12700" marR="5080" indent="-1270">
              <a:lnSpc>
                <a:spcPct val="97100"/>
              </a:lnSpc>
              <a:spcBef>
                <a:spcPts val="140"/>
              </a:spcBef>
            </a:pP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Adult role </a:t>
            </a:r>
            <a:r>
              <a:rPr dirty="0" sz="12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behaviors</a:t>
            </a:r>
            <a:r>
              <a:rPr dirty="0" sz="12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dirty="0" sz="1200" spc="-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social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skills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63364" y="5481954"/>
            <a:ext cx="1419225" cy="1028700"/>
          </a:xfrm>
          <a:prstGeom prst="rect">
            <a:avLst/>
          </a:prstGeom>
          <a:solidFill>
            <a:srgbClr val="4F81BC"/>
          </a:solidFill>
          <a:ln w="25908">
            <a:solidFill>
              <a:srgbClr val="385D89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Times New Roman"/>
              <a:cs typeface="Times New Roman"/>
            </a:endParaRPr>
          </a:p>
          <a:p>
            <a:pPr algn="ctr" marL="207645" marR="199390">
              <a:lnSpc>
                <a:spcPct val="97100"/>
              </a:lnSpc>
            </a:pP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Inquiry and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dirty="0" sz="12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solving </a:t>
            </a:r>
            <a:r>
              <a:rPr dirty="0" sz="1200" spc="-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skills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78480" y="5272151"/>
            <a:ext cx="1597025" cy="1558925"/>
            <a:chOff x="2578480" y="5272151"/>
            <a:chExt cx="1597025" cy="1558925"/>
          </a:xfrm>
        </p:grpSpPr>
        <p:sp>
          <p:nvSpPr>
            <p:cNvPr id="11" name="object 11"/>
            <p:cNvSpPr/>
            <p:nvPr/>
          </p:nvSpPr>
          <p:spPr>
            <a:xfrm>
              <a:off x="2590672" y="5284343"/>
              <a:ext cx="1572895" cy="1532890"/>
            </a:xfrm>
            <a:custGeom>
              <a:avLst/>
              <a:gdLst/>
              <a:ahLst/>
              <a:cxnLst/>
              <a:rect l="l" t="t" r="r" b="b"/>
              <a:pathLst>
                <a:path w="1572895" h="1532890">
                  <a:moveTo>
                    <a:pt x="786256" y="0"/>
                  </a:moveTo>
                  <a:lnTo>
                    <a:pt x="738362" y="1397"/>
                  </a:lnTo>
                  <a:lnTo>
                    <a:pt x="691227" y="5535"/>
                  </a:lnTo>
                  <a:lnTo>
                    <a:pt x="644932" y="12336"/>
                  </a:lnTo>
                  <a:lnTo>
                    <a:pt x="599561" y="21717"/>
                  </a:lnTo>
                  <a:lnTo>
                    <a:pt x="555195" y="33601"/>
                  </a:lnTo>
                  <a:lnTo>
                    <a:pt x="511916" y="47907"/>
                  </a:lnTo>
                  <a:lnTo>
                    <a:pt x="469807" y="64555"/>
                  </a:lnTo>
                  <a:lnTo>
                    <a:pt x="428951" y="83465"/>
                  </a:lnTo>
                  <a:lnTo>
                    <a:pt x="389429" y="104558"/>
                  </a:lnTo>
                  <a:lnTo>
                    <a:pt x="351323" y="127754"/>
                  </a:lnTo>
                  <a:lnTo>
                    <a:pt x="314717" y="152972"/>
                  </a:lnTo>
                  <a:lnTo>
                    <a:pt x="279691" y="180134"/>
                  </a:lnTo>
                  <a:lnTo>
                    <a:pt x="246330" y="209159"/>
                  </a:lnTo>
                  <a:lnTo>
                    <a:pt x="214713" y="239967"/>
                  </a:lnTo>
                  <a:lnTo>
                    <a:pt x="184925" y="272479"/>
                  </a:lnTo>
                  <a:lnTo>
                    <a:pt x="157048" y="306615"/>
                  </a:lnTo>
                  <a:lnTo>
                    <a:pt x="131163" y="342294"/>
                  </a:lnTo>
                  <a:lnTo>
                    <a:pt x="107352" y="379438"/>
                  </a:lnTo>
                  <a:lnTo>
                    <a:pt x="85699" y="417966"/>
                  </a:lnTo>
                  <a:lnTo>
                    <a:pt x="66285" y="457798"/>
                  </a:lnTo>
                  <a:lnTo>
                    <a:pt x="49193" y="498855"/>
                  </a:lnTo>
                  <a:lnTo>
                    <a:pt x="34504" y="541057"/>
                  </a:lnTo>
                  <a:lnTo>
                    <a:pt x="22302" y="584324"/>
                  </a:lnTo>
                  <a:lnTo>
                    <a:pt x="12668" y="628576"/>
                  </a:lnTo>
                  <a:lnTo>
                    <a:pt x="5685" y="673733"/>
                  </a:lnTo>
                  <a:lnTo>
                    <a:pt x="1435" y="719716"/>
                  </a:lnTo>
                  <a:lnTo>
                    <a:pt x="0" y="766445"/>
                  </a:lnTo>
                  <a:lnTo>
                    <a:pt x="1435" y="813173"/>
                  </a:lnTo>
                  <a:lnTo>
                    <a:pt x="5685" y="859156"/>
                  </a:lnTo>
                  <a:lnTo>
                    <a:pt x="12668" y="904313"/>
                  </a:lnTo>
                  <a:lnTo>
                    <a:pt x="22302" y="948565"/>
                  </a:lnTo>
                  <a:lnTo>
                    <a:pt x="34504" y="991832"/>
                  </a:lnTo>
                  <a:lnTo>
                    <a:pt x="49193" y="1034034"/>
                  </a:lnTo>
                  <a:lnTo>
                    <a:pt x="66285" y="1075091"/>
                  </a:lnTo>
                  <a:lnTo>
                    <a:pt x="85699" y="1114923"/>
                  </a:lnTo>
                  <a:lnTo>
                    <a:pt x="107352" y="1153451"/>
                  </a:lnTo>
                  <a:lnTo>
                    <a:pt x="131163" y="1190595"/>
                  </a:lnTo>
                  <a:lnTo>
                    <a:pt x="157048" y="1226274"/>
                  </a:lnTo>
                  <a:lnTo>
                    <a:pt x="184925" y="1260410"/>
                  </a:lnTo>
                  <a:lnTo>
                    <a:pt x="214713" y="1292922"/>
                  </a:lnTo>
                  <a:lnTo>
                    <a:pt x="246330" y="1323730"/>
                  </a:lnTo>
                  <a:lnTo>
                    <a:pt x="279691" y="1352755"/>
                  </a:lnTo>
                  <a:lnTo>
                    <a:pt x="314717" y="1379917"/>
                  </a:lnTo>
                  <a:lnTo>
                    <a:pt x="351323" y="1405135"/>
                  </a:lnTo>
                  <a:lnTo>
                    <a:pt x="389429" y="1428331"/>
                  </a:lnTo>
                  <a:lnTo>
                    <a:pt x="428951" y="1449424"/>
                  </a:lnTo>
                  <a:lnTo>
                    <a:pt x="469807" y="1468334"/>
                  </a:lnTo>
                  <a:lnTo>
                    <a:pt x="511916" y="1484982"/>
                  </a:lnTo>
                  <a:lnTo>
                    <a:pt x="555195" y="1499288"/>
                  </a:lnTo>
                  <a:lnTo>
                    <a:pt x="599561" y="1511172"/>
                  </a:lnTo>
                  <a:lnTo>
                    <a:pt x="644932" y="1520553"/>
                  </a:lnTo>
                  <a:lnTo>
                    <a:pt x="691227" y="1527354"/>
                  </a:lnTo>
                  <a:lnTo>
                    <a:pt x="738362" y="1531492"/>
                  </a:lnTo>
                  <a:lnTo>
                    <a:pt x="786256" y="1532889"/>
                  </a:lnTo>
                  <a:lnTo>
                    <a:pt x="834164" y="1531492"/>
                  </a:lnTo>
                  <a:lnTo>
                    <a:pt x="881312" y="1527354"/>
                  </a:lnTo>
                  <a:lnTo>
                    <a:pt x="927618" y="1520553"/>
                  </a:lnTo>
                  <a:lnTo>
                    <a:pt x="973001" y="1511172"/>
                  </a:lnTo>
                  <a:lnTo>
                    <a:pt x="1017377" y="1499288"/>
                  </a:lnTo>
                  <a:lnTo>
                    <a:pt x="1060664" y="1484982"/>
                  </a:lnTo>
                  <a:lnTo>
                    <a:pt x="1102781" y="1468334"/>
                  </a:lnTo>
                  <a:lnTo>
                    <a:pt x="1143645" y="1449424"/>
                  </a:lnTo>
                  <a:lnTo>
                    <a:pt x="1183174" y="1428331"/>
                  </a:lnTo>
                  <a:lnTo>
                    <a:pt x="1221285" y="1405135"/>
                  </a:lnTo>
                  <a:lnTo>
                    <a:pt x="1257897" y="1379917"/>
                  </a:lnTo>
                  <a:lnTo>
                    <a:pt x="1292927" y="1352755"/>
                  </a:lnTo>
                  <a:lnTo>
                    <a:pt x="1326293" y="1323730"/>
                  </a:lnTo>
                  <a:lnTo>
                    <a:pt x="1357912" y="1292922"/>
                  </a:lnTo>
                  <a:lnTo>
                    <a:pt x="1387703" y="1260410"/>
                  </a:lnTo>
                  <a:lnTo>
                    <a:pt x="1415584" y="1226274"/>
                  </a:lnTo>
                  <a:lnTo>
                    <a:pt x="1441471" y="1190595"/>
                  </a:lnTo>
                  <a:lnTo>
                    <a:pt x="1465283" y="1153451"/>
                  </a:lnTo>
                  <a:lnTo>
                    <a:pt x="1486938" y="1114923"/>
                  </a:lnTo>
                  <a:lnTo>
                    <a:pt x="1506353" y="1075091"/>
                  </a:lnTo>
                  <a:lnTo>
                    <a:pt x="1523446" y="1034034"/>
                  </a:lnTo>
                  <a:lnTo>
                    <a:pt x="1538135" y="991832"/>
                  </a:lnTo>
                  <a:lnTo>
                    <a:pt x="1550338" y="948565"/>
                  </a:lnTo>
                  <a:lnTo>
                    <a:pt x="1559972" y="904313"/>
                  </a:lnTo>
                  <a:lnTo>
                    <a:pt x="1566955" y="859156"/>
                  </a:lnTo>
                  <a:lnTo>
                    <a:pt x="1571205" y="813173"/>
                  </a:lnTo>
                  <a:lnTo>
                    <a:pt x="1572640" y="766445"/>
                  </a:lnTo>
                  <a:lnTo>
                    <a:pt x="1571205" y="719716"/>
                  </a:lnTo>
                  <a:lnTo>
                    <a:pt x="1566955" y="673733"/>
                  </a:lnTo>
                  <a:lnTo>
                    <a:pt x="1559972" y="628576"/>
                  </a:lnTo>
                  <a:lnTo>
                    <a:pt x="1550338" y="584324"/>
                  </a:lnTo>
                  <a:lnTo>
                    <a:pt x="1538135" y="541057"/>
                  </a:lnTo>
                  <a:lnTo>
                    <a:pt x="1523446" y="498855"/>
                  </a:lnTo>
                  <a:lnTo>
                    <a:pt x="1506353" y="457798"/>
                  </a:lnTo>
                  <a:lnTo>
                    <a:pt x="1486938" y="417966"/>
                  </a:lnTo>
                  <a:lnTo>
                    <a:pt x="1465283" y="379438"/>
                  </a:lnTo>
                  <a:lnTo>
                    <a:pt x="1441471" y="342294"/>
                  </a:lnTo>
                  <a:lnTo>
                    <a:pt x="1415584" y="306615"/>
                  </a:lnTo>
                  <a:lnTo>
                    <a:pt x="1387703" y="272479"/>
                  </a:lnTo>
                  <a:lnTo>
                    <a:pt x="1357912" y="239967"/>
                  </a:lnTo>
                  <a:lnTo>
                    <a:pt x="1326293" y="209159"/>
                  </a:lnTo>
                  <a:lnTo>
                    <a:pt x="1292927" y="180134"/>
                  </a:lnTo>
                  <a:lnTo>
                    <a:pt x="1257897" y="152972"/>
                  </a:lnTo>
                  <a:lnTo>
                    <a:pt x="1221285" y="127754"/>
                  </a:lnTo>
                  <a:lnTo>
                    <a:pt x="1183174" y="104558"/>
                  </a:lnTo>
                  <a:lnTo>
                    <a:pt x="1143645" y="83465"/>
                  </a:lnTo>
                  <a:lnTo>
                    <a:pt x="1102781" y="64555"/>
                  </a:lnTo>
                  <a:lnTo>
                    <a:pt x="1060664" y="47907"/>
                  </a:lnTo>
                  <a:lnTo>
                    <a:pt x="1017377" y="33601"/>
                  </a:lnTo>
                  <a:lnTo>
                    <a:pt x="973001" y="21717"/>
                  </a:lnTo>
                  <a:lnTo>
                    <a:pt x="927618" y="12336"/>
                  </a:lnTo>
                  <a:lnTo>
                    <a:pt x="881312" y="5535"/>
                  </a:lnTo>
                  <a:lnTo>
                    <a:pt x="834164" y="1397"/>
                  </a:lnTo>
                  <a:lnTo>
                    <a:pt x="78625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578481" y="5272150"/>
              <a:ext cx="1597025" cy="1558925"/>
            </a:xfrm>
            <a:custGeom>
              <a:avLst/>
              <a:gdLst/>
              <a:ahLst/>
              <a:cxnLst/>
              <a:rect l="l" t="t" r="r" b="b"/>
              <a:pathLst>
                <a:path w="1597025" h="1558925">
                  <a:moveTo>
                    <a:pt x="1597025" y="778637"/>
                  </a:moveTo>
                  <a:lnTo>
                    <a:pt x="1595501" y="739013"/>
                  </a:lnTo>
                  <a:lnTo>
                    <a:pt x="1592453" y="699389"/>
                  </a:lnTo>
                  <a:lnTo>
                    <a:pt x="1587881" y="659765"/>
                  </a:lnTo>
                  <a:lnTo>
                    <a:pt x="1580261" y="621665"/>
                  </a:lnTo>
                  <a:lnTo>
                    <a:pt x="1571117" y="583565"/>
                  </a:lnTo>
                  <a:lnTo>
                    <a:pt x="1571117" y="740537"/>
                  </a:lnTo>
                  <a:lnTo>
                    <a:pt x="1571117" y="818261"/>
                  </a:lnTo>
                  <a:lnTo>
                    <a:pt x="1568069" y="856361"/>
                  </a:lnTo>
                  <a:lnTo>
                    <a:pt x="1563497" y="894461"/>
                  </a:lnTo>
                  <a:lnTo>
                    <a:pt x="1546733" y="967625"/>
                  </a:lnTo>
                  <a:lnTo>
                    <a:pt x="1525397" y="1037717"/>
                  </a:lnTo>
                  <a:lnTo>
                    <a:pt x="1510157" y="1072769"/>
                  </a:lnTo>
                  <a:lnTo>
                    <a:pt x="1478153" y="1138301"/>
                  </a:lnTo>
                  <a:lnTo>
                    <a:pt x="1440053" y="1200785"/>
                  </a:lnTo>
                  <a:lnTo>
                    <a:pt x="1371473" y="1286129"/>
                  </a:lnTo>
                  <a:lnTo>
                    <a:pt x="1290701" y="1360805"/>
                  </a:lnTo>
                  <a:lnTo>
                    <a:pt x="1231265" y="1403350"/>
                  </a:lnTo>
                  <a:lnTo>
                    <a:pt x="1167257" y="1441450"/>
                  </a:lnTo>
                  <a:lnTo>
                    <a:pt x="1098677" y="1473454"/>
                  </a:lnTo>
                  <a:lnTo>
                    <a:pt x="1028573" y="1499362"/>
                  </a:lnTo>
                  <a:lnTo>
                    <a:pt x="953897" y="1517650"/>
                  </a:lnTo>
                  <a:lnTo>
                    <a:pt x="915797" y="1523746"/>
                  </a:lnTo>
                  <a:lnTo>
                    <a:pt x="877697" y="1528318"/>
                  </a:lnTo>
                  <a:lnTo>
                    <a:pt x="838073" y="1531366"/>
                  </a:lnTo>
                  <a:lnTo>
                    <a:pt x="798449" y="1532890"/>
                  </a:lnTo>
                  <a:lnTo>
                    <a:pt x="758952" y="1531366"/>
                  </a:lnTo>
                  <a:lnTo>
                    <a:pt x="719328" y="1528318"/>
                  </a:lnTo>
                  <a:lnTo>
                    <a:pt x="681228" y="1523746"/>
                  </a:lnTo>
                  <a:lnTo>
                    <a:pt x="643128" y="1517650"/>
                  </a:lnTo>
                  <a:lnTo>
                    <a:pt x="605028" y="1508506"/>
                  </a:lnTo>
                  <a:lnTo>
                    <a:pt x="531876" y="1487170"/>
                  </a:lnTo>
                  <a:lnTo>
                    <a:pt x="463296" y="1458214"/>
                  </a:lnTo>
                  <a:lnTo>
                    <a:pt x="397764" y="1423162"/>
                  </a:lnTo>
                  <a:lnTo>
                    <a:pt x="335280" y="1382014"/>
                  </a:lnTo>
                  <a:lnTo>
                    <a:pt x="251460" y="1312037"/>
                  </a:lnTo>
                  <a:lnTo>
                    <a:pt x="201168" y="1258697"/>
                  </a:lnTo>
                  <a:lnTo>
                    <a:pt x="156972" y="1200785"/>
                  </a:lnTo>
                  <a:lnTo>
                    <a:pt x="118872" y="1138301"/>
                  </a:lnTo>
                  <a:lnTo>
                    <a:pt x="86868" y="1071245"/>
                  </a:lnTo>
                  <a:lnTo>
                    <a:pt x="60960" y="1002677"/>
                  </a:lnTo>
                  <a:lnTo>
                    <a:pt x="41148" y="931049"/>
                  </a:lnTo>
                  <a:lnTo>
                    <a:pt x="28956" y="856361"/>
                  </a:lnTo>
                  <a:lnTo>
                    <a:pt x="25908" y="816737"/>
                  </a:lnTo>
                  <a:lnTo>
                    <a:pt x="25908" y="740537"/>
                  </a:lnTo>
                  <a:lnTo>
                    <a:pt x="28956" y="700913"/>
                  </a:lnTo>
                  <a:lnTo>
                    <a:pt x="41148" y="626237"/>
                  </a:lnTo>
                  <a:lnTo>
                    <a:pt x="60960" y="554609"/>
                  </a:lnTo>
                  <a:lnTo>
                    <a:pt x="86868" y="484505"/>
                  </a:lnTo>
                  <a:lnTo>
                    <a:pt x="118872" y="418973"/>
                  </a:lnTo>
                  <a:lnTo>
                    <a:pt x="156972" y="356489"/>
                  </a:lnTo>
                  <a:lnTo>
                    <a:pt x="202692" y="298577"/>
                  </a:lnTo>
                  <a:lnTo>
                    <a:pt x="251460" y="245237"/>
                  </a:lnTo>
                  <a:lnTo>
                    <a:pt x="306324" y="196469"/>
                  </a:lnTo>
                  <a:lnTo>
                    <a:pt x="367284" y="153924"/>
                  </a:lnTo>
                  <a:lnTo>
                    <a:pt x="429768" y="115824"/>
                  </a:lnTo>
                  <a:lnTo>
                    <a:pt x="498348" y="83820"/>
                  </a:lnTo>
                  <a:lnTo>
                    <a:pt x="568452" y="59436"/>
                  </a:lnTo>
                  <a:lnTo>
                    <a:pt x="605028" y="48768"/>
                  </a:lnTo>
                  <a:lnTo>
                    <a:pt x="643128" y="39624"/>
                  </a:lnTo>
                  <a:lnTo>
                    <a:pt x="681228" y="33528"/>
                  </a:lnTo>
                  <a:lnTo>
                    <a:pt x="719328" y="28956"/>
                  </a:lnTo>
                  <a:lnTo>
                    <a:pt x="758952" y="25908"/>
                  </a:lnTo>
                  <a:lnTo>
                    <a:pt x="798449" y="24384"/>
                  </a:lnTo>
                  <a:lnTo>
                    <a:pt x="838073" y="25908"/>
                  </a:lnTo>
                  <a:lnTo>
                    <a:pt x="877697" y="28956"/>
                  </a:lnTo>
                  <a:lnTo>
                    <a:pt x="917321" y="33528"/>
                  </a:lnTo>
                  <a:lnTo>
                    <a:pt x="955421" y="39624"/>
                  </a:lnTo>
                  <a:lnTo>
                    <a:pt x="1065149" y="70104"/>
                  </a:lnTo>
                  <a:lnTo>
                    <a:pt x="1133729" y="99060"/>
                  </a:lnTo>
                  <a:lnTo>
                    <a:pt x="1199261" y="134112"/>
                  </a:lnTo>
                  <a:lnTo>
                    <a:pt x="1261745" y="175260"/>
                  </a:lnTo>
                  <a:lnTo>
                    <a:pt x="1318133" y="220853"/>
                  </a:lnTo>
                  <a:lnTo>
                    <a:pt x="1371473" y="272669"/>
                  </a:lnTo>
                  <a:lnTo>
                    <a:pt x="1418717" y="327533"/>
                  </a:lnTo>
                  <a:lnTo>
                    <a:pt x="1459865" y="388493"/>
                  </a:lnTo>
                  <a:lnTo>
                    <a:pt x="1494917" y="452501"/>
                  </a:lnTo>
                  <a:lnTo>
                    <a:pt x="1525397" y="519557"/>
                  </a:lnTo>
                  <a:lnTo>
                    <a:pt x="1555877" y="627761"/>
                  </a:lnTo>
                  <a:lnTo>
                    <a:pt x="1568069" y="702437"/>
                  </a:lnTo>
                  <a:lnTo>
                    <a:pt x="1571117" y="740537"/>
                  </a:lnTo>
                  <a:lnTo>
                    <a:pt x="1571117" y="583565"/>
                  </a:lnTo>
                  <a:lnTo>
                    <a:pt x="1560449" y="546989"/>
                  </a:lnTo>
                  <a:lnTo>
                    <a:pt x="1548257" y="510413"/>
                  </a:lnTo>
                  <a:lnTo>
                    <a:pt x="1517777" y="440309"/>
                  </a:lnTo>
                  <a:lnTo>
                    <a:pt x="1481201" y="374777"/>
                  </a:lnTo>
                  <a:lnTo>
                    <a:pt x="1459865" y="342773"/>
                  </a:lnTo>
                  <a:lnTo>
                    <a:pt x="1389761" y="254381"/>
                  </a:lnTo>
                  <a:lnTo>
                    <a:pt x="1362329" y="226949"/>
                  </a:lnTo>
                  <a:lnTo>
                    <a:pt x="1305941" y="176784"/>
                  </a:lnTo>
                  <a:lnTo>
                    <a:pt x="1275461" y="153924"/>
                  </a:lnTo>
                  <a:lnTo>
                    <a:pt x="1212977" y="112776"/>
                  </a:lnTo>
                  <a:lnTo>
                    <a:pt x="1179449" y="92964"/>
                  </a:lnTo>
                  <a:lnTo>
                    <a:pt x="1144397" y="76200"/>
                  </a:lnTo>
                  <a:lnTo>
                    <a:pt x="1109345" y="60960"/>
                  </a:lnTo>
                  <a:lnTo>
                    <a:pt x="1072769" y="47244"/>
                  </a:lnTo>
                  <a:lnTo>
                    <a:pt x="1036193" y="35052"/>
                  </a:lnTo>
                  <a:lnTo>
                    <a:pt x="998093" y="24384"/>
                  </a:lnTo>
                  <a:lnTo>
                    <a:pt x="958469" y="15240"/>
                  </a:lnTo>
                  <a:lnTo>
                    <a:pt x="920369" y="9144"/>
                  </a:lnTo>
                  <a:lnTo>
                    <a:pt x="879221" y="3048"/>
                  </a:lnTo>
                  <a:lnTo>
                    <a:pt x="839597" y="0"/>
                  </a:lnTo>
                  <a:lnTo>
                    <a:pt x="798449" y="0"/>
                  </a:lnTo>
                  <a:lnTo>
                    <a:pt x="757428" y="0"/>
                  </a:lnTo>
                  <a:lnTo>
                    <a:pt x="716280" y="3048"/>
                  </a:lnTo>
                  <a:lnTo>
                    <a:pt x="637032" y="15240"/>
                  </a:lnTo>
                  <a:lnTo>
                    <a:pt x="598932" y="24384"/>
                  </a:lnTo>
                  <a:lnTo>
                    <a:pt x="560832" y="35052"/>
                  </a:lnTo>
                  <a:lnTo>
                    <a:pt x="524256" y="47244"/>
                  </a:lnTo>
                  <a:lnTo>
                    <a:pt x="487680" y="60960"/>
                  </a:lnTo>
                  <a:lnTo>
                    <a:pt x="452628" y="76200"/>
                  </a:lnTo>
                  <a:lnTo>
                    <a:pt x="417576" y="94488"/>
                  </a:lnTo>
                  <a:lnTo>
                    <a:pt x="384048" y="112776"/>
                  </a:lnTo>
                  <a:lnTo>
                    <a:pt x="321564" y="153924"/>
                  </a:lnTo>
                  <a:lnTo>
                    <a:pt x="291084" y="178308"/>
                  </a:lnTo>
                  <a:lnTo>
                    <a:pt x="207264" y="254381"/>
                  </a:lnTo>
                  <a:lnTo>
                    <a:pt x="158496" y="312293"/>
                  </a:lnTo>
                  <a:lnTo>
                    <a:pt x="115824" y="374777"/>
                  </a:lnTo>
                  <a:lnTo>
                    <a:pt x="79248" y="441833"/>
                  </a:lnTo>
                  <a:lnTo>
                    <a:pt x="62484" y="475361"/>
                  </a:lnTo>
                  <a:lnTo>
                    <a:pt x="36576" y="546989"/>
                  </a:lnTo>
                  <a:lnTo>
                    <a:pt x="25908" y="583565"/>
                  </a:lnTo>
                  <a:lnTo>
                    <a:pt x="16764" y="621665"/>
                  </a:lnTo>
                  <a:lnTo>
                    <a:pt x="9144" y="659765"/>
                  </a:lnTo>
                  <a:lnTo>
                    <a:pt x="4572" y="699389"/>
                  </a:lnTo>
                  <a:lnTo>
                    <a:pt x="1524" y="739013"/>
                  </a:lnTo>
                  <a:lnTo>
                    <a:pt x="0" y="778637"/>
                  </a:lnTo>
                  <a:lnTo>
                    <a:pt x="1524" y="819785"/>
                  </a:lnTo>
                  <a:lnTo>
                    <a:pt x="4572" y="859409"/>
                  </a:lnTo>
                  <a:lnTo>
                    <a:pt x="9144" y="897509"/>
                  </a:lnTo>
                  <a:lnTo>
                    <a:pt x="16764" y="935609"/>
                  </a:lnTo>
                  <a:lnTo>
                    <a:pt x="25908" y="973709"/>
                  </a:lnTo>
                  <a:lnTo>
                    <a:pt x="36576" y="1011809"/>
                  </a:lnTo>
                  <a:lnTo>
                    <a:pt x="62484" y="1081913"/>
                  </a:lnTo>
                  <a:lnTo>
                    <a:pt x="79248" y="1116965"/>
                  </a:lnTo>
                  <a:lnTo>
                    <a:pt x="115824" y="1184021"/>
                  </a:lnTo>
                  <a:lnTo>
                    <a:pt x="158496" y="1244981"/>
                  </a:lnTo>
                  <a:lnTo>
                    <a:pt x="182880" y="1275461"/>
                  </a:lnTo>
                  <a:lnTo>
                    <a:pt x="234696" y="1330325"/>
                  </a:lnTo>
                  <a:lnTo>
                    <a:pt x="291084" y="1380490"/>
                  </a:lnTo>
                  <a:lnTo>
                    <a:pt x="321564" y="1403350"/>
                  </a:lnTo>
                  <a:lnTo>
                    <a:pt x="385572" y="1446022"/>
                  </a:lnTo>
                  <a:lnTo>
                    <a:pt x="419100" y="1464310"/>
                  </a:lnTo>
                  <a:lnTo>
                    <a:pt x="487680" y="1496314"/>
                  </a:lnTo>
                  <a:lnTo>
                    <a:pt x="524256" y="1511554"/>
                  </a:lnTo>
                  <a:lnTo>
                    <a:pt x="562356" y="1523746"/>
                  </a:lnTo>
                  <a:lnTo>
                    <a:pt x="598932" y="1534414"/>
                  </a:lnTo>
                  <a:lnTo>
                    <a:pt x="678180" y="1549654"/>
                  </a:lnTo>
                  <a:lnTo>
                    <a:pt x="717804" y="1554226"/>
                  </a:lnTo>
                  <a:lnTo>
                    <a:pt x="757428" y="1557274"/>
                  </a:lnTo>
                  <a:lnTo>
                    <a:pt x="798449" y="1558798"/>
                  </a:lnTo>
                  <a:lnTo>
                    <a:pt x="839597" y="1557274"/>
                  </a:lnTo>
                  <a:lnTo>
                    <a:pt x="880745" y="1554226"/>
                  </a:lnTo>
                  <a:lnTo>
                    <a:pt x="920369" y="1549654"/>
                  </a:lnTo>
                  <a:lnTo>
                    <a:pt x="959993" y="1542034"/>
                  </a:lnTo>
                  <a:lnTo>
                    <a:pt x="1036193" y="1523746"/>
                  </a:lnTo>
                  <a:lnTo>
                    <a:pt x="1072769" y="1511554"/>
                  </a:lnTo>
                  <a:lnTo>
                    <a:pt x="1109345" y="1496314"/>
                  </a:lnTo>
                  <a:lnTo>
                    <a:pt x="1144397" y="1481074"/>
                  </a:lnTo>
                  <a:lnTo>
                    <a:pt x="1179449" y="1464310"/>
                  </a:lnTo>
                  <a:lnTo>
                    <a:pt x="1212977" y="1446022"/>
                  </a:lnTo>
                  <a:lnTo>
                    <a:pt x="1276985" y="1403350"/>
                  </a:lnTo>
                  <a:lnTo>
                    <a:pt x="1334897" y="1356233"/>
                  </a:lnTo>
                  <a:lnTo>
                    <a:pt x="1363853" y="1330325"/>
                  </a:lnTo>
                  <a:lnTo>
                    <a:pt x="1438529" y="1244981"/>
                  </a:lnTo>
                  <a:lnTo>
                    <a:pt x="1461389" y="1214501"/>
                  </a:lnTo>
                  <a:lnTo>
                    <a:pt x="1501013" y="1150493"/>
                  </a:lnTo>
                  <a:lnTo>
                    <a:pt x="1534541" y="1081913"/>
                  </a:lnTo>
                  <a:lnTo>
                    <a:pt x="1561973" y="1010285"/>
                  </a:lnTo>
                  <a:lnTo>
                    <a:pt x="1572641" y="973709"/>
                  </a:lnTo>
                  <a:lnTo>
                    <a:pt x="1587881" y="897509"/>
                  </a:lnTo>
                  <a:lnTo>
                    <a:pt x="1592453" y="857885"/>
                  </a:lnTo>
                  <a:lnTo>
                    <a:pt x="1595501" y="818261"/>
                  </a:lnTo>
                  <a:lnTo>
                    <a:pt x="1597025" y="778637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089275" y="5797422"/>
            <a:ext cx="574675" cy="5651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700" marR="5080" indent="635">
              <a:lnSpc>
                <a:spcPct val="97500"/>
              </a:lnSpc>
              <a:spcBef>
                <a:spcPts val="135"/>
              </a:spcBef>
            </a:pP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Problem </a:t>
            </a:r>
            <a:r>
              <a:rPr dirty="0" sz="1200" spc="-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Based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 L</a:t>
            </a:r>
            <a:r>
              <a:rPr dirty="0" sz="1200" spc="-1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rning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177669" y="4860671"/>
            <a:ext cx="2402205" cy="1490345"/>
            <a:chOff x="2177669" y="4860671"/>
            <a:chExt cx="2402205" cy="1490345"/>
          </a:xfrm>
        </p:grpSpPr>
        <p:sp>
          <p:nvSpPr>
            <p:cNvPr id="15" name="object 15"/>
            <p:cNvSpPr/>
            <p:nvPr/>
          </p:nvSpPr>
          <p:spPr>
            <a:xfrm>
              <a:off x="3238372" y="4878959"/>
              <a:ext cx="210185" cy="437515"/>
            </a:xfrm>
            <a:custGeom>
              <a:avLst/>
              <a:gdLst/>
              <a:ahLst/>
              <a:cxnLst/>
              <a:rect l="l" t="t" r="r" b="b"/>
              <a:pathLst>
                <a:path w="210185" h="437514">
                  <a:moveTo>
                    <a:pt x="105028" y="0"/>
                  </a:moveTo>
                  <a:lnTo>
                    <a:pt x="0" y="103632"/>
                  </a:lnTo>
                  <a:lnTo>
                    <a:pt x="53339" y="103632"/>
                  </a:lnTo>
                  <a:lnTo>
                    <a:pt x="53339" y="437388"/>
                  </a:lnTo>
                  <a:lnTo>
                    <a:pt x="158368" y="437388"/>
                  </a:lnTo>
                  <a:lnTo>
                    <a:pt x="158368" y="103632"/>
                  </a:lnTo>
                  <a:lnTo>
                    <a:pt x="210185" y="103632"/>
                  </a:lnTo>
                  <a:lnTo>
                    <a:pt x="10502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207893" y="4860670"/>
              <a:ext cx="271145" cy="469900"/>
            </a:xfrm>
            <a:custGeom>
              <a:avLst/>
              <a:gdLst/>
              <a:ahLst/>
              <a:cxnLst/>
              <a:rect l="l" t="t" r="r" b="b"/>
              <a:pathLst>
                <a:path w="271145" h="469900">
                  <a:moveTo>
                    <a:pt x="271145" y="135636"/>
                  </a:moveTo>
                  <a:lnTo>
                    <a:pt x="209931" y="74422"/>
                  </a:lnTo>
                  <a:lnTo>
                    <a:pt x="209931" y="109728"/>
                  </a:lnTo>
                  <a:lnTo>
                    <a:pt x="175133" y="109728"/>
                  </a:lnTo>
                  <a:lnTo>
                    <a:pt x="175133" y="443484"/>
                  </a:lnTo>
                  <a:lnTo>
                    <a:pt x="135509" y="443484"/>
                  </a:lnTo>
                  <a:lnTo>
                    <a:pt x="95999" y="443484"/>
                  </a:lnTo>
                  <a:lnTo>
                    <a:pt x="95999" y="109728"/>
                  </a:lnTo>
                  <a:lnTo>
                    <a:pt x="61214" y="109728"/>
                  </a:lnTo>
                  <a:lnTo>
                    <a:pt x="135509" y="36449"/>
                  </a:lnTo>
                  <a:lnTo>
                    <a:pt x="209931" y="109728"/>
                  </a:lnTo>
                  <a:lnTo>
                    <a:pt x="209931" y="74422"/>
                  </a:lnTo>
                  <a:lnTo>
                    <a:pt x="135509" y="0"/>
                  </a:lnTo>
                  <a:lnTo>
                    <a:pt x="0" y="135636"/>
                  </a:lnTo>
                  <a:lnTo>
                    <a:pt x="71628" y="135636"/>
                  </a:lnTo>
                  <a:lnTo>
                    <a:pt x="71628" y="469392"/>
                  </a:lnTo>
                  <a:lnTo>
                    <a:pt x="135509" y="469392"/>
                  </a:lnTo>
                  <a:lnTo>
                    <a:pt x="201041" y="469392"/>
                  </a:lnTo>
                  <a:lnTo>
                    <a:pt x="201041" y="135636"/>
                  </a:lnTo>
                  <a:lnTo>
                    <a:pt x="271145" y="135636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191385" y="5825236"/>
              <a:ext cx="399415" cy="486409"/>
            </a:xfrm>
            <a:custGeom>
              <a:avLst/>
              <a:gdLst/>
              <a:ahLst/>
              <a:cxnLst/>
              <a:rect l="l" t="t" r="r" b="b"/>
              <a:pathLst>
                <a:path w="399414" h="486410">
                  <a:moveTo>
                    <a:pt x="199644" y="0"/>
                  </a:moveTo>
                  <a:lnTo>
                    <a:pt x="0" y="243840"/>
                  </a:lnTo>
                  <a:lnTo>
                    <a:pt x="199644" y="486156"/>
                  </a:lnTo>
                  <a:lnTo>
                    <a:pt x="199644" y="364236"/>
                  </a:lnTo>
                  <a:lnTo>
                    <a:pt x="399288" y="364236"/>
                  </a:lnTo>
                  <a:lnTo>
                    <a:pt x="399288" y="121920"/>
                  </a:lnTo>
                  <a:lnTo>
                    <a:pt x="199644" y="121920"/>
                  </a:lnTo>
                  <a:lnTo>
                    <a:pt x="19964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177669" y="5813297"/>
              <a:ext cx="426720" cy="510540"/>
            </a:xfrm>
            <a:custGeom>
              <a:avLst/>
              <a:gdLst/>
              <a:ahLst/>
              <a:cxnLst/>
              <a:rect l="l" t="t" r="r" b="b"/>
              <a:pathLst>
                <a:path w="426719" h="510539">
                  <a:moveTo>
                    <a:pt x="426720" y="126238"/>
                  </a:moveTo>
                  <a:lnTo>
                    <a:pt x="420624" y="121666"/>
                  </a:lnTo>
                  <a:lnTo>
                    <a:pt x="400812" y="121666"/>
                  </a:lnTo>
                  <a:lnTo>
                    <a:pt x="400812" y="146050"/>
                  </a:lnTo>
                  <a:lnTo>
                    <a:pt x="400812" y="363982"/>
                  </a:lnTo>
                  <a:lnTo>
                    <a:pt x="215265" y="363982"/>
                  </a:lnTo>
                  <a:lnTo>
                    <a:pt x="207264" y="363982"/>
                  </a:lnTo>
                  <a:lnTo>
                    <a:pt x="201168" y="370078"/>
                  </a:lnTo>
                  <a:lnTo>
                    <a:pt x="201168" y="462788"/>
                  </a:lnTo>
                  <a:lnTo>
                    <a:pt x="29845" y="255016"/>
                  </a:lnTo>
                  <a:lnTo>
                    <a:pt x="201168" y="48641"/>
                  </a:lnTo>
                  <a:lnTo>
                    <a:pt x="201168" y="141478"/>
                  </a:lnTo>
                  <a:lnTo>
                    <a:pt x="207264" y="146050"/>
                  </a:lnTo>
                  <a:lnTo>
                    <a:pt x="215265" y="146050"/>
                  </a:lnTo>
                  <a:lnTo>
                    <a:pt x="400812" y="146050"/>
                  </a:lnTo>
                  <a:lnTo>
                    <a:pt x="400812" y="121666"/>
                  </a:lnTo>
                  <a:lnTo>
                    <a:pt x="227076" y="121666"/>
                  </a:lnTo>
                  <a:lnTo>
                    <a:pt x="227076" y="7366"/>
                  </a:lnTo>
                  <a:lnTo>
                    <a:pt x="222504" y="2794"/>
                  </a:lnTo>
                  <a:lnTo>
                    <a:pt x="217932" y="1270"/>
                  </a:lnTo>
                  <a:lnTo>
                    <a:pt x="215265" y="762"/>
                  </a:lnTo>
                  <a:lnTo>
                    <a:pt x="210566" y="0"/>
                  </a:lnTo>
                  <a:lnTo>
                    <a:pt x="208026" y="508"/>
                  </a:lnTo>
                  <a:lnTo>
                    <a:pt x="205740" y="2032"/>
                  </a:lnTo>
                  <a:lnTo>
                    <a:pt x="204216" y="4318"/>
                  </a:lnTo>
                  <a:lnTo>
                    <a:pt x="4572" y="246634"/>
                  </a:lnTo>
                  <a:lnTo>
                    <a:pt x="0" y="252730"/>
                  </a:lnTo>
                  <a:lnTo>
                    <a:pt x="0" y="258826"/>
                  </a:lnTo>
                  <a:lnTo>
                    <a:pt x="4572" y="263398"/>
                  </a:lnTo>
                  <a:lnTo>
                    <a:pt x="204216" y="505714"/>
                  </a:lnTo>
                  <a:lnTo>
                    <a:pt x="215265" y="509397"/>
                  </a:lnTo>
                  <a:lnTo>
                    <a:pt x="217932" y="510286"/>
                  </a:lnTo>
                  <a:lnTo>
                    <a:pt x="222504" y="508762"/>
                  </a:lnTo>
                  <a:lnTo>
                    <a:pt x="227076" y="504190"/>
                  </a:lnTo>
                  <a:lnTo>
                    <a:pt x="227076" y="389902"/>
                  </a:lnTo>
                  <a:lnTo>
                    <a:pt x="420624" y="389902"/>
                  </a:lnTo>
                  <a:lnTo>
                    <a:pt x="426720" y="383806"/>
                  </a:lnTo>
                  <a:lnTo>
                    <a:pt x="426720" y="126238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163314" y="5779516"/>
              <a:ext cx="399415" cy="533400"/>
            </a:xfrm>
            <a:custGeom>
              <a:avLst/>
              <a:gdLst/>
              <a:ahLst/>
              <a:cxnLst/>
              <a:rect l="l" t="t" r="r" b="b"/>
              <a:pathLst>
                <a:path w="399414" h="533400">
                  <a:moveTo>
                    <a:pt x="199644" y="0"/>
                  </a:moveTo>
                  <a:lnTo>
                    <a:pt x="199644" y="132587"/>
                  </a:lnTo>
                  <a:lnTo>
                    <a:pt x="0" y="132587"/>
                  </a:lnTo>
                  <a:lnTo>
                    <a:pt x="0" y="399287"/>
                  </a:lnTo>
                  <a:lnTo>
                    <a:pt x="199644" y="399287"/>
                  </a:lnTo>
                  <a:lnTo>
                    <a:pt x="199644" y="533399"/>
                  </a:lnTo>
                  <a:lnTo>
                    <a:pt x="399288" y="266700"/>
                  </a:lnTo>
                  <a:lnTo>
                    <a:pt x="19964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149598" y="5741415"/>
              <a:ext cx="429895" cy="609600"/>
            </a:xfrm>
            <a:custGeom>
              <a:avLst/>
              <a:gdLst/>
              <a:ahLst/>
              <a:cxnLst/>
              <a:rect l="l" t="t" r="r" b="b"/>
              <a:pathLst>
                <a:path w="429895" h="609600">
                  <a:moveTo>
                    <a:pt x="429768" y="304800"/>
                  </a:moveTo>
                  <a:lnTo>
                    <a:pt x="398145" y="262648"/>
                  </a:lnTo>
                  <a:lnTo>
                    <a:pt x="398145" y="304800"/>
                  </a:lnTo>
                  <a:lnTo>
                    <a:pt x="225552" y="533539"/>
                  </a:lnTo>
                  <a:lnTo>
                    <a:pt x="225552" y="425196"/>
                  </a:lnTo>
                  <a:lnTo>
                    <a:pt x="211963" y="425196"/>
                  </a:lnTo>
                  <a:lnTo>
                    <a:pt x="25908" y="425196"/>
                  </a:lnTo>
                  <a:lnTo>
                    <a:pt x="25908" y="182880"/>
                  </a:lnTo>
                  <a:lnTo>
                    <a:pt x="211963" y="182880"/>
                  </a:lnTo>
                  <a:lnTo>
                    <a:pt x="225552" y="182880"/>
                  </a:lnTo>
                  <a:lnTo>
                    <a:pt x="225552" y="76073"/>
                  </a:lnTo>
                  <a:lnTo>
                    <a:pt x="398145" y="304800"/>
                  </a:lnTo>
                  <a:lnTo>
                    <a:pt x="398145" y="262648"/>
                  </a:lnTo>
                  <a:lnTo>
                    <a:pt x="211963" y="14478"/>
                  </a:lnTo>
                  <a:lnTo>
                    <a:pt x="201168" y="0"/>
                  </a:lnTo>
                  <a:lnTo>
                    <a:pt x="201168" y="158496"/>
                  </a:lnTo>
                  <a:lnTo>
                    <a:pt x="0" y="158496"/>
                  </a:lnTo>
                  <a:lnTo>
                    <a:pt x="0" y="449580"/>
                  </a:lnTo>
                  <a:lnTo>
                    <a:pt x="201168" y="449580"/>
                  </a:lnTo>
                  <a:lnTo>
                    <a:pt x="201168" y="609600"/>
                  </a:lnTo>
                  <a:lnTo>
                    <a:pt x="211963" y="595122"/>
                  </a:lnTo>
                  <a:lnTo>
                    <a:pt x="429768" y="304800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5563"/>
            <a:ext cx="6634480" cy="10821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After </a:t>
            </a:r>
            <a:r>
              <a:rPr dirty="0" sz="1200" spc="-5">
                <a:latin typeface="Arial MT"/>
                <a:cs typeface="Arial MT"/>
              </a:rPr>
              <a:t>identifying the problem we integrate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with different factors. Problem based learning is not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discipline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focus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interdisciplinary.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integrate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areas.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 is authentic investigation because we apply scientific method in </a:t>
            </a:r>
            <a:r>
              <a:rPr dirty="0" sz="1200">
                <a:latin typeface="Arial MT"/>
                <a:cs typeface="Arial MT"/>
              </a:rPr>
              <a:t>it. In </a:t>
            </a:r>
            <a:r>
              <a:rPr dirty="0" sz="1200" spc="-5">
                <a:latin typeface="Arial MT"/>
                <a:cs typeface="Arial MT"/>
              </a:rPr>
              <a:t>scientific method we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 the question, make hypothesis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light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10">
                <a:latin typeface="Arial MT"/>
                <a:cs typeface="Arial MT"/>
              </a:rPr>
              <a:t>red </a:t>
            </a:r>
            <a:r>
              <a:rPr dirty="0" sz="1200" spc="-5">
                <a:latin typeface="Arial MT"/>
                <a:cs typeface="Arial MT"/>
              </a:rPr>
              <a:t>literature. </a:t>
            </a:r>
            <a:r>
              <a:rPr dirty="0" sz="1200" spc="-10">
                <a:latin typeface="Arial MT"/>
                <a:cs typeface="Arial MT"/>
              </a:rPr>
              <a:t>Then </a:t>
            </a:r>
            <a:r>
              <a:rPr dirty="0" sz="1200" spc="-5">
                <a:latin typeface="Arial MT"/>
                <a:cs typeface="Arial MT"/>
              </a:rPr>
              <a:t>we test the hypothesis, </a:t>
            </a:r>
            <a:r>
              <a:rPr dirty="0" sz="1200">
                <a:latin typeface="Arial MT"/>
                <a:cs typeface="Arial MT"/>
              </a:rPr>
              <a:t>if 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accepted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draw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results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 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rejected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another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hypothesis.</a:t>
            </a:r>
            <a:endParaRPr sz="1200">
              <a:latin typeface="Arial MT"/>
              <a:cs typeface="Arial MT"/>
            </a:endParaRPr>
          </a:p>
          <a:p>
            <a:pPr algn="just" marL="12700" marR="243840">
              <a:lnSpc>
                <a:spcPct val="142500"/>
              </a:lnSpc>
              <a:spcBef>
                <a:spcPts val="35"/>
              </a:spcBef>
            </a:pPr>
            <a:r>
              <a:rPr dirty="0" sz="1200" spc="-5">
                <a:latin typeface="Arial MT"/>
                <a:cs typeface="Arial MT"/>
              </a:rPr>
              <a:t>Children work 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important.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produce their original work after problem based learning.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another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approach.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Theoretical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support</a:t>
            </a:r>
            <a:endParaRPr sz="1200">
              <a:latin typeface="Arial"/>
              <a:cs typeface="Arial"/>
            </a:endParaRPr>
          </a:p>
          <a:p>
            <a:pPr algn="just" marL="477520" marR="5080" indent="-228600">
              <a:lnSpc>
                <a:spcPts val="2080"/>
              </a:lnSpc>
              <a:spcBef>
                <a:spcPts val="145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Problem Based Learning has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intellectual roots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Socratic Method dating back to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 early </a:t>
            </a:r>
            <a:r>
              <a:rPr dirty="0" sz="1200">
                <a:latin typeface="Arial MT"/>
                <a:cs typeface="Arial MT"/>
              </a:rPr>
              <a:t>Greeks </a:t>
            </a:r>
            <a:r>
              <a:rPr dirty="0" sz="1200" spc="-5">
                <a:latin typeface="Arial MT"/>
                <a:cs typeface="Arial MT"/>
              </a:rPr>
              <a:t>but has been expanded by ideas stemming from </a:t>
            </a:r>
            <a:r>
              <a:rPr dirty="0" sz="1200">
                <a:latin typeface="Arial MT"/>
                <a:cs typeface="Arial MT"/>
              </a:rPr>
              <a:t>twentieth-century </a:t>
            </a:r>
            <a:r>
              <a:rPr dirty="0" sz="1200" spc="-5">
                <a:latin typeface="Arial MT"/>
                <a:cs typeface="Arial MT"/>
              </a:rPr>
              <a:t>cognitive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psychology.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Socratic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dialogue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generation.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dialogue.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Roots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dialogue.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roots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also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linked</a:t>
            </a:r>
            <a:endParaRPr sz="1200">
              <a:latin typeface="Arial MT"/>
              <a:cs typeface="Arial MT"/>
            </a:endParaRPr>
          </a:p>
          <a:p>
            <a:pPr algn="just" marL="477520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psychology.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psychology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higher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order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involved.</a:t>
            </a:r>
            <a:endParaRPr sz="1200">
              <a:latin typeface="Arial MT"/>
              <a:cs typeface="Arial MT"/>
            </a:endParaRPr>
          </a:p>
          <a:p>
            <a:pPr algn="just" marL="477520" marR="7620" indent="-228600">
              <a:lnSpc>
                <a:spcPct val="144200"/>
              </a:lnSpc>
              <a:spcBef>
                <a:spcPts val="10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The knowledge base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problem- </a:t>
            </a:r>
            <a:r>
              <a:rPr dirty="0" sz="1200" spc="-5">
                <a:latin typeface="Arial MT"/>
                <a:cs typeface="Arial MT"/>
              </a:rPr>
              <a:t>based learning is rich and complex. Several studies </a:t>
            </a:r>
            <a:r>
              <a:rPr dirty="0" sz="1200" spc="-10">
                <a:latin typeface="Arial MT"/>
                <a:cs typeface="Arial MT"/>
              </a:rPr>
              <a:t>done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last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few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years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provide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strong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evidence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model’s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However,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studies lead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conclusion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5">
                <a:latin typeface="Arial MT"/>
                <a:cs typeface="Arial MT"/>
              </a:rPr>
              <a:t> effects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cloudy.</a:t>
            </a:r>
            <a:endParaRPr sz="1200">
              <a:latin typeface="Arial MT"/>
              <a:cs typeface="Arial MT"/>
            </a:endParaRPr>
          </a:p>
          <a:p>
            <a:pPr algn="just" marL="477520" marR="5715" indent="-228600">
              <a:lnSpc>
                <a:spcPct val="144200"/>
              </a:lnSpc>
              <a:spcBef>
                <a:spcPts val="25"/>
              </a:spcBef>
              <a:buFont typeface="Times New Roman"/>
              <a:buChar char="-"/>
              <a:tabLst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Over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past</a:t>
            </a:r>
            <a:r>
              <a:rPr dirty="0" sz="1200">
                <a:latin typeface="Arial MT"/>
                <a:cs typeface="Arial MT"/>
              </a:rPr>
              <a:t> three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decades,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considerable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attention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been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devoted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approaches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by</a:t>
            </a:r>
            <a:r>
              <a:rPr dirty="0" sz="1200" spc="-5">
                <a:latin typeface="Arial MT"/>
                <a:cs typeface="Arial MT"/>
              </a:rPr>
              <a:t> various</a:t>
            </a:r>
            <a:r>
              <a:rPr dirty="0" sz="1200">
                <a:latin typeface="Arial MT"/>
                <a:cs typeface="Arial MT"/>
              </a:rPr>
              <a:t> names-discovery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inquiry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training,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higher-level </a:t>
            </a:r>
            <a:r>
              <a:rPr dirty="0" sz="1200">
                <a:latin typeface="Arial MT"/>
                <a:cs typeface="Arial MT"/>
              </a:rPr>
              <a:t> thinking- </a:t>
            </a:r>
            <a:r>
              <a:rPr dirty="0" sz="1200" spc="-5">
                <a:latin typeface="Arial MT"/>
                <a:cs typeface="Arial MT"/>
              </a:rPr>
              <a:t>all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which focus on helping students become independent, autonomous learners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capable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figuring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</a:t>
            </a:r>
            <a:r>
              <a:rPr dirty="0" sz="1200">
                <a:latin typeface="Arial MT"/>
                <a:cs typeface="Arial MT"/>
              </a:rPr>
              <a:t> 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themselves.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-"/>
            </a:pPr>
            <a:endParaRPr sz="14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ultimate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outcome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become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autonomous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Theoretical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empirical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Support</a:t>
            </a:r>
            <a:endParaRPr sz="1200">
              <a:latin typeface="Arial"/>
              <a:cs typeface="Arial"/>
            </a:endParaRPr>
          </a:p>
          <a:p>
            <a:pPr marL="477520" marR="5080" indent="-228600">
              <a:lnSpc>
                <a:spcPts val="2080"/>
              </a:lnSpc>
              <a:spcBef>
                <a:spcPts val="15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5">
                <a:latin typeface="Arial MT"/>
                <a:cs typeface="Arial MT"/>
              </a:rPr>
              <a:t> traced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>
                <a:latin typeface="Arial MT"/>
                <a:cs typeface="Arial MT"/>
              </a:rPr>
              <a:t> main </a:t>
            </a:r>
            <a:r>
              <a:rPr dirty="0" sz="1200" spc="-5">
                <a:latin typeface="Arial MT"/>
                <a:cs typeface="Arial MT"/>
              </a:rPr>
              <a:t>stream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twentieth-century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thought.</a:t>
            </a:r>
            <a:endParaRPr sz="1200">
              <a:latin typeface="Arial MT"/>
              <a:cs typeface="Arial MT"/>
            </a:endParaRPr>
          </a:p>
          <a:p>
            <a:pPr lvl="1" marL="706120" indent="-229235">
              <a:lnSpc>
                <a:spcPct val="100000"/>
              </a:lnSpc>
              <a:spcBef>
                <a:spcPts val="465"/>
              </a:spcBef>
              <a:buFont typeface="Times New Roman"/>
              <a:buAutoNum type="arabicPeriod"/>
              <a:tabLst>
                <a:tab pos="706755" algn="l"/>
              </a:tabLst>
            </a:pPr>
            <a:r>
              <a:rPr dirty="0" sz="1200" spc="-5">
                <a:latin typeface="Arial MT"/>
                <a:cs typeface="Arial MT"/>
              </a:rPr>
              <a:t>Dewey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problem-oriented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endParaRPr sz="1200">
              <a:latin typeface="Arial MT"/>
              <a:cs typeface="Arial MT"/>
            </a:endParaRPr>
          </a:p>
          <a:p>
            <a:pPr lvl="1" marL="7061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706755" algn="l"/>
              </a:tabLst>
            </a:pPr>
            <a:r>
              <a:rPr dirty="0" sz="1200" spc="-5">
                <a:latin typeface="Arial MT"/>
                <a:cs typeface="Arial MT"/>
              </a:rPr>
              <a:t>Piaget,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Vygotsky 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constructivism</a:t>
            </a:r>
            <a:endParaRPr sz="1200">
              <a:latin typeface="Arial MT"/>
              <a:cs typeface="Arial MT"/>
            </a:endParaRPr>
          </a:p>
          <a:p>
            <a:pPr lvl="1" marL="70612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706755" algn="l"/>
              </a:tabLst>
            </a:pPr>
            <a:r>
              <a:rPr dirty="0" sz="1200" spc="-5">
                <a:latin typeface="Arial MT"/>
                <a:cs typeface="Arial MT"/>
              </a:rPr>
              <a:t>Burner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Discovery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975"/>
              </a:spcBef>
            </a:pPr>
            <a:r>
              <a:rPr dirty="0" sz="1200" spc="-5">
                <a:latin typeface="Arial MT"/>
                <a:cs typeface="Arial MT"/>
              </a:rPr>
              <a:t>John Dewey said that classroom is just like a laboratory. Laboratory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 students to have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experiences and applicant them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their real </a:t>
            </a:r>
            <a:r>
              <a:rPr dirty="0" sz="1200">
                <a:latin typeface="Arial MT"/>
                <a:cs typeface="Arial MT"/>
              </a:rPr>
              <a:t>life. </a:t>
            </a:r>
            <a:r>
              <a:rPr dirty="0" sz="1200" spc="-5">
                <a:latin typeface="Arial MT"/>
                <a:cs typeface="Arial MT"/>
              </a:rPr>
              <a:t>In real life </a:t>
            </a:r>
            <a:r>
              <a:rPr dirty="0" sz="1200" spc="-1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are many problems, these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presented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laboratory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them.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Piaget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spend actually 50 years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work on constructivism. His approach was also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we must give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opportunities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students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examples 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puzzles.</a:t>
            </a:r>
            <a:endParaRPr sz="12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660"/>
              </a:spcBef>
            </a:pPr>
            <a:r>
              <a:rPr dirty="0" sz="1200">
                <a:latin typeface="Arial MT"/>
                <a:cs typeface="Arial MT"/>
              </a:rPr>
              <a:t>Our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focus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interdisciplinary.</a:t>
            </a:r>
            <a:endParaRPr sz="1200">
              <a:latin typeface="Arial MT"/>
              <a:cs typeface="Arial MT"/>
            </a:endParaRPr>
          </a:p>
          <a:p>
            <a:pPr algn="just" marL="18415" marR="6350" indent="-6350">
              <a:lnSpc>
                <a:spcPts val="2080"/>
              </a:lnSpc>
              <a:spcBef>
                <a:spcPts val="40"/>
              </a:spcBef>
            </a:pPr>
            <a:r>
              <a:rPr dirty="0" sz="1200">
                <a:latin typeface="Arial MT"/>
                <a:cs typeface="Arial MT"/>
              </a:rPr>
              <a:t>Vygotsky </a:t>
            </a:r>
            <a:r>
              <a:rPr dirty="0" sz="1200" spc="-10">
                <a:latin typeface="Arial MT"/>
                <a:cs typeface="Arial MT"/>
              </a:rPr>
              <a:t>was </a:t>
            </a:r>
            <a:r>
              <a:rPr dirty="0" sz="1200" spc="-5">
                <a:latin typeface="Arial MT"/>
                <a:cs typeface="Arial MT"/>
              </a:rPr>
              <a:t>a Russian Psychologist and his work was not translated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later. His work was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concept that our social environment also helps us to solve the problems. </a:t>
            </a:r>
            <a:r>
              <a:rPr dirty="0" sz="1200">
                <a:latin typeface="Arial MT"/>
                <a:cs typeface="Arial MT"/>
              </a:rPr>
              <a:t>In this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approach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cooperation.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Another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approach is that teacher is not the central figure. Teacher only plan </a:t>
            </a:r>
            <a:r>
              <a:rPr dirty="0" sz="1200">
                <a:latin typeface="Arial MT"/>
                <a:cs typeface="Arial MT"/>
              </a:rPr>
              <a:t>this. This </a:t>
            </a:r>
            <a:r>
              <a:rPr dirty="0" sz="1200" spc="-5">
                <a:latin typeface="Arial MT"/>
                <a:cs typeface="Arial MT"/>
              </a:rPr>
              <a:t>is not the teaching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learning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8611"/>
            <a:ext cx="6632575" cy="688022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710"/>
              </a:spcBef>
            </a:pP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PBL</a:t>
            </a:r>
            <a:endParaRPr sz="1200">
              <a:latin typeface="Arial"/>
              <a:cs typeface="Arial"/>
            </a:endParaRPr>
          </a:p>
          <a:p>
            <a:pPr marL="477520" marR="5080" indent="-228600">
              <a:lnSpc>
                <a:spcPts val="2080"/>
              </a:lnSpc>
              <a:spcBef>
                <a:spcPts val="15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As its </a:t>
            </a:r>
            <a:r>
              <a:rPr dirty="0" sz="1200" spc="-5">
                <a:latin typeface="Arial MT"/>
                <a:cs typeface="Arial MT"/>
              </a:rPr>
              <a:t>most fundamental </a:t>
            </a:r>
            <a:r>
              <a:rPr dirty="0" sz="1200">
                <a:latin typeface="Arial MT"/>
                <a:cs typeface="Arial MT"/>
              </a:rPr>
              <a:t>level, </a:t>
            </a:r>
            <a:r>
              <a:rPr dirty="0" sz="1200" spc="-5">
                <a:latin typeface="Arial MT"/>
                <a:cs typeface="Arial MT"/>
              </a:rPr>
              <a:t>problem-based learning is characterized by students working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pairs</a:t>
            </a:r>
            <a:r>
              <a:rPr dirty="0" sz="1200">
                <a:latin typeface="Arial MT"/>
                <a:cs typeface="Arial MT"/>
              </a:rPr>
              <a:t> or </a:t>
            </a:r>
            <a:r>
              <a:rPr dirty="0" sz="1200" spc="-5">
                <a:latin typeface="Arial MT"/>
                <a:cs typeface="Arial MT"/>
              </a:rPr>
              <a:t>small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investigate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puzzling, </a:t>
            </a:r>
            <a:r>
              <a:rPr dirty="0" sz="1200">
                <a:latin typeface="Arial MT"/>
                <a:cs typeface="Arial MT"/>
              </a:rPr>
              <a:t>real-life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problems.</a:t>
            </a:r>
            <a:endParaRPr sz="1200">
              <a:latin typeface="Arial MT"/>
              <a:cs typeface="Arial MT"/>
            </a:endParaRPr>
          </a:p>
          <a:p>
            <a:pPr marL="477520" marR="9525" indent="-228600">
              <a:lnSpc>
                <a:spcPts val="2080"/>
              </a:lnSpc>
              <a:spcBef>
                <a:spcPts val="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Interactive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nature,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PBL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requires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much,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more,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compared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teacher-centered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models.</a:t>
            </a:r>
            <a:endParaRPr sz="1200">
              <a:latin typeface="Arial MT"/>
              <a:cs typeface="Arial MT"/>
            </a:endParaRPr>
          </a:p>
          <a:p>
            <a:pPr marL="18415" marR="6350" indent="-6350">
              <a:lnSpc>
                <a:spcPct val="144200"/>
              </a:lnSpc>
              <a:spcBef>
                <a:spcPts val="805"/>
              </a:spcBef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5">
                <a:latin typeface="Arial MT"/>
                <a:cs typeface="Arial MT"/>
              </a:rPr>
              <a:t> 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difficult </a:t>
            </a:r>
            <a:r>
              <a:rPr dirty="0" sz="1200" spc="-5">
                <a:latin typeface="Arial MT"/>
                <a:cs typeface="Arial MT"/>
              </a:rPr>
              <a:t>to manage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 There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might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management.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might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handle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Managing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PBL</a:t>
            </a:r>
            <a:endParaRPr sz="1200">
              <a:latin typeface="Arial"/>
              <a:cs typeface="Arial"/>
            </a:endParaRPr>
          </a:p>
          <a:p>
            <a:pPr marL="477520" indent="-229235">
              <a:lnSpc>
                <a:spcPct val="100000"/>
              </a:lnSpc>
              <a:spcBef>
                <a:spcPts val="76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Dealing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Multitask Situation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Adjusting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Finishing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Rates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Monitoring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Managing Student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Managing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 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Equipment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Regulating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Movement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outside 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4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Assessing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PBL</a:t>
            </a:r>
            <a:endParaRPr sz="1200">
              <a:latin typeface="Arial"/>
              <a:cs typeface="Arial"/>
            </a:endParaRPr>
          </a:p>
          <a:p>
            <a:pPr marL="477520" marR="273685" indent="-228600">
              <a:lnSpc>
                <a:spcPct val="144200"/>
              </a:lnSpc>
              <a:spcBef>
                <a:spcPts val="13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>
                <a:latin typeface="Arial MT"/>
                <a:cs typeface="Arial MT"/>
              </a:rPr>
              <a:t> tasks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problem-based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consist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solely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paper-and-pencil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tests.</a:t>
            </a:r>
            <a:endParaRPr sz="1200">
              <a:latin typeface="Arial MT"/>
              <a:cs typeface="Arial MT"/>
            </a:endParaRPr>
          </a:p>
          <a:p>
            <a:pPr marL="477520" marR="7620" indent="-228600">
              <a:lnSpc>
                <a:spcPct val="144200"/>
              </a:lnSpc>
              <a:spcBef>
                <a:spcPts val="3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Rather</a:t>
            </a:r>
            <a:r>
              <a:rPr dirty="0" sz="1200" spc="3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3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products</a:t>
            </a:r>
            <a:r>
              <a:rPr dirty="0" sz="1200" spc="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created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3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lend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themselves</a:t>
            </a:r>
            <a:r>
              <a:rPr dirty="0" sz="1200" spc="3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nicely</a:t>
            </a:r>
            <a:r>
              <a:rPr dirty="0" sz="1200" spc="3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scoring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rubrics</a:t>
            </a:r>
            <a:r>
              <a:rPr dirty="0" sz="1200">
                <a:latin typeface="Arial MT"/>
                <a:cs typeface="Arial MT"/>
              </a:rPr>
              <a:t> or </a:t>
            </a:r>
            <a:r>
              <a:rPr dirty="0" sz="1200" spc="-5">
                <a:latin typeface="Arial MT"/>
                <a:cs typeface="Arial MT"/>
              </a:rPr>
              <a:t>checklist 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scales.</a:t>
            </a:r>
            <a:endParaRPr sz="1200">
              <a:latin typeface="Arial MT"/>
              <a:cs typeface="Arial MT"/>
            </a:endParaRPr>
          </a:p>
          <a:p>
            <a:pPr marL="477520" marR="9525" indent="-228600">
              <a:lnSpc>
                <a:spcPct val="144200"/>
              </a:lnSpc>
              <a:spcBef>
                <a:spcPts val="10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 spc="-5">
                <a:latin typeface="Arial MT"/>
                <a:cs typeface="Arial MT"/>
              </a:rPr>
              <a:t>Performance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measure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solving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potential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 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>
                <a:latin typeface="Arial MT"/>
                <a:cs typeface="Arial MT"/>
              </a:rPr>
              <a:t> work.</a:t>
            </a:r>
            <a:endParaRPr sz="1200">
              <a:latin typeface="Arial MT"/>
              <a:cs typeface="Arial MT"/>
            </a:endParaRPr>
          </a:p>
          <a:p>
            <a:pPr marL="477520" indent="-229235">
              <a:lnSpc>
                <a:spcPct val="100000"/>
              </a:lnSpc>
              <a:spcBef>
                <a:spcPts val="795"/>
              </a:spcBef>
              <a:buFont typeface="Times New Roman"/>
              <a:buChar char="-"/>
              <a:tabLst>
                <a:tab pos="477520" algn="l"/>
                <a:tab pos="478155" algn="l"/>
              </a:tabLst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 assess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(cognitive,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affective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psychomotor)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domains.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</a:t>
            </a:r>
            <a:r>
              <a:rPr dirty="0" sz="1200" b="1">
                <a:latin typeface="Arial"/>
                <a:cs typeface="Arial"/>
              </a:rPr>
              <a:t> problem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based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b="1">
                <a:latin typeface="Arial"/>
                <a:cs typeface="Arial"/>
              </a:rPr>
              <a:t> be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assessed?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multiple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measure acquisition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dispositions.</a:t>
            </a:r>
            <a:endParaRPr sz="120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7219" y="7722997"/>
          <a:ext cx="6091555" cy="2838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5875"/>
                <a:gridCol w="741680"/>
                <a:gridCol w="2026920"/>
                <a:gridCol w="2026920"/>
              </a:tblGrid>
              <a:tr h="313944">
                <a:tc gridSpan="2"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assess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Product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Method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9724">
                <a:tc gridSpan="2"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u="sng" sz="1200" spc="-5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Knowledge</a:t>
                      </a:r>
                      <a:r>
                        <a:rPr dirty="0" u="sng" sz="1200" spc="-1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:Interrelationship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2540">
                        <a:lnSpc>
                          <a:spcPct val="145000"/>
                        </a:lnSpc>
                        <a:spcBef>
                          <a:spcPts val="120"/>
                        </a:spcBef>
                        <a:tabLst>
                          <a:tab pos="772795" algn="l"/>
                          <a:tab pos="1409700" algn="l"/>
                        </a:tabLst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ng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f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cts,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co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p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ts 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(Relational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understanding)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Concept</a:t>
                      </a:r>
                      <a:r>
                        <a:rPr dirty="0" sz="1200" spc="4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map,</a:t>
                      </a:r>
                      <a:r>
                        <a:rPr dirty="0" sz="1200" spc="4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Unit</a:t>
                      </a:r>
                      <a:r>
                        <a:rPr dirty="0" sz="1200" spc="4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product,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2540" marR="482600">
                        <a:lnSpc>
                          <a:spcPts val="2060"/>
                        </a:lnSpc>
                        <a:spcBef>
                          <a:spcPts val="1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written/oral responses,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traditional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tests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Expert</a:t>
                      </a:r>
                      <a:r>
                        <a:rPr dirty="0" sz="1200" spc="3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map</a:t>
                      </a:r>
                      <a:r>
                        <a:rPr dirty="0" sz="1200" spc="4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based</a:t>
                      </a:r>
                      <a:r>
                        <a:rPr dirty="0" sz="1200" spc="4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scheme,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2540" marR="246379">
                        <a:lnSpc>
                          <a:spcPts val="2060"/>
                        </a:lnSpc>
                        <a:spcBef>
                          <a:spcPts val="1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Rubrics, SOLO taxonomy,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scoring guides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02232">
                <a:tc>
                  <a:txBody>
                    <a:bodyPr/>
                    <a:lstStyle/>
                    <a:p>
                      <a:pPr marL="71120" marR="13970">
                        <a:lnSpc>
                          <a:spcPct val="103400"/>
                        </a:lnSpc>
                        <a:spcBef>
                          <a:spcPts val="200"/>
                        </a:spcBef>
                        <a:tabLst>
                          <a:tab pos="830580" algn="l"/>
                        </a:tabLst>
                      </a:pPr>
                      <a:r>
                        <a:rPr dirty="0" u="sng" sz="120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S</a:t>
                      </a:r>
                      <a:r>
                        <a:rPr dirty="0" u="sng" sz="120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ki</a:t>
                      </a:r>
                      <a:r>
                        <a:rPr dirty="0" u="sng" sz="1200" spc="-5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l</a:t>
                      </a:r>
                      <a:r>
                        <a:rPr dirty="0" u="sng" sz="120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ls</a:t>
                      </a:r>
                      <a:r>
                        <a:rPr dirty="0" u="sng" sz="120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u="sng" sz="1200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cr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i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tica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l 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creative</a:t>
                      </a:r>
                      <a:r>
                        <a:rPr dirty="0" sz="12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thinking,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collaboration,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communication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540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139065" marR="26670" indent="-12700">
                        <a:lnSpc>
                          <a:spcPct val="103400"/>
                        </a:lnSpc>
                        <a:spcBef>
                          <a:spcPts val="20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thinking, </a:t>
                      </a:r>
                      <a:r>
                        <a:rPr dirty="0" sz="1200" spc="-3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ff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cti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v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e 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ve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rsat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540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25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Unit</a:t>
                      </a:r>
                      <a:r>
                        <a:rPr dirty="0" sz="1200" spc="430">
                          <a:latin typeface="Arial MT"/>
                          <a:cs typeface="Arial MT"/>
                        </a:rPr>
                        <a:t>   </a:t>
                      </a:r>
                      <a:r>
                        <a:rPr dirty="0" sz="1200" spc="4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products</a:t>
                      </a:r>
                      <a:r>
                        <a:rPr dirty="0" sz="1200" spc="330">
                          <a:latin typeface="Arial MT"/>
                          <a:cs typeface="Arial MT"/>
                        </a:rPr>
                        <a:t>   </a:t>
                      </a:r>
                      <a:r>
                        <a:rPr dirty="0" sz="1200" spc="3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and/or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algn="just" marL="71120" marR="57785">
                        <a:lnSpc>
                          <a:spcPct val="103400"/>
                        </a:lnSpc>
                        <a:spcBef>
                          <a:spcPts val="60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performance,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written/oral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responses,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observations,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self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ratings, peer ratings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735965" algn="l"/>
                          <a:tab pos="1316990" algn="l"/>
                        </a:tabLst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Ru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b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i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cs,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SO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L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	t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xo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y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,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self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reports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u="sng" sz="1200" spc="-5">
                          <a:uFill>
                            <a:solidFill>
                              <a:srgbClr val="000000"/>
                            </a:solidFill>
                          </a:uFill>
                          <a:latin typeface="Arial MT"/>
                          <a:cs typeface="Arial MT"/>
                        </a:rPr>
                        <a:t>Dispositions: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learning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intentional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Problem logs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Observation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Content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analysis, Rubrics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65480" y="10720578"/>
            <a:ext cx="6627495" cy="816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Knowledge can be assessed through written </a:t>
            </a:r>
            <a:r>
              <a:rPr dirty="0" sz="1200">
                <a:latin typeface="Arial MT"/>
                <a:cs typeface="Arial MT"/>
              </a:rPr>
              <a:t>tests. </a:t>
            </a:r>
            <a:r>
              <a:rPr dirty="0" sz="1200" spc="-5">
                <a:latin typeface="Arial MT"/>
                <a:cs typeface="Arial MT"/>
              </a:rPr>
              <a:t>But skills can be assessed through direct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observation. Any presentation or display of some product are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simple examples. It needs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techniques.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578611"/>
            <a:ext cx="6631305" cy="547941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algn="just" marL="20320">
              <a:lnSpc>
                <a:spcPct val="100000"/>
              </a:lnSpc>
              <a:spcBef>
                <a:spcPts val="710"/>
              </a:spcBef>
            </a:pPr>
            <a:r>
              <a:rPr dirty="0" sz="1200" spc="-5" b="1">
                <a:latin typeface="Arial"/>
                <a:cs typeface="Arial"/>
              </a:rPr>
              <a:t>Obstacle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PBL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first and </a:t>
            </a:r>
            <a:r>
              <a:rPr dirty="0" sz="1200" spc="-5">
                <a:latin typeface="Arial MT"/>
                <a:cs typeface="Arial MT"/>
              </a:rPr>
              <a:t>the most important thing is </a:t>
            </a:r>
            <a:r>
              <a:rPr dirty="0" sz="1200" b="1">
                <a:latin typeface="Arial"/>
                <a:cs typeface="Arial"/>
              </a:rPr>
              <a:t>training.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do not have proper training we will not be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 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method.</a:t>
            </a:r>
            <a:endParaRPr sz="1200">
              <a:latin typeface="Arial MT"/>
              <a:cs typeface="Arial MT"/>
            </a:endParaRPr>
          </a:p>
          <a:p>
            <a:pPr algn="just" marL="18415" marR="5715" indent="-6350">
              <a:lnSpc>
                <a:spcPts val="208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Another obstacle is school </a:t>
            </a:r>
            <a:r>
              <a:rPr dirty="0" sz="1200" b="1">
                <a:latin typeface="Arial"/>
                <a:cs typeface="Arial"/>
              </a:rPr>
              <a:t>time </a:t>
            </a:r>
            <a:r>
              <a:rPr dirty="0" sz="1200" spc="-5" b="1">
                <a:latin typeface="Arial"/>
                <a:cs typeface="Arial"/>
              </a:rPr>
              <a:t>table</a:t>
            </a:r>
            <a:r>
              <a:rPr dirty="0" sz="1200" spc="-5">
                <a:latin typeface="Arial MT"/>
                <a:cs typeface="Arial MT"/>
              </a:rPr>
              <a:t>. Sometimes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will be </a:t>
            </a:r>
            <a:r>
              <a:rPr dirty="0" sz="1200">
                <a:latin typeface="Arial MT"/>
                <a:cs typeface="Arial MT"/>
              </a:rPr>
              <a:t>difficult to </a:t>
            </a:r>
            <a:r>
              <a:rPr dirty="0" sz="1200" spc="-5">
                <a:latin typeface="Arial MT"/>
                <a:cs typeface="Arial MT"/>
              </a:rPr>
              <a:t>complete the </a:t>
            </a:r>
            <a:r>
              <a:rPr dirty="0" sz="1200">
                <a:latin typeface="Arial MT"/>
                <a:cs typeface="Arial MT"/>
              </a:rPr>
              <a:t>task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short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period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break </a:t>
            </a:r>
            <a:r>
              <a:rPr dirty="0" sz="1200" spc="-5">
                <a:latin typeface="Arial MT"/>
                <a:cs typeface="Arial MT"/>
              </a:rPr>
              <a:t>time or</a:t>
            </a:r>
            <a:r>
              <a:rPr dirty="0" sz="1200">
                <a:latin typeface="Arial MT"/>
                <a:cs typeface="Arial MT"/>
              </a:rPr>
              <a:t> extra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he</a:t>
            </a:r>
            <a:r>
              <a:rPr dirty="0" sz="1200" spc="-5">
                <a:latin typeface="Arial MT"/>
                <a:cs typeface="Arial MT"/>
              </a:rPr>
              <a:t> may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 </a:t>
            </a:r>
            <a:r>
              <a:rPr dirty="0" sz="1200">
                <a:latin typeface="Arial MT"/>
                <a:cs typeface="Arial MT"/>
              </a:rPr>
              <a:t>that.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1025"/>
              </a:spcBef>
            </a:pPr>
            <a:r>
              <a:rPr dirty="0" sz="1200" b="1">
                <a:latin typeface="Arial"/>
                <a:cs typeface="Arial"/>
              </a:rPr>
              <a:t>Finishing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syllab</a:t>
            </a:r>
            <a:r>
              <a:rPr dirty="0" sz="1200" spc="-5">
                <a:latin typeface="Arial MT"/>
                <a:cs typeface="Arial MT"/>
              </a:rPr>
              <a:t>us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another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hurdle.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Arial MT"/>
              <a:cs typeface="Arial MT"/>
            </a:endParaRPr>
          </a:p>
          <a:p>
            <a:pPr algn="just" marL="18415" marR="6350" indent="-6350">
              <a:lnSpc>
                <a:spcPct val="144200"/>
              </a:lnSpc>
            </a:pPr>
            <a:r>
              <a:rPr dirty="0" sz="1200" spc="-5" b="1">
                <a:latin typeface="Arial"/>
                <a:cs typeface="Arial"/>
              </a:rPr>
              <a:t>Lack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resources </a:t>
            </a:r>
            <a:r>
              <a:rPr dirty="0" sz="1200" spc="-5">
                <a:latin typeface="Arial MT"/>
                <a:cs typeface="Arial MT"/>
              </a:rPr>
              <a:t>is another obstacle.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this reason teacher needs to be innovative. He should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be the burden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parents. Try to </a:t>
            </a:r>
            <a:r>
              <a:rPr dirty="0" sz="1200" spc="-10">
                <a:latin typeface="Arial MT"/>
                <a:cs typeface="Arial MT"/>
              </a:rPr>
              <a:t>use </a:t>
            </a:r>
            <a:r>
              <a:rPr dirty="0" sz="1200" spc="-5">
                <a:latin typeface="Arial MT"/>
                <a:cs typeface="Arial MT"/>
              </a:rPr>
              <a:t>the simple and available resources. Teacher can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recycle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natural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Approaches </a:t>
            </a:r>
            <a:r>
              <a:rPr dirty="0" sz="1200" b="1">
                <a:latin typeface="Arial"/>
                <a:cs typeface="Arial"/>
              </a:rPr>
              <a:t>for </a:t>
            </a:r>
            <a:r>
              <a:rPr dirty="0" sz="1200" spc="-5" b="1">
                <a:latin typeface="Arial"/>
                <a:cs typeface="Arial"/>
              </a:rPr>
              <a:t>Problem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Based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Modeling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Guiding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Fade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out</a:t>
            </a:r>
            <a:endParaRPr sz="1200">
              <a:latin typeface="Arial"/>
              <a:cs typeface="Arial"/>
            </a:endParaRPr>
          </a:p>
          <a:p>
            <a:pPr algn="just" marL="18415" marR="8255" indent="-6350">
              <a:lnSpc>
                <a:spcPct val="144200"/>
              </a:lnSpc>
              <a:spcBef>
                <a:spcPts val="985"/>
              </a:spcBef>
            </a:pP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apply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step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displays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himself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model.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 </a:t>
            </a:r>
            <a:r>
              <a:rPr dirty="0" sz="1200">
                <a:latin typeface="Arial MT"/>
                <a:cs typeface="Arial MT"/>
              </a:rPr>
              <a:t>step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guidelines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them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tasks.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442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And in final step he fades out and provides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opportunity to </a:t>
            </a:r>
            <a:r>
              <a:rPr dirty="0" sz="1200" spc="-5">
                <a:latin typeface="Arial MT"/>
                <a:cs typeface="Arial MT"/>
              </a:rPr>
              <a:t>the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experience and solve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own.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6402959"/>
            <a:ext cx="6979920" cy="39370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“Cooperative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Learning”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6957441"/>
            <a:ext cx="6632575" cy="436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889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Cooperative learning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a learning method. Cooperative learning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a umbrella term which covers </a:t>
            </a:r>
            <a:r>
              <a:rPr dirty="0" sz="1200">
                <a:latin typeface="Arial MT"/>
                <a:cs typeface="Arial MT"/>
              </a:rPr>
              <a:t> many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methods.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than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together.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Arial MT"/>
              <a:cs typeface="Arial MT"/>
            </a:endParaRPr>
          </a:p>
          <a:p>
            <a:pPr algn="just" marL="20320" marR="10795">
              <a:lnSpc>
                <a:spcPct val="142500"/>
              </a:lnSpc>
            </a:pPr>
            <a:r>
              <a:rPr dirty="0" u="heavy" sz="1200" b="1"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“C</a:t>
            </a:r>
            <a:r>
              <a:rPr dirty="0" u="heavy" sz="120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ooperative </a:t>
            </a:r>
            <a:r>
              <a:rPr dirty="0" u="heavy" sz="1200" spc="-5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learning </a:t>
            </a:r>
            <a:r>
              <a:rPr dirty="0" u="heavy" sz="120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is </a:t>
            </a:r>
            <a:r>
              <a:rPr dirty="0" u="heavy" sz="1200" spc="-5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a method </a:t>
            </a:r>
            <a:r>
              <a:rPr dirty="0" u="heavy" sz="120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of instruction </a:t>
            </a:r>
            <a:r>
              <a:rPr dirty="0" u="heavy" sz="1200" spc="-5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that has students </a:t>
            </a:r>
            <a:r>
              <a:rPr dirty="0" u="heavy" sz="120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working </a:t>
            </a:r>
            <a:r>
              <a:rPr dirty="0" u="heavy" sz="1200" spc="-5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together </a:t>
            </a:r>
            <a:r>
              <a:rPr dirty="0" u="heavy" sz="120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in </a:t>
            </a:r>
            <a:r>
              <a:rPr dirty="0" sz="1200" spc="5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u="heavy" sz="1200" spc="-5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groups, usually </a:t>
            </a:r>
            <a:r>
              <a:rPr dirty="0" u="heavy" sz="120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with </a:t>
            </a:r>
            <a:r>
              <a:rPr dirty="0" u="heavy" sz="1200" spc="-5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the </a:t>
            </a:r>
            <a:r>
              <a:rPr dirty="0" u="heavy" sz="120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goal of </a:t>
            </a:r>
            <a:r>
              <a:rPr dirty="0" u="heavy" sz="1200" spc="-5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completing a specific task. This method can help students </a:t>
            </a:r>
            <a:r>
              <a:rPr dirty="0" sz="1200" b="1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u="heavy" sz="120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develop</a:t>
            </a:r>
            <a:r>
              <a:rPr dirty="0" u="heavy" sz="1200" spc="-1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leadership</a:t>
            </a:r>
            <a:r>
              <a:rPr dirty="0" u="heavy" sz="1200" spc="-1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skills </a:t>
            </a:r>
            <a:r>
              <a:rPr dirty="0" u="heavy" sz="120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and </a:t>
            </a:r>
            <a:r>
              <a:rPr dirty="0" u="heavy" sz="1200" spc="-5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the</a:t>
            </a:r>
            <a:r>
              <a:rPr dirty="0" u="heavy" sz="1200" spc="-1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ability to</a:t>
            </a:r>
            <a:r>
              <a:rPr dirty="0" u="heavy" sz="1200" spc="-15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work with </a:t>
            </a:r>
            <a:r>
              <a:rPr dirty="0" u="heavy" sz="1200" spc="-5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others</a:t>
            </a:r>
            <a:r>
              <a:rPr dirty="0" u="heavy" sz="120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as</a:t>
            </a:r>
            <a:r>
              <a:rPr dirty="0" u="heavy" sz="1200" spc="-1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a</a:t>
            </a:r>
            <a:r>
              <a:rPr dirty="0" u="heavy" sz="1200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5" b="1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team.</a:t>
            </a:r>
            <a:r>
              <a:rPr dirty="0" u="heavy" sz="1200" spc="5" b="1">
                <a:uFill>
                  <a:solidFill>
                    <a:srgbClr val="333333"/>
                  </a:solidFill>
                </a:uFill>
                <a:latin typeface="Arial"/>
                <a:cs typeface="Arial"/>
              </a:rPr>
              <a:t>”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Arial"/>
              <a:cs typeface="Arial"/>
            </a:endParaRPr>
          </a:p>
          <a:p>
            <a:pPr algn="just" marL="26034" marR="5080" indent="-6350">
              <a:lnSpc>
                <a:spcPct val="143500"/>
              </a:lnSpc>
            </a:pPr>
            <a:r>
              <a:rPr dirty="0" sz="1200" spc="-5" b="1">
                <a:latin typeface="Arial"/>
                <a:cs typeface="Arial"/>
              </a:rPr>
              <a:t>Cooperative learning </a:t>
            </a:r>
            <a:r>
              <a:rPr dirty="0" sz="1200" b="1">
                <a:latin typeface="Arial"/>
                <a:cs typeface="Arial"/>
              </a:rPr>
              <a:t>should </a:t>
            </a:r>
            <a:r>
              <a:rPr dirty="0" sz="1200" spc="-5" b="1">
                <a:latin typeface="Arial"/>
                <a:cs typeface="Arial"/>
              </a:rPr>
              <a:t>have cooperative </a:t>
            </a:r>
            <a:r>
              <a:rPr dirty="0" sz="1200" spc="-10" b="1">
                <a:latin typeface="Arial"/>
                <a:cs typeface="Arial"/>
              </a:rPr>
              <a:t>tasks, </a:t>
            </a:r>
            <a:r>
              <a:rPr dirty="0" sz="1200" b="1">
                <a:latin typeface="Arial"/>
                <a:cs typeface="Arial"/>
              </a:rPr>
              <a:t>cooperative </a:t>
            </a:r>
            <a:r>
              <a:rPr dirty="0" sz="1200" spc="-5" b="1">
                <a:latin typeface="Arial"/>
                <a:cs typeface="Arial"/>
              </a:rPr>
              <a:t>goals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cooperative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rewards.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Objectives: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3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Overview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Monitoring</a:t>
            </a:r>
            <a:r>
              <a:rPr dirty="0" sz="1200" b="1">
                <a:latin typeface="Arial"/>
                <a:cs typeface="Arial"/>
              </a:rPr>
              <a:t> and </a:t>
            </a:r>
            <a:r>
              <a:rPr dirty="0" sz="1200" spc="-5" b="1">
                <a:latin typeface="Arial"/>
                <a:cs typeface="Arial"/>
              </a:rPr>
              <a:t>Managing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</a:t>
            </a:r>
            <a:r>
              <a:rPr dirty="0" sz="1200" b="1">
                <a:latin typeface="Arial"/>
                <a:cs typeface="Arial"/>
              </a:rPr>
              <a:t> Work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Tasks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580135"/>
            <a:ext cx="6622415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417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Let us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consider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some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situations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where you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 present</a:t>
            </a:r>
            <a:r>
              <a:rPr dirty="0" sz="1200" b="1">
                <a:latin typeface="Arial"/>
                <a:cs typeface="Arial"/>
              </a:rPr>
              <a:t> but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could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not work </a:t>
            </a:r>
            <a:r>
              <a:rPr dirty="0" sz="1200" spc="-5" b="1">
                <a:latin typeface="Arial"/>
                <a:cs typeface="Arial"/>
              </a:rPr>
              <a:t>unless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are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people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around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you.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780"/>
              </a:spcBef>
              <a:buFont typeface="Times New Roman"/>
              <a:buChar char="-"/>
              <a:tabLst>
                <a:tab pos="462280" algn="l"/>
                <a:tab pos="462915" algn="l"/>
              </a:tabLst>
            </a:pPr>
            <a:r>
              <a:rPr dirty="0" sz="1200" b="1">
                <a:latin typeface="Arial"/>
                <a:cs typeface="Arial"/>
              </a:rPr>
              <a:t>Family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790"/>
              </a:spcBef>
              <a:buFont typeface="Times New Roman"/>
              <a:buChar char="-"/>
              <a:tabLst>
                <a:tab pos="462280" algn="l"/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Market: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462280" algn="l"/>
                <a:tab pos="462915" algn="l"/>
              </a:tabLst>
            </a:pPr>
            <a:r>
              <a:rPr dirty="0" sz="1200" b="1">
                <a:latin typeface="Arial"/>
                <a:cs typeface="Arial"/>
              </a:rPr>
              <a:t>Farming</a:t>
            </a:r>
            <a:endParaRPr sz="1200">
              <a:latin typeface="Arial"/>
              <a:cs typeface="Arial"/>
            </a:endParaRPr>
          </a:p>
          <a:p>
            <a:pPr marL="469900" marR="39370" indent="-236220">
              <a:lnSpc>
                <a:spcPct val="145000"/>
              </a:lnSpc>
              <a:spcBef>
                <a:spcPts val="145"/>
              </a:spcBef>
              <a:buFont typeface="Times New Roman"/>
              <a:buChar char="-"/>
              <a:tabLst>
                <a:tab pos="462280" algn="l"/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Sports: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games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5">
                <a:latin typeface="Arial MT"/>
                <a:cs typeface="Arial MT"/>
              </a:rPr>
              <a:t> individual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games while</a:t>
            </a:r>
            <a:r>
              <a:rPr dirty="0" sz="1200">
                <a:latin typeface="Arial MT"/>
                <a:cs typeface="Arial MT"/>
              </a:rPr>
              <a:t> others</a:t>
            </a:r>
            <a:r>
              <a:rPr dirty="0" sz="1200" spc="-5">
                <a:latin typeface="Arial MT"/>
                <a:cs typeface="Arial MT"/>
              </a:rPr>
              <a:t> are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games.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team games,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effort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all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players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included.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3463798"/>
            <a:ext cx="6631940" cy="8283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Cooperative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Arial"/>
              <a:cs typeface="Arial"/>
            </a:endParaRPr>
          </a:p>
          <a:p>
            <a:pPr algn="just" marL="469900" marR="7620" indent="-228600">
              <a:lnSpc>
                <a:spcPct val="143300"/>
              </a:lnSpc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Goal </a:t>
            </a:r>
            <a:r>
              <a:rPr dirty="0" sz="1200" spc="-5" b="1">
                <a:latin typeface="Arial"/>
                <a:cs typeface="Arial"/>
              </a:rPr>
              <a:t>structure: </a:t>
            </a:r>
            <a:r>
              <a:rPr dirty="0" sz="1200" spc="-5">
                <a:latin typeface="Arial MT"/>
                <a:cs typeface="Arial MT"/>
              </a:rPr>
              <a:t>It is a way that goals specify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degree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interdependence sought among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There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three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different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types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goal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structures: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individualistic,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competitive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cooperative.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-"/>
            </a:pPr>
            <a:endParaRPr sz="1750">
              <a:latin typeface="Arial"/>
              <a:cs typeface="Arial"/>
            </a:endParaRPr>
          </a:p>
          <a:p>
            <a:pPr algn="just" marL="469900" marR="8255" indent="-228600">
              <a:lnSpc>
                <a:spcPct val="144200"/>
              </a:lnSpc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Individualistic goal structure: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occurs when achievement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goal by one student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 unrelated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 not be </a:t>
            </a:r>
            <a:r>
              <a:rPr dirty="0" sz="1200" spc="-10">
                <a:latin typeface="Arial MT"/>
                <a:cs typeface="Arial MT"/>
              </a:rPr>
              <a:t>compared </a:t>
            </a:r>
            <a:r>
              <a:rPr dirty="0" sz="1200" spc="-5">
                <a:latin typeface="Arial MT"/>
                <a:cs typeface="Arial MT"/>
              </a:rPr>
              <a:t>with the achievement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other student. Students are asked to </a:t>
            </a:r>
            <a:r>
              <a:rPr dirty="0" sz="1200">
                <a:latin typeface="Arial MT"/>
                <a:cs typeface="Arial MT"/>
              </a:rPr>
              <a:t> perform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individually.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469900" marR="6985" indent="-228600">
              <a:lnSpc>
                <a:spcPct val="144200"/>
              </a:lnSpc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Competitive goal structure: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occurs when students perceive that they can obtain </a:t>
            </a:r>
            <a:r>
              <a:rPr dirty="0" sz="1200" spc="-1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 goal </a:t>
            </a:r>
            <a:r>
              <a:rPr dirty="0" sz="1200">
                <a:latin typeface="Arial MT"/>
                <a:cs typeface="Arial MT"/>
              </a:rPr>
              <a:t>if, </a:t>
            </a:r>
            <a:r>
              <a:rPr dirty="0" sz="1200" spc="-5">
                <a:latin typeface="Arial MT"/>
                <a:cs typeface="Arial MT"/>
              </a:rPr>
              <a:t>and only </a:t>
            </a:r>
            <a:r>
              <a:rPr dirty="0" sz="1200">
                <a:latin typeface="Arial MT"/>
                <a:cs typeface="Arial MT"/>
              </a:rPr>
              <a:t>if, the other </a:t>
            </a:r>
            <a:r>
              <a:rPr dirty="0" sz="1200" spc="-5">
                <a:latin typeface="Arial MT"/>
                <a:cs typeface="Arial MT"/>
              </a:rPr>
              <a:t>students with </a:t>
            </a:r>
            <a:r>
              <a:rPr dirty="0" sz="1200">
                <a:latin typeface="Arial MT"/>
                <a:cs typeface="Arial MT"/>
              </a:rPr>
              <a:t>whom </a:t>
            </a:r>
            <a:r>
              <a:rPr dirty="0" sz="1200" spc="-5">
                <a:latin typeface="Arial MT"/>
                <a:cs typeface="Arial MT"/>
              </a:rPr>
              <a:t>they work </a:t>
            </a:r>
            <a:r>
              <a:rPr dirty="0" sz="1200">
                <a:latin typeface="Arial MT"/>
                <a:cs typeface="Arial MT"/>
              </a:rPr>
              <a:t>fail to </a:t>
            </a:r>
            <a:r>
              <a:rPr dirty="0" sz="1200" spc="-5">
                <a:latin typeface="Arial MT"/>
                <a:cs typeface="Arial MT"/>
              </a:rPr>
              <a:t>obtain their goals. E.g.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grading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curve.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/>
              <a:buChar char="-"/>
            </a:pPr>
            <a:endParaRPr sz="1800">
              <a:latin typeface="Arial MT"/>
              <a:cs typeface="Arial MT"/>
            </a:endParaRPr>
          </a:p>
          <a:p>
            <a:pPr algn="just" marL="469900" marR="6985" indent="-228600">
              <a:lnSpc>
                <a:spcPct val="144200"/>
              </a:lnSpc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Cooperative </a:t>
            </a:r>
            <a:r>
              <a:rPr dirty="0" sz="1200" b="1">
                <a:latin typeface="Arial"/>
                <a:cs typeface="Arial"/>
              </a:rPr>
              <a:t>goal </a:t>
            </a:r>
            <a:r>
              <a:rPr dirty="0" sz="1200" spc="-5" b="1">
                <a:latin typeface="Arial"/>
                <a:cs typeface="Arial"/>
              </a:rPr>
              <a:t>structure: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occurs </a:t>
            </a:r>
            <a:r>
              <a:rPr dirty="0" sz="1200" spc="-10">
                <a:latin typeface="Arial MT"/>
                <a:cs typeface="Arial MT"/>
              </a:rPr>
              <a:t>when </a:t>
            </a:r>
            <a:r>
              <a:rPr dirty="0" sz="1200" spc="-5">
                <a:latin typeface="Arial MT"/>
                <a:cs typeface="Arial MT"/>
              </a:rPr>
              <a:t>students perceive that they can obtain </a:t>
            </a:r>
            <a:r>
              <a:rPr dirty="0" sz="1200" spc="-1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 goal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if,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if,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other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whom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obtain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goals.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E.g.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group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games.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Why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cooperative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5" b="1">
                <a:latin typeface="Arial"/>
                <a:cs typeface="Arial"/>
              </a:rPr>
              <a:t> essential?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There are many reasons behind providing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with cooperative learning.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10">
                <a:latin typeface="Arial MT"/>
                <a:cs typeface="Arial MT"/>
              </a:rPr>
              <a:t>lot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research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being done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it. </a:t>
            </a:r>
            <a:r>
              <a:rPr dirty="0" sz="1200" spc="-5">
                <a:latin typeface="Arial MT"/>
                <a:cs typeface="Arial MT"/>
              </a:rPr>
              <a:t>We human beings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social animals and we are dependent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each </a:t>
            </a:r>
            <a:r>
              <a:rPr dirty="0" sz="1200">
                <a:latin typeface="Arial MT"/>
                <a:cs typeface="Arial MT"/>
              </a:rPr>
              <a:t>other. A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</a:t>
            </a:r>
            <a:r>
              <a:rPr dirty="0" sz="1200" spc="4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4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conducted</a:t>
            </a:r>
            <a:r>
              <a:rPr dirty="0" sz="1200" spc="4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4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4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45</a:t>
            </a:r>
            <a:r>
              <a:rPr dirty="0" sz="1200" spc="4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already</a:t>
            </a:r>
            <a:r>
              <a:rPr dirty="0" sz="1200" spc="4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conducted</a:t>
            </a:r>
            <a:r>
              <a:rPr dirty="0" sz="1200" spc="4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researches</a:t>
            </a:r>
            <a:r>
              <a:rPr dirty="0" sz="1200" spc="4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were</a:t>
            </a:r>
            <a:r>
              <a:rPr dirty="0" sz="1200" spc="4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analyzed</a:t>
            </a:r>
            <a:r>
              <a:rPr dirty="0" sz="1200" spc="43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37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45</a:t>
            </a:r>
            <a:r>
              <a:rPr dirty="0" sz="1200" spc="2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researches</a:t>
            </a:r>
            <a:r>
              <a:rPr dirty="0" sz="1200" spc="28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say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2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</a:t>
            </a:r>
            <a:r>
              <a:rPr dirty="0" sz="1200" spc="28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than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endParaRPr sz="1200">
              <a:latin typeface="Arial MT"/>
              <a:cs typeface="Arial MT"/>
            </a:endParaRPr>
          </a:p>
          <a:p>
            <a:pPr algn="just" marL="18415" marR="5715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academic achievement is </a:t>
            </a:r>
            <a:r>
              <a:rPr dirty="0" sz="1200">
                <a:latin typeface="Arial MT"/>
                <a:cs typeface="Arial MT"/>
              </a:rPr>
              <a:t>higher. </a:t>
            </a:r>
            <a:r>
              <a:rPr dirty="0" sz="1200" spc="-5">
                <a:latin typeface="Arial MT"/>
                <a:cs typeface="Arial MT"/>
              </a:rPr>
              <a:t>Other remaining 8 researches concluded that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students work in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individually,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achievement </a:t>
            </a:r>
            <a:r>
              <a:rPr dirty="0" sz="1200">
                <a:latin typeface="Arial MT"/>
                <a:cs typeface="Arial MT"/>
              </a:rPr>
              <a:t>remains </a:t>
            </a:r>
            <a:r>
              <a:rPr dirty="0" sz="1200" spc="-5">
                <a:latin typeface="Arial MT"/>
                <a:cs typeface="Arial MT"/>
              </a:rPr>
              <a:t>the same.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10">
                <a:latin typeface="Arial MT"/>
                <a:cs typeface="Arial MT"/>
              </a:rPr>
              <a:t>was </a:t>
            </a:r>
            <a:r>
              <a:rPr dirty="0" sz="1200" spc="-5">
                <a:latin typeface="Arial MT"/>
                <a:cs typeface="Arial MT"/>
              </a:rPr>
              <a:t>an experimental research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 which one was </a:t>
            </a:r>
            <a:r>
              <a:rPr dirty="0" sz="1200" spc="-10">
                <a:latin typeface="Arial MT"/>
                <a:cs typeface="Arial MT"/>
              </a:rPr>
              <a:t>control </a:t>
            </a:r>
            <a:r>
              <a:rPr dirty="0" sz="1200" spc="-5">
                <a:latin typeface="Arial MT"/>
                <a:cs typeface="Arial MT"/>
              </a:rPr>
              <a:t>group and the other was experimental group. </a:t>
            </a:r>
            <a:r>
              <a:rPr dirty="0" sz="1200">
                <a:latin typeface="Arial MT"/>
                <a:cs typeface="Arial MT"/>
              </a:rPr>
              <a:t>Control </a:t>
            </a:r>
            <a:r>
              <a:rPr dirty="0" sz="1200" spc="-5">
                <a:latin typeface="Arial MT"/>
                <a:cs typeface="Arial MT"/>
              </a:rPr>
              <a:t>group </a:t>
            </a:r>
            <a:r>
              <a:rPr dirty="0" sz="1200" spc="-10">
                <a:latin typeface="Arial MT"/>
                <a:cs typeface="Arial MT"/>
              </a:rPr>
              <a:t>was </a:t>
            </a:r>
            <a:r>
              <a:rPr dirty="0" sz="1200" spc="-5">
                <a:latin typeface="Arial MT"/>
                <a:cs typeface="Arial MT"/>
              </a:rPr>
              <a:t>given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 tasks while experimental group was provided with cooperative learning </a:t>
            </a:r>
            <a:r>
              <a:rPr dirty="0" sz="1200">
                <a:latin typeface="Arial MT"/>
                <a:cs typeface="Arial MT"/>
              </a:rPr>
              <a:t>tasks.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end, 37 researches shows </a:t>
            </a:r>
            <a:r>
              <a:rPr dirty="0" sz="1200">
                <a:latin typeface="Arial MT"/>
                <a:cs typeface="Arial MT"/>
              </a:rPr>
              <a:t>that the </a:t>
            </a:r>
            <a:r>
              <a:rPr dirty="0" sz="1200" spc="-5">
                <a:latin typeface="Arial MT"/>
                <a:cs typeface="Arial MT"/>
              </a:rPr>
              <a:t>experimental group, who worked using cooperative learning </a:t>
            </a:r>
            <a:r>
              <a:rPr dirty="0" sz="1200">
                <a:latin typeface="Arial MT"/>
                <a:cs typeface="Arial MT"/>
              </a:rPr>
              <a:t> styles </a:t>
            </a:r>
            <a:r>
              <a:rPr dirty="0" sz="1200" spc="-5">
                <a:latin typeface="Arial MT"/>
                <a:cs typeface="Arial MT"/>
              </a:rPr>
              <a:t>performed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better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controlled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group.</a:t>
            </a:r>
            <a:endParaRPr sz="1200">
              <a:latin typeface="Arial MT"/>
              <a:cs typeface="Arial MT"/>
            </a:endParaRPr>
          </a:p>
          <a:p>
            <a:pPr algn="just" marL="18415" marR="7620" indent="-6350">
              <a:lnSpc>
                <a:spcPct val="144100"/>
              </a:lnSpc>
              <a:spcBef>
                <a:spcPts val="15"/>
              </a:spcBef>
            </a:pPr>
            <a:r>
              <a:rPr dirty="0" sz="1200" spc="-5">
                <a:latin typeface="Arial MT"/>
                <a:cs typeface="Arial MT"/>
              </a:rPr>
              <a:t>The other remaining 8 researches concluded that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students work in groups or individually, their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achievement remains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same.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10799826"/>
            <a:ext cx="6623050" cy="807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25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b="1">
                <a:latin typeface="Arial"/>
                <a:cs typeface="Arial"/>
              </a:rPr>
              <a:t> model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was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developed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achieve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at</a:t>
            </a:r>
            <a:r>
              <a:rPr dirty="0" sz="1200" b="1">
                <a:latin typeface="Arial"/>
                <a:cs typeface="Arial"/>
              </a:rPr>
              <a:t> least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three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important </a:t>
            </a:r>
            <a:r>
              <a:rPr dirty="0" sz="1200" b="1">
                <a:latin typeface="Arial"/>
                <a:cs typeface="Arial"/>
              </a:rPr>
              <a:t> instructional </a:t>
            </a:r>
            <a:r>
              <a:rPr dirty="0" sz="1200" spc="-5" b="1">
                <a:latin typeface="Arial"/>
                <a:cs typeface="Arial"/>
              </a:rPr>
              <a:t>goals: academic achievement, tolerance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acceptance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diversity,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social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80" y="575563"/>
            <a:ext cx="6630670" cy="70808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762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There is no research which </a:t>
            </a:r>
            <a:r>
              <a:rPr dirty="0" sz="1200">
                <a:latin typeface="Arial MT"/>
                <a:cs typeface="Arial MT"/>
              </a:rPr>
              <a:t>says </a:t>
            </a:r>
            <a:r>
              <a:rPr dirty="0" sz="1200" spc="-5">
                <a:latin typeface="Arial MT"/>
                <a:cs typeface="Arial MT"/>
              </a:rPr>
              <a:t>that cooperative learning has a negative effect.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more </a:t>
            </a:r>
            <a:r>
              <a:rPr dirty="0" sz="1200" spc="-10">
                <a:latin typeface="Arial MT"/>
                <a:cs typeface="Arial MT"/>
              </a:rPr>
              <a:t>than 80%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researches </a:t>
            </a:r>
            <a:r>
              <a:rPr dirty="0" sz="1200" spc="-10">
                <a:latin typeface="Arial MT"/>
                <a:cs typeface="Arial MT"/>
              </a:rPr>
              <a:t>say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cooperative learning helps in academic achievement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student </a:t>
            </a:r>
            <a:r>
              <a:rPr dirty="0" sz="1200" spc="-10">
                <a:latin typeface="Arial MT"/>
                <a:cs typeface="Arial MT"/>
              </a:rPr>
              <a:t>than </a:t>
            </a:r>
            <a:r>
              <a:rPr dirty="0" sz="1200" spc="-5">
                <a:latin typeface="Arial MT"/>
                <a:cs typeface="Arial MT"/>
              </a:rPr>
              <a:t> essentially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tasks</a:t>
            </a:r>
            <a:r>
              <a:rPr dirty="0" sz="1200" spc="-5">
                <a:latin typeface="Arial MT"/>
                <a:cs typeface="Arial MT"/>
              </a:rPr>
              <a:t> must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provided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Cooperative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learning:</a:t>
            </a:r>
            <a:endParaRPr sz="1400">
              <a:latin typeface="Arial"/>
              <a:cs typeface="Arial"/>
            </a:endParaRPr>
          </a:p>
          <a:p>
            <a:pPr algn="just" marL="469900" marR="5080" indent="-228600">
              <a:lnSpc>
                <a:spcPts val="2039"/>
              </a:lnSpc>
              <a:spcBef>
                <a:spcPts val="130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which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requires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cooperation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interdependence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its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task,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goal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reward</a:t>
            </a:r>
            <a:r>
              <a:rPr dirty="0" sz="1200" b="1">
                <a:latin typeface="Arial"/>
                <a:cs typeface="Arial"/>
              </a:rPr>
              <a:t> structure.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Times New Roman"/>
              <a:buChar char="-"/>
            </a:pPr>
            <a:endParaRPr sz="1650">
              <a:latin typeface="Arial"/>
              <a:cs typeface="Arial"/>
            </a:endParaRPr>
          </a:p>
          <a:p>
            <a:pPr algn="just" marL="469900" marR="5080" indent="-228600">
              <a:lnSpc>
                <a:spcPct val="143100"/>
              </a:lnSpc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characterized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task,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goal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reward </a:t>
            </a:r>
            <a:r>
              <a:rPr dirty="0" sz="1200" spc="-3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structures.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Further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situations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encouraged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and/or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required to work </a:t>
            </a:r>
            <a:r>
              <a:rPr dirty="0" sz="1200" spc="-5" b="1">
                <a:latin typeface="Arial"/>
                <a:cs typeface="Arial"/>
              </a:rPr>
              <a:t>together </a:t>
            </a:r>
            <a:r>
              <a:rPr dirty="0" sz="1200" b="1">
                <a:latin typeface="Arial"/>
                <a:cs typeface="Arial"/>
              </a:rPr>
              <a:t>on </a:t>
            </a:r>
            <a:r>
              <a:rPr dirty="0" sz="1200" spc="-5" b="1">
                <a:latin typeface="Arial"/>
                <a:cs typeface="Arial"/>
              </a:rPr>
              <a:t>a </a:t>
            </a:r>
            <a:r>
              <a:rPr dirty="0" sz="1200" b="1">
                <a:latin typeface="Arial"/>
                <a:cs typeface="Arial"/>
              </a:rPr>
              <a:t>common </a:t>
            </a:r>
            <a:r>
              <a:rPr dirty="0" sz="1200" spc="-5" b="1">
                <a:latin typeface="Arial"/>
                <a:cs typeface="Arial"/>
              </a:rPr>
              <a:t>task,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they must coordinate their efforts 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complete the </a:t>
            </a:r>
            <a:r>
              <a:rPr dirty="0" sz="1200" spc="-5" b="1">
                <a:latin typeface="Arial"/>
                <a:cs typeface="Arial"/>
              </a:rPr>
              <a:t>task.</a:t>
            </a:r>
            <a:endParaRPr sz="1200">
              <a:latin typeface="Arial"/>
              <a:cs typeface="Arial"/>
            </a:endParaRPr>
          </a:p>
          <a:p>
            <a:pPr algn="just" marL="469900" indent="-229235">
              <a:lnSpc>
                <a:spcPct val="100000"/>
              </a:lnSpc>
              <a:spcBef>
                <a:spcPts val="770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lessons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characterized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by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following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features: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b="1">
                <a:latin typeface="Arial"/>
                <a:cs typeface="Arial"/>
              </a:rPr>
              <a:t> work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teams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5" b="1">
                <a:latin typeface="Arial"/>
                <a:cs typeface="Arial"/>
              </a:rPr>
              <a:t> master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b="1">
                <a:latin typeface="Arial"/>
                <a:cs typeface="Arial"/>
              </a:rPr>
              <a:t> goal.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Teams are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made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up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high,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average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low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achieving students.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Whenever possible,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teams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include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racial, </a:t>
            </a:r>
            <a:r>
              <a:rPr dirty="0" sz="1200" b="1">
                <a:latin typeface="Arial"/>
                <a:cs typeface="Arial"/>
              </a:rPr>
              <a:t>cultural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gender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mix.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Reward </a:t>
            </a:r>
            <a:r>
              <a:rPr dirty="0" sz="1200" spc="-5" b="1">
                <a:latin typeface="Arial"/>
                <a:cs typeface="Arial"/>
              </a:rPr>
              <a:t>systems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oriented to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group </a:t>
            </a:r>
            <a:r>
              <a:rPr dirty="0" sz="1200" spc="-5" b="1">
                <a:latin typeface="Arial"/>
                <a:cs typeface="Arial"/>
              </a:rPr>
              <a:t>as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well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</a:t>
            </a:r>
            <a:r>
              <a:rPr dirty="0" sz="1200" b="1">
                <a:latin typeface="Arial"/>
                <a:cs typeface="Arial"/>
              </a:rPr>
              <a:t> 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individual.</a:t>
            </a:r>
            <a:endParaRPr sz="1200">
              <a:latin typeface="Arial"/>
              <a:cs typeface="Arial"/>
            </a:endParaRPr>
          </a:p>
          <a:p>
            <a:pPr algn="just" marL="255270" marR="5715" indent="-6350">
              <a:lnSpc>
                <a:spcPct val="144200"/>
              </a:lnSpc>
              <a:spcBef>
                <a:spcPts val="960"/>
              </a:spcBef>
            </a:pPr>
            <a:r>
              <a:rPr dirty="0" sz="1200" spc="-5">
                <a:latin typeface="Arial MT"/>
                <a:cs typeface="Arial MT"/>
              </a:rPr>
              <a:t>Many classrooms are observed </a:t>
            </a:r>
            <a:r>
              <a:rPr dirty="0" sz="1200">
                <a:latin typeface="Arial MT"/>
                <a:cs typeface="Arial MT"/>
              </a:rPr>
              <a:t>where </a:t>
            </a:r>
            <a:r>
              <a:rPr dirty="0" sz="1200" spc="-5">
                <a:latin typeface="Arial MT"/>
                <a:cs typeface="Arial MT"/>
              </a:rPr>
              <a:t>seating arrangement is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such a way where students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cooperate with each other.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fact,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are not doing cooperative </a:t>
            </a:r>
            <a:r>
              <a:rPr dirty="0" sz="1200">
                <a:latin typeface="Arial MT"/>
                <a:cs typeface="Arial MT"/>
              </a:rPr>
              <a:t>tasks. </a:t>
            </a:r>
            <a:r>
              <a:rPr dirty="0" sz="1200" spc="-5">
                <a:latin typeface="Arial MT"/>
                <a:cs typeface="Arial MT"/>
              </a:rPr>
              <a:t>They 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performing individually. </a:t>
            </a:r>
            <a:r>
              <a:rPr dirty="0" sz="1200">
                <a:latin typeface="Arial MT"/>
                <a:cs typeface="Arial MT"/>
              </a:rPr>
              <a:t>They are </a:t>
            </a:r>
            <a:r>
              <a:rPr dirty="0" sz="1200" spc="-5">
                <a:latin typeface="Arial MT"/>
                <a:cs typeface="Arial MT"/>
              </a:rPr>
              <a:t>sitting in groups but they are not cooperating with each other.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Tasks </a:t>
            </a:r>
            <a:r>
              <a:rPr dirty="0" sz="1200" spc="-5">
                <a:latin typeface="Arial MT"/>
                <a:cs typeface="Arial MT"/>
              </a:rPr>
              <a:t>must be cooperative in which each student should actively participate. </a:t>
            </a:r>
            <a:r>
              <a:rPr dirty="0" sz="1200" spc="-10">
                <a:latin typeface="Arial MT"/>
                <a:cs typeface="Arial MT"/>
              </a:rPr>
              <a:t>Make sure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 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challenging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 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individually.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Arial MT"/>
              <a:cs typeface="Arial MT"/>
            </a:endParaRPr>
          </a:p>
          <a:p>
            <a:pPr algn="just" marL="20320">
              <a:lnSpc>
                <a:spcPct val="100000"/>
              </a:lnSpc>
            </a:pPr>
            <a:r>
              <a:rPr dirty="0" sz="1600" spc="-5" b="1">
                <a:latin typeface="Arial"/>
                <a:cs typeface="Arial"/>
              </a:rPr>
              <a:t>Goals/Learning</a:t>
            </a:r>
            <a:r>
              <a:rPr dirty="0" sz="1600" spc="1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outcomes</a:t>
            </a:r>
            <a:r>
              <a:rPr dirty="0" sz="1600" spc="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for</a:t>
            </a:r>
            <a:r>
              <a:rPr dirty="0" sz="1600" spc="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cooperative</a:t>
            </a:r>
            <a:r>
              <a:rPr dirty="0" sz="1600" spc="1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learning:</a:t>
            </a:r>
            <a:endParaRPr sz="16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75"/>
              </a:spcBef>
            </a:pPr>
            <a:r>
              <a:rPr dirty="0" sz="1200" b="1">
                <a:latin typeface="Times New Roman"/>
                <a:cs typeface="Times New Roman"/>
              </a:rPr>
              <a:t>Academic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481" y="7483475"/>
            <a:ext cx="4653953" cy="30797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91741" y="8201025"/>
            <a:ext cx="532765" cy="51117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50800" marR="5080" indent="-38100">
              <a:lnSpc>
                <a:spcPts val="1910"/>
              </a:lnSpc>
              <a:spcBef>
                <a:spcPts val="165"/>
              </a:spcBef>
            </a:pP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cial  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skills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88107" y="7772780"/>
            <a:ext cx="1050290" cy="50990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 indent="101600">
              <a:lnSpc>
                <a:spcPts val="1900"/>
              </a:lnSpc>
              <a:spcBef>
                <a:spcPts val="175"/>
              </a:spcBef>
            </a:pP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Academic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achieve</a:t>
            </a:r>
            <a:r>
              <a:rPr dirty="0" sz="1600" spc="-15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ent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7245" y="8073009"/>
            <a:ext cx="890905" cy="56388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ctr" marL="12700" marR="5080">
              <a:lnSpc>
                <a:spcPct val="97100"/>
              </a:lnSpc>
              <a:spcBef>
                <a:spcPts val="140"/>
              </a:spcBef>
            </a:pP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Tolerance</a:t>
            </a:r>
            <a:r>
              <a:rPr dirty="0" sz="12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dirty="0" sz="1200" spc="-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acceptance </a:t>
            </a:r>
            <a:r>
              <a:rPr dirty="0" sz="120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dirty="0" sz="1200" spc="-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Times New Roman"/>
                <a:cs typeface="Times New Roman"/>
              </a:rPr>
              <a:t>diversity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68523" y="9638538"/>
            <a:ext cx="628650" cy="65595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ctr" marL="12700" marR="5080">
              <a:lnSpc>
                <a:spcPct val="97500"/>
              </a:lnSpc>
              <a:spcBef>
                <a:spcPts val="145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op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ra 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tive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480" y="656335"/>
            <a:ext cx="6631940" cy="4311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10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Social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skills: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Communication 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-"/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Theoretical </a:t>
            </a:r>
            <a:r>
              <a:rPr dirty="0" sz="1400" spc="-10" b="1">
                <a:latin typeface="Arial"/>
                <a:cs typeface="Arial"/>
              </a:rPr>
              <a:t>and</a:t>
            </a:r>
            <a:r>
              <a:rPr dirty="0" sz="1400" spc="-5" b="1">
                <a:latin typeface="Arial"/>
                <a:cs typeface="Arial"/>
              </a:rPr>
              <a:t> Empirical support:</a:t>
            </a:r>
            <a:endParaRPr sz="1400">
              <a:latin typeface="Arial"/>
              <a:cs typeface="Arial"/>
            </a:endParaRPr>
          </a:p>
          <a:p>
            <a:pPr algn="just" marL="469900" marR="5080" indent="-228600">
              <a:lnSpc>
                <a:spcPts val="2080"/>
              </a:lnSpc>
              <a:spcBef>
                <a:spcPts val="9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cooperative learning model did not evolve from one individual’s theory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from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single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approach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>
                <a:latin typeface="Arial MT"/>
                <a:cs typeface="Arial MT"/>
              </a:rPr>
              <a:t> Its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roots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back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early</a:t>
            </a:r>
            <a:r>
              <a:rPr dirty="0" sz="1200">
                <a:latin typeface="Arial MT"/>
                <a:cs typeface="Arial MT"/>
              </a:rPr>
              <a:t> Greeks,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its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contemporary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developments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be traced to the work of </a:t>
            </a:r>
            <a:r>
              <a:rPr dirty="0" sz="1200">
                <a:latin typeface="Arial MT"/>
                <a:cs typeface="Arial MT"/>
              </a:rPr>
              <a:t>educational </a:t>
            </a:r>
            <a:r>
              <a:rPr dirty="0" sz="1200" spc="-5">
                <a:latin typeface="Arial MT"/>
                <a:cs typeface="Arial MT"/>
              </a:rPr>
              <a:t>psychologists and pedagogical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theories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the beginning of the twentieth </a:t>
            </a:r>
            <a:r>
              <a:rPr dirty="0" sz="1200">
                <a:latin typeface="Arial MT"/>
                <a:cs typeface="Arial MT"/>
              </a:rPr>
              <a:t>century, </a:t>
            </a:r>
            <a:r>
              <a:rPr dirty="0" sz="1200" spc="-5">
                <a:latin typeface="Arial MT"/>
                <a:cs typeface="Arial MT"/>
              </a:rPr>
              <a:t>as well as </a:t>
            </a:r>
            <a:r>
              <a:rPr dirty="0" sz="1200">
                <a:latin typeface="Arial MT"/>
                <a:cs typeface="Arial MT"/>
              </a:rPr>
              <a:t>more </a:t>
            </a:r>
            <a:r>
              <a:rPr dirty="0" sz="1200" spc="-5">
                <a:latin typeface="Arial MT"/>
                <a:cs typeface="Arial MT"/>
              </a:rPr>
              <a:t>recent information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processing theories of learning and cognitive and developmental theorists such as Piaget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Vygotsky.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40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What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are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group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skills?</a:t>
            </a:r>
            <a:endParaRPr sz="1400">
              <a:latin typeface="Arial"/>
              <a:cs typeface="Arial"/>
            </a:endParaRPr>
          </a:p>
          <a:p>
            <a:pPr marL="469900" marR="7620" indent="-228600">
              <a:lnSpc>
                <a:spcPts val="2050"/>
              </a:lnSpc>
              <a:spcBef>
                <a:spcPts val="11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Group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with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which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participate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effectively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group.</a:t>
            </a:r>
            <a:r>
              <a:rPr dirty="0" sz="1200" spc="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E.g.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readiness</a:t>
            </a:r>
            <a:r>
              <a:rPr dirty="0" sz="1200" spc="2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2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action,</a:t>
            </a:r>
            <a:r>
              <a:rPr dirty="0" sz="1200" spc="2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sequencing</a:t>
            </a:r>
            <a:r>
              <a:rPr dirty="0" sz="1200" spc="2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2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task,</a:t>
            </a:r>
            <a:r>
              <a:rPr dirty="0" sz="1200" spc="2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managing</a:t>
            </a:r>
            <a:r>
              <a:rPr dirty="0" sz="1200" spc="2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tasks,</a:t>
            </a:r>
            <a:r>
              <a:rPr dirty="0" sz="1200" spc="2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negotiation</a:t>
            </a:r>
            <a:r>
              <a:rPr dirty="0" sz="1200" spc="2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skills,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45"/>
              </a:spcBef>
            </a:pPr>
            <a:r>
              <a:rPr dirty="0" sz="1200" b="1">
                <a:latin typeface="Arial"/>
                <a:cs typeface="Arial"/>
              </a:rPr>
              <a:t>communication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assessing skills</a:t>
            </a:r>
            <a:r>
              <a:rPr dirty="0" sz="1200" b="1">
                <a:latin typeface="Arial"/>
                <a:cs typeface="Arial"/>
              </a:rPr>
              <a:t> or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managing </a:t>
            </a:r>
            <a:r>
              <a:rPr dirty="0" sz="1200" spc="-5" b="1">
                <a:latin typeface="Arial"/>
                <a:cs typeface="Arial"/>
              </a:rPr>
              <a:t>skills etc.</a:t>
            </a:r>
            <a:endParaRPr sz="12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1110"/>
              </a:spcBef>
            </a:pPr>
            <a:r>
              <a:rPr dirty="0" sz="1400" spc="-5" b="1">
                <a:latin typeface="Arial"/>
                <a:cs typeface="Arial"/>
              </a:rPr>
              <a:t>Group/Interdependence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tasks:</a:t>
            </a:r>
            <a:endParaRPr sz="1400">
              <a:latin typeface="Arial"/>
              <a:cs typeface="Arial"/>
            </a:endParaRPr>
          </a:p>
          <a:p>
            <a:pPr marL="469900" marR="8890" indent="-228600">
              <a:lnSpc>
                <a:spcPts val="2050"/>
              </a:lnSpc>
              <a:spcBef>
                <a:spcPts val="5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1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situation</a:t>
            </a:r>
            <a:r>
              <a:rPr dirty="0" sz="1200" spc="20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where</a:t>
            </a:r>
            <a:r>
              <a:rPr dirty="0" sz="1200" spc="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1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20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task</a:t>
            </a:r>
            <a:r>
              <a:rPr dirty="0" sz="1200" spc="1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</a:t>
            </a:r>
            <a:r>
              <a:rPr dirty="0" sz="1200" spc="20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1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accomplished</a:t>
            </a:r>
            <a:r>
              <a:rPr dirty="0" sz="1200" spc="2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1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groups</a:t>
            </a:r>
            <a:r>
              <a:rPr dirty="0" sz="1200" spc="20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1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cannot</a:t>
            </a:r>
            <a:r>
              <a:rPr dirty="0" sz="1200" spc="19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be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accomplished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by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individuals </a:t>
            </a:r>
            <a:r>
              <a:rPr dirty="0" sz="1200" b="1">
                <a:latin typeface="Arial"/>
                <a:cs typeface="Arial"/>
              </a:rPr>
              <a:t>who </a:t>
            </a:r>
            <a:r>
              <a:rPr dirty="0" sz="1200" spc="-10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working</a:t>
            </a:r>
            <a:r>
              <a:rPr dirty="0" sz="1200" b="1">
                <a:latin typeface="Arial"/>
                <a:cs typeface="Arial"/>
              </a:rPr>
              <a:t> alone.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384" y="5356192"/>
            <a:ext cx="6405880" cy="623760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755"/>
              </a:spcBef>
            </a:pPr>
            <a:r>
              <a:rPr dirty="0" sz="1400" spc="-5" b="1">
                <a:latin typeface="Arial"/>
                <a:cs typeface="Arial"/>
              </a:rPr>
              <a:t>Group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Investigation:</a:t>
            </a:r>
            <a:endParaRPr sz="1400">
              <a:latin typeface="Arial"/>
              <a:cs typeface="Arial"/>
            </a:endParaRPr>
          </a:p>
          <a:p>
            <a:pPr algn="just" marL="241300" marR="8890" indent="-228600">
              <a:lnSpc>
                <a:spcPts val="2039"/>
              </a:lnSpc>
              <a:spcBef>
                <a:spcPts val="130"/>
              </a:spcBef>
              <a:buFont typeface="Times New Roman"/>
              <a:buChar char="-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approach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which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help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define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topics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study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then</a:t>
            </a:r>
            <a:r>
              <a:rPr dirty="0" sz="1200" b="1">
                <a:latin typeface="Arial"/>
                <a:cs typeface="Arial"/>
              </a:rPr>
              <a:t> work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together</a:t>
            </a:r>
            <a:r>
              <a:rPr dirty="0" sz="1200" b="1">
                <a:latin typeface="Arial"/>
                <a:cs typeface="Arial"/>
              </a:rPr>
              <a:t> to complete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their </a:t>
            </a:r>
            <a:r>
              <a:rPr dirty="0" sz="1200" spc="-5" b="1">
                <a:latin typeface="Arial"/>
                <a:cs typeface="Arial"/>
              </a:rPr>
              <a:t>investigations.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  <a:spcBef>
                <a:spcPts val="770"/>
              </a:spcBef>
            </a:pPr>
            <a:r>
              <a:rPr dirty="0" sz="1400" spc="-5" b="1">
                <a:latin typeface="Arial"/>
                <a:cs typeface="Arial"/>
              </a:rPr>
              <a:t>Planning</a:t>
            </a:r>
            <a:r>
              <a:rPr dirty="0" sz="1400" spc="-10" b="1">
                <a:latin typeface="Arial"/>
                <a:cs typeface="Arial"/>
              </a:rPr>
              <a:t> and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conducting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cooperative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lessons:</a:t>
            </a:r>
            <a:endParaRPr sz="1400">
              <a:latin typeface="Arial"/>
              <a:cs typeface="Arial"/>
            </a:endParaRPr>
          </a:p>
          <a:p>
            <a:pPr algn="just" marL="241300" marR="5080" indent="-228600">
              <a:lnSpc>
                <a:spcPts val="2080"/>
              </a:lnSpc>
              <a:spcBef>
                <a:spcPts val="100"/>
              </a:spcBef>
              <a:buFont typeface="Times New Roman"/>
              <a:buChar char="-"/>
              <a:tabLst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Syntax for cooperative learning </a:t>
            </a:r>
            <a:r>
              <a:rPr dirty="0" sz="1200" b="1">
                <a:latin typeface="Arial"/>
                <a:cs typeface="Arial"/>
              </a:rPr>
              <a:t>model </a:t>
            </a:r>
            <a:r>
              <a:rPr dirty="0" sz="1200" spc="-5" b="1">
                <a:latin typeface="Arial"/>
                <a:cs typeface="Arial"/>
              </a:rPr>
              <a:t>relies </a:t>
            </a:r>
            <a:r>
              <a:rPr dirty="0" sz="1200" b="1">
                <a:latin typeface="Arial"/>
                <a:cs typeface="Arial"/>
              </a:rPr>
              <a:t>on small-group </a:t>
            </a:r>
            <a:r>
              <a:rPr dirty="0" sz="1200" spc="-5" b="1">
                <a:latin typeface="Arial"/>
                <a:cs typeface="Arial"/>
              </a:rPr>
              <a:t>work rather than whole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 teaching. </a:t>
            </a:r>
            <a:r>
              <a:rPr dirty="0" sz="1200" spc="-5">
                <a:latin typeface="Arial MT"/>
                <a:cs typeface="Arial MT"/>
              </a:rPr>
              <a:t>(In large groups, there is </a:t>
            </a:r>
            <a:r>
              <a:rPr dirty="0" sz="1200" spc="-10">
                <a:latin typeface="Arial MT"/>
                <a:cs typeface="Arial MT"/>
              </a:rPr>
              <a:t>no </a:t>
            </a:r>
            <a:r>
              <a:rPr dirty="0" sz="1200" spc="-5">
                <a:latin typeface="Arial MT"/>
                <a:cs typeface="Arial MT"/>
              </a:rPr>
              <a:t>measure for gaging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participation </a:t>
            </a:r>
            <a:r>
              <a:rPr dirty="0" sz="1200">
                <a:latin typeface="Arial MT"/>
                <a:cs typeface="Arial MT"/>
              </a:rPr>
              <a:t>of 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 But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cooperative learning, there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small groups so that every individual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play</a:t>
            </a:r>
            <a:r>
              <a:rPr dirty="0" sz="1200">
                <a:latin typeface="Arial MT"/>
                <a:cs typeface="Arial MT"/>
              </a:rPr>
              <a:t> 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role.)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  <a:spcBef>
                <a:spcPts val="770"/>
              </a:spcBef>
            </a:pPr>
            <a:r>
              <a:rPr dirty="0" sz="1400" spc="-5" b="1">
                <a:latin typeface="Arial"/>
                <a:cs typeface="Arial"/>
              </a:rPr>
              <a:t>How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to</a:t>
            </a:r>
            <a:r>
              <a:rPr dirty="0" sz="1400" spc="-5" b="1">
                <a:latin typeface="Arial"/>
                <a:cs typeface="Arial"/>
              </a:rPr>
              <a:t> plan cooperative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tasks?</a:t>
            </a:r>
            <a:endParaRPr sz="1400">
              <a:latin typeface="Arial"/>
              <a:cs typeface="Arial"/>
            </a:endParaRPr>
          </a:p>
          <a:p>
            <a:pPr algn="just" marL="26034" marR="8255" indent="-6350">
              <a:lnSpc>
                <a:spcPts val="2080"/>
              </a:lnSpc>
              <a:spcBef>
                <a:spcPts val="85"/>
              </a:spcBef>
            </a:pPr>
            <a:r>
              <a:rPr dirty="0" sz="1200" spc="-5">
                <a:latin typeface="Arial MT"/>
                <a:cs typeface="Arial MT"/>
              </a:rPr>
              <a:t>Firstly,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outcomes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light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academic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achievement,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 well as tolerance and acceptance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diversity. </a:t>
            </a:r>
            <a:r>
              <a:rPr dirty="0" sz="1200">
                <a:latin typeface="Arial MT"/>
                <a:cs typeface="Arial MT"/>
              </a:rPr>
              <a:t>Once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have identified the outcomes, you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course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think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need</a:t>
            </a:r>
            <a:endParaRPr sz="1200">
              <a:latin typeface="Arial MT"/>
              <a:cs typeface="Arial MT"/>
            </a:endParaRPr>
          </a:p>
          <a:p>
            <a:pPr algn="just" marL="26034">
              <a:lnSpc>
                <a:spcPct val="100000"/>
              </a:lnSpc>
              <a:spcBef>
                <a:spcPts val="455"/>
              </a:spcBef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master.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think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tasks.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interdependent</a:t>
            </a:r>
            <a:endParaRPr sz="1200">
              <a:latin typeface="Arial MT"/>
              <a:cs typeface="Arial MT"/>
            </a:endParaRPr>
          </a:p>
          <a:p>
            <a:pPr algn="just" marL="26034" marR="13335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could not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achieved by working alone. You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identify the goal structure and plan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reward system.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Reward </a:t>
            </a:r>
            <a:r>
              <a:rPr dirty="0" sz="1200" spc="-5" b="1">
                <a:latin typeface="Arial"/>
                <a:cs typeface="Arial"/>
              </a:rPr>
              <a:t>systems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oriented to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group </a:t>
            </a:r>
            <a:r>
              <a:rPr dirty="0" sz="1200" spc="-5" b="1">
                <a:latin typeface="Arial"/>
                <a:cs typeface="Arial"/>
              </a:rPr>
              <a:t>as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well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</a:t>
            </a:r>
            <a:r>
              <a:rPr dirty="0" sz="1200" b="1">
                <a:latin typeface="Arial"/>
                <a:cs typeface="Arial"/>
              </a:rPr>
              <a:t> 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individual.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-"/>
            </a:pPr>
            <a:endParaRPr sz="115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 </a:t>
            </a:r>
            <a:r>
              <a:rPr dirty="0" sz="1200" b="1">
                <a:latin typeface="Arial"/>
                <a:cs typeface="Arial"/>
              </a:rPr>
              <a:t>environment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very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important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needs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cooperative.</a:t>
            </a:r>
            <a:endParaRPr sz="1200">
              <a:latin typeface="Arial"/>
              <a:cs typeface="Arial"/>
            </a:endParaRPr>
          </a:p>
          <a:p>
            <a:pPr marL="248285">
              <a:lnSpc>
                <a:spcPct val="100000"/>
              </a:lnSpc>
              <a:spcBef>
                <a:spcPts val="610"/>
              </a:spcBef>
            </a:pP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 be no abuse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participants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384" y="956310"/>
            <a:ext cx="6404610" cy="2906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5080" indent="-228600">
              <a:lnSpc>
                <a:spcPct val="142500"/>
              </a:lnSpc>
              <a:spcBef>
                <a:spcPts val="100"/>
              </a:spcBef>
              <a:buFont typeface="Times New Roman"/>
              <a:buChar char="-"/>
              <a:tabLst>
                <a:tab pos="241300" algn="l"/>
              </a:tabLst>
            </a:pP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tasks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associated</a:t>
            </a:r>
            <a:r>
              <a:rPr dirty="0" sz="1200" b="1">
                <a:latin typeface="Arial"/>
                <a:cs typeface="Arial"/>
              </a:rPr>
              <a:t> with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puts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emphasis</a:t>
            </a:r>
            <a:r>
              <a:rPr dirty="0" sz="1200" b="1">
                <a:latin typeface="Arial"/>
                <a:cs typeface="Arial"/>
              </a:rPr>
              <a:t> on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organizing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academic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content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emphasis</a:t>
            </a:r>
            <a:r>
              <a:rPr dirty="0" sz="1200" b="1">
                <a:latin typeface="Arial"/>
                <a:cs typeface="Arial"/>
              </a:rPr>
              <a:t> 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organizing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for 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smallgroup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work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collecting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variety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materials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used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during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group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work.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/>
              <a:buChar char="-"/>
            </a:pPr>
            <a:endParaRPr sz="1800">
              <a:latin typeface="Arial"/>
              <a:cs typeface="Arial"/>
            </a:endParaRPr>
          </a:p>
          <a:p>
            <a:pPr marL="241300" marR="9525" indent="-228600">
              <a:lnSpc>
                <a:spcPct val="142500"/>
              </a:lnSpc>
              <a:buFont typeface="Times New Roman"/>
              <a:buChar char="-"/>
              <a:tabLst>
                <a:tab pos="240665" algn="l"/>
                <a:tab pos="241300" algn="l"/>
              </a:tabLst>
            </a:pP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spc="1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1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requires</a:t>
            </a:r>
            <a:r>
              <a:rPr dirty="0" sz="1200" spc="1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deciding</a:t>
            </a:r>
            <a:r>
              <a:rPr dirty="0" sz="1200" spc="1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1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1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cooperative</a:t>
            </a:r>
            <a:r>
              <a:rPr dirty="0" sz="1200" spc="1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methods</a:t>
            </a:r>
            <a:r>
              <a:rPr dirty="0" sz="1200" spc="1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also.</a:t>
            </a:r>
            <a:r>
              <a:rPr dirty="0" sz="1200" spc="1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example:</a:t>
            </a:r>
            <a:endParaRPr sz="1200">
              <a:latin typeface="Arial"/>
              <a:cs typeface="Arial"/>
            </a:endParaRPr>
          </a:p>
          <a:p>
            <a:pPr lvl="1" marL="476884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rabicPeriod"/>
              <a:tabLst>
                <a:tab pos="477520" algn="l"/>
              </a:tabLst>
            </a:pPr>
            <a:r>
              <a:rPr dirty="0" sz="1200" b="1">
                <a:latin typeface="Arial"/>
                <a:cs typeface="Arial"/>
              </a:rPr>
              <a:t>Jigsaw</a:t>
            </a:r>
            <a:endParaRPr sz="1200">
              <a:latin typeface="Arial"/>
              <a:cs typeface="Arial"/>
            </a:endParaRPr>
          </a:p>
          <a:p>
            <a:pPr lvl="1" marL="476884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7520" algn="l"/>
              </a:tabLst>
            </a:pPr>
            <a:r>
              <a:rPr dirty="0" sz="1200" spc="-5" b="1">
                <a:latin typeface="Arial"/>
                <a:cs typeface="Arial"/>
              </a:rPr>
              <a:t>Students Team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Achievement </a:t>
            </a:r>
            <a:r>
              <a:rPr dirty="0" sz="1200" b="1">
                <a:latin typeface="Arial"/>
                <a:cs typeface="Arial"/>
              </a:rPr>
              <a:t>Divisions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(STAD)</a:t>
            </a:r>
            <a:endParaRPr sz="1200">
              <a:latin typeface="Arial"/>
              <a:cs typeface="Arial"/>
            </a:endParaRPr>
          </a:p>
          <a:p>
            <a:pPr lvl="1" marL="476884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7520" algn="l"/>
              </a:tabLst>
            </a:pPr>
            <a:r>
              <a:rPr dirty="0" sz="1200" spc="-5" b="1">
                <a:latin typeface="Arial"/>
                <a:cs typeface="Arial"/>
              </a:rPr>
              <a:t>Academic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controversy</a:t>
            </a:r>
            <a:endParaRPr sz="1200">
              <a:latin typeface="Arial"/>
              <a:cs typeface="Arial"/>
            </a:endParaRPr>
          </a:p>
          <a:p>
            <a:pPr lvl="1" marL="476884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7520" algn="l"/>
              </a:tabLst>
            </a:pPr>
            <a:r>
              <a:rPr dirty="0" sz="1200" b="1">
                <a:latin typeface="Arial"/>
                <a:cs typeface="Arial"/>
              </a:rPr>
              <a:t>Think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Pair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share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5572" y="4449191"/>
            <a:ext cx="6972300" cy="28194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 # 36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“Cooperative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Learning Strategies”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4873879"/>
            <a:ext cx="6634480" cy="6828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Objectives: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 for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diverse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learners</a:t>
            </a:r>
            <a:endParaRPr sz="1200">
              <a:latin typeface="Arial"/>
              <a:cs typeface="Arial"/>
            </a:endParaRPr>
          </a:p>
          <a:p>
            <a:pPr marL="469900" marR="10795" indent="-228600">
              <a:lnSpc>
                <a:spcPct val="106700"/>
              </a:lnSpc>
              <a:spcBef>
                <a:spcPts val="12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strategies: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Jigsaw</a:t>
            </a:r>
            <a:r>
              <a:rPr dirty="0" sz="1200" b="1">
                <a:latin typeface="Arial"/>
                <a:cs typeface="Arial"/>
              </a:rPr>
              <a:t> reading,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Pair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Share(TPS),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number </a:t>
            </a:r>
            <a:r>
              <a:rPr dirty="0" sz="1200" spc="-3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heads,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STAD,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Academic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controversy.</a:t>
            </a:r>
            <a:endParaRPr sz="1200">
              <a:latin typeface="Arial"/>
              <a:cs typeface="Arial"/>
            </a:endParaRPr>
          </a:p>
          <a:p>
            <a:pPr algn="just" marL="18415" marR="7620" indent="-6350">
              <a:lnSpc>
                <a:spcPts val="1570"/>
              </a:lnSpc>
              <a:spcBef>
                <a:spcPts val="65"/>
              </a:spcBef>
            </a:pPr>
            <a:r>
              <a:rPr dirty="0" sz="1200" spc="-5">
                <a:latin typeface="Arial MT"/>
                <a:cs typeface="Arial MT"/>
              </a:rPr>
              <a:t>Diversity could </a:t>
            </a:r>
            <a:r>
              <a:rPr dirty="0" sz="1200">
                <a:latin typeface="Arial MT"/>
                <a:cs typeface="Arial MT"/>
              </a:rPr>
              <a:t>be of </a:t>
            </a:r>
            <a:r>
              <a:rPr dirty="0" sz="1200" spc="-5">
                <a:latin typeface="Arial MT"/>
                <a:cs typeface="Arial MT"/>
              </a:rPr>
              <a:t>various types’ e.g. linguistic diversity, cultural diversity etc. All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sitting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could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never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same.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speak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languages;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belong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70"/>
              </a:spcBef>
            </a:pP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cultures,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height,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weight,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color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vary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well.</a:t>
            </a:r>
            <a:endParaRPr sz="1200">
              <a:latin typeface="Arial MT"/>
              <a:cs typeface="Arial MT"/>
            </a:endParaRPr>
          </a:p>
          <a:p>
            <a:pPr algn="just" marL="18415" marR="12700" indent="-6350">
              <a:lnSpc>
                <a:spcPct val="109200"/>
              </a:lnSpc>
              <a:spcBef>
                <a:spcPts val="1000"/>
              </a:spcBef>
            </a:pPr>
            <a:r>
              <a:rPr dirty="0" sz="1200" spc="-5">
                <a:latin typeface="Arial MT"/>
                <a:cs typeface="Arial MT"/>
              </a:rPr>
              <a:t>Another word is “disability”.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could </a:t>
            </a:r>
            <a:r>
              <a:rPr dirty="0" sz="1200">
                <a:latin typeface="Arial MT"/>
                <a:cs typeface="Arial MT"/>
              </a:rPr>
              <a:t>be some </a:t>
            </a:r>
            <a:r>
              <a:rPr dirty="0" sz="1200" spc="-5">
                <a:latin typeface="Arial MT"/>
                <a:cs typeface="Arial MT"/>
              </a:rPr>
              <a:t>disabilities in your classroom. There could be </a:t>
            </a:r>
            <a:r>
              <a:rPr dirty="0" sz="1200">
                <a:latin typeface="Arial MT"/>
                <a:cs typeface="Arial MT"/>
              </a:rPr>
              <a:t> some </a:t>
            </a:r>
            <a:r>
              <a:rPr dirty="0" sz="1200" spc="-5">
                <a:latin typeface="Arial MT"/>
                <a:cs typeface="Arial MT"/>
              </a:rPr>
              <a:t>children who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hard to </a:t>
            </a:r>
            <a:r>
              <a:rPr dirty="0" sz="1200" spc="-5">
                <a:latin typeface="Arial MT"/>
                <a:cs typeface="Arial MT"/>
              </a:rPr>
              <a:t>listening but sometimes teacher don’t come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know and children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don’t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shyness.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result,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>
                <a:latin typeface="Arial MT"/>
                <a:cs typeface="Arial MT"/>
              </a:rPr>
              <a:t>performance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starts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suffer.</a:t>
            </a:r>
            <a:endParaRPr sz="1200">
              <a:latin typeface="Arial MT"/>
              <a:cs typeface="Arial MT"/>
            </a:endParaRPr>
          </a:p>
          <a:p>
            <a:pPr algn="just" marL="18415" marR="6350" indent="-6350">
              <a:lnSpc>
                <a:spcPct val="109300"/>
              </a:lnSpc>
              <a:spcBef>
                <a:spcPts val="1005"/>
              </a:spcBef>
            </a:pP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 student has a </a:t>
            </a:r>
            <a:r>
              <a:rPr dirty="0" sz="1200" spc="-10">
                <a:latin typeface="Arial MT"/>
                <a:cs typeface="Arial MT"/>
              </a:rPr>
              <a:t>weak </a:t>
            </a:r>
            <a:r>
              <a:rPr dirty="0" sz="1200" spc="-5">
                <a:latin typeface="Arial MT"/>
                <a:cs typeface="Arial MT"/>
              </a:rPr>
              <a:t>eye </a:t>
            </a:r>
            <a:r>
              <a:rPr dirty="0" sz="1200">
                <a:latin typeface="Arial MT"/>
                <a:cs typeface="Arial MT"/>
              </a:rPr>
              <a:t>sight, it </a:t>
            </a:r>
            <a:r>
              <a:rPr dirty="0" sz="1200" spc="-5">
                <a:latin typeface="Arial MT"/>
                <a:cs typeface="Arial MT"/>
              </a:rPr>
              <a:t>can be removed with the </a:t>
            </a:r>
            <a:r>
              <a:rPr dirty="0" sz="1200" spc="-10">
                <a:latin typeface="Arial MT"/>
                <a:cs typeface="Arial MT"/>
              </a:rPr>
              <a:t>use </a:t>
            </a:r>
            <a:r>
              <a:rPr dirty="0" sz="1200" spc="-5">
                <a:latin typeface="Arial MT"/>
                <a:cs typeface="Arial MT"/>
              </a:rPr>
              <a:t>of spectacles. Similarly hearing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disability can also be removed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using hearing aid. Some students have the disability to stammer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lot,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speak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slowly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speech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therapy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overcome.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Disability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could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minor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</a:t>
            </a:r>
            <a:r>
              <a:rPr dirty="0" sz="1200">
                <a:latin typeface="Arial MT"/>
                <a:cs typeface="Arial MT"/>
              </a:rPr>
              <a:t>swear </a:t>
            </a:r>
            <a:r>
              <a:rPr dirty="0" sz="1200" spc="-5">
                <a:latin typeface="Arial MT"/>
                <a:cs typeface="Arial MT"/>
              </a:rPr>
              <a:t>but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any disability is in our </a:t>
            </a:r>
            <a:r>
              <a:rPr dirty="0" sz="1200">
                <a:latin typeface="Arial MT"/>
                <a:cs typeface="Arial MT"/>
              </a:rPr>
              <a:t>class,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>
                <a:latin typeface="Arial MT"/>
                <a:cs typeface="Arial MT"/>
              </a:rPr>
              <a:t>must try to </a:t>
            </a:r>
            <a:r>
              <a:rPr dirty="0" sz="1200" spc="-5">
                <a:latin typeface="Arial MT"/>
                <a:cs typeface="Arial MT"/>
              </a:rPr>
              <a:t>accommodate </a:t>
            </a:r>
            <a:r>
              <a:rPr dirty="0" sz="1200">
                <a:latin typeface="Arial MT"/>
                <a:cs typeface="Arial MT"/>
              </a:rPr>
              <a:t>it. </a:t>
            </a:r>
            <a:r>
              <a:rPr dirty="0" sz="1200" spc="-5">
                <a:latin typeface="Arial MT"/>
                <a:cs typeface="Arial MT"/>
              </a:rPr>
              <a:t>These diversities 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disability</a:t>
            </a:r>
            <a:r>
              <a:rPr dirty="0" sz="1200">
                <a:latin typeface="Arial MT"/>
                <a:cs typeface="Arial MT"/>
              </a:rPr>
              <a:t> 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addressed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5" b="1">
                <a:latin typeface="Arial"/>
                <a:cs typeface="Arial"/>
              </a:rPr>
              <a:t>Cooperative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 </a:t>
            </a:r>
            <a:r>
              <a:rPr dirty="0" sz="1400" spc="-10" b="1">
                <a:latin typeface="Arial"/>
                <a:cs typeface="Arial"/>
              </a:rPr>
              <a:t>for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diverse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learners:</a:t>
            </a:r>
            <a:endParaRPr sz="1400">
              <a:latin typeface="Arial"/>
              <a:cs typeface="Arial"/>
            </a:endParaRPr>
          </a:p>
          <a:p>
            <a:pPr algn="just" marL="248920" marR="10795" indent="-229235">
              <a:lnSpc>
                <a:spcPct val="106700"/>
              </a:lnSpc>
              <a:spcBef>
                <a:spcPts val="955"/>
              </a:spcBef>
              <a:buFont typeface="Times New Roman"/>
              <a:buChar char="-"/>
              <a:tabLst>
                <a:tab pos="249554" algn="l"/>
              </a:tabLst>
            </a:pP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teachers </a:t>
            </a:r>
            <a:r>
              <a:rPr dirty="0" sz="1200" b="1">
                <a:latin typeface="Arial"/>
                <a:cs typeface="Arial"/>
              </a:rPr>
              <a:t>who </a:t>
            </a:r>
            <a:r>
              <a:rPr dirty="0" sz="1200" spc="-10" b="1">
                <a:latin typeface="Arial"/>
                <a:cs typeface="Arial"/>
              </a:rPr>
              <a:t>use </a:t>
            </a:r>
            <a:r>
              <a:rPr dirty="0" sz="1200" spc="-5" b="1">
                <a:latin typeface="Arial"/>
                <a:cs typeface="Arial"/>
              </a:rPr>
              <a:t>cooperative learning </a:t>
            </a:r>
            <a:r>
              <a:rPr dirty="0" sz="1200" b="1">
                <a:latin typeface="Arial"/>
                <a:cs typeface="Arial"/>
              </a:rPr>
              <a:t>must </a:t>
            </a:r>
            <a:r>
              <a:rPr dirty="0" sz="1200" spc="-5" b="1">
                <a:latin typeface="Arial"/>
                <a:cs typeface="Arial"/>
              </a:rPr>
              <a:t>find ways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adapt lessons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meet the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needs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diverse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group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students.</a:t>
            </a:r>
            <a:endParaRPr sz="1200">
              <a:latin typeface="Arial"/>
              <a:cs typeface="Arial"/>
            </a:endParaRPr>
          </a:p>
          <a:p>
            <a:pPr algn="just" marL="248920" marR="9525" indent="-229235">
              <a:lnSpc>
                <a:spcPct val="106700"/>
              </a:lnSpc>
              <a:spcBef>
                <a:spcPts val="60"/>
              </a:spcBef>
              <a:buFont typeface="Times New Roman"/>
              <a:buChar char="-"/>
              <a:tabLst>
                <a:tab pos="249554" algn="l"/>
              </a:tabLst>
            </a:pP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most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important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opportunity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inherent</a:t>
            </a:r>
            <a:r>
              <a:rPr dirty="0" sz="1200" b="1">
                <a:latin typeface="Arial"/>
                <a:cs typeface="Arial"/>
              </a:rPr>
              <a:t> 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b="1">
                <a:latin typeface="Arial"/>
                <a:cs typeface="Arial"/>
              </a:rPr>
              <a:t> 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chance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b="1">
                <a:latin typeface="Arial"/>
                <a:cs typeface="Arial"/>
              </a:rPr>
              <a:t> with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special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needs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from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diverse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backgrounds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work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together</a:t>
            </a:r>
            <a:r>
              <a:rPr dirty="0" sz="1200" b="1">
                <a:latin typeface="Arial"/>
                <a:cs typeface="Arial"/>
              </a:rPr>
              <a:t> in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cooperative </a:t>
            </a:r>
            <a:r>
              <a:rPr dirty="0" sz="1200" b="1">
                <a:latin typeface="Arial"/>
                <a:cs typeface="Arial"/>
              </a:rPr>
              <a:t>groups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and</a:t>
            </a:r>
            <a:r>
              <a:rPr dirty="0" sz="1200" b="1">
                <a:latin typeface="Arial"/>
                <a:cs typeface="Arial"/>
              </a:rPr>
              <a:t> on </a:t>
            </a:r>
            <a:r>
              <a:rPr dirty="0" sz="1200" spc="-5" b="1">
                <a:latin typeface="Arial"/>
                <a:cs typeface="Arial"/>
              </a:rPr>
              <a:t>special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projects.</a:t>
            </a:r>
            <a:endParaRPr sz="1200">
              <a:latin typeface="Arial"/>
              <a:cs typeface="Arial"/>
            </a:endParaRPr>
          </a:p>
          <a:p>
            <a:pPr algn="just" marL="248920" marR="7620" indent="-229235">
              <a:lnSpc>
                <a:spcPct val="109000"/>
              </a:lnSpc>
              <a:spcBef>
                <a:spcPts val="40"/>
              </a:spcBef>
              <a:buFont typeface="Times New Roman"/>
              <a:buChar char="-"/>
              <a:tabLst>
                <a:tab pos="249554" algn="l"/>
              </a:tabLst>
            </a:pPr>
            <a:r>
              <a:rPr dirty="0" sz="1200" spc="-5" b="1">
                <a:latin typeface="Arial"/>
                <a:cs typeface="Arial"/>
              </a:rPr>
              <a:t>Teacher must </a:t>
            </a:r>
            <a:r>
              <a:rPr dirty="0" sz="1200" b="1">
                <a:latin typeface="Arial"/>
                <a:cs typeface="Arial"/>
              </a:rPr>
              <a:t>adapt </a:t>
            </a:r>
            <a:r>
              <a:rPr dirty="0" sz="1200" spc="-5" b="1">
                <a:latin typeface="Arial"/>
                <a:cs typeface="Arial"/>
              </a:rPr>
              <a:t>cooperative learning </a:t>
            </a:r>
            <a:r>
              <a:rPr dirty="0" sz="1200" b="1">
                <a:latin typeface="Arial"/>
                <a:cs typeface="Arial"/>
              </a:rPr>
              <a:t>lesson to </a:t>
            </a:r>
            <a:r>
              <a:rPr dirty="0" sz="1200" spc="-5" b="1">
                <a:latin typeface="Arial"/>
                <a:cs typeface="Arial"/>
              </a:rPr>
              <a:t>meet diversity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their classroom.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Before </a:t>
            </a:r>
            <a:r>
              <a:rPr dirty="0" sz="1200" spc="-5">
                <a:latin typeface="Arial MT"/>
                <a:cs typeface="Arial MT"/>
              </a:rPr>
              <a:t>you divide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into groups for group </a:t>
            </a:r>
            <a:r>
              <a:rPr dirty="0" sz="1200">
                <a:latin typeface="Arial MT"/>
                <a:cs typeface="Arial MT"/>
              </a:rPr>
              <a:t>work, </a:t>
            </a:r>
            <a:r>
              <a:rPr dirty="0" sz="1200" spc="-5">
                <a:latin typeface="Arial MT"/>
                <a:cs typeface="Arial MT"/>
              </a:rPr>
              <a:t>children needs to learn about each </a:t>
            </a:r>
            <a:r>
              <a:rPr dirty="0" sz="1200">
                <a:latin typeface="Arial MT"/>
                <a:cs typeface="Arial MT"/>
              </a:rPr>
              <a:t> other. </a:t>
            </a:r>
            <a:r>
              <a:rPr dirty="0" sz="1200" spc="-5">
                <a:latin typeface="Arial MT"/>
                <a:cs typeface="Arial MT"/>
              </a:rPr>
              <a:t>They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10">
                <a:latin typeface="Arial MT"/>
                <a:cs typeface="Arial MT"/>
              </a:rPr>
              <a:t>know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strengths and weaknesses of each other. Once they know about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strengths and weaknesses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each other, then they will be able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cooperate more effectively. </a:t>
            </a:r>
            <a:r>
              <a:rPr dirty="0" sz="1200">
                <a:latin typeface="Arial MT"/>
                <a:cs typeface="Arial MT"/>
              </a:rPr>
              <a:t> They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would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effectively.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ultimately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effectively.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ct val="109100"/>
              </a:lnSpc>
              <a:spcBef>
                <a:spcPts val="1010"/>
              </a:spcBef>
            </a:pPr>
            <a:r>
              <a:rPr dirty="0" sz="1200" spc="-5">
                <a:latin typeface="Arial MT"/>
                <a:cs typeface="Arial MT"/>
              </a:rPr>
              <a:t>Another thing regarding diverse </a:t>
            </a:r>
            <a:r>
              <a:rPr dirty="0" sz="1200">
                <a:latin typeface="Arial MT"/>
                <a:cs typeface="Arial MT"/>
              </a:rPr>
              <a:t>groups </a:t>
            </a:r>
            <a:r>
              <a:rPr dirty="0" sz="1200" spc="-5">
                <a:latin typeface="Arial MT"/>
                <a:cs typeface="Arial MT"/>
              </a:rPr>
              <a:t>is that teacher’s role is not minimized. </a:t>
            </a:r>
            <a:r>
              <a:rPr dirty="0" sz="1200" spc="5">
                <a:latin typeface="Arial MT"/>
                <a:cs typeface="Arial MT"/>
              </a:rPr>
              <a:t>Many </a:t>
            </a:r>
            <a:r>
              <a:rPr dirty="0" sz="1200" spc="-5">
                <a:latin typeface="Arial MT"/>
                <a:cs typeface="Arial MT"/>
              </a:rPr>
              <a:t>a times,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10">
                <a:latin typeface="Arial MT"/>
                <a:cs typeface="Arial MT"/>
              </a:rPr>
              <a:t>has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been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observed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when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placed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works,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monitored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1576" y="639571"/>
            <a:ext cx="6620509" cy="424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carefully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feedback.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Specially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when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groups,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feedback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regularly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constantly. 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students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improve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themselves.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100</a:t>
            </a:fld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644144"/>
            <a:ext cx="6856730" cy="10281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9525">
              <a:lnSpc>
                <a:spcPct val="1067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needs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help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regular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understand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how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peers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with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disabilities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differ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what </a:t>
            </a:r>
            <a:r>
              <a:rPr dirty="0" sz="1200" spc="-5" b="1">
                <a:latin typeface="Arial"/>
                <a:cs typeface="Arial"/>
              </a:rPr>
              <a:t>they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expect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as </a:t>
            </a:r>
            <a:r>
              <a:rPr dirty="0" sz="1200" spc="-5" b="1">
                <a:latin typeface="Arial"/>
                <a:cs typeface="Arial"/>
              </a:rPr>
              <a:t>they</a:t>
            </a:r>
            <a:r>
              <a:rPr dirty="0" sz="1200" b="1">
                <a:latin typeface="Arial"/>
                <a:cs typeface="Arial"/>
              </a:rPr>
              <a:t> work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together</a:t>
            </a:r>
            <a:r>
              <a:rPr dirty="0" sz="1200" b="1">
                <a:latin typeface="Arial"/>
                <a:cs typeface="Arial"/>
              </a:rPr>
              <a:t> in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b="1">
                <a:latin typeface="Arial"/>
                <a:cs typeface="Arial"/>
              </a:rPr>
              <a:t> groups.</a:t>
            </a:r>
            <a:endParaRPr sz="1200">
              <a:latin typeface="Arial"/>
              <a:cs typeface="Arial"/>
            </a:endParaRPr>
          </a:p>
          <a:p>
            <a:pPr marL="469900" marR="10795" indent="-229235">
              <a:lnSpc>
                <a:spcPct val="106800"/>
              </a:lnSpc>
              <a:spcBef>
                <a:spcPts val="7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Help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b="1">
                <a:latin typeface="Arial"/>
                <a:cs typeface="Arial"/>
              </a:rPr>
              <a:t> understand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cultural</a:t>
            </a:r>
            <a:r>
              <a:rPr dirty="0" sz="1200" b="1">
                <a:latin typeface="Arial"/>
                <a:cs typeface="Arial"/>
              </a:rPr>
              <a:t> norms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various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ethnic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racial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groups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how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these </a:t>
            </a:r>
            <a:r>
              <a:rPr dirty="0" sz="1200" spc="-5" b="1">
                <a:latin typeface="Arial"/>
                <a:cs typeface="Arial"/>
              </a:rPr>
              <a:t>might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effect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group</a:t>
            </a:r>
            <a:r>
              <a:rPr dirty="0" sz="1200" b="1">
                <a:latin typeface="Arial"/>
                <a:cs typeface="Arial"/>
              </a:rPr>
              <a:t> interaction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and</a:t>
            </a:r>
            <a:r>
              <a:rPr dirty="0" sz="1200" b="1">
                <a:latin typeface="Arial"/>
                <a:cs typeface="Arial"/>
              </a:rPr>
              <a:t> cooperation.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400" spc="-5" b="1">
                <a:latin typeface="Arial"/>
                <a:cs typeface="Arial"/>
              </a:rPr>
              <a:t>Cooperative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strategies:</a:t>
            </a:r>
            <a:endParaRPr sz="14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16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 strategies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1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Think-pair-share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8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Number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heads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together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6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Jigsaw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reading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9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STAD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8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Academic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controversy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1.</a:t>
            </a:r>
            <a:r>
              <a:rPr dirty="0" sz="1200" spc="-5" b="1">
                <a:latin typeface="Arial"/>
                <a:cs typeface="Arial"/>
              </a:rPr>
              <a:t> Jigsaw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reading: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Explanation:</a:t>
            </a:r>
            <a:endParaRPr sz="1200">
              <a:latin typeface="Arial"/>
              <a:cs typeface="Arial"/>
            </a:endParaRPr>
          </a:p>
          <a:p>
            <a:pPr algn="just" marL="18415" marR="5715" indent="-6350">
              <a:lnSpc>
                <a:spcPct val="109400"/>
              </a:lnSpc>
              <a:spcBef>
                <a:spcPts val="955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jigsaw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puzzle,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divided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small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pieces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asked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join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pieces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make the </a:t>
            </a:r>
            <a:r>
              <a:rPr dirty="0" sz="1200">
                <a:latin typeface="Arial MT"/>
                <a:cs typeface="Arial MT"/>
              </a:rPr>
              <a:t>picture </a:t>
            </a:r>
            <a:r>
              <a:rPr dirty="0" sz="1200" spc="-5">
                <a:latin typeface="Arial MT"/>
                <a:cs typeface="Arial MT"/>
              </a:rPr>
              <a:t>again. Same 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case with jigsaw reading; a teacher has the topic to teach in 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class and </a:t>
            </a:r>
            <a:r>
              <a:rPr dirty="0" sz="1200">
                <a:latin typeface="Arial MT"/>
                <a:cs typeface="Arial MT"/>
              </a:rPr>
              <a:t>he asks </a:t>
            </a:r>
            <a:r>
              <a:rPr dirty="0" sz="1200" spc="-5">
                <a:latin typeface="Arial MT"/>
                <a:cs typeface="Arial MT"/>
              </a:rPr>
              <a:t>to a student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read the </a:t>
            </a:r>
            <a:r>
              <a:rPr dirty="0" sz="1200" spc="5">
                <a:latin typeface="Arial MT"/>
                <a:cs typeface="Arial MT"/>
              </a:rPr>
              <a:t>text </a:t>
            </a:r>
            <a:r>
              <a:rPr dirty="0" sz="1200" spc="-5">
                <a:latin typeface="Arial MT"/>
                <a:cs typeface="Arial MT"/>
              </a:rPr>
              <a:t>aloud. The text is read aloud </a:t>
            </a:r>
            <a:r>
              <a:rPr dirty="0" sz="1200">
                <a:latin typeface="Arial MT"/>
                <a:cs typeface="Arial MT"/>
              </a:rPr>
              <a:t>by </a:t>
            </a:r>
            <a:r>
              <a:rPr dirty="0" sz="1200" spc="-5">
                <a:latin typeface="Arial MT"/>
                <a:cs typeface="Arial MT"/>
              </a:rPr>
              <a:t>different students,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 paragraph by one student, second by another, third by other and so on. When a child is reading 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passage, half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class is not listening, most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times half class is feeling sleepy or </a:t>
            </a:r>
            <a:r>
              <a:rPr dirty="0" sz="1200" spc="15">
                <a:latin typeface="Arial MT"/>
                <a:cs typeface="Arial MT"/>
              </a:rPr>
              <a:t>not 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listening.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case,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randomly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asks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tell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reading,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line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paragraph.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correct,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sometimes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embarrassed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unable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feels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embarrassed.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class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interesting.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jigsaw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purpose.</a:t>
            </a:r>
            <a:endParaRPr sz="1200">
              <a:latin typeface="Arial MT"/>
              <a:cs typeface="Arial MT"/>
            </a:endParaRPr>
          </a:p>
          <a:p>
            <a:pPr algn="just" marL="18415" marR="8890" indent="-6350">
              <a:lnSpc>
                <a:spcPct val="109500"/>
              </a:lnSpc>
              <a:spcBef>
                <a:spcPts val="1005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jigsaw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reading,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teaching.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Make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photocopied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divide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4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 3 </a:t>
            </a:r>
            <a:r>
              <a:rPr dirty="0" sz="1200" spc="-5">
                <a:latin typeface="Arial MT"/>
                <a:cs typeface="Arial MT"/>
              </a:rPr>
              <a:t>different parts and label them with “A, </a:t>
            </a:r>
            <a:r>
              <a:rPr dirty="0" sz="1200">
                <a:latin typeface="Arial MT"/>
                <a:cs typeface="Arial MT"/>
              </a:rPr>
              <a:t>B, C or </a:t>
            </a:r>
            <a:r>
              <a:rPr dirty="0" sz="1200" spc="-5">
                <a:latin typeface="Arial MT"/>
                <a:cs typeface="Arial MT"/>
              </a:rPr>
              <a:t>D” </a:t>
            </a:r>
            <a:r>
              <a:rPr dirty="0" sz="1200">
                <a:latin typeface="Arial MT"/>
                <a:cs typeface="Arial MT"/>
              </a:rPr>
              <a:t>etc. </a:t>
            </a:r>
            <a:r>
              <a:rPr dirty="0" sz="1200" spc="10">
                <a:latin typeface="Arial MT"/>
                <a:cs typeface="Arial MT"/>
              </a:rPr>
              <a:t>Give </a:t>
            </a:r>
            <a:r>
              <a:rPr dirty="0" sz="1200" spc="-5">
                <a:latin typeface="Arial MT"/>
                <a:cs typeface="Arial MT"/>
              </a:rPr>
              <a:t>the text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each group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students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carefully. Once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have read the text, you will ask them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close their texts and discuss these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texts </a:t>
            </a:r>
            <a:r>
              <a:rPr dirty="0" sz="1200" spc="-5">
                <a:latin typeface="Arial MT"/>
                <a:cs typeface="Arial MT"/>
              </a:rPr>
              <a:t>with each other for 1 minute. Arrange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into groups.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will share their reading with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 other. Then the teacher will give certain questions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them in problem form. You may also ask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present their answers as well. The groups formed after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reading are said to be jigsaw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first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groups.</a:t>
            </a:r>
            <a:endParaRPr sz="1200">
              <a:latin typeface="Arial MT"/>
              <a:cs typeface="Arial MT"/>
            </a:endParaRPr>
          </a:p>
          <a:p>
            <a:pPr algn="just" marL="18415" marR="10795" indent="-6350">
              <a:lnSpc>
                <a:spcPct val="109200"/>
              </a:lnSpc>
              <a:spcBef>
                <a:spcPts val="1005"/>
              </a:spcBef>
            </a:pPr>
            <a:r>
              <a:rPr dirty="0" sz="1200" spc="-5">
                <a:latin typeface="Arial MT"/>
                <a:cs typeface="Arial MT"/>
              </a:rPr>
              <a:t>These groups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called </a:t>
            </a:r>
            <a:r>
              <a:rPr dirty="0" sz="1200">
                <a:latin typeface="Arial MT"/>
                <a:cs typeface="Arial MT"/>
              </a:rPr>
              <a:t>jigsaw </a:t>
            </a:r>
            <a:r>
              <a:rPr dirty="0" sz="1200" spc="-5">
                <a:latin typeface="Arial MT"/>
                <a:cs typeface="Arial MT"/>
              </a:rPr>
              <a:t>groups because different </a:t>
            </a:r>
            <a:r>
              <a:rPr dirty="0" sz="1200">
                <a:latin typeface="Arial MT"/>
                <a:cs typeface="Arial MT"/>
              </a:rPr>
              <a:t>parts of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texts </a:t>
            </a:r>
            <a:r>
              <a:rPr dirty="0" sz="1200" spc="-5">
                <a:latin typeface="Arial MT"/>
                <a:cs typeface="Arial MT"/>
              </a:rPr>
              <a:t>read by individual students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 put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together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200" b="1">
                <a:latin typeface="Arial"/>
                <a:cs typeface="Arial"/>
              </a:rPr>
              <a:t>Jigsaw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reading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include: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First</a:t>
            </a:r>
            <a:r>
              <a:rPr dirty="0" sz="1200" spc="-5" b="1">
                <a:latin typeface="Arial"/>
                <a:cs typeface="Arial"/>
              </a:rPr>
              <a:t> students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will </a:t>
            </a:r>
            <a:r>
              <a:rPr dirty="0" sz="1200" spc="-10" b="1">
                <a:latin typeface="Arial"/>
                <a:cs typeface="Arial"/>
              </a:rPr>
              <a:t>read</a:t>
            </a:r>
            <a:r>
              <a:rPr dirty="0" sz="1200" b="1">
                <a:latin typeface="Arial"/>
                <a:cs typeface="Arial"/>
              </a:rPr>
              <a:t> the</a:t>
            </a:r>
            <a:r>
              <a:rPr dirty="0" sz="1200" spc="-5" b="1">
                <a:latin typeface="Arial"/>
                <a:cs typeface="Arial"/>
              </a:rPr>
              <a:t> text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Then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share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with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each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other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3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Speaking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listening</a:t>
            </a:r>
            <a:endParaRPr sz="12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10"/>
              </a:spcBef>
            </a:pPr>
            <a:r>
              <a:rPr dirty="0" sz="1200" b="1">
                <a:latin typeface="Arial"/>
                <a:cs typeface="Arial"/>
              </a:rPr>
              <a:t>Then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writing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0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Writing </a:t>
            </a:r>
            <a:r>
              <a:rPr dirty="0" sz="1200" b="1">
                <a:latin typeface="Arial"/>
                <a:cs typeface="Arial"/>
              </a:rPr>
              <a:t>also </a:t>
            </a:r>
            <a:r>
              <a:rPr dirty="0" sz="1200" spc="-5" b="1">
                <a:latin typeface="Arial"/>
                <a:cs typeface="Arial"/>
              </a:rPr>
              <a:t>have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problem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solving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2.</a:t>
            </a:r>
            <a:r>
              <a:rPr dirty="0" sz="1200" spc="28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Think-pair-share:</a:t>
            </a:r>
            <a:endParaRPr sz="1200">
              <a:latin typeface="Arial"/>
              <a:cs typeface="Arial"/>
            </a:endParaRPr>
          </a:p>
          <a:p>
            <a:pPr algn="just" marL="239395" marR="5080" indent="-6350">
              <a:lnSpc>
                <a:spcPts val="1570"/>
              </a:lnSpc>
              <a:spcBef>
                <a:spcPts val="65"/>
              </a:spcBef>
            </a:pPr>
            <a:r>
              <a:rPr dirty="0" sz="1200" spc="-5">
                <a:latin typeface="Arial MT"/>
                <a:cs typeface="Arial MT"/>
              </a:rPr>
              <a:t>Students are not allowed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come up with individual responses. When </a:t>
            </a:r>
            <a:r>
              <a:rPr dirty="0" sz="1200">
                <a:latin typeface="Arial MT"/>
                <a:cs typeface="Arial MT"/>
              </a:rPr>
              <a:t>two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 spc="-10">
                <a:latin typeface="Arial MT"/>
                <a:cs typeface="Arial MT"/>
              </a:rPr>
              <a:t>share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views with each other and then they share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with the whole class. This </a:t>
            </a:r>
            <a:r>
              <a:rPr dirty="0" sz="1200">
                <a:latin typeface="Arial MT"/>
                <a:cs typeface="Arial MT"/>
              </a:rPr>
              <a:t>activity </a:t>
            </a:r>
            <a:r>
              <a:rPr dirty="0" sz="1200" spc="-5">
                <a:latin typeface="Arial MT"/>
                <a:cs typeface="Arial MT"/>
              </a:rPr>
              <a:t>is called </a:t>
            </a:r>
            <a:r>
              <a:rPr dirty="0" sz="1200">
                <a:latin typeface="Arial MT"/>
                <a:cs typeface="Arial MT"/>
              </a:rPr>
              <a:t>think-pair-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thinks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individually,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pairs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fellow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endParaRPr sz="1200">
              <a:latin typeface="Arial MT"/>
              <a:cs typeface="Arial MT"/>
            </a:endParaRPr>
          </a:p>
          <a:p>
            <a:pPr algn="just" marL="239395" marR="5715">
              <a:lnSpc>
                <a:spcPts val="1570"/>
              </a:lnSpc>
              <a:spcBef>
                <a:spcPts val="15"/>
              </a:spcBef>
            </a:pP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look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excited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activity.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Think-pair-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be effectively used in the revision week at schools. These activities make revision much easier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effective.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11359083"/>
            <a:ext cx="6621780" cy="82613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280"/>
              </a:spcBef>
            </a:pPr>
            <a:r>
              <a:rPr dirty="0" sz="1200" b="1">
                <a:latin typeface="Times New Roman"/>
                <a:cs typeface="Times New Roman"/>
              </a:rPr>
              <a:t>3.</a:t>
            </a:r>
            <a:r>
              <a:rPr dirty="0" sz="1200" spc="28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Number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head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together:</a:t>
            </a:r>
            <a:endParaRPr sz="1200">
              <a:latin typeface="Arial"/>
              <a:cs typeface="Arial"/>
            </a:endParaRPr>
          </a:p>
          <a:p>
            <a:pPr algn="just" marL="241300" marR="5080" indent="-229235">
              <a:lnSpc>
                <a:spcPct val="106300"/>
              </a:lnSpc>
              <a:spcBef>
                <a:spcPts val="90"/>
              </a:spcBef>
            </a:pPr>
            <a:r>
              <a:rPr dirty="0" sz="1200">
                <a:latin typeface="Arial MT"/>
                <a:cs typeface="Arial MT"/>
              </a:rPr>
              <a:t>-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Number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heads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together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approach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developed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Spencer</a:t>
            </a:r>
            <a:r>
              <a:rPr dirty="0" sz="1200" spc="-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Kagan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(1998)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involve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more </a:t>
            </a:r>
            <a:r>
              <a:rPr dirty="0" sz="1200" spc="-3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the review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material covered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a </a:t>
            </a:r>
            <a:r>
              <a:rPr dirty="0" sz="1200" b="1">
                <a:latin typeface="Arial"/>
                <a:cs typeface="Arial"/>
              </a:rPr>
              <a:t>lesson and to </a:t>
            </a:r>
            <a:r>
              <a:rPr dirty="0" sz="1200" spc="-5" b="1">
                <a:latin typeface="Arial"/>
                <a:cs typeface="Arial"/>
              </a:rPr>
              <a:t>check their understanding 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lesson’s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content.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639571"/>
            <a:ext cx="6854190" cy="6842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marR="9525" indent="-6350">
              <a:lnSpc>
                <a:spcPct val="109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activity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focus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content.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Jigsaw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TPS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involves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more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process.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content-oriented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strategy.</a:t>
            </a:r>
            <a:endParaRPr sz="1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1150"/>
              </a:spcBef>
            </a:pP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use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following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four-step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structure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this</a:t>
            </a:r>
            <a:r>
              <a:rPr dirty="0" sz="1200" spc="-5" b="1">
                <a:latin typeface="Arial"/>
                <a:cs typeface="Arial"/>
              </a:rPr>
              <a:t> strategy:</a:t>
            </a:r>
            <a:endParaRPr sz="1200">
              <a:latin typeface="Arial"/>
              <a:cs typeface="Arial"/>
            </a:endParaRPr>
          </a:p>
          <a:p>
            <a:pPr marL="469900" marR="5080" indent="-229235">
              <a:lnSpc>
                <a:spcPct val="106700"/>
              </a:lnSpc>
              <a:spcBef>
                <a:spcPts val="108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Numbering: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divides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into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three-to-five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member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teams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have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them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number </a:t>
            </a:r>
            <a:r>
              <a:rPr dirty="0" sz="1200" spc="-5" b="1">
                <a:latin typeface="Arial"/>
                <a:cs typeface="Arial"/>
              </a:rPr>
              <a:t>off</a:t>
            </a:r>
            <a:r>
              <a:rPr dirty="0" sz="1200" b="1">
                <a:latin typeface="Arial"/>
                <a:cs typeface="Arial"/>
              </a:rPr>
              <a:t> so </a:t>
            </a:r>
            <a:r>
              <a:rPr dirty="0" sz="1200" spc="-5" b="1">
                <a:latin typeface="Arial"/>
                <a:cs typeface="Arial"/>
              </a:rPr>
              <a:t>each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 </a:t>
            </a:r>
            <a:r>
              <a:rPr dirty="0" sz="1200" b="1">
                <a:latin typeface="Arial"/>
                <a:cs typeface="Arial"/>
              </a:rPr>
              <a:t>on the </a:t>
            </a:r>
            <a:r>
              <a:rPr dirty="0" sz="1200" spc="-5" b="1">
                <a:latin typeface="Arial"/>
                <a:cs typeface="Arial"/>
              </a:rPr>
              <a:t>team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different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number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between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</a:t>
            </a:r>
            <a:r>
              <a:rPr dirty="0" sz="1200" b="1">
                <a:latin typeface="Arial"/>
                <a:cs typeface="Arial"/>
              </a:rPr>
              <a:t> and</a:t>
            </a:r>
            <a:endParaRPr sz="12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135"/>
              </a:spcBef>
            </a:pPr>
            <a:r>
              <a:rPr dirty="0" sz="1200" b="1">
                <a:latin typeface="Arial"/>
                <a:cs typeface="Arial"/>
              </a:rPr>
              <a:t>5.</a:t>
            </a:r>
            <a:endParaRPr sz="1200">
              <a:latin typeface="Arial"/>
              <a:cs typeface="Arial"/>
            </a:endParaRPr>
          </a:p>
          <a:p>
            <a:pPr marL="469900" marR="8890" indent="-229235">
              <a:lnSpc>
                <a:spcPct val="106700"/>
              </a:lnSpc>
              <a:spcBef>
                <a:spcPts val="80"/>
              </a:spcBef>
              <a:buFont typeface="Times New Roman"/>
              <a:buAutoNum type="arabicPeriod" startAt="2"/>
              <a:tabLst>
                <a:tab pos="470534" algn="l"/>
              </a:tabLst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Questioning: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asks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question.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Those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questions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very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specific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 question </a:t>
            </a:r>
            <a:r>
              <a:rPr dirty="0" sz="1200" spc="-5" b="1">
                <a:latin typeface="Arial"/>
                <a:cs typeface="Arial"/>
              </a:rPr>
              <a:t>form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like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“how many </a:t>
            </a:r>
            <a:r>
              <a:rPr dirty="0" sz="1200" spc="-5" b="1">
                <a:latin typeface="Arial"/>
                <a:cs typeface="Arial"/>
              </a:rPr>
              <a:t>provinces</a:t>
            </a:r>
            <a:r>
              <a:rPr dirty="0" sz="1200" b="1">
                <a:latin typeface="Arial"/>
                <a:cs typeface="Arial"/>
              </a:rPr>
              <a:t> are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there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Pakistan?”.</a:t>
            </a:r>
            <a:endParaRPr sz="1200">
              <a:latin typeface="Arial"/>
              <a:cs typeface="Arial"/>
            </a:endParaRPr>
          </a:p>
          <a:p>
            <a:pPr marL="469900" marR="7620" indent="-229235">
              <a:lnSpc>
                <a:spcPct val="106700"/>
              </a:lnSpc>
              <a:spcBef>
                <a:spcPts val="75"/>
              </a:spcBef>
              <a:buFont typeface="Times New Roman"/>
              <a:buAutoNum type="arabicPeriod" startAt="2"/>
              <a:tabLst>
                <a:tab pos="470534" algn="l"/>
              </a:tabLst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Heads</a:t>
            </a:r>
            <a:r>
              <a:rPr dirty="0" u="heavy" sz="120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together?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put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heads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together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figure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out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make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sure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everyone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knows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answer.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80"/>
              </a:spcBef>
              <a:buFont typeface="Times New Roman"/>
              <a:buAutoNum type="arabicPeriod" startAt="2"/>
              <a:tabLst>
                <a:tab pos="470534" algn="l"/>
              </a:tabLst>
            </a:pP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Rewards:</a:t>
            </a:r>
            <a:r>
              <a:rPr dirty="0" sz="1200" spc="3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 will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reward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winning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team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end.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Student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Teams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Achievement </a:t>
            </a:r>
            <a:r>
              <a:rPr dirty="0" sz="1200" b="1">
                <a:latin typeface="Arial"/>
                <a:cs typeface="Arial"/>
              </a:rPr>
              <a:t>Division </a:t>
            </a:r>
            <a:r>
              <a:rPr dirty="0" sz="1200" spc="-5" b="1">
                <a:latin typeface="Arial"/>
                <a:cs typeface="Arial"/>
              </a:rPr>
              <a:t>(STAD):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strategy,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 </a:t>
            </a:r>
            <a:r>
              <a:rPr dirty="0" sz="1200" spc="-5">
                <a:latin typeface="Arial MT"/>
                <a:cs typeface="Arial MT"/>
              </a:rPr>
              <a:t>issue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discipline.</a:t>
            </a:r>
            <a:endParaRPr sz="1200">
              <a:latin typeface="Arial MT"/>
              <a:cs typeface="Arial MT"/>
            </a:endParaRPr>
          </a:p>
          <a:p>
            <a:pPr algn="just" marL="469900" marR="8890" indent="-229235">
              <a:lnSpc>
                <a:spcPct val="106700"/>
              </a:lnSpc>
              <a:spcBef>
                <a:spcPts val="1110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STAD </a:t>
            </a:r>
            <a:r>
              <a:rPr dirty="0" sz="1200" spc="-5" b="1">
                <a:latin typeface="Arial"/>
                <a:cs typeface="Arial"/>
              </a:rPr>
              <a:t>was developed </a:t>
            </a:r>
            <a:r>
              <a:rPr dirty="0" sz="1200" b="1">
                <a:latin typeface="Arial"/>
                <a:cs typeface="Arial"/>
              </a:rPr>
              <a:t>by </a:t>
            </a:r>
            <a:r>
              <a:rPr dirty="0" sz="1200" spc="-5" b="1">
                <a:latin typeface="Arial"/>
                <a:cs typeface="Arial"/>
              </a:rPr>
              <a:t>Robert </a:t>
            </a:r>
            <a:r>
              <a:rPr dirty="0" sz="1200" b="1">
                <a:latin typeface="Arial"/>
                <a:cs typeface="Arial"/>
              </a:rPr>
              <a:t>Slavin and his </a:t>
            </a:r>
            <a:r>
              <a:rPr dirty="0" sz="1200" spc="-5" b="1">
                <a:latin typeface="Arial"/>
                <a:cs typeface="Arial"/>
              </a:rPr>
              <a:t>colleague at the </a:t>
            </a:r>
            <a:r>
              <a:rPr dirty="0" sz="1200" b="1">
                <a:latin typeface="Arial"/>
                <a:cs typeface="Arial"/>
              </a:rPr>
              <a:t>John </a:t>
            </a:r>
            <a:r>
              <a:rPr dirty="0" sz="1200" spc="-5" b="1">
                <a:latin typeface="Arial"/>
                <a:cs typeface="Arial"/>
              </a:rPr>
              <a:t>Hopkins University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is </a:t>
            </a:r>
            <a:r>
              <a:rPr dirty="0" sz="1200" spc="-5" b="1">
                <a:latin typeface="Arial"/>
                <a:cs typeface="Arial"/>
              </a:rPr>
              <a:t>perhaps the simplest </a:t>
            </a:r>
            <a:r>
              <a:rPr dirty="0" sz="1200" b="1">
                <a:latin typeface="Arial"/>
                <a:cs typeface="Arial"/>
              </a:rPr>
              <a:t>and most </a:t>
            </a:r>
            <a:r>
              <a:rPr dirty="0" sz="1200" spc="-5" b="1">
                <a:latin typeface="Arial"/>
                <a:cs typeface="Arial"/>
              </a:rPr>
              <a:t>straight </a:t>
            </a:r>
            <a:r>
              <a:rPr dirty="0" sz="1200" b="1">
                <a:latin typeface="Arial"/>
                <a:cs typeface="Arial"/>
              </a:rPr>
              <a:t>forwards of </a:t>
            </a:r>
            <a:r>
              <a:rPr dirty="0" sz="1200" spc="-5" b="1">
                <a:latin typeface="Arial"/>
                <a:cs typeface="Arial"/>
              </a:rPr>
              <a:t>the cooperative learning </a:t>
            </a:r>
            <a:r>
              <a:rPr dirty="0" sz="1200" b="1">
                <a:latin typeface="Arial"/>
                <a:cs typeface="Arial"/>
              </a:rPr>
              <a:t> approach.</a:t>
            </a:r>
            <a:endParaRPr sz="1200">
              <a:latin typeface="Arial"/>
              <a:cs typeface="Arial"/>
            </a:endParaRPr>
          </a:p>
          <a:p>
            <a:pPr algn="just" marL="469900" marR="6985" indent="-229235">
              <a:lnSpc>
                <a:spcPct val="106700"/>
              </a:lnSpc>
              <a:spcBef>
                <a:spcPts val="70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strategy,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divided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into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four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five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member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teams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without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any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gender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 </a:t>
            </a:r>
            <a:r>
              <a:rPr dirty="0" sz="1200" spc="-5" b="1">
                <a:latin typeface="Arial"/>
                <a:cs typeface="Arial"/>
              </a:rPr>
              <a:t>race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discrimination.</a:t>
            </a:r>
            <a:endParaRPr sz="1200">
              <a:latin typeface="Arial"/>
              <a:cs typeface="Arial"/>
            </a:endParaRPr>
          </a:p>
          <a:p>
            <a:pPr algn="just" marL="468630" marR="7620" indent="-6350">
              <a:lnSpc>
                <a:spcPct val="106300"/>
              </a:lnSpc>
              <a:spcBef>
                <a:spcPts val="520"/>
              </a:spcBef>
            </a:pPr>
            <a:r>
              <a:rPr dirty="0" sz="1200" spc="-5" b="1">
                <a:latin typeface="Arial"/>
                <a:cs typeface="Arial"/>
              </a:rPr>
              <a:t>Team members use worksheets </a:t>
            </a:r>
            <a:r>
              <a:rPr dirty="0" sz="1200" b="1">
                <a:latin typeface="Arial"/>
                <a:cs typeface="Arial"/>
              </a:rPr>
              <a:t>or </a:t>
            </a:r>
            <a:r>
              <a:rPr dirty="0" sz="1200" spc="-5" b="1">
                <a:latin typeface="Arial"/>
                <a:cs typeface="Arial"/>
              </a:rPr>
              <a:t>other study devices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master the academic </a:t>
            </a:r>
            <a:r>
              <a:rPr dirty="0" sz="1200" spc="-10" b="1">
                <a:latin typeface="Arial"/>
                <a:cs typeface="Arial"/>
              </a:rPr>
              <a:t>material 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then </a:t>
            </a:r>
            <a:r>
              <a:rPr dirty="0" sz="1200" b="1">
                <a:latin typeface="Arial"/>
                <a:cs typeface="Arial"/>
              </a:rPr>
              <a:t>help </a:t>
            </a:r>
            <a:r>
              <a:rPr dirty="0" sz="1200" spc="-5" b="1">
                <a:latin typeface="Arial"/>
                <a:cs typeface="Arial"/>
              </a:rPr>
              <a:t>each other </a:t>
            </a:r>
            <a:r>
              <a:rPr dirty="0" sz="1200" b="1">
                <a:latin typeface="Arial"/>
                <a:cs typeface="Arial"/>
              </a:rPr>
              <a:t>learn </a:t>
            </a:r>
            <a:r>
              <a:rPr dirty="0" sz="1200" spc="-5" b="1">
                <a:latin typeface="Arial"/>
                <a:cs typeface="Arial"/>
              </a:rPr>
              <a:t>the material </a:t>
            </a:r>
            <a:r>
              <a:rPr dirty="0" sz="1200" b="1">
                <a:latin typeface="Arial"/>
                <a:cs typeface="Arial"/>
              </a:rPr>
              <a:t>through </a:t>
            </a:r>
            <a:r>
              <a:rPr dirty="0" sz="1200" spc="-5" b="1">
                <a:latin typeface="Arial"/>
                <a:cs typeface="Arial"/>
              </a:rPr>
              <a:t>tutoring, </a:t>
            </a:r>
            <a:r>
              <a:rPr dirty="0" sz="1200" b="1">
                <a:latin typeface="Arial"/>
                <a:cs typeface="Arial"/>
              </a:rPr>
              <a:t>quizzing one </a:t>
            </a:r>
            <a:r>
              <a:rPr dirty="0" sz="1200" spc="-5" b="1">
                <a:latin typeface="Arial"/>
                <a:cs typeface="Arial"/>
              </a:rPr>
              <a:t>another, </a:t>
            </a:r>
            <a:r>
              <a:rPr dirty="0" sz="1200" b="1">
                <a:latin typeface="Arial"/>
                <a:cs typeface="Arial"/>
              </a:rPr>
              <a:t>or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carrying </a:t>
            </a:r>
            <a:r>
              <a:rPr dirty="0" sz="1200" b="1">
                <a:latin typeface="Arial"/>
                <a:cs typeface="Arial"/>
              </a:rPr>
              <a:t>on </a:t>
            </a:r>
            <a:r>
              <a:rPr dirty="0" sz="1200" spc="-5" b="1">
                <a:latin typeface="Arial"/>
                <a:cs typeface="Arial"/>
              </a:rPr>
              <a:t>team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discussions.</a:t>
            </a:r>
            <a:endParaRPr sz="1200">
              <a:latin typeface="Arial"/>
              <a:cs typeface="Arial"/>
            </a:endParaRPr>
          </a:p>
          <a:p>
            <a:pPr algn="just" marL="469900" marR="8890" indent="-229235">
              <a:lnSpc>
                <a:spcPct val="106700"/>
              </a:lnSpc>
              <a:spcBef>
                <a:spcPts val="8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Individually students take weekly </a:t>
            </a:r>
            <a:r>
              <a:rPr dirty="0" sz="1200" b="1">
                <a:latin typeface="Arial"/>
                <a:cs typeface="Arial"/>
              </a:rPr>
              <a:t>or </a:t>
            </a:r>
            <a:r>
              <a:rPr dirty="0" sz="1200" spc="-5" b="1">
                <a:latin typeface="Arial"/>
                <a:cs typeface="Arial"/>
              </a:rPr>
              <a:t>biweekly quizzes </a:t>
            </a:r>
            <a:r>
              <a:rPr dirty="0" sz="1200" b="1">
                <a:latin typeface="Arial"/>
                <a:cs typeface="Arial"/>
              </a:rPr>
              <a:t>on </a:t>
            </a:r>
            <a:r>
              <a:rPr dirty="0" sz="1200" spc="-5" b="1">
                <a:latin typeface="Arial"/>
                <a:cs typeface="Arial"/>
              </a:rPr>
              <a:t>the academic materials. </a:t>
            </a:r>
            <a:r>
              <a:rPr dirty="0" sz="1200" b="1">
                <a:latin typeface="Arial"/>
                <a:cs typeface="Arial"/>
              </a:rPr>
              <a:t>These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quizzes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scored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and</a:t>
            </a:r>
            <a:r>
              <a:rPr dirty="0" sz="1200" b="1">
                <a:latin typeface="Arial"/>
                <a:cs typeface="Arial"/>
              </a:rPr>
              <a:t> each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individual</a:t>
            </a:r>
            <a:r>
              <a:rPr dirty="0" sz="1200" b="1">
                <a:latin typeface="Arial"/>
                <a:cs typeface="Arial"/>
              </a:rPr>
              <a:t> is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given an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“improvement </a:t>
            </a:r>
            <a:r>
              <a:rPr dirty="0" sz="1200" b="1">
                <a:latin typeface="Arial"/>
                <a:cs typeface="Arial"/>
              </a:rPr>
              <a:t>score”.</a:t>
            </a:r>
            <a:endParaRPr sz="1200">
              <a:latin typeface="Arial"/>
              <a:cs typeface="Arial"/>
            </a:endParaRPr>
          </a:p>
          <a:p>
            <a:pPr algn="just" marL="469900" marR="6350" indent="-229235">
              <a:lnSpc>
                <a:spcPct val="106700"/>
              </a:lnSpc>
              <a:spcBef>
                <a:spcPts val="70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This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student’s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score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based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degree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which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score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exceeds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students’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past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average.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algn="just" marL="462280" marR="8255" indent="-229235">
              <a:lnSpc>
                <a:spcPct val="109200"/>
              </a:lnSpc>
              <a:spcBef>
                <a:spcPts val="1100"/>
              </a:spcBef>
            </a:pPr>
            <a:r>
              <a:rPr dirty="0" sz="1200" b="1">
                <a:latin typeface="Arial"/>
                <a:cs typeface="Arial"/>
              </a:rPr>
              <a:t>5.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Academic controversy: </a:t>
            </a:r>
            <a:r>
              <a:rPr dirty="0" sz="1200" spc="-5">
                <a:latin typeface="Arial MT"/>
                <a:cs typeface="Arial MT"/>
              </a:rPr>
              <a:t>This </a:t>
            </a:r>
            <a:r>
              <a:rPr dirty="0" sz="1200">
                <a:latin typeface="Arial MT"/>
                <a:cs typeface="Arial MT"/>
              </a:rPr>
              <a:t>activity </a:t>
            </a:r>
            <a:r>
              <a:rPr dirty="0" sz="1200" spc="-5">
                <a:latin typeface="Arial MT"/>
                <a:cs typeface="Arial MT"/>
              </a:rPr>
              <a:t>involves </a:t>
            </a:r>
            <a:r>
              <a:rPr dirty="0" sz="1200">
                <a:latin typeface="Arial MT"/>
                <a:cs typeface="Arial MT"/>
              </a:rPr>
              <a:t>teams of </a:t>
            </a:r>
            <a:r>
              <a:rPr dirty="0" sz="1200" spc="-5">
                <a:latin typeface="Arial MT"/>
                <a:cs typeface="Arial MT"/>
              </a:rPr>
              <a:t>students and these students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given 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</a:t>
            </a:r>
            <a:r>
              <a:rPr dirty="0" sz="1200">
                <a:latin typeface="Arial MT"/>
                <a:cs typeface="Arial MT"/>
              </a:rPr>
              <a:t> 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against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anything.</a:t>
            </a:r>
            <a:r>
              <a:rPr dirty="0" sz="1200">
                <a:latin typeface="Arial MT"/>
                <a:cs typeface="Arial MT"/>
              </a:rPr>
              <a:t> They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 controversy.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5572" y="682751"/>
            <a:ext cx="6979920" cy="39370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 # 37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“Organizing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Cooperative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Learning”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1318006"/>
            <a:ext cx="6855459" cy="9987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Lecture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objectives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850"/>
              </a:spcBef>
              <a:buChar char="•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Syntax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85"/>
              </a:spcBef>
              <a:buChar char="•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Managing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Assessing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 learning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Advantages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limitations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activity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Syntax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cooperative learning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200">
                <a:latin typeface="Arial MT"/>
                <a:cs typeface="Arial MT"/>
              </a:rPr>
              <a:t>Syntax</a:t>
            </a:r>
            <a:r>
              <a:rPr dirty="0" sz="1200" spc="-5">
                <a:latin typeface="Arial MT"/>
                <a:cs typeface="Arial MT"/>
              </a:rPr>
              <a:t> means structure.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Syntax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six phases.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200" spc="-5" b="1">
                <a:latin typeface="Arial"/>
                <a:cs typeface="Arial"/>
              </a:rPr>
              <a:t>Phase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1:</a:t>
            </a:r>
            <a:r>
              <a:rPr dirty="0" sz="1200" spc="-5" b="1">
                <a:latin typeface="Arial"/>
                <a:cs typeface="Arial"/>
              </a:rPr>
              <a:t> Clarify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5" b="1">
                <a:latin typeface="Arial"/>
                <a:cs typeface="Arial"/>
              </a:rPr>
              <a:t> goals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phase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 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achieve.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200" spc="-5" b="1">
                <a:latin typeface="Arial"/>
                <a:cs typeface="Arial"/>
              </a:rPr>
              <a:t>Phase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2.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Present information</a:t>
            </a:r>
            <a:endParaRPr sz="1200">
              <a:latin typeface="Arial"/>
              <a:cs typeface="Arial"/>
            </a:endParaRPr>
          </a:p>
          <a:p>
            <a:pPr algn="just" marL="18415" marR="471805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There are different types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cooperative methods.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many techniques teachers present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information.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example in jigsaw technique teacher is one who select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text. For better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management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information.</a:t>
            </a:r>
            <a:endParaRPr sz="1200">
              <a:latin typeface="Arial MT"/>
              <a:cs typeface="Arial MT"/>
            </a:endParaRPr>
          </a:p>
          <a:p>
            <a:pPr marL="12700" marR="3362325">
              <a:lnSpc>
                <a:spcPts val="2039"/>
              </a:lnSpc>
              <a:spcBef>
                <a:spcPts val="45"/>
              </a:spcBef>
            </a:pPr>
            <a:r>
              <a:rPr dirty="0" sz="1200" spc="-5" b="1">
                <a:latin typeface="Arial"/>
                <a:cs typeface="Arial"/>
              </a:rPr>
              <a:t>Phase </a:t>
            </a:r>
            <a:r>
              <a:rPr dirty="0" sz="1200" b="1">
                <a:latin typeface="Arial"/>
                <a:cs typeface="Arial"/>
              </a:rPr>
              <a:t>3. Organize </a:t>
            </a:r>
            <a:r>
              <a:rPr dirty="0" sz="1200" spc="-5" b="1">
                <a:latin typeface="Arial"/>
                <a:cs typeface="Arial"/>
              </a:rPr>
              <a:t>students </a:t>
            </a:r>
            <a:r>
              <a:rPr dirty="0" sz="1200" b="1">
                <a:latin typeface="Arial"/>
                <a:cs typeface="Arial"/>
              </a:rPr>
              <a:t>into </a:t>
            </a:r>
            <a:r>
              <a:rPr dirty="0" sz="1200" spc="-5" b="1">
                <a:latin typeface="Arial"/>
                <a:cs typeface="Arial"/>
              </a:rPr>
              <a:t>learning </a:t>
            </a:r>
            <a:r>
              <a:rPr dirty="0" sz="1200" b="1">
                <a:latin typeface="Arial"/>
                <a:cs typeface="Arial"/>
              </a:rPr>
              <a:t>teams.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Phase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4. </a:t>
            </a:r>
            <a:r>
              <a:rPr dirty="0" sz="1200" spc="-5" b="1">
                <a:latin typeface="Arial"/>
                <a:cs typeface="Arial"/>
              </a:rPr>
              <a:t>Assist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teamwork.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facilitate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not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control</a:t>
            </a:r>
            <a:endParaRPr sz="12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only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marL="12700" marR="4056379">
              <a:lnSpc>
                <a:spcPct val="142500"/>
              </a:lnSpc>
              <a:spcBef>
                <a:spcPts val="45"/>
              </a:spcBef>
            </a:pPr>
            <a:r>
              <a:rPr dirty="0" sz="1200" spc="-5" b="1">
                <a:latin typeface="Arial"/>
                <a:cs typeface="Arial"/>
              </a:rPr>
              <a:t>Phase </a:t>
            </a:r>
            <a:r>
              <a:rPr dirty="0" sz="1200" b="1">
                <a:latin typeface="Arial"/>
                <a:cs typeface="Arial"/>
              </a:rPr>
              <a:t>5. Test on </a:t>
            </a:r>
            <a:r>
              <a:rPr dirty="0" sz="1200" spc="-5" b="1">
                <a:latin typeface="Arial"/>
                <a:cs typeface="Arial"/>
              </a:rPr>
              <a:t>the materials/content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Phase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6.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Provide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recognition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200" spc="-5" b="1">
                <a:latin typeface="Arial"/>
                <a:cs typeface="Arial"/>
              </a:rPr>
              <a:t>Concerns</a:t>
            </a:r>
            <a:r>
              <a:rPr dirty="0" sz="1200" b="1">
                <a:latin typeface="Arial"/>
                <a:cs typeface="Arial"/>
              </a:rPr>
              <a:t> in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80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What should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seating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arrangement?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8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resources?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5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keep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noise </a:t>
            </a:r>
            <a:r>
              <a:rPr dirty="0" sz="1200" spc="-10">
                <a:latin typeface="Arial MT"/>
                <a:cs typeface="Arial MT"/>
              </a:rPr>
              <a:t>level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normal?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7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ensure </a:t>
            </a:r>
            <a:r>
              <a:rPr dirty="0" sz="1200">
                <a:latin typeface="Arial MT"/>
                <a:cs typeface="Arial MT"/>
              </a:rPr>
              <a:t>fair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members?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5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input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achievement?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9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resolve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conflicts?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5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ensure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self-assessment?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Calibri"/>
              <a:buChar char="-"/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Calibri"/>
              <a:buChar char="-"/>
            </a:pP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Managing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 algn="just" marL="462280" indent="-229235">
              <a:lnSpc>
                <a:spcPct val="100000"/>
              </a:lnSpc>
              <a:spcBef>
                <a:spcPts val="620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5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5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environment</a:t>
            </a:r>
            <a:r>
              <a:rPr dirty="0" sz="1200" spc="5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requires</a:t>
            </a:r>
            <a:r>
              <a:rPr dirty="0" sz="1200" spc="50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attention</a:t>
            </a:r>
            <a:r>
              <a:rPr dirty="0" sz="1200" spc="5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unique</a:t>
            </a:r>
            <a:r>
              <a:rPr dirty="0" sz="1200" spc="5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set</a:t>
            </a:r>
            <a:r>
              <a:rPr dirty="0" sz="1200" spc="5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rather</a:t>
            </a:r>
            <a:r>
              <a:rPr dirty="0" sz="1200" spc="5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difficult</a:t>
            </a:r>
            <a:endParaRPr sz="1200">
              <a:latin typeface="Arial MT"/>
              <a:cs typeface="Arial MT"/>
            </a:endParaRPr>
          </a:p>
          <a:p>
            <a:pPr algn="just" marL="462280" marR="9525">
              <a:lnSpc>
                <a:spcPct val="144200"/>
              </a:lnSpc>
              <a:spcBef>
                <a:spcPts val="15"/>
              </a:spcBef>
            </a:pPr>
            <a:r>
              <a:rPr dirty="0" sz="1200" spc="-5">
                <a:latin typeface="Arial MT"/>
                <a:cs typeface="Arial MT"/>
              </a:rPr>
              <a:t>management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tasks.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describing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accomplish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project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much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difficult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assigning them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textbook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chapter.</a:t>
            </a:r>
            <a:endParaRPr sz="1200">
              <a:latin typeface="Arial MT"/>
              <a:cs typeface="Arial MT"/>
            </a:endParaRPr>
          </a:p>
          <a:p>
            <a:pPr algn="just" marL="462280" marR="5715" indent="-229235">
              <a:lnSpc>
                <a:spcPct val="144600"/>
              </a:lnSpc>
              <a:spcBef>
                <a:spcPts val="1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Management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unique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make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transition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whole-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assist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and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167</a:t>
            </a:fld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578611"/>
            <a:ext cx="6851015" cy="1079881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200" b="1">
                <a:latin typeface="Arial"/>
                <a:cs typeface="Arial"/>
              </a:rPr>
              <a:t>Group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Roles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200" spc="-5">
                <a:latin typeface="Arial MT"/>
                <a:cs typeface="Arial MT"/>
              </a:rPr>
              <a:t>Kagan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(1994)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been adapted</a:t>
            </a:r>
            <a:r>
              <a:rPr dirty="0" sz="1200">
                <a:latin typeface="Arial MT"/>
                <a:cs typeface="Arial MT"/>
              </a:rPr>
              <a:t> by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Arends.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83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Task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oriented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role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79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Process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oriented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role</a:t>
            </a:r>
            <a:endParaRPr sz="1200">
              <a:latin typeface="Arial"/>
              <a:cs typeface="Arial"/>
            </a:endParaRPr>
          </a:p>
          <a:p>
            <a:pPr marL="12700" marR="1919605">
              <a:lnSpc>
                <a:spcPct val="143300"/>
              </a:lnSpc>
              <a:spcBef>
                <a:spcPts val="910"/>
              </a:spcBef>
            </a:pPr>
            <a:r>
              <a:rPr dirty="0" sz="1200">
                <a:latin typeface="Arial MT"/>
                <a:cs typeface="Arial MT"/>
              </a:rPr>
              <a:t>Task </a:t>
            </a:r>
            <a:r>
              <a:rPr dirty="0" sz="1200" spc="-5">
                <a:latin typeface="Arial MT"/>
                <a:cs typeface="Arial MT"/>
              </a:rPr>
              <a:t>oriented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roles</a:t>
            </a:r>
            <a:r>
              <a:rPr dirty="0" sz="1200">
                <a:latin typeface="Arial MT"/>
                <a:cs typeface="Arial MT"/>
              </a:rPr>
              <a:t> 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5">
                <a:latin typeface="Arial MT"/>
                <a:cs typeface="Arial MT"/>
              </a:rPr>
              <a:t> needed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oriented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roles 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roles 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smoothens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Under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Task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oriented</a:t>
            </a:r>
            <a:r>
              <a:rPr dirty="0" sz="1200" b="1">
                <a:latin typeface="Arial"/>
                <a:cs typeface="Arial"/>
              </a:rPr>
              <a:t> role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4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roles: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45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Taskmaster: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keep group members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task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75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Material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monitor: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picks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up</a:t>
            </a:r>
            <a:r>
              <a:rPr dirty="0" sz="1200" spc="-5">
                <a:latin typeface="Arial MT"/>
                <a:cs typeface="Arial MT"/>
              </a:rPr>
              <a:t> and </a:t>
            </a:r>
            <a:r>
              <a:rPr dirty="0" sz="1200">
                <a:latin typeface="Arial MT"/>
                <a:cs typeface="Arial MT"/>
              </a:rPr>
              <a:t>returns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45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Coach: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members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 content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Recorder: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records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plans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Under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 oriented</a:t>
            </a:r>
            <a:r>
              <a:rPr dirty="0" sz="1200" b="1">
                <a:latin typeface="Arial"/>
                <a:cs typeface="Arial"/>
              </a:rPr>
              <a:t> role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4 sub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points: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Gatekeeper: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equalizes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participation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Encourager: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encourages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members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Checker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: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members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check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Timekeeper: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reminds members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progress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lack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difference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coach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checker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coach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endParaRPr sz="1200">
              <a:latin typeface="Arial MT"/>
              <a:cs typeface="Arial MT"/>
            </a:endParaRPr>
          </a:p>
          <a:p>
            <a:pPr marL="18415" marR="471805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checker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asks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whether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understood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if</a:t>
            </a:r>
            <a:r>
              <a:rPr dirty="0" sz="1200" spc="-5">
                <a:latin typeface="Arial MT"/>
                <a:cs typeface="Arial MT"/>
              </a:rPr>
              <a:t> 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tells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coach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existing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situation.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Common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situations</a:t>
            </a:r>
            <a:endParaRPr sz="1200">
              <a:latin typeface="Arial"/>
              <a:cs typeface="Arial"/>
            </a:endParaRPr>
          </a:p>
          <a:p>
            <a:pPr algn="just" marL="18415" marR="46482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Miss </a:t>
            </a:r>
            <a:r>
              <a:rPr dirty="0" sz="1200">
                <a:latin typeface="Arial MT"/>
                <a:cs typeface="Arial MT"/>
              </a:rPr>
              <a:t>Amna </a:t>
            </a:r>
            <a:r>
              <a:rPr dirty="0" sz="1200" spc="-5">
                <a:latin typeface="Arial MT"/>
                <a:cs typeface="Arial MT"/>
              </a:rPr>
              <a:t>is concerned about her </a:t>
            </a:r>
            <a:r>
              <a:rPr dirty="0" sz="1200">
                <a:latin typeface="Arial MT"/>
                <a:cs typeface="Arial MT"/>
              </a:rPr>
              <a:t>eighth-graders’ </a:t>
            </a:r>
            <a:r>
              <a:rPr dirty="0" sz="1200" spc="-5">
                <a:latin typeface="Arial MT"/>
                <a:cs typeface="Arial MT"/>
              </a:rPr>
              <a:t>performance in jigsaw. Some home groups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consistently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others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fail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believes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especially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lower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achievers,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difficulty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presenting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might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she address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concern?</a:t>
            </a:r>
            <a:endParaRPr sz="1200">
              <a:latin typeface="Arial MT"/>
              <a:cs typeface="Arial MT"/>
            </a:endParaRPr>
          </a:p>
          <a:p>
            <a:pPr algn="just" marL="18415" marR="7620" indent="-6350">
              <a:lnSpc>
                <a:spcPts val="2080"/>
              </a:lnSpc>
              <a:spcBef>
                <a:spcPts val="10"/>
              </a:spcBef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jigsaw reading student select the </a:t>
            </a:r>
            <a:r>
              <a:rPr dirty="0" sz="1200">
                <a:latin typeface="Arial MT"/>
                <a:cs typeface="Arial MT"/>
              </a:rPr>
              <a:t>text. </a:t>
            </a:r>
            <a:r>
              <a:rPr dirty="0" sz="1200" spc="-5">
                <a:latin typeface="Arial MT"/>
                <a:cs typeface="Arial MT"/>
              </a:rPr>
              <a:t>Those students who select the </a:t>
            </a:r>
            <a:r>
              <a:rPr dirty="0" sz="1200" spc="-10">
                <a:latin typeface="Arial MT"/>
                <a:cs typeface="Arial MT"/>
              </a:rPr>
              <a:t>same </a:t>
            </a:r>
            <a:r>
              <a:rPr dirty="0" sz="1200">
                <a:latin typeface="Arial MT"/>
                <a:cs typeface="Arial MT"/>
              </a:rPr>
              <a:t>text </a:t>
            </a:r>
            <a:r>
              <a:rPr dirty="0" sz="1200" spc="-5">
                <a:latin typeface="Arial MT"/>
                <a:cs typeface="Arial MT"/>
              </a:rPr>
              <a:t>are called home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group.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465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guides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key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information?</a:t>
            </a:r>
            <a:endParaRPr sz="1200">
              <a:latin typeface="Arial MT"/>
              <a:cs typeface="Arial MT"/>
            </a:endParaRPr>
          </a:p>
          <a:p>
            <a:pPr marL="462280" marR="8255" indent="-229235">
              <a:lnSpc>
                <a:spcPct val="144200"/>
              </a:lnSpc>
              <a:spcBef>
                <a:spcPts val="25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she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additional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roles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home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trouble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effectively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play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roles?</a:t>
            </a:r>
            <a:endParaRPr sz="1200">
              <a:latin typeface="Arial MT"/>
              <a:cs typeface="Arial MT"/>
            </a:endParaRPr>
          </a:p>
          <a:p>
            <a:pPr marL="462280" marR="5080" indent="-229235">
              <a:lnSpc>
                <a:spcPct val="144400"/>
              </a:lnSpc>
              <a:spcBef>
                <a:spcPts val="2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she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teacher-led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expert</a:t>
            </a:r>
            <a:r>
              <a:rPr dirty="0" sz="1200" spc="2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group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assign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slower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22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2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trouble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group?</a:t>
            </a:r>
            <a:endParaRPr sz="1200">
              <a:latin typeface="Arial MT"/>
              <a:cs typeface="Arial MT"/>
            </a:endParaRPr>
          </a:p>
          <a:p>
            <a:pPr marL="469900" marR="935990" indent="-236854">
              <a:lnSpc>
                <a:spcPct val="143300"/>
              </a:lnSpc>
              <a:spcBef>
                <a:spcPts val="25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home group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whole class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all </a:t>
            </a:r>
            <a:r>
              <a:rPr dirty="0" sz="1200" spc="-5">
                <a:latin typeface="Arial MT"/>
                <a:cs typeface="Arial MT"/>
              </a:rPr>
              <a:t>students have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opportunities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learn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material?</a:t>
            </a:r>
            <a:endParaRPr sz="1200">
              <a:latin typeface="Arial MT"/>
              <a:cs typeface="Arial MT"/>
            </a:endParaRPr>
          </a:p>
          <a:p>
            <a:pPr marL="476250" marR="469265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Jigsaw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technique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two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first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same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text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called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home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groups.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children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home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share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information.</a:t>
            </a:r>
            <a:endParaRPr sz="1200">
              <a:latin typeface="Arial MT"/>
              <a:cs typeface="Arial MT"/>
            </a:endParaRPr>
          </a:p>
          <a:p>
            <a:pPr marL="476250" marR="469900">
              <a:lnSpc>
                <a:spcPts val="206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Problem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jigsaw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technique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do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text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home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</a:t>
            </a:r>
            <a:r>
              <a:rPr dirty="0" sz="1200">
                <a:latin typeface="Arial MT"/>
                <a:cs typeface="Arial MT"/>
              </a:rPr>
              <a:t> it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jigsaw groups.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home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endParaRPr sz="1200">
              <a:latin typeface="Arial MT"/>
              <a:cs typeface="Arial MT"/>
            </a:endParaRPr>
          </a:p>
          <a:p>
            <a:pPr marL="476250">
              <a:lnSpc>
                <a:spcPct val="100000"/>
              </a:lnSpc>
              <a:spcBef>
                <a:spcPts val="470"/>
              </a:spcBef>
            </a:pP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much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167</a:t>
            </a:fld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575563"/>
            <a:ext cx="6716395" cy="11268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338455" indent="-635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Assigning </a:t>
            </a:r>
            <a:r>
              <a:rPr dirty="0" sz="1200" spc="-5">
                <a:latin typeface="Arial MT"/>
                <a:cs typeface="Arial MT"/>
              </a:rPr>
              <a:t>different roles is a good thing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jigsaw technique a coach and a checker can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 helpful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go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option.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management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thing</a:t>
            </a:r>
            <a:r>
              <a:rPr dirty="0" sz="1200" spc="-5">
                <a:latin typeface="Arial MT"/>
                <a:cs typeface="Arial MT"/>
              </a:rPr>
              <a:t> 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assigning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Quiz</a:t>
            </a:r>
            <a:endParaRPr sz="1200">
              <a:latin typeface="Arial"/>
              <a:cs typeface="Arial"/>
            </a:endParaRPr>
          </a:p>
          <a:p>
            <a:pPr algn="just" marL="462280" marR="5080" indent="-229235">
              <a:lnSpc>
                <a:spcPts val="2080"/>
              </a:lnSpc>
              <a:spcBef>
                <a:spcPts val="160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Miss Ayesha introduces a rule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her group discussions that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really enjoy. Each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 is given three </a:t>
            </a:r>
            <a:r>
              <a:rPr dirty="0" sz="1200">
                <a:latin typeface="Arial MT"/>
                <a:cs typeface="Arial MT"/>
              </a:rPr>
              <a:t>tokens </a:t>
            </a:r>
            <a:r>
              <a:rPr dirty="0" sz="1200" spc="-5">
                <a:latin typeface="Arial MT"/>
                <a:cs typeface="Arial MT"/>
              </a:rPr>
              <a:t>that are worth 15 seconds </a:t>
            </a:r>
            <a:r>
              <a:rPr dirty="0" sz="1200">
                <a:latin typeface="Arial MT"/>
                <a:cs typeface="Arial MT"/>
              </a:rPr>
              <a:t>of talk </a:t>
            </a:r>
            <a:r>
              <a:rPr dirty="0" sz="1200" spc="-5">
                <a:latin typeface="Arial MT"/>
                <a:cs typeface="Arial MT"/>
              </a:rPr>
              <a:t>time. When the tokens 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gone,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no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longer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participate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likely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instituted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5">
                <a:latin typeface="Arial MT"/>
                <a:cs typeface="Arial MT"/>
              </a:rPr>
              <a:t> rule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control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--------.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470"/>
              </a:spcBef>
              <a:buFont typeface="Times New Roman"/>
              <a:buAutoNum type="alphaLcPeriod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Noise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level.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lphaLcPeriod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amount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time</a:t>
            </a:r>
            <a:r>
              <a:rPr dirty="0" sz="1200" spc="-5">
                <a:latin typeface="Arial MT"/>
                <a:cs typeface="Arial MT"/>
              </a:rPr>
              <a:t> that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dominant 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such activities.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lphaLcPeriod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lack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participation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quite</a:t>
            </a:r>
            <a:r>
              <a:rPr dirty="0" sz="1200">
                <a:latin typeface="Arial MT"/>
                <a:cs typeface="Arial MT"/>
              </a:rPr>
              <a:t> 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665"/>
              </a:spcBef>
              <a:buFont typeface="Times New Roman"/>
              <a:buAutoNum type="alphaLcPeriod"/>
              <a:tabLst>
                <a:tab pos="699135" algn="l"/>
              </a:tabLst>
            </a:pPr>
            <a:r>
              <a:rPr dirty="0" sz="1200">
                <a:latin typeface="Arial MT"/>
                <a:cs typeface="Arial MT"/>
              </a:rPr>
              <a:t>Both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c.</a:t>
            </a:r>
            <a:endParaRPr sz="12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Times New Roman"/>
              <a:buAutoNum type="alphaLcPeriod"/>
            </a:pPr>
            <a:endParaRPr sz="14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correct answer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b.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interesting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manage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 activity.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Assessment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Cooperative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Strategy</a:t>
            </a:r>
            <a:endParaRPr sz="1200">
              <a:latin typeface="Arial"/>
              <a:cs typeface="Arial"/>
            </a:endParaRPr>
          </a:p>
          <a:p>
            <a:pPr marL="462280" marR="11430" indent="-229235">
              <a:lnSpc>
                <a:spcPts val="2080"/>
              </a:lnSpc>
              <a:spcBef>
                <a:spcPts val="16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1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changes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reward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system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consequently,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requires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approach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recognition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achievement.</a:t>
            </a:r>
            <a:endParaRPr sz="1200">
              <a:latin typeface="Arial MT"/>
              <a:cs typeface="Arial MT"/>
            </a:endParaRPr>
          </a:p>
          <a:p>
            <a:pPr marL="462280" marR="12700" indent="-229235">
              <a:lnSpc>
                <a:spcPts val="2080"/>
              </a:lnSpc>
              <a:spcBef>
                <a:spcPts val="2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2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special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challenge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for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grade</a:t>
            </a:r>
            <a:r>
              <a:rPr dirty="0" sz="1200" spc="2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team</a:t>
            </a:r>
            <a:r>
              <a:rPr dirty="0" sz="1200" spc="20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efforts.</a:t>
            </a:r>
            <a:endParaRPr sz="1200">
              <a:latin typeface="Arial MT"/>
              <a:cs typeface="Arial MT"/>
            </a:endParaRPr>
          </a:p>
          <a:p>
            <a:pPr marL="462280" marR="13970" indent="-229235">
              <a:lnSpc>
                <a:spcPts val="2080"/>
              </a:lnSpc>
              <a:spcBef>
                <a:spcPts val="3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STAD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version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jigsaw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requires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quizzes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material.</a:t>
            </a:r>
            <a:endParaRPr sz="1200">
              <a:latin typeface="Arial MT"/>
              <a:cs typeface="Arial MT"/>
            </a:endParaRPr>
          </a:p>
          <a:p>
            <a:pPr marL="462280" marR="12065" indent="-229235">
              <a:lnSpc>
                <a:spcPts val="2080"/>
              </a:lnSpc>
              <a:spcBef>
                <a:spcPts val="3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Test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item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quizzes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type,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scored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after.</a:t>
            </a:r>
            <a:endParaRPr sz="1200">
              <a:latin typeface="Arial MT"/>
              <a:cs typeface="Arial MT"/>
            </a:endParaRPr>
          </a:p>
          <a:p>
            <a:pPr marL="462280" marR="9525" indent="-229235">
              <a:lnSpc>
                <a:spcPts val="2080"/>
              </a:lnSpc>
              <a:spcBef>
                <a:spcPts val="2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primary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easy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</a:t>
            </a:r>
            <a:r>
              <a:rPr dirty="0" sz="1200">
                <a:latin typeface="Arial MT"/>
                <a:cs typeface="Arial MT"/>
              </a:rPr>
              <a:t> 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academic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are.</a:t>
            </a:r>
            <a:endParaRPr sz="1200">
              <a:latin typeface="Arial MT"/>
              <a:cs typeface="Arial MT"/>
            </a:endParaRPr>
          </a:p>
          <a:p>
            <a:pPr algn="just" marL="239395" marR="332105" indent="-6350">
              <a:lnSpc>
                <a:spcPct val="144200"/>
              </a:lnSpc>
              <a:spcBef>
                <a:spcPts val="795"/>
              </a:spcBef>
            </a:pPr>
            <a:r>
              <a:rPr dirty="0" sz="1200" spc="-5">
                <a:latin typeface="Arial MT"/>
                <a:cs typeface="Arial MT"/>
              </a:rPr>
              <a:t>Students collaborative skills can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assessed through a Rubric designed </a:t>
            </a:r>
            <a:r>
              <a:rPr dirty="0" sz="1200">
                <a:latin typeface="Arial MT"/>
                <a:cs typeface="Arial MT"/>
              </a:rPr>
              <a:t>so. </a:t>
            </a:r>
            <a:r>
              <a:rPr dirty="0" sz="1200" spc="-5">
                <a:latin typeface="Arial MT"/>
                <a:cs typeface="Arial MT"/>
              </a:rPr>
              <a:t>Rubrics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1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 two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types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rating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scale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checklist.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Rubrics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10">
                <a:latin typeface="Arial MT"/>
                <a:cs typeface="Arial MT"/>
              </a:rPr>
              <a:t>are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instruments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assess.</a:t>
            </a:r>
            <a:endParaRPr sz="1200">
              <a:latin typeface="Arial MT"/>
              <a:cs typeface="Arial MT"/>
            </a:endParaRPr>
          </a:p>
          <a:p>
            <a:pPr algn="just" marL="462280" marR="8890" indent="-229235">
              <a:lnSpc>
                <a:spcPct val="144600"/>
              </a:lnSpc>
              <a:spcBef>
                <a:spcPts val="1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careful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reward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structure.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reward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both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result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produced </a:t>
            </a:r>
            <a:r>
              <a:rPr dirty="0" sz="1200">
                <a:latin typeface="Arial MT"/>
                <a:cs typeface="Arial MT"/>
              </a:rPr>
              <a:t>it.</a:t>
            </a:r>
            <a:endParaRPr sz="1200">
              <a:latin typeface="Arial MT"/>
              <a:cs typeface="Arial MT"/>
            </a:endParaRPr>
          </a:p>
          <a:p>
            <a:pPr algn="just" marL="462280" marR="7620" indent="-229235">
              <a:lnSpc>
                <a:spcPct val="144600"/>
              </a:lnSpc>
              <a:spcBef>
                <a:spcPts val="20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 spc="-10">
                <a:latin typeface="Arial MT"/>
                <a:cs typeface="Arial MT"/>
              </a:rPr>
              <a:t>should </a:t>
            </a:r>
            <a:r>
              <a:rPr dirty="0" sz="1200" spc="-5">
                <a:latin typeface="Arial MT"/>
                <a:cs typeface="Arial MT"/>
              </a:rPr>
              <a:t>be assessed both in a group </a:t>
            </a:r>
            <a:r>
              <a:rPr dirty="0" sz="1200">
                <a:latin typeface="Arial MT"/>
                <a:cs typeface="Arial MT"/>
              </a:rPr>
              <a:t>form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individual basis.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this purpose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>
                <a:latin typeface="Arial MT"/>
                <a:cs typeface="Arial MT"/>
              </a:rPr>
              <a:t>may do </a:t>
            </a:r>
            <a:r>
              <a:rPr dirty="0" sz="1200" spc="-5">
                <a:latin typeface="Arial MT"/>
                <a:cs typeface="Arial MT"/>
              </a:rPr>
              <a:t>two evaluations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students. </a:t>
            </a:r>
            <a:r>
              <a:rPr dirty="0" sz="1200">
                <a:latin typeface="Arial MT"/>
                <a:cs typeface="Arial MT"/>
              </a:rPr>
              <a:t>one for </a:t>
            </a:r>
            <a:r>
              <a:rPr dirty="0" sz="1200" spc="-5">
                <a:latin typeface="Arial MT"/>
                <a:cs typeface="Arial MT"/>
              </a:rPr>
              <a:t>the group’s </a:t>
            </a:r>
            <a:r>
              <a:rPr dirty="0" sz="1200">
                <a:latin typeface="Arial MT"/>
                <a:cs typeface="Arial MT"/>
              </a:rPr>
              <a:t>effort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one </a:t>
            </a:r>
            <a:r>
              <a:rPr dirty="0" sz="1200" spc="-5">
                <a:latin typeface="Arial MT"/>
                <a:cs typeface="Arial MT"/>
              </a:rPr>
              <a:t>for each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person’s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 contribution.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Calibri"/>
              <a:buChar char="-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Calibri"/>
              <a:buChar char="-"/>
            </a:pPr>
            <a:endParaRPr sz="19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Quiz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80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Which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following 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achievements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recognized?</a:t>
            </a:r>
            <a:endParaRPr sz="1200">
              <a:latin typeface="Arial MT"/>
              <a:cs typeface="Arial MT"/>
            </a:endParaRPr>
          </a:p>
          <a:p>
            <a:pPr marL="698500" indent="-2292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Displaying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5">
                <a:latin typeface="Arial MT"/>
                <a:cs typeface="Arial MT"/>
              </a:rPr>
              <a:t> halls.</a:t>
            </a:r>
            <a:endParaRPr sz="1200">
              <a:latin typeface="Arial MT"/>
              <a:cs typeface="Arial MT"/>
            </a:endParaRPr>
          </a:p>
          <a:p>
            <a:pPr marL="69850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Publishing teams’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names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class </a:t>
            </a:r>
            <a:r>
              <a:rPr dirty="0" sz="1200" spc="-5">
                <a:latin typeface="Arial MT"/>
                <a:cs typeface="Arial MT"/>
              </a:rPr>
              <a:t>newsletter.</a:t>
            </a:r>
            <a:endParaRPr sz="1200">
              <a:latin typeface="Arial MT"/>
              <a:cs typeface="Arial MT"/>
            </a:endParaRPr>
          </a:p>
          <a:p>
            <a:pPr marL="69850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Giving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certificates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team members.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167</a:t>
            </a:fld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656335"/>
            <a:ext cx="392811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4.</a:t>
            </a:r>
            <a:r>
              <a:rPr dirty="0" sz="1200" spc="28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above.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5">
                <a:latin typeface="Arial MT"/>
                <a:cs typeface="Arial MT"/>
              </a:rPr>
              <a:t>These 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suitable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recognize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group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efforts.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572" y="1643125"/>
            <a:ext cx="6979920" cy="39370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38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“Project Learning”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2193160"/>
            <a:ext cx="6585584" cy="9672320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25"/>
              </a:spcBef>
            </a:pPr>
            <a:r>
              <a:rPr dirty="0" sz="1400" spc="-5" b="1">
                <a:latin typeface="Arial"/>
                <a:cs typeface="Arial"/>
              </a:rPr>
              <a:t>Lecture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objectives:</a:t>
            </a:r>
            <a:endParaRPr sz="14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785"/>
              </a:spcBef>
              <a:buChar char="•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Reinforcement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00"/>
              </a:spcBef>
              <a:buChar char="•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Essentials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Project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85"/>
              </a:spcBef>
              <a:buChar char="•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Project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 and thinking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components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 projects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75"/>
              </a:spcBef>
              <a:buChar char="•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Kinds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projects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Arial MT"/>
              <a:cs typeface="Arial MT"/>
            </a:endParaRPr>
          </a:p>
          <a:p>
            <a:pPr algn="just" marL="18415" marR="201295" indent="-6350">
              <a:lnSpc>
                <a:spcPct val="144000"/>
              </a:lnSpc>
            </a:pPr>
            <a:r>
              <a:rPr dirty="0" sz="1200" spc="-5" b="1">
                <a:latin typeface="Arial"/>
                <a:cs typeface="Arial"/>
              </a:rPr>
              <a:t>Assessment: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always a concern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teachers that how to assess group </a:t>
            </a:r>
            <a:r>
              <a:rPr dirty="0" sz="1200">
                <a:latin typeface="Arial MT"/>
                <a:cs typeface="Arial MT"/>
              </a:rPr>
              <a:t>work. </a:t>
            </a:r>
            <a:r>
              <a:rPr dirty="0" sz="1200" spc="-5">
                <a:latin typeface="Arial MT"/>
                <a:cs typeface="Arial MT"/>
              </a:rPr>
              <a:t>Most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 </a:t>
            </a:r>
            <a:r>
              <a:rPr dirty="0" sz="1200">
                <a:latin typeface="Arial MT"/>
                <a:cs typeface="Arial MT"/>
              </a:rPr>
              <a:t>claim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group </a:t>
            </a:r>
            <a:r>
              <a:rPr dirty="0" sz="1200" spc="-5">
                <a:latin typeface="Arial MT"/>
                <a:cs typeface="Arial MT"/>
              </a:rPr>
              <a:t>learning, they could not identify individual’s learning. Individual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 is hidden in group tasks and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a result the students </a:t>
            </a:r>
            <a:r>
              <a:rPr dirty="0" sz="1200" spc="-10">
                <a:latin typeface="Arial MT"/>
                <a:cs typeface="Arial MT"/>
              </a:rPr>
              <a:t>who </a:t>
            </a:r>
            <a:r>
              <a:rPr dirty="0" sz="1200" spc="-5">
                <a:latin typeface="Arial MT"/>
                <a:cs typeface="Arial MT"/>
              </a:rPr>
              <a:t>do not </a:t>
            </a:r>
            <a:r>
              <a:rPr dirty="0" sz="1200" spc="5">
                <a:latin typeface="Arial MT"/>
                <a:cs typeface="Arial MT"/>
              </a:rPr>
              <a:t>work, </a:t>
            </a:r>
            <a:r>
              <a:rPr dirty="0" sz="1200" spc="-5">
                <a:latin typeface="Arial MT"/>
                <a:cs typeface="Arial MT"/>
              </a:rPr>
              <a:t>never tries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work,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always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continue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participate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tasks.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reward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structure </a:t>
            </a:r>
            <a:r>
              <a:rPr dirty="0" sz="1200" spc="-5">
                <a:latin typeface="Arial MT"/>
                <a:cs typeface="Arial MT"/>
              </a:rPr>
              <a:t>should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individualistic as well as group oriented. </a:t>
            </a:r>
            <a:r>
              <a:rPr dirty="0" sz="1200">
                <a:latin typeface="Arial MT"/>
                <a:cs typeface="Arial MT"/>
              </a:rPr>
              <a:t>E.g.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a cricket match, </a:t>
            </a:r>
            <a:r>
              <a:rPr dirty="0" sz="1200" spc="-10">
                <a:latin typeface="Arial MT"/>
                <a:cs typeface="Arial MT"/>
              </a:rPr>
              <a:t>when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wins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recognition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team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10">
                <a:latin typeface="Arial MT"/>
                <a:cs typeface="Arial MT"/>
              </a:rPr>
              <a:t>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basis,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title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‘man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match’.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effort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recognition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individual’s contribution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Here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situation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understanding:</a:t>
            </a:r>
            <a:endParaRPr sz="1200">
              <a:latin typeface="Arial"/>
              <a:cs typeface="Arial"/>
            </a:endParaRPr>
          </a:p>
          <a:p>
            <a:pPr algn="just" marL="469900" marR="200660" indent="-229235">
              <a:lnSpc>
                <a:spcPct val="142500"/>
              </a:lnSpc>
            </a:pPr>
            <a:r>
              <a:rPr dirty="0" sz="1200">
                <a:latin typeface="Arial MT"/>
                <a:cs typeface="Arial MT"/>
              </a:rPr>
              <a:t>- </a:t>
            </a:r>
            <a:r>
              <a:rPr dirty="0" sz="1200" spc="-5" b="1">
                <a:latin typeface="Arial"/>
                <a:cs typeface="Arial"/>
              </a:rPr>
              <a:t>Whenever Miss Amna uses </a:t>
            </a:r>
            <a:r>
              <a:rPr dirty="0" sz="1200" b="1">
                <a:latin typeface="Arial"/>
                <a:cs typeface="Arial"/>
              </a:rPr>
              <a:t>jigsaw in </a:t>
            </a:r>
            <a:r>
              <a:rPr dirty="0" sz="1200" spc="-5" b="1">
                <a:latin typeface="Arial"/>
                <a:cs typeface="Arial"/>
              </a:rPr>
              <a:t>her social studies classes she gives three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grades: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quiz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grade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assesses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individual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material,</a:t>
            </a:r>
            <a:r>
              <a:rPr dirty="0" sz="1200" b="1">
                <a:latin typeface="Arial"/>
                <a:cs typeface="Arial"/>
              </a:rPr>
              <a:t> an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individual grade </a:t>
            </a:r>
            <a:r>
              <a:rPr dirty="0" sz="1200" spc="-5" b="1">
                <a:latin typeface="Arial"/>
                <a:cs typeface="Arial"/>
              </a:rPr>
              <a:t>for contribution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the group,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a </a:t>
            </a:r>
            <a:r>
              <a:rPr dirty="0" sz="1200" b="1">
                <a:latin typeface="Arial"/>
                <a:cs typeface="Arial"/>
              </a:rPr>
              <a:t>group </a:t>
            </a:r>
            <a:r>
              <a:rPr dirty="0" sz="1200" spc="-10" b="1">
                <a:latin typeface="Arial"/>
                <a:cs typeface="Arial"/>
              </a:rPr>
              <a:t>grade </a:t>
            </a:r>
            <a:r>
              <a:rPr dirty="0" sz="1200" spc="-5" b="1">
                <a:latin typeface="Arial"/>
                <a:cs typeface="Arial"/>
              </a:rPr>
              <a:t>that reflects the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group’s accomplishments. </a:t>
            </a:r>
            <a:r>
              <a:rPr dirty="0" sz="1200" b="1">
                <a:latin typeface="Arial"/>
                <a:cs typeface="Arial"/>
              </a:rPr>
              <a:t>Is her </a:t>
            </a:r>
            <a:r>
              <a:rPr dirty="0" sz="1200" spc="-5" b="1">
                <a:latin typeface="Arial"/>
                <a:cs typeface="Arial"/>
              </a:rPr>
              <a:t>grading </a:t>
            </a:r>
            <a:r>
              <a:rPr dirty="0" sz="1200" b="1">
                <a:latin typeface="Arial"/>
                <a:cs typeface="Arial"/>
              </a:rPr>
              <a:t>congruent with </a:t>
            </a:r>
            <a:r>
              <a:rPr dirty="0" sz="1200" spc="-5" b="1">
                <a:latin typeface="Arial"/>
                <a:cs typeface="Arial"/>
              </a:rPr>
              <a:t>the cooperative learning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system?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4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No,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grading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system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penalizes students </a:t>
            </a:r>
            <a:r>
              <a:rPr dirty="0" sz="1200" b="1">
                <a:latin typeface="Arial"/>
                <a:cs typeface="Arial"/>
              </a:rPr>
              <a:t>if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teammates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perform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well.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Yes, </a:t>
            </a:r>
            <a:r>
              <a:rPr dirty="0" sz="1200" spc="-5" b="1">
                <a:latin typeface="Arial"/>
                <a:cs typeface="Arial"/>
              </a:rPr>
              <a:t>the grades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reflect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balanced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assessment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individual</a:t>
            </a:r>
            <a:r>
              <a:rPr dirty="0" sz="1200" spc="-5" b="1">
                <a:latin typeface="Arial"/>
                <a:cs typeface="Arial"/>
              </a:rPr>
              <a:t> 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group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achievement.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Yes,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grades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will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reward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motivated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who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exhibit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independence.</a:t>
            </a:r>
            <a:endParaRPr sz="1200">
              <a:latin typeface="Arial"/>
              <a:cs typeface="Arial"/>
            </a:endParaRPr>
          </a:p>
          <a:p>
            <a:pPr marL="12700" marR="1332865" indent="228600">
              <a:lnSpc>
                <a:spcPts val="2050"/>
              </a:lnSpc>
              <a:spcBef>
                <a:spcPts val="16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No,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grading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system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overemphasizes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individual accountability.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“No.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2 is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correct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option”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Arial"/>
              <a:cs typeface="Arial"/>
            </a:endParaRPr>
          </a:p>
          <a:p>
            <a:pPr algn="just" marL="18415" marR="203835" indent="-635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being teachers </a:t>
            </a:r>
            <a:r>
              <a:rPr dirty="0" sz="1200" spc="-10">
                <a:latin typeface="Arial MT"/>
                <a:cs typeface="Arial MT"/>
              </a:rPr>
              <a:t>we are </a:t>
            </a:r>
            <a:r>
              <a:rPr dirty="0" sz="1200" spc="-5">
                <a:latin typeface="Arial MT"/>
                <a:cs typeface="Arial MT"/>
              </a:rPr>
              <a:t>concerned about assessment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group work that’s why we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reluctant </a:t>
            </a:r>
            <a:r>
              <a:rPr dirty="0" sz="1200" spc="-5">
                <a:latin typeface="Arial MT"/>
                <a:cs typeface="Arial MT"/>
              </a:rPr>
              <a:t>to use group activities in our </a:t>
            </a:r>
            <a:r>
              <a:rPr dirty="0" sz="1200">
                <a:latin typeface="Arial MT"/>
                <a:cs typeface="Arial MT"/>
              </a:rPr>
              <a:t>class. </a:t>
            </a:r>
            <a:r>
              <a:rPr dirty="0" sz="1200" spc="-5">
                <a:latin typeface="Arial MT"/>
                <a:cs typeface="Arial MT"/>
              </a:rPr>
              <a:t>But after learning about 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assess group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 in different ways teachers must </a:t>
            </a:r>
            <a:r>
              <a:rPr dirty="0" sz="1200">
                <a:latin typeface="Arial MT"/>
                <a:cs typeface="Arial MT"/>
              </a:rPr>
              <a:t>try </a:t>
            </a:r>
            <a:r>
              <a:rPr dirty="0" sz="1200" spc="-5">
                <a:latin typeface="Arial MT"/>
                <a:cs typeface="Arial MT"/>
              </a:rPr>
              <a:t>to include them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their routine lessons, </a:t>
            </a:r>
            <a:r>
              <a:rPr dirty="0" sz="1200" spc="-10">
                <a:latin typeface="Arial MT"/>
                <a:cs typeface="Arial MT"/>
              </a:rPr>
              <a:t>so </a:t>
            </a:r>
            <a:r>
              <a:rPr dirty="0" sz="1200" spc="-5">
                <a:latin typeface="Arial MT"/>
                <a:cs typeface="Arial MT"/>
              </a:rPr>
              <a:t>that we </a:t>
            </a:r>
            <a:r>
              <a:rPr dirty="0" sz="1200">
                <a:latin typeface="Arial MT"/>
                <a:cs typeface="Arial MT"/>
              </a:rPr>
              <a:t> can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ensure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>
                <a:latin typeface="Arial MT"/>
                <a:cs typeface="Arial MT"/>
              </a:rPr>
              <a:t> 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</a:t>
            </a:r>
            <a:r>
              <a:rPr dirty="0" sz="1200">
                <a:latin typeface="Arial MT"/>
                <a:cs typeface="Arial MT"/>
              </a:rPr>
              <a:t> 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attitude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Project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Based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Learning</a:t>
            </a:r>
            <a:r>
              <a:rPr dirty="0" sz="1000">
                <a:latin typeface="Arial MT"/>
                <a:cs typeface="Arial MT"/>
              </a:rPr>
              <a:t>: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167</a:t>
            </a:fld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1000" y="575563"/>
            <a:ext cx="6957059" cy="522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81915" marR="509905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Project Based Learning is an instructional approach built </a:t>
            </a:r>
            <a:r>
              <a:rPr dirty="0" sz="1200" spc="-10">
                <a:latin typeface="Arial MT"/>
                <a:cs typeface="Arial MT"/>
              </a:rPr>
              <a:t>upon </a:t>
            </a:r>
            <a:r>
              <a:rPr dirty="0" sz="1200" spc="-5">
                <a:latin typeface="Arial MT"/>
                <a:cs typeface="Arial MT"/>
              </a:rPr>
              <a:t>authentic learning </a:t>
            </a:r>
            <a:r>
              <a:rPr dirty="0" sz="1200">
                <a:latin typeface="Arial MT"/>
                <a:cs typeface="Arial MT"/>
              </a:rPr>
              <a:t>activities </a:t>
            </a:r>
            <a:r>
              <a:rPr dirty="0" sz="1200" spc="-5">
                <a:latin typeface="Arial MT"/>
                <a:cs typeface="Arial MT"/>
              </a:rPr>
              <a:t>that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engage student interest and motivation. These activities are designed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answer a question 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solve a problem and generally reflect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types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learning and work people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in the everyday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world outside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Arial MT"/>
              <a:cs typeface="Arial MT"/>
            </a:endParaRPr>
          </a:p>
          <a:p>
            <a:pPr marL="81915" marR="43180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Project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synonymous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depth.</a:t>
            </a:r>
            <a:r>
              <a:rPr dirty="0" sz="1200" spc="25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well-designed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project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provokes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encounter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(and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struggle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with)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central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principles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discipline.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Arial MT"/>
              <a:cs typeface="Arial MT"/>
            </a:endParaRPr>
          </a:p>
          <a:p>
            <a:pPr algn="just" marL="81915" marR="509270" indent="-6350">
              <a:lnSpc>
                <a:spcPct val="1442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Project Based Learning teaches students </a:t>
            </a:r>
            <a:r>
              <a:rPr dirty="0" sz="1200" spc="5">
                <a:latin typeface="Arial MT"/>
                <a:cs typeface="Arial MT"/>
              </a:rPr>
              <a:t>21</a:t>
            </a:r>
            <a:r>
              <a:rPr dirty="0" baseline="27777" sz="1200" spc="7">
                <a:latin typeface="Arial MT"/>
                <a:cs typeface="Arial MT"/>
              </a:rPr>
              <a:t>st</a:t>
            </a:r>
            <a:r>
              <a:rPr dirty="0" baseline="27777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century skills as well as content. These skills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time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management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 and inquiry skills, </a:t>
            </a:r>
            <a:r>
              <a:rPr dirty="0" sz="1200">
                <a:latin typeface="Arial MT"/>
                <a:cs typeface="Arial MT"/>
              </a:rPr>
              <a:t>self-assessment </a:t>
            </a:r>
            <a:r>
              <a:rPr dirty="0" sz="1200" spc="-5">
                <a:latin typeface="Arial MT"/>
                <a:cs typeface="Arial MT"/>
              </a:rPr>
              <a:t>and reflection skills, and group participation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leadership skills.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Arial MT"/>
              <a:cs typeface="Arial MT"/>
            </a:endParaRPr>
          </a:p>
          <a:p>
            <a:pPr algn="just" marL="81915" marR="513715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Project Based Learning is generally </a:t>
            </a:r>
            <a:r>
              <a:rPr dirty="0" sz="1200" spc="-10">
                <a:latin typeface="Arial MT"/>
                <a:cs typeface="Arial MT"/>
              </a:rPr>
              <a:t>done by </a:t>
            </a:r>
            <a:r>
              <a:rPr dirty="0" sz="1200" spc="-5">
                <a:latin typeface="Arial MT"/>
                <a:cs typeface="Arial MT"/>
              </a:rPr>
              <a:t>groups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students working together toward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common goal. Performance is assessed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an individual basis, and takes into account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quality of the product produced,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depth of content understanding demonstrated, and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contributions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made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ongoing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project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realization.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 algn="just" marL="81915" marR="513080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Finally, Project Based Learning allows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reflect upon their own </a:t>
            </a:r>
            <a:r>
              <a:rPr dirty="0" sz="1200">
                <a:latin typeface="Arial MT"/>
                <a:cs typeface="Arial MT"/>
              </a:rPr>
              <a:t>ideas </a:t>
            </a:r>
            <a:r>
              <a:rPr dirty="0" sz="1200" spc="-5">
                <a:latin typeface="Arial MT"/>
                <a:cs typeface="Arial MT"/>
              </a:rPr>
              <a:t>and opinions,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exercise voice and choice, and make decisions that affect project outcomes and the learning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 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6418381"/>
            <a:ext cx="6526530" cy="525272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45"/>
              </a:spcBef>
            </a:pPr>
            <a:r>
              <a:rPr dirty="0" sz="1400" spc="-5" b="1">
                <a:latin typeface="Arial"/>
                <a:cs typeface="Arial"/>
              </a:rPr>
              <a:t>Essentials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5" b="1">
                <a:latin typeface="Arial"/>
                <a:cs typeface="Arial"/>
              </a:rPr>
              <a:t> cooperative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learning:</a:t>
            </a:r>
            <a:endParaRPr sz="1400">
              <a:latin typeface="Arial"/>
              <a:cs typeface="Arial"/>
            </a:endParaRPr>
          </a:p>
          <a:p>
            <a:pPr algn="just" marL="18415" marR="144145" indent="-6350">
              <a:lnSpc>
                <a:spcPts val="2080"/>
              </a:lnSpc>
              <a:spcBef>
                <a:spcPts val="85"/>
              </a:spcBef>
            </a:pPr>
            <a:r>
              <a:rPr dirty="0" sz="1200">
                <a:latin typeface="Arial MT"/>
                <a:cs typeface="Arial MT"/>
              </a:rPr>
              <a:t>Four </a:t>
            </a:r>
            <a:r>
              <a:rPr dirty="0" sz="1200" spc="-5">
                <a:latin typeface="Arial MT"/>
                <a:cs typeface="Arial MT"/>
              </a:rPr>
              <a:t>essential features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group work MUST be planned.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do not plan these four features </a:t>
            </a:r>
            <a:r>
              <a:rPr dirty="0" sz="1200">
                <a:latin typeface="Arial MT"/>
                <a:cs typeface="Arial MT"/>
              </a:rPr>
              <a:t> than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would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disaster.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will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hold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meaningful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class.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5">
                <a:latin typeface="Arial MT"/>
                <a:cs typeface="Arial MT"/>
              </a:rPr>
              <a:t> are: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Arial MT"/>
              <a:cs typeface="Arial MT"/>
            </a:endParaRPr>
          </a:p>
          <a:p>
            <a:pPr algn="just" marL="462280" marR="5080" indent="-229235">
              <a:lnSpc>
                <a:spcPct val="144200"/>
              </a:lnSpc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How </a:t>
            </a:r>
            <a:r>
              <a:rPr dirty="0" sz="1200" b="1">
                <a:latin typeface="Arial"/>
                <a:cs typeface="Arial"/>
              </a:rPr>
              <a:t>to form </a:t>
            </a:r>
            <a:r>
              <a:rPr dirty="0" sz="1200" spc="-5" b="1">
                <a:latin typeface="Arial"/>
                <a:cs typeface="Arial"/>
              </a:rPr>
              <a:t>heterogeneous groups? </a:t>
            </a:r>
            <a:r>
              <a:rPr dirty="0" sz="1200" spc="-5">
                <a:latin typeface="Arial MT"/>
                <a:cs typeface="Arial MT"/>
              </a:rPr>
              <a:t>Do remember, heterogeneous groups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spirit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cooperative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randomly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achievers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all low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/>
            </a:pPr>
            <a:endParaRPr sz="1800">
              <a:latin typeface="Arial MT"/>
              <a:cs typeface="Arial MT"/>
            </a:endParaRPr>
          </a:p>
          <a:p>
            <a:pPr algn="just" marL="462280" marR="6350" indent="-229235">
              <a:lnSpc>
                <a:spcPct val="144200"/>
              </a:lnSpc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work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groups?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down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steps and these </a:t>
            </a:r>
            <a:r>
              <a:rPr dirty="0" sz="1200">
                <a:latin typeface="Arial MT"/>
                <a:cs typeface="Arial MT"/>
              </a:rPr>
              <a:t>steps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a particular </a:t>
            </a:r>
            <a:r>
              <a:rPr dirty="0" sz="1200">
                <a:latin typeface="Arial MT"/>
                <a:cs typeface="Arial MT"/>
              </a:rPr>
              <a:t>task </a:t>
            </a:r>
            <a:r>
              <a:rPr dirty="0" sz="1200" spc="-5">
                <a:latin typeface="Arial MT"/>
                <a:cs typeface="Arial MT"/>
              </a:rPr>
              <a:t>must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shared with the students.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provide </a:t>
            </a:r>
            <a:r>
              <a:rPr dirty="0" sz="1200">
                <a:latin typeface="Arial MT"/>
                <a:cs typeface="Arial MT"/>
              </a:rPr>
              <a:t>clear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well-structured </a:t>
            </a:r>
            <a:r>
              <a:rPr dirty="0" sz="1200" spc="-5">
                <a:latin typeface="Arial MT"/>
                <a:cs typeface="Arial MT"/>
              </a:rPr>
              <a:t>instructions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to perform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particular task.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/>
            </a:pPr>
            <a:endParaRPr sz="1800">
              <a:latin typeface="Arial MT"/>
              <a:cs typeface="Arial MT"/>
            </a:endParaRPr>
          </a:p>
          <a:p>
            <a:pPr algn="just" marL="462280" marR="5715" indent="-229235">
              <a:lnSpc>
                <a:spcPct val="144200"/>
              </a:lnSpc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How rewards are </a:t>
            </a:r>
            <a:r>
              <a:rPr dirty="0" sz="1200" b="1">
                <a:latin typeface="Arial"/>
                <a:cs typeface="Arial"/>
              </a:rPr>
              <a:t>to be </a:t>
            </a:r>
            <a:r>
              <a:rPr dirty="0" sz="1200" spc="-5" b="1">
                <a:latin typeface="Arial"/>
                <a:cs typeface="Arial"/>
              </a:rPr>
              <a:t>distributed?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>
                <a:latin typeface="Arial MT"/>
                <a:cs typeface="Arial MT"/>
              </a:rPr>
              <a:t>must tell the </a:t>
            </a:r>
            <a:r>
              <a:rPr dirty="0" sz="1200" spc="-5">
                <a:latin typeface="Arial MT"/>
                <a:cs typeface="Arial MT"/>
              </a:rPr>
              <a:t>students about rewards that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 given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1800">
              <a:latin typeface="Arial MT"/>
              <a:cs typeface="Arial MT"/>
            </a:endParaRPr>
          </a:p>
          <a:p>
            <a:pPr marL="469900" marR="168910" indent="-236854">
              <a:lnSpc>
                <a:spcPct val="142500"/>
              </a:lnSpc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b="1">
                <a:latin typeface="Arial"/>
                <a:cs typeface="Arial"/>
              </a:rPr>
              <a:t> much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time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required?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5">
                <a:latin typeface="Arial MT"/>
                <a:cs typeface="Arial MT"/>
              </a:rPr>
              <a:t> communicate budgeted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students.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167</a:t>
            </a:fld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6388" y="313943"/>
          <a:ext cx="7487285" cy="12175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820"/>
                <a:gridCol w="2085975"/>
                <a:gridCol w="2027555"/>
                <a:gridCol w="2301875"/>
                <a:gridCol w="693420"/>
              </a:tblGrid>
              <a:tr h="10014712"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C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44805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dirty="0" sz="1400" spc="-5" b="1">
                          <a:latin typeface="Arial"/>
                          <a:cs typeface="Arial"/>
                        </a:rPr>
                        <a:t>Limitations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Cooperative</a:t>
                      </a:r>
                      <a:r>
                        <a:rPr dirty="0" sz="14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Learning: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just" marL="581660" marR="150495" indent="-229235">
                        <a:lnSpc>
                          <a:spcPts val="2080"/>
                        </a:lnSpc>
                        <a:spcBef>
                          <a:spcPts val="95"/>
                        </a:spcBef>
                        <a:buFont typeface="Times New Roman"/>
                        <a:buChar char="-"/>
                        <a:tabLst>
                          <a:tab pos="582295" algn="l"/>
                        </a:tabLst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The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biggest limitation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is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the mindset.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We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assume that cooperating learning strategies or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group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learning activities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are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‘all play and no work’.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Only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memorizing the books is learning. We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have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change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this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mindset.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  <a:buFont typeface="Times New Roman"/>
                        <a:buChar char="-"/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just" marL="581660" marR="149225" indent="-229235">
                        <a:lnSpc>
                          <a:spcPct val="144200"/>
                        </a:lnSpc>
                        <a:buFont typeface="Times New Roman"/>
                        <a:buChar char="-"/>
                        <a:tabLst>
                          <a:tab pos="582295" algn="l"/>
                        </a:tabLst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Fear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of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management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assessment: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many students, particularly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those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who excel in the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more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traditional, individualistic rewards structure, will likewise object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approaches in which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interdependent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activities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valued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rewards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shared.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buFont typeface="Times New Roman"/>
                        <a:buChar char="-"/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buFont typeface="Times New Roman"/>
                        <a:buChar char="-"/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344805">
                        <a:lnSpc>
                          <a:spcPct val="100000"/>
                        </a:lnSpc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Project</a:t>
                      </a:r>
                      <a:r>
                        <a:rPr dirty="0" sz="14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Learning: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581660" marR="153035" indent="-229235">
                        <a:lnSpc>
                          <a:spcPct val="144400"/>
                        </a:lnSpc>
                        <a:spcBef>
                          <a:spcPts val="55"/>
                        </a:spcBef>
                        <a:buFont typeface="Times New Roman"/>
                        <a:buChar char="-"/>
                        <a:tabLst>
                          <a:tab pos="581025" algn="l"/>
                          <a:tab pos="582295" algn="l"/>
                        </a:tabLst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According</a:t>
                      </a:r>
                      <a:r>
                        <a:rPr dirty="0" sz="12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research,</a:t>
                      </a:r>
                      <a:r>
                        <a:rPr dirty="0" sz="12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1200" spc="11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projects</a:t>
                      </a:r>
                      <a:r>
                        <a:rPr dirty="0" sz="120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20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structured</a:t>
                      </a:r>
                      <a:r>
                        <a:rPr dirty="0" sz="120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properly,</a:t>
                      </a:r>
                      <a:r>
                        <a:rPr dirty="0" sz="12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they</a:t>
                      </a:r>
                      <a:r>
                        <a:rPr dirty="0" sz="12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allow</a:t>
                      </a:r>
                      <a:r>
                        <a:rPr dirty="0" sz="12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learner</a:t>
                      </a:r>
                      <a:r>
                        <a:rPr dirty="0" sz="1200" spc="11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120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groups</a:t>
                      </a:r>
                      <a:r>
                        <a:rPr dirty="0" sz="1200" spc="11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learners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be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immersed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one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big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idea,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to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work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towards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one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common goal.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81660" marR="147955" indent="-229235">
                        <a:lnSpc>
                          <a:spcPct val="144200"/>
                        </a:lnSpc>
                        <a:spcBef>
                          <a:spcPts val="10"/>
                        </a:spcBef>
                        <a:buFont typeface="Times New Roman"/>
                        <a:buChar char="-"/>
                        <a:tabLst>
                          <a:tab pos="581025" algn="l"/>
                          <a:tab pos="582295" algn="l"/>
                        </a:tabLst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project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challenges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learners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use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variety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skills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intelligence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 allows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them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to be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involved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meaningful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activity.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81660" marR="153035" indent="-229235">
                        <a:lnSpc>
                          <a:spcPct val="144200"/>
                        </a:lnSpc>
                        <a:spcBef>
                          <a:spcPts val="25"/>
                        </a:spcBef>
                        <a:buFont typeface="Times New Roman"/>
                        <a:buChar char="-"/>
                        <a:tabLst>
                          <a:tab pos="581025" algn="l"/>
                          <a:tab pos="582295" algn="l"/>
                        </a:tabLst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Projects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tend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multidimensional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they</a:t>
                      </a:r>
                      <a:r>
                        <a:rPr dirty="0" sz="12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encourage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learners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extend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their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understanding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content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beyond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classroom and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into real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world.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581660" indent="-229870">
                        <a:lnSpc>
                          <a:spcPct val="100000"/>
                        </a:lnSpc>
                        <a:spcBef>
                          <a:spcPts val="645"/>
                        </a:spcBef>
                        <a:buFont typeface="Times New Roman"/>
                        <a:buChar char="-"/>
                        <a:tabLst>
                          <a:tab pos="581025" algn="l"/>
                          <a:tab pos="582295" algn="l"/>
                        </a:tabLst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1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important</a:t>
                      </a:r>
                      <a:r>
                        <a:rPr dirty="0" sz="12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teacher</a:t>
                      </a:r>
                      <a:r>
                        <a:rPr dirty="0" sz="12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consider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students’</a:t>
                      </a:r>
                      <a:r>
                        <a:rPr dirty="0" sz="12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developmental</a:t>
                      </a:r>
                      <a:r>
                        <a:rPr dirty="0" sz="1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level</a:t>
                      </a:r>
                      <a:r>
                        <a:rPr dirty="0" sz="1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when</a:t>
                      </a:r>
                      <a:r>
                        <a:rPr dirty="0" sz="12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designing</a:t>
                      </a:r>
                      <a:r>
                        <a:rPr dirty="0" sz="1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projects.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35433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-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44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Project</a:t>
                      </a:r>
                      <a:r>
                        <a:rPr dirty="0" sz="14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Learning</a:t>
                      </a:r>
                      <a:r>
                        <a:rPr dirty="0" sz="14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4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Thinking</a:t>
                      </a:r>
                      <a:r>
                        <a:rPr dirty="0" sz="14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Skills: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581660" marR="151765" indent="-229235">
                        <a:lnSpc>
                          <a:spcPct val="142600"/>
                        </a:lnSpc>
                        <a:buFont typeface="Times New Roman"/>
                        <a:buChar char="-"/>
                        <a:tabLst>
                          <a:tab pos="581025" algn="l"/>
                          <a:tab pos="582295" algn="l"/>
                        </a:tabLst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Skills needed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accomplish the project will usually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include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problem solving, critical and </a:t>
                      </a:r>
                      <a:r>
                        <a:rPr dirty="0" sz="1200" spc="-3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creative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thought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ability to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present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information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others.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  <a:buFont typeface="Times New Roman"/>
                        <a:buChar char="-"/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581660" marR="151765" indent="-229235">
                        <a:lnSpc>
                          <a:spcPct val="145000"/>
                        </a:lnSpc>
                        <a:buFont typeface="Times New Roman"/>
                        <a:buChar char="-"/>
                        <a:tabLst>
                          <a:tab pos="581025" algn="l"/>
                          <a:tab pos="582295" algn="l"/>
                        </a:tabLst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According</a:t>
                      </a:r>
                      <a:r>
                        <a:rPr dirty="0" sz="1200" spc="30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3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Chapman</a:t>
                      </a:r>
                      <a:r>
                        <a:rPr dirty="0" sz="1200" spc="3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3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Freeman</a:t>
                      </a:r>
                      <a:r>
                        <a:rPr dirty="0" sz="1200" spc="3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(1996),</a:t>
                      </a:r>
                      <a:r>
                        <a:rPr dirty="0" sz="1200" spc="30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there</a:t>
                      </a:r>
                      <a:r>
                        <a:rPr dirty="0" sz="1200" spc="30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two</a:t>
                      </a:r>
                      <a:r>
                        <a:rPr dirty="0" sz="1200" spc="3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factors</a:t>
                      </a:r>
                      <a:r>
                        <a:rPr dirty="0" sz="1200" spc="3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that</a:t>
                      </a:r>
                      <a:r>
                        <a:rPr dirty="0" sz="1200" spc="2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need</a:t>
                      </a:r>
                      <a:r>
                        <a:rPr dirty="0" sz="1200" spc="2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3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be </a:t>
                      </a:r>
                      <a:r>
                        <a:rPr dirty="0" sz="1200" spc="-3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considered: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lvl="1" marL="802640" indent="-229235">
                        <a:lnSpc>
                          <a:spcPct val="100000"/>
                        </a:lnSpc>
                        <a:spcBef>
                          <a:spcPts val="660"/>
                        </a:spcBef>
                        <a:buFont typeface="Times New Roman"/>
                        <a:buAutoNum type="arabicPeriod"/>
                        <a:tabLst>
                          <a:tab pos="803275" algn="l"/>
                        </a:tabLst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students’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ability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process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information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and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lvl="1" marL="802640" marR="246379" indent="-228600">
                        <a:lnSpc>
                          <a:spcPct val="142500"/>
                        </a:lnSpc>
                        <a:buFont typeface="Times New Roman"/>
                        <a:buAutoNum type="arabicPeriod"/>
                        <a:tabLst>
                          <a:tab pos="803275" algn="l"/>
                        </a:tabLst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way</a:t>
                      </a:r>
                      <a:r>
                        <a:rPr dirty="0" sz="1200" spc="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which</a:t>
                      </a:r>
                      <a:r>
                        <a:rPr dirty="0" sz="1200" spc="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project</a:t>
                      </a:r>
                      <a:r>
                        <a:rPr dirty="0" sz="1200" spc="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will</a:t>
                      </a:r>
                      <a:r>
                        <a:rPr dirty="0" sz="1200" spc="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1200" spc="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used</a:t>
                      </a:r>
                      <a:r>
                        <a:rPr dirty="0" sz="1200" spc="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extend</a:t>
                      </a:r>
                      <a:r>
                        <a:rPr dirty="0" sz="1200" spc="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learning</a:t>
                      </a:r>
                      <a:r>
                        <a:rPr dirty="0" sz="1200" spc="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experience</a:t>
                      </a:r>
                      <a:r>
                        <a:rPr dirty="0" sz="1200" spc="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any </a:t>
                      </a:r>
                      <a:r>
                        <a:rPr dirty="0" sz="1200" spc="-3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particular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content area.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(Project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learning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definitely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enhances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thinking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skills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students.)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Skills</a:t>
                      </a:r>
                      <a:r>
                        <a:rPr dirty="0" sz="14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developed through</a:t>
                      </a:r>
                      <a:r>
                        <a:rPr dirty="0" sz="14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projects: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They may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be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classified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under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three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columns,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76200">
                      <a:solidFill>
                        <a:srgbClr val="C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1394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Crit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ical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thinking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skills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76200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Creative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thinking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skills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Social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skills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1.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Attributing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76200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1.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Brainstorming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Respecting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others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313943"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2.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Compare/contrast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76200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2.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Visualizing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Working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independently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313893"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3.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Classifying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76200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3.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Personifying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Managing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time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869746"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C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r" marR="17335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395730" algn="l"/>
                        </a:tabLst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MUHAMMAD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 IMRAN	</a:t>
                      </a:r>
                      <a:r>
                        <a:rPr dirty="0" sz="11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76200">
                      <a:solidFill>
                        <a:srgbClr val="C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6388" y="313943"/>
          <a:ext cx="7423150" cy="12175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685"/>
                <a:gridCol w="2085975"/>
                <a:gridCol w="2027555"/>
                <a:gridCol w="2301875"/>
                <a:gridCol w="693420"/>
              </a:tblGrid>
              <a:tr h="3482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C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C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  <a:lnT w="38100">
                      <a:solidFill>
                        <a:srgbClr val="C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12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4.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Sequencing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76200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4.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Inventing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Cooperating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3126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5.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Prioritizing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76200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5.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Associating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Sharing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6.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Draw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conclusions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76200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6.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Inferring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Using resources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effectively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7.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Determining cause/Effect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76200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7.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Generalizing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Making choices/decisions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8.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Analyzing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bias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76200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8.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Predicting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9.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Analyzing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assumptions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76200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9.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Hypothesizing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3124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10. Solving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analogies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76200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10.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Making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Analogies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11.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Evaluating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76200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1725295" algn="l"/>
                        </a:tabLst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11.</a:t>
                      </a:r>
                      <a:r>
                        <a:rPr dirty="0" sz="12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Dealing	with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38671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ambiguity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paradox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3139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C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12.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Decision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making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76200">
                      <a:solidFill>
                        <a:srgbClr val="C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12.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Problem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solving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1750">
                    <a:lnL w="952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</a:tcPr>
                </a:tc>
              </a:tr>
              <a:tr h="87086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C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dirty="0" sz="1400" spc="-5" b="1">
                          <a:latin typeface="Arial"/>
                          <a:cs typeface="Arial"/>
                        </a:rPr>
                        <a:t>Essential Components of Learning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Projects: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just" marL="581660" marR="145415" indent="-229235">
                        <a:lnSpc>
                          <a:spcPct val="144200"/>
                        </a:lnSpc>
                        <a:spcBef>
                          <a:spcPts val="275"/>
                        </a:spcBef>
                        <a:buFont typeface="Times New Roman"/>
                        <a:buChar char="-"/>
                        <a:tabLst>
                          <a:tab pos="582295" algn="l"/>
                        </a:tabLst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Teachers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allow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time for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meeting with students to discuss project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criteria.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(It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is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very 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important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that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there should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be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 project criteria.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If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students do not create project criteria then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they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will not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be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able to keep record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their pace and performance. 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Teacher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may give time to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the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students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make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their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own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group criteria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after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giving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them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directions.)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buFont typeface="Times New Roman"/>
                        <a:buChar char="-"/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just" marL="581660" marR="146050" indent="-229235">
                        <a:lnSpc>
                          <a:spcPct val="137500"/>
                        </a:lnSpc>
                        <a:spcBef>
                          <a:spcPts val="975"/>
                        </a:spcBef>
                        <a:buFont typeface="Times New Roman"/>
                        <a:buChar char="-"/>
                        <a:tabLst>
                          <a:tab pos="582295" algn="l"/>
                        </a:tabLst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“Mini-conferences”</a:t>
                      </a:r>
                      <a:r>
                        <a:rPr dirty="0" sz="12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should</a:t>
                      </a:r>
                      <a:r>
                        <a:rPr dirty="0" sz="12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take</a:t>
                      </a:r>
                      <a:r>
                        <a:rPr dirty="0" sz="12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place,</a:t>
                      </a:r>
                      <a:r>
                        <a:rPr dirty="0" sz="1200" spc="-8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2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person,</a:t>
                      </a:r>
                      <a:r>
                        <a:rPr dirty="0" sz="12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as</a:t>
                      </a:r>
                      <a:r>
                        <a:rPr dirty="0" sz="12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often</a:t>
                      </a:r>
                      <a:r>
                        <a:rPr dirty="0" sz="12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as</a:t>
                      </a:r>
                      <a:r>
                        <a:rPr dirty="0" sz="12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possible</a:t>
                      </a:r>
                      <a:r>
                        <a:rPr dirty="0" sz="12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because</a:t>
                      </a:r>
                      <a:r>
                        <a:rPr dirty="0" sz="12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these </a:t>
                      </a:r>
                      <a:r>
                        <a:rPr dirty="0" sz="1200" spc="-3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students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will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be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working independently, e-mail communication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should be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encouraged,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if </a:t>
                      </a:r>
                      <a:r>
                        <a:rPr dirty="0" sz="1200" spc="-3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available.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Font typeface="Times New Roman"/>
                        <a:buChar char="-"/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just" marL="581660" marR="151765" indent="-229235">
                        <a:lnSpc>
                          <a:spcPct val="132500"/>
                        </a:lnSpc>
                        <a:spcBef>
                          <a:spcPts val="905"/>
                        </a:spcBef>
                        <a:buFont typeface="Times New Roman"/>
                        <a:buChar char="-"/>
                        <a:tabLst>
                          <a:tab pos="582295" algn="l"/>
                        </a:tabLst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Projects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provide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perfect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opportunities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teachers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to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plan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mini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conferences.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They </a:t>
                      </a:r>
                      <a:r>
                        <a:rPr dirty="0" sz="1200" spc="-3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should provide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structure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for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sharing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of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students’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work.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Font typeface="Times New Roman"/>
                        <a:buChar char="-"/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just" marL="581660" marR="153035" indent="-229235">
                        <a:lnSpc>
                          <a:spcPct val="131700"/>
                        </a:lnSpc>
                        <a:spcBef>
                          <a:spcPts val="919"/>
                        </a:spcBef>
                        <a:buFont typeface="Times New Roman"/>
                        <a:buChar char="-"/>
                        <a:tabLst>
                          <a:tab pos="582295" algn="l"/>
                        </a:tabLst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Classmates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and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students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from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other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classroom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could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invited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to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view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students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presentations,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as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well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as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to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evaluate them.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  <a:buFont typeface="Times New Roman"/>
                        <a:buChar char="-"/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just" marL="581660" marR="148590" indent="-229235">
                        <a:lnSpc>
                          <a:spcPct val="131700"/>
                        </a:lnSpc>
                        <a:buFont typeface="Times New Roman"/>
                        <a:buChar char="-"/>
                        <a:tabLst>
                          <a:tab pos="582295" algn="l"/>
                        </a:tabLst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Carefully</a:t>
                      </a:r>
                      <a:r>
                        <a:rPr dirty="0" sz="12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constructed</a:t>
                      </a:r>
                      <a:r>
                        <a:rPr dirty="0" sz="12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questions</a:t>
                      </a:r>
                      <a:r>
                        <a:rPr dirty="0" sz="12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(lower</a:t>
                      </a:r>
                      <a:r>
                        <a:rPr dirty="0" sz="12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higher</a:t>
                      </a:r>
                      <a:r>
                        <a:rPr dirty="0" sz="12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order)</a:t>
                      </a:r>
                      <a:r>
                        <a:rPr dirty="0" sz="120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could</a:t>
                      </a:r>
                      <a:r>
                        <a:rPr dirty="0" sz="12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provide</a:t>
                      </a:r>
                      <a:r>
                        <a:rPr dirty="0" sz="12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valuable</a:t>
                      </a:r>
                      <a:r>
                        <a:rPr dirty="0" sz="12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learning </a:t>
                      </a:r>
                      <a:r>
                        <a:rPr dirty="0" sz="1200" spc="-3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opportunities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for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students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attending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“projects/conference”.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Font typeface="Times New Roman"/>
                        <a:buChar char="-"/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dirty="0" sz="1400" spc="-5" b="1">
                          <a:latin typeface="Arial"/>
                          <a:cs typeface="Arial"/>
                        </a:rPr>
                        <a:t>Kinds</a:t>
                      </a:r>
                      <a:r>
                        <a:rPr dirty="0" sz="14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4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projects: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just" marL="12382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Projects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simply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classified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under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three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categories. These</a:t>
                      </a:r>
                      <a:r>
                        <a:rPr dirty="0" sz="12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are: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581660" indent="-229870">
                        <a:lnSpc>
                          <a:spcPct val="100000"/>
                        </a:lnSpc>
                        <a:buFont typeface="Times New Roman"/>
                        <a:buChar char="-"/>
                        <a:tabLst>
                          <a:tab pos="581025" algn="l"/>
                          <a:tab pos="582295" algn="l"/>
                        </a:tabLst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Exploratory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Projects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581660" indent="-229870">
                        <a:lnSpc>
                          <a:spcPct val="100000"/>
                        </a:lnSpc>
                        <a:spcBef>
                          <a:spcPts val="815"/>
                        </a:spcBef>
                        <a:buFont typeface="Times New Roman"/>
                        <a:buChar char="-"/>
                        <a:tabLst>
                          <a:tab pos="581025" algn="l"/>
                          <a:tab pos="582295" algn="l"/>
                        </a:tabLst>
                      </a:pPr>
                      <a:r>
                        <a:rPr dirty="0" sz="1200" spc="-5" b="1">
                          <a:latin typeface="Arial"/>
                          <a:cs typeface="Arial"/>
                        </a:rPr>
                        <a:t>Research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Projects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581660" indent="-229870">
                        <a:lnSpc>
                          <a:spcPct val="100000"/>
                        </a:lnSpc>
                        <a:spcBef>
                          <a:spcPts val="805"/>
                        </a:spcBef>
                        <a:buFont typeface="Times New Roman"/>
                        <a:buChar char="-"/>
                        <a:tabLst>
                          <a:tab pos="581025" algn="l"/>
                          <a:tab pos="582295" algn="l"/>
                        </a:tabLst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Product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focused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Projects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algn="just" marL="130175" marR="614045" indent="-6350">
                        <a:lnSpc>
                          <a:spcPct val="144200"/>
                        </a:lnSpc>
                        <a:spcBef>
                          <a:spcPts val="994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Usually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1200" spc="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200" spc="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said</a:t>
                      </a:r>
                      <a:r>
                        <a:rPr dirty="0" sz="120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projects</a:t>
                      </a:r>
                      <a:r>
                        <a:rPr dirty="0" sz="120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20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product</a:t>
                      </a:r>
                      <a:r>
                        <a:rPr dirty="0" sz="120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focused</a:t>
                      </a:r>
                      <a:r>
                        <a:rPr dirty="0" sz="1200" spc="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i.e.</a:t>
                      </a:r>
                      <a:r>
                        <a:rPr dirty="0" sz="120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at</a:t>
                      </a:r>
                      <a:r>
                        <a:rPr dirty="0" sz="120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end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project,</a:t>
                      </a:r>
                      <a:r>
                        <a:rPr dirty="0" sz="120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we</a:t>
                      </a:r>
                      <a:r>
                        <a:rPr dirty="0" sz="120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ultimately </a:t>
                      </a:r>
                      <a:r>
                        <a:rPr dirty="0" sz="1200" spc="-3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get</a:t>
                      </a:r>
                      <a:r>
                        <a:rPr dirty="0" sz="12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product</a:t>
                      </a:r>
                      <a:r>
                        <a:rPr dirty="0" sz="12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1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product</a:t>
                      </a:r>
                      <a:r>
                        <a:rPr dirty="0" sz="1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which</a:t>
                      </a:r>
                      <a:r>
                        <a:rPr dirty="0" sz="12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2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used</a:t>
                      </a:r>
                      <a:r>
                        <a:rPr dirty="0" sz="12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2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some</a:t>
                      </a:r>
                      <a:r>
                        <a:rPr dirty="0" sz="12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people.</a:t>
                      </a:r>
                      <a:r>
                        <a:rPr dirty="0" sz="1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But</a:t>
                      </a:r>
                      <a:r>
                        <a:rPr dirty="0" sz="1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actually,</a:t>
                      </a:r>
                      <a:r>
                        <a:rPr dirty="0" sz="12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projects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are</a:t>
                      </a:r>
                      <a:r>
                        <a:rPr dirty="0" sz="12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not</a:t>
                      </a:r>
                      <a:r>
                        <a:rPr dirty="0" sz="120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limited</a:t>
                      </a:r>
                      <a:r>
                        <a:rPr dirty="0" sz="12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product.</a:t>
                      </a:r>
                      <a:r>
                        <a:rPr dirty="0" sz="12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They</a:t>
                      </a:r>
                      <a:r>
                        <a:rPr dirty="0" sz="120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20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20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exploratory</a:t>
                      </a:r>
                      <a:r>
                        <a:rPr dirty="0" sz="1200" spc="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projects</a:t>
                      </a:r>
                      <a:r>
                        <a:rPr dirty="0" sz="120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120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research</a:t>
                      </a:r>
                      <a:r>
                        <a:rPr dirty="0" sz="120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projects.</a:t>
                      </a:r>
                      <a:r>
                        <a:rPr dirty="0" sz="120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Whichever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r" marR="173355">
                        <a:lnSpc>
                          <a:spcPct val="100000"/>
                        </a:lnSpc>
                        <a:tabLst>
                          <a:tab pos="1395730" algn="l"/>
                        </a:tabLst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MUHAMMAD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 IMRAN	</a:t>
                      </a:r>
                      <a:r>
                        <a:rPr dirty="0" sz="1100" spc="-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76200">
                      <a:solidFill>
                        <a:srgbClr val="C00000"/>
                      </a:solidFill>
                      <a:prstDash val="solid"/>
                    </a:lnL>
                    <a:lnR w="38100">
                      <a:solidFill>
                        <a:srgbClr val="C00000"/>
                      </a:solidFill>
                      <a:prstDash val="solid"/>
                    </a:lnR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575563"/>
            <a:ext cx="6849745" cy="438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461009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project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be,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either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exploratory,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 spc="1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highly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valuable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Example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of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food</a:t>
            </a:r>
            <a:r>
              <a:rPr dirty="0" sz="1400" b="1">
                <a:latin typeface="Arial"/>
                <a:cs typeface="Arial"/>
              </a:rPr>
              <a:t> –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Project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Arial"/>
              <a:cs typeface="Arial"/>
            </a:endParaRPr>
          </a:p>
          <a:p>
            <a:pPr marL="469900" marR="5080" indent="-229235">
              <a:lnSpc>
                <a:spcPct val="143300"/>
              </a:lnSpc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You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have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learnt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how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cook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different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foods,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now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explore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foods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different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regions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Pakistan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plan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food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carnival.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-"/>
            </a:pPr>
            <a:endParaRPr sz="135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Projects: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Possible projects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given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 areas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follows:</a:t>
            </a:r>
            <a:endParaRPr sz="12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79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Adventure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projects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last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weeks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Making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cookbook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Making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cookbook</a:t>
            </a:r>
            <a:r>
              <a:rPr dirty="0" sz="1200" spc="-5" b="1">
                <a:latin typeface="Arial"/>
                <a:cs typeface="Arial"/>
              </a:rPr>
              <a:t> for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diabetics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Making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science/Geography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Math </a:t>
            </a:r>
            <a:r>
              <a:rPr dirty="0" sz="1200" b="1">
                <a:latin typeface="Arial"/>
                <a:cs typeface="Arial"/>
              </a:rPr>
              <a:t>Room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2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Establishing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language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lab</a:t>
            </a:r>
            <a:endParaRPr sz="1200">
              <a:latin typeface="Arial"/>
              <a:cs typeface="Arial"/>
            </a:endParaRPr>
          </a:p>
          <a:p>
            <a:pPr marL="239395" marR="121285" indent="-6350">
              <a:lnSpc>
                <a:spcPct val="144200"/>
              </a:lnSpc>
              <a:spcBef>
                <a:spcPts val="995"/>
              </a:spcBef>
            </a:pP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these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projects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product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focused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ultimate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product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users/people.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5420458"/>
            <a:ext cx="6390005" cy="608838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just" marL="233679">
              <a:lnSpc>
                <a:spcPct val="100000"/>
              </a:lnSpc>
              <a:spcBef>
                <a:spcPts val="745"/>
              </a:spcBef>
            </a:pPr>
            <a:r>
              <a:rPr dirty="0" sz="1400" spc="-5" b="1">
                <a:latin typeface="Arial"/>
                <a:cs typeface="Arial"/>
              </a:rPr>
              <a:t>Exploratory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projects:</a:t>
            </a:r>
            <a:endParaRPr sz="1400">
              <a:latin typeface="Arial"/>
              <a:cs typeface="Arial"/>
            </a:endParaRPr>
          </a:p>
          <a:p>
            <a:pPr algn="just" marL="239395" marR="5080" indent="-6350">
              <a:lnSpc>
                <a:spcPts val="2080"/>
              </a:lnSpc>
              <a:spcBef>
                <a:spcPts val="80"/>
              </a:spcBef>
            </a:pPr>
            <a:r>
              <a:rPr dirty="0" sz="1200" spc="-5">
                <a:latin typeface="Arial MT"/>
                <a:cs typeface="Arial MT"/>
              </a:rPr>
              <a:t>Exploratory projects are those where children explore something. E.g. Adventure projects, </a:t>
            </a:r>
            <a:r>
              <a:rPr dirty="0" sz="1200">
                <a:latin typeface="Arial MT"/>
                <a:cs typeface="Arial MT"/>
              </a:rPr>
              <a:t> they </a:t>
            </a:r>
            <a:r>
              <a:rPr dirty="0" sz="1200" spc="-5">
                <a:latin typeface="Arial MT"/>
                <a:cs typeface="Arial MT"/>
              </a:rPr>
              <a:t>may last </a:t>
            </a:r>
            <a:r>
              <a:rPr dirty="0" sz="1200">
                <a:latin typeface="Arial MT"/>
                <a:cs typeface="Arial MT"/>
              </a:rPr>
              <a:t>for a </a:t>
            </a:r>
            <a:r>
              <a:rPr dirty="0" sz="1200" spc="-5">
                <a:latin typeface="Arial MT"/>
                <a:cs typeface="Arial MT"/>
              </a:rPr>
              <a:t>week </a:t>
            </a:r>
            <a:r>
              <a:rPr dirty="0" sz="120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more than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week. Girl guide and </a:t>
            </a:r>
            <a:r>
              <a:rPr dirty="0" sz="1200">
                <a:latin typeface="Arial MT"/>
                <a:cs typeface="Arial MT"/>
              </a:rPr>
              <a:t>scouts’ projects are </a:t>
            </a:r>
            <a:r>
              <a:rPr dirty="0" sz="1200" spc="-5">
                <a:latin typeface="Arial MT"/>
                <a:cs typeface="Arial MT"/>
              </a:rPr>
              <a:t>all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adventure projects.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 may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visit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explore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endParaRPr sz="1200">
              <a:latin typeface="Arial MT"/>
              <a:cs typeface="Arial MT"/>
            </a:endParaRPr>
          </a:p>
          <a:p>
            <a:pPr algn="just" marL="239395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report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adventure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project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useful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others.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So,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whenever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send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endParaRPr sz="1200">
              <a:latin typeface="Arial MT"/>
              <a:cs typeface="Arial MT"/>
            </a:endParaRPr>
          </a:p>
          <a:p>
            <a:pPr algn="just" marL="239395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trips, ask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reports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end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project.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algn="just" marL="233679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Research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Projects:</a:t>
            </a:r>
            <a:endParaRPr sz="1400">
              <a:latin typeface="Arial"/>
              <a:cs typeface="Arial"/>
            </a:endParaRPr>
          </a:p>
          <a:p>
            <a:pPr marL="239395" marR="6350" indent="-6350">
              <a:lnSpc>
                <a:spcPts val="2060"/>
              </a:lnSpc>
              <a:spcBef>
                <a:spcPts val="110"/>
              </a:spcBef>
            </a:pPr>
            <a:r>
              <a:rPr dirty="0" sz="1200">
                <a:latin typeface="Arial MT"/>
                <a:cs typeface="Arial MT"/>
              </a:rPr>
              <a:t>Scientific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often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research.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research,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you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raise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try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whose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answers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there.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ask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endParaRPr sz="1200">
              <a:latin typeface="Arial MT"/>
              <a:cs typeface="Arial MT"/>
            </a:endParaRPr>
          </a:p>
          <a:p>
            <a:pPr marL="239395" marR="9525">
              <a:lnSpc>
                <a:spcPts val="208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conduct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researches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lower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levels.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findings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researches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outcome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 by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10">
                <a:latin typeface="Arial MT"/>
                <a:cs typeface="Arial MT"/>
              </a:rPr>
              <a:t>young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can</a:t>
            </a:r>
            <a:r>
              <a:rPr dirty="0" sz="1200" spc="-5">
                <a:latin typeface="Arial MT"/>
                <a:cs typeface="Arial MT"/>
              </a:rPr>
              <a:t> be: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00"/>
              </a:spcBef>
              <a:buFont typeface="Times New Roman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study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phenomenon.</a:t>
            </a:r>
            <a:endParaRPr sz="1200">
              <a:latin typeface="Arial MT"/>
              <a:cs typeface="Arial MT"/>
            </a:endParaRPr>
          </a:p>
          <a:p>
            <a:pPr algn="just" marL="46228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record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all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activities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 week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assembly?</a:t>
            </a:r>
            <a:endParaRPr sz="1200">
              <a:latin typeface="Arial MT"/>
              <a:cs typeface="Arial MT"/>
            </a:endParaRPr>
          </a:p>
          <a:p>
            <a:pPr algn="just" marL="18415" marR="10160" indent="-6350">
              <a:lnSpc>
                <a:spcPct val="144200"/>
              </a:lnSpc>
              <a:spcBef>
                <a:spcPts val="1010"/>
              </a:spcBef>
            </a:pPr>
            <a:r>
              <a:rPr dirty="0" sz="1200" spc="-5">
                <a:latin typeface="Arial MT"/>
                <a:cs typeface="Arial MT"/>
              </a:rPr>
              <a:t>Any inquiry </a:t>
            </a:r>
            <a:r>
              <a:rPr dirty="0" sz="1200">
                <a:latin typeface="Arial MT"/>
                <a:cs typeface="Arial MT"/>
              </a:rPr>
              <a:t>task </a:t>
            </a:r>
            <a:r>
              <a:rPr dirty="0" sz="1200" spc="-10">
                <a:latin typeface="Arial MT"/>
                <a:cs typeface="Arial MT"/>
              </a:rPr>
              <a:t>can be </a:t>
            </a:r>
            <a:r>
              <a:rPr dirty="0" sz="1200" spc="-5">
                <a:latin typeface="Arial MT"/>
                <a:cs typeface="Arial MT"/>
              </a:rPr>
              <a:t>given to the students. Teachers can make them learn the application 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scientific </a:t>
            </a:r>
            <a:r>
              <a:rPr dirty="0" sz="1200" spc="-5">
                <a:latin typeface="Arial MT"/>
                <a:cs typeface="Arial MT"/>
              </a:rPr>
              <a:t>method. Teachers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ask the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apply scientific method to carry out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 research projects. And definitely </a:t>
            </a:r>
            <a:r>
              <a:rPr dirty="0" sz="1200">
                <a:latin typeface="Arial MT"/>
                <a:cs typeface="Arial MT"/>
              </a:rPr>
              <a:t>when they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working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a research </a:t>
            </a:r>
            <a:r>
              <a:rPr dirty="0" sz="1200">
                <a:latin typeface="Arial MT"/>
                <a:cs typeface="Arial MT"/>
              </a:rPr>
              <a:t>project,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critical</a:t>
            </a:r>
            <a:r>
              <a:rPr dirty="0" sz="1200">
                <a:latin typeface="Arial MT"/>
                <a:cs typeface="Arial MT"/>
              </a:rPr>
              <a:t> thinking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abilities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dirty="0" sz="1400" b="1">
                <a:latin typeface="Arial"/>
                <a:cs typeface="Arial"/>
              </a:rPr>
              <a:t>Comments: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Teacher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role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project-based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learning: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575563"/>
            <a:ext cx="6390005" cy="2399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Project-based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possible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support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giving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sufficient guidance </a:t>
            </a:r>
            <a:r>
              <a:rPr dirty="0" sz="1200" spc="-10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feedback. The teacher must thoroughly explain all tasks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completed, provide detailed directions for how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develop the project, and circulate within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order to answer questions and encourage student motivation.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order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create </a:t>
            </a:r>
            <a:r>
              <a:rPr dirty="0" sz="1200">
                <a:latin typeface="Arial MT"/>
                <a:cs typeface="Arial MT"/>
              </a:rPr>
              <a:t> successful </a:t>
            </a:r>
            <a:r>
              <a:rPr dirty="0" sz="1200" spc="-5">
                <a:latin typeface="Arial MT"/>
                <a:cs typeface="Arial MT"/>
              </a:rPr>
              <a:t>units focused on project-based learning, teachers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plan well and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>
                <a:latin typeface="Arial MT"/>
                <a:cs typeface="Arial MT"/>
              </a:rPr>
              <a:t>flexible.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 this </a:t>
            </a:r>
            <a:r>
              <a:rPr dirty="0" sz="1200" spc="-5">
                <a:latin typeface="Arial MT"/>
                <a:cs typeface="Arial MT"/>
              </a:rPr>
              <a:t>approach to instruction, teachers often find themselves in the </a:t>
            </a:r>
            <a:r>
              <a:rPr dirty="0" sz="1200" spc="-10">
                <a:latin typeface="Arial MT"/>
                <a:cs typeface="Arial MT"/>
              </a:rPr>
              <a:t>role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learner and peer with 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project-based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combination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tests,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checklists, and rubrics; </a:t>
            </a:r>
            <a:r>
              <a:rPr dirty="0" sz="1200">
                <a:latin typeface="Arial MT"/>
                <a:cs typeface="Arial MT"/>
              </a:rPr>
              <a:t>however, </a:t>
            </a:r>
            <a:r>
              <a:rPr dirty="0" sz="1200" spc="-5">
                <a:latin typeface="Arial MT"/>
                <a:cs typeface="Arial MT"/>
              </a:rPr>
              <a:t>these often </a:t>
            </a:r>
            <a:r>
              <a:rPr dirty="0" sz="1200">
                <a:latin typeface="Arial MT"/>
                <a:cs typeface="Arial MT"/>
              </a:rPr>
              <a:t>only measure task </a:t>
            </a:r>
            <a:r>
              <a:rPr dirty="0" sz="1200" spc="-5">
                <a:latin typeface="Arial MT"/>
                <a:cs typeface="Arial MT"/>
              </a:rPr>
              <a:t>completion.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inclusion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component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self-evaluation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400" y="3780789"/>
            <a:ext cx="6468745" cy="1983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508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Student role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</a:t>
            </a:r>
            <a:r>
              <a:rPr dirty="0" sz="1400" spc="-5" b="1">
                <a:latin typeface="Arial"/>
                <a:cs typeface="Arial"/>
              </a:rPr>
              <a:t> project-based learning:</a:t>
            </a:r>
            <a:endParaRPr sz="1400">
              <a:latin typeface="Arial"/>
              <a:cs typeface="Arial"/>
            </a:endParaRPr>
          </a:p>
          <a:p>
            <a:pPr algn="just" marL="56515" marR="43180" indent="-6350">
              <a:lnSpc>
                <a:spcPct val="144200"/>
              </a:lnSpc>
              <a:spcBef>
                <a:spcPts val="1105"/>
              </a:spcBef>
            </a:pP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generally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small,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collaborative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project-based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model.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sources,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conduct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hold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each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responsible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completion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Essentially,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“self-managers” 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approach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instruction.</a:t>
            </a:r>
            <a:r>
              <a:rPr dirty="0" u="sng" baseline="27777" sz="1200" spc="-7">
                <a:solidFill>
                  <a:srgbClr val="774477"/>
                </a:solidFill>
                <a:uFill>
                  <a:solidFill>
                    <a:srgbClr val="774477"/>
                  </a:solidFill>
                </a:uFill>
                <a:latin typeface="Arial MT"/>
                <a:cs typeface="Arial MT"/>
              </a:rPr>
              <a:t>6</a:t>
            </a:r>
            <a:endParaRPr baseline="27777" sz="1200">
              <a:latin typeface="Arial MT"/>
              <a:cs typeface="Arial MT"/>
            </a:endParaRPr>
          </a:p>
          <a:p>
            <a:pPr algn="just" marL="50800" marR="50800" indent="304800">
              <a:lnSpc>
                <a:spcPct val="144200"/>
              </a:lnSpc>
              <a:spcBef>
                <a:spcPts val="170"/>
              </a:spcBef>
            </a:pPr>
            <a:r>
              <a:rPr dirty="0" sz="1200">
                <a:latin typeface="Arial MT"/>
                <a:cs typeface="Arial MT"/>
              </a:rPr>
              <a:t>Results of </a:t>
            </a:r>
            <a:r>
              <a:rPr dirty="0" sz="1200" spc="-5">
                <a:latin typeface="Arial MT"/>
                <a:cs typeface="Arial MT"/>
              </a:rPr>
              <a:t>project-based learning research are mixed. Some studies suggest that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engaging instructional approach, but numerous </a:t>
            </a:r>
            <a:r>
              <a:rPr dirty="0" sz="1200">
                <a:latin typeface="Arial MT"/>
                <a:cs typeface="Arial MT"/>
              </a:rPr>
              <a:t>studies </a:t>
            </a:r>
            <a:r>
              <a:rPr dirty="0" sz="1200" spc="-5">
                <a:latin typeface="Arial MT"/>
                <a:cs typeface="Arial MT"/>
              </a:rPr>
              <a:t>have also claimed that students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type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learning, 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it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places</a:t>
            </a:r>
            <a:r>
              <a:rPr dirty="0" sz="1200" spc="-5">
                <a:latin typeface="Arial MT"/>
                <a:cs typeface="Arial MT"/>
              </a:rPr>
              <a:t> 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great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amount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stress</a:t>
            </a:r>
            <a:r>
              <a:rPr dirty="0" sz="1200" spc="-5">
                <a:latin typeface="Arial MT"/>
                <a:cs typeface="Arial MT"/>
              </a:rPr>
              <a:t> 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5572" y="5848223"/>
            <a:ext cx="6506209" cy="315595"/>
          </a:xfrm>
          <a:prstGeom prst="rect">
            <a:avLst/>
          </a:prstGeom>
          <a:solidFill>
            <a:srgbClr val="006FC0"/>
          </a:solidFill>
          <a:ln w="6096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Lecture # 39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“Discussion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 Method”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0" y="6365875"/>
            <a:ext cx="3938904" cy="2301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Lecture</a:t>
            </a:r>
            <a:r>
              <a:rPr dirty="0" u="heavy" sz="120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Content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Overview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8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Wait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4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conducting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8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Types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8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Managing classroom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4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Assessment</a:t>
            </a:r>
            <a:r>
              <a:rPr dirty="0" sz="1200">
                <a:latin typeface="Arial MT"/>
                <a:cs typeface="Arial MT"/>
              </a:rPr>
              <a:t> &amp;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7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Syntax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 discussion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9104757"/>
            <a:ext cx="6849745" cy="2720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5" b="1">
                <a:latin typeface="Arial"/>
                <a:cs typeface="Arial"/>
              </a:rPr>
              <a:t> Discussion?</a:t>
            </a:r>
            <a:endParaRPr sz="1200">
              <a:latin typeface="Arial"/>
              <a:cs typeface="Arial"/>
            </a:endParaRPr>
          </a:p>
          <a:p>
            <a:pPr algn="just" marL="18415" marR="466725" indent="-6350">
              <a:lnSpc>
                <a:spcPct val="144200"/>
              </a:lnSpc>
              <a:spcBef>
                <a:spcPts val="960"/>
              </a:spcBef>
            </a:pPr>
            <a:r>
              <a:rPr dirty="0" sz="1200" spc="-5">
                <a:latin typeface="Arial MT"/>
                <a:cs typeface="Arial MT"/>
              </a:rPr>
              <a:t>The word discussion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often used with the word discourse.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will see </a:t>
            </a:r>
            <a:r>
              <a:rPr dirty="0" sz="1200">
                <a:latin typeface="Arial MT"/>
                <a:cs typeface="Arial MT"/>
              </a:rPr>
              <a:t>its dictionary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meanings, they both are </a:t>
            </a:r>
            <a:r>
              <a:rPr dirty="0" sz="1200">
                <a:latin typeface="Arial MT"/>
                <a:cs typeface="Arial MT"/>
              </a:rPr>
              <a:t>considered </a:t>
            </a:r>
            <a:r>
              <a:rPr dirty="0" sz="1200" spc="-5">
                <a:latin typeface="Arial MT"/>
                <a:cs typeface="Arial MT"/>
              </a:rPr>
              <a:t>as ways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exchanging ideas.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10">
                <a:latin typeface="Arial MT"/>
                <a:cs typeface="Arial MT"/>
              </a:rPr>
              <a:t>these </a:t>
            </a:r>
            <a:r>
              <a:rPr dirty="0" sz="1200" spc="-5">
                <a:latin typeface="Arial MT"/>
                <a:cs typeface="Arial MT"/>
              </a:rPr>
              <a:t>both </a:t>
            </a:r>
            <a:r>
              <a:rPr dirty="0" sz="1200">
                <a:latin typeface="Arial MT"/>
                <a:cs typeface="Arial MT"/>
              </a:rPr>
              <a:t>terms </a:t>
            </a:r>
            <a:r>
              <a:rPr dirty="0" sz="1200" spc="-5">
                <a:latin typeface="Arial MT"/>
                <a:cs typeface="Arial MT"/>
              </a:rPr>
              <a:t>are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quite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Discussion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–</a:t>
            </a:r>
            <a:r>
              <a:rPr dirty="0" sz="1200" spc="-5" b="1">
                <a:latin typeface="Arial"/>
                <a:cs typeface="Arial"/>
              </a:rPr>
              <a:t> Key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Term</a:t>
            </a:r>
            <a:endParaRPr sz="1200">
              <a:latin typeface="Arial"/>
              <a:cs typeface="Arial"/>
            </a:endParaRPr>
          </a:p>
          <a:p>
            <a:pPr marL="462280" marR="5715" indent="-229235">
              <a:lnSpc>
                <a:spcPct val="144200"/>
              </a:lnSpc>
              <a:spcBef>
                <a:spcPts val="1165"/>
              </a:spcBef>
              <a:buFont typeface="Calibri"/>
              <a:buChar char="-"/>
              <a:tabLst>
                <a:tab pos="462280" algn="l"/>
                <a:tab pos="462915" algn="l"/>
                <a:tab pos="1366520" algn="l"/>
              </a:tabLst>
            </a:pPr>
            <a:r>
              <a:rPr dirty="0" sz="1200" spc="-5">
                <a:latin typeface="Arial MT"/>
                <a:cs typeface="Arial MT"/>
              </a:rPr>
              <a:t>Discourse	The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larger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patterns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verbal</a:t>
            </a:r>
            <a:r>
              <a:rPr dirty="0" sz="1200" spc="2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exchange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communication</a:t>
            </a:r>
            <a:r>
              <a:rPr dirty="0" sz="1200" spc="2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occur</a:t>
            </a:r>
            <a:r>
              <a:rPr dirty="0" sz="1200" spc="2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2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classrooms.</a:t>
            </a:r>
            <a:endParaRPr sz="1200">
              <a:latin typeface="Arial MT"/>
              <a:cs typeface="Arial MT"/>
            </a:endParaRPr>
          </a:p>
          <a:p>
            <a:pPr marL="462280" marR="5080" indent="-229235">
              <a:lnSpc>
                <a:spcPct val="144100"/>
              </a:lnSpc>
              <a:spcBef>
                <a:spcPts val="3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relies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verbal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exchange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65480" y="561847"/>
            <a:ext cx="5969635" cy="58674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65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Researchers</a:t>
            </a:r>
            <a:r>
              <a:rPr dirty="0" sz="1200" spc="-5">
                <a:latin typeface="Arial MT"/>
                <a:cs typeface="Arial MT"/>
              </a:rPr>
              <a:t> usually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talk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discourse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usually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talk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discussion.</a:t>
            </a:r>
            <a:endParaRPr sz="1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Discourse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overall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pattern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exchange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2552445"/>
            <a:ext cx="6852284" cy="1927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Overview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Discussion</a:t>
            </a:r>
            <a:endParaRPr sz="1200">
              <a:latin typeface="Arial"/>
              <a:cs typeface="Arial"/>
            </a:endParaRPr>
          </a:p>
          <a:p>
            <a:pPr algn="just" marL="462280" marR="5080" indent="-229235">
              <a:lnSpc>
                <a:spcPct val="144200"/>
              </a:lnSpc>
              <a:spcBef>
                <a:spcPts val="1040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When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refer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discussions,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characterize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talking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academic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willingly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displaying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publicly.</a:t>
            </a:r>
            <a:endParaRPr sz="1200">
              <a:latin typeface="Arial MT"/>
              <a:cs typeface="Arial MT"/>
            </a:endParaRPr>
          </a:p>
          <a:p>
            <a:pPr algn="just" marL="462280" marR="8255" indent="-229235">
              <a:lnSpc>
                <a:spcPct val="144300"/>
              </a:lnSpc>
              <a:spcBef>
                <a:spcPts val="3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The primary instructional goals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discussion lesson are to improve student thinking,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promote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engagement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-5">
                <a:latin typeface="Arial MT"/>
                <a:cs typeface="Arial MT"/>
              </a:rPr>
              <a:t> academic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learn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communication 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4930267"/>
            <a:ext cx="17938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Theoretical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Foundations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0" y="10371582"/>
            <a:ext cx="2379980" cy="595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Theoretical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Foundations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Every</a:t>
            </a:r>
            <a:r>
              <a:rPr dirty="0" sz="1200" spc="-5">
                <a:latin typeface="Arial MT"/>
                <a:cs typeface="Arial MT"/>
              </a:rPr>
              <a:t> theory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based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 research.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747517" y="6642354"/>
            <a:ext cx="986155" cy="986155"/>
            <a:chOff x="2747517" y="6642354"/>
            <a:chExt cx="986155" cy="986155"/>
          </a:xfrm>
        </p:grpSpPr>
        <p:sp>
          <p:nvSpPr>
            <p:cNvPr id="8" name="object 8"/>
            <p:cNvSpPr/>
            <p:nvPr/>
          </p:nvSpPr>
          <p:spPr>
            <a:xfrm>
              <a:off x="2759709" y="6656070"/>
              <a:ext cx="960119" cy="960119"/>
            </a:xfrm>
            <a:custGeom>
              <a:avLst/>
              <a:gdLst/>
              <a:ahLst/>
              <a:cxnLst/>
              <a:rect l="l" t="t" r="r" b="b"/>
              <a:pathLst>
                <a:path w="960120" h="960120">
                  <a:moveTo>
                    <a:pt x="799973" y="0"/>
                  </a:moveTo>
                  <a:lnTo>
                    <a:pt x="160019" y="0"/>
                  </a:lnTo>
                  <a:lnTo>
                    <a:pt x="109435" y="8156"/>
                  </a:lnTo>
                  <a:lnTo>
                    <a:pt x="65507" y="30870"/>
                  </a:lnTo>
                  <a:lnTo>
                    <a:pt x="30870" y="65507"/>
                  </a:lnTo>
                  <a:lnTo>
                    <a:pt x="8156" y="109435"/>
                  </a:lnTo>
                  <a:lnTo>
                    <a:pt x="0" y="160019"/>
                  </a:lnTo>
                  <a:lnTo>
                    <a:pt x="0" y="800100"/>
                  </a:lnTo>
                  <a:lnTo>
                    <a:pt x="8156" y="850684"/>
                  </a:lnTo>
                  <a:lnTo>
                    <a:pt x="30870" y="894612"/>
                  </a:lnTo>
                  <a:lnTo>
                    <a:pt x="65507" y="929249"/>
                  </a:lnTo>
                  <a:lnTo>
                    <a:pt x="109435" y="951963"/>
                  </a:lnTo>
                  <a:lnTo>
                    <a:pt x="160019" y="960119"/>
                  </a:lnTo>
                  <a:lnTo>
                    <a:pt x="799973" y="960119"/>
                  </a:lnTo>
                  <a:lnTo>
                    <a:pt x="850557" y="951963"/>
                  </a:lnTo>
                  <a:lnTo>
                    <a:pt x="894485" y="929249"/>
                  </a:lnTo>
                  <a:lnTo>
                    <a:pt x="929122" y="894612"/>
                  </a:lnTo>
                  <a:lnTo>
                    <a:pt x="951836" y="850684"/>
                  </a:lnTo>
                  <a:lnTo>
                    <a:pt x="959992" y="800100"/>
                  </a:lnTo>
                  <a:lnTo>
                    <a:pt x="959992" y="160019"/>
                  </a:lnTo>
                  <a:lnTo>
                    <a:pt x="951836" y="109435"/>
                  </a:lnTo>
                  <a:lnTo>
                    <a:pt x="929122" y="65507"/>
                  </a:lnTo>
                  <a:lnTo>
                    <a:pt x="894485" y="30870"/>
                  </a:lnTo>
                  <a:lnTo>
                    <a:pt x="850557" y="8156"/>
                  </a:lnTo>
                  <a:lnTo>
                    <a:pt x="79997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747518" y="6642353"/>
              <a:ext cx="986155" cy="986155"/>
            </a:xfrm>
            <a:custGeom>
              <a:avLst/>
              <a:gdLst/>
              <a:ahLst/>
              <a:cxnLst/>
              <a:rect l="l" t="t" r="r" b="b"/>
              <a:pathLst>
                <a:path w="986154" h="986154">
                  <a:moveTo>
                    <a:pt x="985901" y="172212"/>
                  </a:moveTo>
                  <a:lnTo>
                    <a:pt x="976757" y="120396"/>
                  </a:lnTo>
                  <a:lnTo>
                    <a:pt x="959993" y="83058"/>
                  </a:lnTo>
                  <a:lnTo>
                    <a:pt x="959993" y="173736"/>
                  </a:lnTo>
                  <a:lnTo>
                    <a:pt x="959993" y="813816"/>
                  </a:lnTo>
                  <a:lnTo>
                    <a:pt x="952373" y="858012"/>
                  </a:lnTo>
                  <a:lnTo>
                    <a:pt x="934085" y="896112"/>
                  </a:lnTo>
                  <a:lnTo>
                    <a:pt x="894461" y="935736"/>
                  </a:lnTo>
                  <a:lnTo>
                    <a:pt x="856361" y="954024"/>
                  </a:lnTo>
                  <a:lnTo>
                    <a:pt x="841121" y="957072"/>
                  </a:lnTo>
                  <a:lnTo>
                    <a:pt x="827405" y="960120"/>
                  </a:lnTo>
                  <a:lnTo>
                    <a:pt x="492887" y="960120"/>
                  </a:lnTo>
                  <a:lnTo>
                    <a:pt x="156972" y="960120"/>
                  </a:lnTo>
                  <a:lnTo>
                    <a:pt x="141732" y="957072"/>
                  </a:lnTo>
                  <a:lnTo>
                    <a:pt x="128016" y="954024"/>
                  </a:lnTo>
                  <a:lnTo>
                    <a:pt x="114300" y="949452"/>
                  </a:lnTo>
                  <a:lnTo>
                    <a:pt x="102108" y="941832"/>
                  </a:lnTo>
                  <a:lnTo>
                    <a:pt x="89916" y="935736"/>
                  </a:lnTo>
                  <a:lnTo>
                    <a:pt x="57912" y="906780"/>
                  </a:lnTo>
                  <a:lnTo>
                    <a:pt x="36576" y="870204"/>
                  </a:lnTo>
                  <a:lnTo>
                    <a:pt x="25908" y="827532"/>
                  </a:lnTo>
                  <a:lnTo>
                    <a:pt x="25908" y="156972"/>
                  </a:lnTo>
                  <a:lnTo>
                    <a:pt x="28956" y="143256"/>
                  </a:lnTo>
                  <a:lnTo>
                    <a:pt x="32004" y="128016"/>
                  </a:lnTo>
                  <a:lnTo>
                    <a:pt x="50292" y="89916"/>
                  </a:lnTo>
                  <a:lnTo>
                    <a:pt x="79248" y="59436"/>
                  </a:lnTo>
                  <a:lnTo>
                    <a:pt x="115824" y="36576"/>
                  </a:lnTo>
                  <a:lnTo>
                    <a:pt x="158496" y="25908"/>
                  </a:lnTo>
                  <a:lnTo>
                    <a:pt x="492887" y="25908"/>
                  </a:lnTo>
                  <a:lnTo>
                    <a:pt x="828929" y="25908"/>
                  </a:lnTo>
                  <a:lnTo>
                    <a:pt x="883793" y="44196"/>
                  </a:lnTo>
                  <a:lnTo>
                    <a:pt x="926465" y="79248"/>
                  </a:lnTo>
                  <a:lnTo>
                    <a:pt x="947801" y="115824"/>
                  </a:lnTo>
                  <a:lnTo>
                    <a:pt x="959993" y="173736"/>
                  </a:lnTo>
                  <a:lnTo>
                    <a:pt x="959993" y="83058"/>
                  </a:lnTo>
                  <a:lnTo>
                    <a:pt x="934085" y="50292"/>
                  </a:lnTo>
                  <a:lnTo>
                    <a:pt x="894461" y="21336"/>
                  </a:lnTo>
                  <a:lnTo>
                    <a:pt x="847217" y="3048"/>
                  </a:lnTo>
                  <a:lnTo>
                    <a:pt x="812165" y="0"/>
                  </a:lnTo>
                  <a:lnTo>
                    <a:pt x="492887" y="0"/>
                  </a:lnTo>
                  <a:lnTo>
                    <a:pt x="172212" y="0"/>
                  </a:lnTo>
                  <a:lnTo>
                    <a:pt x="120396" y="9144"/>
                  </a:lnTo>
                  <a:lnTo>
                    <a:pt x="62484" y="39624"/>
                  </a:lnTo>
                  <a:lnTo>
                    <a:pt x="28956" y="77724"/>
                  </a:lnTo>
                  <a:lnTo>
                    <a:pt x="7620" y="121920"/>
                  </a:lnTo>
                  <a:lnTo>
                    <a:pt x="0" y="155448"/>
                  </a:lnTo>
                  <a:lnTo>
                    <a:pt x="0" y="813816"/>
                  </a:lnTo>
                  <a:lnTo>
                    <a:pt x="7620" y="865632"/>
                  </a:lnTo>
                  <a:lnTo>
                    <a:pt x="28956" y="909828"/>
                  </a:lnTo>
                  <a:lnTo>
                    <a:pt x="62484" y="946404"/>
                  </a:lnTo>
                  <a:lnTo>
                    <a:pt x="91440" y="964692"/>
                  </a:lnTo>
                  <a:lnTo>
                    <a:pt x="105156" y="972312"/>
                  </a:lnTo>
                  <a:lnTo>
                    <a:pt x="121920" y="978408"/>
                  </a:lnTo>
                  <a:lnTo>
                    <a:pt x="138684" y="982980"/>
                  </a:lnTo>
                  <a:lnTo>
                    <a:pt x="172212" y="986028"/>
                  </a:lnTo>
                  <a:lnTo>
                    <a:pt x="492887" y="986028"/>
                  </a:lnTo>
                  <a:lnTo>
                    <a:pt x="813689" y="986028"/>
                  </a:lnTo>
                  <a:lnTo>
                    <a:pt x="863981" y="978408"/>
                  </a:lnTo>
                  <a:lnTo>
                    <a:pt x="923417" y="946404"/>
                  </a:lnTo>
                  <a:lnTo>
                    <a:pt x="955421" y="909828"/>
                  </a:lnTo>
                  <a:lnTo>
                    <a:pt x="978281" y="864108"/>
                  </a:lnTo>
                  <a:lnTo>
                    <a:pt x="985901" y="813816"/>
                  </a:lnTo>
                  <a:lnTo>
                    <a:pt x="985901" y="1722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848482" y="6945248"/>
            <a:ext cx="781050" cy="43497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 marR="5080" indent="2540">
              <a:lnSpc>
                <a:spcPts val="1540"/>
              </a:lnSpc>
              <a:spcBef>
                <a:spcPts val="270"/>
              </a:spcBef>
            </a:pP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oom  Di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cu</a:t>
            </a: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400" spc="-1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87498" y="5325745"/>
            <a:ext cx="1304925" cy="1330325"/>
            <a:chOff x="2587498" y="5325745"/>
            <a:chExt cx="1304925" cy="1330325"/>
          </a:xfrm>
        </p:grpSpPr>
        <p:sp>
          <p:nvSpPr>
            <p:cNvPr id="12" name="object 12"/>
            <p:cNvSpPr/>
            <p:nvPr/>
          </p:nvSpPr>
          <p:spPr>
            <a:xfrm>
              <a:off x="3227451" y="5982462"/>
              <a:ext cx="24765" cy="673735"/>
            </a:xfrm>
            <a:custGeom>
              <a:avLst/>
              <a:gdLst/>
              <a:ahLst/>
              <a:cxnLst/>
              <a:rect l="l" t="t" r="r" b="b"/>
              <a:pathLst>
                <a:path w="24764" h="673734">
                  <a:moveTo>
                    <a:pt x="24384" y="0"/>
                  </a:moveTo>
                  <a:lnTo>
                    <a:pt x="0" y="0"/>
                  </a:lnTo>
                  <a:lnTo>
                    <a:pt x="0" y="673608"/>
                  </a:lnTo>
                  <a:lnTo>
                    <a:pt x="24384" y="673608"/>
                  </a:lnTo>
                  <a:lnTo>
                    <a:pt x="24384" y="0"/>
                  </a:lnTo>
                  <a:close/>
                </a:path>
              </a:pathLst>
            </a:custGeom>
            <a:solidFill>
              <a:srgbClr val="3C66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601214" y="5339461"/>
              <a:ext cx="1278890" cy="643255"/>
            </a:xfrm>
            <a:custGeom>
              <a:avLst/>
              <a:gdLst/>
              <a:ahLst/>
              <a:cxnLst/>
              <a:rect l="l" t="t" r="r" b="b"/>
              <a:pathLst>
                <a:path w="1278889" h="643254">
                  <a:moveTo>
                    <a:pt x="1170305" y="0"/>
                  </a:moveTo>
                  <a:lnTo>
                    <a:pt x="106680" y="0"/>
                  </a:lnTo>
                  <a:lnTo>
                    <a:pt x="64936" y="8310"/>
                  </a:lnTo>
                  <a:lnTo>
                    <a:pt x="31051" y="31051"/>
                  </a:lnTo>
                  <a:lnTo>
                    <a:pt x="8310" y="64936"/>
                  </a:lnTo>
                  <a:lnTo>
                    <a:pt x="0" y="106680"/>
                  </a:lnTo>
                  <a:lnTo>
                    <a:pt x="0" y="534924"/>
                  </a:lnTo>
                  <a:lnTo>
                    <a:pt x="8310" y="576885"/>
                  </a:lnTo>
                  <a:lnTo>
                    <a:pt x="31051" y="611251"/>
                  </a:lnTo>
                  <a:lnTo>
                    <a:pt x="64936" y="634472"/>
                  </a:lnTo>
                  <a:lnTo>
                    <a:pt x="106680" y="643001"/>
                  </a:lnTo>
                  <a:lnTo>
                    <a:pt x="1170305" y="643001"/>
                  </a:lnTo>
                  <a:lnTo>
                    <a:pt x="1212286" y="634472"/>
                  </a:lnTo>
                  <a:lnTo>
                    <a:pt x="1246695" y="611251"/>
                  </a:lnTo>
                  <a:lnTo>
                    <a:pt x="1269960" y="576885"/>
                  </a:lnTo>
                  <a:lnTo>
                    <a:pt x="1278509" y="534924"/>
                  </a:lnTo>
                  <a:lnTo>
                    <a:pt x="1278509" y="106680"/>
                  </a:lnTo>
                  <a:lnTo>
                    <a:pt x="1269960" y="64936"/>
                  </a:lnTo>
                  <a:lnTo>
                    <a:pt x="1246695" y="31051"/>
                  </a:lnTo>
                  <a:lnTo>
                    <a:pt x="1212286" y="8310"/>
                  </a:lnTo>
                  <a:lnTo>
                    <a:pt x="117030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87498" y="5325744"/>
              <a:ext cx="1304925" cy="669290"/>
            </a:xfrm>
            <a:custGeom>
              <a:avLst/>
              <a:gdLst/>
              <a:ahLst/>
              <a:cxnLst/>
              <a:rect l="l" t="t" r="r" b="b"/>
              <a:pathLst>
                <a:path w="1304925" h="669289">
                  <a:moveTo>
                    <a:pt x="1304417" y="106680"/>
                  </a:moveTo>
                  <a:lnTo>
                    <a:pt x="1301369" y="96012"/>
                  </a:lnTo>
                  <a:lnTo>
                    <a:pt x="1298321" y="83820"/>
                  </a:lnTo>
                  <a:lnTo>
                    <a:pt x="1295273" y="73152"/>
                  </a:lnTo>
                  <a:lnTo>
                    <a:pt x="1289177" y="62484"/>
                  </a:lnTo>
                  <a:lnTo>
                    <a:pt x="1278509" y="46482"/>
                  </a:lnTo>
                  <a:lnTo>
                    <a:pt x="1278509" y="111252"/>
                  </a:lnTo>
                  <a:lnTo>
                    <a:pt x="1278509" y="559308"/>
                  </a:lnTo>
                  <a:lnTo>
                    <a:pt x="1263269" y="601980"/>
                  </a:lnTo>
                  <a:lnTo>
                    <a:pt x="1243457" y="621792"/>
                  </a:lnTo>
                  <a:lnTo>
                    <a:pt x="1237361" y="627761"/>
                  </a:lnTo>
                  <a:lnTo>
                    <a:pt x="1229741" y="632333"/>
                  </a:lnTo>
                  <a:lnTo>
                    <a:pt x="1220597" y="636905"/>
                  </a:lnTo>
                  <a:lnTo>
                    <a:pt x="1211453" y="639953"/>
                  </a:lnTo>
                  <a:lnTo>
                    <a:pt x="1193165" y="643001"/>
                  </a:lnTo>
                  <a:lnTo>
                    <a:pt x="652145" y="643001"/>
                  </a:lnTo>
                  <a:lnTo>
                    <a:pt x="109728" y="643001"/>
                  </a:lnTo>
                  <a:lnTo>
                    <a:pt x="100584" y="641477"/>
                  </a:lnTo>
                  <a:lnTo>
                    <a:pt x="91440" y="638429"/>
                  </a:lnTo>
                  <a:lnTo>
                    <a:pt x="83820" y="635381"/>
                  </a:lnTo>
                  <a:lnTo>
                    <a:pt x="74676" y="632333"/>
                  </a:lnTo>
                  <a:lnTo>
                    <a:pt x="67056" y="627761"/>
                  </a:lnTo>
                  <a:lnTo>
                    <a:pt x="59436" y="621792"/>
                  </a:lnTo>
                  <a:lnTo>
                    <a:pt x="53340" y="615696"/>
                  </a:lnTo>
                  <a:lnTo>
                    <a:pt x="47244" y="608076"/>
                  </a:lnTo>
                  <a:lnTo>
                    <a:pt x="41148" y="601980"/>
                  </a:lnTo>
                  <a:lnTo>
                    <a:pt x="36576" y="594360"/>
                  </a:lnTo>
                  <a:lnTo>
                    <a:pt x="27432" y="566928"/>
                  </a:lnTo>
                  <a:lnTo>
                    <a:pt x="25908" y="557784"/>
                  </a:lnTo>
                  <a:lnTo>
                    <a:pt x="25908" y="109728"/>
                  </a:lnTo>
                  <a:lnTo>
                    <a:pt x="47244" y="59436"/>
                  </a:lnTo>
                  <a:lnTo>
                    <a:pt x="83820" y="33528"/>
                  </a:lnTo>
                  <a:lnTo>
                    <a:pt x="111252" y="25908"/>
                  </a:lnTo>
                  <a:lnTo>
                    <a:pt x="652145" y="25908"/>
                  </a:lnTo>
                  <a:lnTo>
                    <a:pt x="1194689" y="25908"/>
                  </a:lnTo>
                  <a:lnTo>
                    <a:pt x="1244981" y="47244"/>
                  </a:lnTo>
                  <a:lnTo>
                    <a:pt x="1272413" y="83820"/>
                  </a:lnTo>
                  <a:lnTo>
                    <a:pt x="1278509" y="111252"/>
                  </a:lnTo>
                  <a:lnTo>
                    <a:pt x="1278509" y="46482"/>
                  </a:lnTo>
                  <a:lnTo>
                    <a:pt x="1276985" y="44196"/>
                  </a:lnTo>
                  <a:lnTo>
                    <a:pt x="1269365" y="35052"/>
                  </a:lnTo>
                  <a:lnTo>
                    <a:pt x="1251077" y="19812"/>
                  </a:lnTo>
                  <a:lnTo>
                    <a:pt x="1240409" y="15240"/>
                  </a:lnTo>
                  <a:lnTo>
                    <a:pt x="1229741" y="9144"/>
                  </a:lnTo>
                  <a:lnTo>
                    <a:pt x="1208405" y="3048"/>
                  </a:lnTo>
                  <a:lnTo>
                    <a:pt x="1184021" y="0"/>
                  </a:lnTo>
                  <a:lnTo>
                    <a:pt x="652145" y="0"/>
                  </a:lnTo>
                  <a:lnTo>
                    <a:pt x="120396" y="0"/>
                  </a:lnTo>
                  <a:lnTo>
                    <a:pt x="62484" y="15240"/>
                  </a:lnTo>
                  <a:lnTo>
                    <a:pt x="27432" y="44196"/>
                  </a:lnTo>
                  <a:lnTo>
                    <a:pt x="3048" y="96012"/>
                  </a:lnTo>
                  <a:lnTo>
                    <a:pt x="0" y="120396"/>
                  </a:lnTo>
                  <a:lnTo>
                    <a:pt x="0" y="550164"/>
                  </a:lnTo>
                  <a:lnTo>
                    <a:pt x="15240" y="606552"/>
                  </a:lnTo>
                  <a:lnTo>
                    <a:pt x="44196" y="641477"/>
                  </a:lnTo>
                  <a:lnTo>
                    <a:pt x="85344" y="664337"/>
                  </a:lnTo>
                  <a:lnTo>
                    <a:pt x="97536" y="665861"/>
                  </a:lnTo>
                  <a:lnTo>
                    <a:pt x="108204" y="668909"/>
                  </a:lnTo>
                  <a:lnTo>
                    <a:pt x="652145" y="668909"/>
                  </a:lnTo>
                  <a:lnTo>
                    <a:pt x="1197737" y="668909"/>
                  </a:lnTo>
                  <a:lnTo>
                    <a:pt x="1209929" y="665861"/>
                  </a:lnTo>
                  <a:lnTo>
                    <a:pt x="1252601" y="647573"/>
                  </a:lnTo>
                  <a:lnTo>
                    <a:pt x="1284605" y="615696"/>
                  </a:lnTo>
                  <a:lnTo>
                    <a:pt x="1301369" y="573024"/>
                  </a:lnTo>
                  <a:lnTo>
                    <a:pt x="1304417" y="560832"/>
                  </a:lnTo>
                  <a:lnTo>
                    <a:pt x="1304417" y="106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778379" y="5495670"/>
            <a:ext cx="925194" cy="37592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2700" marR="5080" indent="97155">
              <a:lnSpc>
                <a:spcPts val="1320"/>
              </a:lnSpc>
              <a:spcBef>
                <a:spcPts val="244"/>
              </a:spcBef>
            </a:pP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Conceptual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 un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nd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713607" y="7404354"/>
            <a:ext cx="1842770" cy="975360"/>
            <a:chOff x="3713607" y="7404354"/>
            <a:chExt cx="1842770" cy="975360"/>
          </a:xfrm>
        </p:grpSpPr>
        <p:sp>
          <p:nvSpPr>
            <p:cNvPr id="17" name="object 17"/>
            <p:cNvSpPr/>
            <p:nvPr/>
          </p:nvSpPr>
          <p:spPr>
            <a:xfrm>
              <a:off x="3713607" y="7404354"/>
              <a:ext cx="542925" cy="330835"/>
            </a:xfrm>
            <a:custGeom>
              <a:avLst/>
              <a:gdLst/>
              <a:ahLst/>
              <a:cxnLst/>
              <a:rect l="l" t="t" r="r" b="b"/>
              <a:pathLst>
                <a:path w="542925" h="330834">
                  <a:moveTo>
                    <a:pt x="12191" y="0"/>
                  </a:moveTo>
                  <a:lnTo>
                    <a:pt x="0" y="21336"/>
                  </a:lnTo>
                  <a:lnTo>
                    <a:pt x="530351" y="330708"/>
                  </a:lnTo>
                  <a:lnTo>
                    <a:pt x="542543" y="307848"/>
                  </a:lnTo>
                  <a:lnTo>
                    <a:pt x="12191" y="0"/>
                  </a:lnTo>
                  <a:close/>
                </a:path>
              </a:pathLst>
            </a:custGeom>
            <a:solidFill>
              <a:srgbClr val="3C66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64127" y="7722870"/>
              <a:ext cx="1478280" cy="644525"/>
            </a:xfrm>
            <a:custGeom>
              <a:avLst/>
              <a:gdLst/>
              <a:ahLst/>
              <a:cxnLst/>
              <a:rect l="l" t="t" r="r" b="b"/>
              <a:pathLst>
                <a:path w="1478279" h="644525">
                  <a:moveTo>
                    <a:pt x="1371473" y="0"/>
                  </a:moveTo>
                  <a:lnTo>
                    <a:pt x="106680" y="0"/>
                  </a:lnTo>
                  <a:lnTo>
                    <a:pt x="64936" y="8548"/>
                  </a:lnTo>
                  <a:lnTo>
                    <a:pt x="31051" y="31813"/>
                  </a:lnTo>
                  <a:lnTo>
                    <a:pt x="8310" y="66222"/>
                  </a:lnTo>
                  <a:lnTo>
                    <a:pt x="0" y="108203"/>
                  </a:lnTo>
                  <a:lnTo>
                    <a:pt x="0" y="536320"/>
                  </a:lnTo>
                  <a:lnTo>
                    <a:pt x="8310" y="578302"/>
                  </a:lnTo>
                  <a:lnTo>
                    <a:pt x="31051" y="612711"/>
                  </a:lnTo>
                  <a:lnTo>
                    <a:pt x="64936" y="635976"/>
                  </a:lnTo>
                  <a:lnTo>
                    <a:pt x="106680" y="644525"/>
                  </a:lnTo>
                  <a:lnTo>
                    <a:pt x="1371473" y="644525"/>
                  </a:lnTo>
                  <a:lnTo>
                    <a:pt x="1413216" y="635976"/>
                  </a:lnTo>
                  <a:lnTo>
                    <a:pt x="1447101" y="612711"/>
                  </a:lnTo>
                  <a:lnTo>
                    <a:pt x="1469842" y="578302"/>
                  </a:lnTo>
                  <a:lnTo>
                    <a:pt x="1478152" y="536320"/>
                  </a:lnTo>
                  <a:lnTo>
                    <a:pt x="1478152" y="108203"/>
                  </a:lnTo>
                  <a:lnTo>
                    <a:pt x="1469842" y="66222"/>
                  </a:lnTo>
                  <a:lnTo>
                    <a:pt x="1447101" y="31813"/>
                  </a:lnTo>
                  <a:lnTo>
                    <a:pt x="1413216" y="8548"/>
                  </a:lnTo>
                  <a:lnTo>
                    <a:pt x="137147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050411" y="7710678"/>
              <a:ext cx="1505585" cy="669290"/>
            </a:xfrm>
            <a:custGeom>
              <a:avLst/>
              <a:gdLst/>
              <a:ahLst/>
              <a:cxnLst/>
              <a:rect l="l" t="t" r="r" b="b"/>
              <a:pathLst>
                <a:path w="1505585" h="669290">
                  <a:moveTo>
                    <a:pt x="1505585" y="118872"/>
                  </a:moveTo>
                  <a:lnTo>
                    <a:pt x="1490345" y="62484"/>
                  </a:lnTo>
                  <a:lnTo>
                    <a:pt x="1479677" y="46329"/>
                  </a:lnTo>
                  <a:lnTo>
                    <a:pt x="1479677" y="111252"/>
                  </a:lnTo>
                  <a:lnTo>
                    <a:pt x="1479677" y="559181"/>
                  </a:lnTo>
                  <a:lnTo>
                    <a:pt x="1478153" y="568325"/>
                  </a:lnTo>
                  <a:lnTo>
                    <a:pt x="1472057" y="586613"/>
                  </a:lnTo>
                  <a:lnTo>
                    <a:pt x="1458341" y="609473"/>
                  </a:lnTo>
                  <a:lnTo>
                    <a:pt x="1450721" y="615569"/>
                  </a:lnTo>
                  <a:lnTo>
                    <a:pt x="1444625" y="621665"/>
                  </a:lnTo>
                  <a:lnTo>
                    <a:pt x="1437005" y="627761"/>
                  </a:lnTo>
                  <a:lnTo>
                    <a:pt x="1421765" y="636905"/>
                  </a:lnTo>
                  <a:lnTo>
                    <a:pt x="1412621" y="639953"/>
                  </a:lnTo>
                  <a:lnTo>
                    <a:pt x="1394333" y="643001"/>
                  </a:lnTo>
                  <a:lnTo>
                    <a:pt x="752729" y="643001"/>
                  </a:lnTo>
                  <a:lnTo>
                    <a:pt x="109728" y="643001"/>
                  </a:lnTo>
                  <a:lnTo>
                    <a:pt x="100584" y="641477"/>
                  </a:lnTo>
                  <a:lnTo>
                    <a:pt x="82296" y="635381"/>
                  </a:lnTo>
                  <a:lnTo>
                    <a:pt x="74676" y="632333"/>
                  </a:lnTo>
                  <a:lnTo>
                    <a:pt x="67056" y="626237"/>
                  </a:lnTo>
                  <a:lnTo>
                    <a:pt x="59436" y="621665"/>
                  </a:lnTo>
                  <a:lnTo>
                    <a:pt x="53340" y="615569"/>
                  </a:lnTo>
                  <a:lnTo>
                    <a:pt x="47244" y="607949"/>
                  </a:lnTo>
                  <a:lnTo>
                    <a:pt x="41148" y="601853"/>
                  </a:lnTo>
                  <a:lnTo>
                    <a:pt x="36576" y="592709"/>
                  </a:lnTo>
                  <a:lnTo>
                    <a:pt x="33528" y="585089"/>
                  </a:lnTo>
                  <a:lnTo>
                    <a:pt x="27432" y="566801"/>
                  </a:lnTo>
                  <a:lnTo>
                    <a:pt x="25908" y="557657"/>
                  </a:lnTo>
                  <a:lnTo>
                    <a:pt x="25908" y="109728"/>
                  </a:lnTo>
                  <a:lnTo>
                    <a:pt x="47244" y="59436"/>
                  </a:lnTo>
                  <a:lnTo>
                    <a:pt x="83820" y="32004"/>
                  </a:lnTo>
                  <a:lnTo>
                    <a:pt x="111252" y="25908"/>
                  </a:lnTo>
                  <a:lnTo>
                    <a:pt x="752729" y="25908"/>
                  </a:lnTo>
                  <a:lnTo>
                    <a:pt x="1395857" y="25908"/>
                  </a:lnTo>
                  <a:lnTo>
                    <a:pt x="1405001" y="27432"/>
                  </a:lnTo>
                  <a:lnTo>
                    <a:pt x="1423289" y="33528"/>
                  </a:lnTo>
                  <a:lnTo>
                    <a:pt x="1430909" y="36576"/>
                  </a:lnTo>
                  <a:lnTo>
                    <a:pt x="1438529" y="42672"/>
                  </a:lnTo>
                  <a:lnTo>
                    <a:pt x="1446149" y="47244"/>
                  </a:lnTo>
                  <a:lnTo>
                    <a:pt x="1452245" y="53340"/>
                  </a:lnTo>
                  <a:lnTo>
                    <a:pt x="1458341" y="60960"/>
                  </a:lnTo>
                  <a:lnTo>
                    <a:pt x="1464437" y="67056"/>
                  </a:lnTo>
                  <a:lnTo>
                    <a:pt x="1469009" y="76200"/>
                  </a:lnTo>
                  <a:lnTo>
                    <a:pt x="1472057" y="83820"/>
                  </a:lnTo>
                  <a:lnTo>
                    <a:pt x="1478153" y="102108"/>
                  </a:lnTo>
                  <a:lnTo>
                    <a:pt x="1479677" y="111252"/>
                  </a:lnTo>
                  <a:lnTo>
                    <a:pt x="1479677" y="46329"/>
                  </a:lnTo>
                  <a:lnTo>
                    <a:pt x="1452245" y="19812"/>
                  </a:lnTo>
                  <a:lnTo>
                    <a:pt x="1408049" y="3048"/>
                  </a:lnTo>
                  <a:lnTo>
                    <a:pt x="1385189" y="0"/>
                  </a:lnTo>
                  <a:lnTo>
                    <a:pt x="752729" y="0"/>
                  </a:lnTo>
                  <a:lnTo>
                    <a:pt x="120396" y="0"/>
                  </a:lnTo>
                  <a:lnTo>
                    <a:pt x="73152" y="9144"/>
                  </a:lnTo>
                  <a:lnTo>
                    <a:pt x="35052" y="35052"/>
                  </a:lnTo>
                  <a:lnTo>
                    <a:pt x="9144" y="74676"/>
                  </a:lnTo>
                  <a:lnTo>
                    <a:pt x="0" y="120396"/>
                  </a:lnTo>
                  <a:lnTo>
                    <a:pt x="0" y="550037"/>
                  </a:lnTo>
                  <a:lnTo>
                    <a:pt x="15240" y="606425"/>
                  </a:lnTo>
                  <a:lnTo>
                    <a:pt x="44196" y="641477"/>
                  </a:lnTo>
                  <a:lnTo>
                    <a:pt x="85344" y="662813"/>
                  </a:lnTo>
                  <a:lnTo>
                    <a:pt x="97536" y="665861"/>
                  </a:lnTo>
                  <a:lnTo>
                    <a:pt x="108204" y="668909"/>
                  </a:lnTo>
                  <a:lnTo>
                    <a:pt x="752729" y="668909"/>
                  </a:lnTo>
                  <a:lnTo>
                    <a:pt x="1385189" y="668909"/>
                  </a:lnTo>
                  <a:lnTo>
                    <a:pt x="1409573" y="665861"/>
                  </a:lnTo>
                  <a:lnTo>
                    <a:pt x="1461389" y="641477"/>
                  </a:lnTo>
                  <a:lnTo>
                    <a:pt x="1496441" y="594233"/>
                  </a:lnTo>
                  <a:lnTo>
                    <a:pt x="1505585" y="548513"/>
                  </a:lnTo>
                  <a:lnTo>
                    <a:pt x="1505585" y="118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165472" y="7879460"/>
            <a:ext cx="1276985" cy="37592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85445" marR="5080" indent="-373380">
              <a:lnSpc>
                <a:spcPts val="1320"/>
              </a:lnSpc>
              <a:spcBef>
                <a:spcPts val="240"/>
              </a:spcBef>
            </a:pP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Communication</a:t>
            </a:r>
            <a:r>
              <a:rPr dirty="0" sz="1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1200" spc="-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thinking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03605" y="7415021"/>
            <a:ext cx="1862455" cy="964565"/>
            <a:chOff x="903605" y="7415021"/>
            <a:chExt cx="1862455" cy="964565"/>
          </a:xfrm>
        </p:grpSpPr>
        <p:sp>
          <p:nvSpPr>
            <p:cNvPr id="22" name="object 22"/>
            <p:cNvSpPr/>
            <p:nvPr/>
          </p:nvSpPr>
          <p:spPr>
            <a:xfrm>
              <a:off x="2259838" y="7415021"/>
              <a:ext cx="506095" cy="320040"/>
            </a:xfrm>
            <a:custGeom>
              <a:avLst/>
              <a:gdLst/>
              <a:ahLst/>
              <a:cxnLst/>
              <a:rect l="l" t="t" r="r" b="b"/>
              <a:pathLst>
                <a:path w="506094" h="320040">
                  <a:moveTo>
                    <a:pt x="493775" y="0"/>
                  </a:moveTo>
                  <a:lnTo>
                    <a:pt x="0" y="297179"/>
                  </a:lnTo>
                  <a:lnTo>
                    <a:pt x="13716" y="320039"/>
                  </a:lnTo>
                  <a:lnTo>
                    <a:pt x="505968" y="21336"/>
                  </a:lnTo>
                  <a:lnTo>
                    <a:pt x="493775" y="0"/>
                  </a:lnTo>
                  <a:close/>
                </a:path>
              </a:pathLst>
            </a:custGeom>
            <a:solidFill>
              <a:srgbClr val="3C66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15797" y="7722869"/>
              <a:ext cx="1637030" cy="644525"/>
            </a:xfrm>
            <a:custGeom>
              <a:avLst/>
              <a:gdLst/>
              <a:ahLst/>
              <a:cxnLst/>
              <a:rect l="l" t="t" r="r" b="b"/>
              <a:pathLst>
                <a:path w="1637030" h="644525">
                  <a:moveTo>
                    <a:pt x="1528445" y="0"/>
                  </a:moveTo>
                  <a:lnTo>
                    <a:pt x="108191" y="0"/>
                  </a:lnTo>
                  <a:lnTo>
                    <a:pt x="66217" y="8548"/>
                  </a:lnTo>
                  <a:lnTo>
                    <a:pt x="31811" y="31813"/>
                  </a:lnTo>
                  <a:lnTo>
                    <a:pt x="8548" y="66222"/>
                  </a:lnTo>
                  <a:lnTo>
                    <a:pt x="0" y="108203"/>
                  </a:lnTo>
                  <a:lnTo>
                    <a:pt x="0" y="536320"/>
                  </a:lnTo>
                  <a:lnTo>
                    <a:pt x="8548" y="578302"/>
                  </a:lnTo>
                  <a:lnTo>
                    <a:pt x="31811" y="612711"/>
                  </a:lnTo>
                  <a:lnTo>
                    <a:pt x="66217" y="635976"/>
                  </a:lnTo>
                  <a:lnTo>
                    <a:pt x="108191" y="644525"/>
                  </a:lnTo>
                  <a:lnTo>
                    <a:pt x="1528445" y="644525"/>
                  </a:lnTo>
                  <a:lnTo>
                    <a:pt x="1570426" y="635976"/>
                  </a:lnTo>
                  <a:lnTo>
                    <a:pt x="1604835" y="612711"/>
                  </a:lnTo>
                  <a:lnTo>
                    <a:pt x="1628100" y="578302"/>
                  </a:lnTo>
                  <a:lnTo>
                    <a:pt x="1636649" y="536320"/>
                  </a:lnTo>
                  <a:lnTo>
                    <a:pt x="1636649" y="108203"/>
                  </a:lnTo>
                  <a:lnTo>
                    <a:pt x="1628100" y="66222"/>
                  </a:lnTo>
                  <a:lnTo>
                    <a:pt x="1604835" y="31813"/>
                  </a:lnTo>
                  <a:lnTo>
                    <a:pt x="1570426" y="8548"/>
                  </a:lnTo>
                  <a:lnTo>
                    <a:pt x="152844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03605" y="7710677"/>
              <a:ext cx="1661160" cy="669290"/>
            </a:xfrm>
            <a:custGeom>
              <a:avLst/>
              <a:gdLst/>
              <a:ahLst/>
              <a:cxnLst/>
              <a:rect l="l" t="t" r="r" b="b"/>
              <a:pathLst>
                <a:path w="1661160" h="669290">
                  <a:moveTo>
                    <a:pt x="1661033" y="118872"/>
                  </a:moveTo>
                  <a:lnTo>
                    <a:pt x="1651889" y="73152"/>
                  </a:lnTo>
                  <a:lnTo>
                    <a:pt x="1635125" y="44958"/>
                  </a:lnTo>
                  <a:lnTo>
                    <a:pt x="1635125" y="111252"/>
                  </a:lnTo>
                  <a:lnTo>
                    <a:pt x="1635125" y="559181"/>
                  </a:lnTo>
                  <a:lnTo>
                    <a:pt x="1633601" y="568325"/>
                  </a:lnTo>
                  <a:lnTo>
                    <a:pt x="1627505" y="586613"/>
                  </a:lnTo>
                  <a:lnTo>
                    <a:pt x="1624457" y="594233"/>
                  </a:lnTo>
                  <a:lnTo>
                    <a:pt x="1618361" y="601853"/>
                  </a:lnTo>
                  <a:lnTo>
                    <a:pt x="1613789" y="609473"/>
                  </a:lnTo>
                  <a:lnTo>
                    <a:pt x="1607693" y="615569"/>
                  </a:lnTo>
                  <a:lnTo>
                    <a:pt x="1600073" y="621665"/>
                  </a:lnTo>
                  <a:lnTo>
                    <a:pt x="1593977" y="627761"/>
                  </a:lnTo>
                  <a:lnTo>
                    <a:pt x="1584833" y="632333"/>
                  </a:lnTo>
                  <a:lnTo>
                    <a:pt x="1577213" y="636905"/>
                  </a:lnTo>
                  <a:lnTo>
                    <a:pt x="1568069" y="639953"/>
                  </a:lnTo>
                  <a:lnTo>
                    <a:pt x="1549781" y="643001"/>
                  </a:lnTo>
                  <a:lnTo>
                    <a:pt x="829691" y="643001"/>
                  </a:lnTo>
                  <a:lnTo>
                    <a:pt x="109715" y="643001"/>
                  </a:lnTo>
                  <a:lnTo>
                    <a:pt x="65519" y="626237"/>
                  </a:lnTo>
                  <a:lnTo>
                    <a:pt x="36576" y="592709"/>
                  </a:lnTo>
                  <a:lnTo>
                    <a:pt x="32004" y="585089"/>
                  </a:lnTo>
                  <a:lnTo>
                    <a:pt x="28956" y="575945"/>
                  </a:lnTo>
                  <a:lnTo>
                    <a:pt x="24384" y="548513"/>
                  </a:lnTo>
                  <a:lnTo>
                    <a:pt x="24384" y="120396"/>
                  </a:lnTo>
                  <a:lnTo>
                    <a:pt x="32004" y="82296"/>
                  </a:lnTo>
                  <a:lnTo>
                    <a:pt x="59436" y="47244"/>
                  </a:lnTo>
                  <a:lnTo>
                    <a:pt x="111239" y="25908"/>
                  </a:lnTo>
                  <a:lnTo>
                    <a:pt x="829691" y="25908"/>
                  </a:lnTo>
                  <a:lnTo>
                    <a:pt x="1551305" y="25908"/>
                  </a:lnTo>
                  <a:lnTo>
                    <a:pt x="1560449" y="27432"/>
                  </a:lnTo>
                  <a:lnTo>
                    <a:pt x="1578737" y="33528"/>
                  </a:lnTo>
                  <a:lnTo>
                    <a:pt x="1586357" y="36576"/>
                  </a:lnTo>
                  <a:lnTo>
                    <a:pt x="1593977" y="42672"/>
                  </a:lnTo>
                  <a:lnTo>
                    <a:pt x="1601597" y="47244"/>
                  </a:lnTo>
                  <a:lnTo>
                    <a:pt x="1607693" y="53340"/>
                  </a:lnTo>
                  <a:lnTo>
                    <a:pt x="1613789" y="60960"/>
                  </a:lnTo>
                  <a:lnTo>
                    <a:pt x="1619885" y="67056"/>
                  </a:lnTo>
                  <a:lnTo>
                    <a:pt x="1624457" y="76200"/>
                  </a:lnTo>
                  <a:lnTo>
                    <a:pt x="1629029" y="83820"/>
                  </a:lnTo>
                  <a:lnTo>
                    <a:pt x="1632077" y="92964"/>
                  </a:lnTo>
                  <a:lnTo>
                    <a:pt x="1635125" y="111252"/>
                  </a:lnTo>
                  <a:lnTo>
                    <a:pt x="1635125" y="44958"/>
                  </a:lnTo>
                  <a:lnTo>
                    <a:pt x="1597025" y="13716"/>
                  </a:lnTo>
                  <a:lnTo>
                    <a:pt x="1540637" y="0"/>
                  </a:lnTo>
                  <a:lnTo>
                    <a:pt x="829691" y="0"/>
                  </a:lnTo>
                  <a:lnTo>
                    <a:pt x="118859" y="0"/>
                  </a:lnTo>
                  <a:lnTo>
                    <a:pt x="73139" y="9144"/>
                  </a:lnTo>
                  <a:lnTo>
                    <a:pt x="35052" y="35052"/>
                  </a:lnTo>
                  <a:lnTo>
                    <a:pt x="4572" y="85344"/>
                  </a:lnTo>
                  <a:lnTo>
                    <a:pt x="0" y="108204"/>
                  </a:lnTo>
                  <a:lnTo>
                    <a:pt x="0" y="562229"/>
                  </a:lnTo>
                  <a:lnTo>
                    <a:pt x="3048" y="572897"/>
                  </a:lnTo>
                  <a:lnTo>
                    <a:pt x="6096" y="585089"/>
                  </a:lnTo>
                  <a:lnTo>
                    <a:pt x="27432" y="626237"/>
                  </a:lnTo>
                  <a:lnTo>
                    <a:pt x="62471" y="655193"/>
                  </a:lnTo>
                  <a:lnTo>
                    <a:pt x="85331" y="662813"/>
                  </a:lnTo>
                  <a:lnTo>
                    <a:pt x="95999" y="665861"/>
                  </a:lnTo>
                  <a:lnTo>
                    <a:pt x="108191" y="668909"/>
                  </a:lnTo>
                  <a:lnTo>
                    <a:pt x="829691" y="668909"/>
                  </a:lnTo>
                  <a:lnTo>
                    <a:pt x="1542161" y="668909"/>
                  </a:lnTo>
                  <a:lnTo>
                    <a:pt x="1587881" y="659765"/>
                  </a:lnTo>
                  <a:lnTo>
                    <a:pt x="1625981" y="633857"/>
                  </a:lnTo>
                  <a:lnTo>
                    <a:pt x="1651889" y="594233"/>
                  </a:lnTo>
                  <a:lnTo>
                    <a:pt x="1661033" y="560705"/>
                  </a:lnTo>
                  <a:lnTo>
                    <a:pt x="1661033" y="118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202232" y="7879460"/>
            <a:ext cx="1066800" cy="37592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43510" marR="5080" indent="-131445">
              <a:lnSpc>
                <a:spcPts val="1320"/>
              </a:lnSpc>
              <a:spcBef>
                <a:spcPts val="240"/>
              </a:spcBef>
            </a:pP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involvement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1200" spc="-25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engagement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65480" y="577087"/>
            <a:ext cx="6628765" cy="816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5080" indent="-229235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">
                <a:latin typeface="Arial MT"/>
                <a:cs typeface="Arial MT"/>
              </a:rPr>
              <a:t>Most classroom discourse proceeds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too rapid a pace. Teachers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obtain better classroom </a:t>
            </a:r>
            <a:r>
              <a:rPr dirty="0" sz="1200">
                <a:latin typeface="Arial MT"/>
                <a:cs typeface="Arial MT"/>
              </a:rPr>
              <a:t> discourse </a:t>
            </a:r>
            <a:r>
              <a:rPr dirty="0" sz="1200" spc="-5">
                <a:latin typeface="Arial MT"/>
                <a:cs typeface="Arial MT"/>
              </a:rPr>
              <a:t>by slowing down the pace and giving themselves and their students opportunities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think </a:t>
            </a:r>
            <a:r>
              <a:rPr dirty="0" sz="1200" spc="-5">
                <a:latin typeface="Arial MT"/>
                <a:cs typeface="Arial MT"/>
              </a:rPr>
              <a:t>before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respond.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 </a:t>
            </a:r>
            <a:r>
              <a:rPr dirty="0" sz="1200">
                <a:latin typeface="Arial MT"/>
                <a:cs typeface="Arial MT"/>
              </a:rPr>
              <a:t>discourse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discussion </a:t>
            </a:r>
            <a:r>
              <a:rPr dirty="0" sz="1200" spc="-5">
                <a:latin typeface="Arial MT"/>
                <a:cs typeface="Arial MT"/>
              </a:rPr>
              <a:t>method.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1843785"/>
            <a:ext cx="6856730" cy="9597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-5" b="1">
                <a:latin typeface="Arial"/>
                <a:cs typeface="Arial"/>
              </a:rPr>
              <a:t> environment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useful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discussion</a:t>
            </a:r>
            <a:endParaRPr sz="1200">
              <a:latin typeface="Arial"/>
              <a:cs typeface="Arial"/>
            </a:endParaRPr>
          </a:p>
          <a:p>
            <a:pPr algn="just" marL="462280" marR="13335" indent="-229235">
              <a:lnSpc>
                <a:spcPct val="144200"/>
              </a:lnSpc>
              <a:spcBef>
                <a:spcPts val="1040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general, discussion and classroom discourse patterns can be improved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teachers slow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pace and </a:t>
            </a:r>
            <a:r>
              <a:rPr dirty="0" sz="1200" spc="-10">
                <a:latin typeface="Arial MT"/>
                <a:cs typeface="Arial MT"/>
              </a:rPr>
              <a:t>use </a:t>
            </a:r>
            <a:r>
              <a:rPr dirty="0" sz="1200" spc="-5">
                <a:latin typeface="Arial MT"/>
                <a:cs typeface="Arial MT"/>
              </a:rPr>
              <a:t>methods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broaden participation and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they </a:t>
            </a:r>
            <a:r>
              <a:rPr dirty="0" sz="1200" spc="-10">
                <a:latin typeface="Arial MT"/>
                <a:cs typeface="Arial MT"/>
              </a:rPr>
              <a:t>teach </a:t>
            </a:r>
            <a:r>
              <a:rPr dirty="0" sz="1200" spc="-5">
                <a:latin typeface="Arial MT"/>
                <a:cs typeface="Arial MT"/>
              </a:rPr>
              <a:t>students to </a:t>
            </a:r>
            <a:r>
              <a:rPr dirty="0" sz="1200">
                <a:latin typeface="Arial MT"/>
                <a:cs typeface="Arial MT"/>
              </a:rPr>
              <a:t>try </a:t>
            </a:r>
            <a:r>
              <a:rPr dirty="0" sz="1200" spc="-5">
                <a:latin typeface="Arial MT"/>
                <a:cs typeface="Arial MT"/>
              </a:rPr>
              <a:t>to understand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another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high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interpersonal regard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other’s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feelings.</a:t>
            </a:r>
            <a:endParaRPr sz="1200">
              <a:latin typeface="Arial MT"/>
              <a:cs typeface="Arial MT"/>
            </a:endParaRPr>
          </a:p>
          <a:p>
            <a:pPr algn="just" marL="462280" marR="11430" indent="-229235">
              <a:lnSpc>
                <a:spcPct val="144200"/>
              </a:lnSpc>
              <a:spcBef>
                <a:spcPts val="40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Teaching students four specific interpersonal communication skills (paraphrasing, behavior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description, feeling description and impression checking) can enhance the quality of classroom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discourse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</a:t>
            </a:r>
            <a:r>
              <a:rPr dirty="0" sz="1200">
                <a:latin typeface="Arial MT"/>
                <a:cs typeface="Arial MT"/>
              </a:rPr>
              <a:t> regard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other.</a:t>
            </a:r>
            <a:endParaRPr sz="1200">
              <a:latin typeface="Arial MT"/>
              <a:cs typeface="Arial MT"/>
            </a:endParaRPr>
          </a:p>
          <a:p>
            <a:pPr algn="just" marL="18415" marR="473709" indent="-6350">
              <a:lnSpc>
                <a:spcPct val="1440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paraphrasing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showing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>
                <a:latin typeface="Arial MT"/>
                <a:cs typeface="Arial MT"/>
              </a:rPr>
              <a:t> some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communication.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classroom discussion </a:t>
            </a:r>
            <a:r>
              <a:rPr dirty="0" sz="1200" spc="-1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is a lot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opportunity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paraphrasing. Behavior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description is another important skill in communication. Teachers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exhibit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correct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student. We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be able to exhibit our feeling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the classroom.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example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some </a:t>
            </a:r>
            <a:r>
              <a:rPr dirty="0" sz="1200" spc="-5">
                <a:latin typeface="Arial MT"/>
                <a:cs typeface="Arial MT"/>
              </a:rPr>
              <a:t>student is </a:t>
            </a:r>
            <a:r>
              <a:rPr dirty="0" sz="120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agree </a:t>
            </a:r>
            <a:r>
              <a:rPr dirty="0" sz="120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some point to a person. He can </a:t>
            </a:r>
            <a:r>
              <a:rPr dirty="0" sz="1200">
                <a:latin typeface="Arial MT"/>
                <a:cs typeface="Arial MT"/>
              </a:rPr>
              <a:t>show </a:t>
            </a:r>
            <a:r>
              <a:rPr dirty="0" sz="1200" spc="-5">
                <a:latin typeface="Arial MT"/>
                <a:cs typeface="Arial MT"/>
              </a:rPr>
              <a:t>his feelings in a good </a:t>
            </a:r>
            <a:r>
              <a:rPr dirty="0" sz="1200">
                <a:latin typeface="Arial MT"/>
                <a:cs typeface="Arial MT"/>
              </a:rPr>
              <a:t>way.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Describing one’s feeling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important.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Classroom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Discussion</a:t>
            </a:r>
            <a:endParaRPr sz="1200">
              <a:latin typeface="Arial"/>
              <a:cs typeface="Arial"/>
            </a:endParaRPr>
          </a:p>
          <a:p>
            <a:pPr algn="just" marL="462280" marR="7620" indent="-229235">
              <a:lnSpc>
                <a:spcPct val="144200"/>
              </a:lnSpc>
              <a:spcBef>
                <a:spcPts val="104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lesson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deciding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approach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use.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several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kinds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discussions.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Major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approaches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conjunction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other </a:t>
            </a:r>
            <a:r>
              <a:rPr dirty="0" sz="1200" spc="-5">
                <a:latin typeface="Arial MT"/>
                <a:cs typeface="Arial MT"/>
              </a:rPr>
              <a:t>teaching models; recitation discussions; </a:t>
            </a:r>
            <a:r>
              <a:rPr dirty="0" sz="1200">
                <a:latin typeface="Arial MT"/>
                <a:cs typeface="Arial MT"/>
              </a:rPr>
              <a:t>discovery </a:t>
            </a:r>
            <a:r>
              <a:rPr dirty="0" sz="1200" spc="-5">
                <a:latin typeface="Arial MT"/>
                <a:cs typeface="Arial MT"/>
              </a:rPr>
              <a:t>or inquiry discussions and discussions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clarify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values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experiences.</a:t>
            </a:r>
            <a:endParaRPr sz="1200">
              <a:latin typeface="Arial MT"/>
              <a:cs typeface="Arial MT"/>
            </a:endParaRPr>
          </a:p>
          <a:p>
            <a:pPr algn="just" marL="462280" marR="11430" indent="-229235">
              <a:lnSpc>
                <a:spcPct val="144200"/>
              </a:lnSpc>
              <a:spcBef>
                <a:spcPts val="3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Other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determining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discussion;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determining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type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ask.</a:t>
            </a:r>
            <a:endParaRPr sz="1200">
              <a:latin typeface="Arial MT"/>
              <a:cs typeface="Arial MT"/>
            </a:endParaRPr>
          </a:p>
          <a:p>
            <a:pPr algn="just" marL="462280" marR="10160" indent="-229235">
              <a:lnSpc>
                <a:spcPct val="144200"/>
              </a:lnSpc>
              <a:spcBef>
                <a:spcPts val="3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Placing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circles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U-shaped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seating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arrangements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facilitates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discussions. Socratic method is basically a discussion method. It is also called dialogic method.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Calibri"/>
              <a:buChar char="-"/>
            </a:pPr>
            <a:endParaRPr sz="1850">
              <a:latin typeface="Arial MT"/>
              <a:cs typeface="Arial MT"/>
            </a:endParaRPr>
          </a:p>
          <a:p>
            <a:pPr algn="just" marL="462280" marR="5080" indent="-229235">
              <a:lnSpc>
                <a:spcPct val="144300"/>
              </a:lnSpc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Primary tasks for teachers as they conduct a discussion consists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focusing the discussion;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keeping the discussion on </a:t>
            </a:r>
            <a:r>
              <a:rPr dirty="0" sz="1200">
                <a:latin typeface="Arial MT"/>
                <a:cs typeface="Arial MT"/>
              </a:rPr>
              <a:t>track; </a:t>
            </a:r>
            <a:r>
              <a:rPr dirty="0" sz="1200" spc="-5">
                <a:latin typeface="Arial MT"/>
                <a:cs typeface="Arial MT"/>
              </a:rPr>
              <a:t>keeping a record of the discussion; listening to students ideas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providing appropriate wait time. Wait time is thinking time. Question </a:t>
            </a:r>
            <a:r>
              <a:rPr dirty="0" sz="1200" spc="-10">
                <a:latin typeface="Arial MT"/>
                <a:cs typeface="Arial MT"/>
              </a:rPr>
              <a:t>should be </a:t>
            </a:r>
            <a:r>
              <a:rPr dirty="0" sz="1200" spc="-5">
                <a:latin typeface="Arial MT"/>
                <a:cs typeface="Arial MT"/>
              </a:rPr>
              <a:t>directive </a:t>
            </a:r>
            <a:r>
              <a:rPr dirty="0" sz="1200" spc="30">
                <a:latin typeface="Arial MT"/>
                <a:cs typeface="Arial MT"/>
              </a:rPr>
              <a:t>to 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whole class. </a:t>
            </a:r>
            <a:r>
              <a:rPr dirty="0" sz="1200" spc="-10">
                <a:latin typeface="Arial MT"/>
                <a:cs typeface="Arial MT"/>
              </a:rPr>
              <a:t>Than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 spc="-10">
                <a:latin typeface="Arial MT"/>
                <a:cs typeface="Arial MT"/>
              </a:rPr>
              <a:t>should </a:t>
            </a:r>
            <a:r>
              <a:rPr dirty="0" sz="1200" spc="-5">
                <a:latin typeface="Arial MT"/>
                <a:cs typeface="Arial MT"/>
              </a:rPr>
              <a:t>take a pause and indicate a student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answer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feedback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before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moving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next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discussion is not only giving the information but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generate the thinking skills. The </a:t>
            </a:r>
            <a:r>
              <a:rPr dirty="0" sz="1200">
                <a:latin typeface="Arial MT"/>
                <a:cs typeface="Arial MT"/>
              </a:rPr>
              <a:t> most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wait time.</a:t>
            </a:r>
            <a:endParaRPr sz="1200">
              <a:latin typeface="Arial MT"/>
              <a:cs typeface="Arial MT"/>
            </a:endParaRPr>
          </a:p>
          <a:p>
            <a:pPr algn="just" marL="462280" marR="6985" indent="-229235">
              <a:lnSpc>
                <a:spcPct val="144400"/>
              </a:lnSpc>
              <a:spcBef>
                <a:spcPts val="20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Teacher </a:t>
            </a:r>
            <a:r>
              <a:rPr dirty="0" sz="1200" spc="-5">
                <a:latin typeface="Arial MT"/>
                <a:cs typeface="Arial MT"/>
              </a:rPr>
              <a:t>should respond with dignity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students’ ideas. </a:t>
            </a:r>
            <a:r>
              <a:rPr dirty="0" sz="1200" spc="-1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should help the students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extend their </a:t>
            </a:r>
            <a:r>
              <a:rPr dirty="0" sz="1200">
                <a:latin typeface="Arial MT"/>
                <a:cs typeface="Arial MT"/>
              </a:rPr>
              <a:t>ideas </a:t>
            </a:r>
            <a:r>
              <a:rPr dirty="0" sz="1200" spc="-5">
                <a:latin typeface="Arial MT"/>
                <a:cs typeface="Arial MT"/>
              </a:rPr>
              <a:t>by seeking clarification, getting students </a:t>
            </a:r>
            <a:r>
              <a:rPr dirty="0" sz="1200">
                <a:latin typeface="Arial MT"/>
                <a:cs typeface="Arial MT"/>
              </a:rPr>
              <a:t>to consider </a:t>
            </a:r>
            <a:r>
              <a:rPr dirty="0" sz="1200" spc="-5">
                <a:latin typeface="Arial MT"/>
                <a:cs typeface="Arial MT"/>
              </a:rPr>
              <a:t>alternative ideas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labeling students’ thinking processes. Channelizing students responses </a:t>
            </a:r>
            <a:r>
              <a:rPr dirty="0" sz="1200">
                <a:latin typeface="Arial MT"/>
                <a:cs typeface="Arial MT"/>
              </a:rPr>
              <a:t>are very </a:t>
            </a:r>
            <a:r>
              <a:rPr dirty="0" sz="1200" spc="-5">
                <a:latin typeface="Arial MT"/>
                <a:cs typeface="Arial MT"/>
              </a:rPr>
              <a:t>important.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role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like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facilitator.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65480" y="577087"/>
            <a:ext cx="6629400" cy="816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5080" indent="-229235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-   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 must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aware of gender discourse differences as well as </a:t>
            </a:r>
            <a:r>
              <a:rPr dirty="0" sz="1200">
                <a:latin typeface="Arial MT"/>
                <a:cs typeface="Arial MT"/>
              </a:rPr>
              <a:t>those </a:t>
            </a:r>
            <a:r>
              <a:rPr dirty="0" sz="1200" spc="-5">
                <a:latin typeface="Arial MT"/>
                <a:cs typeface="Arial MT"/>
              </a:rPr>
              <a:t>that stem from race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effective,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adapt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meet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patterns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diversity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1842261"/>
            <a:ext cx="1507490" cy="594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Types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Discussion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Excerpt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2541777"/>
            <a:ext cx="975994" cy="142748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80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Teacher:</a:t>
            </a:r>
            <a:endParaRPr sz="1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780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St</a:t>
            </a:r>
            <a:r>
              <a:rPr dirty="0" sz="1200" spc="5">
                <a:latin typeface="Arial MT"/>
                <a:cs typeface="Arial MT"/>
              </a:rPr>
              <a:t>u</a:t>
            </a:r>
            <a:r>
              <a:rPr dirty="0" sz="1200" spc="-10">
                <a:latin typeface="Arial MT"/>
                <a:cs typeface="Arial MT"/>
              </a:rPr>
              <a:t>d</a:t>
            </a:r>
            <a:r>
              <a:rPr dirty="0" sz="1200">
                <a:latin typeface="Arial MT"/>
                <a:cs typeface="Arial MT"/>
              </a:rPr>
              <a:t>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A:</a:t>
            </a:r>
            <a:endParaRPr sz="1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St</a:t>
            </a:r>
            <a:r>
              <a:rPr dirty="0" sz="1200" spc="5">
                <a:latin typeface="Arial MT"/>
                <a:cs typeface="Arial MT"/>
              </a:rPr>
              <a:t>u</a:t>
            </a:r>
            <a:r>
              <a:rPr dirty="0" sz="1200" spc="-15">
                <a:latin typeface="Arial MT"/>
                <a:cs typeface="Arial MT"/>
              </a:rPr>
              <a:t>d</a:t>
            </a:r>
            <a:r>
              <a:rPr dirty="0" sz="1200" spc="-5">
                <a:latin typeface="Arial MT"/>
                <a:cs typeface="Arial MT"/>
              </a:rPr>
              <a:t>en</a:t>
            </a:r>
            <a:r>
              <a:rPr dirty="0" sz="1200">
                <a:latin typeface="Arial MT"/>
                <a:cs typeface="Arial MT"/>
              </a:rPr>
              <a:t>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</a:t>
            </a:r>
            <a:r>
              <a:rPr dirty="0" sz="1200"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C:</a:t>
            </a:r>
            <a:endParaRPr sz="1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Teacher: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2153" y="2541777"/>
            <a:ext cx="4960620" cy="2164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96465" indent="16510">
              <a:lnSpc>
                <a:spcPct val="15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What are the sources </a:t>
            </a:r>
            <a:r>
              <a:rPr dirty="0" sz="1200">
                <a:latin typeface="Arial MT"/>
                <a:cs typeface="Arial MT"/>
              </a:rPr>
              <a:t>of water </a:t>
            </a:r>
            <a:r>
              <a:rPr dirty="0" sz="1200" spc="-5">
                <a:latin typeface="Arial MT"/>
                <a:cs typeface="Arial MT"/>
              </a:rPr>
              <a:t>pollution?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People……</a:t>
            </a:r>
            <a:endParaRPr sz="1200">
              <a:latin typeface="Arial MT"/>
              <a:cs typeface="Arial MT"/>
            </a:endParaRPr>
          </a:p>
          <a:p>
            <a:pPr marL="64135" marR="3229610" indent="-50800">
              <a:lnSpc>
                <a:spcPts val="2210"/>
              </a:lnSpc>
              <a:spcBef>
                <a:spcPts val="185"/>
              </a:spcBef>
            </a:pP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litter thrown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water.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Oil from</a:t>
            </a:r>
            <a:r>
              <a:rPr dirty="0" sz="1200">
                <a:latin typeface="Arial MT"/>
                <a:cs typeface="Arial MT"/>
              </a:rPr>
              <a:t> oil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tankers.</a:t>
            </a:r>
            <a:endParaRPr sz="1200">
              <a:latin typeface="Arial MT"/>
              <a:cs typeface="Arial MT"/>
            </a:endParaRPr>
          </a:p>
          <a:p>
            <a:pPr marL="411480" marR="2451100" indent="-340360">
              <a:lnSpc>
                <a:spcPts val="2030"/>
              </a:lnSpc>
              <a:spcBef>
                <a:spcPts val="130"/>
              </a:spcBef>
            </a:pPr>
            <a:r>
              <a:rPr dirty="0" sz="1200" spc="-5">
                <a:latin typeface="Arial MT"/>
                <a:cs typeface="Arial MT"/>
              </a:rPr>
              <a:t>Any other source </a:t>
            </a:r>
            <a:r>
              <a:rPr dirty="0" sz="1200">
                <a:latin typeface="Arial MT"/>
                <a:cs typeface="Arial MT"/>
              </a:rPr>
              <a:t>of water </a:t>
            </a:r>
            <a:r>
              <a:rPr dirty="0" sz="1200" spc="-5">
                <a:latin typeface="Arial MT"/>
                <a:cs typeface="Arial MT"/>
              </a:rPr>
              <a:t>pollution?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(Silence in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class)</a:t>
            </a:r>
            <a:endParaRPr sz="1200">
              <a:latin typeface="Arial MT"/>
              <a:cs typeface="Arial MT"/>
            </a:endParaRPr>
          </a:p>
          <a:p>
            <a:pPr marL="29209">
              <a:lnSpc>
                <a:spcPct val="100000"/>
              </a:lnSpc>
              <a:spcBef>
                <a:spcPts val="640"/>
              </a:spcBef>
            </a:pPr>
            <a:r>
              <a:rPr dirty="0" sz="1200" spc="-5">
                <a:latin typeface="Arial MT"/>
                <a:cs typeface="Arial MT"/>
              </a:rPr>
              <a:t>What about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pesticides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sprayed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 plants?</a:t>
            </a:r>
            <a:endParaRPr sz="1200">
              <a:latin typeface="Arial MT"/>
              <a:cs typeface="Arial MT"/>
            </a:endParaRPr>
          </a:p>
          <a:p>
            <a:pPr marL="21590">
              <a:lnSpc>
                <a:spcPct val="100000"/>
              </a:lnSpc>
              <a:spcBef>
                <a:spcPts val="80"/>
              </a:spcBef>
            </a:pPr>
            <a:r>
              <a:rPr dirty="0" sz="1200" spc="-5">
                <a:latin typeface="Arial MT"/>
                <a:cs typeface="Arial MT"/>
              </a:rPr>
              <a:t>Pesticides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5">
                <a:latin typeface="Arial MT"/>
                <a:cs typeface="Arial MT"/>
              </a:rPr>
              <a:t> necessary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kill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pests</a:t>
            </a:r>
            <a:r>
              <a:rPr dirty="0" sz="1200" spc="-5">
                <a:latin typeface="Arial MT"/>
                <a:cs typeface="Arial MT"/>
              </a:rPr>
              <a:t> 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cause </a:t>
            </a:r>
            <a:r>
              <a:rPr dirty="0" sz="1200">
                <a:latin typeface="Arial MT"/>
                <a:cs typeface="Arial MT"/>
              </a:rPr>
              <a:t>harm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the</a:t>
            </a:r>
            <a:r>
              <a:rPr dirty="0" sz="1200" spc="-5">
                <a:latin typeface="Arial MT"/>
                <a:cs typeface="Arial MT"/>
              </a:rPr>
              <a:t> plants.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5480" y="4293235"/>
            <a:ext cx="975994" cy="66738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80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Teacher:</a:t>
            </a:r>
            <a:endParaRPr sz="1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85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D:</a:t>
            </a:r>
            <a:endParaRPr sz="120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  <a:spcBef>
                <a:spcPts val="565"/>
              </a:spcBef>
            </a:pPr>
            <a:r>
              <a:rPr dirty="0" sz="1200">
                <a:latin typeface="Arial MT"/>
                <a:cs typeface="Arial MT"/>
              </a:rPr>
              <a:t>Excerpt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5480" y="5070474"/>
            <a:ext cx="981075" cy="1691639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65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Teacher:</a:t>
            </a:r>
            <a:endParaRPr sz="1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St</a:t>
            </a:r>
            <a:r>
              <a:rPr dirty="0" sz="1200" spc="5">
                <a:latin typeface="Arial MT"/>
                <a:cs typeface="Arial MT"/>
              </a:rPr>
              <a:t>u</a:t>
            </a:r>
            <a:r>
              <a:rPr dirty="0" sz="1200" spc="-10">
                <a:latin typeface="Arial MT"/>
                <a:cs typeface="Arial MT"/>
              </a:rPr>
              <a:t>d</a:t>
            </a:r>
            <a:r>
              <a:rPr dirty="0" sz="1200">
                <a:latin typeface="Arial MT"/>
                <a:cs typeface="Arial MT"/>
              </a:rPr>
              <a:t>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A:</a:t>
            </a:r>
            <a:endParaRPr sz="1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St</a:t>
            </a:r>
            <a:r>
              <a:rPr dirty="0" sz="1200" spc="5">
                <a:latin typeface="Arial MT"/>
                <a:cs typeface="Arial MT"/>
              </a:rPr>
              <a:t>u</a:t>
            </a:r>
            <a:r>
              <a:rPr dirty="0" sz="1200" spc="-15">
                <a:latin typeface="Arial MT"/>
                <a:cs typeface="Arial MT"/>
              </a:rPr>
              <a:t>d</a:t>
            </a:r>
            <a:r>
              <a:rPr dirty="0" sz="1200" spc="-5">
                <a:latin typeface="Arial MT"/>
                <a:cs typeface="Arial MT"/>
              </a:rPr>
              <a:t>en</a:t>
            </a:r>
            <a:r>
              <a:rPr dirty="0" sz="1200">
                <a:latin typeface="Arial MT"/>
                <a:cs typeface="Arial MT"/>
              </a:rPr>
              <a:t>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</a:t>
            </a:r>
            <a:r>
              <a:rPr dirty="0" sz="1200"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780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C:</a:t>
            </a:r>
            <a:endParaRPr sz="1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Teacher:</a:t>
            </a:r>
            <a:endParaRPr sz="1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635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2889" y="5070474"/>
            <a:ext cx="5557520" cy="1691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235200" indent="16510">
              <a:lnSpc>
                <a:spcPct val="1533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think there </a:t>
            </a:r>
            <a:r>
              <a:rPr dirty="0" sz="1200">
                <a:latin typeface="Arial MT"/>
                <a:cs typeface="Arial MT"/>
              </a:rPr>
              <a:t>are many sources of water </a:t>
            </a:r>
            <a:r>
              <a:rPr dirty="0" sz="1200" spc="-5">
                <a:latin typeface="Arial MT"/>
                <a:cs typeface="Arial MT"/>
              </a:rPr>
              <a:t>pollution.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People……..</a:t>
            </a:r>
            <a:endParaRPr sz="1200">
              <a:latin typeface="Arial MT"/>
              <a:cs typeface="Arial MT"/>
            </a:endParaRPr>
          </a:p>
          <a:p>
            <a:pPr marL="62865" marR="3825875" indent="-50800">
              <a:lnSpc>
                <a:spcPts val="2220"/>
              </a:lnSpc>
              <a:spcBef>
                <a:spcPts val="180"/>
              </a:spcBef>
            </a:pP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litter </a:t>
            </a:r>
            <a:r>
              <a:rPr dirty="0" sz="1200" spc="-5">
                <a:latin typeface="Arial MT"/>
                <a:cs typeface="Arial MT"/>
              </a:rPr>
              <a:t>thrown in water.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Oil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5">
                <a:latin typeface="Arial MT"/>
                <a:cs typeface="Arial MT"/>
              </a:rPr>
              <a:t> oil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tanker.</a:t>
            </a:r>
            <a:endParaRPr sz="1200">
              <a:latin typeface="Arial MT"/>
              <a:cs typeface="Arial MT"/>
            </a:endParaRPr>
          </a:p>
          <a:p>
            <a:pPr marL="29209">
              <a:lnSpc>
                <a:spcPct val="100000"/>
              </a:lnSpc>
              <a:spcBef>
                <a:spcPts val="565"/>
              </a:spcBef>
            </a:pPr>
            <a:r>
              <a:rPr dirty="0" sz="1200" spc="-5">
                <a:latin typeface="Arial MT"/>
                <a:cs typeface="Arial MT"/>
              </a:rPr>
              <a:t>May 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factory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waste also.</a:t>
            </a:r>
            <a:endParaRPr sz="120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think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Pesticides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pollute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water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necessary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kill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pests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480" y="6734936"/>
            <a:ext cx="6625590" cy="193230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760"/>
              </a:spcBef>
            </a:pPr>
            <a:r>
              <a:rPr dirty="0" sz="1200" spc="-5">
                <a:latin typeface="Arial MT"/>
                <a:cs typeface="Arial MT"/>
              </a:rPr>
              <a:t>cause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harm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plants.</a:t>
            </a:r>
            <a:endParaRPr sz="1200">
              <a:latin typeface="Arial MT"/>
              <a:cs typeface="Arial MT"/>
            </a:endParaRPr>
          </a:p>
          <a:p>
            <a:pPr marL="241300" marR="5080" indent="-229235">
              <a:lnSpc>
                <a:spcPct val="145000"/>
              </a:lnSpc>
              <a:spcBef>
                <a:spcPts val="10"/>
              </a:spcBef>
              <a:buFont typeface="Calibri"/>
              <a:buChar char="-"/>
              <a:tabLst>
                <a:tab pos="241300" algn="l"/>
                <a:tab pos="241935" algn="l"/>
                <a:tab pos="1108075" algn="l"/>
              </a:tabLst>
            </a:pPr>
            <a:r>
              <a:rPr dirty="0" sz="1200">
                <a:latin typeface="Arial MT"/>
                <a:cs typeface="Arial MT"/>
              </a:rPr>
              <a:t>Teacher:	</a:t>
            </a:r>
            <a:r>
              <a:rPr dirty="0" sz="1200" spc="-5">
                <a:latin typeface="Arial MT"/>
                <a:cs typeface="Arial MT"/>
              </a:rPr>
              <a:t>Yes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agree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instead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pesticides.</a:t>
            </a:r>
            <a:endParaRPr sz="1200">
              <a:latin typeface="Arial MT"/>
              <a:cs typeface="Arial MT"/>
            </a:endParaRPr>
          </a:p>
          <a:p>
            <a:pPr marL="248920" marR="398780" indent="-236854">
              <a:lnSpc>
                <a:spcPct val="140000"/>
              </a:lnSpc>
              <a:spcBef>
                <a:spcPts val="240"/>
              </a:spcBef>
              <a:buFont typeface="Calibri"/>
              <a:buChar char="-"/>
              <a:tabLst>
                <a:tab pos="241300" algn="l"/>
                <a:tab pos="241935" algn="l"/>
                <a:tab pos="927100" algn="l"/>
              </a:tabLst>
            </a:pPr>
            <a:r>
              <a:rPr dirty="0" sz="1200" spc="-5">
                <a:latin typeface="Arial MT"/>
                <a:cs typeface="Arial MT"/>
              </a:rPr>
              <a:t>Student </a:t>
            </a:r>
            <a:r>
              <a:rPr dirty="0" sz="1200">
                <a:latin typeface="Arial MT"/>
                <a:cs typeface="Arial MT"/>
              </a:rPr>
              <a:t>E: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know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exactly but we</a:t>
            </a:r>
            <a:r>
              <a:rPr dirty="0" sz="1200">
                <a:latin typeface="Arial MT"/>
                <a:cs typeface="Arial MT"/>
              </a:rPr>
              <a:t> may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use</a:t>
            </a:r>
            <a:r>
              <a:rPr dirty="0" sz="1200" spc="-5">
                <a:latin typeface="Arial MT"/>
                <a:cs typeface="Arial MT"/>
              </a:rPr>
              <a:t> biological measures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reduce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	</a:t>
            </a:r>
            <a:r>
              <a:rPr dirty="0" sz="1200" spc="-5">
                <a:latin typeface="Arial MT"/>
                <a:cs typeface="Arial MT"/>
              </a:rPr>
              <a:t>insecticides.</a:t>
            </a:r>
            <a:endParaRPr sz="1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815"/>
              </a:spcBef>
              <a:buFont typeface="Calibri"/>
              <a:buChar char="-"/>
              <a:tabLst>
                <a:tab pos="241300" algn="l"/>
                <a:tab pos="241935" algn="l"/>
                <a:tab pos="1096645" algn="l"/>
              </a:tabLst>
            </a:pPr>
            <a:r>
              <a:rPr dirty="0" sz="1200">
                <a:latin typeface="Arial MT"/>
                <a:cs typeface="Arial MT"/>
              </a:rPr>
              <a:t>Teacher:	I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unnatural habits 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cause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water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pollution.</a:t>
            </a:r>
            <a:endParaRPr sz="1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A:   It</a:t>
            </a:r>
            <a:r>
              <a:rPr dirty="0" sz="1200" spc="-5">
                <a:latin typeface="Arial MT"/>
                <a:cs typeface="Arial MT"/>
              </a:rPr>
              <a:t> means people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source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water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pollution,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500" y="9103233"/>
            <a:ext cx="6852920" cy="2354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both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excerpt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 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discussion.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IRE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Recitation Script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Arial"/>
              <a:cs typeface="Arial"/>
            </a:endParaRPr>
          </a:p>
          <a:p>
            <a:pPr algn="just" marL="462280" indent="-229235">
              <a:lnSpc>
                <a:spcPct val="100000"/>
              </a:lnSpc>
              <a:buFont typeface="Calibri"/>
              <a:buChar char="-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Initiate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–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Respond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–</a:t>
            </a:r>
            <a:r>
              <a:rPr dirty="0" sz="1200" spc="-5">
                <a:latin typeface="Arial MT"/>
                <a:cs typeface="Arial MT"/>
              </a:rPr>
              <a:t> Evaluate</a:t>
            </a:r>
            <a:r>
              <a:rPr dirty="0" sz="1200">
                <a:latin typeface="Arial MT"/>
                <a:cs typeface="Arial MT"/>
              </a:rPr>
              <a:t> (IRE)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discourse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pattern.</a:t>
            </a:r>
            <a:endParaRPr sz="1200">
              <a:latin typeface="Arial MT"/>
              <a:cs typeface="Arial MT"/>
            </a:endParaRPr>
          </a:p>
          <a:p>
            <a:pPr algn="just" marL="462280" marR="5080" indent="-229235">
              <a:lnSpc>
                <a:spcPct val="144200"/>
              </a:lnSpc>
              <a:spcBef>
                <a:spcPts val="1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The IRE </a:t>
            </a:r>
            <a:r>
              <a:rPr dirty="0" sz="1200" spc="-5">
                <a:latin typeface="Arial MT"/>
                <a:cs typeface="Arial MT"/>
              </a:rPr>
              <a:t>pattern </a:t>
            </a:r>
            <a:r>
              <a:rPr dirty="0" sz="1200">
                <a:latin typeface="Arial MT"/>
                <a:cs typeface="Arial MT"/>
              </a:rPr>
              <a:t>has </a:t>
            </a:r>
            <a:r>
              <a:rPr dirty="0" sz="1200" spc="-5">
                <a:latin typeface="Arial MT"/>
                <a:cs typeface="Arial MT"/>
              </a:rPr>
              <a:t>been labeled </a:t>
            </a:r>
            <a:r>
              <a:rPr dirty="0" sz="1200">
                <a:latin typeface="Arial MT"/>
                <a:cs typeface="Arial MT"/>
              </a:rPr>
              <a:t>a “ </a:t>
            </a:r>
            <a:r>
              <a:rPr dirty="0" sz="1200" spc="-5">
                <a:latin typeface="Arial MT"/>
                <a:cs typeface="Arial MT"/>
              </a:rPr>
              <a:t>monologic discourse pattern” (Alexander, 2006), in </a:t>
            </a:r>
            <a:r>
              <a:rPr dirty="0" sz="1200" spc="-10">
                <a:latin typeface="Arial MT"/>
                <a:cs typeface="Arial MT"/>
              </a:rPr>
              <a:t>which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 </a:t>
            </a:r>
            <a:r>
              <a:rPr dirty="0" sz="1200">
                <a:latin typeface="Arial MT"/>
                <a:cs typeface="Arial MT"/>
              </a:rPr>
              <a:t>take turns at </a:t>
            </a:r>
            <a:r>
              <a:rPr dirty="0" sz="1200" spc="-5">
                <a:latin typeface="Arial MT"/>
                <a:cs typeface="Arial MT"/>
              </a:rPr>
              <a:t>will decide on what topics are important </a:t>
            </a:r>
            <a:r>
              <a:rPr dirty="0" sz="1200">
                <a:latin typeface="Arial MT"/>
                <a:cs typeface="Arial MT"/>
              </a:rPr>
              <a:t>to discuss, </a:t>
            </a:r>
            <a:r>
              <a:rPr dirty="0" sz="1200" spc="-5">
                <a:latin typeface="Arial MT"/>
                <a:cs typeface="Arial MT"/>
              </a:rPr>
              <a:t>decide who will </a:t>
            </a:r>
            <a:r>
              <a:rPr dirty="0" sz="1200">
                <a:latin typeface="Arial MT"/>
                <a:cs typeface="Arial MT"/>
              </a:rPr>
              <a:t>talk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how </a:t>
            </a:r>
            <a:r>
              <a:rPr dirty="0" sz="1200">
                <a:latin typeface="Arial MT"/>
                <a:cs typeface="Arial MT"/>
              </a:rPr>
              <a:t>long, </a:t>
            </a:r>
            <a:r>
              <a:rPr dirty="0" sz="1200" spc="-5">
                <a:latin typeface="Arial MT"/>
                <a:cs typeface="Arial MT"/>
              </a:rPr>
              <a:t>and interject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responses and </a:t>
            </a:r>
            <a:r>
              <a:rPr dirty="0" sz="1200">
                <a:latin typeface="Arial MT"/>
                <a:cs typeface="Arial MT"/>
              </a:rPr>
              <a:t>interpretations </a:t>
            </a:r>
            <a:r>
              <a:rPr dirty="0" sz="1200" spc="-5">
                <a:latin typeface="Arial MT"/>
                <a:cs typeface="Arial MT"/>
              </a:rPr>
              <a:t>controlling the pace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discussion.</a:t>
            </a:r>
            <a:r>
              <a:rPr dirty="0" sz="1200">
                <a:latin typeface="Arial MT"/>
                <a:cs typeface="Arial MT"/>
              </a:rPr>
              <a:t> This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known 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centered discussion.</a:t>
            </a:r>
            <a:endParaRPr sz="1200">
              <a:latin typeface="Arial MT"/>
              <a:cs typeface="Arial MT"/>
            </a:endParaRPr>
          </a:p>
          <a:p>
            <a:pPr algn="just" marL="462280" indent="-229235">
              <a:lnSpc>
                <a:spcPct val="100000"/>
              </a:lnSpc>
              <a:spcBef>
                <a:spcPts val="82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Teacher’s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talk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5">
                <a:latin typeface="Arial MT"/>
                <a:cs typeface="Arial MT"/>
              </a:rPr>
              <a:t> than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50%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talk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1234185"/>
            <a:ext cx="6856095" cy="2454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Dialogic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Discussion</a:t>
            </a:r>
            <a:endParaRPr sz="1200">
              <a:latin typeface="Arial"/>
              <a:cs typeface="Arial"/>
            </a:endParaRPr>
          </a:p>
          <a:p>
            <a:pPr algn="just" marL="462280" marR="6985" indent="-229235">
              <a:lnSpc>
                <a:spcPct val="144200"/>
              </a:lnSpc>
              <a:spcBef>
                <a:spcPts val="1040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Dialogic discussion also called as interactive discussion.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has come from Socrates method.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second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script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dialogue.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First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script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monologic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control.</a:t>
            </a:r>
            <a:endParaRPr sz="1200">
              <a:latin typeface="Arial MT"/>
              <a:cs typeface="Arial MT"/>
            </a:endParaRPr>
          </a:p>
          <a:p>
            <a:pPr algn="just" marL="462280" marR="5080" indent="-229235">
              <a:lnSpc>
                <a:spcPct val="144200"/>
              </a:lnSpc>
              <a:spcBef>
                <a:spcPts val="40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In this </a:t>
            </a:r>
            <a:r>
              <a:rPr dirty="0" sz="1200" spc="-5">
                <a:latin typeface="Arial MT"/>
                <a:cs typeface="Arial MT"/>
              </a:rPr>
              <a:t>interaction, students produce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“chain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utterances” (Nystrand, 2006) where they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 </a:t>
            </a:r>
            <a:r>
              <a:rPr dirty="0" sz="1200">
                <a:latin typeface="Arial MT"/>
                <a:cs typeface="Arial MT"/>
              </a:rPr>
              <a:t>to talk </a:t>
            </a:r>
            <a:r>
              <a:rPr dirty="0" sz="1200" spc="-5">
                <a:latin typeface="Arial MT"/>
                <a:cs typeface="Arial MT"/>
              </a:rPr>
              <a:t>without interruption or re-direction from the teacher. Students listen and respond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one </a:t>
            </a:r>
            <a:r>
              <a:rPr dirty="0" sz="1200" spc="-5">
                <a:latin typeface="Arial MT"/>
                <a:cs typeface="Arial MT"/>
              </a:rPr>
              <a:t>another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5">
                <a:latin typeface="Arial MT"/>
                <a:cs typeface="Arial MT"/>
              </a:rPr>
              <a:t>well as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teacher. In addition, the teacher responds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students’ ideas </a:t>
            </a:r>
            <a:r>
              <a:rPr dirty="0" sz="1200">
                <a:latin typeface="Arial MT"/>
                <a:cs typeface="Arial MT"/>
              </a:rPr>
              <a:t> rather </a:t>
            </a:r>
            <a:r>
              <a:rPr dirty="0" sz="1200" spc="-5">
                <a:latin typeface="Arial MT"/>
                <a:cs typeface="Arial MT"/>
              </a:rPr>
              <a:t>than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simply answering a series of questions asked by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teacher. Dialogic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promote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divergent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Monologic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promotes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convergent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4139310"/>
            <a:ext cx="6850380" cy="1132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Assessing classroom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discussion</a:t>
            </a:r>
            <a:endParaRPr sz="1200">
              <a:latin typeface="Arial"/>
              <a:cs typeface="Arial"/>
            </a:endParaRPr>
          </a:p>
          <a:p>
            <a:pPr algn="just" marL="462280" marR="5080" indent="-229235">
              <a:lnSpc>
                <a:spcPct val="144600"/>
              </a:lnSpc>
              <a:spcBef>
                <a:spcPts val="1025"/>
              </a:spcBef>
            </a:pP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5">
                <a:latin typeface="Arial MT"/>
                <a:cs typeface="Arial MT"/>
              </a:rPr>
              <a:t> four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communication,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engagement and conceptual understanding.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cannot assess all these skills on paper pencil </a:t>
            </a:r>
            <a:r>
              <a:rPr dirty="0" sz="1200">
                <a:latin typeface="Arial MT"/>
                <a:cs typeface="Arial MT"/>
              </a:rPr>
              <a:t> test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techniques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5716651"/>
            <a:ext cx="5056505" cy="174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Syntax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classroom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discussion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Phase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1: </a:t>
            </a:r>
            <a:r>
              <a:rPr dirty="0" sz="1200" spc="-5">
                <a:latin typeface="Arial MT"/>
                <a:cs typeface="Arial MT"/>
              </a:rPr>
              <a:t>clarify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aims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establish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set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5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Phase </a:t>
            </a:r>
            <a:r>
              <a:rPr dirty="0" sz="1200">
                <a:latin typeface="Arial MT"/>
                <a:cs typeface="Arial MT"/>
              </a:rPr>
              <a:t>2:</a:t>
            </a:r>
            <a:r>
              <a:rPr dirty="0" sz="1200" spc="3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(rules,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issue,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situation)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8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Phase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3: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hold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discussion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8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Phase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4: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 the discussion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5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Phase</a:t>
            </a:r>
            <a:r>
              <a:rPr dirty="0" sz="1200">
                <a:latin typeface="Arial MT"/>
                <a:cs typeface="Arial MT"/>
              </a:rPr>
              <a:t> 5: </a:t>
            </a:r>
            <a:r>
              <a:rPr dirty="0" sz="1200" spc="-5">
                <a:latin typeface="Arial MT"/>
                <a:cs typeface="Arial MT"/>
              </a:rPr>
              <a:t>debrief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(examining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own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5572" y="7794625"/>
            <a:ext cx="6979920" cy="39370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40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“Direct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Instruction”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8429625"/>
            <a:ext cx="4060825" cy="32753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Lesson</a:t>
            </a:r>
            <a:r>
              <a:rPr dirty="0" u="heavy" sz="120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content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865"/>
              </a:spcBef>
              <a:buChar char="•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Syntax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classroom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70"/>
              </a:spcBef>
              <a:buChar char="•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00"/>
              </a:spcBef>
              <a:buChar char="•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Theoretical and empirical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support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Conducting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85"/>
              </a:spcBef>
              <a:buChar char="•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Managing direct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95"/>
              </a:spcBef>
              <a:buChar char="•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Assessing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 instruction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Syntax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holding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Discussion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Phase</a:t>
            </a:r>
            <a:endParaRPr sz="12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 MT"/>
                <a:cs typeface="Arial MT"/>
              </a:rPr>
              <a:t>1.</a:t>
            </a:r>
            <a:r>
              <a:rPr dirty="0" sz="1200" spc="-5">
                <a:latin typeface="Arial MT"/>
                <a:cs typeface="Arial MT"/>
              </a:rPr>
              <a:t> Clarify aims and establish set.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200" spc="-5">
                <a:latin typeface="Arial MT"/>
                <a:cs typeface="Arial MT"/>
              </a:rPr>
              <a:t>Phase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2.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(rules,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issue,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situation)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Phase</a:t>
            </a:r>
            <a:endParaRPr sz="12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640"/>
              </a:spcBef>
            </a:pPr>
            <a:r>
              <a:rPr dirty="0" sz="1200">
                <a:latin typeface="Arial MT"/>
                <a:cs typeface="Arial MT"/>
              </a:rPr>
              <a:t>3.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Hold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577087"/>
            <a:ext cx="6856730" cy="1126363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25"/>
              </a:spcBef>
            </a:pPr>
            <a:r>
              <a:rPr dirty="0" sz="1200" spc="-5">
                <a:latin typeface="Arial MT"/>
                <a:cs typeface="Arial MT"/>
              </a:rPr>
              <a:t>Phase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4.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 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discussion.</a:t>
            </a:r>
            <a:endParaRPr sz="12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MT"/>
                <a:cs typeface="Arial MT"/>
              </a:rPr>
              <a:t>Phase </a:t>
            </a:r>
            <a:r>
              <a:rPr dirty="0" sz="1200">
                <a:latin typeface="Arial MT"/>
                <a:cs typeface="Arial MT"/>
              </a:rPr>
              <a:t>5.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Debrief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discussion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(examining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own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processes)</a:t>
            </a:r>
            <a:endParaRPr sz="1200">
              <a:latin typeface="Arial MT"/>
              <a:cs typeface="Arial MT"/>
            </a:endParaRPr>
          </a:p>
          <a:p>
            <a:pPr algn="just" marL="18415" marR="471170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In the first step </a:t>
            </a:r>
            <a:r>
              <a:rPr dirty="0" sz="1200" spc="-5">
                <a:latin typeface="Arial MT"/>
                <a:cs typeface="Arial MT"/>
              </a:rPr>
              <a:t>teacher need to </a:t>
            </a:r>
            <a:r>
              <a:rPr dirty="0" sz="1200">
                <a:latin typeface="Arial MT"/>
                <a:cs typeface="Arial MT"/>
              </a:rPr>
              <a:t>tell </a:t>
            </a:r>
            <a:r>
              <a:rPr dirty="0" sz="1200" spc="-5">
                <a:latin typeface="Arial MT"/>
                <a:cs typeface="Arial MT"/>
              </a:rPr>
              <a:t>the students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-5">
                <a:latin typeface="Arial MT"/>
                <a:cs typeface="Arial MT"/>
              </a:rPr>
              <a:t>they are going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achieve at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end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lesson before the discussion. Second phase is about the rules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discussion. For example </a:t>
            </a:r>
            <a:r>
              <a:rPr dirty="0" sz="1200">
                <a:latin typeface="Arial MT"/>
                <a:cs typeface="Arial MT"/>
              </a:rPr>
              <a:t> what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expressions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third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step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what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type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be held. There are </a:t>
            </a:r>
            <a:r>
              <a:rPr dirty="0" sz="1200">
                <a:latin typeface="Arial MT"/>
                <a:cs typeface="Arial MT"/>
              </a:rPr>
              <a:t>two types of </a:t>
            </a:r>
            <a:r>
              <a:rPr dirty="0" sz="1200" spc="-5">
                <a:latin typeface="Arial MT"/>
                <a:cs typeface="Arial MT"/>
              </a:rPr>
              <a:t>discussions </a:t>
            </a:r>
            <a:r>
              <a:rPr dirty="0" sz="1200">
                <a:latin typeface="Arial MT"/>
                <a:cs typeface="Arial MT"/>
              </a:rPr>
              <a:t>1. </a:t>
            </a:r>
            <a:r>
              <a:rPr dirty="0" sz="1200" spc="-5">
                <a:latin typeface="Arial MT"/>
                <a:cs typeface="Arial MT"/>
              </a:rPr>
              <a:t>Monologic </a:t>
            </a:r>
            <a:r>
              <a:rPr dirty="0" sz="1200">
                <a:latin typeface="Arial MT"/>
                <a:cs typeface="Arial MT"/>
              </a:rPr>
              <a:t>2. </a:t>
            </a:r>
            <a:r>
              <a:rPr dirty="0" sz="1200" spc="-5">
                <a:latin typeface="Arial MT"/>
                <a:cs typeface="Arial MT"/>
              </a:rPr>
              <a:t>Dialogic. Monologic discussion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teacher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centered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dialogic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>
                <a:latin typeface="Arial MT"/>
                <a:cs typeface="Arial MT"/>
              </a:rPr>
              <a:t> just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like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another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participant.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Next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step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about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timeframe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discussion.</a:t>
            </a:r>
            <a:r>
              <a:rPr dirty="0" sz="1200" spc="459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At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end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actually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sums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30"/>
              </a:spcBef>
            </a:pPr>
            <a:r>
              <a:rPr dirty="0" sz="1200" spc="-5">
                <a:latin typeface="Arial MT"/>
                <a:cs typeface="Arial MT"/>
              </a:rPr>
              <a:t>up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discussion.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debriefing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endParaRPr sz="1200">
              <a:latin typeface="Arial MT"/>
              <a:cs typeface="Arial MT"/>
            </a:endParaRPr>
          </a:p>
          <a:p>
            <a:pPr algn="just" marL="18415" marR="469900">
              <a:lnSpc>
                <a:spcPct val="144200"/>
              </a:lnSpc>
            </a:pP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process. It can develop thinking skills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students. Reflective thinking will be developed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 debriefing.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Example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questions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80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Which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following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primary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outcome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discussion?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600"/>
              </a:spcBef>
              <a:buFont typeface="Times New Roman"/>
              <a:buAutoNum type="alphaLcPeriod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Increased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retention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basic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lphaLcPeriod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Improve communication skills.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lphaLcPeriod"/>
              <a:tabLst>
                <a:tab pos="699135" algn="l"/>
              </a:tabLst>
            </a:pPr>
            <a:r>
              <a:rPr dirty="0" sz="1200">
                <a:latin typeface="Arial MT"/>
                <a:cs typeface="Arial MT"/>
              </a:rPr>
              <a:t>Greater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engagement.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lphaLcPeriod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Higher-level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thinking.</a:t>
            </a:r>
            <a:endParaRPr sz="1200">
              <a:latin typeface="Arial MT"/>
              <a:cs typeface="Arial MT"/>
            </a:endParaRPr>
          </a:p>
          <a:p>
            <a:pPr marL="18415" marR="15875" indent="-6350">
              <a:lnSpc>
                <a:spcPct val="144200"/>
              </a:lnSpc>
              <a:spcBef>
                <a:spcPts val="985"/>
              </a:spcBef>
            </a:pPr>
            <a:r>
              <a:rPr dirty="0" sz="1200" spc="-5">
                <a:latin typeface="Arial MT"/>
                <a:cs typeface="Arial MT"/>
              </a:rPr>
              <a:t>Correct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a.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memorize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 basic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higher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children.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81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Which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following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>
                <a:latin typeface="Arial MT"/>
                <a:cs typeface="Arial MT"/>
              </a:rPr>
              <a:t>best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environment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discussion?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600"/>
              </a:spcBef>
              <a:buFont typeface="Times New Roman"/>
              <a:buAutoNum type="alphaLcPeriod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Highly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structured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 active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roles.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lphaLcPeriod"/>
              <a:tabLst>
                <a:tab pos="699135" algn="l"/>
              </a:tabLst>
            </a:pPr>
            <a:r>
              <a:rPr dirty="0" sz="1200">
                <a:latin typeface="Arial MT"/>
                <a:cs typeface="Arial MT"/>
              </a:rPr>
              <a:t>Active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lphaLcPeriod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Moderately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structured with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roles.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670"/>
              </a:spcBef>
              <a:buFont typeface="Times New Roman"/>
              <a:buAutoNum type="alphaLcPeriod"/>
              <a:tabLst>
                <a:tab pos="699135" algn="l"/>
              </a:tabLst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5">
                <a:latin typeface="Arial MT"/>
                <a:cs typeface="Arial MT"/>
              </a:rPr>
              <a:t> depends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discussed.</a:t>
            </a:r>
            <a:endParaRPr sz="1200">
              <a:latin typeface="Arial MT"/>
              <a:cs typeface="Arial MT"/>
            </a:endParaRPr>
          </a:p>
          <a:p>
            <a:pPr marL="18415" marR="10160" indent="-6350">
              <a:lnSpc>
                <a:spcPct val="144200"/>
              </a:lnSpc>
              <a:spcBef>
                <a:spcPts val="985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correct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answer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convergent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active.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if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5">
                <a:latin typeface="Arial MT"/>
                <a:cs typeface="Arial MT"/>
              </a:rPr>
              <a:t> topic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divergent </a:t>
            </a:r>
            <a:r>
              <a:rPr dirty="0" sz="1200">
                <a:latin typeface="Arial MT"/>
                <a:cs typeface="Arial MT"/>
              </a:rPr>
              <a:t>then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 have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talk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keep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mind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abstract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topics.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Direct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Instruction</a:t>
            </a:r>
            <a:endParaRPr sz="1200">
              <a:latin typeface="Arial"/>
              <a:cs typeface="Arial"/>
            </a:endParaRPr>
          </a:p>
          <a:p>
            <a:pPr marL="18415" marR="469265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much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controlled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method.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exactly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lecture.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Difference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lecture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only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declarative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10">
                <a:latin typeface="Arial MT"/>
                <a:cs typeface="Arial MT"/>
              </a:rPr>
              <a:t>just</a:t>
            </a:r>
            <a:endParaRPr sz="12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459"/>
              </a:spcBef>
            </a:pPr>
            <a:r>
              <a:rPr dirty="0" sz="1200" spc="-5">
                <a:latin typeface="Arial MT"/>
                <a:cs typeface="Arial MT"/>
              </a:rPr>
              <a:t>gives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declarative 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knowledge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broder</a:t>
            </a:r>
            <a:endParaRPr sz="12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 MT"/>
                <a:cs typeface="Arial MT"/>
              </a:rPr>
              <a:t>term.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students.</a:t>
            </a:r>
            <a:endParaRPr sz="1200">
              <a:latin typeface="Arial MT"/>
              <a:cs typeface="Arial MT"/>
            </a:endParaRPr>
          </a:p>
          <a:p>
            <a:pPr algn="just" marL="462280" marR="5080" indent="-229235">
              <a:lnSpc>
                <a:spcPct val="144200"/>
              </a:lnSpc>
              <a:spcBef>
                <a:spcPts val="40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The instructional effects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direct instruction model are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promote mastery of simple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 skills and declarative knowledge that </a:t>
            </a:r>
            <a:r>
              <a:rPr dirty="0" sz="120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be carefully defined and taught in a </a:t>
            </a:r>
            <a:r>
              <a:rPr dirty="0" sz="1200">
                <a:latin typeface="Arial MT"/>
                <a:cs typeface="Arial MT"/>
              </a:rPr>
              <a:t>step-by-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step</a:t>
            </a:r>
            <a:r>
              <a:rPr dirty="0" sz="1200" spc="-5">
                <a:latin typeface="Arial MT"/>
                <a:cs typeface="Arial MT"/>
              </a:rPr>
              <a:t> fashion.</a:t>
            </a:r>
            <a:endParaRPr sz="1200">
              <a:latin typeface="Arial MT"/>
              <a:cs typeface="Arial MT"/>
            </a:endParaRPr>
          </a:p>
          <a:p>
            <a:pPr algn="just" marL="462280" marR="10795" indent="-229235">
              <a:lnSpc>
                <a:spcPct val="144200"/>
              </a:lnSpc>
              <a:spcBef>
                <a:spcPts val="3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draws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theoretical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support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behavioral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theory,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theory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effectiveness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research.</a:t>
            </a:r>
            <a:endParaRPr sz="1200">
              <a:latin typeface="Arial MT"/>
              <a:cs typeface="Arial MT"/>
            </a:endParaRPr>
          </a:p>
          <a:p>
            <a:pPr algn="just" marL="18415" marR="153035" indent="-6350">
              <a:lnSpc>
                <a:spcPct val="144200"/>
              </a:lnSpc>
              <a:spcBef>
                <a:spcPts val="980"/>
              </a:spcBef>
            </a:pP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lot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examples are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-5">
                <a:latin typeface="Arial MT"/>
                <a:cs typeface="Arial MT"/>
              </a:rPr>
              <a:t>which involves procedural knowledge.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example in math there </a:t>
            </a:r>
            <a:r>
              <a:rPr dirty="0" sz="1200" spc="-1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facts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575563"/>
            <a:ext cx="6569075" cy="2688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formula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step-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by-step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formula.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example.</a:t>
            </a:r>
            <a:r>
              <a:rPr dirty="0" sz="1200">
                <a:latin typeface="Arial MT"/>
                <a:cs typeface="Arial MT"/>
              </a:rPr>
              <a:t> Task</a:t>
            </a:r>
            <a:r>
              <a:rPr dirty="0" sz="1200" spc="-5">
                <a:latin typeface="Arial MT"/>
                <a:cs typeface="Arial MT"/>
              </a:rPr>
              <a:t> analysis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domain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instruction.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direct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instruction</a:t>
            </a:r>
            <a:endParaRPr sz="1200">
              <a:latin typeface="Arial"/>
              <a:cs typeface="Arial"/>
            </a:endParaRPr>
          </a:p>
          <a:p>
            <a:pPr marL="332740" indent="-93980">
              <a:lnSpc>
                <a:spcPct val="100000"/>
              </a:lnSpc>
              <a:spcBef>
                <a:spcPts val="790"/>
              </a:spcBef>
              <a:buChar char="-"/>
              <a:tabLst>
                <a:tab pos="333375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five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phases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a direct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 model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are: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Providing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establishing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set.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675"/>
              </a:spcBef>
              <a:buFont typeface="Times New Roman"/>
              <a:buAutoNum type="arabicPeriod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Demonstrating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explaining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materials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be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learned.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645"/>
              </a:spcBef>
              <a:buFont typeface="Times New Roman"/>
              <a:buAutoNum type="arabicPeriod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Providing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practice.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675"/>
              </a:spcBef>
              <a:buFont typeface="Times New Roman"/>
              <a:buAutoNum type="arabicPeriod"/>
              <a:tabLst>
                <a:tab pos="699135" algn="l"/>
              </a:tabLst>
            </a:pPr>
            <a:r>
              <a:rPr dirty="0" sz="1200">
                <a:latin typeface="Arial MT"/>
                <a:cs typeface="Arial MT"/>
              </a:rPr>
              <a:t>Checking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providing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feedback.</a:t>
            </a:r>
            <a:endParaRPr sz="1200">
              <a:latin typeface="Arial MT"/>
              <a:cs typeface="Arial MT"/>
            </a:endParaRPr>
          </a:p>
          <a:p>
            <a:pPr lvl="1" marL="698500" indent="-229235">
              <a:lnSpc>
                <a:spcPct val="100000"/>
              </a:lnSpc>
              <a:spcBef>
                <a:spcPts val="645"/>
              </a:spcBef>
              <a:buFont typeface="Times New Roman"/>
              <a:buAutoNum type="arabicPeriod"/>
              <a:tabLst>
                <a:tab pos="699135" algn="l"/>
              </a:tabLst>
            </a:pPr>
            <a:r>
              <a:rPr dirty="0" sz="1200" spc="-5">
                <a:latin typeface="Arial MT"/>
                <a:cs typeface="Arial MT"/>
              </a:rPr>
              <a:t>Providing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extended </a:t>
            </a:r>
            <a:r>
              <a:rPr dirty="0" sz="1200">
                <a:latin typeface="Arial MT"/>
                <a:cs typeface="Arial MT"/>
              </a:rPr>
              <a:t>practice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transfer.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3709161"/>
            <a:ext cx="6849109" cy="809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Key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Terms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Guided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practice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200">
                <a:latin typeface="Arial MT"/>
                <a:cs typeface="Arial MT"/>
              </a:rPr>
              <a:t>Practice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assigned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be </a:t>
            </a:r>
            <a:r>
              <a:rPr dirty="0" sz="1200" spc="-5">
                <a:latin typeface="Arial MT"/>
                <a:cs typeface="Arial MT"/>
              </a:rPr>
              <a:t>completed under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guidance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watchful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eye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Distributed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Practice</a:t>
            </a:r>
            <a:endParaRPr sz="1200">
              <a:latin typeface="Arial"/>
              <a:cs typeface="Arial"/>
            </a:endParaRPr>
          </a:p>
          <a:p>
            <a:pPr marL="18415" marR="5080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Practice</a:t>
            </a:r>
            <a:r>
              <a:rPr dirty="0" sz="1200" spc="-5">
                <a:latin typeface="Arial MT"/>
                <a:cs typeface="Arial MT"/>
              </a:rPr>
              <a:t> assigned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 brief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periods spread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 several sessions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periods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time.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200" spc="-5" b="1">
                <a:latin typeface="Arial"/>
                <a:cs typeface="Arial"/>
              </a:rPr>
              <a:t>Massed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practice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200">
                <a:latin typeface="Arial MT"/>
                <a:cs typeface="Arial MT"/>
              </a:rPr>
              <a:t>Practice </a:t>
            </a:r>
            <a:r>
              <a:rPr dirty="0" sz="1200" spc="-5">
                <a:latin typeface="Arial MT"/>
                <a:cs typeface="Arial MT"/>
              </a:rPr>
              <a:t>assigned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done during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single extended period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Independent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practice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200">
                <a:latin typeface="Arial MT"/>
                <a:cs typeface="Arial MT"/>
              </a:rPr>
              <a:t>Practice </a:t>
            </a:r>
            <a:r>
              <a:rPr dirty="0" sz="1200" spc="-5">
                <a:latin typeface="Arial MT"/>
                <a:cs typeface="Arial MT"/>
              </a:rPr>
              <a:t>given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accomplish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>
                <a:latin typeface="Arial MT"/>
                <a:cs typeface="Arial MT"/>
              </a:rPr>
              <a:t>own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without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teachers’ guidance.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Homework</a:t>
            </a:r>
            <a:endParaRPr sz="1200">
              <a:latin typeface="Arial"/>
              <a:cs typeface="Arial"/>
            </a:endParaRPr>
          </a:p>
          <a:p>
            <a:pPr marL="18415" marR="6350" indent="-6350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Independent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academic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performed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outside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classroom.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Homework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200" spc="-5" b="1">
                <a:latin typeface="Arial"/>
                <a:cs typeface="Arial"/>
              </a:rPr>
              <a:t>Overlearning</a:t>
            </a:r>
            <a:endParaRPr sz="1200">
              <a:latin typeface="Arial"/>
              <a:cs typeface="Arial"/>
            </a:endParaRPr>
          </a:p>
          <a:p>
            <a:pPr marL="12700" marR="52705">
              <a:lnSpc>
                <a:spcPts val="210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Working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task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until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completely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automatically.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Daily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drill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anything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distributed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practice.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Automation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3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overlearning.</a:t>
            </a:r>
            <a:endParaRPr sz="12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Automation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instruction.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reached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level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endParaRPr sz="120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  <a:spcBef>
                <a:spcPts val="640"/>
              </a:spcBef>
            </a:pPr>
            <a:r>
              <a:rPr dirty="0" sz="1200" spc="-5">
                <a:latin typeface="Arial MT"/>
                <a:cs typeface="Arial MT"/>
              </a:rPr>
              <a:t>automation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means 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 properly.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Conducting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Direct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Instruction</a:t>
            </a:r>
            <a:endParaRPr sz="1200">
              <a:latin typeface="Arial"/>
              <a:cs typeface="Arial"/>
            </a:endParaRPr>
          </a:p>
          <a:p>
            <a:pPr algn="just" marL="462280" marR="465455" indent="-229235">
              <a:lnSpc>
                <a:spcPts val="2080"/>
              </a:lnSpc>
              <a:spcBef>
                <a:spcPts val="160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Conducting a direct instruction lesson requires teachers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explain </a:t>
            </a:r>
            <a:r>
              <a:rPr dirty="0" sz="1200">
                <a:latin typeface="Arial MT"/>
                <a:cs typeface="Arial MT"/>
              </a:rPr>
              <a:t>things </a:t>
            </a:r>
            <a:r>
              <a:rPr dirty="0" sz="1200" spc="-5">
                <a:latin typeface="Arial MT"/>
                <a:cs typeface="Arial MT"/>
              </a:rPr>
              <a:t>clearly;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demonstrate and model practice behaviors; and to </a:t>
            </a:r>
            <a:r>
              <a:rPr dirty="0" sz="1200">
                <a:latin typeface="Arial MT"/>
                <a:cs typeface="Arial MT"/>
              </a:rPr>
              <a:t>provide </a:t>
            </a:r>
            <a:r>
              <a:rPr dirty="0" sz="1200" spc="-5">
                <a:latin typeface="Arial MT"/>
                <a:cs typeface="Arial MT"/>
              </a:rPr>
              <a:t>for practice, monitoring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performance 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feedback.</a:t>
            </a:r>
            <a:endParaRPr sz="1200">
              <a:latin typeface="Arial MT"/>
              <a:cs typeface="Arial MT"/>
            </a:endParaRPr>
          </a:p>
          <a:p>
            <a:pPr algn="just" marL="462280" marR="469265" indent="-229235">
              <a:lnSpc>
                <a:spcPts val="2080"/>
              </a:lnSpc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10">
                <a:latin typeface="Arial MT"/>
                <a:cs typeface="Arial MT"/>
              </a:rPr>
              <a:t>use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practice should be guided by several principles; assigning short, meaningful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amounts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practice;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assigning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increase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overlearning;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appropriate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massed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distributed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575563"/>
            <a:ext cx="6853555" cy="7574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469900" indent="-63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Meaningful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instruction.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Just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like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feedback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 Modeling is a way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present certain behavior and learning. In modeling feedback 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 important. Feedback should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appropriate and constructive. For example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</a:t>
            </a:r>
            <a:r>
              <a:rPr dirty="0" sz="1200" spc="-10">
                <a:latin typeface="Arial MT"/>
                <a:cs typeface="Arial MT"/>
              </a:rPr>
              <a:t>say </a:t>
            </a:r>
            <a:r>
              <a:rPr dirty="0" sz="1200" spc="-5">
                <a:latin typeface="Arial MT"/>
                <a:cs typeface="Arial MT"/>
              </a:rPr>
              <a:t>very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student this will not be an appropriate feedback </a:t>
            </a:r>
            <a:r>
              <a:rPr dirty="0" sz="1200" spc="-10">
                <a:latin typeface="Arial MT"/>
                <a:cs typeface="Arial MT"/>
              </a:rPr>
              <a:t>because </a:t>
            </a:r>
            <a:r>
              <a:rPr dirty="0" sz="1200" spc="-5">
                <a:latin typeface="Arial MT"/>
                <a:cs typeface="Arial MT"/>
              </a:rPr>
              <a:t>child will not understand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improvement.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Environment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 </a:t>
            </a:r>
            <a:r>
              <a:rPr dirty="0" sz="1200" spc="-5" b="1">
                <a:latin typeface="Arial"/>
                <a:cs typeface="Arial"/>
              </a:rPr>
              <a:t>conducive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Direct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Instruction</a:t>
            </a:r>
            <a:endParaRPr sz="1200">
              <a:latin typeface="Arial"/>
              <a:cs typeface="Arial"/>
            </a:endParaRPr>
          </a:p>
          <a:p>
            <a:pPr algn="just" marL="18415" marR="467359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Direct instruction lessons require the unique classroom management skill of gaining students’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attention in a whole-group setting and sustaining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attention for extended periods of </a:t>
            </a:r>
            <a:r>
              <a:rPr dirty="0" sz="1200">
                <a:latin typeface="Arial MT"/>
                <a:cs typeface="Arial MT"/>
              </a:rPr>
              <a:t>time.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Particular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management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concerns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organizing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setting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maximum effect; maintaining appropriate pace, flow and momentum; sustaining engagement, </a:t>
            </a:r>
            <a:r>
              <a:rPr dirty="0" sz="1200">
                <a:latin typeface="Arial MT"/>
                <a:cs typeface="Arial MT"/>
              </a:rPr>
              <a:t> involvement </a:t>
            </a:r>
            <a:r>
              <a:rPr dirty="0" sz="1200" spc="-5">
                <a:latin typeface="Arial MT"/>
                <a:cs typeface="Arial MT"/>
              </a:rPr>
              <a:t>and participation; and dealing with student behavior quickly and </a:t>
            </a:r>
            <a:r>
              <a:rPr dirty="0" sz="1200">
                <a:latin typeface="Arial MT"/>
                <a:cs typeface="Arial MT"/>
              </a:rPr>
              <a:t>firmly. </a:t>
            </a:r>
            <a:r>
              <a:rPr dirty="0" sz="1200" spc="-5">
                <a:latin typeface="Arial MT"/>
                <a:cs typeface="Arial MT"/>
              </a:rPr>
              <a:t>Declarative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through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paper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pencil.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200" spc="-5" b="1">
                <a:latin typeface="Arial"/>
                <a:cs typeface="Arial"/>
              </a:rPr>
              <a:t>Assessment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through</a:t>
            </a:r>
            <a:r>
              <a:rPr dirty="0" sz="1200" b="1">
                <a:latin typeface="Arial"/>
                <a:cs typeface="Arial"/>
              </a:rPr>
              <a:t> direct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instruction</a:t>
            </a:r>
            <a:endParaRPr sz="1200">
              <a:latin typeface="Arial"/>
              <a:cs typeface="Arial"/>
            </a:endParaRPr>
          </a:p>
          <a:p>
            <a:pPr algn="just" marL="462280" marR="8255" indent="-229235">
              <a:lnSpc>
                <a:spcPts val="2080"/>
              </a:lnSpc>
              <a:spcBef>
                <a:spcPts val="160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Assessment </a:t>
            </a:r>
            <a:r>
              <a:rPr dirty="0" sz="1200">
                <a:latin typeface="Arial MT"/>
                <a:cs typeface="Arial MT"/>
              </a:rPr>
              <a:t>tasks </a:t>
            </a:r>
            <a:r>
              <a:rPr dirty="0" sz="1200" spc="-5">
                <a:latin typeface="Arial MT"/>
                <a:cs typeface="Arial MT"/>
              </a:rPr>
              <a:t>associated with the model put emphasis on practice and on developing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 appropriate basic knowledge and performance tests that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>
                <a:latin typeface="Arial MT"/>
                <a:cs typeface="Arial MT"/>
              </a:rPr>
              <a:t>accurately </a:t>
            </a:r>
            <a:r>
              <a:rPr dirty="0" sz="1200" spc="-5">
                <a:latin typeface="Arial MT"/>
                <a:cs typeface="Arial MT"/>
              </a:rPr>
              <a:t>measure simple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complex skills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provide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feedback.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Calibri"/>
              <a:buChar char="-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Calibri"/>
              <a:buChar char="-"/>
            </a:pP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Limitations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80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Too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centered.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7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Keeps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passive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roles.</a:t>
            </a:r>
            <a:endParaRPr sz="1200">
              <a:latin typeface="Arial MT"/>
              <a:cs typeface="Arial MT"/>
            </a:endParaRPr>
          </a:p>
          <a:p>
            <a:pPr marL="462280" marR="10795" indent="-229235">
              <a:lnSpc>
                <a:spcPts val="2090"/>
              </a:lnSpc>
              <a:spcBef>
                <a:spcPts val="16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However,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remains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popular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allows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accomplish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major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>
                <a:latin typeface="Arial MT"/>
                <a:cs typeface="Arial MT"/>
              </a:rPr>
              <a:t> as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expressed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larger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society.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48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Rosenshine</a:t>
            </a:r>
            <a:r>
              <a:rPr dirty="0" sz="1200" spc="3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(1987)</a:t>
            </a:r>
            <a:r>
              <a:rPr dirty="0" sz="1200" spc="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came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</a:t>
            </a:r>
            <a:r>
              <a:rPr dirty="0" sz="1200" spc="3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3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conclusion</a:t>
            </a:r>
            <a:r>
              <a:rPr dirty="0" sz="1200" spc="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that,</a:t>
            </a:r>
            <a:r>
              <a:rPr dirty="0" sz="1200" spc="3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”Teaching  </a:t>
            </a:r>
            <a:r>
              <a:rPr dirty="0" sz="1200">
                <a:latin typeface="Arial MT"/>
                <a:cs typeface="Arial MT"/>
              </a:rPr>
              <a:t>mathematical</a:t>
            </a:r>
            <a:r>
              <a:rPr dirty="0" sz="1200" spc="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procedures,</a:t>
            </a:r>
            <a:endParaRPr sz="1200">
              <a:latin typeface="Arial MT"/>
              <a:cs typeface="Arial MT"/>
            </a:endParaRPr>
          </a:p>
          <a:p>
            <a:pPr algn="just" marL="462280" marR="9525">
              <a:lnSpc>
                <a:spcPct val="1442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computation,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reading, explicit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procedures(distinguishing between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opinion, </a:t>
            </a:r>
            <a:r>
              <a:rPr dirty="0" sz="1200">
                <a:latin typeface="Arial MT"/>
                <a:cs typeface="Arial MT"/>
              </a:rPr>
              <a:t> science </a:t>
            </a:r>
            <a:r>
              <a:rPr dirty="0" sz="1200" spc="-5">
                <a:latin typeface="Arial MT"/>
                <a:cs typeface="Arial MT"/>
              </a:rPr>
              <a:t>concepts, rules, foreign language and grammar can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easily done through direct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instruction”.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572" y="8666352"/>
            <a:ext cx="6979920" cy="39370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 41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“Discovery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 Learning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Vs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Presentation”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9224010"/>
            <a:ext cx="6854825" cy="1627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425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Discovery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learner-centered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method.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Presentation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teacher-centered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method.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 learning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activities,</a:t>
            </a:r>
            <a:r>
              <a:rPr dirty="0" sz="1200" b="1">
                <a:latin typeface="Arial"/>
                <a:cs typeface="Arial"/>
              </a:rPr>
              <a:t> we prefer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students-centered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methods.</a:t>
            </a:r>
            <a:endParaRPr sz="1200">
              <a:latin typeface="Arial"/>
              <a:cs typeface="Arial"/>
            </a:endParaRPr>
          </a:p>
          <a:p>
            <a:pPr marL="18415" marR="246379" indent="-6350">
              <a:lnSpc>
                <a:spcPts val="2080"/>
              </a:lnSpc>
              <a:spcBef>
                <a:spcPts val="160"/>
              </a:spcBef>
            </a:pPr>
            <a:r>
              <a:rPr dirty="0" sz="1200" spc="-5">
                <a:latin typeface="Arial MT"/>
                <a:cs typeface="Arial MT"/>
              </a:rPr>
              <a:t>Sometimes people tend to use word discovery learning </a:t>
            </a:r>
            <a:r>
              <a:rPr dirty="0" sz="1200">
                <a:latin typeface="Arial MT"/>
                <a:cs typeface="Arial MT"/>
              </a:rPr>
              <a:t>for activity based </a:t>
            </a:r>
            <a:r>
              <a:rPr dirty="0" sz="1200" spc="-5">
                <a:latin typeface="Arial MT"/>
                <a:cs typeface="Arial MT"/>
              </a:rPr>
              <a:t>learning. All activities are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discoveries.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Arial MT"/>
              <a:cs typeface="Arial MT"/>
            </a:endParaRPr>
          </a:p>
          <a:p>
            <a:pPr marL="233679">
              <a:lnSpc>
                <a:spcPct val="100000"/>
              </a:lnSpc>
              <a:tabLst>
                <a:tab pos="462280" algn="l"/>
              </a:tabLst>
            </a:pPr>
            <a:r>
              <a:rPr dirty="0" sz="1200">
                <a:latin typeface="Calibri"/>
                <a:cs typeface="Calibri"/>
              </a:rPr>
              <a:t>-	</a:t>
            </a:r>
            <a:r>
              <a:rPr dirty="0" sz="1200" spc="-5" b="1">
                <a:latin typeface="Arial"/>
                <a:cs typeface="Arial"/>
              </a:rPr>
              <a:t>Discovery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 </a:t>
            </a:r>
            <a:r>
              <a:rPr dirty="0" sz="1200" b="1">
                <a:latin typeface="Arial"/>
                <a:cs typeface="Arial"/>
              </a:rPr>
              <a:t>is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method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which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employs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spirit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discovery.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0" y="11327130"/>
            <a:ext cx="23869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Arial"/>
                <a:cs typeface="Arial"/>
              </a:rPr>
              <a:t>What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is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discovery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learning?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580135"/>
            <a:ext cx="6852284" cy="4486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462280" marR="5080" indent="-229235">
              <a:lnSpc>
                <a:spcPct val="142600"/>
              </a:lnSpc>
              <a:spcBef>
                <a:spcPts val="9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Discovery learning is </a:t>
            </a:r>
            <a:r>
              <a:rPr dirty="0" sz="1200" b="1">
                <a:latin typeface="Arial"/>
                <a:cs typeface="Arial"/>
              </a:rPr>
              <a:t>“an approach to </a:t>
            </a:r>
            <a:r>
              <a:rPr dirty="0" sz="1200" spc="-5" b="1">
                <a:latin typeface="Arial"/>
                <a:cs typeface="Arial"/>
              </a:rPr>
              <a:t>instruction through which students </a:t>
            </a:r>
            <a:r>
              <a:rPr dirty="0" sz="1200" b="1">
                <a:latin typeface="Arial"/>
                <a:cs typeface="Arial"/>
              </a:rPr>
              <a:t>interact </a:t>
            </a:r>
            <a:r>
              <a:rPr dirty="0" sz="1200" spc="-5" b="1">
                <a:latin typeface="Arial"/>
                <a:cs typeface="Arial"/>
              </a:rPr>
              <a:t>with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 environment-by exploring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manipulating objects, wrestling </a:t>
            </a:r>
            <a:r>
              <a:rPr dirty="0" sz="1200" b="1">
                <a:latin typeface="Arial"/>
                <a:cs typeface="Arial"/>
              </a:rPr>
              <a:t>with </a:t>
            </a:r>
            <a:r>
              <a:rPr dirty="0" sz="1200" spc="-5" b="1">
                <a:latin typeface="Arial"/>
                <a:cs typeface="Arial"/>
              </a:rPr>
              <a:t>questions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controversies,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 </a:t>
            </a:r>
            <a:r>
              <a:rPr dirty="0" sz="1200" spc="-5" b="1">
                <a:latin typeface="Arial"/>
                <a:cs typeface="Arial"/>
              </a:rPr>
              <a:t>performing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experiments”</a:t>
            </a:r>
            <a:endParaRPr sz="1200">
              <a:latin typeface="Arial"/>
              <a:cs typeface="Arial"/>
            </a:endParaRPr>
          </a:p>
          <a:p>
            <a:pPr algn="just" marL="462280">
              <a:lnSpc>
                <a:spcPct val="100000"/>
              </a:lnSpc>
              <a:spcBef>
                <a:spcPts val="615"/>
              </a:spcBef>
            </a:pPr>
            <a:r>
              <a:rPr dirty="0" sz="1200" b="1">
                <a:latin typeface="Arial"/>
                <a:cs typeface="Arial"/>
              </a:rPr>
              <a:t>(Ormrod,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1995,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p.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442)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Arial"/>
              <a:cs typeface="Arial"/>
            </a:endParaRPr>
          </a:p>
          <a:p>
            <a:pPr algn="just" marL="462280" marR="6985" indent="-229235">
              <a:lnSpc>
                <a:spcPct val="143300"/>
              </a:lnSpc>
              <a:buFont typeface="Calibri"/>
              <a:buChar char="-"/>
              <a:tabLst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Discovery </a:t>
            </a:r>
            <a:r>
              <a:rPr dirty="0" sz="1200" b="1">
                <a:latin typeface="Arial"/>
                <a:cs typeface="Arial"/>
              </a:rPr>
              <a:t>learning </a:t>
            </a:r>
            <a:r>
              <a:rPr dirty="0" sz="1200" spc="-5" b="1">
                <a:latin typeface="Arial"/>
                <a:cs typeface="Arial"/>
              </a:rPr>
              <a:t>encompasses </a:t>
            </a:r>
            <a:r>
              <a:rPr dirty="0" sz="1200" b="1">
                <a:latin typeface="Arial"/>
                <a:cs typeface="Arial"/>
              </a:rPr>
              <a:t>an </a:t>
            </a:r>
            <a:r>
              <a:rPr dirty="0" sz="1200" spc="-5" b="1">
                <a:latin typeface="Arial"/>
                <a:cs typeface="Arial"/>
              </a:rPr>
              <a:t>instructional model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strategies that focus </a:t>
            </a:r>
            <a:r>
              <a:rPr dirty="0" sz="1200" b="1">
                <a:latin typeface="Arial"/>
                <a:cs typeface="Arial"/>
              </a:rPr>
              <a:t>on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active,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hands-on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opportunities</a:t>
            </a:r>
            <a:r>
              <a:rPr dirty="0" sz="1200" b="1">
                <a:latin typeface="Arial"/>
                <a:cs typeface="Arial"/>
              </a:rPr>
              <a:t> for </a:t>
            </a:r>
            <a:r>
              <a:rPr dirty="0" sz="1200" spc="-5" b="1">
                <a:latin typeface="Arial"/>
                <a:cs typeface="Arial"/>
              </a:rPr>
              <a:t>students.</a:t>
            </a:r>
            <a:endParaRPr sz="1200">
              <a:latin typeface="Arial"/>
              <a:cs typeface="Arial"/>
            </a:endParaRPr>
          </a:p>
          <a:p>
            <a:pPr algn="just" marL="462280">
              <a:lnSpc>
                <a:spcPct val="100000"/>
              </a:lnSpc>
              <a:spcBef>
                <a:spcPts val="610"/>
              </a:spcBef>
            </a:pPr>
            <a:r>
              <a:rPr dirty="0" sz="1200" spc="-5" b="1">
                <a:latin typeface="Arial"/>
                <a:cs typeface="Arial"/>
              </a:rPr>
              <a:t>(Dewey,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1916/1997; Piaget,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1954,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1973).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00">
              <a:latin typeface="Arial"/>
              <a:cs typeface="Arial"/>
            </a:endParaRPr>
          </a:p>
          <a:p>
            <a:pPr algn="just" marL="18415" marR="166370" indent="-6350">
              <a:lnSpc>
                <a:spcPct val="144200"/>
              </a:lnSpc>
            </a:pPr>
            <a:r>
              <a:rPr dirty="0" sz="1200" spc="-5">
                <a:latin typeface="Arial MT"/>
                <a:cs typeface="Arial MT"/>
              </a:rPr>
              <a:t>Discovery learning is a teaching method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which a student interacts with the </a:t>
            </a:r>
            <a:r>
              <a:rPr dirty="0" sz="1200">
                <a:latin typeface="Arial MT"/>
                <a:cs typeface="Arial MT"/>
              </a:rPr>
              <a:t>environment and </a:t>
            </a:r>
            <a:r>
              <a:rPr dirty="0" sz="1200" spc="-5">
                <a:latin typeface="Arial MT"/>
                <a:cs typeface="Arial MT"/>
              </a:rPr>
              <a:t>tries 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discovers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himself/herself.</a:t>
            </a:r>
            <a:endParaRPr sz="1200">
              <a:latin typeface="Arial MT"/>
              <a:cs typeface="Arial MT"/>
            </a:endParaRPr>
          </a:p>
          <a:p>
            <a:pPr algn="just" marL="18415" marR="467359" indent="-6350">
              <a:lnSpc>
                <a:spcPct val="144200"/>
              </a:lnSpc>
              <a:spcBef>
                <a:spcPts val="25"/>
              </a:spcBef>
            </a:pP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example, a teacher </a:t>
            </a:r>
            <a:r>
              <a:rPr dirty="0" sz="1200">
                <a:latin typeface="Arial MT"/>
                <a:cs typeface="Arial MT"/>
              </a:rPr>
              <a:t>takes </a:t>
            </a:r>
            <a:r>
              <a:rPr dirty="0" sz="1200" spc="-5">
                <a:latin typeface="Arial MT"/>
                <a:cs typeface="Arial MT"/>
              </a:rPr>
              <a:t>her students in a lawn or in a ground and </a:t>
            </a:r>
            <a:r>
              <a:rPr dirty="0" sz="1200">
                <a:latin typeface="Arial MT"/>
                <a:cs typeface="Arial MT"/>
              </a:rPr>
              <a:t>asks </a:t>
            </a:r>
            <a:r>
              <a:rPr dirty="0" sz="1200" spc="-5">
                <a:latin typeface="Arial MT"/>
                <a:cs typeface="Arial MT"/>
              </a:rPr>
              <a:t>them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observe 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things very carefully. She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ask the 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identify how </a:t>
            </a:r>
            <a:r>
              <a:rPr dirty="0" sz="1200">
                <a:latin typeface="Arial MT"/>
                <a:cs typeface="Arial MT"/>
              </a:rPr>
              <a:t>many kinds of </a:t>
            </a:r>
            <a:r>
              <a:rPr dirty="0" sz="1200" spc="-5">
                <a:latin typeface="Arial MT"/>
                <a:cs typeface="Arial MT"/>
              </a:rPr>
              <a:t>flowers are </a:t>
            </a:r>
            <a:r>
              <a:rPr dirty="0" sz="1200">
                <a:latin typeface="Arial MT"/>
                <a:cs typeface="Arial MT"/>
              </a:rPr>
              <a:t> there </a:t>
            </a:r>
            <a:r>
              <a:rPr dirty="0" sz="1200" spc="-5">
                <a:latin typeface="Arial MT"/>
                <a:cs typeface="Arial MT"/>
              </a:rPr>
              <a:t>in the lawn. </a:t>
            </a:r>
            <a:r>
              <a:rPr dirty="0" sz="1200">
                <a:latin typeface="Arial MT"/>
                <a:cs typeface="Arial MT"/>
              </a:rPr>
              <a:t>Or the </a:t>
            </a:r>
            <a:r>
              <a:rPr dirty="0" sz="1200" spc="-5">
                <a:latin typeface="Arial MT"/>
                <a:cs typeface="Arial MT"/>
              </a:rPr>
              <a:t>flowers in the lawn are of how many colors?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will </a:t>
            </a:r>
            <a:r>
              <a:rPr dirty="0" sz="1200">
                <a:latin typeface="Arial MT"/>
                <a:cs typeface="Arial MT"/>
              </a:rPr>
              <a:t>try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discovering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flowers.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Similarly,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variety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games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discovery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i.e.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jigsaw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puzzles,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trying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discover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parts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puzzle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try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fix </a:t>
            </a:r>
            <a:r>
              <a:rPr dirty="0" sz="1200" spc="-5">
                <a:latin typeface="Arial MT"/>
                <a:cs typeface="Arial MT"/>
              </a:rPr>
              <a:t>them.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5519258"/>
            <a:ext cx="6852284" cy="193167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400" spc="-5" b="1">
                <a:latin typeface="Arial"/>
                <a:cs typeface="Arial"/>
              </a:rPr>
              <a:t>Attributes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Discovery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Learning:</a:t>
            </a:r>
            <a:endParaRPr sz="1400">
              <a:latin typeface="Arial"/>
              <a:cs typeface="Arial"/>
            </a:endParaRPr>
          </a:p>
          <a:p>
            <a:pPr marL="12700" marR="946785">
              <a:lnSpc>
                <a:spcPts val="2060"/>
              </a:lnSpc>
              <a:spcBef>
                <a:spcPts val="114"/>
              </a:spcBef>
            </a:pPr>
            <a:r>
              <a:rPr dirty="0" sz="1200" spc="-5">
                <a:latin typeface="Arial MT"/>
                <a:cs typeface="Arial MT"/>
              </a:rPr>
              <a:t>Tracy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Bicknell-Homes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Paul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Hoffman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explain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discovery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characteristics: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25"/>
              </a:spcBef>
              <a:buFont typeface="Times New Roman"/>
              <a:buChar char="-"/>
              <a:tabLst>
                <a:tab pos="462280" algn="l"/>
                <a:tab pos="462915" algn="l"/>
              </a:tabLst>
            </a:pPr>
            <a:r>
              <a:rPr dirty="0" sz="1200" b="1">
                <a:latin typeface="Arial"/>
                <a:cs typeface="Arial"/>
              </a:rPr>
              <a:t>Exploration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problem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solving;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2280" algn="l"/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Student-centered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based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interest;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  <a:p>
            <a:pPr marL="462280" marR="5080" indent="-229235">
              <a:lnSpc>
                <a:spcPts val="2060"/>
              </a:lnSpc>
              <a:spcBef>
                <a:spcPts val="95"/>
              </a:spcBef>
              <a:buFont typeface="Times New Roman"/>
              <a:buChar char="-"/>
              <a:tabLst>
                <a:tab pos="462280" algn="l"/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Scaffolding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new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information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into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students’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funds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knowledge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(scaffolding: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Providing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</a:t>
            </a:r>
            <a:r>
              <a:rPr dirty="0" sz="1200" spc="-5" b="1">
                <a:latin typeface="Arial"/>
                <a:cs typeface="Arial"/>
              </a:rPr>
              <a:t> outside support)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7840824"/>
            <a:ext cx="6633845" cy="349250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400" spc="-5" b="1">
                <a:latin typeface="Arial"/>
                <a:cs typeface="Arial"/>
              </a:rPr>
              <a:t>Types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Discovery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Learning: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Category</a:t>
            </a:r>
            <a:r>
              <a:rPr dirty="0" sz="1400" spc="-10" b="1">
                <a:latin typeface="Arial"/>
                <a:cs typeface="Arial"/>
              </a:rPr>
              <a:t> 1.</a:t>
            </a:r>
            <a:endParaRPr sz="1400">
              <a:latin typeface="Arial"/>
              <a:cs typeface="Arial"/>
            </a:endParaRPr>
          </a:p>
          <a:p>
            <a:pPr algn="just" marL="241300" marR="10160" indent="-229235">
              <a:lnSpc>
                <a:spcPts val="2080"/>
              </a:lnSpc>
              <a:spcBef>
                <a:spcPts val="80"/>
              </a:spcBef>
              <a:buFont typeface="Times New Roman"/>
              <a:buChar char="-"/>
              <a:tabLst>
                <a:tab pos="241935" algn="l"/>
              </a:tabLst>
            </a:pPr>
            <a:r>
              <a:rPr dirty="0" sz="1200" spc="-5" b="1">
                <a:latin typeface="Arial"/>
                <a:cs typeface="Arial"/>
              </a:rPr>
              <a:t>Experiments: </a:t>
            </a:r>
            <a:r>
              <a:rPr dirty="0" sz="1200" spc="-5">
                <a:latin typeface="Arial MT"/>
                <a:cs typeface="Arial MT"/>
              </a:rPr>
              <a:t>Definitely in experiments the students are discovering, not only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the end but in 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experiment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sometimes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discover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5">
                <a:latin typeface="Arial MT"/>
                <a:cs typeface="Arial MT"/>
              </a:rPr>
              <a:t> experiment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not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 quality.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discover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themselves.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-"/>
            </a:pPr>
            <a:endParaRPr sz="1600">
              <a:latin typeface="Arial MT"/>
              <a:cs typeface="Arial MT"/>
            </a:endParaRPr>
          </a:p>
          <a:p>
            <a:pPr algn="just" marL="241300" marR="11430" indent="-229235">
              <a:lnSpc>
                <a:spcPct val="145000"/>
              </a:lnSpc>
              <a:buFont typeface="Times New Roman"/>
              <a:buChar char="-"/>
              <a:tabLst>
                <a:tab pos="241935" algn="l"/>
              </a:tabLst>
            </a:pPr>
            <a:r>
              <a:rPr dirty="0" sz="1200" b="1">
                <a:latin typeface="Arial"/>
                <a:cs typeface="Arial"/>
              </a:rPr>
              <a:t>Exploration: </a:t>
            </a:r>
            <a:r>
              <a:rPr dirty="0" sz="1200" spc="-5">
                <a:solidFill>
                  <a:srgbClr val="202020"/>
                </a:solidFill>
                <a:latin typeface="Arial MT"/>
                <a:cs typeface="Arial MT"/>
              </a:rPr>
              <a:t>The action </a:t>
            </a:r>
            <a:r>
              <a:rPr dirty="0" sz="1200">
                <a:solidFill>
                  <a:srgbClr val="202020"/>
                </a:solidFill>
                <a:latin typeface="Arial MT"/>
                <a:cs typeface="Arial MT"/>
              </a:rPr>
              <a:t>of </a:t>
            </a:r>
            <a:r>
              <a:rPr dirty="0" sz="1200" spc="-5">
                <a:solidFill>
                  <a:srgbClr val="202020"/>
                </a:solidFill>
                <a:latin typeface="Arial MT"/>
                <a:cs typeface="Arial MT"/>
              </a:rPr>
              <a:t>traveling in or through </a:t>
            </a:r>
            <a:r>
              <a:rPr dirty="0" sz="1200" spc="-10">
                <a:solidFill>
                  <a:srgbClr val="202020"/>
                </a:solidFill>
                <a:latin typeface="Arial MT"/>
                <a:cs typeface="Arial MT"/>
              </a:rPr>
              <a:t>an </a:t>
            </a:r>
            <a:r>
              <a:rPr dirty="0" sz="1200" spc="-5">
                <a:solidFill>
                  <a:srgbClr val="202020"/>
                </a:solidFill>
                <a:latin typeface="Arial MT"/>
                <a:cs typeface="Arial MT"/>
              </a:rPr>
              <a:t>unfamiliar area in order </a:t>
            </a:r>
            <a:r>
              <a:rPr dirty="0" sz="1200">
                <a:solidFill>
                  <a:srgbClr val="202020"/>
                </a:solidFill>
                <a:latin typeface="Arial MT"/>
                <a:cs typeface="Arial MT"/>
              </a:rPr>
              <a:t>to </a:t>
            </a:r>
            <a:r>
              <a:rPr dirty="0" sz="1200" spc="-5">
                <a:solidFill>
                  <a:srgbClr val="202020"/>
                </a:solidFill>
                <a:latin typeface="Arial MT"/>
                <a:cs typeface="Arial MT"/>
              </a:rPr>
              <a:t>learn about it. </a:t>
            </a:r>
            <a:r>
              <a:rPr dirty="0" sz="1200">
                <a:solidFill>
                  <a:srgbClr val="202020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Exploration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jigsaw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puzzles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treasure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hunt games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etc.</a:t>
            </a:r>
            <a:endParaRPr sz="1200">
              <a:latin typeface="Arial MT"/>
              <a:cs typeface="Arial MT"/>
            </a:endParaRPr>
          </a:p>
          <a:p>
            <a:pPr marL="248920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Exploration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type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discovery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50">
              <a:latin typeface="Arial MT"/>
              <a:cs typeface="Arial MT"/>
            </a:endParaRPr>
          </a:p>
          <a:p>
            <a:pPr algn="just" marL="241300" marR="5080" indent="-229235">
              <a:lnSpc>
                <a:spcPct val="144700"/>
              </a:lnSpc>
              <a:buFont typeface="Times New Roman"/>
              <a:buChar char="-"/>
              <a:tabLst>
                <a:tab pos="241935" algn="l"/>
              </a:tabLst>
            </a:pPr>
            <a:r>
              <a:rPr dirty="0" sz="1200" spc="-5" b="1">
                <a:latin typeface="Arial"/>
                <a:cs typeface="Arial"/>
              </a:rPr>
              <a:t>Simulation-based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learning:</a:t>
            </a:r>
            <a:r>
              <a:rPr dirty="0" sz="1200" spc="35" b="1">
                <a:latin typeface="Arial"/>
                <a:cs typeface="Arial"/>
              </a:rPr>
              <a:t> </a:t>
            </a:r>
            <a:r>
              <a:rPr dirty="0" sz="1000" spc="-5">
                <a:latin typeface="Arial MT"/>
                <a:cs typeface="Arial MT"/>
              </a:rPr>
              <a:t>A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simulation-based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learning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environment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is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a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setting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for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learning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that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includes </a:t>
            </a:r>
            <a:r>
              <a:rPr dirty="0" sz="1000" spc="-265">
                <a:latin typeface="Arial MT"/>
                <a:cs typeface="Arial MT"/>
              </a:rPr>
              <a:t> </a:t>
            </a:r>
            <a:r>
              <a:rPr dirty="0" sz="1000" spc="-5">
                <a:latin typeface="Arial MT"/>
                <a:cs typeface="Arial MT"/>
              </a:rPr>
              <a:t>a controlled, shielded and often simplified </a:t>
            </a:r>
            <a:r>
              <a:rPr dirty="0" sz="1000">
                <a:latin typeface="Arial MT"/>
                <a:cs typeface="Arial MT"/>
              </a:rPr>
              <a:t>copy </a:t>
            </a:r>
            <a:r>
              <a:rPr dirty="0" sz="1000" spc="-5">
                <a:latin typeface="Arial MT"/>
                <a:cs typeface="Arial MT"/>
              </a:rPr>
              <a:t>of a </a:t>
            </a:r>
            <a:r>
              <a:rPr dirty="0" sz="1000">
                <a:latin typeface="Arial MT"/>
                <a:cs typeface="Arial MT"/>
              </a:rPr>
              <a:t>real </a:t>
            </a:r>
            <a:r>
              <a:rPr dirty="0" sz="1000" spc="-5">
                <a:latin typeface="Arial MT"/>
                <a:cs typeface="Arial MT"/>
              </a:rPr>
              <a:t>world process or </a:t>
            </a:r>
            <a:r>
              <a:rPr dirty="0" sz="1000">
                <a:latin typeface="Arial MT"/>
                <a:cs typeface="Arial MT"/>
              </a:rPr>
              <a:t>system to </a:t>
            </a:r>
            <a:r>
              <a:rPr dirty="0" sz="1000" spc="-5">
                <a:latin typeface="Arial MT"/>
                <a:cs typeface="Arial MT"/>
              </a:rPr>
              <a:t>be studied. </a:t>
            </a:r>
            <a:r>
              <a:rPr dirty="0" sz="1000">
                <a:latin typeface="Arial MT"/>
                <a:cs typeface="Arial MT"/>
              </a:rPr>
              <a:t>S</a:t>
            </a:r>
            <a:r>
              <a:rPr dirty="0" sz="1200">
                <a:latin typeface="Arial MT"/>
                <a:cs typeface="Arial MT"/>
              </a:rPr>
              <a:t>imulations </a:t>
            </a:r>
            <a:r>
              <a:rPr dirty="0" sz="1200" spc="-5">
                <a:latin typeface="Arial MT"/>
                <a:cs typeface="Arial MT"/>
              </a:rPr>
              <a:t>are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done in the virtual environments and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computer based.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5">
                <a:latin typeface="Arial MT"/>
                <a:cs typeface="Arial MT"/>
              </a:rPr>
              <a:t>child </a:t>
            </a:r>
            <a:r>
              <a:rPr dirty="0" sz="1200" spc="-5">
                <a:latin typeface="Arial MT"/>
                <a:cs typeface="Arial MT"/>
              </a:rPr>
              <a:t>engaged in simulation based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r>
              <a:rPr dirty="0" sz="1200" spc="-5">
                <a:latin typeface="Arial MT"/>
                <a:cs typeface="Arial MT"/>
              </a:rPr>
              <a:t> 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again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discovery.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656335"/>
            <a:ext cx="6851015" cy="11207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2280" indent="-229235">
              <a:lnSpc>
                <a:spcPct val="100000"/>
              </a:lnSpc>
              <a:spcBef>
                <a:spcPts val="100"/>
              </a:spcBef>
              <a:buFont typeface="Times New Roman"/>
              <a:buChar char="-"/>
              <a:tabLst>
                <a:tab pos="462280" algn="l"/>
                <a:tab pos="462915" algn="l"/>
              </a:tabLst>
            </a:pP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Problem-based</a:t>
            </a:r>
            <a:r>
              <a:rPr dirty="0" u="heavy" sz="12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15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5"/>
              </a:spcBef>
              <a:buFont typeface="Times New Roman"/>
              <a:buChar char="-"/>
              <a:tabLst>
                <a:tab pos="462280" algn="l"/>
                <a:tab pos="462915" algn="l"/>
              </a:tabLst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Inquiry-based</a:t>
            </a:r>
            <a:r>
              <a:rPr dirty="0" u="heavy" sz="1200" spc="-5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Times New Roman"/>
              <a:buChar char="-"/>
            </a:pPr>
            <a:endParaRPr sz="115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buFont typeface="Times New Roman"/>
              <a:buChar char="-"/>
              <a:tabLst>
                <a:tab pos="462280" algn="l"/>
                <a:tab pos="462915" algn="l"/>
              </a:tabLst>
            </a:pP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Webquests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underlines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types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all</a:t>
            </a:r>
            <a:r>
              <a:rPr dirty="0" sz="1200" spc="-5">
                <a:latin typeface="Arial MT"/>
                <a:cs typeface="Arial MT"/>
              </a:rPr>
              <a:t> students-centered.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Arial MT"/>
              <a:cs typeface="Arial MT"/>
            </a:endParaRPr>
          </a:p>
          <a:p>
            <a:pPr marL="55244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Types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Discovery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Learning: Category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2.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1019"/>
              </a:spcBef>
            </a:pPr>
            <a:r>
              <a:rPr dirty="0" sz="1200" b="1">
                <a:latin typeface="Arial"/>
                <a:cs typeface="Arial"/>
              </a:rPr>
              <a:t>1.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Case-based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learning:</a:t>
            </a:r>
            <a:endParaRPr sz="1200">
              <a:latin typeface="Arial"/>
              <a:cs typeface="Arial"/>
            </a:endParaRPr>
          </a:p>
          <a:p>
            <a:pPr marL="462280" marR="466090" indent="-229235">
              <a:lnSpc>
                <a:spcPts val="2080"/>
              </a:lnSpc>
              <a:spcBef>
                <a:spcPts val="135"/>
              </a:spcBef>
            </a:pPr>
            <a:r>
              <a:rPr dirty="0" sz="1200">
                <a:latin typeface="Arial MT"/>
                <a:cs typeface="Arial MT"/>
              </a:rPr>
              <a:t>- </a:t>
            </a:r>
            <a:r>
              <a:rPr dirty="0" sz="1200" b="1">
                <a:latin typeface="Arial"/>
                <a:cs typeface="Arial"/>
              </a:rPr>
              <a:t>Groups of </a:t>
            </a:r>
            <a:r>
              <a:rPr dirty="0" sz="1200" spc="-5" b="1">
                <a:latin typeface="Arial"/>
                <a:cs typeface="Arial"/>
              </a:rPr>
              <a:t>students </a:t>
            </a:r>
            <a:r>
              <a:rPr dirty="0" sz="1200" b="1">
                <a:latin typeface="Arial"/>
                <a:cs typeface="Arial"/>
              </a:rPr>
              <a:t>are </a:t>
            </a:r>
            <a:r>
              <a:rPr dirty="0" sz="1200" spc="-5" b="1">
                <a:latin typeface="Arial"/>
                <a:cs typeface="Arial"/>
              </a:rPr>
              <a:t>given a case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read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examine. </a:t>
            </a: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class then discusses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possible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solutions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problem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described.</a:t>
            </a:r>
            <a:r>
              <a:rPr dirty="0" sz="1200" spc="-6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endParaRPr sz="1200">
              <a:latin typeface="Arial MT"/>
              <a:cs typeface="Arial MT"/>
            </a:endParaRPr>
          </a:p>
          <a:p>
            <a:pPr algn="just" marL="462280">
              <a:lnSpc>
                <a:spcPct val="100000"/>
              </a:lnSpc>
              <a:spcBef>
                <a:spcPts val="459"/>
              </a:spcBef>
            </a:pPr>
            <a:r>
              <a:rPr dirty="0" sz="1200" spc="-5">
                <a:latin typeface="Arial MT"/>
                <a:cs typeface="Arial MT"/>
              </a:rPr>
              <a:t>opportunities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discover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things.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Case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1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case-based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endParaRPr sz="1200">
              <a:latin typeface="Arial MT"/>
              <a:cs typeface="Arial MT"/>
            </a:endParaRPr>
          </a:p>
          <a:p>
            <a:pPr algn="just" marL="462280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Arial MT"/>
                <a:cs typeface="Arial MT"/>
              </a:rPr>
              <a:t>fact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engaging.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2.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Incidental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Game-like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Crossword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puzzles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3.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 </a:t>
            </a:r>
            <a:r>
              <a:rPr dirty="0" sz="1200" spc="-5" b="1">
                <a:latin typeface="Arial"/>
                <a:cs typeface="Arial"/>
              </a:rPr>
              <a:t>exploring/Conversing: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Students asking questions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What’s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bag?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Game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4.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-5" b="1">
                <a:latin typeface="Arial"/>
                <a:cs typeface="Arial"/>
              </a:rPr>
              <a:t> reflection: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Learning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ask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better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questions</a:t>
            </a:r>
            <a:endParaRPr sz="1200">
              <a:latin typeface="Arial"/>
              <a:cs typeface="Arial"/>
            </a:endParaRPr>
          </a:p>
          <a:p>
            <a:pPr marL="469900" marR="5080" indent="-229235">
              <a:lnSpc>
                <a:spcPct val="142500"/>
              </a:lnSpc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spc="1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answers</a:t>
            </a:r>
            <a:r>
              <a:rPr dirty="0" sz="1200" spc="2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spc="1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students’</a:t>
            </a:r>
            <a:r>
              <a:rPr dirty="0" sz="1200" spc="2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questions</a:t>
            </a:r>
            <a:r>
              <a:rPr dirty="0" sz="1200" spc="1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with</a:t>
            </a:r>
            <a:r>
              <a:rPr dirty="0" sz="1200" spc="1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additional</a:t>
            </a:r>
            <a:r>
              <a:rPr dirty="0" sz="1200" spc="1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questions</a:t>
            </a:r>
            <a:r>
              <a:rPr dirty="0" sz="1200" spc="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1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2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students</a:t>
            </a:r>
            <a:r>
              <a:rPr dirty="0" sz="1200" spc="2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answer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(Socratic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5.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Simulation-based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Experimenting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artificial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environment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Allows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5" b="1">
                <a:latin typeface="Arial"/>
                <a:cs typeface="Arial"/>
              </a:rPr>
              <a:t> trials without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fear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failing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" b="1">
                <a:latin typeface="Arial"/>
                <a:cs typeface="Arial"/>
              </a:rPr>
              <a:t> taking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space mission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400" b="1">
                <a:latin typeface="Arial"/>
                <a:cs typeface="Arial"/>
              </a:rPr>
              <a:t>Syntax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discovery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learning: (Steps)</a:t>
            </a:r>
            <a:endParaRPr sz="1400">
              <a:latin typeface="Arial"/>
              <a:cs typeface="Arial"/>
            </a:endParaRPr>
          </a:p>
          <a:p>
            <a:pPr algn="just" marL="18415" marR="172720" indent="-6350">
              <a:lnSpc>
                <a:spcPts val="2080"/>
              </a:lnSpc>
              <a:spcBef>
                <a:spcPts val="85"/>
              </a:spcBef>
            </a:pPr>
            <a:r>
              <a:rPr dirty="0" sz="1200" spc="-5">
                <a:latin typeface="Arial MT"/>
                <a:cs typeface="Arial MT"/>
              </a:rPr>
              <a:t>There are 9 steps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discovery learning, and </a:t>
            </a:r>
            <a:r>
              <a:rPr dirty="0" sz="1200">
                <a:latin typeface="Arial MT"/>
                <a:cs typeface="Arial MT"/>
              </a:rPr>
              <a:t>discovery </a:t>
            </a:r>
            <a:r>
              <a:rPr dirty="0" sz="1200" spc="-5">
                <a:latin typeface="Arial MT"/>
                <a:cs typeface="Arial MT"/>
              </a:rPr>
              <a:t>learning should be done according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these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nine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steps:</a:t>
            </a:r>
            <a:endParaRPr sz="1200">
              <a:latin typeface="Arial MT"/>
              <a:cs typeface="Arial MT"/>
            </a:endParaRPr>
          </a:p>
          <a:p>
            <a:pPr algn="just" marL="462280" marR="464820" indent="-229235">
              <a:lnSpc>
                <a:spcPts val="2080"/>
              </a:lnSpc>
              <a:spcBef>
                <a:spcPts val="15"/>
              </a:spcBef>
            </a:pPr>
            <a:r>
              <a:rPr dirty="0" sz="1200" b="1">
                <a:latin typeface="Times New Roman"/>
                <a:cs typeface="Times New Roman"/>
              </a:rPr>
              <a:t>1.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Select </a:t>
            </a:r>
            <a:r>
              <a:rPr dirty="0" sz="1200" b="1">
                <a:latin typeface="Arial"/>
                <a:cs typeface="Arial"/>
              </a:rPr>
              <a:t>an </a:t>
            </a:r>
            <a:r>
              <a:rPr dirty="0" sz="1200" spc="-5" b="1">
                <a:latin typeface="Arial"/>
                <a:cs typeface="Arial"/>
              </a:rPr>
              <a:t>activity</a:t>
            </a:r>
            <a:r>
              <a:rPr dirty="0" sz="1200" spc="-5">
                <a:latin typeface="Arial MT"/>
                <a:cs typeface="Arial MT"/>
              </a:rPr>
              <a:t>. Choose </a:t>
            </a:r>
            <a:r>
              <a:rPr dirty="0" sz="1200" spc="-10">
                <a:latin typeface="Arial MT"/>
                <a:cs typeface="Arial MT"/>
              </a:rPr>
              <a:t>an </a:t>
            </a:r>
            <a:r>
              <a:rPr dirty="0" sz="1200">
                <a:latin typeface="Arial MT"/>
                <a:cs typeface="Arial MT"/>
              </a:rPr>
              <a:t>activity </a:t>
            </a:r>
            <a:r>
              <a:rPr dirty="0" sz="1200" spc="-5">
                <a:latin typeface="Arial MT"/>
                <a:cs typeface="Arial MT"/>
              </a:rPr>
              <a:t>that does not have </a:t>
            </a:r>
            <a:r>
              <a:rPr dirty="0" sz="1200">
                <a:latin typeface="Arial MT"/>
                <a:cs typeface="Arial MT"/>
              </a:rPr>
              <a:t>just </a:t>
            </a:r>
            <a:r>
              <a:rPr dirty="0" sz="1200" spc="-5">
                <a:latin typeface="Arial MT"/>
                <a:cs typeface="Arial MT"/>
              </a:rPr>
              <a:t>one correct answer.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Roleplaying, creating sculptures, observing characteristics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subjects, or searching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classifying similar items all work well. </a:t>
            </a:r>
            <a:r>
              <a:rPr dirty="0" sz="1200">
                <a:latin typeface="Arial MT"/>
                <a:cs typeface="Arial MT"/>
              </a:rPr>
              <a:t>(Select </a:t>
            </a:r>
            <a:r>
              <a:rPr dirty="0" sz="1200" spc="-5">
                <a:latin typeface="Arial MT"/>
                <a:cs typeface="Arial MT"/>
              </a:rPr>
              <a:t>an </a:t>
            </a:r>
            <a:r>
              <a:rPr dirty="0" sz="1200">
                <a:latin typeface="Arial MT"/>
                <a:cs typeface="Arial MT"/>
              </a:rPr>
              <a:t>activity </a:t>
            </a:r>
            <a:r>
              <a:rPr dirty="0" sz="1200" spc="-5">
                <a:latin typeface="Arial MT"/>
                <a:cs typeface="Arial MT"/>
              </a:rPr>
              <a:t>that ensures discovery </a:t>
            </a:r>
            <a:r>
              <a:rPr dirty="0" sz="1200">
                <a:latin typeface="Arial MT"/>
                <a:cs typeface="Arial MT"/>
              </a:rPr>
              <a:t> learning</a:t>
            </a:r>
            <a:endParaRPr sz="1200">
              <a:latin typeface="Arial MT"/>
              <a:cs typeface="Arial MT"/>
            </a:endParaRPr>
          </a:p>
          <a:p>
            <a:pPr algn="just" marL="469900">
              <a:lnSpc>
                <a:spcPct val="100000"/>
              </a:lnSpc>
              <a:spcBef>
                <a:spcPts val="459"/>
              </a:spcBef>
            </a:pP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it.)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65480" y="837438"/>
            <a:ext cx="6171565" cy="602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12065" indent="-229235">
              <a:lnSpc>
                <a:spcPct val="144300"/>
              </a:lnSpc>
              <a:spcBef>
                <a:spcPts val="100"/>
              </a:spcBef>
              <a:buFont typeface="Times New Roman"/>
              <a:buAutoNum type="arabicPeriod" startAt="2"/>
              <a:tabLst>
                <a:tab pos="241935" algn="l"/>
              </a:tabLst>
            </a:pPr>
            <a:r>
              <a:rPr dirty="0" sz="1200" b="1">
                <a:latin typeface="Arial"/>
                <a:cs typeface="Arial"/>
              </a:rPr>
              <a:t>Gather </a:t>
            </a:r>
            <a:r>
              <a:rPr dirty="0" sz="1200" spc="-5" b="1">
                <a:latin typeface="Arial"/>
                <a:cs typeface="Arial"/>
              </a:rPr>
              <a:t>material. </a:t>
            </a:r>
            <a:r>
              <a:rPr dirty="0" sz="1200" spc="-5">
                <a:latin typeface="Arial MT"/>
                <a:cs typeface="Arial MT"/>
              </a:rPr>
              <a:t>Plan enough materials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each learner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repeat </a:t>
            </a:r>
            <a:r>
              <a:rPr dirty="0" sz="1200">
                <a:latin typeface="Arial MT"/>
                <a:cs typeface="Arial MT"/>
              </a:rPr>
              <a:t>the activity </a:t>
            </a:r>
            <a:r>
              <a:rPr dirty="0" sz="1200" spc="-5">
                <a:latin typeface="Arial MT"/>
                <a:cs typeface="Arial MT"/>
              </a:rPr>
              <a:t>at least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once.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AutoNum type="arabicPeriod" startAt="2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 startAt="2"/>
            </a:pPr>
            <a:endParaRPr sz="1800">
              <a:latin typeface="Arial MT"/>
              <a:cs typeface="Arial MT"/>
            </a:endParaRPr>
          </a:p>
          <a:p>
            <a:pPr algn="just" marL="241300" marR="5080" indent="-229235">
              <a:lnSpc>
                <a:spcPct val="144200"/>
              </a:lnSpc>
              <a:buFont typeface="Times New Roman"/>
              <a:buAutoNum type="arabicPeriod" startAt="2"/>
              <a:tabLst>
                <a:tab pos="241935" algn="l"/>
              </a:tabLst>
            </a:pPr>
            <a:r>
              <a:rPr dirty="0" sz="1200" spc="-5" b="1">
                <a:latin typeface="Arial"/>
                <a:cs typeface="Arial"/>
              </a:rPr>
              <a:t>Stay focused. </a:t>
            </a:r>
            <a:r>
              <a:rPr dirty="0" sz="1200" spc="-5">
                <a:latin typeface="Arial MT"/>
                <a:cs typeface="Arial MT"/>
              </a:rPr>
              <a:t>Avoid learning tangents that </a:t>
            </a:r>
            <a:r>
              <a:rPr dirty="0" sz="1200">
                <a:latin typeface="Arial MT"/>
                <a:cs typeface="Arial MT"/>
              </a:rPr>
              <a:t>may </a:t>
            </a:r>
            <a:r>
              <a:rPr dirty="0" sz="1200" spc="-5">
                <a:latin typeface="Arial MT"/>
                <a:cs typeface="Arial MT"/>
              </a:rPr>
              <a:t>be interesting but will keep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learner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away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finishing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project.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(Whenever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discovery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planned,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many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interesting </a:t>
            </a:r>
            <a:r>
              <a:rPr dirty="0" sz="1200">
                <a:latin typeface="Arial MT"/>
                <a:cs typeface="Arial MT"/>
              </a:rPr>
              <a:t>tasks for </a:t>
            </a:r>
            <a:r>
              <a:rPr dirty="0" sz="1200" spc="-5">
                <a:latin typeface="Arial MT"/>
                <a:cs typeface="Arial MT"/>
              </a:rPr>
              <a:t>the students. Sometimes students attention is diverted,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should </a:t>
            </a:r>
            <a:r>
              <a:rPr dirty="0" sz="1200" spc="-10">
                <a:latin typeface="Arial MT"/>
                <a:cs typeface="Arial MT"/>
              </a:rPr>
              <a:t>not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happen.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needs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ensure 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focused.)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 startAt="2"/>
            </a:pPr>
            <a:endParaRPr sz="1800">
              <a:latin typeface="Arial MT"/>
              <a:cs typeface="Arial MT"/>
            </a:endParaRPr>
          </a:p>
          <a:p>
            <a:pPr algn="just" marL="241300" marR="12065" indent="-229235">
              <a:lnSpc>
                <a:spcPct val="144200"/>
              </a:lnSpc>
              <a:buFont typeface="Times New Roman"/>
              <a:buAutoNum type="arabicPeriod" startAt="2"/>
              <a:tabLst>
                <a:tab pos="241935" algn="l"/>
              </a:tabLst>
            </a:pPr>
            <a:r>
              <a:rPr dirty="0" sz="1200" spc="-5" b="1">
                <a:latin typeface="Arial"/>
                <a:cs typeface="Arial"/>
              </a:rPr>
              <a:t>Use caution. </a:t>
            </a:r>
            <a:r>
              <a:rPr dirty="0" sz="1200" spc="-5">
                <a:latin typeface="Arial MT"/>
                <a:cs typeface="Arial MT"/>
              </a:rPr>
              <a:t>While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idea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discovery learning is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the instructor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step back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allowing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independently,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sure</a:t>
            </a:r>
            <a:r>
              <a:rPr dirty="0" sz="1200" spc="-5">
                <a:latin typeface="Arial MT"/>
                <a:cs typeface="Arial MT"/>
              </a:rPr>
              <a:t> 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safety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observed.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eriod" startAt="2"/>
            </a:pPr>
            <a:endParaRPr sz="1800">
              <a:latin typeface="Arial MT"/>
              <a:cs typeface="Arial MT"/>
            </a:endParaRPr>
          </a:p>
          <a:p>
            <a:pPr algn="just" marL="241300" marR="9525" indent="-229235">
              <a:lnSpc>
                <a:spcPct val="144200"/>
              </a:lnSpc>
              <a:buFont typeface="Times New Roman"/>
              <a:buAutoNum type="arabicPeriod" startAt="2"/>
              <a:tabLst>
                <a:tab pos="241935" algn="l"/>
              </a:tabLst>
            </a:pPr>
            <a:r>
              <a:rPr dirty="0" sz="1200" b="1">
                <a:latin typeface="Arial"/>
                <a:cs typeface="Arial"/>
              </a:rPr>
              <a:t>Plan </a:t>
            </a:r>
            <a:r>
              <a:rPr dirty="0" sz="1200" spc="-5" b="1">
                <a:latin typeface="Arial"/>
                <a:cs typeface="Arial"/>
              </a:rPr>
              <a:t>extra time. </a:t>
            </a:r>
            <a:r>
              <a:rPr dirty="0" sz="1200" spc="-5">
                <a:latin typeface="Arial MT"/>
                <a:cs typeface="Arial MT"/>
              </a:rPr>
              <a:t>Understand that children working on their own will </a:t>
            </a:r>
            <a:r>
              <a:rPr dirty="0" sz="1200">
                <a:latin typeface="Arial MT"/>
                <a:cs typeface="Arial MT"/>
              </a:rPr>
              <a:t>most </a:t>
            </a:r>
            <a:r>
              <a:rPr dirty="0" sz="1200" spc="-5">
                <a:latin typeface="Arial MT"/>
                <a:cs typeface="Arial MT"/>
              </a:rPr>
              <a:t>likely </a:t>
            </a:r>
            <a:r>
              <a:rPr dirty="0" sz="1200">
                <a:latin typeface="Arial MT"/>
                <a:cs typeface="Arial MT"/>
              </a:rPr>
              <a:t>take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longer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would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adult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moving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 step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step.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sure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time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repeated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 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failure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reason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repeat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eriod" startAt="2"/>
            </a:pPr>
            <a:endParaRPr sz="1800">
              <a:latin typeface="Arial MT"/>
              <a:cs typeface="Arial MT"/>
            </a:endParaRPr>
          </a:p>
          <a:p>
            <a:pPr algn="just" marL="241300" marR="5080" indent="-229235">
              <a:lnSpc>
                <a:spcPct val="144200"/>
              </a:lnSpc>
              <a:buFont typeface="Times New Roman"/>
              <a:buAutoNum type="arabicPeriod" startAt="2"/>
              <a:tabLst>
                <a:tab pos="241935" algn="l"/>
              </a:tabLst>
            </a:pPr>
            <a:r>
              <a:rPr dirty="0" sz="1200" b="1">
                <a:latin typeface="Arial"/>
                <a:cs typeface="Arial"/>
              </a:rPr>
              <a:t>Record </a:t>
            </a:r>
            <a:r>
              <a:rPr dirty="0" sz="1200" spc="-5" b="1">
                <a:latin typeface="Arial"/>
                <a:cs typeface="Arial"/>
              </a:rPr>
              <a:t>process </a:t>
            </a:r>
            <a:r>
              <a:rPr dirty="0" sz="1200" b="1">
                <a:latin typeface="Arial"/>
                <a:cs typeface="Arial"/>
              </a:rPr>
              <a:t>and results. </a:t>
            </a:r>
            <a:r>
              <a:rPr dirty="0" sz="1200" spc="-5">
                <a:latin typeface="Arial MT"/>
                <a:cs typeface="Arial MT"/>
              </a:rPr>
              <a:t>Include in the </a:t>
            </a:r>
            <a:r>
              <a:rPr dirty="0" sz="1200">
                <a:latin typeface="Arial MT"/>
                <a:cs typeface="Arial MT"/>
              </a:rPr>
              <a:t>activity </a:t>
            </a:r>
            <a:r>
              <a:rPr dirty="0" sz="1200" spc="-5">
                <a:latin typeface="Arial MT"/>
                <a:cs typeface="Arial MT"/>
              </a:rPr>
              <a:t>a requirement for </a:t>
            </a:r>
            <a:r>
              <a:rPr dirty="0" sz="1200">
                <a:latin typeface="Arial MT"/>
                <a:cs typeface="Arial MT"/>
              </a:rPr>
              <a:t>older </a:t>
            </a:r>
            <a:r>
              <a:rPr dirty="0" sz="1200" spc="-5">
                <a:latin typeface="Arial MT"/>
                <a:cs typeface="Arial MT"/>
              </a:rPr>
              <a:t>children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record their procedure and results. For young children guide, </a:t>
            </a:r>
            <a:r>
              <a:rPr dirty="0" sz="1200">
                <a:latin typeface="Arial MT"/>
                <a:cs typeface="Arial MT"/>
              </a:rPr>
              <a:t>assist, </a:t>
            </a:r>
            <a:r>
              <a:rPr dirty="0" sz="1200" spc="-5">
                <a:latin typeface="Arial MT"/>
                <a:cs typeface="Arial MT"/>
              </a:rPr>
              <a:t>or </a:t>
            </a:r>
            <a:r>
              <a:rPr dirty="0" sz="1200" spc="5">
                <a:latin typeface="Arial MT"/>
                <a:cs typeface="Arial MT"/>
              </a:rPr>
              <a:t>model </a:t>
            </a:r>
            <a:r>
              <a:rPr dirty="0" sz="1200" spc="-5">
                <a:latin typeface="Arial MT"/>
                <a:cs typeface="Arial MT"/>
              </a:rPr>
              <a:t>record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keeping.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AutoNum type="arabicPeriod" startAt="2"/>
            </a:pPr>
            <a:endParaRPr sz="1800">
              <a:latin typeface="Arial MT"/>
              <a:cs typeface="Arial MT"/>
            </a:endParaRPr>
          </a:p>
          <a:p>
            <a:pPr algn="just" marL="241300" marR="9525" indent="-229235">
              <a:lnSpc>
                <a:spcPct val="144200"/>
              </a:lnSpc>
              <a:buFont typeface="Times New Roman"/>
              <a:buAutoNum type="arabicPeriod" startAt="2"/>
              <a:tabLst>
                <a:tab pos="241935" algn="l"/>
              </a:tabLst>
            </a:pPr>
            <a:r>
              <a:rPr dirty="0" sz="1200" spc="-5" b="1">
                <a:latin typeface="Arial"/>
                <a:cs typeface="Arial"/>
              </a:rPr>
              <a:t>Feedback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review. </a:t>
            </a:r>
            <a:r>
              <a:rPr dirty="0" sz="1200">
                <a:latin typeface="Arial MT"/>
                <a:cs typeface="Arial MT"/>
              </a:rPr>
              <a:t>After </a:t>
            </a:r>
            <a:r>
              <a:rPr dirty="0" sz="1200" spc="-5">
                <a:latin typeface="Arial MT"/>
                <a:cs typeface="Arial MT"/>
              </a:rPr>
              <a:t>an activity is completed and before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repeated a second </a:t>
            </a:r>
            <a:r>
              <a:rPr dirty="0" sz="1200">
                <a:latin typeface="Arial MT"/>
                <a:cs typeface="Arial MT"/>
              </a:rPr>
              <a:t> time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(if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needed),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outcome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Use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records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were </a:t>
            </a:r>
            <a:r>
              <a:rPr dirty="0" sz="1200">
                <a:latin typeface="Arial MT"/>
                <a:cs typeface="Arial MT"/>
              </a:rPr>
              <a:t>kept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assist </a:t>
            </a:r>
            <a:r>
              <a:rPr dirty="0" sz="1200" spc="-5">
                <a:latin typeface="Arial MT"/>
                <a:cs typeface="Arial MT"/>
              </a:rPr>
              <a:t>during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step.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5480" y="7344537"/>
            <a:ext cx="6169025" cy="18726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6985" indent="-229235">
              <a:lnSpc>
                <a:spcPct val="144200"/>
              </a:lnSpc>
              <a:spcBef>
                <a:spcPts val="100"/>
              </a:spcBef>
              <a:buFont typeface="Times New Roman"/>
              <a:buAutoNum type="arabicPeriod" startAt="8"/>
              <a:tabLst>
                <a:tab pos="241935" algn="l"/>
              </a:tabLst>
            </a:pPr>
            <a:r>
              <a:rPr dirty="0" sz="1200" b="1">
                <a:latin typeface="Arial"/>
                <a:cs typeface="Arial"/>
              </a:rPr>
              <a:t>Try </a:t>
            </a:r>
            <a:r>
              <a:rPr dirty="0" sz="1200" spc="-5" b="1">
                <a:latin typeface="Arial"/>
                <a:cs typeface="Arial"/>
              </a:rPr>
              <a:t>again. </a:t>
            </a:r>
            <a:r>
              <a:rPr dirty="0" sz="1200" spc="-5">
                <a:latin typeface="Arial MT"/>
                <a:cs typeface="Arial MT"/>
              </a:rPr>
              <a:t>Have the child repeat the activity </a:t>
            </a:r>
            <a:r>
              <a:rPr dirty="0" sz="1200" spc="-1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necessary. </a:t>
            </a:r>
            <a:r>
              <a:rPr dirty="0" sz="1200">
                <a:latin typeface="Arial MT"/>
                <a:cs typeface="Arial MT"/>
              </a:rPr>
              <a:t>Give </a:t>
            </a:r>
            <a:r>
              <a:rPr dirty="0" sz="1200" spc="-5">
                <a:latin typeface="Arial MT"/>
                <a:cs typeface="Arial MT"/>
              </a:rPr>
              <a:t>assistance and guidance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 necessary.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AutoNum type="arabicPeriod" startAt="8"/>
            </a:pPr>
            <a:endParaRPr sz="1800">
              <a:latin typeface="Arial MT"/>
              <a:cs typeface="Arial MT"/>
            </a:endParaRPr>
          </a:p>
          <a:p>
            <a:pPr algn="just" marL="241300" marR="5080" indent="-229235">
              <a:lnSpc>
                <a:spcPct val="144200"/>
              </a:lnSpc>
              <a:buFont typeface="Times New Roman"/>
              <a:buAutoNum type="arabicPeriod" startAt="8"/>
              <a:tabLst>
                <a:tab pos="241935" algn="l"/>
              </a:tabLst>
            </a:pPr>
            <a:r>
              <a:rPr dirty="0" sz="1200" b="1">
                <a:latin typeface="Arial"/>
                <a:cs typeface="Arial"/>
              </a:rPr>
              <a:t>Plan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more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discovery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activities. </a:t>
            </a:r>
            <a:r>
              <a:rPr dirty="0" sz="1200" spc="-5">
                <a:latin typeface="Arial MT"/>
                <a:cs typeface="Arial MT"/>
              </a:rPr>
              <a:t>Think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child. </a:t>
            </a:r>
            <a:r>
              <a:rPr dirty="0" sz="1200">
                <a:latin typeface="Arial MT"/>
                <a:cs typeface="Arial MT"/>
              </a:rPr>
              <a:t>As </a:t>
            </a:r>
            <a:r>
              <a:rPr dirty="0" sz="1200" spc="-10">
                <a:latin typeface="Arial MT"/>
                <a:cs typeface="Arial MT"/>
              </a:rPr>
              <a:t>you </a:t>
            </a:r>
            <a:r>
              <a:rPr dirty="0" sz="1200" spc="-5">
                <a:latin typeface="Arial MT"/>
                <a:cs typeface="Arial MT"/>
              </a:rPr>
              <a:t>plan more </a:t>
            </a:r>
            <a:r>
              <a:rPr dirty="0" sz="1200">
                <a:latin typeface="Arial MT"/>
                <a:cs typeface="Arial MT"/>
              </a:rPr>
              <a:t>discovery </a:t>
            </a:r>
            <a:r>
              <a:rPr dirty="0" sz="1200" spc="-5">
                <a:latin typeface="Arial MT"/>
                <a:cs typeface="Arial MT"/>
              </a:rPr>
              <a:t>activities </a:t>
            </a:r>
            <a:r>
              <a:rPr dirty="0" sz="1200">
                <a:latin typeface="Arial MT"/>
                <a:cs typeface="Arial MT"/>
              </a:rPr>
              <a:t>take </a:t>
            </a:r>
            <a:r>
              <a:rPr dirty="0" sz="1200" spc="-5">
                <a:latin typeface="Arial MT"/>
                <a:cs typeface="Arial MT"/>
              </a:rPr>
              <a:t>the answers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these questions into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consideration. What went well? What could have gone better? How can any problem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corrected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alleviated?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9612093"/>
            <a:ext cx="6629400" cy="194818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45"/>
              </a:spcBef>
            </a:pPr>
            <a:r>
              <a:rPr dirty="0" sz="1400" b="1">
                <a:latin typeface="Arial"/>
                <a:cs typeface="Arial"/>
              </a:rPr>
              <a:t>Examples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Discovery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Learning:</a:t>
            </a:r>
            <a:endParaRPr sz="1400">
              <a:latin typeface="Arial"/>
              <a:cs typeface="Arial"/>
            </a:endParaRPr>
          </a:p>
          <a:p>
            <a:pPr algn="just" marL="248920" marR="5080" indent="-229235">
              <a:lnSpc>
                <a:spcPts val="2050"/>
              </a:lnSpc>
              <a:spcBef>
                <a:spcPts val="105"/>
              </a:spcBef>
              <a:buFont typeface="Times New Roman"/>
              <a:buChar char="-"/>
              <a:tabLst>
                <a:tab pos="249554" algn="l"/>
              </a:tabLst>
            </a:pPr>
            <a:r>
              <a:rPr dirty="0" sz="1200" spc="-5" b="1">
                <a:latin typeface="Arial"/>
                <a:cs typeface="Arial"/>
              </a:rPr>
              <a:t>Are </a:t>
            </a:r>
            <a:r>
              <a:rPr dirty="0" sz="1200" b="1">
                <a:latin typeface="Arial"/>
                <a:cs typeface="Arial"/>
              </a:rPr>
              <a:t>all </a:t>
            </a:r>
            <a:r>
              <a:rPr dirty="0" sz="1200" spc="-5" b="1">
                <a:latin typeface="Arial"/>
                <a:cs typeface="Arial"/>
              </a:rPr>
              <a:t>oak leaves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the same </a:t>
            </a:r>
            <a:r>
              <a:rPr dirty="0" sz="1200" b="1">
                <a:latin typeface="Arial"/>
                <a:cs typeface="Arial"/>
              </a:rPr>
              <a:t>shape? </a:t>
            </a:r>
            <a:r>
              <a:rPr dirty="0" sz="1200" spc="-5" b="1">
                <a:latin typeface="Arial"/>
                <a:cs typeface="Arial"/>
              </a:rPr>
              <a:t>Make children aware </a:t>
            </a:r>
            <a:r>
              <a:rPr dirty="0" sz="1200" spc="-1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the diversity within </a:t>
            </a:r>
            <a:r>
              <a:rPr dirty="0" sz="1200" b="1">
                <a:latin typeface="Arial"/>
                <a:cs typeface="Arial"/>
              </a:rPr>
              <a:t>leaf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structure. Introduce, </a:t>
            </a:r>
            <a:r>
              <a:rPr dirty="0" sz="1200" b="1">
                <a:latin typeface="Arial"/>
                <a:cs typeface="Arial"/>
              </a:rPr>
              <a:t>or </a:t>
            </a:r>
            <a:r>
              <a:rPr dirty="0" sz="1200" spc="-5" b="1">
                <a:latin typeface="Arial"/>
                <a:cs typeface="Arial"/>
              </a:rPr>
              <a:t>reinforce, </a:t>
            </a:r>
            <a:r>
              <a:rPr dirty="0" sz="1200" b="1">
                <a:latin typeface="Arial"/>
                <a:cs typeface="Arial"/>
              </a:rPr>
              <a:t>simple recording </a:t>
            </a:r>
            <a:r>
              <a:rPr dirty="0" sz="1200" spc="-5" b="1">
                <a:latin typeface="Arial"/>
                <a:cs typeface="Arial"/>
              </a:rPr>
              <a:t>skills,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practice basic counting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 </a:t>
            </a:r>
            <a:r>
              <a:rPr dirty="0" sz="1200" b="1">
                <a:latin typeface="Arial"/>
                <a:cs typeface="Arial"/>
              </a:rPr>
              <a:t>too.</a:t>
            </a:r>
            <a:endParaRPr sz="1200">
              <a:latin typeface="Arial"/>
              <a:cs typeface="Arial"/>
            </a:endParaRPr>
          </a:p>
          <a:p>
            <a:pPr algn="just" marL="248920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249554" algn="l"/>
              </a:tabLst>
            </a:pPr>
            <a:r>
              <a:rPr dirty="0" sz="1200" spc="-5" b="1">
                <a:latin typeface="Arial"/>
                <a:cs typeface="Arial"/>
              </a:rPr>
              <a:t>Treasure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hunt</a:t>
            </a:r>
            <a:endParaRPr sz="1200">
              <a:latin typeface="Arial"/>
              <a:cs typeface="Arial"/>
            </a:endParaRPr>
          </a:p>
          <a:p>
            <a:pPr algn="just" marL="24892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249554" algn="l"/>
              </a:tabLst>
            </a:pPr>
            <a:r>
              <a:rPr dirty="0" sz="1200" spc="-5" b="1">
                <a:latin typeface="Arial"/>
                <a:cs typeface="Arial"/>
              </a:rPr>
              <a:t>Underground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plant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exploration</a:t>
            </a:r>
            <a:endParaRPr sz="1200">
              <a:latin typeface="Arial"/>
              <a:cs typeface="Arial"/>
            </a:endParaRPr>
          </a:p>
          <a:p>
            <a:pPr marL="24892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248920" algn="l"/>
                <a:tab pos="249554" algn="l"/>
              </a:tabLst>
            </a:pPr>
            <a:r>
              <a:rPr dirty="0" sz="1200" b="1">
                <a:latin typeface="Arial"/>
                <a:cs typeface="Arial"/>
              </a:rPr>
              <a:t>Look</a:t>
            </a:r>
            <a:r>
              <a:rPr dirty="0" sz="1200" spc="-5" b="1">
                <a:latin typeface="Arial"/>
                <a:cs typeface="Arial"/>
              </a:rPr>
              <a:t> at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pictures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describe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Harappa</a:t>
            </a:r>
            <a:r>
              <a:rPr dirty="0" sz="1200" b="1">
                <a:latin typeface="Arial"/>
                <a:cs typeface="Arial"/>
              </a:rPr>
              <a:t> Civilization.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73100" y="653287"/>
            <a:ext cx="6626225" cy="2849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“Presentation-</a:t>
            </a:r>
            <a:r>
              <a:rPr dirty="0" sz="1400" b="1">
                <a:latin typeface="Arial"/>
                <a:cs typeface="Arial"/>
              </a:rPr>
              <a:t> A</a:t>
            </a:r>
            <a:r>
              <a:rPr dirty="0" sz="1400" spc="-5" b="1">
                <a:latin typeface="Arial"/>
                <a:cs typeface="Arial"/>
              </a:rPr>
              <a:t> Teacher-centered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Method”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880"/>
              </a:spcBef>
            </a:pP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sometimes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called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lecture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method.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Arial"/>
              <a:cs typeface="Arial"/>
            </a:endParaRPr>
          </a:p>
          <a:p>
            <a:pPr algn="just" marL="241300" marR="9525" indent="-229235">
              <a:lnSpc>
                <a:spcPct val="142900"/>
              </a:lnSpc>
              <a:buFont typeface="Times New Roman"/>
              <a:buChar char="-"/>
              <a:tabLst>
                <a:tab pos="241935" algn="l"/>
              </a:tabLst>
            </a:pP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 approach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to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teaching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wherein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b="1">
                <a:latin typeface="Arial"/>
                <a:cs typeface="Arial"/>
              </a:rPr>
              <a:t> primary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emphasis</a:t>
            </a:r>
            <a:r>
              <a:rPr dirty="0" sz="1200" b="1">
                <a:latin typeface="Arial"/>
                <a:cs typeface="Arial"/>
              </a:rPr>
              <a:t> 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explaining</a:t>
            </a:r>
            <a:r>
              <a:rPr dirty="0" sz="1200" b="1">
                <a:latin typeface="Arial"/>
                <a:cs typeface="Arial"/>
              </a:rPr>
              <a:t> new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information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ideas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where</a:t>
            </a:r>
            <a:r>
              <a:rPr dirty="0" sz="1200" b="1">
                <a:latin typeface="Arial"/>
                <a:cs typeface="Arial"/>
              </a:rPr>
              <a:t> information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about</a:t>
            </a:r>
            <a:r>
              <a:rPr dirty="0" sz="1200" b="1">
                <a:latin typeface="Arial"/>
                <a:cs typeface="Arial"/>
              </a:rPr>
              <a:t> knowledge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facts,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concepts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 </a:t>
            </a:r>
            <a:r>
              <a:rPr dirty="0" sz="1200" spc="-5" b="1">
                <a:latin typeface="Arial"/>
                <a:cs typeface="Arial"/>
              </a:rPr>
              <a:t>principles.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-"/>
            </a:pPr>
            <a:endParaRPr sz="1800">
              <a:latin typeface="Arial"/>
              <a:cs typeface="Arial"/>
            </a:endParaRPr>
          </a:p>
          <a:p>
            <a:pPr algn="just" marL="241300" marR="5080" indent="-229235">
              <a:lnSpc>
                <a:spcPct val="142500"/>
              </a:lnSpc>
              <a:buFont typeface="Times New Roman"/>
              <a:buChar char="-"/>
              <a:tabLst>
                <a:tab pos="241935" algn="l"/>
              </a:tabLst>
            </a:pPr>
            <a:r>
              <a:rPr dirty="0" sz="1200" spc="-5" b="1">
                <a:latin typeface="Arial"/>
                <a:cs typeface="Arial"/>
              </a:rPr>
              <a:t>Presentations,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explanations,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lectures</a:t>
            </a:r>
            <a:r>
              <a:rPr dirty="0" sz="1200" b="1">
                <a:latin typeface="Arial"/>
                <a:cs typeface="Arial"/>
              </a:rPr>
              <a:t> by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comprise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5" b="1">
                <a:latin typeface="Arial"/>
                <a:cs typeface="Arial"/>
              </a:rPr>
              <a:t>large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portion</a:t>
            </a:r>
            <a:r>
              <a:rPr dirty="0" sz="1200" b="1">
                <a:latin typeface="Arial"/>
                <a:cs typeface="Arial"/>
              </a:rPr>
              <a:t> of 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 </a:t>
            </a:r>
            <a:r>
              <a:rPr dirty="0" sz="1200" b="1">
                <a:latin typeface="Arial"/>
                <a:cs typeface="Arial"/>
              </a:rPr>
              <a:t>time </a:t>
            </a:r>
            <a:r>
              <a:rPr dirty="0" sz="1200" spc="-5" b="1">
                <a:latin typeface="Arial"/>
                <a:cs typeface="Arial"/>
              </a:rPr>
              <a:t>primarily because curricula </a:t>
            </a:r>
            <a:r>
              <a:rPr dirty="0" sz="1200" b="1">
                <a:latin typeface="Arial"/>
                <a:cs typeface="Arial"/>
              </a:rPr>
              <a:t>in </a:t>
            </a:r>
            <a:r>
              <a:rPr dirty="0" sz="1200" spc="-5" b="1">
                <a:latin typeface="Arial"/>
                <a:cs typeface="Arial"/>
              </a:rPr>
              <a:t>schools have </a:t>
            </a:r>
            <a:r>
              <a:rPr dirty="0" sz="1200" b="1">
                <a:latin typeface="Arial"/>
                <a:cs typeface="Arial"/>
              </a:rPr>
              <a:t>been </a:t>
            </a:r>
            <a:r>
              <a:rPr dirty="0" sz="1200" spc="-5" b="1">
                <a:latin typeface="Arial"/>
                <a:cs typeface="Arial"/>
              </a:rPr>
              <a:t>structured around </a:t>
            </a:r>
            <a:r>
              <a:rPr dirty="0" sz="1200" b="1">
                <a:latin typeface="Arial"/>
                <a:cs typeface="Arial"/>
              </a:rPr>
              <a:t> bodies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information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that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b="1">
                <a:latin typeface="Arial"/>
                <a:cs typeface="Arial"/>
              </a:rPr>
              <a:t> are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expected</a:t>
            </a:r>
            <a:r>
              <a:rPr dirty="0" sz="1200" b="1">
                <a:latin typeface="Arial"/>
                <a:cs typeface="Arial"/>
              </a:rPr>
              <a:t> to </a:t>
            </a:r>
            <a:r>
              <a:rPr dirty="0" sz="1200" spc="-5" b="1">
                <a:latin typeface="Arial"/>
                <a:cs typeface="Arial"/>
              </a:rPr>
              <a:t>learn.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3843654"/>
            <a:ext cx="6855459" cy="627951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880"/>
              </a:spcBef>
            </a:pPr>
            <a:r>
              <a:rPr dirty="0" sz="1200" spc="-5" b="1">
                <a:latin typeface="Arial"/>
                <a:cs typeface="Arial"/>
              </a:rPr>
              <a:t>Syntax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presentation: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Need to </a:t>
            </a:r>
            <a:r>
              <a:rPr dirty="0" sz="1200" spc="-5" b="1">
                <a:latin typeface="Arial"/>
                <a:cs typeface="Arial"/>
              </a:rPr>
              <a:t>present objectives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establish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set.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Presenting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</a:t>
            </a:r>
            <a:r>
              <a:rPr dirty="0" sz="1200" spc="-5" b="1">
                <a:latin typeface="Arial"/>
                <a:cs typeface="Arial"/>
              </a:rPr>
              <a:t> advance organizer</a:t>
            </a:r>
            <a:endParaRPr sz="1200">
              <a:latin typeface="Arial"/>
              <a:cs typeface="Arial"/>
            </a:endParaRPr>
          </a:p>
          <a:p>
            <a:pPr marL="469900" marR="8890" indent="-229235">
              <a:lnSpc>
                <a:spcPct val="145000"/>
              </a:lnSpc>
              <a:spcBef>
                <a:spcPts val="15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Using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processes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monitor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</a:t>
            </a:r>
            <a:r>
              <a:rPr dirty="0" sz="1200" spc="9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understanding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help</a:t>
            </a:r>
            <a:r>
              <a:rPr dirty="0" sz="1200" spc="1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extend</a:t>
            </a:r>
            <a:r>
              <a:rPr dirty="0" sz="1200" spc="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strengthen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thinking.</a:t>
            </a:r>
            <a:endParaRPr sz="1200">
              <a:latin typeface="Arial"/>
              <a:cs typeface="Arial"/>
            </a:endParaRPr>
          </a:p>
          <a:p>
            <a:pPr marL="469900" marR="5080" indent="-229235">
              <a:lnSpc>
                <a:spcPct val="142500"/>
              </a:lnSpc>
              <a:spcBef>
                <a:spcPts val="50"/>
              </a:spcBef>
              <a:buFont typeface="Times New Roman"/>
              <a:buChar char="-"/>
              <a:tabLst>
                <a:tab pos="469900" algn="l"/>
                <a:tab pos="470534" algn="l"/>
                <a:tab pos="1243330" algn="l"/>
                <a:tab pos="2377440" algn="l"/>
                <a:tab pos="2744470" algn="l"/>
                <a:tab pos="3286760" algn="l"/>
                <a:tab pos="4422775" algn="l"/>
                <a:tab pos="4991100" algn="l"/>
                <a:tab pos="5573395" algn="l"/>
              </a:tabLst>
            </a:pPr>
            <a:r>
              <a:rPr dirty="0" sz="1200" b="1">
                <a:latin typeface="Arial"/>
                <a:cs typeface="Arial"/>
              </a:rPr>
              <a:t>Ef</a:t>
            </a:r>
            <a:r>
              <a:rPr dirty="0" sz="1200" spc="-10" b="1">
                <a:latin typeface="Arial"/>
                <a:cs typeface="Arial"/>
              </a:rPr>
              <a:t>f</a:t>
            </a:r>
            <a:r>
              <a:rPr dirty="0" sz="1200" spc="-5" b="1">
                <a:latin typeface="Arial"/>
                <a:cs typeface="Arial"/>
              </a:rPr>
              <a:t>ec</a:t>
            </a:r>
            <a:r>
              <a:rPr dirty="0" sz="1200" b="1">
                <a:latin typeface="Arial"/>
                <a:cs typeface="Arial"/>
              </a:rPr>
              <a:t>tiv</a:t>
            </a:r>
            <a:r>
              <a:rPr dirty="0" sz="1200" spc="-5" b="1">
                <a:latin typeface="Arial"/>
                <a:cs typeface="Arial"/>
              </a:rPr>
              <a:t>e</a:t>
            </a:r>
            <a:r>
              <a:rPr dirty="0" sz="1200" b="1">
                <a:latin typeface="Arial"/>
                <a:cs typeface="Arial"/>
              </a:rPr>
              <a:t>	p</a:t>
            </a:r>
            <a:r>
              <a:rPr dirty="0" sz="1200" spc="-15" b="1">
                <a:latin typeface="Arial"/>
                <a:cs typeface="Arial"/>
              </a:rPr>
              <a:t>r</a:t>
            </a:r>
            <a:r>
              <a:rPr dirty="0" sz="1200" spc="-5" b="1">
                <a:latin typeface="Arial"/>
                <a:cs typeface="Arial"/>
              </a:rPr>
              <a:t>ese</a:t>
            </a:r>
            <a:r>
              <a:rPr dirty="0" sz="1200" b="1">
                <a:latin typeface="Arial"/>
                <a:cs typeface="Arial"/>
              </a:rPr>
              <a:t>n</a:t>
            </a:r>
            <a:r>
              <a:rPr dirty="0" sz="1200" spc="-5" b="1">
                <a:latin typeface="Arial"/>
                <a:cs typeface="Arial"/>
              </a:rPr>
              <a:t>t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t</a:t>
            </a:r>
            <a:r>
              <a:rPr dirty="0" sz="1200" spc="-15" b="1">
                <a:latin typeface="Arial"/>
                <a:cs typeface="Arial"/>
              </a:rPr>
              <a:t>i</a:t>
            </a:r>
            <a:r>
              <a:rPr dirty="0" sz="1200" b="1">
                <a:latin typeface="Arial"/>
                <a:cs typeface="Arial"/>
              </a:rPr>
              <a:t>ons	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b="1">
                <a:latin typeface="Arial"/>
                <a:cs typeface="Arial"/>
              </a:rPr>
              <a:t>t</a:t>
            </a:r>
            <a:r>
              <a:rPr dirty="0" sz="1200" spc="-5" b="1">
                <a:latin typeface="Arial"/>
                <a:cs typeface="Arial"/>
              </a:rPr>
              <a:t>h</a:t>
            </a:r>
            <a:r>
              <a:rPr dirty="0" sz="1200" b="1">
                <a:latin typeface="Arial"/>
                <a:cs typeface="Arial"/>
              </a:rPr>
              <a:t>o</a:t>
            </a:r>
            <a:r>
              <a:rPr dirty="0" sz="1200" spc="-10" b="1">
                <a:latin typeface="Arial"/>
                <a:cs typeface="Arial"/>
              </a:rPr>
              <a:t>s</a:t>
            </a:r>
            <a:r>
              <a:rPr dirty="0" sz="1200" spc="-5" b="1">
                <a:latin typeface="Arial"/>
                <a:cs typeface="Arial"/>
              </a:rPr>
              <a:t>e</a:t>
            </a:r>
            <a:r>
              <a:rPr dirty="0" sz="1200" b="1">
                <a:latin typeface="Arial"/>
                <a:cs typeface="Arial"/>
              </a:rPr>
              <a:t>	pr</a:t>
            </a:r>
            <a:r>
              <a:rPr dirty="0" sz="1200" spc="-10" b="1">
                <a:latin typeface="Arial"/>
                <a:cs typeface="Arial"/>
              </a:rPr>
              <a:t>e</a:t>
            </a:r>
            <a:r>
              <a:rPr dirty="0" sz="1200" spc="-5" b="1">
                <a:latin typeface="Arial"/>
                <a:cs typeface="Arial"/>
              </a:rPr>
              <a:t>se</a:t>
            </a:r>
            <a:r>
              <a:rPr dirty="0" sz="1200" b="1">
                <a:latin typeface="Arial"/>
                <a:cs typeface="Arial"/>
              </a:rPr>
              <a:t>n</a:t>
            </a:r>
            <a:r>
              <a:rPr dirty="0" sz="1200" spc="-5" b="1">
                <a:latin typeface="Arial"/>
                <a:cs typeface="Arial"/>
              </a:rPr>
              <a:t>t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tions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b="1">
                <a:latin typeface="Arial"/>
                <a:cs typeface="Arial"/>
              </a:rPr>
              <a:t>wh</a:t>
            </a:r>
            <a:r>
              <a:rPr dirty="0" sz="1200" spc="-10" b="1">
                <a:latin typeface="Arial"/>
                <a:cs typeface="Arial"/>
              </a:rPr>
              <a:t>i</a:t>
            </a:r>
            <a:r>
              <a:rPr dirty="0" sz="1200" spc="-5" b="1">
                <a:latin typeface="Arial"/>
                <a:cs typeface="Arial"/>
              </a:rPr>
              <a:t>c</a:t>
            </a:r>
            <a:r>
              <a:rPr dirty="0" sz="1200" b="1">
                <a:latin typeface="Arial"/>
                <a:cs typeface="Arial"/>
              </a:rPr>
              <a:t>h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b="1">
                <a:latin typeface="Arial"/>
                <a:cs typeface="Arial"/>
              </a:rPr>
              <a:t>f</a:t>
            </a:r>
            <a:r>
              <a:rPr dirty="0" sz="1200" spc="-5" b="1">
                <a:latin typeface="Arial"/>
                <a:cs typeface="Arial"/>
              </a:rPr>
              <a:t>o</a:t>
            </a:r>
            <a:r>
              <a:rPr dirty="0" sz="1200" b="1">
                <a:latin typeface="Arial"/>
                <a:cs typeface="Arial"/>
              </a:rPr>
              <a:t>ll</a:t>
            </a:r>
            <a:r>
              <a:rPr dirty="0" sz="1200" b="1">
                <a:latin typeface="Arial"/>
                <a:cs typeface="Arial"/>
              </a:rPr>
              <a:t>ow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rul</a:t>
            </a:r>
            <a:r>
              <a:rPr dirty="0" u="heavy" sz="1200" spc="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-</a:t>
            </a:r>
            <a:r>
              <a:rPr dirty="0" u="heavy" sz="12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xa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mp</a:t>
            </a:r>
            <a:r>
              <a:rPr dirty="0" u="heavy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-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ru</a:t>
            </a:r>
            <a:r>
              <a:rPr dirty="0" u="heavy" sz="1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 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technique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-"/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Rule-example-rule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technique:</a:t>
            </a:r>
            <a:endParaRPr sz="1200">
              <a:latin typeface="Arial"/>
              <a:cs typeface="Arial"/>
            </a:endParaRPr>
          </a:p>
          <a:p>
            <a:pPr marL="469900" marR="6985" indent="-229235">
              <a:lnSpc>
                <a:spcPct val="142500"/>
              </a:lnSpc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technique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used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when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explaining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something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whereby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1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general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principle</a:t>
            </a:r>
            <a:r>
              <a:rPr dirty="0" sz="1200" spc="1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rule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given</a:t>
            </a:r>
            <a:r>
              <a:rPr dirty="0" sz="1200" spc="2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first,</a:t>
            </a:r>
            <a:r>
              <a:rPr dirty="0" sz="1200" spc="2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then</a:t>
            </a:r>
            <a:r>
              <a:rPr dirty="0" sz="1200" spc="2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elaborated</a:t>
            </a:r>
            <a:r>
              <a:rPr dirty="0" sz="1200" spc="25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2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with</a:t>
            </a:r>
            <a:r>
              <a:rPr dirty="0" sz="1200" spc="2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specific</a:t>
            </a:r>
            <a:r>
              <a:rPr dirty="0" sz="1200" spc="2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examples,</a:t>
            </a:r>
            <a:r>
              <a:rPr dirty="0" sz="1200" spc="2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2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finally</a:t>
            </a:r>
            <a:r>
              <a:rPr dirty="0" sz="1200" spc="2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summarized</a:t>
            </a:r>
            <a:r>
              <a:rPr dirty="0" sz="1200" spc="2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25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15"/>
              </a:spcBef>
            </a:pPr>
            <a:r>
              <a:rPr dirty="0" sz="1200" b="1">
                <a:latin typeface="Arial"/>
                <a:cs typeface="Arial"/>
              </a:rPr>
              <a:t>restatement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rule.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Quiz:</a:t>
            </a:r>
            <a:endParaRPr sz="1200">
              <a:latin typeface="Arial"/>
              <a:cs typeface="Arial"/>
            </a:endParaRPr>
          </a:p>
          <a:p>
            <a:pPr marL="18415" marR="15240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Which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following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lesson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objectives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appropriate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lesson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presentation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model?</a:t>
            </a:r>
            <a:endParaRPr sz="1200">
              <a:latin typeface="Arial MT"/>
              <a:cs typeface="Arial MT"/>
            </a:endParaRPr>
          </a:p>
          <a:p>
            <a:pPr algn="just" marL="462280" indent="-229235">
              <a:lnSpc>
                <a:spcPct val="100000"/>
              </a:lnSpc>
              <a:spcBef>
                <a:spcPts val="48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Students will be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 to</a:t>
            </a:r>
            <a:r>
              <a:rPr dirty="0" sz="1200">
                <a:latin typeface="Arial MT"/>
                <a:cs typeface="Arial MT"/>
              </a:rPr>
              <a:t> dissect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frog.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85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Students </a:t>
            </a:r>
            <a:r>
              <a:rPr dirty="0" sz="1200" b="1">
                <a:latin typeface="Arial"/>
                <a:cs typeface="Arial"/>
              </a:rPr>
              <a:t>will </a:t>
            </a:r>
            <a:r>
              <a:rPr dirty="0" sz="1200" spc="-5" b="1">
                <a:latin typeface="Arial"/>
                <a:cs typeface="Arial"/>
              </a:rPr>
              <a:t>describe </a:t>
            </a: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anatomy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frog.</a:t>
            </a:r>
            <a:endParaRPr sz="1200">
              <a:latin typeface="Arial"/>
              <a:cs typeface="Arial"/>
            </a:endParaRPr>
          </a:p>
          <a:p>
            <a:pPr algn="just" marL="462280" indent="-229235">
              <a:lnSpc>
                <a:spcPct val="100000"/>
              </a:lnSpc>
              <a:spcBef>
                <a:spcPts val="61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prepare a slide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microscopic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view.</a:t>
            </a:r>
            <a:endParaRPr sz="1200">
              <a:latin typeface="Arial MT"/>
              <a:cs typeface="Arial MT"/>
            </a:endParaRPr>
          </a:p>
          <a:p>
            <a:pPr algn="just" marL="46228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examine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frog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cells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 a microscope.</a:t>
            </a:r>
            <a:endParaRPr sz="1200">
              <a:latin typeface="Arial MT"/>
              <a:cs typeface="Arial MT"/>
            </a:endParaRPr>
          </a:p>
          <a:p>
            <a:pPr algn="just" marL="18415" marR="469265" indent="-6350">
              <a:lnSpc>
                <a:spcPct val="144200"/>
              </a:lnSpc>
              <a:spcBef>
                <a:spcPts val="985"/>
              </a:spcBef>
            </a:pPr>
            <a:r>
              <a:rPr dirty="0" sz="1200" spc="-5">
                <a:latin typeface="Arial MT"/>
                <a:cs typeface="Arial MT"/>
              </a:rPr>
              <a:t>Because the primary purpose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presentation model is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give information. Information could be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facts, concepts or generalizations. </a:t>
            </a:r>
            <a:r>
              <a:rPr dirty="0" sz="1200">
                <a:latin typeface="Arial MT"/>
                <a:cs typeface="Arial MT"/>
              </a:rPr>
              <a:t>So, </a:t>
            </a:r>
            <a:r>
              <a:rPr dirty="0" sz="1200" spc="-5">
                <a:latin typeface="Arial MT"/>
                <a:cs typeface="Arial MT"/>
              </a:rPr>
              <a:t>presentation method is generally used for giving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 to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students. But students will not gather information unless a teacher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employ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technique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rule-example-rule.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5572" y="10774426"/>
            <a:ext cx="6506209" cy="315595"/>
          </a:xfrm>
          <a:prstGeom prst="rect">
            <a:avLst/>
          </a:prstGeom>
          <a:solidFill>
            <a:srgbClr val="006FC0"/>
          </a:solidFill>
          <a:ln w="6096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 #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42</a:t>
            </a:r>
            <a:r>
              <a:rPr dirty="0" sz="16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“Motivation</a:t>
            </a:r>
            <a:r>
              <a:rPr dirty="0" sz="18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Learning”</a:t>
            </a:r>
            <a:r>
              <a:rPr dirty="0" sz="18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Outline: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100" y="11089437"/>
            <a:ext cx="1778635" cy="54356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dirty="0" sz="1200" spc="-5" b="1">
                <a:latin typeface="Arial"/>
                <a:cs typeface="Arial"/>
              </a:rPr>
              <a:t>Motivation</a:t>
            </a:r>
            <a:endParaRPr sz="12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dirty="0" sz="1200" spc="-5" b="1">
                <a:latin typeface="Arial"/>
                <a:cs typeface="Arial"/>
              </a:rPr>
              <a:t>Motivational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theories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552703"/>
            <a:ext cx="6848475" cy="10933430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690880" indent="-229235">
              <a:lnSpc>
                <a:spcPct val="100000"/>
              </a:lnSpc>
              <a:spcBef>
                <a:spcPts val="915"/>
              </a:spcBef>
              <a:buFont typeface="Times New Roman"/>
              <a:buChar char="-"/>
              <a:tabLst>
                <a:tab pos="690880" algn="l"/>
                <a:tab pos="691515" algn="l"/>
              </a:tabLst>
            </a:pPr>
            <a:r>
              <a:rPr dirty="0" sz="1200" spc="-5" b="1">
                <a:latin typeface="Arial"/>
                <a:cs typeface="Arial"/>
              </a:rPr>
              <a:t>Reinforcement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theory</a:t>
            </a:r>
            <a:endParaRPr sz="1200">
              <a:latin typeface="Arial"/>
              <a:cs typeface="Arial"/>
            </a:endParaRPr>
          </a:p>
          <a:p>
            <a:pPr marL="690880" indent="-229235">
              <a:lnSpc>
                <a:spcPct val="100000"/>
              </a:lnSpc>
              <a:spcBef>
                <a:spcPts val="815"/>
              </a:spcBef>
              <a:buFont typeface="Times New Roman"/>
              <a:buChar char="-"/>
              <a:tabLst>
                <a:tab pos="690880" algn="l"/>
                <a:tab pos="691515" algn="l"/>
              </a:tabLst>
            </a:pPr>
            <a:r>
              <a:rPr dirty="0" sz="1200" b="1">
                <a:latin typeface="Arial"/>
                <a:cs typeface="Arial"/>
              </a:rPr>
              <a:t>Need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theory</a:t>
            </a:r>
            <a:endParaRPr sz="1200">
              <a:latin typeface="Arial"/>
              <a:cs typeface="Arial"/>
            </a:endParaRPr>
          </a:p>
          <a:p>
            <a:pPr marL="69088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690880" algn="l"/>
                <a:tab pos="691515" algn="l"/>
              </a:tabLst>
            </a:pPr>
            <a:r>
              <a:rPr dirty="0" sz="1200" b="1">
                <a:latin typeface="Arial"/>
                <a:cs typeface="Arial"/>
              </a:rPr>
              <a:t>Maslow’s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hierarchy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needs</a:t>
            </a:r>
            <a:endParaRPr sz="1200">
              <a:latin typeface="Arial"/>
              <a:cs typeface="Arial"/>
            </a:endParaRPr>
          </a:p>
          <a:p>
            <a:pPr marL="690880" indent="-229235">
              <a:lnSpc>
                <a:spcPct val="100000"/>
              </a:lnSpc>
              <a:spcBef>
                <a:spcPts val="830"/>
              </a:spcBef>
              <a:buFont typeface="Times New Roman"/>
              <a:buChar char="-"/>
              <a:tabLst>
                <a:tab pos="690880" algn="l"/>
                <a:tab pos="691515" algn="l"/>
              </a:tabLst>
            </a:pPr>
            <a:r>
              <a:rPr dirty="0" sz="1200" spc="-5" b="1">
                <a:latin typeface="Arial"/>
                <a:cs typeface="Arial"/>
              </a:rPr>
              <a:t>Cognitive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theories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motivation</a:t>
            </a:r>
            <a:endParaRPr sz="1200">
              <a:latin typeface="Arial"/>
              <a:cs typeface="Arial"/>
            </a:endParaRPr>
          </a:p>
          <a:p>
            <a:pPr marL="690880" indent="-229235">
              <a:lnSpc>
                <a:spcPct val="100000"/>
              </a:lnSpc>
              <a:spcBef>
                <a:spcPts val="805"/>
              </a:spcBef>
              <a:buFont typeface="Times New Roman"/>
              <a:buChar char="-"/>
              <a:tabLst>
                <a:tab pos="690880" algn="l"/>
                <a:tab pos="691515" algn="l"/>
              </a:tabLst>
            </a:pPr>
            <a:r>
              <a:rPr dirty="0" sz="1200" b="1">
                <a:latin typeface="Arial"/>
                <a:cs typeface="Arial"/>
              </a:rPr>
              <a:t>Social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theories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Intrinsic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Extrinsic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motivation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Productive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community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Features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motivation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400" spc="-5" b="1">
                <a:latin typeface="Arial"/>
                <a:cs typeface="Arial"/>
              </a:rPr>
              <a:t>Motivation:</a:t>
            </a:r>
            <a:endParaRPr sz="1400">
              <a:latin typeface="Arial"/>
              <a:cs typeface="Arial"/>
            </a:endParaRPr>
          </a:p>
          <a:p>
            <a:pPr marL="18415" marR="114935" indent="-6350">
              <a:lnSpc>
                <a:spcPts val="2080"/>
              </a:lnSpc>
              <a:spcBef>
                <a:spcPts val="80"/>
              </a:spcBef>
            </a:pP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driving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helps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someone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perform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So,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named </a:t>
            </a:r>
            <a:r>
              <a:rPr dirty="0" sz="1200" spc="-10">
                <a:latin typeface="Arial MT"/>
                <a:cs typeface="Arial MT"/>
              </a:rPr>
              <a:t>as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force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keeps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moving on.</a:t>
            </a:r>
            <a:endParaRPr sz="1200">
              <a:latin typeface="Arial MT"/>
              <a:cs typeface="Arial MT"/>
            </a:endParaRPr>
          </a:p>
          <a:p>
            <a:pPr algn="just" marL="469900" marR="464184" indent="-229235">
              <a:lnSpc>
                <a:spcPts val="2050"/>
              </a:lnSpc>
              <a:spcBef>
                <a:spcPts val="4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concept </a:t>
            </a:r>
            <a:r>
              <a:rPr dirty="0" sz="1200" b="1">
                <a:latin typeface="Arial"/>
                <a:cs typeface="Arial"/>
              </a:rPr>
              <a:t>of human motivation is </a:t>
            </a:r>
            <a:r>
              <a:rPr dirty="0" sz="1200" spc="-5" b="1">
                <a:latin typeface="Arial"/>
                <a:cs typeface="Arial"/>
              </a:rPr>
              <a:t>defined as the processes within individuals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 arouse </a:t>
            </a:r>
            <a:r>
              <a:rPr dirty="0" sz="1200" b="1">
                <a:latin typeface="Arial"/>
                <a:cs typeface="Arial"/>
              </a:rPr>
              <a:t>them to </a:t>
            </a:r>
            <a:r>
              <a:rPr dirty="0" sz="1200" spc="-5" b="1">
                <a:latin typeface="Arial"/>
                <a:cs typeface="Arial"/>
              </a:rPr>
              <a:t>action. </a:t>
            </a:r>
            <a:r>
              <a:rPr dirty="0" sz="1200" b="1">
                <a:latin typeface="Arial"/>
                <a:cs typeface="Arial"/>
              </a:rPr>
              <a:t>It is what gets </a:t>
            </a:r>
            <a:r>
              <a:rPr dirty="0" sz="1200" spc="-5" b="1">
                <a:latin typeface="Arial"/>
                <a:cs typeface="Arial"/>
              </a:rPr>
              <a:t>individuals “moving” towards </a:t>
            </a:r>
            <a:r>
              <a:rPr dirty="0" sz="1200" b="1">
                <a:latin typeface="Arial"/>
                <a:cs typeface="Arial"/>
              </a:rPr>
              <a:t>specified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tasks.</a:t>
            </a:r>
            <a:endParaRPr sz="1200">
              <a:latin typeface="Arial"/>
              <a:cs typeface="Arial"/>
            </a:endParaRPr>
          </a:p>
          <a:p>
            <a:pPr marL="18415" marR="243204" indent="-6350">
              <a:lnSpc>
                <a:spcPct val="144200"/>
              </a:lnSpc>
              <a:spcBef>
                <a:spcPts val="795"/>
              </a:spcBef>
            </a:pP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a complex process which is made up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different processes. These are processes which helps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400" spc="-5" b="1">
                <a:latin typeface="Arial"/>
                <a:cs typeface="Arial"/>
              </a:rPr>
              <a:t>Motivation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theories:</a:t>
            </a:r>
            <a:endParaRPr sz="1400">
              <a:latin typeface="Arial"/>
              <a:cs typeface="Arial"/>
            </a:endParaRPr>
          </a:p>
          <a:p>
            <a:pPr marL="18415" marR="5715" indent="-6350">
              <a:lnSpc>
                <a:spcPts val="2080"/>
              </a:lnSpc>
              <a:spcBef>
                <a:spcPts val="85"/>
              </a:spcBef>
            </a:pP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remember,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no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authentic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debated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unless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backed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up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support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theories.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four</a:t>
            </a:r>
            <a:r>
              <a:rPr dirty="0" sz="1200">
                <a:latin typeface="Arial MT"/>
                <a:cs typeface="Arial MT"/>
              </a:rPr>
              <a:t> distinct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categories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motivation:</a:t>
            </a:r>
            <a:endParaRPr sz="1200">
              <a:latin typeface="Arial MT"/>
              <a:cs typeface="Arial MT"/>
            </a:endParaRPr>
          </a:p>
          <a:p>
            <a:pPr algn="just" marL="469900" marR="464184" indent="-229235">
              <a:lnSpc>
                <a:spcPts val="2050"/>
              </a:lnSpc>
              <a:spcBef>
                <a:spcPts val="40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Many theories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motivation exist. </a:t>
            </a:r>
            <a:r>
              <a:rPr dirty="0" sz="1200" b="1">
                <a:latin typeface="Arial"/>
                <a:cs typeface="Arial"/>
              </a:rPr>
              <a:t>For </a:t>
            </a:r>
            <a:r>
              <a:rPr dirty="0" sz="1200" spc="-5" b="1">
                <a:latin typeface="Arial"/>
                <a:cs typeface="Arial"/>
              </a:rPr>
              <a:t>that are particularly relevant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education </a:t>
            </a:r>
            <a:r>
              <a:rPr dirty="0" sz="1200" b="1">
                <a:latin typeface="Arial"/>
                <a:cs typeface="Arial"/>
              </a:rPr>
              <a:t> include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reinforcement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theory,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needs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theories,</a:t>
            </a:r>
            <a:r>
              <a:rPr dirty="0" sz="1200" b="1">
                <a:latin typeface="Arial"/>
                <a:cs typeface="Arial"/>
              </a:rPr>
              <a:t> cognitive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theories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social </a:t>
            </a:r>
            <a:r>
              <a:rPr dirty="0" sz="1200" b="1">
                <a:latin typeface="Arial"/>
                <a:cs typeface="Arial"/>
              </a:rPr>
              <a:t> learning</a:t>
            </a:r>
            <a:r>
              <a:rPr dirty="0" sz="1200" spc="-5" b="1">
                <a:latin typeface="Arial"/>
                <a:cs typeface="Arial"/>
              </a:rPr>
              <a:t> theories.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Arial"/>
                <a:cs typeface="Arial"/>
              </a:rPr>
              <a:t>1.</a:t>
            </a:r>
            <a:r>
              <a:rPr dirty="0" sz="1200" spc="-5" b="1">
                <a:latin typeface="Arial"/>
                <a:cs typeface="Arial"/>
              </a:rPr>
              <a:t> Reinforcement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theory:</a:t>
            </a:r>
            <a:endParaRPr sz="1200">
              <a:latin typeface="Arial"/>
              <a:cs typeface="Arial"/>
            </a:endParaRPr>
          </a:p>
          <a:p>
            <a:pPr marL="933450" marR="304165" indent="-6350">
              <a:lnSpc>
                <a:spcPct val="142500"/>
              </a:lnSpc>
            </a:pPr>
            <a:r>
              <a:rPr dirty="0" sz="1200" spc="-5" b="1">
                <a:latin typeface="Arial"/>
                <a:cs typeface="Arial"/>
              </a:rPr>
              <a:t>Reinforcement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theory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emphasizes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importance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individuals</a:t>
            </a:r>
            <a:r>
              <a:rPr dirty="0" sz="1200" spc="1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responding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environmental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events</a:t>
            </a:r>
            <a:r>
              <a:rPr dirty="0" sz="1200" b="1">
                <a:latin typeface="Arial"/>
                <a:cs typeface="Arial"/>
              </a:rPr>
              <a:t> and </a:t>
            </a:r>
            <a:r>
              <a:rPr dirty="0" sz="1200" spc="-5" b="1">
                <a:latin typeface="Arial"/>
                <a:cs typeface="Arial"/>
              </a:rPr>
              <a:t>extrinsic reinforcements.</a:t>
            </a:r>
            <a:endParaRPr sz="1200">
              <a:latin typeface="Arial"/>
              <a:cs typeface="Arial"/>
            </a:endParaRPr>
          </a:p>
          <a:p>
            <a:pPr algn="just" marL="18415" marR="467995" indent="-6350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Environmental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factors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reinforce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E.g.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reinforce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 among your students that they must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their homework. You can reinforce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 giving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rewards.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inforce </a:t>
            </a:r>
            <a:r>
              <a:rPr dirty="0" sz="1200" spc="-5" b="1">
                <a:latin typeface="Arial"/>
                <a:cs typeface="Arial"/>
              </a:rPr>
              <a:t>behavior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positively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among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b="1">
                <a:latin typeface="Arial"/>
                <a:cs typeface="Arial"/>
              </a:rPr>
              <a:t> is</a:t>
            </a:r>
            <a:r>
              <a:rPr dirty="0" sz="1200" spc="-5" b="1">
                <a:latin typeface="Arial"/>
                <a:cs typeface="Arial"/>
              </a:rPr>
              <a:t> a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positive reinforcement.</a:t>
            </a:r>
            <a:endParaRPr sz="1200">
              <a:latin typeface="Arial"/>
              <a:cs typeface="Arial"/>
            </a:endParaRPr>
          </a:p>
          <a:p>
            <a:pPr algn="just" marL="12700" marR="468630">
              <a:lnSpc>
                <a:spcPct val="142500"/>
              </a:lnSpc>
              <a:spcBef>
                <a:spcPts val="5"/>
              </a:spcBef>
            </a:pPr>
            <a:r>
              <a:rPr dirty="0" sz="1200" spc="-5" b="1">
                <a:solidFill>
                  <a:srgbClr val="202020"/>
                </a:solidFill>
                <a:latin typeface="Arial"/>
                <a:cs typeface="Arial"/>
              </a:rPr>
              <a:t>Negative reinforcement </a:t>
            </a:r>
            <a:r>
              <a:rPr dirty="0" sz="1200" spc="-5">
                <a:solidFill>
                  <a:srgbClr val="202020"/>
                </a:solidFill>
                <a:latin typeface="Arial MT"/>
                <a:cs typeface="Arial MT"/>
              </a:rPr>
              <a:t>occurs when something already present is removed (taken away) </a:t>
            </a:r>
            <a:r>
              <a:rPr dirty="0" sz="1200" spc="-10">
                <a:solidFill>
                  <a:srgbClr val="202020"/>
                </a:solidFill>
                <a:latin typeface="Arial MT"/>
                <a:cs typeface="Arial MT"/>
              </a:rPr>
              <a:t>as </a:t>
            </a:r>
            <a:r>
              <a:rPr dirty="0" sz="1200" spc="-5">
                <a:solidFill>
                  <a:srgbClr val="202020"/>
                </a:solidFill>
                <a:latin typeface="Arial MT"/>
                <a:cs typeface="Arial MT"/>
              </a:rPr>
              <a:t> a result </a:t>
            </a:r>
            <a:r>
              <a:rPr dirty="0" sz="1200">
                <a:solidFill>
                  <a:srgbClr val="202020"/>
                </a:solidFill>
                <a:latin typeface="Arial MT"/>
                <a:cs typeface="Arial MT"/>
              </a:rPr>
              <a:t>of </a:t>
            </a:r>
            <a:r>
              <a:rPr dirty="0" sz="1200" spc="-5">
                <a:solidFill>
                  <a:srgbClr val="202020"/>
                </a:solidFill>
                <a:latin typeface="Arial MT"/>
                <a:cs typeface="Arial MT"/>
              </a:rPr>
              <a:t>a person's behavior, creating a favorable outcome for that person. Basically, when a </a:t>
            </a:r>
            <a:r>
              <a:rPr dirty="0" sz="1200" spc="-320">
                <a:solidFill>
                  <a:srgbClr val="202020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202020"/>
                </a:solidFill>
                <a:latin typeface="Arial MT"/>
                <a:cs typeface="Arial MT"/>
              </a:rPr>
              <a:t>person's behavior </a:t>
            </a:r>
            <a:r>
              <a:rPr dirty="0" sz="1200" spc="-10">
                <a:solidFill>
                  <a:srgbClr val="202020"/>
                </a:solidFill>
                <a:latin typeface="Arial MT"/>
                <a:cs typeface="Arial MT"/>
              </a:rPr>
              <a:t>leads </a:t>
            </a:r>
            <a:r>
              <a:rPr dirty="0" sz="1200">
                <a:solidFill>
                  <a:srgbClr val="202020"/>
                </a:solidFill>
                <a:latin typeface="Arial MT"/>
                <a:cs typeface="Arial MT"/>
              </a:rPr>
              <a:t>to </a:t>
            </a:r>
            <a:r>
              <a:rPr dirty="0" sz="1200" spc="-5">
                <a:solidFill>
                  <a:srgbClr val="202020"/>
                </a:solidFill>
                <a:latin typeface="Arial MT"/>
                <a:cs typeface="Arial MT"/>
              </a:rPr>
              <a:t>the removal </a:t>
            </a:r>
            <a:r>
              <a:rPr dirty="0" sz="1200">
                <a:solidFill>
                  <a:srgbClr val="202020"/>
                </a:solidFill>
                <a:latin typeface="Arial MT"/>
                <a:cs typeface="Arial MT"/>
              </a:rPr>
              <a:t>of </a:t>
            </a:r>
            <a:r>
              <a:rPr dirty="0" sz="1200" spc="-5">
                <a:solidFill>
                  <a:srgbClr val="202020"/>
                </a:solidFill>
                <a:latin typeface="Arial MT"/>
                <a:cs typeface="Arial MT"/>
              </a:rPr>
              <a:t>something that </a:t>
            </a:r>
            <a:r>
              <a:rPr dirty="0" sz="1200" spc="-10">
                <a:solidFill>
                  <a:srgbClr val="202020"/>
                </a:solidFill>
                <a:latin typeface="Arial MT"/>
                <a:cs typeface="Arial MT"/>
              </a:rPr>
              <a:t>was </a:t>
            </a:r>
            <a:r>
              <a:rPr dirty="0" sz="1200" spc="-5">
                <a:solidFill>
                  <a:srgbClr val="202020"/>
                </a:solidFill>
                <a:latin typeface="Arial MT"/>
                <a:cs typeface="Arial MT"/>
              </a:rPr>
              <a:t>unpleasant to that person </a:t>
            </a:r>
            <a:r>
              <a:rPr dirty="0" sz="1200" spc="-10">
                <a:solidFill>
                  <a:srgbClr val="202020"/>
                </a:solidFill>
                <a:latin typeface="Arial MT"/>
                <a:cs typeface="Arial MT"/>
              </a:rPr>
              <a:t>then </a:t>
            </a:r>
            <a:r>
              <a:rPr dirty="0" sz="1200" spc="-5">
                <a:solidFill>
                  <a:srgbClr val="202020"/>
                </a:solidFill>
                <a:latin typeface="Arial MT"/>
                <a:cs typeface="Arial MT"/>
              </a:rPr>
              <a:t> negative</a:t>
            </a:r>
            <a:r>
              <a:rPr dirty="0" sz="1200">
                <a:solidFill>
                  <a:srgbClr val="202020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202020"/>
                </a:solidFill>
                <a:latin typeface="Arial MT"/>
                <a:cs typeface="Arial MT"/>
              </a:rPr>
              <a:t>reinforcement</a:t>
            </a:r>
            <a:r>
              <a:rPr dirty="0" sz="1200" spc="-10">
                <a:solidFill>
                  <a:srgbClr val="202020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202020"/>
                </a:solidFill>
                <a:latin typeface="Arial MT"/>
                <a:cs typeface="Arial MT"/>
              </a:rPr>
              <a:t>is</a:t>
            </a:r>
            <a:r>
              <a:rPr dirty="0" sz="1200">
                <a:solidFill>
                  <a:srgbClr val="202020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202020"/>
                </a:solidFill>
                <a:latin typeface="Arial MT"/>
                <a:cs typeface="Arial MT"/>
              </a:rPr>
              <a:t>occurring.</a:t>
            </a:r>
            <a:endParaRPr sz="1200">
              <a:latin typeface="Arial MT"/>
              <a:cs typeface="Arial MT"/>
            </a:endParaRPr>
          </a:p>
          <a:p>
            <a:pPr algn="just" marL="18415" marR="5080" indent="-6350">
              <a:lnSpc>
                <a:spcPts val="2080"/>
              </a:lnSpc>
              <a:spcBef>
                <a:spcPts val="160"/>
              </a:spcBef>
            </a:pPr>
            <a:r>
              <a:rPr dirty="0" sz="1200" spc="-5">
                <a:latin typeface="Arial MT"/>
                <a:cs typeface="Arial MT"/>
              </a:rPr>
              <a:t>Reinforcement theory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motivation </a:t>
            </a:r>
            <a:r>
              <a:rPr dirty="0" sz="1200">
                <a:latin typeface="Arial MT"/>
                <a:cs typeface="Arial MT"/>
              </a:rPr>
              <a:t>says </a:t>
            </a:r>
            <a:r>
              <a:rPr dirty="0" sz="1200" spc="-5">
                <a:latin typeface="Arial MT"/>
                <a:cs typeface="Arial MT"/>
              </a:rPr>
              <a:t>that children’s behavior can </a:t>
            </a:r>
            <a:r>
              <a:rPr dirty="0" sz="120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modified through </a:t>
            </a:r>
            <a:r>
              <a:rPr dirty="0" sz="1200">
                <a:latin typeface="Arial MT"/>
                <a:cs typeface="Arial MT"/>
              </a:rPr>
              <a:t>positive or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negative reinforce.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Arial MT"/>
              <a:cs typeface="Arial MT"/>
            </a:endParaRPr>
          </a:p>
          <a:p>
            <a:pPr marL="247015" marR="455930" indent="-228600">
              <a:lnSpc>
                <a:spcPct val="142700"/>
              </a:lnSpc>
              <a:spcBef>
                <a:spcPts val="5"/>
              </a:spcBef>
              <a:buSzPct val="90909"/>
              <a:buFont typeface="Arial MT"/>
              <a:buChar char="•"/>
              <a:tabLst>
                <a:tab pos="247015" algn="l"/>
                <a:tab pos="247650" algn="l"/>
              </a:tabLst>
            </a:pPr>
            <a:r>
              <a:rPr dirty="0" sz="1100" b="1">
                <a:latin typeface="Arial"/>
                <a:cs typeface="Arial"/>
              </a:rPr>
              <a:t>Positive</a:t>
            </a:r>
            <a:r>
              <a:rPr dirty="0" sz="1100" spc="185" b="1">
                <a:latin typeface="Arial"/>
                <a:cs typeface="Arial"/>
              </a:rPr>
              <a:t> </a:t>
            </a:r>
            <a:r>
              <a:rPr dirty="0" sz="1100" spc="-5" b="1">
                <a:latin typeface="Arial"/>
                <a:cs typeface="Arial"/>
              </a:rPr>
              <a:t>reinforcement</a:t>
            </a:r>
            <a:r>
              <a:rPr dirty="0" sz="1100" spc="-5">
                <a:latin typeface="Arial MT"/>
                <a:cs typeface="Arial MT"/>
              </a:rPr>
              <a:t>:</a:t>
            </a:r>
            <a:r>
              <a:rPr dirty="0" sz="1100" spc="2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20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adding</a:t>
            </a:r>
            <a:r>
              <a:rPr dirty="0" sz="1100" spc="2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of</a:t>
            </a:r>
            <a:r>
              <a:rPr dirty="0" sz="1100" spc="204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</a:t>
            </a:r>
            <a:r>
              <a:rPr dirty="0" sz="1100" spc="20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appetitive</a:t>
            </a:r>
            <a:r>
              <a:rPr dirty="0" sz="1100" spc="21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stimulus</a:t>
            </a:r>
            <a:r>
              <a:rPr dirty="0" sz="1100" spc="2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20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increase</a:t>
            </a:r>
            <a:r>
              <a:rPr dirty="0" sz="1100" spc="2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20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certain</a:t>
            </a:r>
            <a:r>
              <a:rPr dirty="0" sz="1100" spc="21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behavior</a:t>
            </a:r>
            <a:r>
              <a:rPr dirty="0" sz="1100" spc="204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or </a:t>
            </a:r>
            <a:r>
              <a:rPr dirty="0" sz="1100" spc="-29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response.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50595" y="583792"/>
            <a:ext cx="6395085" cy="349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50190" marR="5715">
              <a:lnSpc>
                <a:spcPct val="1436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Example: </a:t>
            </a:r>
            <a:r>
              <a:rPr dirty="0" sz="1100" spc="-5">
                <a:latin typeface="Arial MT"/>
                <a:cs typeface="Arial MT"/>
              </a:rPr>
              <a:t>Father gives candy </a:t>
            </a:r>
            <a:r>
              <a:rPr dirty="0" sz="1100">
                <a:latin typeface="Arial MT"/>
                <a:cs typeface="Arial MT"/>
              </a:rPr>
              <a:t>to </a:t>
            </a:r>
            <a:r>
              <a:rPr dirty="0" sz="1100" spc="-5">
                <a:latin typeface="Arial MT"/>
                <a:cs typeface="Arial MT"/>
              </a:rPr>
              <a:t>his daughter </a:t>
            </a:r>
            <a:r>
              <a:rPr dirty="0" sz="1100" spc="-10">
                <a:latin typeface="Arial MT"/>
                <a:cs typeface="Arial MT"/>
              </a:rPr>
              <a:t>when </a:t>
            </a:r>
            <a:r>
              <a:rPr dirty="0" sz="1100">
                <a:latin typeface="Arial MT"/>
                <a:cs typeface="Arial MT"/>
              </a:rPr>
              <a:t>she </a:t>
            </a:r>
            <a:r>
              <a:rPr dirty="0" sz="1100" spc="-5">
                <a:latin typeface="Arial MT"/>
                <a:cs typeface="Arial MT"/>
              </a:rPr>
              <a:t>picks </a:t>
            </a:r>
            <a:r>
              <a:rPr dirty="0" sz="1100">
                <a:latin typeface="Arial MT"/>
                <a:cs typeface="Arial MT"/>
              </a:rPr>
              <a:t>up her toys. </a:t>
            </a:r>
            <a:r>
              <a:rPr dirty="0" sz="1100" spc="-5">
                <a:latin typeface="Arial MT"/>
                <a:cs typeface="Arial MT"/>
              </a:rPr>
              <a:t>If </a:t>
            </a:r>
            <a:r>
              <a:rPr dirty="0" sz="1100">
                <a:latin typeface="Arial MT"/>
                <a:cs typeface="Arial MT"/>
              </a:rPr>
              <a:t>the </a:t>
            </a:r>
            <a:r>
              <a:rPr dirty="0" sz="1100" spc="-5">
                <a:latin typeface="Arial MT"/>
                <a:cs typeface="Arial MT"/>
              </a:rPr>
              <a:t>frequency </a:t>
            </a:r>
            <a:r>
              <a:rPr dirty="0" sz="1100" spc="-10">
                <a:latin typeface="Arial MT"/>
                <a:cs typeface="Arial MT"/>
              </a:rPr>
              <a:t>of </a:t>
            </a:r>
            <a:r>
              <a:rPr dirty="0" sz="1100" spc="-5">
                <a:latin typeface="Arial MT"/>
                <a:cs typeface="Arial MT"/>
              </a:rPr>
              <a:t>picking </a:t>
            </a:r>
            <a:r>
              <a:rPr dirty="0" sz="1100" spc="-2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up 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toys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increases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stays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same,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candy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is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positive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reinforcer.</a:t>
            </a:r>
            <a:endParaRPr sz="1100">
              <a:latin typeface="Arial MT"/>
              <a:cs typeface="Arial MT"/>
            </a:endParaRPr>
          </a:p>
          <a:p>
            <a:pPr algn="just" marL="241300" marR="5715" indent="-228600">
              <a:lnSpc>
                <a:spcPct val="143200"/>
              </a:lnSpc>
              <a:spcBef>
                <a:spcPts val="200"/>
              </a:spcBef>
              <a:buSzPct val="90909"/>
              <a:buFont typeface="Arial MT"/>
              <a:buChar char="•"/>
              <a:tabLst>
                <a:tab pos="241300" algn="l"/>
              </a:tabLst>
            </a:pPr>
            <a:r>
              <a:rPr dirty="0" sz="1100" b="1">
                <a:latin typeface="Arial"/>
                <a:cs typeface="Arial"/>
              </a:rPr>
              <a:t>Positive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5" b="1">
                <a:latin typeface="Arial"/>
                <a:cs typeface="Arial"/>
              </a:rPr>
              <a:t>punishment</a:t>
            </a:r>
            <a:r>
              <a:rPr dirty="0" sz="1100" spc="-5">
                <a:latin typeface="Arial MT"/>
                <a:cs typeface="Arial MT"/>
              </a:rPr>
              <a:t>:</a:t>
            </a:r>
            <a:r>
              <a:rPr dirty="0" sz="1100">
                <a:latin typeface="Arial MT"/>
                <a:cs typeface="Arial MT"/>
              </a:rPr>
              <a:t> the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adding</a:t>
            </a:r>
            <a:r>
              <a:rPr dirty="0" sz="1100">
                <a:latin typeface="Arial MT"/>
                <a:cs typeface="Arial MT"/>
              </a:rPr>
              <a:t> of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aversive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stimulus</a:t>
            </a:r>
            <a:r>
              <a:rPr dirty="0" sz="1100">
                <a:latin typeface="Arial MT"/>
                <a:cs typeface="Arial MT"/>
              </a:rPr>
              <a:t> to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decrease</a:t>
            </a:r>
            <a:r>
              <a:rPr dirty="0" sz="1100">
                <a:latin typeface="Arial MT"/>
                <a:cs typeface="Arial MT"/>
              </a:rPr>
              <a:t> 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certain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behavior</a:t>
            </a:r>
            <a:r>
              <a:rPr dirty="0" sz="1100">
                <a:latin typeface="Arial MT"/>
                <a:cs typeface="Arial MT"/>
              </a:rPr>
              <a:t> or </a:t>
            </a:r>
            <a:r>
              <a:rPr dirty="0" sz="1100" spc="-2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response. </a:t>
            </a:r>
            <a:r>
              <a:rPr dirty="0" sz="1100" spc="-5">
                <a:latin typeface="Arial MT"/>
                <a:cs typeface="Arial MT"/>
              </a:rPr>
              <a:t>Example: Mother yells </a:t>
            </a:r>
            <a:r>
              <a:rPr dirty="0" sz="1100" spc="-10">
                <a:latin typeface="Arial MT"/>
                <a:cs typeface="Arial MT"/>
              </a:rPr>
              <a:t>at </a:t>
            </a:r>
            <a:r>
              <a:rPr dirty="0" sz="1100">
                <a:latin typeface="Arial MT"/>
                <a:cs typeface="Arial MT"/>
              </a:rPr>
              <a:t>a </a:t>
            </a:r>
            <a:r>
              <a:rPr dirty="0" sz="1100" spc="-5">
                <a:latin typeface="Arial MT"/>
                <a:cs typeface="Arial MT"/>
              </a:rPr>
              <a:t>child when running into </a:t>
            </a:r>
            <a:r>
              <a:rPr dirty="0" sz="1100">
                <a:latin typeface="Arial MT"/>
                <a:cs typeface="Arial MT"/>
              </a:rPr>
              <a:t>the </a:t>
            </a:r>
            <a:r>
              <a:rPr dirty="0" sz="1100" spc="-5">
                <a:latin typeface="Arial MT"/>
                <a:cs typeface="Arial MT"/>
              </a:rPr>
              <a:t>street. If </a:t>
            </a:r>
            <a:r>
              <a:rPr dirty="0" sz="1100">
                <a:latin typeface="Arial MT"/>
                <a:cs typeface="Arial MT"/>
              </a:rPr>
              <a:t>the </a:t>
            </a:r>
            <a:r>
              <a:rPr dirty="0" sz="1100" spc="-5">
                <a:latin typeface="Arial MT"/>
                <a:cs typeface="Arial MT"/>
              </a:rPr>
              <a:t>child </a:t>
            </a:r>
            <a:r>
              <a:rPr dirty="0" sz="1100">
                <a:latin typeface="Arial MT"/>
                <a:cs typeface="Arial MT"/>
              </a:rPr>
              <a:t>stops </a:t>
            </a:r>
            <a:r>
              <a:rPr dirty="0" sz="1100" spc="-5">
                <a:latin typeface="Arial MT"/>
                <a:cs typeface="Arial MT"/>
              </a:rPr>
              <a:t>running 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into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street </a:t>
            </a:r>
            <a:r>
              <a:rPr dirty="0" sz="1100">
                <a:latin typeface="Arial MT"/>
                <a:cs typeface="Arial MT"/>
              </a:rPr>
              <a:t>the </a:t>
            </a:r>
            <a:r>
              <a:rPr dirty="0" sz="1100" spc="-5">
                <a:latin typeface="Arial MT"/>
                <a:cs typeface="Arial MT"/>
              </a:rPr>
              <a:t>yelling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is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positive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punishment.</a:t>
            </a:r>
            <a:endParaRPr sz="1100">
              <a:latin typeface="Arial MT"/>
              <a:cs typeface="Arial MT"/>
            </a:endParaRPr>
          </a:p>
          <a:p>
            <a:pPr algn="just" marL="241300" marR="7620" indent="-228600">
              <a:lnSpc>
                <a:spcPct val="142700"/>
              </a:lnSpc>
              <a:spcBef>
                <a:spcPts val="200"/>
              </a:spcBef>
              <a:buSzPct val="90909"/>
              <a:buFont typeface="Arial MT"/>
              <a:buChar char="•"/>
              <a:tabLst>
                <a:tab pos="241300" algn="l"/>
              </a:tabLst>
            </a:pPr>
            <a:r>
              <a:rPr dirty="0" sz="1100" b="1">
                <a:latin typeface="Arial"/>
                <a:cs typeface="Arial"/>
              </a:rPr>
              <a:t>Negative </a:t>
            </a:r>
            <a:r>
              <a:rPr dirty="0" sz="1100" spc="-5" b="1">
                <a:latin typeface="Arial"/>
                <a:cs typeface="Arial"/>
              </a:rPr>
              <a:t>reinforcement: </a:t>
            </a:r>
            <a:r>
              <a:rPr dirty="0" sz="1100">
                <a:latin typeface="Arial MT"/>
                <a:cs typeface="Arial MT"/>
              </a:rPr>
              <a:t>the taking </a:t>
            </a:r>
            <a:r>
              <a:rPr dirty="0" sz="1100" spc="-5">
                <a:latin typeface="Arial MT"/>
                <a:cs typeface="Arial MT"/>
              </a:rPr>
              <a:t>away </a:t>
            </a:r>
            <a:r>
              <a:rPr dirty="0" sz="1100" spc="-10">
                <a:latin typeface="Arial MT"/>
                <a:cs typeface="Arial MT"/>
              </a:rPr>
              <a:t>of </a:t>
            </a:r>
            <a:r>
              <a:rPr dirty="0" sz="1100">
                <a:latin typeface="Arial MT"/>
                <a:cs typeface="Arial MT"/>
              </a:rPr>
              <a:t>an </a:t>
            </a:r>
            <a:r>
              <a:rPr dirty="0" sz="1100" spc="-5">
                <a:latin typeface="Arial MT"/>
                <a:cs typeface="Arial MT"/>
              </a:rPr>
              <a:t>aversive stimulus </a:t>
            </a:r>
            <a:r>
              <a:rPr dirty="0" sz="1100">
                <a:latin typeface="Arial MT"/>
                <a:cs typeface="Arial MT"/>
              </a:rPr>
              <a:t>to </a:t>
            </a:r>
            <a:r>
              <a:rPr dirty="0" sz="1100" spc="-5">
                <a:latin typeface="Arial MT"/>
                <a:cs typeface="Arial MT"/>
              </a:rPr>
              <a:t>increase certain behavior </a:t>
            </a:r>
            <a:r>
              <a:rPr dirty="0" sz="1100" spc="-10">
                <a:latin typeface="Arial MT"/>
                <a:cs typeface="Arial MT"/>
              </a:rPr>
              <a:t>or 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response.</a:t>
            </a:r>
            <a:endParaRPr sz="1100">
              <a:latin typeface="Arial MT"/>
              <a:cs typeface="Arial MT"/>
            </a:endParaRPr>
          </a:p>
          <a:p>
            <a:pPr algn="just" marL="250190" marR="7620">
              <a:lnSpc>
                <a:spcPct val="143600"/>
              </a:lnSpc>
              <a:spcBef>
                <a:spcPts val="5"/>
              </a:spcBef>
            </a:pPr>
            <a:r>
              <a:rPr dirty="0" sz="1100">
                <a:latin typeface="Arial MT"/>
                <a:cs typeface="Arial MT"/>
              </a:rPr>
              <a:t>Example: </a:t>
            </a:r>
            <a:r>
              <a:rPr dirty="0" sz="1100" spc="-5">
                <a:latin typeface="Arial MT"/>
                <a:cs typeface="Arial MT"/>
              </a:rPr>
              <a:t>Putting ointment </a:t>
            </a:r>
            <a:r>
              <a:rPr dirty="0" sz="1100">
                <a:latin typeface="Arial MT"/>
                <a:cs typeface="Arial MT"/>
              </a:rPr>
              <a:t>on a bug bite to </a:t>
            </a:r>
            <a:r>
              <a:rPr dirty="0" sz="1100" spc="-5">
                <a:latin typeface="Arial MT"/>
                <a:cs typeface="Arial MT"/>
              </a:rPr>
              <a:t>soothe </a:t>
            </a:r>
            <a:r>
              <a:rPr dirty="0" sz="1100">
                <a:latin typeface="Arial MT"/>
                <a:cs typeface="Arial MT"/>
              </a:rPr>
              <a:t>an </a:t>
            </a:r>
            <a:r>
              <a:rPr dirty="0" sz="1100" spc="-5">
                <a:latin typeface="Arial MT"/>
                <a:cs typeface="Arial MT"/>
              </a:rPr>
              <a:t>itch. </a:t>
            </a:r>
            <a:r>
              <a:rPr dirty="0" sz="1100">
                <a:latin typeface="Arial MT"/>
                <a:cs typeface="Arial MT"/>
              </a:rPr>
              <a:t>If </a:t>
            </a:r>
            <a:r>
              <a:rPr dirty="0" sz="1100" spc="-5">
                <a:latin typeface="Arial MT"/>
                <a:cs typeface="Arial MT"/>
              </a:rPr>
              <a:t>using ointment </a:t>
            </a:r>
            <a:r>
              <a:rPr dirty="0" sz="1100">
                <a:latin typeface="Arial MT"/>
                <a:cs typeface="Arial MT"/>
              </a:rPr>
              <a:t>on bug bites </a:t>
            </a:r>
            <a:r>
              <a:rPr dirty="0" sz="1100" spc="-5">
                <a:latin typeface="Arial MT"/>
                <a:cs typeface="Arial MT"/>
              </a:rPr>
              <a:t>increases, </a:t>
            </a:r>
            <a:r>
              <a:rPr dirty="0" sz="1100" spc="-2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removal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 </a:t>
            </a:r>
            <a:r>
              <a:rPr dirty="0" sz="1100" spc="-5">
                <a:latin typeface="Arial MT"/>
                <a:cs typeface="Arial MT"/>
              </a:rPr>
              <a:t>itch</a:t>
            </a:r>
            <a:r>
              <a:rPr dirty="0" sz="1100">
                <a:latin typeface="Arial MT"/>
                <a:cs typeface="Arial MT"/>
              </a:rPr>
              <a:t> is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 </a:t>
            </a:r>
            <a:r>
              <a:rPr dirty="0" sz="1100" spc="-5">
                <a:latin typeface="Arial MT"/>
                <a:cs typeface="Arial MT"/>
              </a:rPr>
              <a:t>negative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reinforcer.</a:t>
            </a:r>
            <a:endParaRPr sz="1100">
              <a:latin typeface="Arial MT"/>
              <a:cs typeface="Arial MT"/>
            </a:endParaRPr>
          </a:p>
          <a:p>
            <a:pPr algn="just" marL="241300" marR="5080" indent="-228600">
              <a:lnSpc>
                <a:spcPct val="143600"/>
              </a:lnSpc>
              <a:spcBef>
                <a:spcPts val="190"/>
              </a:spcBef>
              <a:buSzPct val="90909"/>
              <a:buFont typeface="Arial MT"/>
              <a:buChar char="•"/>
              <a:tabLst>
                <a:tab pos="241300" algn="l"/>
              </a:tabLst>
            </a:pPr>
            <a:r>
              <a:rPr dirty="0" sz="1100" b="1">
                <a:latin typeface="Arial"/>
                <a:cs typeface="Arial"/>
              </a:rPr>
              <a:t>Negative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5" b="1">
                <a:latin typeface="Arial"/>
                <a:cs typeface="Arial"/>
              </a:rPr>
              <a:t>punishment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5" b="1">
                <a:latin typeface="Arial"/>
                <a:cs typeface="Arial"/>
              </a:rPr>
              <a:t>(omission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spc="-5" b="1">
                <a:latin typeface="Arial"/>
                <a:cs typeface="Arial"/>
              </a:rPr>
              <a:t>training)</a:t>
            </a:r>
            <a:r>
              <a:rPr dirty="0" sz="1100" spc="-5">
                <a:latin typeface="Arial MT"/>
                <a:cs typeface="Arial MT"/>
              </a:rPr>
              <a:t>: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taking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away</a:t>
            </a:r>
            <a:r>
              <a:rPr dirty="0" sz="1100" spc="-10">
                <a:latin typeface="Arial MT"/>
                <a:cs typeface="Arial MT"/>
              </a:rPr>
              <a:t> of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appetitive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stimulus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5">
                <a:latin typeface="Arial MT"/>
                <a:cs typeface="Arial MT"/>
              </a:rPr>
              <a:t> decrease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 </a:t>
            </a:r>
            <a:r>
              <a:rPr dirty="0" sz="1100" spc="-29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certain</a:t>
            </a:r>
            <a:r>
              <a:rPr dirty="0" sz="1100" spc="204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behavior.</a:t>
            </a:r>
            <a:endParaRPr sz="1100">
              <a:latin typeface="Arial MT"/>
              <a:cs typeface="Arial MT"/>
            </a:endParaRPr>
          </a:p>
          <a:p>
            <a:pPr algn="just" marL="250190" marR="6985">
              <a:lnSpc>
                <a:spcPct val="143800"/>
              </a:lnSpc>
              <a:spcBef>
                <a:spcPts val="180"/>
              </a:spcBef>
            </a:pPr>
            <a:r>
              <a:rPr dirty="0" sz="1100">
                <a:latin typeface="Arial MT"/>
                <a:cs typeface="Arial MT"/>
              </a:rPr>
              <a:t>Example: A teenager </a:t>
            </a:r>
            <a:r>
              <a:rPr dirty="0" sz="1100" spc="-5">
                <a:latin typeface="Arial MT"/>
                <a:cs typeface="Arial MT"/>
              </a:rPr>
              <a:t>comes </a:t>
            </a:r>
            <a:r>
              <a:rPr dirty="0" sz="1100">
                <a:latin typeface="Arial MT"/>
                <a:cs typeface="Arial MT"/>
              </a:rPr>
              <a:t>home an </a:t>
            </a:r>
            <a:r>
              <a:rPr dirty="0" sz="1100" spc="-5">
                <a:latin typeface="Arial MT"/>
                <a:cs typeface="Arial MT"/>
              </a:rPr>
              <a:t>hour after </a:t>
            </a:r>
            <a:r>
              <a:rPr dirty="0" sz="1100">
                <a:latin typeface="Arial MT"/>
                <a:cs typeface="Arial MT"/>
              </a:rPr>
              <a:t>curfew and the </a:t>
            </a:r>
            <a:r>
              <a:rPr dirty="0" sz="1100" spc="-5">
                <a:latin typeface="Arial MT"/>
                <a:cs typeface="Arial MT"/>
              </a:rPr>
              <a:t>parents </a:t>
            </a:r>
            <a:r>
              <a:rPr dirty="0" sz="1100">
                <a:latin typeface="Arial MT"/>
                <a:cs typeface="Arial MT"/>
              </a:rPr>
              <a:t>take </a:t>
            </a:r>
            <a:r>
              <a:rPr dirty="0" sz="1100" spc="-5">
                <a:latin typeface="Arial MT"/>
                <a:cs typeface="Arial MT"/>
              </a:rPr>
              <a:t>away </a:t>
            </a:r>
            <a:r>
              <a:rPr dirty="0" sz="1100">
                <a:latin typeface="Arial MT"/>
                <a:cs typeface="Arial MT"/>
              </a:rPr>
              <a:t>the </a:t>
            </a:r>
            <a:r>
              <a:rPr dirty="0" sz="1100" spc="-5">
                <a:latin typeface="Arial MT"/>
                <a:cs typeface="Arial MT"/>
              </a:rPr>
              <a:t>teen's cell </a:t>
            </a:r>
            <a:r>
              <a:rPr dirty="0" sz="1100">
                <a:latin typeface="Arial MT"/>
                <a:cs typeface="Arial MT"/>
              </a:rPr>
              <a:t> phone for </a:t>
            </a:r>
            <a:r>
              <a:rPr dirty="0" sz="1100" spc="-5">
                <a:latin typeface="Arial MT"/>
                <a:cs typeface="Arial MT"/>
              </a:rPr>
              <a:t>two days. </a:t>
            </a:r>
            <a:r>
              <a:rPr dirty="0" sz="1100">
                <a:latin typeface="Arial MT"/>
                <a:cs typeface="Arial MT"/>
              </a:rPr>
              <a:t>If </a:t>
            </a:r>
            <a:r>
              <a:rPr dirty="0" sz="1100" spc="-5">
                <a:latin typeface="Arial MT"/>
                <a:cs typeface="Arial MT"/>
              </a:rPr>
              <a:t>the frequency </a:t>
            </a:r>
            <a:r>
              <a:rPr dirty="0" sz="1100">
                <a:latin typeface="Arial MT"/>
                <a:cs typeface="Arial MT"/>
              </a:rPr>
              <a:t>of coming home </a:t>
            </a:r>
            <a:r>
              <a:rPr dirty="0" sz="1100" spc="-5">
                <a:latin typeface="Arial MT"/>
                <a:cs typeface="Arial MT"/>
              </a:rPr>
              <a:t>after </a:t>
            </a:r>
            <a:r>
              <a:rPr dirty="0" sz="1100">
                <a:latin typeface="Arial MT"/>
                <a:cs typeface="Arial MT"/>
              </a:rPr>
              <a:t>curfew </a:t>
            </a:r>
            <a:r>
              <a:rPr dirty="0" sz="1100" spc="-5">
                <a:latin typeface="Arial MT"/>
                <a:cs typeface="Arial MT"/>
              </a:rPr>
              <a:t>decreases, </a:t>
            </a:r>
            <a:r>
              <a:rPr dirty="0" sz="1100">
                <a:latin typeface="Arial MT"/>
                <a:cs typeface="Arial MT"/>
              </a:rPr>
              <a:t>the </a:t>
            </a:r>
            <a:r>
              <a:rPr dirty="0" sz="1100" spc="-5">
                <a:latin typeface="Arial MT"/>
                <a:cs typeface="Arial MT"/>
              </a:rPr>
              <a:t>removal </a:t>
            </a:r>
            <a:r>
              <a:rPr dirty="0" sz="1100">
                <a:latin typeface="Arial MT"/>
                <a:cs typeface="Arial MT"/>
              </a:rPr>
              <a:t>of the 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phone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 </a:t>
            </a:r>
            <a:r>
              <a:rPr dirty="0" sz="1100" spc="-5">
                <a:latin typeface="Arial MT"/>
                <a:cs typeface="Arial MT"/>
              </a:rPr>
              <a:t>negative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">
                <a:latin typeface="Arial MT"/>
                <a:cs typeface="Arial MT"/>
              </a:rPr>
              <a:t>punishment.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4518786"/>
            <a:ext cx="6678930" cy="551878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200" b="1">
                <a:latin typeface="Arial"/>
                <a:cs typeface="Arial"/>
              </a:rPr>
              <a:t>Quiz: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2050"/>
              </a:lnSpc>
              <a:spcBef>
                <a:spcPts val="160"/>
              </a:spcBef>
            </a:pPr>
            <a:r>
              <a:rPr dirty="0" sz="1200" b="1">
                <a:latin typeface="Arial"/>
                <a:cs typeface="Arial"/>
              </a:rPr>
              <a:t>Fatima is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 who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been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suspended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for cheating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act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suspension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best</a:t>
            </a:r>
            <a:r>
              <a:rPr dirty="0" sz="1200" spc="-5" b="1">
                <a:latin typeface="Arial"/>
                <a:cs typeface="Arial"/>
              </a:rPr>
              <a:t> called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-----------.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445"/>
              </a:spcBef>
              <a:buFont typeface="Times New Roman"/>
              <a:buAutoNum type="alphaUcPeriod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positive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reinforce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80"/>
              </a:spcBef>
              <a:buFont typeface="Times New Roman"/>
              <a:buAutoNum type="alphaUcPeriod"/>
              <a:tabLst>
                <a:tab pos="462915" algn="l"/>
              </a:tabLst>
            </a:pP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negative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reinforce</a:t>
            </a:r>
            <a:endParaRPr sz="12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spcBef>
                <a:spcPts val="615"/>
              </a:spcBef>
              <a:buFont typeface="Times New Roman"/>
              <a:buAutoNum type="alphaUcPeriod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punishment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D.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Intrinsic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Arial MT"/>
              <a:cs typeface="Arial MT"/>
            </a:endParaRPr>
          </a:p>
          <a:p>
            <a:pPr marL="18415" marR="81915" indent="-6350">
              <a:lnSpc>
                <a:spcPct val="142100"/>
              </a:lnSpc>
              <a:spcBef>
                <a:spcPts val="5"/>
              </a:spcBef>
            </a:pPr>
            <a:r>
              <a:rPr dirty="0" sz="1400" b="1">
                <a:latin typeface="Arial"/>
                <a:cs typeface="Arial"/>
              </a:rPr>
              <a:t>What</a:t>
            </a:r>
            <a:r>
              <a:rPr dirty="0" sz="1400" spc="-5" b="1">
                <a:latin typeface="Arial"/>
                <a:cs typeface="Arial"/>
              </a:rPr>
              <a:t> would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you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do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as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</a:t>
            </a:r>
            <a:r>
              <a:rPr dirty="0" sz="1400" spc="-5" b="1">
                <a:latin typeface="Arial"/>
                <a:cs typeface="Arial"/>
              </a:rPr>
              <a:t> future teacher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to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enhance intrinsic motivation in</a:t>
            </a:r>
            <a:r>
              <a:rPr dirty="0" sz="1400" spc="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your </a:t>
            </a:r>
            <a:r>
              <a:rPr dirty="0" sz="1400" spc="-37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students?</a:t>
            </a:r>
            <a:endParaRPr sz="1400">
              <a:latin typeface="Arial"/>
              <a:cs typeface="Arial"/>
            </a:endParaRPr>
          </a:p>
          <a:p>
            <a:pPr algn="just" marL="18415" marR="293370" indent="-6350">
              <a:lnSpc>
                <a:spcPct val="144200"/>
              </a:lnSpc>
              <a:spcBef>
                <a:spcPts val="90"/>
              </a:spcBef>
            </a:pPr>
            <a:r>
              <a:rPr dirty="0" sz="1200" spc="-5">
                <a:latin typeface="Arial MT"/>
                <a:cs typeface="Arial MT"/>
              </a:rPr>
              <a:t>Motivating students to become intrinsically motivated is no easy task for teachers.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some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students, they </a:t>
            </a:r>
            <a:r>
              <a:rPr dirty="0" sz="1200">
                <a:latin typeface="Arial MT"/>
                <a:cs typeface="Arial MT"/>
              </a:rPr>
              <a:t>enjoy </a:t>
            </a:r>
            <a:r>
              <a:rPr dirty="0" sz="1200" spc="-5">
                <a:latin typeface="Arial MT"/>
                <a:cs typeface="Arial MT"/>
              </a:rPr>
              <a:t>learning.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5">
                <a:latin typeface="Arial MT"/>
                <a:cs typeface="Arial MT"/>
              </a:rPr>
              <a:t>for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others,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where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the challenge </a:t>
            </a:r>
            <a:r>
              <a:rPr dirty="0" sz="1200" spc="-5">
                <a:latin typeface="Arial MT"/>
                <a:cs typeface="Arial MT"/>
              </a:rPr>
              <a:t>really comes in. 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facilitate material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students "dry" would totally be out </a:t>
            </a:r>
            <a:r>
              <a:rPr dirty="0" sz="1200">
                <a:latin typeface="Arial MT"/>
                <a:cs typeface="Arial MT"/>
              </a:rPr>
              <a:t>of my </a:t>
            </a:r>
            <a:r>
              <a:rPr dirty="0" sz="1200" spc="-5">
                <a:latin typeface="Arial MT"/>
                <a:cs typeface="Arial MT"/>
              </a:rPr>
              <a:t>agenda.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would </a:t>
            </a:r>
            <a:r>
              <a:rPr dirty="0" sz="1200">
                <a:latin typeface="Arial MT"/>
                <a:cs typeface="Arial MT"/>
              </a:rPr>
              <a:t>try to </a:t>
            </a:r>
            <a:r>
              <a:rPr dirty="0" sz="1200" spc="-10">
                <a:latin typeface="Arial MT"/>
                <a:cs typeface="Arial MT"/>
              </a:rPr>
              <a:t>teach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my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point where the material becomes alive within them. </a:t>
            </a:r>
            <a:r>
              <a:rPr dirty="0" sz="1200">
                <a:latin typeface="Arial MT"/>
                <a:cs typeface="Arial MT"/>
              </a:rPr>
              <a:t>I to make </a:t>
            </a:r>
            <a:r>
              <a:rPr dirty="0" sz="1200" spc="-5">
                <a:latin typeface="Arial MT"/>
                <a:cs typeface="Arial MT"/>
              </a:rPr>
              <a:t>their minds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grow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curiosity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continual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place.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would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relating material </a:t>
            </a:r>
            <a:r>
              <a:rPr dirty="0" sz="1200">
                <a:latin typeface="Arial MT"/>
                <a:cs typeface="Arial MT"/>
              </a:rPr>
              <a:t>to what </a:t>
            </a:r>
            <a:r>
              <a:rPr dirty="0" sz="1200" spc="-5">
                <a:latin typeface="Arial MT"/>
                <a:cs typeface="Arial MT"/>
              </a:rPr>
              <a:t>interests the students. </a:t>
            </a:r>
            <a:r>
              <a:rPr dirty="0" sz="1200">
                <a:latin typeface="Arial MT"/>
                <a:cs typeface="Arial MT"/>
              </a:rPr>
              <a:t>I would </a:t>
            </a:r>
            <a:r>
              <a:rPr dirty="0" sz="1200" spc="-5">
                <a:latin typeface="Arial MT"/>
                <a:cs typeface="Arial MT"/>
              </a:rPr>
              <a:t>also put as much energy into </a:t>
            </a:r>
            <a:r>
              <a:rPr dirty="0" sz="1200">
                <a:latin typeface="Arial MT"/>
                <a:cs typeface="Arial MT"/>
              </a:rPr>
              <a:t>my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whether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tone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voice,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body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language,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appearance,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above.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thing </a:t>
            </a:r>
            <a:r>
              <a:rPr dirty="0" sz="1200" spc="-5">
                <a:latin typeface="Arial MT"/>
                <a:cs typeface="Arial MT"/>
              </a:rPr>
              <a:t>that I'd like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do also is </a:t>
            </a:r>
            <a:r>
              <a:rPr dirty="0" sz="1200">
                <a:latin typeface="Arial MT"/>
                <a:cs typeface="Arial MT"/>
              </a:rPr>
              <a:t>at the </a:t>
            </a:r>
            <a:r>
              <a:rPr dirty="0" sz="1200" spc="-5">
                <a:latin typeface="Arial MT"/>
                <a:cs typeface="Arial MT"/>
              </a:rPr>
              <a:t>end </a:t>
            </a:r>
            <a:r>
              <a:rPr dirty="0" sz="1200">
                <a:latin typeface="Arial MT"/>
                <a:cs typeface="Arial MT"/>
              </a:rPr>
              <a:t>of my </a:t>
            </a:r>
            <a:r>
              <a:rPr dirty="0" sz="1200" spc="-5">
                <a:latin typeface="Arial MT"/>
                <a:cs typeface="Arial MT"/>
              </a:rPr>
              <a:t>class period,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would </a:t>
            </a:r>
            <a:r>
              <a:rPr dirty="0" sz="1200">
                <a:latin typeface="Arial MT"/>
                <a:cs typeface="Arial MT"/>
              </a:rPr>
              <a:t>try </a:t>
            </a:r>
            <a:r>
              <a:rPr dirty="0" sz="1200" spc="-5">
                <a:latin typeface="Arial MT"/>
                <a:cs typeface="Arial MT"/>
              </a:rPr>
              <a:t>to always close my </a:t>
            </a:r>
            <a:r>
              <a:rPr dirty="0" sz="1200">
                <a:latin typeface="Arial MT"/>
                <a:cs typeface="Arial MT"/>
              </a:rPr>
              <a:t> lessons </a:t>
            </a:r>
            <a:r>
              <a:rPr dirty="0" sz="1200" spc="-5">
                <a:latin typeface="Arial MT"/>
                <a:cs typeface="Arial MT"/>
              </a:rPr>
              <a:t>leaving </a:t>
            </a:r>
            <a:r>
              <a:rPr dirty="0" sz="1200">
                <a:latin typeface="Arial MT"/>
                <a:cs typeface="Arial MT"/>
              </a:rPr>
              <a:t>my </a:t>
            </a:r>
            <a:r>
              <a:rPr dirty="0" sz="1200" spc="-5">
                <a:latin typeface="Arial MT"/>
                <a:cs typeface="Arial MT"/>
              </a:rPr>
              <a:t>students with a question to ponder on dealing with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subject material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 taught. That </a:t>
            </a:r>
            <a:r>
              <a:rPr dirty="0" sz="1200" spc="-10">
                <a:latin typeface="Arial MT"/>
                <a:cs typeface="Arial MT"/>
              </a:rPr>
              <a:t>way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>
                <a:latin typeface="Arial MT"/>
                <a:cs typeface="Arial MT"/>
              </a:rPr>
              <a:t>their </a:t>
            </a:r>
            <a:r>
              <a:rPr dirty="0" sz="1200" spc="-5">
                <a:latin typeface="Arial MT"/>
                <a:cs typeface="Arial MT"/>
              </a:rPr>
              <a:t>spare time, </a:t>
            </a:r>
            <a:r>
              <a:rPr dirty="0" sz="1200" spc="-10">
                <a:latin typeface="Arial MT"/>
                <a:cs typeface="Arial MT"/>
              </a:rPr>
              <a:t>their </a:t>
            </a:r>
            <a:r>
              <a:rPr dirty="0" sz="1200">
                <a:latin typeface="Arial MT"/>
                <a:cs typeface="Arial MT"/>
              </a:rPr>
              <a:t>minds </a:t>
            </a:r>
            <a:r>
              <a:rPr dirty="0" sz="1200" spc="-5">
                <a:latin typeface="Arial MT"/>
                <a:cs typeface="Arial MT"/>
              </a:rPr>
              <a:t>will continue to </a:t>
            </a:r>
            <a:r>
              <a:rPr dirty="0" sz="1200" spc="5">
                <a:latin typeface="Arial MT"/>
                <a:cs typeface="Arial MT"/>
              </a:rPr>
              <a:t>ponder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the lesson </a:t>
            </a:r>
            <a:r>
              <a:rPr dirty="0" sz="1200">
                <a:latin typeface="Arial MT"/>
                <a:cs typeface="Arial MT"/>
              </a:rPr>
              <a:t>and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 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hand.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10656569"/>
            <a:ext cx="11131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Arial"/>
                <a:cs typeface="Arial"/>
              </a:rPr>
              <a:t>Need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theory: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578611"/>
            <a:ext cx="6726555" cy="3255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469900" marR="340360" indent="-229235">
              <a:lnSpc>
                <a:spcPct val="142600"/>
              </a:lnSpc>
              <a:spcBef>
                <a:spcPts val="95"/>
              </a:spcBef>
            </a:pPr>
            <a:r>
              <a:rPr dirty="0" sz="1200">
                <a:latin typeface="Arial MT"/>
                <a:cs typeface="Arial MT"/>
              </a:rPr>
              <a:t>-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b="1">
                <a:latin typeface="Arial"/>
                <a:cs typeface="Arial"/>
              </a:rPr>
              <a:t>There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several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different</a:t>
            </a:r>
            <a:r>
              <a:rPr dirty="0" sz="1200" b="1">
                <a:latin typeface="Arial"/>
                <a:cs typeface="Arial"/>
              </a:rPr>
              <a:t> need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theories.</a:t>
            </a:r>
            <a:r>
              <a:rPr dirty="0" sz="1200" b="1">
                <a:latin typeface="Arial"/>
                <a:cs typeface="Arial"/>
              </a:rPr>
              <a:t> In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general,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these</a:t>
            </a:r>
            <a:r>
              <a:rPr dirty="0" sz="1200" b="1">
                <a:latin typeface="Arial"/>
                <a:cs typeface="Arial"/>
              </a:rPr>
              <a:t> theories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hold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individuals strive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satisfy internal needs such as </a:t>
            </a:r>
            <a:r>
              <a:rPr dirty="0" sz="1200" b="1">
                <a:latin typeface="Arial"/>
                <a:cs typeface="Arial"/>
              </a:rPr>
              <a:t>self-fulfillment, </a:t>
            </a:r>
            <a:r>
              <a:rPr dirty="0" sz="1200" spc="-5" b="1">
                <a:latin typeface="Arial"/>
                <a:cs typeface="Arial"/>
              </a:rPr>
              <a:t>achievement,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affiliation,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influence,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self-determination.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Maslow’s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hierarchy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needs:</a:t>
            </a:r>
            <a:endParaRPr sz="1200">
              <a:latin typeface="Arial"/>
              <a:cs typeface="Arial"/>
            </a:endParaRPr>
          </a:p>
          <a:p>
            <a:pPr marL="18415" marR="5080" indent="-6350">
              <a:lnSpc>
                <a:spcPts val="2080"/>
              </a:lnSpc>
              <a:spcBef>
                <a:spcPts val="135"/>
              </a:spcBef>
            </a:pPr>
            <a:r>
              <a:rPr dirty="0" sz="1200" spc="-5">
                <a:latin typeface="Arial MT"/>
                <a:cs typeface="Arial MT"/>
              </a:rPr>
              <a:t>Maslow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says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five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basic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needs,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made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pyramid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categorizes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>
                <a:latin typeface="Arial MT"/>
                <a:cs typeface="Arial MT"/>
              </a:rPr>
              <a:t> as: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48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Biological and physiological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needs.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Safety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Belongingness 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love</a:t>
            </a:r>
            <a:r>
              <a:rPr dirty="0" sz="1200" spc="-5">
                <a:latin typeface="Arial MT"/>
                <a:cs typeface="Arial MT"/>
              </a:rPr>
              <a:t> needs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6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Esteem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70"/>
              </a:spcBef>
              <a:buFont typeface="Times New Roman"/>
              <a:buAutoNum type="arabicPeriod"/>
              <a:tabLst>
                <a:tab pos="462915" algn="l"/>
                <a:tab pos="1841500" algn="l"/>
              </a:tabLst>
            </a:pPr>
            <a:r>
              <a:rPr dirty="0" sz="1200" spc="-5">
                <a:latin typeface="Arial MT"/>
                <a:cs typeface="Arial MT"/>
              </a:rPr>
              <a:t>Self-actualization	needs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9116567"/>
            <a:ext cx="6390640" cy="275717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15"/>
              </a:spcBef>
            </a:pPr>
            <a:r>
              <a:rPr dirty="0" sz="1200" spc="-5" b="1">
                <a:latin typeface="Arial"/>
                <a:cs typeface="Arial"/>
              </a:rPr>
              <a:t>Physiological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needs:</a:t>
            </a:r>
            <a:endParaRPr sz="1200">
              <a:latin typeface="Arial"/>
              <a:cs typeface="Arial"/>
            </a:endParaRPr>
          </a:p>
          <a:p>
            <a:pPr algn="just" marL="18415" marR="10160" indent="-6350">
              <a:lnSpc>
                <a:spcPts val="2080"/>
              </a:lnSpc>
              <a:spcBef>
                <a:spcPts val="150"/>
              </a:spcBef>
            </a:pPr>
            <a:r>
              <a:rPr dirty="0" sz="1200" spc="-5">
                <a:latin typeface="Arial MT"/>
                <a:cs typeface="Arial MT"/>
              </a:rPr>
              <a:t>The definition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physiological needs is quite obvious; they are the physical requirements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human survival.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these requirements are not met, the human body cannot function properly,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ultimately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fail.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Physiological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10">
                <a:latin typeface="Arial MT"/>
                <a:cs typeface="Arial MT"/>
              </a:rPr>
              <a:t>are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thought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important;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 met </a:t>
            </a:r>
            <a:r>
              <a:rPr dirty="0" sz="1200">
                <a:latin typeface="Arial MT"/>
                <a:cs typeface="Arial MT"/>
              </a:rPr>
              <a:t>first. </a:t>
            </a:r>
            <a:r>
              <a:rPr dirty="0" sz="1200" spc="-5">
                <a:latin typeface="Arial MT"/>
                <a:cs typeface="Arial MT"/>
              </a:rPr>
              <a:t>Therefore, a human lacking food, love, esteem, or </a:t>
            </a:r>
            <a:r>
              <a:rPr dirty="0" sz="1200">
                <a:latin typeface="Arial MT"/>
                <a:cs typeface="Arial MT"/>
              </a:rPr>
              <a:t>safety </a:t>
            </a:r>
            <a:r>
              <a:rPr dirty="0" sz="1200" spc="-5">
                <a:latin typeface="Arial MT"/>
                <a:cs typeface="Arial MT"/>
              </a:rPr>
              <a:t>would consider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greatest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his/her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food.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Safety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needs: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ct val="143300"/>
              </a:lnSpc>
              <a:spcBef>
                <a:spcPts val="470"/>
              </a:spcBef>
            </a:pPr>
            <a:r>
              <a:rPr dirty="0" sz="1200">
                <a:latin typeface="Arial MT"/>
                <a:cs typeface="Arial MT"/>
              </a:rPr>
              <a:t>With </a:t>
            </a:r>
            <a:r>
              <a:rPr dirty="0" sz="1200" spc="-5">
                <a:latin typeface="Arial MT"/>
                <a:cs typeface="Arial MT"/>
              </a:rPr>
              <a:t>their physical needs relatively satisfied, the </a:t>
            </a:r>
            <a:r>
              <a:rPr dirty="0" sz="1200">
                <a:latin typeface="Arial MT"/>
                <a:cs typeface="Arial MT"/>
              </a:rPr>
              <a:t>individual's safety </a:t>
            </a:r>
            <a:r>
              <a:rPr dirty="0" sz="1200" spc="-5">
                <a:latin typeface="Arial MT"/>
                <a:cs typeface="Arial MT"/>
              </a:rPr>
              <a:t>needs take precedence and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dominate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behavior.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absence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physical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safety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–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due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war,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natural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disaster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etc.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–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3948276"/>
            <a:ext cx="5942965" cy="451419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575563"/>
            <a:ext cx="6853555" cy="10875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469900">
              <a:lnSpc>
                <a:spcPct val="144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(re-)experience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stress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disorder.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absence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economic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safety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–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due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economic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crisis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lack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work opportunities </a:t>
            </a:r>
            <a:r>
              <a:rPr dirty="0" sz="1200">
                <a:latin typeface="Arial MT"/>
                <a:cs typeface="Arial MT"/>
              </a:rPr>
              <a:t>– </a:t>
            </a:r>
            <a:r>
              <a:rPr dirty="0" sz="1200" spc="-5">
                <a:latin typeface="Arial MT"/>
                <a:cs typeface="Arial MT"/>
              </a:rPr>
              <a:t>these safety needs manifest themselves in ways such as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preference 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job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security,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Love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belonging:</a:t>
            </a:r>
            <a:endParaRPr sz="1200">
              <a:latin typeface="Arial"/>
              <a:cs typeface="Arial"/>
            </a:endParaRPr>
          </a:p>
          <a:p>
            <a:pPr algn="just" marL="18415" marR="469265" indent="-6350">
              <a:lnSpc>
                <a:spcPts val="2080"/>
              </a:lnSpc>
              <a:spcBef>
                <a:spcPts val="150"/>
              </a:spcBef>
            </a:pPr>
            <a:r>
              <a:rPr dirty="0" sz="1200">
                <a:latin typeface="Arial MT"/>
                <a:cs typeface="Arial MT"/>
              </a:rPr>
              <a:t>After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physiological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safety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fulfilled,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third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human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interpersonal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involves feelings of </a:t>
            </a:r>
            <a:r>
              <a:rPr dirty="0" sz="1200">
                <a:latin typeface="Arial MT"/>
                <a:cs typeface="Arial MT"/>
              </a:rPr>
              <a:t>belongingness. </a:t>
            </a:r>
            <a:r>
              <a:rPr dirty="0" sz="1200" spc="-5">
                <a:latin typeface="Arial MT"/>
                <a:cs typeface="Arial MT"/>
              </a:rPr>
              <a:t>According to Maslow, humans need to feel a </a:t>
            </a:r>
            <a:r>
              <a:rPr dirty="0" sz="1200" spc="-10">
                <a:latin typeface="Arial MT"/>
                <a:cs typeface="Arial MT"/>
              </a:rPr>
              <a:t>sense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belonging and acceptance among their social groups, regardless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these groups are large </a:t>
            </a:r>
            <a:r>
              <a:rPr dirty="0" sz="1200" spc="-10">
                <a:latin typeface="Arial MT"/>
                <a:cs typeface="Arial MT"/>
              </a:rPr>
              <a:t>or </a:t>
            </a:r>
            <a:r>
              <a:rPr dirty="0" sz="1200" spc="-5">
                <a:latin typeface="Arial MT"/>
                <a:cs typeface="Arial MT"/>
              </a:rPr>
              <a:t> small. Some examples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small social connections include family </a:t>
            </a:r>
            <a:r>
              <a:rPr dirty="0" sz="1200">
                <a:latin typeface="Arial MT"/>
                <a:cs typeface="Arial MT"/>
              </a:rPr>
              <a:t>members, </a:t>
            </a:r>
            <a:r>
              <a:rPr dirty="0" sz="1200" spc="-5">
                <a:latin typeface="Arial MT"/>
                <a:cs typeface="Arial MT"/>
              </a:rPr>
              <a:t>intimate partners, </a:t>
            </a:r>
            <a:r>
              <a:rPr dirty="0" sz="1200">
                <a:latin typeface="Arial MT"/>
                <a:cs typeface="Arial MT"/>
              </a:rPr>
              <a:t> mentors, </a:t>
            </a:r>
            <a:r>
              <a:rPr dirty="0" sz="1200" spc="-5">
                <a:latin typeface="Arial MT"/>
                <a:cs typeface="Arial MT"/>
              </a:rPr>
              <a:t>colleagues, and confidants. Humans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love and be </a:t>
            </a:r>
            <a:r>
              <a:rPr dirty="0" sz="1200">
                <a:latin typeface="Arial MT"/>
                <a:cs typeface="Arial MT"/>
              </a:rPr>
              <a:t>loved - </a:t>
            </a:r>
            <a:r>
              <a:rPr dirty="0" sz="1200" spc="-5">
                <a:latin typeface="Arial MT"/>
                <a:cs typeface="Arial MT"/>
              </a:rPr>
              <a:t>both sexually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nonsexually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-</a:t>
            </a:r>
            <a:r>
              <a:rPr dirty="0" sz="1200" spc="-5">
                <a:latin typeface="Arial MT"/>
                <a:cs typeface="Arial MT"/>
              </a:rPr>
              <a:t> by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200" spc="-5" b="1">
                <a:latin typeface="Arial"/>
                <a:cs typeface="Arial"/>
              </a:rPr>
              <a:t>Esteem:</a:t>
            </a:r>
            <a:endParaRPr sz="1200">
              <a:latin typeface="Arial"/>
              <a:cs typeface="Arial"/>
            </a:endParaRPr>
          </a:p>
          <a:p>
            <a:pPr algn="just" marL="18415" marR="468630" indent="-6350">
              <a:lnSpc>
                <a:spcPts val="2080"/>
              </a:lnSpc>
              <a:spcBef>
                <a:spcPts val="145"/>
              </a:spcBef>
            </a:pPr>
            <a:r>
              <a:rPr dirty="0" sz="1200" spc="-5">
                <a:latin typeface="Arial MT"/>
                <a:cs typeface="Arial MT"/>
              </a:rPr>
              <a:t>All humans have a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feel respected; this includes the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self-esteem </a:t>
            </a:r>
            <a:r>
              <a:rPr dirty="0" sz="1200" spc="-5">
                <a:latin typeface="Arial MT"/>
                <a:cs typeface="Arial MT"/>
              </a:rPr>
              <a:t>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selfrespect. Esteem presents the typical human desire to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accepted and valued by others.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People often engage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a profession or hobby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gain recognition. These activities give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 a sense of contribution or value. Low </a:t>
            </a:r>
            <a:r>
              <a:rPr dirty="0" sz="1200">
                <a:latin typeface="Arial MT"/>
                <a:cs typeface="Arial MT"/>
              </a:rPr>
              <a:t>self-esteem </a:t>
            </a:r>
            <a:r>
              <a:rPr dirty="0" sz="1200" spc="-5">
                <a:latin typeface="Arial MT"/>
                <a:cs typeface="Arial MT"/>
              </a:rPr>
              <a:t>or an inferiority </a:t>
            </a:r>
            <a:r>
              <a:rPr dirty="0" sz="1200">
                <a:latin typeface="Arial MT"/>
                <a:cs typeface="Arial MT"/>
              </a:rPr>
              <a:t>complex may </a:t>
            </a:r>
            <a:r>
              <a:rPr dirty="0" sz="1200" spc="-10">
                <a:latin typeface="Arial MT"/>
                <a:cs typeface="Arial MT"/>
              </a:rPr>
              <a:t>result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 </a:t>
            </a:r>
            <a:r>
              <a:rPr dirty="0" sz="1200" spc="-5">
                <a:latin typeface="Arial MT"/>
                <a:cs typeface="Arial MT"/>
              </a:rPr>
              <a:t>imbalances during </a:t>
            </a: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level in the hierarchy. People with low </a:t>
            </a:r>
            <a:r>
              <a:rPr dirty="0" sz="1200">
                <a:latin typeface="Arial MT"/>
                <a:cs typeface="Arial MT"/>
              </a:rPr>
              <a:t>self-esteem </a:t>
            </a:r>
            <a:r>
              <a:rPr dirty="0" sz="1200" spc="-5">
                <a:latin typeface="Arial MT"/>
                <a:cs typeface="Arial MT"/>
              </a:rPr>
              <a:t>often </a:t>
            </a:r>
            <a:r>
              <a:rPr dirty="0" sz="1200" spc="-10">
                <a:latin typeface="Arial MT"/>
                <a:cs typeface="Arial MT"/>
              </a:rPr>
              <a:t>need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respect </a:t>
            </a:r>
            <a:r>
              <a:rPr dirty="0" sz="1200" spc="-5">
                <a:latin typeface="Arial MT"/>
                <a:cs typeface="Arial MT"/>
              </a:rPr>
              <a:t>from others; they </a:t>
            </a:r>
            <a:r>
              <a:rPr dirty="0" sz="1200">
                <a:latin typeface="Arial MT"/>
                <a:cs typeface="Arial MT"/>
              </a:rPr>
              <a:t>may </a:t>
            </a:r>
            <a:r>
              <a:rPr dirty="0" sz="1200" spc="-5">
                <a:latin typeface="Arial MT"/>
                <a:cs typeface="Arial MT"/>
              </a:rPr>
              <a:t>feel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need to seek </a:t>
            </a:r>
            <a:r>
              <a:rPr dirty="0" sz="1200">
                <a:latin typeface="Arial MT"/>
                <a:cs typeface="Arial MT"/>
              </a:rPr>
              <a:t>fame </a:t>
            </a:r>
            <a:r>
              <a:rPr dirty="0" sz="1200" spc="-5">
                <a:latin typeface="Arial MT"/>
                <a:cs typeface="Arial MT"/>
              </a:rPr>
              <a:t>or glory. However, </a:t>
            </a:r>
            <a:r>
              <a:rPr dirty="0" sz="1200">
                <a:latin typeface="Arial MT"/>
                <a:cs typeface="Arial MT"/>
              </a:rPr>
              <a:t>fame </a:t>
            </a:r>
            <a:r>
              <a:rPr dirty="0" sz="1200" spc="-5">
                <a:latin typeface="Arial MT"/>
                <a:cs typeface="Arial MT"/>
              </a:rPr>
              <a:t>or glory will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person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build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</a:t>
            </a:r>
            <a:r>
              <a:rPr dirty="0" sz="1200">
                <a:latin typeface="Arial MT"/>
                <a:cs typeface="Arial MT"/>
              </a:rPr>
              <a:t>self-esteem </a:t>
            </a:r>
            <a:r>
              <a:rPr dirty="0" sz="1200" spc="-5">
                <a:latin typeface="Arial MT"/>
                <a:cs typeface="Arial MT"/>
              </a:rPr>
              <a:t>until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accept who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internally.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200" spc="-5" b="1">
                <a:latin typeface="Arial"/>
                <a:cs typeface="Arial"/>
              </a:rPr>
              <a:t>Self-actualization:</a:t>
            </a:r>
            <a:endParaRPr sz="1200">
              <a:latin typeface="Arial"/>
              <a:cs typeface="Arial"/>
            </a:endParaRPr>
          </a:p>
          <a:p>
            <a:pPr algn="just" marL="18415" marR="468630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This level of </a:t>
            </a:r>
            <a:r>
              <a:rPr dirty="0" sz="1200" spc="-5">
                <a:latin typeface="Arial MT"/>
                <a:cs typeface="Arial MT"/>
              </a:rPr>
              <a:t>need refers </a:t>
            </a:r>
            <a:r>
              <a:rPr dirty="0" sz="1200">
                <a:latin typeface="Arial MT"/>
                <a:cs typeface="Arial MT"/>
              </a:rPr>
              <a:t>to what </a:t>
            </a:r>
            <a:r>
              <a:rPr dirty="0" sz="1200" spc="-5">
                <a:latin typeface="Arial MT"/>
                <a:cs typeface="Arial MT"/>
              </a:rPr>
              <a:t>a person's full potential is and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realization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that potential.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Maslow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describes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level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desire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accomplish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everything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become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can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However,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broad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definition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self-actualization;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when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455"/>
              </a:spcBef>
            </a:pPr>
            <a:r>
              <a:rPr dirty="0" sz="1200" spc="-5">
                <a:latin typeface="Arial MT"/>
                <a:cs typeface="Arial MT"/>
              </a:rPr>
              <a:t>applied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individuals,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specific.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1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example,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</a:t>
            </a:r>
            <a:r>
              <a:rPr dirty="0" sz="1200" spc="1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1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11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strong</a:t>
            </a:r>
            <a:endParaRPr sz="1200">
              <a:latin typeface="Arial MT"/>
              <a:cs typeface="Arial MT"/>
            </a:endParaRPr>
          </a:p>
          <a:p>
            <a:pPr algn="just" marL="18415">
              <a:lnSpc>
                <a:spcPct val="100000"/>
              </a:lnSpc>
              <a:spcBef>
                <a:spcPts val="635"/>
              </a:spcBef>
            </a:pPr>
            <a:r>
              <a:rPr dirty="0" sz="1200" spc="-5">
                <a:latin typeface="Arial MT"/>
                <a:cs typeface="Arial MT"/>
              </a:rPr>
              <a:t>desire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become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parent.</a:t>
            </a:r>
            <a:r>
              <a:rPr dirty="0" sz="1200">
                <a:latin typeface="Arial MT"/>
                <a:cs typeface="Arial MT"/>
              </a:rPr>
              <a:t> In</a:t>
            </a:r>
            <a:r>
              <a:rPr dirty="0" sz="1200" spc="-5">
                <a:latin typeface="Arial MT"/>
                <a:cs typeface="Arial MT"/>
              </a:rPr>
              <a:t> another,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desire</a:t>
            </a:r>
            <a:r>
              <a:rPr dirty="0" sz="1200">
                <a:latin typeface="Arial MT"/>
                <a:cs typeface="Arial MT"/>
              </a:rPr>
              <a:t> may </a:t>
            </a:r>
            <a:r>
              <a:rPr dirty="0" sz="1200" spc="-5">
                <a:latin typeface="Arial MT"/>
                <a:cs typeface="Arial MT"/>
              </a:rPr>
              <a:t>be expressed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athletically.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Cognitive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theories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motivation:</a:t>
            </a:r>
            <a:endParaRPr sz="1400">
              <a:latin typeface="Arial"/>
              <a:cs typeface="Arial"/>
            </a:endParaRPr>
          </a:p>
          <a:p>
            <a:pPr marL="18415" marR="8890" indent="-6350">
              <a:lnSpc>
                <a:spcPts val="2080"/>
              </a:lnSpc>
              <a:spcBef>
                <a:spcPts val="85"/>
              </a:spcBef>
            </a:pPr>
            <a:r>
              <a:rPr dirty="0" sz="1200">
                <a:latin typeface="Arial MT"/>
                <a:cs typeface="Arial MT"/>
              </a:rPr>
              <a:t>Cognition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know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proceed.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theories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address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much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But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there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 address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00">
              <a:latin typeface="Arial MT"/>
              <a:cs typeface="Arial MT"/>
            </a:endParaRPr>
          </a:p>
          <a:p>
            <a:pPr algn="just" marL="469900" marR="5080" indent="-229235">
              <a:lnSpc>
                <a:spcPct val="142500"/>
              </a:lnSpc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Cognitive </a:t>
            </a:r>
            <a:r>
              <a:rPr dirty="0" sz="1200" b="1">
                <a:latin typeface="Arial"/>
                <a:cs typeface="Arial"/>
              </a:rPr>
              <a:t>theories of motivation </a:t>
            </a:r>
            <a:r>
              <a:rPr dirty="0" sz="1200" spc="-5" b="1">
                <a:latin typeface="Arial"/>
                <a:cs typeface="Arial"/>
              </a:rPr>
              <a:t>stress the </a:t>
            </a:r>
            <a:r>
              <a:rPr dirty="0" sz="1200" b="1">
                <a:latin typeface="Arial"/>
                <a:cs typeface="Arial"/>
              </a:rPr>
              <a:t>importance of </a:t>
            </a:r>
            <a:r>
              <a:rPr dirty="0" sz="1200" spc="-5" b="1">
                <a:latin typeface="Arial"/>
                <a:cs typeface="Arial"/>
              </a:rPr>
              <a:t>the </a:t>
            </a:r>
            <a:r>
              <a:rPr dirty="0" sz="1200" b="1">
                <a:latin typeface="Arial"/>
                <a:cs typeface="Arial"/>
              </a:rPr>
              <a:t>way </a:t>
            </a:r>
            <a:r>
              <a:rPr dirty="0" sz="1200" spc="-5" b="1">
                <a:latin typeface="Arial"/>
                <a:cs typeface="Arial"/>
              </a:rPr>
              <a:t>people think and the </a:t>
            </a:r>
            <a:r>
              <a:rPr dirty="0" sz="1200" b="1">
                <a:latin typeface="Arial"/>
                <a:cs typeface="Arial"/>
              </a:rPr>
              <a:t> beliefs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attributes </a:t>
            </a:r>
            <a:r>
              <a:rPr dirty="0" sz="1200" b="1">
                <a:latin typeface="Arial"/>
                <a:cs typeface="Arial"/>
              </a:rPr>
              <a:t>they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have</a:t>
            </a:r>
            <a:r>
              <a:rPr dirty="0" sz="1200" b="1">
                <a:latin typeface="Arial"/>
                <a:cs typeface="Arial"/>
              </a:rPr>
              <a:t> about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life’s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situations.</a:t>
            </a:r>
            <a:endParaRPr sz="1200">
              <a:latin typeface="Arial"/>
              <a:cs typeface="Arial"/>
            </a:endParaRPr>
          </a:p>
          <a:p>
            <a:pPr algn="just" marL="469900" marR="5715" indent="-229235">
              <a:lnSpc>
                <a:spcPct val="144200"/>
              </a:lnSpc>
              <a:spcBef>
                <a:spcPts val="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Learners actively construct their </a:t>
            </a:r>
            <a:r>
              <a:rPr dirty="0" sz="1200" b="1">
                <a:latin typeface="Arial"/>
                <a:cs typeface="Arial"/>
              </a:rPr>
              <a:t>own </a:t>
            </a:r>
            <a:r>
              <a:rPr dirty="0" sz="1200" spc="-5" b="1">
                <a:latin typeface="Arial"/>
                <a:cs typeface="Arial"/>
              </a:rPr>
              <a:t>understandings. </a:t>
            </a:r>
            <a:r>
              <a:rPr dirty="0" sz="1200" spc="-5">
                <a:latin typeface="Arial MT"/>
                <a:cs typeface="Arial MT"/>
              </a:rPr>
              <a:t>Because they are active learners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they </a:t>
            </a:r>
            <a:r>
              <a:rPr dirty="0" sz="1200">
                <a:latin typeface="Arial MT"/>
                <a:cs typeface="Arial MT"/>
              </a:rPr>
              <a:t>actively </a:t>
            </a:r>
            <a:r>
              <a:rPr dirty="0" sz="1200" spc="-5">
                <a:latin typeface="Arial MT"/>
                <a:cs typeface="Arial MT"/>
              </a:rPr>
              <a:t>construct their knowledge and understanding. So, teachers </a:t>
            </a:r>
            <a:r>
              <a:rPr dirty="0" sz="1200">
                <a:latin typeface="Arial MT"/>
                <a:cs typeface="Arial MT"/>
              </a:rPr>
              <a:t>may </a:t>
            </a:r>
            <a:r>
              <a:rPr dirty="0" sz="1200" spc="-5">
                <a:latin typeface="Arial MT"/>
                <a:cs typeface="Arial MT"/>
              </a:rPr>
              <a:t>help them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understand any expectation </a:t>
            </a:r>
            <a:r>
              <a:rPr dirty="0" sz="1200">
                <a:latin typeface="Arial MT"/>
                <a:cs typeface="Arial MT"/>
              </a:rPr>
              <a:t>at </a:t>
            </a:r>
            <a:r>
              <a:rPr dirty="0" sz="1200" spc="-5">
                <a:latin typeface="Arial MT"/>
                <a:cs typeface="Arial MT"/>
              </a:rPr>
              <a:t>cognitive level. Cognitive theories </a:t>
            </a:r>
            <a:r>
              <a:rPr dirty="0" sz="1200">
                <a:latin typeface="Arial MT"/>
                <a:cs typeface="Arial MT"/>
              </a:rPr>
              <a:t>focuses </a:t>
            </a:r>
            <a:r>
              <a:rPr dirty="0" sz="1200" spc="-5">
                <a:latin typeface="Arial MT"/>
                <a:cs typeface="Arial MT"/>
              </a:rPr>
              <a:t>on ‘whatever we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change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consciousness’.</a:t>
            </a:r>
            <a:r>
              <a:rPr dirty="0" sz="1200">
                <a:latin typeface="Arial MT"/>
                <a:cs typeface="Arial MT"/>
              </a:rPr>
              <a:t> 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be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consciousness and </a:t>
            </a:r>
            <a:r>
              <a:rPr dirty="0" sz="1200" spc="-10">
                <a:latin typeface="Arial MT"/>
                <a:cs typeface="Arial MT"/>
              </a:rPr>
              <a:t>not </a:t>
            </a:r>
            <a:r>
              <a:rPr dirty="0" sz="1200" spc="-5">
                <a:latin typeface="Arial MT"/>
                <a:cs typeface="Arial MT"/>
              </a:rPr>
              <a:t>only about observing the behavior. And this is the </a:t>
            </a:r>
            <a:r>
              <a:rPr dirty="0" sz="1200">
                <a:latin typeface="Arial MT"/>
                <a:cs typeface="Arial MT"/>
              </a:rPr>
              <a:t>major </a:t>
            </a:r>
            <a:r>
              <a:rPr dirty="0" sz="1200" spc="-5">
                <a:latin typeface="Arial MT"/>
                <a:cs typeface="Arial MT"/>
              </a:rPr>
              <a:t>difference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theories</a:t>
            </a:r>
            <a:r>
              <a:rPr dirty="0" sz="1200">
                <a:latin typeface="Arial MT"/>
                <a:cs typeface="Arial MT"/>
              </a:rPr>
              <a:t> and </a:t>
            </a:r>
            <a:r>
              <a:rPr dirty="0" sz="1200" spc="-5">
                <a:latin typeface="Arial MT"/>
                <a:cs typeface="Arial MT"/>
              </a:rPr>
              <a:t>reinforcement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theories.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Social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theories: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578611"/>
            <a:ext cx="6851650" cy="11005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715" indent="-229235">
              <a:lnSpc>
                <a:spcPct val="142500"/>
              </a:lnSpc>
              <a:spcBef>
                <a:spcPts val="10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Social</a:t>
            </a:r>
            <a:r>
              <a:rPr dirty="0" sz="1200" spc="-5" b="1">
                <a:latin typeface="Arial"/>
                <a:cs typeface="Arial"/>
              </a:rPr>
              <a:t> learning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theory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hypothesizes </a:t>
            </a:r>
            <a:r>
              <a:rPr dirty="0" sz="1200" b="1">
                <a:latin typeface="Arial"/>
                <a:cs typeface="Arial"/>
              </a:rPr>
              <a:t>that</a:t>
            </a:r>
            <a:r>
              <a:rPr dirty="0" sz="1200" spc="-5" b="1">
                <a:latin typeface="Arial"/>
                <a:cs typeface="Arial"/>
              </a:rPr>
              <a:t> individual’s </a:t>
            </a:r>
            <a:r>
              <a:rPr dirty="0" sz="1200" b="1">
                <a:latin typeface="Arial"/>
                <a:cs typeface="Arial"/>
              </a:rPr>
              <a:t>actions</a:t>
            </a:r>
            <a:r>
              <a:rPr dirty="0" sz="1200" spc="-5" b="1">
                <a:latin typeface="Arial"/>
                <a:cs typeface="Arial"/>
              </a:rPr>
              <a:t> are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influenced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 </a:t>
            </a:r>
            <a:r>
              <a:rPr dirty="0" sz="1200" spc="-5" b="1">
                <a:latin typeface="Arial"/>
                <a:cs typeface="Arial"/>
              </a:rPr>
              <a:t>value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particular </a:t>
            </a:r>
            <a:r>
              <a:rPr dirty="0" sz="1200" spc="-5" b="1">
                <a:latin typeface="Arial"/>
                <a:cs typeface="Arial"/>
              </a:rPr>
              <a:t>goals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hold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b="1">
                <a:latin typeface="Arial"/>
                <a:cs typeface="Arial"/>
              </a:rPr>
              <a:t> them and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expectations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success.</a:t>
            </a:r>
            <a:endParaRPr sz="1200">
              <a:latin typeface="Arial"/>
              <a:cs typeface="Arial"/>
            </a:endParaRPr>
          </a:p>
          <a:p>
            <a:pPr marL="462280" marR="524510" indent="-221615">
              <a:lnSpc>
                <a:spcPct val="142500"/>
              </a:lnSpc>
              <a:spcBef>
                <a:spcPts val="15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These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theories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help </a:t>
            </a:r>
            <a:r>
              <a:rPr dirty="0" sz="1200" b="1">
                <a:latin typeface="Arial"/>
                <a:cs typeface="Arial"/>
              </a:rPr>
              <a:t>us to understand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how</a:t>
            </a:r>
            <a:r>
              <a:rPr dirty="0" sz="1200" b="1">
                <a:latin typeface="Arial"/>
                <a:cs typeface="Arial"/>
              </a:rPr>
              <a:t> modeling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reinforcement work</a:t>
            </a:r>
            <a:r>
              <a:rPr dirty="0" sz="1200" b="1">
                <a:latin typeface="Arial"/>
                <a:cs typeface="Arial"/>
              </a:rPr>
              <a:t> in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social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context.</a:t>
            </a:r>
            <a:endParaRPr sz="1200">
              <a:latin typeface="Arial"/>
              <a:cs typeface="Arial"/>
            </a:endParaRPr>
          </a:p>
          <a:p>
            <a:pPr marL="469900" marR="5715" indent="-229235">
              <a:lnSpc>
                <a:spcPct val="142500"/>
              </a:lnSpc>
              <a:buFont typeface="Times New Roman"/>
              <a:buChar char="-"/>
              <a:tabLst>
                <a:tab pos="469900" algn="l"/>
                <a:tab pos="470534" algn="l"/>
                <a:tab pos="1304925" algn="l"/>
                <a:tab pos="2021839" algn="l"/>
                <a:tab pos="2357120" algn="l"/>
                <a:tab pos="3260090" algn="l"/>
                <a:tab pos="3596640" algn="l"/>
                <a:tab pos="4163060" algn="l"/>
                <a:tab pos="4888230" algn="l"/>
                <a:tab pos="5663565" algn="l"/>
                <a:tab pos="6329045" algn="l"/>
              </a:tabLst>
            </a:pPr>
            <a:r>
              <a:rPr dirty="0" sz="1200" b="1">
                <a:latin typeface="Arial"/>
                <a:cs typeface="Arial"/>
              </a:rPr>
              <a:t>Important	</a:t>
            </a:r>
            <a:r>
              <a:rPr dirty="0" sz="1200" spc="-5" b="1">
                <a:latin typeface="Arial"/>
                <a:cs typeface="Arial"/>
              </a:rPr>
              <a:t>s</a:t>
            </a:r>
            <a:r>
              <a:rPr dirty="0" sz="1200" spc="-5" b="1">
                <a:latin typeface="Arial"/>
                <a:cs typeface="Arial"/>
              </a:rPr>
              <a:t>ourc</a:t>
            </a:r>
            <a:r>
              <a:rPr dirty="0" sz="1200" spc="-5" b="1">
                <a:latin typeface="Arial"/>
                <a:cs typeface="Arial"/>
              </a:rPr>
              <a:t>es</a:t>
            </a:r>
            <a:r>
              <a:rPr dirty="0" sz="1200" spc="-5" b="1">
                <a:latin typeface="Arial"/>
                <a:cs typeface="Arial"/>
              </a:rPr>
              <a:t>	</a:t>
            </a:r>
            <a:r>
              <a:rPr dirty="0" sz="1200" b="1">
                <a:latin typeface="Arial"/>
                <a:cs typeface="Arial"/>
              </a:rPr>
              <a:t>f</a:t>
            </a:r>
            <a:r>
              <a:rPr dirty="0" sz="1200" spc="-5" b="1">
                <a:latin typeface="Arial"/>
                <a:cs typeface="Arial"/>
              </a:rPr>
              <a:t>o</a:t>
            </a:r>
            <a:r>
              <a:rPr dirty="0" sz="1200" spc="-5" b="1">
                <a:latin typeface="Arial"/>
                <a:cs typeface="Arial"/>
              </a:rPr>
              <a:t>r</a:t>
            </a:r>
            <a:r>
              <a:rPr dirty="0" sz="1200" b="1">
                <a:latin typeface="Arial"/>
                <a:cs typeface="Arial"/>
              </a:rPr>
              <a:t>	motiv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tion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b="1">
                <a:latin typeface="Arial"/>
                <a:cs typeface="Arial"/>
              </a:rPr>
              <a:t>f</a:t>
            </a:r>
            <a:r>
              <a:rPr dirty="0" sz="1200" spc="-5" b="1">
                <a:latin typeface="Arial"/>
                <a:cs typeface="Arial"/>
              </a:rPr>
              <a:t>o</a:t>
            </a:r>
            <a:r>
              <a:rPr dirty="0" sz="1200" spc="-5" b="1">
                <a:latin typeface="Arial"/>
                <a:cs typeface="Arial"/>
              </a:rPr>
              <a:t>r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5" b="1">
                <a:latin typeface="Arial"/>
                <a:cs typeface="Arial"/>
              </a:rPr>
              <a:t>s</a:t>
            </a:r>
            <a:r>
              <a:rPr dirty="0" sz="1200" b="1">
                <a:latin typeface="Arial"/>
                <a:cs typeface="Arial"/>
              </a:rPr>
              <a:t>oci</a:t>
            </a:r>
            <a:r>
              <a:rPr dirty="0" sz="1200" spc="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l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10" b="1">
                <a:latin typeface="Arial"/>
                <a:cs typeface="Arial"/>
              </a:rPr>
              <a:t>l</a:t>
            </a:r>
            <a:r>
              <a:rPr dirty="0" sz="1200" spc="-5" b="1">
                <a:latin typeface="Arial"/>
                <a:cs typeface="Arial"/>
              </a:rPr>
              <a:t>ea</a:t>
            </a:r>
            <a:r>
              <a:rPr dirty="0" sz="1200" b="1">
                <a:latin typeface="Arial"/>
                <a:cs typeface="Arial"/>
              </a:rPr>
              <a:t>rning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spc="-20" b="1">
                <a:latin typeface="Arial"/>
                <a:cs typeface="Arial"/>
              </a:rPr>
              <a:t>t</a:t>
            </a:r>
            <a:r>
              <a:rPr dirty="0" sz="1200" b="1">
                <a:latin typeface="Arial"/>
                <a:cs typeface="Arial"/>
              </a:rPr>
              <a:t>heori</a:t>
            </a:r>
            <a:r>
              <a:rPr dirty="0" sz="1200" spc="5" b="1">
                <a:latin typeface="Arial"/>
                <a:cs typeface="Arial"/>
              </a:rPr>
              <a:t>s</a:t>
            </a:r>
            <a:r>
              <a:rPr dirty="0" sz="1200" spc="-5" b="1">
                <a:latin typeface="Arial"/>
                <a:cs typeface="Arial"/>
              </a:rPr>
              <a:t>ts</a:t>
            </a:r>
            <a:r>
              <a:rPr dirty="0" sz="1200" b="1">
                <a:latin typeface="Arial"/>
                <a:cs typeface="Arial"/>
              </a:rPr>
              <a:t>	</a:t>
            </a:r>
            <a:r>
              <a:rPr dirty="0" sz="1200" b="1">
                <a:latin typeface="Arial"/>
                <a:cs typeface="Arial"/>
              </a:rPr>
              <a:t>inc</a:t>
            </a:r>
            <a:r>
              <a:rPr dirty="0" sz="1200" b="1">
                <a:latin typeface="Arial"/>
                <a:cs typeface="Arial"/>
              </a:rPr>
              <a:t>lu</a:t>
            </a:r>
            <a:r>
              <a:rPr dirty="0" sz="1200" spc="-15" b="1">
                <a:latin typeface="Arial"/>
                <a:cs typeface="Arial"/>
              </a:rPr>
              <a:t>d</a:t>
            </a:r>
            <a:r>
              <a:rPr dirty="0" sz="1200" spc="-5" b="1">
                <a:latin typeface="Arial"/>
                <a:cs typeface="Arial"/>
              </a:rPr>
              <a:t>e</a:t>
            </a:r>
            <a:r>
              <a:rPr dirty="0" sz="1200" b="1">
                <a:latin typeface="Arial"/>
                <a:cs typeface="Arial"/>
              </a:rPr>
              <a:t>	l</a:t>
            </a:r>
            <a:r>
              <a:rPr dirty="0" sz="1200" spc="-5" b="1">
                <a:latin typeface="Arial"/>
                <a:cs typeface="Arial"/>
              </a:rPr>
              <a:t>e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5" b="1">
                <a:latin typeface="Arial"/>
                <a:cs typeface="Arial"/>
              </a:rPr>
              <a:t>rne</a:t>
            </a:r>
            <a:r>
              <a:rPr dirty="0" sz="1200" spc="-5" b="1">
                <a:latin typeface="Arial"/>
                <a:cs typeface="Arial"/>
              </a:rPr>
              <a:t>r  </a:t>
            </a:r>
            <a:r>
              <a:rPr dirty="0" sz="1200" spc="-5" b="1">
                <a:latin typeface="Arial"/>
                <a:cs typeface="Arial"/>
              </a:rPr>
              <a:t>expectations</a:t>
            </a:r>
            <a:r>
              <a:rPr dirty="0" sz="1200" b="1">
                <a:latin typeface="Arial"/>
                <a:cs typeface="Arial"/>
              </a:rPr>
              <a:t> and </a:t>
            </a:r>
            <a:r>
              <a:rPr dirty="0" sz="1200" spc="-5" b="1">
                <a:latin typeface="Arial"/>
                <a:cs typeface="Arial"/>
              </a:rPr>
              <a:t>personal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goals.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(Bandura,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1986)</a:t>
            </a:r>
            <a:endParaRPr sz="1200">
              <a:latin typeface="Arial"/>
              <a:cs typeface="Arial"/>
            </a:endParaRPr>
          </a:p>
          <a:p>
            <a:pPr marL="18415" marR="248920" indent="-6350">
              <a:lnSpc>
                <a:spcPct val="144200"/>
              </a:lnSpc>
              <a:spcBef>
                <a:spcPts val="960"/>
              </a:spcBef>
            </a:pPr>
            <a:r>
              <a:rPr dirty="0" sz="1200" spc="-5">
                <a:latin typeface="Arial MT"/>
                <a:cs typeface="Arial MT"/>
              </a:rPr>
              <a:t>Here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context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important.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tells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exhibited.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two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factors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i.e. </a:t>
            </a:r>
            <a:r>
              <a:rPr dirty="0" sz="1200" spc="-5">
                <a:latin typeface="Arial MT"/>
                <a:cs typeface="Arial MT"/>
              </a:rPr>
              <a:t>personal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external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expectations.</a:t>
            </a:r>
            <a:endParaRPr sz="1200">
              <a:latin typeface="Arial MT"/>
              <a:cs typeface="Arial MT"/>
            </a:endParaRPr>
          </a:p>
          <a:p>
            <a:pPr marL="469900" marR="7620" indent="-229235">
              <a:lnSpc>
                <a:spcPct val="142500"/>
              </a:lnSpc>
              <a:spcBef>
                <a:spcPts val="3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Bandura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renamed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social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theory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social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cognitive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theory</a:t>
            </a:r>
            <a:r>
              <a:rPr dirty="0" sz="1200" spc="13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as</a:t>
            </a:r>
            <a:r>
              <a:rPr dirty="0" sz="1200" spc="1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it</a:t>
            </a:r>
            <a:r>
              <a:rPr dirty="0" sz="1200" spc="1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involves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number of</a:t>
            </a:r>
            <a:r>
              <a:rPr dirty="0" sz="1200" spc="-5" b="1">
                <a:latin typeface="Arial"/>
                <a:cs typeface="Arial"/>
              </a:rPr>
              <a:t> ideas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drawn</a:t>
            </a:r>
            <a:r>
              <a:rPr dirty="0" sz="1200" b="1">
                <a:latin typeface="Arial"/>
                <a:cs typeface="Arial"/>
              </a:rPr>
              <a:t> from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cognitive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science.</a:t>
            </a:r>
            <a:endParaRPr sz="1200">
              <a:latin typeface="Arial"/>
              <a:cs typeface="Arial"/>
            </a:endParaRPr>
          </a:p>
          <a:p>
            <a:pPr marL="469900" marR="6985" indent="-229235">
              <a:lnSpc>
                <a:spcPct val="142500"/>
              </a:lnSpc>
              <a:spcBef>
                <a:spcPts val="5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Bandura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worked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on</a:t>
            </a:r>
            <a:r>
              <a:rPr dirty="0" sz="1200" spc="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modeling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which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was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his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great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contribution.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Let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us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revise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that.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Modeling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involves: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attention,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retention,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production 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motivation.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Quiz:</a:t>
            </a:r>
            <a:endParaRPr sz="1200">
              <a:latin typeface="Arial"/>
              <a:cs typeface="Arial"/>
            </a:endParaRPr>
          </a:p>
          <a:p>
            <a:pPr algn="just" marL="18415" marR="466090" indent="-6350">
              <a:lnSpc>
                <a:spcPct val="142500"/>
              </a:lnSpc>
            </a:pPr>
            <a:r>
              <a:rPr dirty="0" sz="1200" b="1">
                <a:latin typeface="Arial"/>
                <a:cs typeface="Arial"/>
              </a:rPr>
              <a:t>Faiza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initiates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program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rewards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who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hand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completing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assignments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on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time </a:t>
            </a:r>
            <a:r>
              <a:rPr dirty="0" sz="1200" spc="-5" b="1">
                <a:latin typeface="Arial"/>
                <a:cs typeface="Arial"/>
              </a:rPr>
              <a:t>for </a:t>
            </a:r>
            <a:r>
              <a:rPr dirty="0" sz="1200" b="1">
                <a:latin typeface="Arial"/>
                <a:cs typeface="Arial"/>
              </a:rPr>
              <a:t>one </a:t>
            </a:r>
            <a:r>
              <a:rPr dirty="0" sz="1200" spc="-5" b="1">
                <a:latin typeface="Arial"/>
                <a:cs typeface="Arial"/>
              </a:rPr>
              <a:t>full month </a:t>
            </a:r>
            <a:r>
              <a:rPr dirty="0" sz="1200" b="1">
                <a:latin typeface="Arial"/>
                <a:cs typeface="Arial"/>
              </a:rPr>
              <a:t>by allowing </a:t>
            </a:r>
            <a:r>
              <a:rPr dirty="0" sz="1200" spc="-5" b="1">
                <a:latin typeface="Arial"/>
                <a:cs typeface="Arial"/>
              </a:rPr>
              <a:t>them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have a </a:t>
            </a:r>
            <a:r>
              <a:rPr dirty="0" sz="1200" b="1">
                <a:latin typeface="Arial"/>
                <a:cs typeface="Arial"/>
              </a:rPr>
              <a:t>pizza </a:t>
            </a:r>
            <a:r>
              <a:rPr dirty="0" sz="1200" spc="-5" b="1">
                <a:latin typeface="Arial"/>
                <a:cs typeface="Arial"/>
              </a:rPr>
              <a:t>party. Homework completion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rate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increases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substantially.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theory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best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explains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this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behavior</a:t>
            </a:r>
            <a:r>
              <a:rPr dirty="0" sz="1200" spc="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-------</a:t>
            </a:r>
            <a:endParaRPr sz="12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615"/>
              </a:spcBef>
            </a:pPr>
            <a:r>
              <a:rPr dirty="0" sz="1200" spc="-5" b="1">
                <a:latin typeface="Arial"/>
                <a:cs typeface="Arial"/>
              </a:rPr>
              <a:t>----.</a:t>
            </a:r>
            <a:endParaRPr sz="1200">
              <a:latin typeface="Arial"/>
              <a:cs typeface="Arial"/>
            </a:endParaRPr>
          </a:p>
          <a:p>
            <a:pPr marL="249554" indent="-237490">
              <a:lnSpc>
                <a:spcPct val="100000"/>
              </a:lnSpc>
              <a:spcBef>
                <a:spcPts val="610"/>
              </a:spcBef>
              <a:buAutoNum type="alphaUcParenR"/>
              <a:tabLst>
                <a:tab pos="250190" algn="l"/>
              </a:tabLst>
            </a:pPr>
            <a:r>
              <a:rPr dirty="0" sz="1200">
                <a:latin typeface="Arial MT"/>
                <a:cs typeface="Arial MT"/>
              </a:rPr>
              <a:t>Need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Theory</a:t>
            </a:r>
            <a:endParaRPr sz="1200">
              <a:latin typeface="Arial MT"/>
              <a:cs typeface="Arial MT"/>
            </a:endParaRPr>
          </a:p>
          <a:p>
            <a:pPr marL="12700" marR="4968240">
              <a:lnSpc>
                <a:spcPct val="143300"/>
              </a:lnSpc>
              <a:buAutoNum type="alphaUcParenR"/>
              <a:tabLst>
                <a:tab pos="250190" algn="l"/>
              </a:tabLst>
            </a:pPr>
            <a:r>
              <a:rPr dirty="0" sz="1200" spc="-5">
                <a:latin typeface="Arial MT"/>
                <a:cs typeface="Arial MT"/>
              </a:rPr>
              <a:t>Social Learning Theory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C). Reinforcement Theory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D).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Cognitive</a:t>
            </a:r>
            <a:r>
              <a:rPr dirty="0" sz="1200" spc="-5">
                <a:latin typeface="Arial MT"/>
                <a:cs typeface="Arial MT"/>
              </a:rPr>
              <a:t> theory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AutoNum type="alphaUcParenR"/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AutoNum type="alphaUcParenR"/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Extrinsic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vs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Intrinsic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motivation:</a:t>
            </a:r>
            <a:endParaRPr sz="140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7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Expectations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based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upon consequences</a:t>
            </a:r>
            <a:r>
              <a:rPr dirty="0" sz="1200" spc="-5" b="1">
                <a:latin typeface="Arial"/>
                <a:cs typeface="Arial"/>
              </a:rPr>
              <a:t> have extrinsic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rewards.</a:t>
            </a:r>
            <a:endParaRPr sz="1200">
              <a:latin typeface="Arial"/>
              <a:cs typeface="Arial"/>
            </a:endParaRPr>
          </a:p>
          <a:p>
            <a:pPr lvl="1" marL="469900" marR="6350" indent="-229235">
              <a:lnSpc>
                <a:spcPts val="2060"/>
              </a:lnSpc>
              <a:spcBef>
                <a:spcPts val="16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Intrinsic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motivation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may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defined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as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motivates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us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something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when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don’t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have</a:t>
            </a:r>
            <a:r>
              <a:rPr dirty="0" sz="1200" b="1">
                <a:latin typeface="Arial"/>
                <a:cs typeface="Arial"/>
              </a:rPr>
              <a:t> to do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anything.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(Raffini,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1996)</a:t>
            </a:r>
            <a:endParaRPr sz="1200">
              <a:latin typeface="Arial"/>
              <a:cs typeface="Arial"/>
            </a:endParaRPr>
          </a:p>
          <a:p>
            <a:pPr algn="just" lvl="1" marL="469900" marR="5080" indent="-229235">
              <a:lnSpc>
                <a:spcPts val="2050"/>
              </a:lnSpc>
              <a:spcBef>
                <a:spcPts val="15"/>
              </a:spcBef>
              <a:buClr>
                <a:srgbClr val="000000"/>
              </a:buClr>
              <a:buFont typeface="Times New Roman"/>
              <a:buChar char="-"/>
              <a:tabLst>
                <a:tab pos="470534" algn="l"/>
              </a:tabLst>
            </a:pP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Extrinsic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and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intrinsic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motivations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are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 two</a:t>
            </a:r>
            <a:r>
              <a:rPr dirty="0" sz="1200" spc="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opposing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ways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to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motivate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people.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Extrinsic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motivation deals with motivations that are outside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of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your passions, and personal selfesteem.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Extrinsic motivation examples would be money, bonuses, nice cars, expensive houses, high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grades</a:t>
            </a:r>
            <a:r>
              <a:rPr dirty="0" sz="1200" spc="-1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A3A3A"/>
                </a:solidFill>
                <a:latin typeface="Arial MT"/>
                <a:cs typeface="Arial MT"/>
              </a:rPr>
              <a:t>in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 school,</a:t>
            </a:r>
            <a:r>
              <a:rPr dirty="0" sz="1200" spc="-1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gold</a:t>
            </a:r>
            <a:r>
              <a:rPr dirty="0" sz="1200" spc="-2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stars</a:t>
            </a:r>
            <a:r>
              <a:rPr dirty="0" sz="1200" spc="-1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for</a:t>
            </a:r>
            <a:r>
              <a:rPr dirty="0" sz="1200" spc="-1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athletics,</a:t>
            </a:r>
            <a:r>
              <a:rPr dirty="0" sz="1200" spc="-2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etc.</a:t>
            </a:r>
            <a:r>
              <a:rPr dirty="0" sz="1200" spc="-2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Extrinsic</a:t>
            </a:r>
            <a:r>
              <a:rPr dirty="0" sz="1200" spc="-1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motivation</a:t>
            </a:r>
            <a:r>
              <a:rPr dirty="0" sz="1200" spc="-1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is</a:t>
            </a:r>
            <a:r>
              <a:rPr dirty="0" sz="1200" spc="-2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anything</a:t>
            </a:r>
            <a:r>
              <a:rPr dirty="0" sz="1200" spc="-1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outside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of</a:t>
            </a:r>
            <a:r>
              <a:rPr dirty="0" sz="1200" spc="-2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yourself </a:t>
            </a:r>
            <a:r>
              <a:rPr dirty="0" sz="1200" spc="-32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that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you need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to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obtain or acquire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to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increase motivation. Intrinsic motivation is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the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opposite.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 You</a:t>
            </a:r>
            <a:r>
              <a:rPr dirty="0" sz="1200" spc="3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get</a:t>
            </a:r>
            <a:r>
              <a:rPr dirty="0" sz="1200" spc="3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paid</a:t>
            </a:r>
            <a:r>
              <a:rPr dirty="0" sz="1200" spc="3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for</a:t>
            </a:r>
            <a:r>
              <a:rPr dirty="0" sz="1200" spc="2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doing</a:t>
            </a:r>
            <a:r>
              <a:rPr dirty="0" sz="1200" spc="2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what</a:t>
            </a:r>
            <a:r>
              <a:rPr dirty="0" sz="1200" spc="4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you</a:t>
            </a:r>
            <a:r>
              <a:rPr dirty="0" sz="1200" spc="3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truly</a:t>
            </a:r>
            <a:r>
              <a:rPr dirty="0" sz="1200" spc="2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enjoy</a:t>
            </a:r>
            <a:r>
              <a:rPr dirty="0" sz="1200" spc="3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doing,</a:t>
            </a:r>
            <a:r>
              <a:rPr dirty="0" sz="1200" spc="3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nice</a:t>
            </a:r>
            <a:r>
              <a:rPr dirty="0" sz="1200" spc="2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cars</a:t>
            </a:r>
            <a:r>
              <a:rPr dirty="0" sz="1200" spc="2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and</a:t>
            </a:r>
            <a:r>
              <a:rPr dirty="0" sz="1200" spc="3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houses</a:t>
            </a:r>
            <a:r>
              <a:rPr dirty="0" sz="1200" spc="3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don’t</a:t>
            </a:r>
            <a:r>
              <a:rPr dirty="0" sz="1200" spc="3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motivate</a:t>
            </a:r>
            <a:r>
              <a:rPr dirty="0" sz="1200" spc="3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you</a:t>
            </a:r>
            <a:r>
              <a:rPr dirty="0" sz="1200" spc="4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as</a:t>
            </a:r>
            <a:endParaRPr sz="1200">
              <a:latin typeface="Arial MT"/>
              <a:cs typeface="Arial MT"/>
            </a:endParaRPr>
          </a:p>
          <a:p>
            <a:pPr algn="just" marL="469900">
              <a:lnSpc>
                <a:spcPct val="100000"/>
              </a:lnSpc>
              <a:spcBef>
                <a:spcPts val="455"/>
              </a:spcBef>
            </a:pP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much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as</a:t>
            </a:r>
            <a:r>
              <a:rPr dirty="0" sz="1200" spc="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your</a:t>
            </a:r>
            <a:r>
              <a:rPr dirty="0" sz="1200" spc="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joy</a:t>
            </a:r>
            <a:r>
              <a:rPr dirty="0" sz="1200" spc="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in work,</a:t>
            </a:r>
            <a:r>
              <a:rPr dirty="0" sz="1200" spc="1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learning, and</a:t>
            </a:r>
            <a:r>
              <a:rPr dirty="0" sz="1200" spc="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the</a:t>
            </a:r>
            <a:r>
              <a:rPr dirty="0" sz="1200" spc="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things</a:t>
            </a:r>
            <a:r>
              <a:rPr dirty="0" sz="1200" spc="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that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truly</a:t>
            </a:r>
            <a:r>
              <a:rPr dirty="0" sz="1200" spc="1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 spc="-5">
                <a:solidFill>
                  <a:srgbClr val="3A3A3A"/>
                </a:solidFill>
                <a:latin typeface="Arial MT"/>
                <a:cs typeface="Arial MT"/>
              </a:rPr>
              <a:t>motivate you</a:t>
            </a:r>
            <a:r>
              <a:rPr dirty="0" sz="1200" spc="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3A3A3A"/>
                </a:solidFill>
                <a:latin typeface="Arial MT"/>
                <a:cs typeface="Arial MT"/>
              </a:rPr>
              <a:t>internally.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What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research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says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about extrinsic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and</a:t>
            </a:r>
            <a:r>
              <a:rPr dirty="0" sz="140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intrinsic motivation?</a:t>
            </a:r>
            <a:endParaRPr sz="140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770"/>
              </a:spcBef>
              <a:buSzPct val="85714"/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400" spc="-5" b="1">
                <a:latin typeface="Arial"/>
                <a:cs typeface="Arial"/>
              </a:rPr>
              <a:t>Kohn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(1993)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findings:</a:t>
            </a:r>
            <a:endParaRPr sz="1400">
              <a:latin typeface="Arial"/>
              <a:cs typeface="Arial"/>
            </a:endParaRPr>
          </a:p>
          <a:p>
            <a:pPr algn="just" lvl="1" marL="469900" marR="5080" indent="-229235">
              <a:lnSpc>
                <a:spcPct val="131700"/>
              </a:lnSpc>
              <a:spcBef>
                <a:spcPts val="47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Young children do not need to be rewarded to learn. </a:t>
            </a:r>
            <a:r>
              <a:rPr dirty="0" sz="1200" spc="-5">
                <a:latin typeface="Arial MT"/>
                <a:cs typeface="Arial MT"/>
              </a:rPr>
              <a:t>He </a:t>
            </a:r>
            <a:r>
              <a:rPr dirty="0" sz="1200">
                <a:latin typeface="Arial MT"/>
                <a:cs typeface="Arial MT"/>
              </a:rPr>
              <a:t>says </a:t>
            </a:r>
            <a:r>
              <a:rPr dirty="0" sz="1200" spc="-5">
                <a:latin typeface="Arial MT"/>
                <a:cs typeface="Arial MT"/>
              </a:rPr>
              <a:t>that children are intrinsically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motivated</a:t>
            </a:r>
            <a:endParaRPr sz="1200">
              <a:latin typeface="Arial MT"/>
              <a:cs typeface="Arial MT"/>
            </a:endParaRPr>
          </a:p>
          <a:p>
            <a:pPr lvl="1" marL="469900" indent="-229235">
              <a:lnSpc>
                <a:spcPct val="100000"/>
              </a:lnSpc>
              <a:spcBef>
                <a:spcPts val="98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stage,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rewards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are</a:t>
            </a:r>
            <a:r>
              <a:rPr dirty="0" sz="1200" spc="-5" b="1">
                <a:latin typeface="Arial"/>
                <a:cs typeface="Arial"/>
              </a:rPr>
              <a:t> less effective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than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intrinsic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motivation.</a:t>
            </a:r>
            <a:endParaRPr sz="120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60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Rewards</a:t>
            </a:r>
            <a:r>
              <a:rPr dirty="0" sz="1200" b="1">
                <a:latin typeface="Arial"/>
                <a:cs typeface="Arial"/>
              </a:rPr>
              <a:t> for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undermine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intrinsic </a:t>
            </a:r>
            <a:r>
              <a:rPr dirty="0" sz="1200" b="1">
                <a:latin typeface="Arial"/>
                <a:cs typeface="Arial"/>
              </a:rPr>
              <a:t>motivation.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844478"/>
            <a:ext cx="6852284" cy="746633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400" spc="-5" b="1">
                <a:latin typeface="Arial"/>
                <a:cs typeface="Arial"/>
              </a:rPr>
              <a:t>Productive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Learning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Community:</a:t>
            </a:r>
            <a:endParaRPr sz="1400">
              <a:latin typeface="Arial"/>
              <a:cs typeface="Arial"/>
            </a:endParaRPr>
          </a:p>
          <a:p>
            <a:pPr algn="just" marL="18415" marR="466090" indent="-6350">
              <a:lnSpc>
                <a:spcPts val="2080"/>
              </a:lnSpc>
              <a:spcBef>
                <a:spcPts val="85"/>
              </a:spcBef>
            </a:pPr>
            <a:r>
              <a:rPr dirty="0" sz="1200" spc="-5">
                <a:latin typeface="Arial MT"/>
                <a:cs typeface="Arial MT"/>
              </a:rPr>
              <a:t>Teachers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not motivate individual students </a:t>
            </a:r>
            <a:r>
              <a:rPr dirty="0" sz="1200">
                <a:latin typeface="Arial MT"/>
                <a:cs typeface="Arial MT"/>
              </a:rPr>
              <a:t>rather </a:t>
            </a:r>
            <a:r>
              <a:rPr dirty="0" sz="1200" spc="-5">
                <a:latin typeface="Arial MT"/>
                <a:cs typeface="Arial MT"/>
              </a:rPr>
              <a:t>there should </a:t>
            </a:r>
            <a:r>
              <a:rPr dirty="0" sz="1200" spc="-10">
                <a:latin typeface="Arial MT"/>
                <a:cs typeface="Arial MT"/>
              </a:rPr>
              <a:t>be </a:t>
            </a:r>
            <a:r>
              <a:rPr dirty="0" sz="1200" spc="-5">
                <a:latin typeface="Arial MT"/>
                <a:cs typeface="Arial MT"/>
              </a:rPr>
              <a:t>collective motivation, so </a:t>
            </a:r>
            <a:r>
              <a:rPr dirty="0" sz="1200">
                <a:latin typeface="Arial MT"/>
                <a:cs typeface="Arial MT"/>
              </a:rPr>
              <a:t> that the whole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 becomes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community.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community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something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where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producing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ultimately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good </a:t>
            </a:r>
            <a:r>
              <a:rPr dirty="0" sz="1200">
                <a:latin typeface="Arial MT"/>
                <a:cs typeface="Arial MT"/>
              </a:rPr>
              <a:t>results.</a:t>
            </a:r>
            <a:endParaRPr sz="1200">
              <a:latin typeface="Arial MT"/>
              <a:cs typeface="Arial MT"/>
            </a:endParaRPr>
          </a:p>
          <a:p>
            <a:pPr algn="just" marL="469900" marR="5080" indent="-229235">
              <a:lnSpc>
                <a:spcPts val="2050"/>
              </a:lnSpc>
              <a:spcBef>
                <a:spcPts val="35"/>
              </a:spcBef>
              <a:buFont typeface="Times New Roman"/>
              <a:buChar char="-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productive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community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characterized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by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overall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climate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which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 </a:t>
            </a:r>
            <a:r>
              <a:rPr dirty="0" sz="1200" spc="-3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feel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positive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about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themselves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their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peers,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individual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needs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satisfied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so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persist in </a:t>
            </a:r>
            <a:r>
              <a:rPr dirty="0" sz="1200" spc="-5" b="1">
                <a:latin typeface="Arial"/>
                <a:cs typeface="Arial"/>
              </a:rPr>
              <a:t>academic </a:t>
            </a:r>
            <a:r>
              <a:rPr dirty="0" sz="1200" spc="-10" b="1">
                <a:latin typeface="Arial"/>
                <a:cs typeface="Arial"/>
              </a:rPr>
              <a:t>tasks </a:t>
            </a:r>
            <a:r>
              <a:rPr dirty="0" sz="1200" b="1">
                <a:latin typeface="Arial"/>
                <a:cs typeface="Arial"/>
              </a:rPr>
              <a:t>and work cooperatively with </a:t>
            </a:r>
            <a:r>
              <a:rPr dirty="0" sz="1200" spc="-5" b="1">
                <a:latin typeface="Arial"/>
                <a:cs typeface="Arial"/>
              </a:rPr>
              <a:t>the teacher,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students </a:t>
            </a:r>
            <a:r>
              <a:rPr dirty="0" sz="1200" spc="-10" b="1">
                <a:latin typeface="Arial"/>
                <a:cs typeface="Arial"/>
              </a:rPr>
              <a:t>have </a:t>
            </a:r>
            <a:r>
              <a:rPr dirty="0" sz="1200" spc="-5" b="1">
                <a:latin typeface="Arial"/>
                <a:cs typeface="Arial"/>
              </a:rPr>
              <a:t> the</a:t>
            </a:r>
            <a:r>
              <a:rPr dirty="0" sz="1200" b="1">
                <a:latin typeface="Arial"/>
                <a:cs typeface="Arial"/>
              </a:rPr>
              <a:t> requisite</a:t>
            </a:r>
            <a:r>
              <a:rPr dirty="0" sz="1200" spc="-5" b="1">
                <a:latin typeface="Arial"/>
                <a:cs typeface="Arial"/>
              </a:rPr>
              <a:t> interpersonal</a:t>
            </a:r>
            <a:r>
              <a:rPr dirty="0" sz="1200" b="1">
                <a:latin typeface="Arial"/>
                <a:cs typeface="Arial"/>
              </a:rPr>
              <a:t> 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group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skills</a:t>
            </a:r>
            <a:r>
              <a:rPr dirty="0" sz="1200" b="1">
                <a:latin typeface="Arial"/>
                <a:cs typeface="Arial"/>
              </a:rPr>
              <a:t> 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meet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demands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 </a:t>
            </a:r>
            <a:r>
              <a:rPr dirty="0" sz="1200" spc="-5" b="1">
                <a:latin typeface="Arial"/>
                <a:cs typeface="Arial"/>
              </a:rPr>
              <a:t>classroom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life.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Char char="-"/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5" b="1">
                <a:latin typeface="Arial"/>
                <a:cs typeface="Arial"/>
              </a:rPr>
              <a:t>Features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of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classrooms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for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students’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motivation:</a:t>
            </a:r>
            <a:endParaRPr sz="1400">
              <a:latin typeface="Arial"/>
              <a:cs typeface="Arial"/>
            </a:endParaRPr>
          </a:p>
          <a:p>
            <a:pPr marL="469900" marR="7620" indent="-229235">
              <a:lnSpc>
                <a:spcPts val="2070"/>
              </a:lnSpc>
              <a:spcBef>
                <a:spcPts val="9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Three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important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features</a:t>
            </a:r>
            <a:r>
              <a:rPr dirty="0" sz="1200" spc="6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help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us</a:t>
            </a:r>
            <a:r>
              <a:rPr dirty="0" sz="1200" spc="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understand</a:t>
            </a:r>
            <a:r>
              <a:rPr dirty="0" sz="1200" spc="5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communities</a:t>
            </a:r>
            <a:r>
              <a:rPr dirty="0" sz="1200" spc="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include </a:t>
            </a:r>
            <a:r>
              <a:rPr dirty="0" sz="1200" spc="-3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processes,</a:t>
            </a:r>
            <a:r>
              <a:rPr dirty="0" sz="1200" b="1">
                <a:latin typeface="Arial"/>
                <a:cs typeface="Arial"/>
              </a:rPr>
              <a:t> and </a:t>
            </a:r>
            <a:r>
              <a:rPr dirty="0" sz="1200" spc="-5" b="1">
                <a:latin typeface="Arial"/>
                <a:cs typeface="Arial"/>
              </a:rPr>
              <a:t>classroom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structures.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47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Classroom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properties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distinctive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features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10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classrooms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that</a:t>
            </a:r>
            <a:r>
              <a:rPr dirty="0" sz="1200" spc="1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help</a:t>
            </a:r>
            <a:r>
              <a:rPr dirty="0" sz="1200" spc="114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shape</a:t>
            </a:r>
            <a:r>
              <a:rPr dirty="0" sz="1200" spc="1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behavior.</a:t>
            </a:r>
            <a:endParaRPr sz="1200">
              <a:latin typeface="Arial"/>
              <a:cs typeface="Arial"/>
            </a:endParaRPr>
          </a:p>
          <a:p>
            <a:pPr marL="469900" marR="5715">
              <a:lnSpc>
                <a:spcPct val="141700"/>
              </a:lnSpc>
              <a:spcBef>
                <a:spcPts val="10"/>
              </a:spcBef>
            </a:pPr>
            <a:r>
              <a:rPr dirty="0" sz="1200" spc="-5" b="1">
                <a:latin typeface="Arial"/>
                <a:cs typeface="Arial"/>
              </a:rPr>
              <a:t>These</a:t>
            </a:r>
            <a:r>
              <a:rPr dirty="0" sz="1200" spc="1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include</a:t>
            </a:r>
            <a:r>
              <a:rPr dirty="0" sz="1200" spc="1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six</a:t>
            </a:r>
            <a:r>
              <a:rPr dirty="0" sz="1200" spc="19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important</a:t>
            </a:r>
            <a:r>
              <a:rPr dirty="0" sz="1200" spc="1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properties:</a:t>
            </a:r>
            <a:r>
              <a:rPr dirty="0" sz="1200" spc="1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multidimensionality,</a:t>
            </a:r>
            <a:r>
              <a:rPr dirty="0" sz="1200" spc="1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simultaneity,</a:t>
            </a:r>
            <a:r>
              <a:rPr dirty="0" sz="1200" spc="1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immediacy, </a:t>
            </a:r>
            <a:r>
              <a:rPr dirty="0" sz="1200" spc="-3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unpredictability,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publicness,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history.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 properties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influence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life.</a:t>
            </a:r>
            <a:endParaRPr sz="1200">
              <a:latin typeface="Arial MT"/>
              <a:cs typeface="Arial MT"/>
            </a:endParaRPr>
          </a:p>
          <a:p>
            <a:pPr marL="469900" marR="5715" indent="-229235">
              <a:lnSpc>
                <a:spcPct val="143300"/>
              </a:lnSpc>
              <a:spcBef>
                <a:spcPts val="5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Cla</a:t>
            </a:r>
            <a:r>
              <a:rPr dirty="0" sz="1200" spc="-5" b="1">
                <a:latin typeface="Arial"/>
                <a:cs typeface="Arial"/>
              </a:rPr>
              <a:t>ss</a:t>
            </a:r>
            <a:r>
              <a:rPr dirty="0" sz="1200" spc="-5" b="1">
                <a:latin typeface="Arial"/>
                <a:cs typeface="Arial"/>
              </a:rPr>
              <a:t>room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</a:t>
            </a:r>
            <a:r>
              <a:rPr dirty="0" sz="1200" spc="-10" b="1">
                <a:latin typeface="Arial"/>
                <a:cs typeface="Arial"/>
              </a:rPr>
              <a:t>c</a:t>
            </a:r>
            <a:r>
              <a:rPr dirty="0" sz="1200" spc="-5" b="1">
                <a:latin typeface="Arial"/>
                <a:cs typeface="Arial"/>
              </a:rPr>
              <a:t>es</a:t>
            </a:r>
            <a:r>
              <a:rPr dirty="0" sz="1200" spc="-15" b="1">
                <a:latin typeface="Arial"/>
                <a:cs typeface="Arial"/>
              </a:rPr>
              <a:t>se</a:t>
            </a:r>
            <a:r>
              <a:rPr dirty="0" sz="1200" spc="-5" b="1">
                <a:latin typeface="Arial"/>
                <a:cs typeface="Arial"/>
              </a:rPr>
              <a:t>s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define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interpe</a:t>
            </a:r>
            <a:r>
              <a:rPr dirty="0" sz="1200" spc="-5" b="1">
                <a:latin typeface="Arial"/>
                <a:cs typeface="Arial"/>
              </a:rPr>
              <a:t>rs</a:t>
            </a:r>
            <a:r>
              <a:rPr dirty="0" sz="1200" b="1">
                <a:latin typeface="Arial"/>
                <a:cs typeface="Arial"/>
              </a:rPr>
              <a:t>o</a:t>
            </a:r>
            <a:r>
              <a:rPr dirty="0" sz="1200" spc="-15" b="1">
                <a:latin typeface="Arial"/>
                <a:cs typeface="Arial"/>
              </a:rPr>
              <a:t>n</a:t>
            </a:r>
            <a:r>
              <a:rPr dirty="0" sz="1200" spc="-1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l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nd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group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fea</a:t>
            </a:r>
            <a:r>
              <a:rPr dirty="0" sz="1200" b="1">
                <a:latin typeface="Arial"/>
                <a:cs typeface="Arial"/>
              </a:rPr>
              <a:t>t</a:t>
            </a:r>
            <a:r>
              <a:rPr dirty="0" sz="1200" spc="-5" b="1">
                <a:latin typeface="Arial"/>
                <a:cs typeface="Arial"/>
              </a:rPr>
              <a:t>u</a:t>
            </a:r>
            <a:r>
              <a:rPr dirty="0" sz="1200" spc="-5" b="1">
                <a:latin typeface="Arial"/>
                <a:cs typeface="Arial"/>
              </a:rPr>
              <a:t>res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</a:t>
            </a:r>
            <a:r>
              <a:rPr dirty="0" sz="1200" b="1">
                <a:latin typeface="Arial"/>
                <a:cs typeface="Arial"/>
              </a:rPr>
              <a:t>l</a:t>
            </a:r>
            <a:r>
              <a:rPr dirty="0" sz="1200" spc="5" b="1">
                <a:latin typeface="Arial"/>
                <a:cs typeface="Arial"/>
              </a:rPr>
              <a:t>a</a:t>
            </a:r>
            <a:r>
              <a:rPr dirty="0" sz="1200" spc="-5" b="1">
                <a:latin typeface="Arial"/>
                <a:cs typeface="Arial"/>
              </a:rPr>
              <a:t>ss</a:t>
            </a:r>
            <a:r>
              <a:rPr dirty="0" sz="1200" b="1">
                <a:latin typeface="Arial"/>
                <a:cs typeface="Arial"/>
              </a:rPr>
              <a:t>rooms</a:t>
            </a:r>
            <a:r>
              <a:rPr dirty="0" sz="1200" spc="-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nd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include  </a:t>
            </a:r>
            <a:r>
              <a:rPr dirty="0" sz="1200" b="1">
                <a:latin typeface="Arial"/>
                <a:cs typeface="Arial"/>
              </a:rPr>
              <a:t>friendship, </a:t>
            </a:r>
            <a:r>
              <a:rPr dirty="0" sz="1200" spc="-5" b="1">
                <a:latin typeface="Arial"/>
                <a:cs typeface="Arial"/>
              </a:rPr>
              <a:t>expectations,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leadership,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norms,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communication,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10"/>
              </a:spcBef>
            </a:pPr>
            <a:r>
              <a:rPr dirty="0" sz="1200" spc="-5" b="1">
                <a:latin typeface="Arial"/>
                <a:cs typeface="Arial"/>
              </a:rPr>
              <a:t>cohesiveness.</a:t>
            </a:r>
            <a:endParaRPr sz="1200">
              <a:latin typeface="Arial"/>
              <a:cs typeface="Arial"/>
            </a:endParaRPr>
          </a:p>
          <a:p>
            <a:pPr algn="just" marL="469900" marR="5715" indent="-229235">
              <a:lnSpc>
                <a:spcPct val="142500"/>
              </a:lnSpc>
              <a:buFont typeface="Times New Roman"/>
              <a:buChar char="-"/>
              <a:tabLst>
                <a:tab pos="470534" algn="l"/>
              </a:tabLst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Classroom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structures </a:t>
            </a:r>
            <a:r>
              <a:rPr dirty="0" sz="1200" spc="-5" b="1">
                <a:latin typeface="Arial"/>
                <a:cs typeface="Arial"/>
              </a:rPr>
              <a:t>are the foundations that </a:t>
            </a:r>
            <a:r>
              <a:rPr dirty="0" sz="1200" b="1">
                <a:latin typeface="Arial"/>
                <a:cs typeface="Arial"/>
              </a:rPr>
              <a:t>shape </a:t>
            </a:r>
            <a:r>
              <a:rPr dirty="0" sz="1200" spc="-5" b="1">
                <a:latin typeface="Arial"/>
                <a:cs typeface="Arial"/>
              </a:rPr>
              <a:t>particular lessons </a:t>
            </a:r>
            <a:r>
              <a:rPr dirty="0" sz="1200" b="1">
                <a:latin typeface="Arial"/>
                <a:cs typeface="Arial"/>
              </a:rPr>
              <a:t>and </a:t>
            </a:r>
            <a:r>
              <a:rPr dirty="0" sz="1200" spc="-5" b="1">
                <a:latin typeface="Arial"/>
                <a:cs typeface="Arial"/>
              </a:rPr>
              <a:t>behaviors </a:t>
            </a:r>
            <a:r>
              <a:rPr dirty="0" sz="1200" b="1">
                <a:latin typeface="Arial"/>
                <a:cs typeface="Arial"/>
              </a:rPr>
              <a:t> during </a:t>
            </a:r>
            <a:r>
              <a:rPr dirty="0" sz="1200" spc="-5" b="1">
                <a:latin typeface="Arial"/>
                <a:cs typeface="Arial"/>
              </a:rPr>
              <a:t>those lessons. Three </a:t>
            </a:r>
            <a:r>
              <a:rPr dirty="0" sz="1200" b="1">
                <a:latin typeface="Arial"/>
                <a:cs typeface="Arial"/>
              </a:rPr>
              <a:t>important </a:t>
            </a:r>
            <a:r>
              <a:rPr dirty="0" sz="1200" spc="-5" b="1">
                <a:latin typeface="Arial"/>
                <a:cs typeface="Arial"/>
              </a:rPr>
              <a:t>structures include task, </a:t>
            </a:r>
            <a:r>
              <a:rPr dirty="0" sz="1200" b="1">
                <a:latin typeface="Arial"/>
                <a:cs typeface="Arial"/>
              </a:rPr>
              <a:t>goal, and </a:t>
            </a:r>
            <a:r>
              <a:rPr dirty="0" sz="1200" spc="-5" b="1">
                <a:latin typeface="Arial"/>
                <a:cs typeface="Arial"/>
              </a:rPr>
              <a:t>participation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structure.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1400" spc="-5" b="1">
                <a:latin typeface="Arial"/>
                <a:cs typeface="Arial"/>
              </a:rPr>
              <a:t>Motivation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strategies:</a:t>
            </a:r>
            <a:endParaRPr sz="1400">
              <a:latin typeface="Arial"/>
              <a:cs typeface="Arial"/>
            </a:endParaRPr>
          </a:p>
          <a:p>
            <a:pPr algn="just" marL="18415" indent="-6350">
              <a:lnSpc>
                <a:spcPct val="100000"/>
              </a:lnSpc>
              <a:spcBef>
                <a:spcPts val="560"/>
              </a:spcBef>
            </a:pP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4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use</a:t>
            </a:r>
            <a:r>
              <a:rPr dirty="0" sz="1200" spc="43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43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variety</a:t>
            </a:r>
            <a:r>
              <a:rPr dirty="0" sz="1200" spc="43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4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motivational</a:t>
            </a:r>
            <a:r>
              <a:rPr dirty="0" sz="1200" spc="4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strategies</a:t>
            </a:r>
            <a:r>
              <a:rPr dirty="0" sz="1200" spc="43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4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4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classes.</a:t>
            </a:r>
            <a:r>
              <a:rPr dirty="0" sz="1200" spc="43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43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includes</a:t>
            </a:r>
            <a:r>
              <a:rPr dirty="0" sz="1200" spc="4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</a:t>
            </a:r>
            <a:endParaRPr sz="1200">
              <a:latin typeface="Arial MT"/>
              <a:cs typeface="Arial MT"/>
            </a:endParaRPr>
          </a:p>
          <a:p>
            <a:pPr algn="just" marL="18415" marR="471805">
              <a:lnSpc>
                <a:spcPct val="143800"/>
              </a:lnSpc>
              <a:spcBef>
                <a:spcPts val="5"/>
              </a:spcBef>
            </a:pPr>
            <a:r>
              <a:rPr dirty="0" sz="1200" spc="-5">
                <a:latin typeface="Arial MT"/>
                <a:cs typeface="Arial MT"/>
              </a:rPr>
              <a:t>modification strategies,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identify individual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needs,</a:t>
            </a:r>
            <a:r>
              <a:rPr dirty="0" sz="1200" spc="-5">
                <a:latin typeface="Arial MT"/>
                <a:cs typeface="Arial MT"/>
              </a:rPr>
              <a:t> teachers model </a:t>
            </a:r>
            <a:r>
              <a:rPr dirty="0" sz="1200">
                <a:latin typeface="Arial MT"/>
                <a:cs typeface="Arial MT"/>
              </a:rPr>
              <a:t>them,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sometimes case studies are given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them so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they can reflect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them and their cognition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improved.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572" y="8705977"/>
            <a:ext cx="6979920" cy="393700"/>
          </a:xfrm>
          <a:prstGeom prst="rect">
            <a:avLst/>
          </a:prstGeom>
          <a:solidFill>
            <a:srgbClr val="006FC0"/>
          </a:solidFill>
          <a:ln w="6095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 #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43</a:t>
            </a:r>
            <a:r>
              <a:rPr dirty="0" sz="16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“Teaching</a:t>
            </a:r>
            <a:r>
              <a:rPr dirty="0" sz="18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 for 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Motivation”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9341358"/>
            <a:ext cx="3250565" cy="2430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Lesson</a:t>
            </a:r>
            <a:r>
              <a:rPr dirty="0" u="heavy" sz="1200" spc="-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Content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Motivation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 learning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Teacher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 decision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maker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instruction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Addressing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diverse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needs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4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MAT model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 learning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Assessing students’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start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small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 motivation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200" b="1">
                <a:latin typeface="Arial"/>
                <a:cs typeface="Arial"/>
              </a:rPr>
              <a:t>Quiz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574039"/>
            <a:ext cx="6583680" cy="876363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200" spc="-5">
                <a:latin typeface="Arial MT"/>
                <a:cs typeface="Arial MT"/>
              </a:rPr>
              <a:t>Teachers are</a:t>
            </a:r>
            <a:r>
              <a:rPr dirty="0" sz="1200">
                <a:latin typeface="Arial MT"/>
                <a:cs typeface="Arial MT"/>
              </a:rPr>
              <a:t> most </a:t>
            </a:r>
            <a:r>
              <a:rPr dirty="0" sz="1200" spc="-5">
                <a:latin typeface="Arial MT"/>
                <a:cs typeface="Arial MT"/>
              </a:rPr>
              <a:t>likely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build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communities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--------.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50"/>
              </a:spcBef>
              <a:buFont typeface="Times New Roman"/>
              <a:buAutoNum type="alphaLcParenR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variety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motivational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strategies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75"/>
              </a:spcBef>
              <a:buFont typeface="Times New Roman"/>
              <a:buAutoNum type="alphaLcParenR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Relying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positive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negative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reinforcement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45"/>
              </a:spcBef>
              <a:buFont typeface="Times New Roman"/>
              <a:buAutoNum type="alphaLcParenR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Avoiding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overemphasis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intrinsic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rewards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675"/>
              </a:spcBef>
              <a:buFont typeface="Times New Roman"/>
              <a:buAutoNum type="alphaLcParenR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Focusing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 individual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“A”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option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correct option.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Features</a:t>
            </a:r>
            <a:r>
              <a:rPr dirty="0" sz="1200" b="1">
                <a:latin typeface="Arial"/>
                <a:cs typeface="Arial"/>
              </a:rPr>
              <a:t> 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classrooms</a:t>
            </a:r>
            <a:r>
              <a:rPr dirty="0" sz="1200" b="1">
                <a:latin typeface="Arial"/>
                <a:cs typeface="Arial"/>
              </a:rPr>
              <a:t> for </a:t>
            </a:r>
            <a:r>
              <a:rPr dirty="0" sz="1200" spc="-5" b="1">
                <a:latin typeface="Arial"/>
                <a:cs typeface="Arial"/>
              </a:rPr>
              <a:t>students’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motivation</a:t>
            </a:r>
            <a:endParaRPr sz="1200">
              <a:latin typeface="Arial"/>
              <a:cs typeface="Arial"/>
            </a:endParaRPr>
          </a:p>
          <a:p>
            <a:pPr algn="just" marL="462280" indent="-229235">
              <a:lnSpc>
                <a:spcPct val="100000"/>
              </a:lnSpc>
              <a:spcBef>
                <a:spcPts val="795"/>
              </a:spcBef>
              <a:buFont typeface="Calibri"/>
              <a:buChar char="-"/>
              <a:tabLst>
                <a:tab pos="462915" algn="l"/>
                <a:tab pos="4585335" algn="l"/>
              </a:tabLst>
            </a:pPr>
            <a:r>
              <a:rPr dirty="0" sz="1200" spc="-5">
                <a:latin typeface="Arial MT"/>
                <a:cs typeface="Arial MT"/>
              </a:rPr>
              <a:t>Some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 spc="540">
                <a:latin typeface="Arial MT"/>
                <a:cs typeface="Arial MT"/>
              </a:rPr>
              <a:t> </a:t>
            </a:r>
            <a:r>
              <a:rPr dirty="0" sz="1200" spc="5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features</a:t>
            </a:r>
            <a:r>
              <a:rPr dirty="0" sz="1200" spc="390">
                <a:latin typeface="Arial MT"/>
                <a:cs typeface="Arial MT"/>
              </a:rPr>
              <a:t>   </a:t>
            </a:r>
            <a:r>
              <a:rPr dirty="0" sz="1200" spc="3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509">
                <a:latin typeface="Arial MT"/>
                <a:cs typeface="Arial MT"/>
              </a:rPr>
              <a:t> </a:t>
            </a:r>
            <a:r>
              <a:rPr dirty="0" sz="1200" spc="509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430">
                <a:latin typeface="Arial MT"/>
                <a:cs typeface="Arial MT"/>
              </a:rPr>
              <a:t>  </a:t>
            </a:r>
            <a:r>
              <a:rPr dirty="0" sz="1200" spc="434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altered	by</a:t>
            </a:r>
            <a:r>
              <a:rPr dirty="0" sz="1200" spc="430">
                <a:latin typeface="Arial MT"/>
                <a:cs typeface="Arial MT"/>
              </a:rPr>
              <a:t>  </a:t>
            </a:r>
            <a:r>
              <a:rPr dirty="0" sz="1200" spc="434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   </a:t>
            </a:r>
            <a:r>
              <a:rPr dirty="0" sz="1200" spc="2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teacher;</a:t>
            </a:r>
            <a:endParaRPr sz="1200">
              <a:latin typeface="Arial MT"/>
              <a:cs typeface="Arial MT"/>
            </a:endParaRPr>
          </a:p>
          <a:p>
            <a:pPr algn="just" marL="462280" marR="11430" indent="7620">
              <a:lnSpc>
                <a:spcPct val="143300"/>
              </a:lnSpc>
              <a:tabLst>
                <a:tab pos="1384300" algn="l"/>
              </a:tabLst>
            </a:pPr>
            <a:r>
              <a:rPr dirty="0" sz="1200">
                <a:latin typeface="Arial MT"/>
                <a:cs typeface="Arial MT"/>
              </a:rPr>
              <a:t>others	</a:t>
            </a:r>
            <a:r>
              <a:rPr dirty="0" sz="1200" spc="-5">
                <a:latin typeface="Arial MT"/>
                <a:cs typeface="Arial MT"/>
              </a:rPr>
              <a:t>cannot. Multidimensionality and immediacy cannot be influenced readily by </a:t>
            </a:r>
            <a:r>
              <a:rPr dirty="0" sz="1200">
                <a:latin typeface="Arial MT"/>
                <a:cs typeface="Arial MT"/>
              </a:rPr>
              <a:t> the </a:t>
            </a:r>
            <a:r>
              <a:rPr dirty="0" sz="1200" spc="-5">
                <a:latin typeface="Arial MT"/>
                <a:cs typeface="Arial MT"/>
              </a:rPr>
              <a:t>teacher.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multidimensional</a:t>
            </a:r>
            <a:r>
              <a:rPr dirty="0" sz="1200">
                <a:latin typeface="Arial MT"/>
                <a:cs typeface="Arial MT"/>
              </a:rPr>
              <a:t> place.</a:t>
            </a:r>
            <a:endParaRPr sz="1200">
              <a:latin typeface="Arial MT"/>
              <a:cs typeface="Arial MT"/>
            </a:endParaRPr>
          </a:p>
          <a:p>
            <a:pPr algn="just" marL="462280" marR="10160" indent="-229235">
              <a:lnSpc>
                <a:spcPct val="144300"/>
              </a:lnSpc>
              <a:spcBef>
                <a:spcPts val="10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Group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processes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goal,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task,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reward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participation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structures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directly under the teachers’ control. Teacher’s expectations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extrinsic. Expectations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external</a:t>
            </a:r>
            <a:r>
              <a:rPr dirty="0" sz="1200" spc="-5">
                <a:latin typeface="Arial MT"/>
                <a:cs typeface="Arial MT"/>
              </a:rPr>
              <a:t> while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personal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goals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internal.</a:t>
            </a:r>
            <a:endParaRPr sz="1200">
              <a:latin typeface="Arial MT"/>
              <a:cs typeface="Arial MT"/>
            </a:endParaRPr>
          </a:p>
          <a:p>
            <a:pPr algn="just" marL="462280" marR="12065" indent="-229235">
              <a:lnSpc>
                <a:spcPct val="144200"/>
              </a:lnSpc>
              <a:spcBef>
                <a:spcPts val="3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Studies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uncovered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relationships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practices,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engagement,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academic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achievement.</a:t>
            </a:r>
            <a:endParaRPr sz="1200">
              <a:latin typeface="Arial MT"/>
              <a:cs typeface="Arial MT"/>
            </a:endParaRPr>
          </a:p>
          <a:p>
            <a:pPr algn="just" marL="462280" marR="10160" indent="-229235">
              <a:lnSpc>
                <a:spcPct val="144200"/>
              </a:lnSpc>
              <a:spcBef>
                <a:spcPts val="3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general, students </a:t>
            </a:r>
            <a:r>
              <a:rPr dirty="0" sz="1200">
                <a:latin typeface="Arial MT"/>
                <a:cs typeface="Arial MT"/>
              </a:rPr>
              <a:t>react more </a:t>
            </a:r>
            <a:r>
              <a:rPr dirty="0" sz="1200" spc="-5">
                <a:latin typeface="Arial MT"/>
                <a:cs typeface="Arial MT"/>
              </a:rPr>
              <a:t>positively and persist in academic </a:t>
            </a:r>
            <a:r>
              <a:rPr dirty="0" sz="1200">
                <a:latin typeface="Arial MT"/>
                <a:cs typeface="Arial MT"/>
              </a:rPr>
              <a:t>tasks </a:t>
            </a:r>
            <a:r>
              <a:rPr dirty="0" sz="1200" spc="-5">
                <a:latin typeface="Arial MT"/>
                <a:cs typeface="Arial MT"/>
              </a:rPr>
              <a:t>in classrooms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characterized by democratic as opposed to </a:t>
            </a:r>
            <a:r>
              <a:rPr dirty="0" sz="1200">
                <a:latin typeface="Arial MT"/>
                <a:cs typeface="Arial MT"/>
              </a:rPr>
              <a:t>authoritarian </a:t>
            </a:r>
            <a:r>
              <a:rPr dirty="0" sz="1200" spc="-5">
                <a:latin typeface="Arial MT"/>
                <a:cs typeface="Arial MT"/>
              </a:rPr>
              <a:t>processes, in classrooms where </a:t>
            </a:r>
            <a:r>
              <a:rPr dirty="0" sz="1200">
                <a:latin typeface="Arial MT"/>
                <a:cs typeface="Arial MT"/>
              </a:rPr>
              <a:t> learning </a:t>
            </a:r>
            <a:r>
              <a:rPr dirty="0" sz="1200" spc="-5">
                <a:latin typeface="Arial MT"/>
                <a:cs typeface="Arial MT"/>
              </a:rPr>
              <a:t>activities are interesting and challenging.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 control is authoritative process.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democratic process children are involved. Children work together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solve the problems. </a:t>
            </a:r>
            <a:r>
              <a:rPr dirty="0" sz="1200">
                <a:latin typeface="Arial MT"/>
                <a:cs typeface="Arial MT"/>
              </a:rPr>
              <a:t> In </a:t>
            </a:r>
            <a:r>
              <a:rPr dirty="0" sz="1200" spc="-5">
                <a:latin typeface="Arial MT"/>
                <a:cs typeface="Arial MT"/>
              </a:rPr>
              <a:t>this process </a:t>
            </a:r>
            <a:r>
              <a:rPr dirty="0" sz="1200">
                <a:latin typeface="Arial MT"/>
                <a:cs typeface="Arial MT"/>
              </a:rPr>
              <a:t>every </a:t>
            </a:r>
            <a:r>
              <a:rPr dirty="0" sz="1200" spc="-5">
                <a:latin typeface="Arial MT"/>
                <a:cs typeface="Arial MT"/>
              </a:rPr>
              <a:t>child </a:t>
            </a:r>
            <a:r>
              <a:rPr dirty="0" sz="1200">
                <a:latin typeface="Arial MT"/>
                <a:cs typeface="Arial MT"/>
              </a:rPr>
              <a:t>has his </a:t>
            </a:r>
            <a:r>
              <a:rPr dirty="0" sz="1200" spc="-5">
                <a:latin typeface="Arial MT"/>
                <a:cs typeface="Arial MT"/>
              </a:rPr>
              <a:t>own role. In </a:t>
            </a:r>
            <a:r>
              <a:rPr dirty="0" sz="1200">
                <a:latin typeface="Arial MT"/>
                <a:cs typeface="Arial MT"/>
              </a:rPr>
              <a:t>schools </a:t>
            </a:r>
            <a:r>
              <a:rPr dirty="0" sz="1200" spc="-5">
                <a:latin typeface="Arial MT"/>
                <a:cs typeface="Arial MT"/>
              </a:rPr>
              <a:t>teacher may involve the students in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process.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while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making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timetable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may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their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suggestions.</a:t>
            </a:r>
            <a:endParaRPr sz="1200">
              <a:latin typeface="Arial MT"/>
              <a:cs typeface="Arial MT"/>
            </a:endParaRPr>
          </a:p>
          <a:p>
            <a:pPr algn="just" marL="462280" marR="5080" indent="-229235">
              <a:lnSpc>
                <a:spcPct val="144200"/>
              </a:lnSpc>
              <a:spcBef>
                <a:spcPts val="3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Influence </a:t>
            </a:r>
            <a:r>
              <a:rPr dirty="0" sz="1200" spc="-1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classrooms does not flow </a:t>
            </a:r>
            <a:r>
              <a:rPr dirty="0" sz="1200">
                <a:latin typeface="Arial MT"/>
                <a:cs typeface="Arial MT"/>
              </a:rPr>
              <a:t>just from the </a:t>
            </a:r>
            <a:r>
              <a:rPr dirty="0" sz="1200" spc="-5">
                <a:latin typeface="Arial MT"/>
                <a:cs typeface="Arial MT"/>
              </a:rPr>
              <a:t>teacher. Studies show that students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influence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each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and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also.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Peers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great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motivational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support.</a:t>
            </a:r>
            <a:endParaRPr sz="1200">
              <a:latin typeface="Arial MT"/>
              <a:cs typeface="Arial MT"/>
            </a:endParaRPr>
          </a:p>
          <a:p>
            <a:pPr algn="just" marL="462280" marR="7620" indent="-229235">
              <a:lnSpc>
                <a:spcPct val="144200"/>
              </a:lnSpc>
              <a:spcBef>
                <a:spcPts val="3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Effective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productive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communities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focusing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things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altered, such as increasing student motivation </a:t>
            </a:r>
            <a:r>
              <a:rPr dirty="0" sz="1200" spc="5">
                <a:latin typeface="Arial MT"/>
                <a:cs typeface="Arial MT"/>
              </a:rPr>
              <a:t>and </a:t>
            </a:r>
            <a:r>
              <a:rPr dirty="0" sz="1200" spc="-5">
                <a:latin typeface="Arial MT"/>
                <a:cs typeface="Arial MT"/>
              </a:rPr>
              <a:t>encouraging group development. </a:t>
            </a:r>
            <a:r>
              <a:rPr dirty="0" sz="1200">
                <a:latin typeface="Arial MT"/>
                <a:cs typeface="Arial MT"/>
              </a:rPr>
              <a:t>there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a range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motivation strategies.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make productive learning communities is </a:t>
            </a:r>
            <a:r>
              <a:rPr dirty="0" sz="1200">
                <a:latin typeface="Arial MT"/>
                <a:cs typeface="Arial MT"/>
              </a:rPr>
              <a:t>itself </a:t>
            </a:r>
            <a:r>
              <a:rPr dirty="0" sz="1200" spc="-5">
                <a:latin typeface="Arial MT"/>
                <a:cs typeface="Arial MT"/>
              </a:rPr>
              <a:t>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motivational strategy. Peer tutoring is another motivational strategy.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provide the option </a:t>
            </a:r>
            <a:r>
              <a:rPr dirty="0" sz="1200">
                <a:latin typeface="Arial MT"/>
                <a:cs typeface="Arial MT"/>
              </a:rPr>
              <a:t> of creativity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 </a:t>
            </a:r>
            <a:r>
              <a:rPr dirty="0" sz="1200">
                <a:latin typeface="Arial MT"/>
                <a:cs typeface="Arial MT"/>
              </a:rPr>
              <a:t>External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rewards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lose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significance </a:t>
            </a:r>
            <a:r>
              <a:rPr dirty="0" sz="1200">
                <a:latin typeface="Arial MT"/>
                <a:cs typeface="Arial MT"/>
              </a:rPr>
              <a:t>after </a:t>
            </a:r>
            <a:r>
              <a:rPr dirty="0" sz="1200" spc="-5">
                <a:latin typeface="Arial MT"/>
                <a:cs typeface="Arial MT"/>
              </a:rPr>
              <a:t>sometime.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Teaching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cycle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4992" y="10751057"/>
            <a:ext cx="2889885" cy="54991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b="1">
                <a:latin typeface="Arial"/>
                <a:cs typeface="Arial"/>
              </a:rPr>
              <a:t>Planning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437515" algn="l"/>
                <a:tab pos="1186815" algn="l"/>
                <a:tab pos="1594485" algn="l"/>
                <a:tab pos="2241550" algn="l"/>
              </a:tabLst>
            </a:pPr>
            <a:r>
              <a:rPr dirty="0" sz="1200">
                <a:latin typeface="Calibri"/>
                <a:cs typeface="Calibri"/>
              </a:rPr>
              <a:t>-	</a:t>
            </a:r>
            <a:r>
              <a:rPr dirty="0" sz="1200" spc="-5">
                <a:latin typeface="Arial MT"/>
                <a:cs typeface="Arial MT"/>
              </a:rPr>
              <a:t>Planning	and	making	decisions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384" y="11275364"/>
            <a:ext cx="6127750" cy="55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41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among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aspects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major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determinants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taught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how 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taught.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9966" y="10178033"/>
            <a:ext cx="5683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P</a:t>
            </a:r>
            <a:r>
              <a:rPr dirty="0" sz="1200" spc="-5">
                <a:latin typeface="Times New Roman"/>
                <a:cs typeface="Times New Roman"/>
              </a:rPr>
              <a:t>lanning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17647" y="10178033"/>
            <a:ext cx="989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Implementation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54935" y="10965942"/>
            <a:ext cx="6851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Evaluation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52345" y="9646793"/>
            <a:ext cx="833755" cy="448309"/>
            <a:chOff x="2252345" y="9646793"/>
            <a:chExt cx="833755" cy="448309"/>
          </a:xfrm>
        </p:grpSpPr>
        <p:sp>
          <p:nvSpPr>
            <p:cNvPr id="10" name="object 10"/>
            <p:cNvSpPr/>
            <p:nvPr/>
          </p:nvSpPr>
          <p:spPr>
            <a:xfrm>
              <a:off x="2264537" y="9660509"/>
              <a:ext cx="807720" cy="421005"/>
            </a:xfrm>
            <a:custGeom>
              <a:avLst/>
              <a:gdLst/>
              <a:ahLst/>
              <a:cxnLst/>
              <a:rect l="l" t="t" r="r" b="b"/>
              <a:pathLst>
                <a:path w="807719" h="421004">
                  <a:moveTo>
                    <a:pt x="384048" y="0"/>
                  </a:moveTo>
                  <a:lnTo>
                    <a:pt x="339309" y="2817"/>
                  </a:lnTo>
                  <a:lnTo>
                    <a:pt x="296073" y="11063"/>
                  </a:lnTo>
                  <a:lnTo>
                    <a:pt x="254630" y="24427"/>
                  </a:lnTo>
                  <a:lnTo>
                    <a:pt x="215270" y="42600"/>
                  </a:lnTo>
                  <a:lnTo>
                    <a:pt x="178283" y="65272"/>
                  </a:lnTo>
                  <a:lnTo>
                    <a:pt x="143958" y="92133"/>
                  </a:lnTo>
                  <a:lnTo>
                    <a:pt x="112585" y="122872"/>
                  </a:lnTo>
                  <a:lnTo>
                    <a:pt x="84455" y="157180"/>
                  </a:lnTo>
                  <a:lnTo>
                    <a:pt x="59857" y="194748"/>
                  </a:lnTo>
                  <a:lnTo>
                    <a:pt x="39081" y="235264"/>
                  </a:lnTo>
                  <a:lnTo>
                    <a:pt x="22418" y="278420"/>
                  </a:lnTo>
                  <a:lnTo>
                    <a:pt x="10157" y="323905"/>
                  </a:lnTo>
                  <a:lnTo>
                    <a:pt x="2587" y="371410"/>
                  </a:lnTo>
                  <a:lnTo>
                    <a:pt x="0" y="420624"/>
                  </a:lnTo>
                  <a:lnTo>
                    <a:pt x="109727" y="420624"/>
                  </a:lnTo>
                  <a:lnTo>
                    <a:pt x="113017" y="372296"/>
                  </a:lnTo>
                  <a:lnTo>
                    <a:pt x="122610" y="326040"/>
                  </a:lnTo>
                  <a:lnTo>
                    <a:pt x="138097" y="282499"/>
                  </a:lnTo>
                  <a:lnTo>
                    <a:pt x="159067" y="242316"/>
                  </a:lnTo>
                  <a:lnTo>
                    <a:pt x="185109" y="206132"/>
                  </a:lnTo>
                  <a:lnTo>
                    <a:pt x="215812" y="174593"/>
                  </a:lnTo>
                  <a:lnTo>
                    <a:pt x="250766" y="148339"/>
                  </a:lnTo>
                  <a:lnTo>
                    <a:pt x="289560" y="128016"/>
                  </a:lnTo>
                  <a:lnTo>
                    <a:pt x="332416" y="114374"/>
                  </a:lnTo>
                  <a:lnTo>
                    <a:pt x="375464" y="108862"/>
                  </a:lnTo>
                  <a:lnTo>
                    <a:pt x="417982" y="111104"/>
                  </a:lnTo>
                  <a:lnTo>
                    <a:pt x="459248" y="120725"/>
                  </a:lnTo>
                  <a:lnTo>
                    <a:pt x="498538" y="137350"/>
                  </a:lnTo>
                  <a:lnTo>
                    <a:pt x="535131" y="160605"/>
                  </a:lnTo>
                  <a:lnTo>
                    <a:pt x="568304" y="190114"/>
                  </a:lnTo>
                  <a:lnTo>
                    <a:pt x="597334" y="225503"/>
                  </a:lnTo>
                  <a:lnTo>
                    <a:pt x="621500" y="266396"/>
                  </a:lnTo>
                  <a:lnTo>
                    <a:pt x="640080" y="312420"/>
                  </a:lnTo>
                  <a:lnTo>
                    <a:pt x="588263" y="312420"/>
                  </a:lnTo>
                  <a:lnTo>
                    <a:pt x="713232" y="420624"/>
                  </a:lnTo>
                  <a:lnTo>
                    <a:pt x="807719" y="312420"/>
                  </a:lnTo>
                  <a:lnTo>
                    <a:pt x="754380" y="312420"/>
                  </a:lnTo>
                  <a:lnTo>
                    <a:pt x="739709" y="263579"/>
                  </a:lnTo>
                  <a:lnTo>
                    <a:pt x="720064" y="217858"/>
                  </a:lnTo>
                  <a:lnTo>
                    <a:pt x="695837" y="175579"/>
                  </a:lnTo>
                  <a:lnTo>
                    <a:pt x="667419" y="137064"/>
                  </a:lnTo>
                  <a:lnTo>
                    <a:pt x="635202" y="102638"/>
                  </a:lnTo>
                  <a:lnTo>
                    <a:pt x="599577" y="72621"/>
                  </a:lnTo>
                  <a:lnTo>
                    <a:pt x="560937" y="47339"/>
                  </a:lnTo>
                  <a:lnTo>
                    <a:pt x="519672" y="27112"/>
                  </a:lnTo>
                  <a:lnTo>
                    <a:pt x="476175" y="12265"/>
                  </a:lnTo>
                  <a:lnTo>
                    <a:pt x="430836" y="3120"/>
                  </a:lnTo>
                  <a:lnTo>
                    <a:pt x="38404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52345" y="9646793"/>
              <a:ext cx="833755" cy="448309"/>
            </a:xfrm>
            <a:custGeom>
              <a:avLst/>
              <a:gdLst/>
              <a:ahLst/>
              <a:cxnLst/>
              <a:rect l="l" t="t" r="r" b="b"/>
              <a:pathLst>
                <a:path w="833755" h="448309">
                  <a:moveTo>
                    <a:pt x="833628" y="326136"/>
                  </a:moveTo>
                  <a:lnTo>
                    <a:pt x="830580" y="321564"/>
                  </a:lnTo>
                  <a:lnTo>
                    <a:pt x="829056" y="316992"/>
                  </a:lnTo>
                  <a:lnTo>
                    <a:pt x="824484" y="313944"/>
                  </a:lnTo>
                  <a:lnTo>
                    <a:pt x="793242" y="313944"/>
                  </a:lnTo>
                  <a:lnTo>
                    <a:pt x="793242" y="338328"/>
                  </a:lnTo>
                  <a:lnTo>
                    <a:pt x="723519" y="416814"/>
                  </a:lnTo>
                  <a:lnTo>
                    <a:pt x="633984" y="338328"/>
                  </a:lnTo>
                  <a:lnTo>
                    <a:pt x="656844" y="338328"/>
                  </a:lnTo>
                  <a:lnTo>
                    <a:pt x="661416" y="336804"/>
                  </a:lnTo>
                  <a:lnTo>
                    <a:pt x="662940" y="333756"/>
                  </a:lnTo>
                  <a:lnTo>
                    <a:pt x="665988" y="330708"/>
                  </a:lnTo>
                  <a:lnTo>
                    <a:pt x="665988" y="326136"/>
                  </a:lnTo>
                  <a:lnTo>
                    <a:pt x="640080" y="263652"/>
                  </a:lnTo>
                  <a:lnTo>
                    <a:pt x="606552" y="213360"/>
                  </a:lnTo>
                  <a:lnTo>
                    <a:pt x="576072" y="181356"/>
                  </a:lnTo>
                  <a:lnTo>
                    <a:pt x="563880" y="172212"/>
                  </a:lnTo>
                  <a:lnTo>
                    <a:pt x="553212" y="163068"/>
                  </a:lnTo>
                  <a:lnTo>
                    <a:pt x="504444" y="134112"/>
                  </a:lnTo>
                  <a:lnTo>
                    <a:pt x="464820" y="118872"/>
                  </a:lnTo>
                  <a:lnTo>
                    <a:pt x="409575" y="109728"/>
                  </a:lnTo>
                  <a:lnTo>
                    <a:pt x="381000" y="109728"/>
                  </a:lnTo>
                  <a:lnTo>
                    <a:pt x="367284" y="111252"/>
                  </a:lnTo>
                  <a:lnTo>
                    <a:pt x="353568" y="114300"/>
                  </a:lnTo>
                  <a:lnTo>
                    <a:pt x="338328" y="115824"/>
                  </a:lnTo>
                  <a:lnTo>
                    <a:pt x="297180" y="129540"/>
                  </a:lnTo>
                  <a:lnTo>
                    <a:pt x="256032" y="150876"/>
                  </a:lnTo>
                  <a:lnTo>
                    <a:pt x="219456" y="178308"/>
                  </a:lnTo>
                  <a:lnTo>
                    <a:pt x="187452" y="211836"/>
                  </a:lnTo>
                  <a:lnTo>
                    <a:pt x="149352" y="269748"/>
                  </a:lnTo>
                  <a:lnTo>
                    <a:pt x="123444" y="336804"/>
                  </a:lnTo>
                  <a:lnTo>
                    <a:pt x="112776" y="384048"/>
                  </a:lnTo>
                  <a:lnTo>
                    <a:pt x="110490" y="422148"/>
                  </a:lnTo>
                  <a:lnTo>
                    <a:pt x="25908" y="422148"/>
                  </a:lnTo>
                  <a:lnTo>
                    <a:pt x="25908" y="413004"/>
                  </a:lnTo>
                  <a:lnTo>
                    <a:pt x="27432" y="391668"/>
                  </a:lnTo>
                  <a:lnTo>
                    <a:pt x="36576" y="332232"/>
                  </a:lnTo>
                  <a:lnTo>
                    <a:pt x="48768" y="292608"/>
                  </a:lnTo>
                  <a:lnTo>
                    <a:pt x="62484" y="256032"/>
                  </a:lnTo>
                  <a:lnTo>
                    <a:pt x="89916" y="205740"/>
                  </a:lnTo>
                  <a:lnTo>
                    <a:pt x="99060" y="188976"/>
                  </a:lnTo>
                  <a:lnTo>
                    <a:pt x="111252" y="173736"/>
                  </a:lnTo>
                  <a:lnTo>
                    <a:pt x="121920" y="158496"/>
                  </a:lnTo>
                  <a:lnTo>
                    <a:pt x="134112" y="144780"/>
                  </a:lnTo>
                  <a:lnTo>
                    <a:pt x="147828" y="131064"/>
                  </a:lnTo>
                  <a:lnTo>
                    <a:pt x="188976" y="94488"/>
                  </a:lnTo>
                  <a:lnTo>
                    <a:pt x="204216" y="83820"/>
                  </a:lnTo>
                  <a:lnTo>
                    <a:pt x="220980" y="74676"/>
                  </a:lnTo>
                  <a:lnTo>
                    <a:pt x="236220" y="65532"/>
                  </a:lnTo>
                  <a:lnTo>
                    <a:pt x="286512" y="44196"/>
                  </a:lnTo>
                  <a:lnTo>
                    <a:pt x="358140" y="27432"/>
                  </a:lnTo>
                  <a:lnTo>
                    <a:pt x="377952" y="25908"/>
                  </a:lnTo>
                  <a:lnTo>
                    <a:pt x="409575" y="25908"/>
                  </a:lnTo>
                  <a:lnTo>
                    <a:pt x="411480" y="25908"/>
                  </a:lnTo>
                  <a:lnTo>
                    <a:pt x="443484" y="28956"/>
                  </a:lnTo>
                  <a:lnTo>
                    <a:pt x="458724" y="32004"/>
                  </a:lnTo>
                  <a:lnTo>
                    <a:pt x="472440" y="35052"/>
                  </a:lnTo>
                  <a:lnTo>
                    <a:pt x="487680" y="38100"/>
                  </a:lnTo>
                  <a:lnTo>
                    <a:pt x="502920" y="42672"/>
                  </a:lnTo>
                  <a:lnTo>
                    <a:pt x="516636" y="48768"/>
                  </a:lnTo>
                  <a:lnTo>
                    <a:pt x="530352" y="53340"/>
                  </a:lnTo>
                  <a:lnTo>
                    <a:pt x="585216" y="82296"/>
                  </a:lnTo>
                  <a:lnTo>
                    <a:pt x="621792" y="109728"/>
                  </a:lnTo>
                  <a:lnTo>
                    <a:pt x="665988" y="153924"/>
                  </a:lnTo>
                  <a:lnTo>
                    <a:pt x="704088" y="205740"/>
                  </a:lnTo>
                  <a:lnTo>
                    <a:pt x="733044" y="265176"/>
                  </a:lnTo>
                  <a:lnTo>
                    <a:pt x="749808" y="312420"/>
                  </a:lnTo>
                  <a:lnTo>
                    <a:pt x="755904" y="335280"/>
                  </a:lnTo>
                  <a:lnTo>
                    <a:pt x="760476" y="338328"/>
                  </a:lnTo>
                  <a:lnTo>
                    <a:pt x="793242" y="338328"/>
                  </a:lnTo>
                  <a:lnTo>
                    <a:pt x="793242" y="313944"/>
                  </a:lnTo>
                  <a:lnTo>
                    <a:pt x="776478" y="313944"/>
                  </a:lnTo>
                  <a:lnTo>
                    <a:pt x="774192" y="304800"/>
                  </a:lnTo>
                  <a:lnTo>
                    <a:pt x="769620" y="288036"/>
                  </a:lnTo>
                  <a:lnTo>
                    <a:pt x="763524" y="271272"/>
                  </a:lnTo>
                  <a:lnTo>
                    <a:pt x="755904" y="254508"/>
                  </a:lnTo>
                  <a:lnTo>
                    <a:pt x="742188" y="222504"/>
                  </a:lnTo>
                  <a:lnTo>
                    <a:pt x="705612" y="164592"/>
                  </a:lnTo>
                  <a:lnTo>
                    <a:pt x="661416" y="112776"/>
                  </a:lnTo>
                  <a:lnTo>
                    <a:pt x="598932" y="60960"/>
                  </a:lnTo>
                  <a:lnTo>
                    <a:pt x="554736" y="36576"/>
                  </a:lnTo>
                  <a:lnTo>
                    <a:pt x="510540" y="18288"/>
                  </a:lnTo>
                  <a:lnTo>
                    <a:pt x="493776" y="13716"/>
                  </a:lnTo>
                  <a:lnTo>
                    <a:pt x="478536" y="9144"/>
                  </a:lnTo>
                  <a:lnTo>
                    <a:pt x="461772" y="6096"/>
                  </a:lnTo>
                  <a:lnTo>
                    <a:pt x="446532" y="4572"/>
                  </a:lnTo>
                  <a:lnTo>
                    <a:pt x="429768" y="1524"/>
                  </a:lnTo>
                  <a:lnTo>
                    <a:pt x="413004" y="1524"/>
                  </a:lnTo>
                  <a:lnTo>
                    <a:pt x="409575" y="1270"/>
                  </a:lnTo>
                  <a:lnTo>
                    <a:pt x="396240" y="0"/>
                  </a:lnTo>
                  <a:lnTo>
                    <a:pt x="355092" y="3048"/>
                  </a:lnTo>
                  <a:lnTo>
                    <a:pt x="315468" y="9144"/>
                  </a:lnTo>
                  <a:lnTo>
                    <a:pt x="277368" y="19812"/>
                  </a:lnTo>
                  <a:lnTo>
                    <a:pt x="240792" y="35052"/>
                  </a:lnTo>
                  <a:lnTo>
                    <a:pt x="207264" y="53340"/>
                  </a:lnTo>
                  <a:lnTo>
                    <a:pt x="173736" y="74676"/>
                  </a:lnTo>
                  <a:lnTo>
                    <a:pt x="143256" y="100584"/>
                  </a:lnTo>
                  <a:lnTo>
                    <a:pt x="115824" y="128016"/>
                  </a:lnTo>
                  <a:lnTo>
                    <a:pt x="89916" y="158496"/>
                  </a:lnTo>
                  <a:lnTo>
                    <a:pt x="67056" y="192024"/>
                  </a:lnTo>
                  <a:lnTo>
                    <a:pt x="47244" y="228600"/>
                  </a:lnTo>
                  <a:lnTo>
                    <a:pt x="39624" y="246888"/>
                  </a:lnTo>
                  <a:lnTo>
                    <a:pt x="30480" y="266700"/>
                  </a:lnTo>
                  <a:lnTo>
                    <a:pt x="12192" y="326136"/>
                  </a:lnTo>
                  <a:lnTo>
                    <a:pt x="7620" y="347472"/>
                  </a:lnTo>
                  <a:lnTo>
                    <a:pt x="1524" y="390144"/>
                  </a:lnTo>
                  <a:lnTo>
                    <a:pt x="0" y="413004"/>
                  </a:lnTo>
                  <a:lnTo>
                    <a:pt x="0" y="437388"/>
                  </a:lnTo>
                  <a:lnTo>
                    <a:pt x="3048" y="443484"/>
                  </a:lnTo>
                  <a:lnTo>
                    <a:pt x="6096" y="446532"/>
                  </a:lnTo>
                  <a:lnTo>
                    <a:pt x="129540" y="446532"/>
                  </a:lnTo>
                  <a:lnTo>
                    <a:pt x="134112" y="441960"/>
                  </a:lnTo>
                  <a:lnTo>
                    <a:pt x="135636" y="434340"/>
                  </a:lnTo>
                  <a:lnTo>
                    <a:pt x="135636" y="411480"/>
                  </a:lnTo>
                  <a:lnTo>
                    <a:pt x="141732" y="365760"/>
                  </a:lnTo>
                  <a:lnTo>
                    <a:pt x="153924" y="323088"/>
                  </a:lnTo>
                  <a:lnTo>
                    <a:pt x="170688" y="281940"/>
                  </a:lnTo>
                  <a:lnTo>
                    <a:pt x="193548" y="245364"/>
                  </a:lnTo>
                  <a:lnTo>
                    <a:pt x="220980" y="213360"/>
                  </a:lnTo>
                  <a:lnTo>
                    <a:pt x="251460" y="184404"/>
                  </a:lnTo>
                  <a:lnTo>
                    <a:pt x="286512" y="163068"/>
                  </a:lnTo>
                  <a:lnTo>
                    <a:pt x="330708" y="144780"/>
                  </a:lnTo>
                  <a:lnTo>
                    <a:pt x="344424" y="141732"/>
                  </a:lnTo>
                  <a:lnTo>
                    <a:pt x="356616" y="138684"/>
                  </a:lnTo>
                  <a:lnTo>
                    <a:pt x="382524" y="135636"/>
                  </a:lnTo>
                  <a:lnTo>
                    <a:pt x="406908" y="135636"/>
                  </a:lnTo>
                  <a:lnTo>
                    <a:pt x="445008" y="140208"/>
                  </a:lnTo>
                  <a:lnTo>
                    <a:pt x="481584" y="152400"/>
                  </a:lnTo>
                  <a:lnTo>
                    <a:pt x="492252" y="156972"/>
                  </a:lnTo>
                  <a:lnTo>
                    <a:pt x="504444" y="161544"/>
                  </a:lnTo>
                  <a:lnTo>
                    <a:pt x="515112" y="169164"/>
                  </a:lnTo>
                  <a:lnTo>
                    <a:pt x="527304" y="175260"/>
                  </a:lnTo>
                  <a:lnTo>
                    <a:pt x="537972" y="182880"/>
                  </a:lnTo>
                  <a:lnTo>
                    <a:pt x="557784" y="199644"/>
                  </a:lnTo>
                  <a:lnTo>
                    <a:pt x="566928" y="208788"/>
                  </a:lnTo>
                  <a:lnTo>
                    <a:pt x="577596" y="217932"/>
                  </a:lnTo>
                  <a:lnTo>
                    <a:pt x="585216" y="228600"/>
                  </a:lnTo>
                  <a:lnTo>
                    <a:pt x="601980" y="249936"/>
                  </a:lnTo>
                  <a:lnTo>
                    <a:pt x="617220" y="274320"/>
                  </a:lnTo>
                  <a:lnTo>
                    <a:pt x="630936" y="301752"/>
                  </a:lnTo>
                  <a:lnTo>
                    <a:pt x="635000" y="313944"/>
                  </a:lnTo>
                  <a:lnTo>
                    <a:pt x="595884" y="313944"/>
                  </a:lnTo>
                  <a:lnTo>
                    <a:pt x="591312" y="316992"/>
                  </a:lnTo>
                  <a:lnTo>
                    <a:pt x="588264" y="321564"/>
                  </a:lnTo>
                  <a:lnTo>
                    <a:pt x="586740" y="326136"/>
                  </a:lnTo>
                  <a:lnTo>
                    <a:pt x="588264" y="332232"/>
                  </a:lnTo>
                  <a:lnTo>
                    <a:pt x="592836" y="335280"/>
                  </a:lnTo>
                  <a:lnTo>
                    <a:pt x="716280" y="443484"/>
                  </a:lnTo>
                  <a:lnTo>
                    <a:pt x="722376" y="448056"/>
                  </a:lnTo>
                  <a:lnTo>
                    <a:pt x="729996" y="448056"/>
                  </a:lnTo>
                  <a:lnTo>
                    <a:pt x="734568" y="443484"/>
                  </a:lnTo>
                  <a:lnTo>
                    <a:pt x="829056" y="335280"/>
                  </a:lnTo>
                  <a:lnTo>
                    <a:pt x="832104" y="330708"/>
                  </a:lnTo>
                  <a:lnTo>
                    <a:pt x="833628" y="326136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445636" y="10420984"/>
            <a:ext cx="340360" cy="722630"/>
            <a:chOff x="3445636" y="10420984"/>
            <a:chExt cx="340360" cy="722630"/>
          </a:xfrm>
        </p:grpSpPr>
        <p:sp>
          <p:nvSpPr>
            <p:cNvPr id="13" name="object 13"/>
            <p:cNvSpPr/>
            <p:nvPr/>
          </p:nvSpPr>
          <p:spPr>
            <a:xfrm>
              <a:off x="3457828" y="10766932"/>
              <a:ext cx="315595" cy="362585"/>
            </a:xfrm>
            <a:custGeom>
              <a:avLst/>
              <a:gdLst/>
              <a:ahLst/>
              <a:cxnLst/>
              <a:rect l="l" t="t" r="r" b="b"/>
              <a:pathLst>
                <a:path w="315595" h="362584">
                  <a:moveTo>
                    <a:pt x="312420" y="0"/>
                  </a:moveTo>
                  <a:lnTo>
                    <a:pt x="300223" y="49374"/>
                  </a:lnTo>
                  <a:lnTo>
                    <a:pt x="279789" y="95215"/>
                  </a:lnTo>
                  <a:lnTo>
                    <a:pt x="251837" y="136776"/>
                  </a:lnTo>
                  <a:lnTo>
                    <a:pt x="217087" y="173307"/>
                  </a:lnTo>
                  <a:lnTo>
                    <a:pt x="176259" y="204060"/>
                  </a:lnTo>
                  <a:lnTo>
                    <a:pt x="130073" y="228286"/>
                  </a:lnTo>
                  <a:lnTo>
                    <a:pt x="79248" y="245237"/>
                  </a:lnTo>
                  <a:lnTo>
                    <a:pt x="79248" y="205613"/>
                  </a:lnTo>
                  <a:lnTo>
                    <a:pt x="0" y="294005"/>
                  </a:lnTo>
                  <a:lnTo>
                    <a:pt x="79248" y="362585"/>
                  </a:lnTo>
                  <a:lnTo>
                    <a:pt x="79248" y="322961"/>
                  </a:lnTo>
                  <a:lnTo>
                    <a:pt x="128486" y="307114"/>
                  </a:lnTo>
                  <a:lnTo>
                    <a:pt x="173209" y="284471"/>
                  </a:lnTo>
                  <a:lnTo>
                    <a:pt x="212851" y="255796"/>
                  </a:lnTo>
                  <a:lnTo>
                    <a:pt x="246850" y="221857"/>
                  </a:lnTo>
                  <a:lnTo>
                    <a:pt x="274639" y="183418"/>
                  </a:lnTo>
                  <a:lnTo>
                    <a:pt x="295656" y="141247"/>
                  </a:lnTo>
                  <a:lnTo>
                    <a:pt x="309334" y="96109"/>
                  </a:lnTo>
                  <a:lnTo>
                    <a:pt x="315110" y="48772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457828" y="10434700"/>
              <a:ext cx="314325" cy="372110"/>
            </a:xfrm>
            <a:custGeom>
              <a:avLst/>
              <a:gdLst/>
              <a:ahLst/>
              <a:cxnLst/>
              <a:rect l="l" t="t" r="r" b="b"/>
              <a:pathLst>
                <a:path w="314325" h="372109">
                  <a:moveTo>
                    <a:pt x="0" y="0"/>
                  </a:moveTo>
                  <a:lnTo>
                    <a:pt x="0" y="77724"/>
                  </a:lnTo>
                  <a:lnTo>
                    <a:pt x="51008" y="81598"/>
                  </a:lnTo>
                  <a:lnTo>
                    <a:pt x="99364" y="92805"/>
                  </a:lnTo>
                  <a:lnTo>
                    <a:pt x="144429" y="110724"/>
                  </a:lnTo>
                  <a:lnTo>
                    <a:pt x="185562" y="134733"/>
                  </a:lnTo>
                  <a:lnTo>
                    <a:pt x="222123" y="164210"/>
                  </a:lnTo>
                  <a:lnTo>
                    <a:pt x="253471" y="198534"/>
                  </a:lnTo>
                  <a:lnTo>
                    <a:pt x="278968" y="237082"/>
                  </a:lnTo>
                  <a:lnTo>
                    <a:pt x="297972" y="279233"/>
                  </a:lnTo>
                  <a:lnTo>
                    <a:pt x="309844" y="324365"/>
                  </a:lnTo>
                  <a:lnTo>
                    <a:pt x="313944" y="371856"/>
                  </a:lnTo>
                  <a:lnTo>
                    <a:pt x="313944" y="292607"/>
                  </a:lnTo>
                  <a:lnTo>
                    <a:pt x="309844" y="245159"/>
                  </a:lnTo>
                  <a:lnTo>
                    <a:pt x="297972" y="200143"/>
                  </a:lnTo>
                  <a:lnTo>
                    <a:pt x="278968" y="158163"/>
                  </a:lnTo>
                  <a:lnTo>
                    <a:pt x="253471" y="119822"/>
                  </a:lnTo>
                  <a:lnTo>
                    <a:pt x="222123" y="85724"/>
                  </a:lnTo>
                  <a:lnTo>
                    <a:pt x="185562" y="56473"/>
                  </a:lnTo>
                  <a:lnTo>
                    <a:pt x="144429" y="32671"/>
                  </a:lnTo>
                  <a:lnTo>
                    <a:pt x="99364" y="14923"/>
                  </a:lnTo>
                  <a:lnTo>
                    <a:pt x="51008" y="3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689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5636" y="10958829"/>
              <a:ext cx="169417" cy="18440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5636" y="10420984"/>
              <a:ext cx="169417" cy="14490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615054" y="10459846"/>
              <a:ext cx="170815" cy="615950"/>
            </a:xfrm>
            <a:custGeom>
              <a:avLst/>
              <a:gdLst/>
              <a:ahLst/>
              <a:cxnLst/>
              <a:rect l="l" t="t" r="r" b="b"/>
              <a:pathLst>
                <a:path w="170814" h="615950">
                  <a:moveTo>
                    <a:pt x="0" y="0"/>
                  </a:moveTo>
                  <a:lnTo>
                    <a:pt x="0" y="28320"/>
                  </a:lnTo>
                  <a:lnTo>
                    <a:pt x="11937" y="35813"/>
                  </a:lnTo>
                  <a:lnTo>
                    <a:pt x="36322" y="52577"/>
                  </a:lnTo>
                  <a:lnTo>
                    <a:pt x="57658" y="70865"/>
                  </a:lnTo>
                  <a:lnTo>
                    <a:pt x="75946" y="90677"/>
                  </a:lnTo>
                  <a:lnTo>
                    <a:pt x="85090" y="99821"/>
                  </a:lnTo>
                  <a:lnTo>
                    <a:pt x="109474" y="134873"/>
                  </a:lnTo>
                  <a:lnTo>
                    <a:pt x="126237" y="171450"/>
                  </a:lnTo>
                  <a:lnTo>
                    <a:pt x="139065" y="215645"/>
                  </a:lnTo>
                  <a:lnTo>
                    <a:pt x="138430" y="214121"/>
                  </a:lnTo>
                  <a:lnTo>
                    <a:pt x="130810" y="200405"/>
                  </a:lnTo>
                  <a:lnTo>
                    <a:pt x="95758" y="151637"/>
                  </a:lnTo>
                  <a:lnTo>
                    <a:pt x="51562" y="110489"/>
                  </a:lnTo>
                  <a:lnTo>
                    <a:pt x="0" y="77977"/>
                  </a:lnTo>
                  <a:lnTo>
                    <a:pt x="0" y="106044"/>
                  </a:lnTo>
                  <a:lnTo>
                    <a:pt x="11937" y="113537"/>
                  </a:lnTo>
                  <a:lnTo>
                    <a:pt x="34798" y="130301"/>
                  </a:lnTo>
                  <a:lnTo>
                    <a:pt x="56134" y="148589"/>
                  </a:lnTo>
                  <a:lnTo>
                    <a:pt x="75946" y="168401"/>
                  </a:lnTo>
                  <a:lnTo>
                    <a:pt x="85090" y="179069"/>
                  </a:lnTo>
                  <a:lnTo>
                    <a:pt x="92710" y="189737"/>
                  </a:lnTo>
                  <a:lnTo>
                    <a:pt x="101854" y="200405"/>
                  </a:lnTo>
                  <a:lnTo>
                    <a:pt x="107950" y="212597"/>
                  </a:lnTo>
                  <a:lnTo>
                    <a:pt x="115570" y="224789"/>
                  </a:lnTo>
                  <a:lnTo>
                    <a:pt x="121666" y="236981"/>
                  </a:lnTo>
                  <a:lnTo>
                    <a:pt x="126237" y="249173"/>
                  </a:lnTo>
                  <a:lnTo>
                    <a:pt x="135382" y="276605"/>
                  </a:lnTo>
                  <a:lnTo>
                    <a:pt x="141478" y="304038"/>
                  </a:lnTo>
                  <a:lnTo>
                    <a:pt x="141478" y="305561"/>
                  </a:lnTo>
                  <a:lnTo>
                    <a:pt x="132334" y="346709"/>
                  </a:lnTo>
                  <a:lnTo>
                    <a:pt x="107950" y="403097"/>
                  </a:lnTo>
                  <a:lnTo>
                    <a:pt x="83566" y="438022"/>
                  </a:lnTo>
                  <a:lnTo>
                    <a:pt x="54610" y="468502"/>
                  </a:lnTo>
                  <a:lnTo>
                    <a:pt x="21082" y="494410"/>
                  </a:lnTo>
                  <a:lnTo>
                    <a:pt x="0" y="507364"/>
                  </a:lnTo>
                  <a:lnTo>
                    <a:pt x="0" y="536194"/>
                  </a:lnTo>
                  <a:lnTo>
                    <a:pt x="33274" y="517270"/>
                  </a:lnTo>
                  <a:lnTo>
                    <a:pt x="69850" y="488314"/>
                  </a:lnTo>
                  <a:lnTo>
                    <a:pt x="101854" y="454786"/>
                  </a:lnTo>
                  <a:lnTo>
                    <a:pt x="129286" y="416686"/>
                  </a:lnTo>
                  <a:lnTo>
                    <a:pt x="138937" y="398779"/>
                  </a:lnTo>
                  <a:lnTo>
                    <a:pt x="135382" y="416686"/>
                  </a:lnTo>
                  <a:lnTo>
                    <a:pt x="118618" y="459358"/>
                  </a:lnTo>
                  <a:lnTo>
                    <a:pt x="95758" y="500506"/>
                  </a:lnTo>
                  <a:lnTo>
                    <a:pt x="48514" y="552322"/>
                  </a:lnTo>
                  <a:lnTo>
                    <a:pt x="10414" y="579754"/>
                  </a:lnTo>
                  <a:lnTo>
                    <a:pt x="0" y="585723"/>
                  </a:lnTo>
                  <a:lnTo>
                    <a:pt x="0" y="615441"/>
                  </a:lnTo>
                  <a:lnTo>
                    <a:pt x="45466" y="587375"/>
                  </a:lnTo>
                  <a:lnTo>
                    <a:pt x="85090" y="552322"/>
                  </a:lnTo>
                  <a:lnTo>
                    <a:pt x="117094" y="514222"/>
                  </a:lnTo>
                  <a:lnTo>
                    <a:pt x="143002" y="470026"/>
                  </a:lnTo>
                  <a:lnTo>
                    <a:pt x="159766" y="422782"/>
                  </a:lnTo>
                  <a:lnTo>
                    <a:pt x="168910" y="372617"/>
                  </a:lnTo>
                  <a:lnTo>
                    <a:pt x="170434" y="346709"/>
                  </a:lnTo>
                  <a:lnTo>
                    <a:pt x="170434" y="267461"/>
                  </a:lnTo>
                  <a:lnTo>
                    <a:pt x="168910" y="252221"/>
                  </a:lnTo>
                  <a:lnTo>
                    <a:pt x="168910" y="236981"/>
                  </a:lnTo>
                  <a:lnTo>
                    <a:pt x="165862" y="220217"/>
                  </a:lnTo>
                  <a:lnTo>
                    <a:pt x="162814" y="206501"/>
                  </a:lnTo>
                  <a:lnTo>
                    <a:pt x="159766" y="191261"/>
                  </a:lnTo>
                  <a:lnTo>
                    <a:pt x="155194" y="176021"/>
                  </a:lnTo>
                  <a:lnTo>
                    <a:pt x="150622" y="162305"/>
                  </a:lnTo>
                  <a:lnTo>
                    <a:pt x="144525" y="148589"/>
                  </a:lnTo>
                  <a:lnTo>
                    <a:pt x="136906" y="134873"/>
                  </a:lnTo>
                  <a:lnTo>
                    <a:pt x="130810" y="121157"/>
                  </a:lnTo>
                  <a:lnTo>
                    <a:pt x="121666" y="108965"/>
                  </a:lnTo>
                  <a:lnTo>
                    <a:pt x="114046" y="96773"/>
                  </a:lnTo>
                  <a:lnTo>
                    <a:pt x="104902" y="84581"/>
                  </a:lnTo>
                  <a:lnTo>
                    <a:pt x="72898" y="51053"/>
                  </a:lnTo>
                  <a:lnTo>
                    <a:pt x="25654" y="14477"/>
                  </a:lnTo>
                  <a:lnTo>
                    <a:pt x="11937" y="5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1613916" y="10390505"/>
            <a:ext cx="940435" cy="821690"/>
            <a:chOff x="1613916" y="10390505"/>
            <a:chExt cx="940435" cy="821690"/>
          </a:xfrm>
        </p:grpSpPr>
        <p:sp>
          <p:nvSpPr>
            <p:cNvPr id="19" name="object 19"/>
            <p:cNvSpPr/>
            <p:nvPr/>
          </p:nvSpPr>
          <p:spPr>
            <a:xfrm>
              <a:off x="1626951" y="10404221"/>
              <a:ext cx="752475" cy="589915"/>
            </a:xfrm>
            <a:custGeom>
              <a:avLst/>
              <a:gdLst/>
              <a:ahLst/>
              <a:cxnLst/>
              <a:rect l="l" t="t" r="r" b="b"/>
              <a:pathLst>
                <a:path w="752475" h="589915">
                  <a:moveTo>
                    <a:pt x="506521" y="0"/>
                  </a:moveTo>
                  <a:lnTo>
                    <a:pt x="538525" y="109727"/>
                  </a:lnTo>
                  <a:lnTo>
                    <a:pt x="520523" y="116586"/>
                  </a:lnTo>
                  <a:lnTo>
                    <a:pt x="486233" y="130301"/>
                  </a:lnTo>
                  <a:lnTo>
                    <a:pt x="405006" y="164437"/>
                  </a:lnTo>
                  <a:lnTo>
                    <a:pt x="344354" y="192314"/>
                  </a:lnTo>
                  <a:lnTo>
                    <a:pt x="288127" y="220631"/>
                  </a:lnTo>
                  <a:lnTo>
                    <a:pt x="236466" y="249230"/>
                  </a:lnTo>
                  <a:lnTo>
                    <a:pt x="189509" y="277949"/>
                  </a:lnTo>
                  <a:lnTo>
                    <a:pt x="147398" y="306629"/>
                  </a:lnTo>
                  <a:lnTo>
                    <a:pt x="110270" y="335111"/>
                  </a:lnTo>
                  <a:lnTo>
                    <a:pt x="78267" y="363236"/>
                  </a:lnTo>
                  <a:lnTo>
                    <a:pt x="51527" y="390842"/>
                  </a:lnTo>
                  <a:lnTo>
                    <a:pt x="14398" y="443863"/>
                  </a:lnTo>
                  <a:lnTo>
                    <a:pt x="0" y="492898"/>
                  </a:lnTo>
                  <a:lnTo>
                    <a:pt x="1674" y="515521"/>
                  </a:lnTo>
                  <a:lnTo>
                    <a:pt x="9449" y="536669"/>
                  </a:lnTo>
                  <a:lnTo>
                    <a:pt x="23466" y="556181"/>
                  </a:lnTo>
                  <a:lnTo>
                    <a:pt x="43865" y="573898"/>
                  </a:lnTo>
                  <a:lnTo>
                    <a:pt x="70784" y="589660"/>
                  </a:lnTo>
                  <a:lnTo>
                    <a:pt x="90086" y="563461"/>
                  </a:lnTo>
                  <a:lnTo>
                    <a:pt x="114383" y="536774"/>
                  </a:lnTo>
                  <a:lnTo>
                    <a:pt x="143458" y="509742"/>
                  </a:lnTo>
                  <a:lnTo>
                    <a:pt x="177092" y="482505"/>
                  </a:lnTo>
                  <a:lnTo>
                    <a:pt x="215070" y="455207"/>
                  </a:lnTo>
                  <a:lnTo>
                    <a:pt x="257172" y="427989"/>
                  </a:lnTo>
                  <a:lnTo>
                    <a:pt x="303183" y="400994"/>
                  </a:lnTo>
                  <a:lnTo>
                    <a:pt x="352884" y="374363"/>
                  </a:lnTo>
                  <a:lnTo>
                    <a:pt x="406058" y="348237"/>
                  </a:lnTo>
                  <a:lnTo>
                    <a:pt x="462488" y="322761"/>
                  </a:lnTo>
                  <a:lnTo>
                    <a:pt x="521956" y="298074"/>
                  </a:lnTo>
                  <a:lnTo>
                    <a:pt x="584245" y="274319"/>
                  </a:lnTo>
                  <a:lnTo>
                    <a:pt x="614725" y="385571"/>
                  </a:lnTo>
                  <a:lnTo>
                    <a:pt x="751885" y="131063"/>
                  </a:lnTo>
                  <a:lnTo>
                    <a:pt x="50652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629156" y="10925302"/>
              <a:ext cx="913130" cy="273685"/>
            </a:xfrm>
            <a:custGeom>
              <a:avLst/>
              <a:gdLst/>
              <a:ahLst/>
              <a:cxnLst/>
              <a:rect l="l" t="t" r="r" b="b"/>
              <a:pathLst>
                <a:path w="913130" h="273684">
                  <a:moveTo>
                    <a:pt x="0" y="0"/>
                  </a:moveTo>
                  <a:lnTo>
                    <a:pt x="47243" y="163068"/>
                  </a:lnTo>
                  <a:lnTo>
                    <a:pt x="70527" y="202168"/>
                  </a:lnTo>
                  <a:lnTo>
                    <a:pt x="114937" y="232805"/>
                  </a:lnTo>
                  <a:lnTo>
                    <a:pt x="178406" y="254926"/>
                  </a:lnTo>
                  <a:lnTo>
                    <a:pt x="216642" y="262777"/>
                  </a:lnTo>
                  <a:lnTo>
                    <a:pt x="258867" y="268478"/>
                  </a:lnTo>
                  <a:lnTo>
                    <a:pt x="304823" y="272024"/>
                  </a:lnTo>
                  <a:lnTo>
                    <a:pt x="354252" y="273407"/>
                  </a:lnTo>
                  <a:lnTo>
                    <a:pt x="406896" y="272621"/>
                  </a:lnTo>
                  <a:lnTo>
                    <a:pt x="462495" y="269660"/>
                  </a:lnTo>
                  <a:lnTo>
                    <a:pt x="520792" y="264516"/>
                  </a:lnTo>
                  <a:lnTo>
                    <a:pt x="581527" y="257184"/>
                  </a:lnTo>
                  <a:lnTo>
                    <a:pt x="644444" y="247655"/>
                  </a:lnTo>
                  <a:lnTo>
                    <a:pt x="709283" y="235924"/>
                  </a:lnTo>
                  <a:lnTo>
                    <a:pt x="775785" y="221985"/>
                  </a:lnTo>
                  <a:lnTo>
                    <a:pt x="843693" y="205829"/>
                  </a:lnTo>
                  <a:lnTo>
                    <a:pt x="912749" y="187452"/>
                  </a:lnTo>
                  <a:lnTo>
                    <a:pt x="865505" y="22860"/>
                  </a:lnTo>
                  <a:lnTo>
                    <a:pt x="796677" y="41465"/>
                  </a:lnTo>
                  <a:lnTo>
                    <a:pt x="728972" y="57825"/>
                  </a:lnTo>
                  <a:lnTo>
                    <a:pt x="662647" y="71946"/>
                  </a:lnTo>
                  <a:lnTo>
                    <a:pt x="597960" y="83837"/>
                  </a:lnTo>
                  <a:lnTo>
                    <a:pt x="535170" y="93506"/>
                  </a:lnTo>
                  <a:lnTo>
                    <a:pt x="474536" y="100960"/>
                  </a:lnTo>
                  <a:lnTo>
                    <a:pt x="416315" y="106208"/>
                  </a:lnTo>
                  <a:lnTo>
                    <a:pt x="360766" y="109258"/>
                  </a:lnTo>
                  <a:lnTo>
                    <a:pt x="308148" y="110117"/>
                  </a:lnTo>
                  <a:lnTo>
                    <a:pt x="258719" y="108794"/>
                  </a:lnTo>
                  <a:lnTo>
                    <a:pt x="212738" y="105296"/>
                  </a:lnTo>
                  <a:lnTo>
                    <a:pt x="170462" y="99632"/>
                  </a:lnTo>
                  <a:lnTo>
                    <a:pt x="132150" y="91810"/>
                  </a:lnTo>
                  <a:lnTo>
                    <a:pt x="68453" y="69723"/>
                  </a:lnTo>
                  <a:lnTo>
                    <a:pt x="23714" y="39098"/>
                  </a:lnTo>
                  <a:lnTo>
                    <a:pt x="9099" y="206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68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613916" y="10390505"/>
              <a:ext cx="940435" cy="821690"/>
            </a:xfrm>
            <a:custGeom>
              <a:avLst/>
              <a:gdLst/>
              <a:ahLst/>
              <a:cxnLst/>
              <a:rect l="l" t="t" r="r" b="b"/>
              <a:pathLst>
                <a:path w="940435" h="821690">
                  <a:moveTo>
                    <a:pt x="940181" y="719201"/>
                  </a:moveTo>
                  <a:lnTo>
                    <a:pt x="912495" y="622757"/>
                  </a:lnTo>
                  <a:lnTo>
                    <a:pt x="912495" y="713740"/>
                  </a:lnTo>
                  <a:lnTo>
                    <a:pt x="883793" y="722249"/>
                  </a:lnTo>
                  <a:lnTo>
                    <a:pt x="842645" y="731393"/>
                  </a:lnTo>
                  <a:lnTo>
                    <a:pt x="803021" y="742061"/>
                  </a:lnTo>
                  <a:lnTo>
                    <a:pt x="763397" y="749681"/>
                  </a:lnTo>
                  <a:lnTo>
                    <a:pt x="723773" y="758825"/>
                  </a:lnTo>
                  <a:lnTo>
                    <a:pt x="685673" y="764921"/>
                  </a:lnTo>
                  <a:lnTo>
                    <a:pt x="647573" y="772541"/>
                  </a:lnTo>
                  <a:lnTo>
                    <a:pt x="610997" y="777113"/>
                  </a:lnTo>
                  <a:lnTo>
                    <a:pt x="574421" y="783209"/>
                  </a:lnTo>
                  <a:lnTo>
                    <a:pt x="537845" y="786257"/>
                  </a:lnTo>
                  <a:lnTo>
                    <a:pt x="504317" y="790829"/>
                  </a:lnTo>
                  <a:lnTo>
                    <a:pt x="479171" y="791972"/>
                  </a:lnTo>
                  <a:lnTo>
                    <a:pt x="469265" y="792353"/>
                  </a:lnTo>
                  <a:lnTo>
                    <a:pt x="437261" y="795401"/>
                  </a:lnTo>
                  <a:lnTo>
                    <a:pt x="344297" y="795401"/>
                  </a:lnTo>
                  <a:lnTo>
                    <a:pt x="289433" y="792353"/>
                  </a:lnTo>
                  <a:lnTo>
                    <a:pt x="239141" y="786257"/>
                  </a:lnTo>
                  <a:lnTo>
                    <a:pt x="216281" y="781685"/>
                  </a:lnTo>
                  <a:lnTo>
                    <a:pt x="173609" y="772541"/>
                  </a:lnTo>
                  <a:lnTo>
                    <a:pt x="155321" y="764921"/>
                  </a:lnTo>
                  <a:lnTo>
                    <a:pt x="138557" y="758825"/>
                  </a:lnTo>
                  <a:lnTo>
                    <a:pt x="100584" y="734441"/>
                  </a:lnTo>
                  <a:lnTo>
                    <a:pt x="83820" y="714629"/>
                  </a:lnTo>
                  <a:lnTo>
                    <a:pt x="83820" y="716153"/>
                  </a:lnTo>
                  <a:lnTo>
                    <a:pt x="77724" y="705485"/>
                  </a:lnTo>
                  <a:lnTo>
                    <a:pt x="79248" y="707009"/>
                  </a:lnTo>
                  <a:lnTo>
                    <a:pt x="78676" y="705485"/>
                  </a:lnTo>
                  <a:lnTo>
                    <a:pt x="74676" y="694817"/>
                  </a:lnTo>
                  <a:lnTo>
                    <a:pt x="45847" y="595630"/>
                  </a:lnTo>
                  <a:lnTo>
                    <a:pt x="50279" y="598805"/>
                  </a:lnTo>
                  <a:lnTo>
                    <a:pt x="65532" y="609473"/>
                  </a:lnTo>
                  <a:lnTo>
                    <a:pt x="100584" y="624713"/>
                  </a:lnTo>
                  <a:lnTo>
                    <a:pt x="141605" y="638429"/>
                  </a:lnTo>
                  <a:lnTo>
                    <a:pt x="188849" y="647573"/>
                  </a:lnTo>
                  <a:lnTo>
                    <a:pt x="240665" y="653669"/>
                  </a:lnTo>
                  <a:lnTo>
                    <a:pt x="298577" y="656717"/>
                  </a:lnTo>
                  <a:lnTo>
                    <a:pt x="359537" y="656717"/>
                  </a:lnTo>
                  <a:lnTo>
                    <a:pt x="425069" y="653669"/>
                  </a:lnTo>
                  <a:lnTo>
                    <a:pt x="479171" y="648970"/>
                  </a:lnTo>
                  <a:lnTo>
                    <a:pt x="568325" y="638429"/>
                  </a:lnTo>
                  <a:lnTo>
                    <a:pt x="604901" y="632333"/>
                  </a:lnTo>
                  <a:lnTo>
                    <a:pt x="644525" y="626237"/>
                  </a:lnTo>
                  <a:lnTo>
                    <a:pt x="682625" y="618617"/>
                  </a:lnTo>
                  <a:lnTo>
                    <a:pt x="722249" y="610997"/>
                  </a:lnTo>
                  <a:lnTo>
                    <a:pt x="761873" y="601853"/>
                  </a:lnTo>
                  <a:lnTo>
                    <a:pt x="803021" y="592709"/>
                  </a:lnTo>
                  <a:lnTo>
                    <a:pt x="872236" y="574802"/>
                  </a:lnTo>
                  <a:lnTo>
                    <a:pt x="912495" y="713740"/>
                  </a:lnTo>
                  <a:lnTo>
                    <a:pt x="912495" y="622757"/>
                  </a:lnTo>
                  <a:lnTo>
                    <a:pt x="892937" y="554609"/>
                  </a:lnTo>
                  <a:lnTo>
                    <a:pt x="891413" y="548513"/>
                  </a:lnTo>
                  <a:lnTo>
                    <a:pt x="885317" y="543941"/>
                  </a:lnTo>
                  <a:lnTo>
                    <a:pt x="877697" y="545465"/>
                  </a:lnTo>
                  <a:lnTo>
                    <a:pt x="836549" y="557657"/>
                  </a:lnTo>
                  <a:lnTo>
                    <a:pt x="796925" y="568325"/>
                  </a:lnTo>
                  <a:lnTo>
                    <a:pt x="717677" y="586613"/>
                  </a:lnTo>
                  <a:lnTo>
                    <a:pt x="678053" y="594233"/>
                  </a:lnTo>
                  <a:lnTo>
                    <a:pt x="639953" y="601853"/>
                  </a:lnTo>
                  <a:lnTo>
                    <a:pt x="563753" y="614045"/>
                  </a:lnTo>
                  <a:lnTo>
                    <a:pt x="492125" y="623189"/>
                  </a:lnTo>
                  <a:lnTo>
                    <a:pt x="479171" y="624332"/>
                  </a:lnTo>
                  <a:lnTo>
                    <a:pt x="423545" y="629285"/>
                  </a:lnTo>
                  <a:lnTo>
                    <a:pt x="359537" y="632333"/>
                  </a:lnTo>
                  <a:lnTo>
                    <a:pt x="329057" y="632333"/>
                  </a:lnTo>
                  <a:lnTo>
                    <a:pt x="298577" y="630809"/>
                  </a:lnTo>
                  <a:lnTo>
                    <a:pt x="271145" y="630809"/>
                  </a:lnTo>
                  <a:lnTo>
                    <a:pt x="243713" y="627761"/>
                  </a:lnTo>
                  <a:lnTo>
                    <a:pt x="217805" y="626237"/>
                  </a:lnTo>
                  <a:lnTo>
                    <a:pt x="193421" y="621665"/>
                  </a:lnTo>
                  <a:lnTo>
                    <a:pt x="149225" y="614045"/>
                  </a:lnTo>
                  <a:lnTo>
                    <a:pt x="111125" y="601853"/>
                  </a:lnTo>
                  <a:lnTo>
                    <a:pt x="103505" y="598424"/>
                  </a:lnTo>
                  <a:lnTo>
                    <a:pt x="105791" y="595630"/>
                  </a:lnTo>
                  <a:lnTo>
                    <a:pt x="108204" y="592709"/>
                  </a:lnTo>
                  <a:lnTo>
                    <a:pt x="111315" y="588264"/>
                  </a:lnTo>
                  <a:lnTo>
                    <a:pt x="115697" y="582041"/>
                  </a:lnTo>
                  <a:lnTo>
                    <a:pt x="123317" y="572897"/>
                  </a:lnTo>
                  <a:lnTo>
                    <a:pt x="143129" y="553085"/>
                  </a:lnTo>
                  <a:lnTo>
                    <a:pt x="153797" y="543941"/>
                  </a:lnTo>
                  <a:lnTo>
                    <a:pt x="164465" y="533273"/>
                  </a:lnTo>
                  <a:lnTo>
                    <a:pt x="176657" y="524129"/>
                  </a:lnTo>
                  <a:lnTo>
                    <a:pt x="188849" y="513461"/>
                  </a:lnTo>
                  <a:lnTo>
                    <a:pt x="202565" y="502793"/>
                  </a:lnTo>
                  <a:lnTo>
                    <a:pt x="216281" y="493649"/>
                  </a:lnTo>
                  <a:lnTo>
                    <a:pt x="229997" y="482981"/>
                  </a:lnTo>
                  <a:lnTo>
                    <a:pt x="245237" y="473964"/>
                  </a:lnTo>
                  <a:lnTo>
                    <a:pt x="277241" y="452628"/>
                  </a:lnTo>
                  <a:lnTo>
                    <a:pt x="310769" y="432816"/>
                  </a:lnTo>
                  <a:lnTo>
                    <a:pt x="345821" y="413004"/>
                  </a:lnTo>
                  <a:lnTo>
                    <a:pt x="383921" y="393192"/>
                  </a:lnTo>
                  <a:lnTo>
                    <a:pt x="425069" y="373380"/>
                  </a:lnTo>
                  <a:lnTo>
                    <a:pt x="466217" y="355092"/>
                  </a:lnTo>
                  <a:lnTo>
                    <a:pt x="479171" y="349758"/>
                  </a:lnTo>
                  <a:lnTo>
                    <a:pt x="554609" y="318516"/>
                  </a:lnTo>
                  <a:lnTo>
                    <a:pt x="589153" y="305054"/>
                  </a:lnTo>
                  <a:lnTo>
                    <a:pt x="617093" y="402336"/>
                  </a:lnTo>
                  <a:lnTo>
                    <a:pt x="617093" y="406908"/>
                  </a:lnTo>
                  <a:lnTo>
                    <a:pt x="621665" y="411480"/>
                  </a:lnTo>
                  <a:lnTo>
                    <a:pt x="632333" y="411480"/>
                  </a:lnTo>
                  <a:lnTo>
                    <a:pt x="636905" y="409956"/>
                  </a:lnTo>
                  <a:lnTo>
                    <a:pt x="639953" y="405384"/>
                  </a:lnTo>
                  <a:lnTo>
                    <a:pt x="775589" y="150876"/>
                  </a:lnTo>
                  <a:lnTo>
                    <a:pt x="780161" y="144780"/>
                  </a:lnTo>
                  <a:lnTo>
                    <a:pt x="777113" y="137160"/>
                  </a:lnTo>
                  <a:lnTo>
                    <a:pt x="771017" y="134112"/>
                  </a:lnTo>
                  <a:lnTo>
                    <a:pt x="748284" y="121831"/>
                  </a:lnTo>
                  <a:lnTo>
                    <a:pt x="748284" y="149733"/>
                  </a:lnTo>
                  <a:lnTo>
                    <a:pt x="632460" y="364744"/>
                  </a:lnTo>
                  <a:lnTo>
                    <a:pt x="609473" y="284988"/>
                  </a:lnTo>
                  <a:lnTo>
                    <a:pt x="606425" y="278892"/>
                  </a:lnTo>
                  <a:lnTo>
                    <a:pt x="600329" y="275844"/>
                  </a:lnTo>
                  <a:lnTo>
                    <a:pt x="592709" y="275844"/>
                  </a:lnTo>
                  <a:lnTo>
                    <a:pt x="545465" y="294132"/>
                  </a:lnTo>
                  <a:lnTo>
                    <a:pt x="499745" y="312420"/>
                  </a:lnTo>
                  <a:lnTo>
                    <a:pt x="414401" y="350520"/>
                  </a:lnTo>
                  <a:lnTo>
                    <a:pt x="373253" y="370332"/>
                  </a:lnTo>
                  <a:lnTo>
                    <a:pt x="335153" y="390144"/>
                  </a:lnTo>
                  <a:lnTo>
                    <a:pt x="298577" y="411480"/>
                  </a:lnTo>
                  <a:lnTo>
                    <a:pt x="263525" y="431292"/>
                  </a:lnTo>
                  <a:lnTo>
                    <a:pt x="246761" y="441960"/>
                  </a:lnTo>
                  <a:lnTo>
                    <a:pt x="231521" y="452628"/>
                  </a:lnTo>
                  <a:lnTo>
                    <a:pt x="216281" y="461645"/>
                  </a:lnTo>
                  <a:lnTo>
                    <a:pt x="201041" y="472440"/>
                  </a:lnTo>
                  <a:lnTo>
                    <a:pt x="159893" y="504317"/>
                  </a:lnTo>
                  <a:lnTo>
                    <a:pt x="147701" y="513461"/>
                  </a:lnTo>
                  <a:lnTo>
                    <a:pt x="137033" y="524129"/>
                  </a:lnTo>
                  <a:lnTo>
                    <a:pt x="124841" y="534797"/>
                  </a:lnTo>
                  <a:lnTo>
                    <a:pt x="115697" y="545465"/>
                  </a:lnTo>
                  <a:lnTo>
                    <a:pt x="105156" y="556133"/>
                  </a:lnTo>
                  <a:lnTo>
                    <a:pt x="96012" y="566801"/>
                  </a:lnTo>
                  <a:lnTo>
                    <a:pt x="88392" y="575945"/>
                  </a:lnTo>
                  <a:lnTo>
                    <a:pt x="80772" y="586613"/>
                  </a:lnTo>
                  <a:lnTo>
                    <a:pt x="79502" y="588264"/>
                  </a:lnTo>
                  <a:lnTo>
                    <a:pt x="45720" y="562229"/>
                  </a:lnTo>
                  <a:lnTo>
                    <a:pt x="36576" y="551561"/>
                  </a:lnTo>
                  <a:lnTo>
                    <a:pt x="38100" y="553085"/>
                  </a:lnTo>
                  <a:lnTo>
                    <a:pt x="37338" y="551561"/>
                  </a:lnTo>
                  <a:lnTo>
                    <a:pt x="32766" y="542417"/>
                  </a:lnTo>
                  <a:lnTo>
                    <a:pt x="32004" y="540893"/>
                  </a:lnTo>
                  <a:lnTo>
                    <a:pt x="32004" y="542417"/>
                  </a:lnTo>
                  <a:lnTo>
                    <a:pt x="27470" y="530352"/>
                  </a:lnTo>
                  <a:lnTo>
                    <a:pt x="27432" y="530225"/>
                  </a:lnTo>
                  <a:lnTo>
                    <a:pt x="27178" y="530352"/>
                  </a:lnTo>
                  <a:lnTo>
                    <a:pt x="25908" y="521081"/>
                  </a:lnTo>
                  <a:lnTo>
                    <a:pt x="25908" y="501269"/>
                  </a:lnTo>
                  <a:lnTo>
                    <a:pt x="41148" y="458724"/>
                  </a:lnTo>
                  <a:lnTo>
                    <a:pt x="65532" y="422148"/>
                  </a:lnTo>
                  <a:lnTo>
                    <a:pt x="102108" y="384048"/>
                  </a:lnTo>
                  <a:lnTo>
                    <a:pt x="132461" y="358140"/>
                  </a:lnTo>
                  <a:lnTo>
                    <a:pt x="149225" y="344424"/>
                  </a:lnTo>
                  <a:lnTo>
                    <a:pt x="185801" y="316992"/>
                  </a:lnTo>
                  <a:lnTo>
                    <a:pt x="207137" y="304800"/>
                  </a:lnTo>
                  <a:lnTo>
                    <a:pt x="249809" y="277368"/>
                  </a:lnTo>
                  <a:lnTo>
                    <a:pt x="272669" y="263652"/>
                  </a:lnTo>
                  <a:lnTo>
                    <a:pt x="297053" y="249936"/>
                  </a:lnTo>
                  <a:lnTo>
                    <a:pt x="322961" y="237744"/>
                  </a:lnTo>
                  <a:lnTo>
                    <a:pt x="348869" y="224028"/>
                  </a:lnTo>
                  <a:lnTo>
                    <a:pt x="376301" y="210312"/>
                  </a:lnTo>
                  <a:lnTo>
                    <a:pt x="403733" y="198120"/>
                  </a:lnTo>
                  <a:lnTo>
                    <a:pt x="432689" y="185928"/>
                  </a:lnTo>
                  <a:lnTo>
                    <a:pt x="461645" y="172212"/>
                  </a:lnTo>
                  <a:lnTo>
                    <a:pt x="479171" y="165227"/>
                  </a:lnTo>
                  <a:lnTo>
                    <a:pt x="492125" y="160020"/>
                  </a:lnTo>
                  <a:lnTo>
                    <a:pt x="556133" y="135636"/>
                  </a:lnTo>
                  <a:lnTo>
                    <a:pt x="562229" y="134112"/>
                  </a:lnTo>
                  <a:lnTo>
                    <a:pt x="565277" y="126492"/>
                  </a:lnTo>
                  <a:lnTo>
                    <a:pt x="563753" y="120396"/>
                  </a:lnTo>
                  <a:lnTo>
                    <a:pt x="539877" y="38481"/>
                  </a:lnTo>
                  <a:lnTo>
                    <a:pt x="748284" y="149733"/>
                  </a:lnTo>
                  <a:lnTo>
                    <a:pt x="748284" y="121831"/>
                  </a:lnTo>
                  <a:lnTo>
                    <a:pt x="525653" y="1524"/>
                  </a:lnTo>
                  <a:lnTo>
                    <a:pt x="521081" y="0"/>
                  </a:lnTo>
                  <a:lnTo>
                    <a:pt x="516509" y="0"/>
                  </a:lnTo>
                  <a:lnTo>
                    <a:pt x="511937" y="3048"/>
                  </a:lnTo>
                  <a:lnTo>
                    <a:pt x="508889" y="6096"/>
                  </a:lnTo>
                  <a:lnTo>
                    <a:pt x="505841" y="12192"/>
                  </a:lnTo>
                  <a:lnTo>
                    <a:pt x="507365" y="16764"/>
                  </a:lnTo>
                  <a:lnTo>
                    <a:pt x="536194" y="116840"/>
                  </a:lnTo>
                  <a:lnTo>
                    <a:pt x="479171" y="138684"/>
                  </a:lnTo>
                  <a:lnTo>
                    <a:pt x="422021" y="161544"/>
                  </a:lnTo>
                  <a:lnTo>
                    <a:pt x="393065" y="175260"/>
                  </a:lnTo>
                  <a:lnTo>
                    <a:pt x="364109" y="187452"/>
                  </a:lnTo>
                  <a:lnTo>
                    <a:pt x="284861" y="228600"/>
                  </a:lnTo>
                  <a:lnTo>
                    <a:pt x="191897" y="283464"/>
                  </a:lnTo>
                  <a:lnTo>
                    <a:pt x="152273" y="310896"/>
                  </a:lnTo>
                  <a:lnTo>
                    <a:pt x="115697" y="338328"/>
                  </a:lnTo>
                  <a:lnTo>
                    <a:pt x="70104" y="379476"/>
                  </a:lnTo>
                  <a:lnTo>
                    <a:pt x="35052" y="420624"/>
                  </a:lnTo>
                  <a:lnTo>
                    <a:pt x="12179" y="460248"/>
                  </a:lnTo>
                  <a:lnTo>
                    <a:pt x="1524" y="499745"/>
                  </a:lnTo>
                  <a:lnTo>
                    <a:pt x="0" y="513461"/>
                  </a:lnTo>
                  <a:lnTo>
                    <a:pt x="3048" y="537845"/>
                  </a:lnTo>
                  <a:lnTo>
                    <a:pt x="50279" y="702437"/>
                  </a:lnTo>
                  <a:lnTo>
                    <a:pt x="54864" y="716153"/>
                  </a:lnTo>
                  <a:lnTo>
                    <a:pt x="56388" y="717677"/>
                  </a:lnTo>
                  <a:lnTo>
                    <a:pt x="62484" y="728345"/>
                  </a:lnTo>
                  <a:lnTo>
                    <a:pt x="62484" y="729869"/>
                  </a:lnTo>
                  <a:lnTo>
                    <a:pt x="64008" y="729869"/>
                  </a:lnTo>
                  <a:lnTo>
                    <a:pt x="73152" y="742061"/>
                  </a:lnTo>
                  <a:lnTo>
                    <a:pt x="112649" y="774065"/>
                  </a:lnTo>
                  <a:lnTo>
                    <a:pt x="147701" y="789305"/>
                  </a:lnTo>
                  <a:lnTo>
                    <a:pt x="188849" y="801497"/>
                  </a:lnTo>
                  <a:lnTo>
                    <a:pt x="211709" y="807593"/>
                  </a:lnTo>
                  <a:lnTo>
                    <a:pt x="234569" y="812165"/>
                  </a:lnTo>
                  <a:lnTo>
                    <a:pt x="287909" y="818261"/>
                  </a:lnTo>
                  <a:lnTo>
                    <a:pt x="344297" y="821309"/>
                  </a:lnTo>
                  <a:lnTo>
                    <a:pt x="405257" y="821309"/>
                  </a:lnTo>
                  <a:lnTo>
                    <a:pt x="472313" y="818261"/>
                  </a:lnTo>
                  <a:lnTo>
                    <a:pt x="479171" y="817626"/>
                  </a:lnTo>
                  <a:lnTo>
                    <a:pt x="540893" y="812165"/>
                  </a:lnTo>
                  <a:lnTo>
                    <a:pt x="614045" y="803021"/>
                  </a:lnTo>
                  <a:lnTo>
                    <a:pt x="690245" y="790829"/>
                  </a:lnTo>
                  <a:lnTo>
                    <a:pt x="729869" y="783209"/>
                  </a:lnTo>
                  <a:lnTo>
                    <a:pt x="767969" y="775589"/>
                  </a:lnTo>
                  <a:lnTo>
                    <a:pt x="809117" y="766445"/>
                  </a:lnTo>
                  <a:lnTo>
                    <a:pt x="848741" y="755777"/>
                  </a:lnTo>
                  <a:lnTo>
                    <a:pt x="889889" y="746633"/>
                  </a:lnTo>
                  <a:lnTo>
                    <a:pt x="931037" y="734441"/>
                  </a:lnTo>
                  <a:lnTo>
                    <a:pt x="934085" y="734441"/>
                  </a:lnTo>
                  <a:lnTo>
                    <a:pt x="937133" y="731393"/>
                  </a:lnTo>
                  <a:lnTo>
                    <a:pt x="940181" y="725297"/>
                  </a:lnTo>
                  <a:lnTo>
                    <a:pt x="940181" y="719201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577087"/>
            <a:ext cx="6581775" cy="10887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62280" marR="5080" indent="-229235">
              <a:lnSpc>
                <a:spcPct val="144200"/>
              </a:lnSpc>
              <a:spcBef>
                <a:spcPts val="100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The traditional perspective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planning is </a:t>
            </a:r>
            <a:r>
              <a:rPr dirty="0" sz="1200" spc="-10">
                <a:latin typeface="Arial MT"/>
                <a:cs typeface="Arial MT"/>
              </a:rPr>
              <a:t>based </a:t>
            </a:r>
            <a:r>
              <a:rPr dirty="0" sz="1200" spc="-5">
                <a:latin typeface="Arial MT"/>
                <a:cs typeface="Arial MT"/>
              </a:rPr>
              <a:t>on rational-linear models characterized by </a:t>
            </a:r>
            <a:r>
              <a:rPr dirty="0" sz="1200">
                <a:latin typeface="Arial MT"/>
                <a:cs typeface="Arial MT"/>
              </a:rPr>
              <a:t> setting</a:t>
            </a:r>
            <a:r>
              <a:rPr dirty="0" sz="1200" spc="-5">
                <a:latin typeface="Arial MT"/>
                <a:cs typeface="Arial MT"/>
              </a:rPr>
              <a:t> goals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taking</a:t>
            </a:r>
            <a:r>
              <a:rPr dirty="0" sz="1200">
                <a:latin typeface="Arial MT"/>
                <a:cs typeface="Arial MT"/>
              </a:rPr>
              <a:t> specific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actions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accomplish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desired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outcomes.</a:t>
            </a:r>
            <a:endParaRPr sz="1200">
              <a:latin typeface="Arial MT"/>
              <a:cs typeface="Arial MT"/>
            </a:endParaRPr>
          </a:p>
          <a:p>
            <a:pPr algn="just" marL="462280" marR="10795" indent="-229235">
              <a:lnSpc>
                <a:spcPct val="144200"/>
              </a:lnSpc>
              <a:spcBef>
                <a:spcPts val="3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Success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instruction depends upon planning. Traditional model is being </a:t>
            </a:r>
            <a:r>
              <a:rPr dirty="0" sz="1200">
                <a:latin typeface="Arial MT"/>
                <a:cs typeface="Arial MT"/>
              </a:rPr>
              <a:t>very much </a:t>
            </a:r>
            <a:r>
              <a:rPr dirty="0" sz="1200" spc="-5">
                <a:latin typeface="Arial MT"/>
                <a:cs typeface="Arial MT"/>
              </a:rPr>
              <a:t>in </a:t>
            </a:r>
            <a:r>
              <a:rPr dirty="0" sz="1200" spc="-10">
                <a:latin typeface="Arial MT"/>
                <a:cs typeface="Arial MT"/>
              </a:rPr>
              <a:t>use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Pakistan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countries.</a:t>
            </a:r>
            <a:endParaRPr sz="1200">
              <a:latin typeface="Arial MT"/>
              <a:cs typeface="Arial MT"/>
            </a:endParaRPr>
          </a:p>
          <a:p>
            <a:pPr algn="just" marL="462280" marR="7620" indent="-229235">
              <a:lnSpc>
                <a:spcPct val="144200"/>
              </a:lnSpc>
              <a:spcBef>
                <a:spcPts val="3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The knowledge base suggests that teacher planning and decision making </a:t>
            </a:r>
            <a:r>
              <a:rPr dirty="0" sz="1200" spc="-10">
                <a:latin typeface="Arial MT"/>
                <a:cs typeface="Arial MT"/>
              </a:rPr>
              <a:t>do </a:t>
            </a:r>
            <a:r>
              <a:rPr dirty="0" sz="1200" spc="-5">
                <a:latin typeface="Arial MT"/>
                <a:cs typeface="Arial MT"/>
              </a:rPr>
              <a:t>not always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conform</a:t>
            </a:r>
            <a:r>
              <a:rPr dirty="0" sz="1200">
                <a:latin typeface="Arial MT"/>
                <a:cs typeface="Arial MT"/>
              </a:rPr>
              <a:t> to </a:t>
            </a:r>
            <a:r>
              <a:rPr dirty="0" sz="1200" spc="-5">
                <a:latin typeface="Arial MT"/>
                <a:cs typeface="Arial MT"/>
              </a:rPr>
              <a:t>rational-linear planning models. Newer perspectives 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put more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emphasis on planners’ nonlinear actions and reflections. Linear fashion focus on goals.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Nonlinear fashion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</a:t>
            </a:r>
            <a:r>
              <a:rPr dirty="0" sz="1200">
                <a:latin typeface="Arial MT"/>
                <a:cs typeface="Arial MT"/>
              </a:rPr>
              <a:t> 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process.</a:t>
            </a:r>
            <a:endParaRPr sz="1200">
              <a:latin typeface="Arial MT"/>
              <a:cs typeface="Arial MT"/>
            </a:endParaRPr>
          </a:p>
          <a:p>
            <a:pPr algn="just" marL="462280" marR="10795" indent="-229235">
              <a:lnSpc>
                <a:spcPct val="144200"/>
              </a:lnSpc>
              <a:spcBef>
                <a:spcPts val="3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third </a:t>
            </a:r>
            <a:r>
              <a:rPr dirty="0" sz="1200">
                <a:latin typeface="Arial MT"/>
                <a:cs typeface="Arial MT"/>
              </a:rPr>
              <a:t>form </a:t>
            </a:r>
            <a:r>
              <a:rPr dirty="0" sz="1200" spc="-5">
                <a:latin typeface="Arial MT"/>
                <a:cs typeface="Arial MT"/>
              </a:rPr>
              <a:t>of teacher planning called mental planning, is based on reflective thinking prior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construction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formal</a:t>
            </a:r>
            <a:r>
              <a:rPr dirty="0" sz="1200">
                <a:latin typeface="Arial MT"/>
                <a:cs typeface="Arial MT"/>
              </a:rPr>
              <a:t> plans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imaging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mental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rehearsal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prior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presenting particular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lessons.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Mental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process needs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5">
                <a:latin typeface="Arial MT"/>
                <a:cs typeface="Arial MT"/>
              </a:rPr>
              <a:t> their while </a:t>
            </a:r>
            <a:r>
              <a:rPr dirty="0" sz="1200">
                <a:latin typeface="Arial MT"/>
                <a:cs typeface="Arial MT"/>
              </a:rPr>
              <a:t>planning.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Calibri"/>
              <a:buChar char="-"/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phases</a:t>
            </a:r>
            <a:endParaRPr sz="1200">
              <a:latin typeface="Arial"/>
              <a:cs typeface="Arial"/>
            </a:endParaRPr>
          </a:p>
          <a:p>
            <a:pPr algn="just" marL="462280" indent="-229235">
              <a:lnSpc>
                <a:spcPct val="100000"/>
              </a:lnSpc>
              <a:spcBef>
                <a:spcPts val="810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Teacher planning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multifaceted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relates 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three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phases</a:t>
            </a:r>
            <a:r>
              <a:rPr dirty="0" sz="1200">
                <a:latin typeface="Arial MT"/>
                <a:cs typeface="Arial MT"/>
              </a:rPr>
              <a:t> of </a:t>
            </a:r>
            <a:r>
              <a:rPr dirty="0" sz="1200" spc="-5">
                <a:latin typeface="Arial MT"/>
                <a:cs typeface="Arial MT"/>
              </a:rPr>
              <a:t>teaching:</a:t>
            </a:r>
            <a:endParaRPr sz="1200">
              <a:latin typeface="Arial MT"/>
              <a:cs typeface="Arial MT"/>
            </a:endParaRPr>
          </a:p>
          <a:p>
            <a:pPr algn="just" marL="462280" indent="-229235">
              <a:lnSpc>
                <a:spcPct val="100000"/>
              </a:lnSpc>
              <a:spcBef>
                <a:spcPts val="780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Prior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endParaRPr sz="1200">
              <a:latin typeface="Arial MT"/>
              <a:cs typeface="Arial MT"/>
            </a:endParaRPr>
          </a:p>
          <a:p>
            <a:pPr algn="just" marL="462280" indent="-229235">
              <a:lnSpc>
                <a:spcPct val="100000"/>
              </a:lnSpc>
              <a:spcBef>
                <a:spcPts val="75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During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endParaRPr sz="1200">
              <a:latin typeface="Arial MT"/>
              <a:cs typeface="Arial MT"/>
            </a:endParaRPr>
          </a:p>
          <a:p>
            <a:pPr algn="just" marL="462280" indent="-229235">
              <a:lnSpc>
                <a:spcPct val="100000"/>
              </a:lnSpc>
              <a:spcBef>
                <a:spcPts val="765"/>
              </a:spcBef>
              <a:buFont typeface="Calibri"/>
              <a:buChar char="-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after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endParaRPr sz="1200">
              <a:latin typeface="Arial MT"/>
              <a:cs typeface="Arial MT"/>
            </a:endParaRPr>
          </a:p>
          <a:p>
            <a:pPr algn="just" marL="18415" marR="195580" indent="-6350">
              <a:lnSpc>
                <a:spcPct val="143900"/>
              </a:lnSpc>
              <a:spcBef>
                <a:spcPts val="940"/>
              </a:spcBef>
            </a:pPr>
            <a:r>
              <a:rPr dirty="0" sz="1200" spc="-5">
                <a:latin typeface="Arial MT"/>
                <a:cs typeface="Arial MT"/>
              </a:rPr>
              <a:t>Teacher planning is not only confined to the planning stage only. It is also in implementation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 evaluation stage. Teacher not only makes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decisions on copy pencil </a:t>
            </a:r>
            <a:r>
              <a:rPr dirty="0" sz="1200">
                <a:latin typeface="Arial MT"/>
                <a:cs typeface="Arial MT"/>
              </a:rPr>
              <a:t>tests. </a:t>
            </a:r>
            <a:r>
              <a:rPr dirty="0" sz="1200" spc="-5">
                <a:latin typeface="Arial MT"/>
                <a:cs typeface="Arial MT"/>
              </a:rPr>
              <a:t>He also </a:t>
            </a:r>
            <a:r>
              <a:rPr dirty="0" sz="1200">
                <a:latin typeface="Arial MT"/>
                <a:cs typeface="Arial MT"/>
              </a:rPr>
              <a:t> makes </a:t>
            </a:r>
            <a:r>
              <a:rPr dirty="0" sz="1200" spc="-5">
                <a:latin typeface="Arial MT"/>
                <a:cs typeface="Arial MT"/>
              </a:rPr>
              <a:t>the decisions in implementation process. He makes vigorous </a:t>
            </a:r>
            <a:r>
              <a:rPr dirty="0" sz="1200">
                <a:latin typeface="Arial MT"/>
                <a:cs typeface="Arial MT"/>
              </a:rPr>
              <a:t>decision </a:t>
            </a:r>
            <a:r>
              <a:rPr dirty="0" sz="1200" spc="-5">
                <a:latin typeface="Arial MT"/>
                <a:cs typeface="Arial MT"/>
              </a:rPr>
              <a:t>while </a:t>
            </a:r>
            <a:r>
              <a:rPr dirty="0" sz="1200" spc="-10">
                <a:latin typeface="Arial MT"/>
                <a:cs typeface="Arial MT"/>
              </a:rPr>
              <a:t>he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 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200">
                <a:latin typeface="Arial MT"/>
                <a:cs typeface="Arial MT"/>
              </a:rPr>
              <a:t>class.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Diversity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students</a:t>
            </a:r>
            <a:endParaRPr sz="1200">
              <a:latin typeface="Arial"/>
              <a:cs typeface="Arial"/>
            </a:endParaRPr>
          </a:p>
          <a:p>
            <a:pPr marL="12700" marR="523240">
              <a:lnSpc>
                <a:spcPts val="2060"/>
              </a:lnSpc>
              <a:spcBef>
                <a:spcPts val="165"/>
              </a:spcBef>
            </a:pP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class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needs.</a:t>
            </a:r>
            <a:r>
              <a:rPr dirty="0" sz="1200" spc="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McCarthy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makes</a:t>
            </a:r>
            <a:r>
              <a:rPr dirty="0" sz="1200" spc="-5">
                <a:latin typeface="Arial MT"/>
                <a:cs typeface="Arial MT"/>
              </a:rPr>
              <a:t> a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4MAT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diversity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" b="1">
                <a:latin typeface="Arial"/>
                <a:cs typeface="Arial"/>
              </a:rPr>
              <a:t>Meaning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(Why)</a:t>
            </a:r>
            <a:endParaRPr sz="1200">
              <a:latin typeface="Arial"/>
              <a:cs typeface="Arial"/>
            </a:endParaRPr>
          </a:p>
          <a:p>
            <a:pPr algn="just" marL="18415" marR="203200" indent="-6350">
              <a:lnSpc>
                <a:spcPts val="2080"/>
              </a:lnSpc>
              <a:spcBef>
                <a:spcPts val="145"/>
              </a:spcBef>
            </a:pPr>
            <a:r>
              <a:rPr dirty="0" sz="1200">
                <a:latin typeface="Arial MT"/>
                <a:cs typeface="Arial MT"/>
              </a:rPr>
              <a:t>In </a:t>
            </a:r>
            <a:r>
              <a:rPr dirty="0" sz="1200" spc="-5">
                <a:latin typeface="Arial MT"/>
                <a:cs typeface="Arial MT"/>
              </a:rPr>
              <a:t>meaning there are functions of connect and attend. There should be connection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current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 with the prior knowledge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students. In attend </a:t>
            </a:r>
            <a:r>
              <a:rPr dirty="0" sz="1200">
                <a:latin typeface="Arial MT"/>
                <a:cs typeface="Arial MT"/>
              </a:rPr>
              <a:t>part </a:t>
            </a:r>
            <a:r>
              <a:rPr dirty="0" sz="1200" spc="-5">
                <a:latin typeface="Arial MT"/>
                <a:cs typeface="Arial MT"/>
              </a:rPr>
              <a:t>we will see that what are the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individual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students.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dirty="0" sz="1200" spc="-5" b="1">
                <a:latin typeface="Arial"/>
                <a:cs typeface="Arial"/>
              </a:rPr>
              <a:t>Concepts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(What)</a:t>
            </a:r>
            <a:endParaRPr sz="1200">
              <a:latin typeface="Arial"/>
              <a:cs typeface="Arial"/>
            </a:endParaRPr>
          </a:p>
          <a:p>
            <a:pPr algn="just" marL="18415" marR="200660" indent="-6350">
              <a:lnSpc>
                <a:spcPts val="2080"/>
              </a:lnSpc>
              <a:spcBef>
                <a:spcPts val="155"/>
              </a:spcBef>
            </a:pP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functions </a:t>
            </a:r>
            <a:r>
              <a:rPr dirty="0" sz="1200">
                <a:latin typeface="Arial MT"/>
                <a:cs typeface="Arial MT"/>
              </a:rPr>
              <a:t>are </a:t>
            </a:r>
            <a:r>
              <a:rPr dirty="0" sz="1200" spc="-5">
                <a:latin typeface="Arial MT"/>
                <a:cs typeface="Arial MT"/>
              </a:rPr>
              <a:t>image and inform. </a:t>
            </a:r>
            <a:r>
              <a:rPr dirty="0" sz="1200">
                <a:latin typeface="Arial MT"/>
                <a:cs typeface="Arial MT"/>
              </a:rPr>
              <a:t>In this step </a:t>
            </a:r>
            <a:r>
              <a:rPr dirty="0" sz="1200" spc="-5">
                <a:latin typeface="Arial MT"/>
                <a:cs typeface="Arial MT"/>
              </a:rPr>
              <a:t>we will </a:t>
            </a:r>
            <a:r>
              <a:rPr dirty="0" sz="1200">
                <a:latin typeface="Arial MT"/>
                <a:cs typeface="Arial MT"/>
              </a:rPr>
              <a:t>tell </a:t>
            </a:r>
            <a:r>
              <a:rPr dirty="0" sz="1200" spc="-5">
                <a:latin typeface="Arial MT"/>
                <a:cs typeface="Arial MT"/>
              </a:rPr>
              <a:t>the students imagine </a:t>
            </a:r>
            <a:r>
              <a:rPr dirty="0" sz="1200">
                <a:latin typeface="Arial MT"/>
                <a:cs typeface="Arial MT"/>
              </a:rPr>
              <a:t>what </a:t>
            </a:r>
            <a:r>
              <a:rPr dirty="0" sz="1200" spc="-5">
                <a:latin typeface="Arial MT"/>
                <a:cs typeface="Arial MT"/>
              </a:rPr>
              <a:t>new </a:t>
            </a:r>
            <a:r>
              <a:rPr dirty="0" sz="1200">
                <a:latin typeface="Arial MT"/>
                <a:cs typeface="Arial MT"/>
              </a:rPr>
              <a:t> expressions look </a:t>
            </a:r>
            <a:r>
              <a:rPr dirty="0" sz="1200" spc="-5">
                <a:latin typeface="Arial MT"/>
                <a:cs typeface="Arial MT"/>
              </a:rPr>
              <a:t>like. In </a:t>
            </a:r>
            <a:r>
              <a:rPr dirty="0" sz="1200">
                <a:latin typeface="Arial MT"/>
                <a:cs typeface="Arial MT"/>
              </a:rPr>
              <a:t>this part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tell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to brainstorm. Teacher </a:t>
            </a:r>
            <a:r>
              <a:rPr dirty="0" sz="1200">
                <a:latin typeface="Arial MT"/>
                <a:cs typeface="Arial MT"/>
              </a:rPr>
              <a:t>may ask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come up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5">
                <a:latin typeface="Arial MT"/>
                <a:cs typeface="Arial MT"/>
              </a:rPr>
              <a:t> giving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comes.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200" spc="-5" b="1">
                <a:latin typeface="Arial"/>
                <a:cs typeface="Arial"/>
              </a:rPr>
              <a:t>Skills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(How)</a:t>
            </a:r>
            <a:endParaRPr sz="1200">
              <a:latin typeface="Arial"/>
              <a:cs typeface="Arial"/>
            </a:endParaRPr>
          </a:p>
          <a:p>
            <a:pPr algn="just" marL="18415" marR="198755" indent="-6350">
              <a:lnSpc>
                <a:spcPts val="2080"/>
              </a:lnSpc>
              <a:spcBef>
                <a:spcPts val="65"/>
              </a:spcBef>
            </a:pPr>
            <a:r>
              <a:rPr dirty="0" sz="1200">
                <a:latin typeface="Arial MT"/>
                <a:cs typeface="Arial MT"/>
              </a:rPr>
              <a:t>Its </a:t>
            </a:r>
            <a:r>
              <a:rPr dirty="0" sz="1200" spc="-5">
                <a:latin typeface="Arial MT"/>
                <a:cs typeface="Arial MT"/>
              </a:rPr>
              <a:t>functions are practice and extent. We know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practice is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different kinds. In this step </a:t>
            </a:r>
            <a:r>
              <a:rPr dirty="0" sz="1200" spc="-1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 provide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opportunity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told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grammar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rules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15">
                <a:latin typeface="Arial MT"/>
                <a:cs typeface="Arial MT"/>
              </a:rPr>
              <a:t>we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>
                <a:latin typeface="Arial MT"/>
                <a:cs typeface="Arial MT"/>
              </a:rPr>
              <a:t> tell them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apply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those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575563"/>
            <a:ext cx="6777990" cy="3447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400050">
              <a:lnSpc>
                <a:spcPct val="144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rules.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Extent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skill.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automatic.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</a:t>
            </a:r>
            <a:r>
              <a:rPr dirty="0" sz="1200" spc="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extent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opportunity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extended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Extended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practice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leads 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Adaptation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(If)</a:t>
            </a:r>
            <a:endParaRPr sz="1200">
              <a:latin typeface="Arial"/>
              <a:cs typeface="Arial"/>
            </a:endParaRPr>
          </a:p>
          <a:p>
            <a:pPr marL="18415" marR="5080" indent="-6350">
              <a:lnSpc>
                <a:spcPts val="2080"/>
              </a:lnSpc>
              <a:spcBef>
                <a:spcPts val="140"/>
              </a:spcBef>
            </a:pPr>
            <a:r>
              <a:rPr dirty="0" sz="1200">
                <a:latin typeface="Arial MT"/>
                <a:cs typeface="Arial MT"/>
              </a:rPr>
              <a:t>Its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functions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refine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problem.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achieved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able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relate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refine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 </a:t>
            </a:r>
            <a:r>
              <a:rPr dirty="0" sz="1200" spc="-5">
                <a:latin typeface="Arial MT"/>
                <a:cs typeface="Arial MT"/>
              </a:rPr>
              <a:t>skill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 practical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life. </a:t>
            </a:r>
            <a:r>
              <a:rPr dirty="0" sz="1200" spc="-5">
                <a:latin typeface="Arial MT"/>
                <a:cs typeface="Arial MT"/>
              </a:rPr>
              <a:t>Performance includes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connections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innovations.</a:t>
            </a:r>
            <a:endParaRPr sz="1200">
              <a:latin typeface="Arial MT"/>
              <a:cs typeface="Arial MT"/>
            </a:endParaRPr>
          </a:p>
          <a:p>
            <a:pPr marL="12700" marR="497205">
              <a:lnSpc>
                <a:spcPts val="2060"/>
              </a:lnSpc>
              <a:spcBef>
                <a:spcPts val="30"/>
              </a:spcBef>
            </a:pPr>
            <a:r>
              <a:rPr dirty="0" sz="1200" spc="-5">
                <a:latin typeface="Arial MT"/>
                <a:cs typeface="Arial MT"/>
              </a:rPr>
              <a:t>4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model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comprehensive. Problem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solving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function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right</a:t>
            </a:r>
            <a:r>
              <a:rPr dirty="0" sz="1200" spc="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brain.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based 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points.</a:t>
            </a:r>
            <a:endParaRPr sz="12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  <a:spcBef>
                <a:spcPts val="445"/>
              </a:spcBef>
            </a:pPr>
            <a:r>
              <a:rPr dirty="0" sz="1200" spc="-5">
                <a:latin typeface="Arial MT"/>
                <a:cs typeface="Arial MT"/>
              </a:rPr>
              <a:t>Assessing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endParaRPr sz="1200">
              <a:latin typeface="Arial MT"/>
              <a:cs typeface="Arial MT"/>
            </a:endParaRPr>
          </a:p>
          <a:p>
            <a:pPr algn="just" marL="18415" marR="392430" indent="-6350">
              <a:lnSpc>
                <a:spcPts val="2080"/>
              </a:lnSpc>
              <a:spcBef>
                <a:spcPts val="70"/>
              </a:spcBef>
            </a:pP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assess the students according to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define objectives is the simple method. But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we use 4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 model, we 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assess the students on all four points(meaning, concepts, skills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adaptation).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have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assess the students according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our teaching models that we are </a:t>
            </a:r>
            <a:r>
              <a:rPr dirty="0" sz="1200">
                <a:latin typeface="Arial MT"/>
                <a:cs typeface="Arial MT"/>
              </a:rPr>
              <a:t> using.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572" y="5962523"/>
            <a:ext cx="6506209" cy="281940"/>
          </a:xfrm>
          <a:prstGeom prst="rect">
            <a:avLst/>
          </a:prstGeom>
          <a:solidFill>
            <a:srgbClr val="006FC0"/>
          </a:solidFill>
          <a:ln w="6096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44 “Teaching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Tools”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6387210"/>
            <a:ext cx="6390640" cy="5400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Outline: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Teaching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tools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Vi</a:t>
            </a:r>
            <a:r>
              <a:rPr dirty="0" sz="1200" spc="5" b="1">
                <a:latin typeface="Arial"/>
                <a:cs typeface="Arial"/>
              </a:rPr>
              <a:t>s</a:t>
            </a:r>
            <a:r>
              <a:rPr dirty="0" sz="1200" b="1">
                <a:latin typeface="Arial"/>
                <a:cs typeface="Arial"/>
              </a:rPr>
              <a:t>ua</a:t>
            </a:r>
            <a:r>
              <a:rPr dirty="0" sz="1200" b="1">
                <a:latin typeface="Arial"/>
                <a:cs typeface="Arial"/>
              </a:rPr>
              <a:t>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ids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Audio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aids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these objects?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Textbook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Supplementary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Readers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5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Computer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programmes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Multimedia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Worksheets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Visual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charts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Videos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4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Audios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Models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400" spc="-5" b="1">
                <a:latin typeface="Arial"/>
                <a:cs typeface="Arial"/>
              </a:rPr>
              <a:t>Definition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of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5" b="1">
                <a:latin typeface="Arial"/>
                <a:cs typeface="Arial"/>
              </a:rPr>
              <a:t>tools:</a:t>
            </a:r>
            <a:endParaRPr sz="1400">
              <a:latin typeface="Arial"/>
              <a:cs typeface="Arial"/>
            </a:endParaRPr>
          </a:p>
          <a:p>
            <a:pPr algn="just" marL="18415" marR="5080" indent="-6350">
              <a:lnSpc>
                <a:spcPct val="109400"/>
              </a:lnSpc>
              <a:spcBef>
                <a:spcPts val="844"/>
              </a:spcBef>
            </a:pPr>
            <a:r>
              <a:rPr dirty="0" sz="1200" spc="-5">
                <a:latin typeface="Arial MT"/>
                <a:cs typeface="Arial MT"/>
              </a:rPr>
              <a:t>Purpose </a:t>
            </a:r>
            <a:r>
              <a:rPr dirty="0" sz="1200">
                <a:latin typeface="Arial MT"/>
                <a:cs typeface="Arial MT"/>
              </a:rPr>
              <a:t>of tools </a:t>
            </a:r>
            <a:r>
              <a:rPr dirty="0" sz="1200" spc="-5">
                <a:latin typeface="Arial MT"/>
                <a:cs typeface="Arial MT"/>
              </a:rPr>
              <a:t>is to get things done easily, swiftly and quickly. So, teaching tools means that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those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ensure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 </a:t>
            </a:r>
            <a:r>
              <a:rPr dirty="0" sz="1200" spc="-5">
                <a:latin typeface="Arial MT"/>
                <a:cs typeface="Arial MT"/>
              </a:rPr>
              <a:t>important teaching </a:t>
            </a:r>
            <a:r>
              <a:rPr dirty="0" sz="1200">
                <a:latin typeface="Arial MT"/>
                <a:cs typeface="Arial MT"/>
              </a:rPr>
              <a:t>tool </a:t>
            </a:r>
            <a:r>
              <a:rPr dirty="0" sz="1200" spc="-5">
                <a:latin typeface="Arial MT"/>
                <a:cs typeface="Arial MT"/>
              </a:rPr>
              <a:t>or teaching resource is the </a:t>
            </a:r>
            <a:r>
              <a:rPr dirty="0" sz="1200" spc="5">
                <a:latin typeface="Arial MT"/>
                <a:cs typeface="Arial MT"/>
              </a:rPr>
              <a:t>teacher </a:t>
            </a:r>
            <a:r>
              <a:rPr dirty="0" sz="1200" spc="-5">
                <a:latin typeface="Arial MT"/>
                <a:cs typeface="Arial MT"/>
              </a:rPr>
              <a:t>himself. The tool which is </a:t>
            </a:r>
            <a:r>
              <a:rPr dirty="0" sz="1200">
                <a:latin typeface="Arial MT"/>
                <a:cs typeface="Arial MT"/>
              </a:rPr>
              <a:t> mostly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textbook.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1.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Textbook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as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tool: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120"/>
              </a:spcBef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textbooks</a:t>
            </a:r>
            <a:r>
              <a:rPr dirty="0" sz="1200">
                <a:latin typeface="Arial MT"/>
                <a:cs typeface="Arial MT"/>
              </a:rPr>
              <a:t> serve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following purpose: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-	</a:t>
            </a:r>
            <a:r>
              <a:rPr dirty="0" sz="1200" b="1">
                <a:latin typeface="Arial"/>
                <a:cs typeface="Arial"/>
              </a:rPr>
              <a:t>Information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through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text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pictures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638047"/>
            <a:ext cx="6384290" cy="3843654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244"/>
              </a:spcBef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-	</a:t>
            </a:r>
            <a:r>
              <a:rPr dirty="0" sz="1200" b="1">
                <a:latin typeface="Arial"/>
                <a:cs typeface="Arial"/>
              </a:rPr>
              <a:t>Questions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for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thinking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ct val="109700"/>
              </a:lnSpc>
            </a:pPr>
            <a:r>
              <a:rPr dirty="0" sz="1200" spc="-5">
                <a:latin typeface="Arial MT"/>
                <a:cs typeface="Arial MT"/>
              </a:rPr>
              <a:t>There are some books which are based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very good information but the missing element in </a:t>
            </a:r>
            <a:r>
              <a:rPr dirty="0" sz="1200">
                <a:latin typeface="Arial MT"/>
                <a:cs typeface="Arial MT"/>
              </a:rPr>
              <a:t> these </a:t>
            </a:r>
            <a:r>
              <a:rPr dirty="0" sz="1200" spc="-5">
                <a:latin typeface="Arial MT"/>
                <a:cs typeface="Arial MT"/>
              </a:rPr>
              <a:t>books is thinking questions.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teacher </a:t>
            </a:r>
            <a:r>
              <a:rPr dirty="0" sz="1200">
                <a:latin typeface="Arial MT"/>
                <a:cs typeface="Arial MT"/>
              </a:rPr>
              <a:t>must try </a:t>
            </a:r>
            <a:r>
              <a:rPr dirty="0" sz="1200" spc="-5">
                <a:latin typeface="Arial MT"/>
                <a:cs typeface="Arial MT"/>
              </a:rPr>
              <a:t>to construct questions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their own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ensure 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dirty="0" sz="1200" b="1">
                <a:latin typeface="Arial"/>
                <a:cs typeface="Arial"/>
              </a:rPr>
              <a:t>2.</a:t>
            </a:r>
            <a:r>
              <a:rPr dirty="0" sz="1200" spc="-5" b="1">
                <a:latin typeface="Arial"/>
                <a:cs typeface="Arial"/>
              </a:rPr>
              <a:t> Supplementary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readers: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ts val="1570"/>
              </a:lnSpc>
              <a:spcBef>
                <a:spcPts val="65"/>
              </a:spcBef>
            </a:pPr>
            <a:r>
              <a:rPr dirty="0" sz="1200" spc="-5">
                <a:latin typeface="Arial MT"/>
                <a:cs typeface="Arial MT"/>
              </a:rPr>
              <a:t>Supplementary readings </a:t>
            </a:r>
            <a:r>
              <a:rPr dirty="0" sz="1200" spc="-10">
                <a:latin typeface="Arial MT"/>
                <a:cs typeface="Arial MT"/>
              </a:rPr>
              <a:t>are those </a:t>
            </a:r>
            <a:r>
              <a:rPr dirty="0" sz="1200" spc="-5">
                <a:latin typeface="Arial MT"/>
                <a:cs typeface="Arial MT"/>
              </a:rPr>
              <a:t>which supplement your textbook knowledge. </a:t>
            </a:r>
            <a:r>
              <a:rPr dirty="0" sz="1200">
                <a:latin typeface="Arial MT"/>
                <a:cs typeface="Arial MT"/>
              </a:rPr>
              <a:t>If </a:t>
            </a:r>
            <a:r>
              <a:rPr dirty="0" sz="1200" spc="-5">
                <a:latin typeface="Arial MT"/>
                <a:cs typeface="Arial MT"/>
              </a:rPr>
              <a:t>children </a:t>
            </a:r>
            <a:r>
              <a:rPr dirty="0" sz="1200" spc="-10">
                <a:latin typeface="Arial MT"/>
                <a:cs typeface="Arial MT"/>
              </a:rPr>
              <a:t>use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read </a:t>
            </a:r>
            <a:r>
              <a:rPr dirty="0" sz="1200" spc="-10">
                <a:latin typeface="Arial MT"/>
                <a:cs typeface="Arial MT"/>
              </a:rPr>
              <a:t>some </a:t>
            </a:r>
            <a:r>
              <a:rPr dirty="0" sz="1200" spc="-5">
                <a:latin typeface="Arial MT"/>
                <a:cs typeface="Arial MT"/>
              </a:rPr>
              <a:t>books other than textbooks, parents usually discourage them. Supplementary </a:t>
            </a:r>
            <a:r>
              <a:rPr dirty="0" sz="1200">
                <a:latin typeface="Arial MT"/>
                <a:cs typeface="Arial MT"/>
              </a:rPr>
              <a:t> readings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 Benefits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supplementary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readings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Extend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already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knowledge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Extend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vocabulary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Extend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imagination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Extend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higher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order</a:t>
            </a:r>
            <a:r>
              <a:rPr dirty="0" sz="1200" spc="-5" b="1">
                <a:latin typeface="Arial"/>
                <a:cs typeface="Arial"/>
              </a:rPr>
              <a:t> thinking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They make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children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autonomous learners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ct val="1090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Supplementary readings provide extensive information on a topic. All these things depend </a:t>
            </a:r>
            <a:r>
              <a:rPr dirty="0" sz="1200" spc="-10">
                <a:latin typeface="Arial MT"/>
                <a:cs typeface="Arial MT"/>
              </a:rPr>
              <a:t>on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quality of </a:t>
            </a:r>
            <a:r>
              <a:rPr dirty="0" sz="1200" spc="-5">
                <a:latin typeface="Arial MT"/>
                <a:cs typeface="Arial MT"/>
              </a:rPr>
              <a:t>your supplement material. These also help in making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“independent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learners.” Purpose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1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enhance students reading. We need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use all these things to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thinking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make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autonomous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learners.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4901310"/>
            <a:ext cx="6387465" cy="214122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385"/>
              </a:spcBef>
            </a:pPr>
            <a:r>
              <a:rPr dirty="0" sz="1200" b="1">
                <a:latin typeface="Arial"/>
                <a:cs typeface="Arial"/>
              </a:rPr>
              <a:t>3.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Computer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Programmes: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9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Power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point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Word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Excel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4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Internet</a:t>
            </a:r>
            <a:endParaRPr sz="1200">
              <a:latin typeface="Arial"/>
              <a:cs typeface="Arial"/>
            </a:endParaRPr>
          </a:p>
          <a:p>
            <a:pPr algn="just" marL="18415" marR="5080" indent="-6350">
              <a:lnSpc>
                <a:spcPct val="109400"/>
              </a:lnSpc>
              <a:spcBef>
                <a:spcPts val="10"/>
              </a:spcBef>
            </a:pPr>
            <a:r>
              <a:rPr dirty="0" sz="1200" spc="-5">
                <a:latin typeface="Arial MT"/>
                <a:cs typeface="Arial MT"/>
              </a:rPr>
              <a:t>These all programmes can serve as teaching </a:t>
            </a:r>
            <a:r>
              <a:rPr dirty="0" sz="1200">
                <a:latin typeface="Arial MT"/>
                <a:cs typeface="Arial MT"/>
              </a:rPr>
              <a:t>tool. </a:t>
            </a:r>
            <a:r>
              <a:rPr dirty="0" sz="1200" spc="-5">
                <a:latin typeface="Arial MT"/>
                <a:cs typeface="Arial MT"/>
              </a:rPr>
              <a:t>Students are using internet for surfing and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vast.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using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prepare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with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etc. </a:t>
            </a:r>
            <a:r>
              <a:rPr dirty="0" sz="1200" spc="-5">
                <a:latin typeface="Arial MT"/>
                <a:cs typeface="Arial MT"/>
              </a:rPr>
              <a:t>and using multimedia technology, these are also serving as a teaching tool. Graphic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organizers </a:t>
            </a:r>
            <a:r>
              <a:rPr dirty="0" sz="1200">
                <a:latin typeface="Arial MT"/>
                <a:cs typeface="Arial MT"/>
              </a:rPr>
              <a:t>are very </a:t>
            </a:r>
            <a:r>
              <a:rPr dirty="0" sz="1200" spc="-5">
                <a:latin typeface="Arial MT"/>
                <a:cs typeface="Arial MT"/>
              </a:rPr>
              <a:t>good teaching methods teachers use because they store more information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mind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rather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than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provided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7480172"/>
            <a:ext cx="6690995" cy="418528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220"/>
              </a:spcBef>
            </a:pPr>
            <a:r>
              <a:rPr dirty="0" sz="1200" b="1">
                <a:latin typeface="Arial"/>
                <a:cs typeface="Arial"/>
              </a:rPr>
              <a:t>4.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Videos:</a:t>
            </a:r>
            <a:endParaRPr sz="1200">
              <a:latin typeface="Arial"/>
              <a:cs typeface="Arial"/>
            </a:endParaRPr>
          </a:p>
          <a:p>
            <a:pPr marL="239395" marR="5080" indent="-6350">
              <a:lnSpc>
                <a:spcPts val="1570"/>
              </a:lnSpc>
              <a:spcBef>
                <a:spcPts val="65"/>
              </a:spcBef>
            </a:pPr>
            <a:r>
              <a:rPr dirty="0" sz="1200">
                <a:latin typeface="Arial MT"/>
                <a:cs typeface="Arial MT"/>
              </a:rPr>
              <a:t>Videos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often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teachers.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Experienced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mostly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used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videos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 management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problems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handle them.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Teacher’s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lectures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Expert’s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talks/ interviews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Classroom</a:t>
            </a:r>
            <a:r>
              <a:rPr dirty="0" sz="1200" spc="-4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discussions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3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Cartoons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Children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films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3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Art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work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videos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Science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experiments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videos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5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Virtual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experiment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videos</a:t>
            </a:r>
            <a:endParaRPr sz="1200">
              <a:latin typeface="Arial"/>
              <a:cs typeface="Arial"/>
            </a:endParaRPr>
          </a:p>
          <a:p>
            <a:pPr algn="just" marL="18415" marR="313055" indent="-6350">
              <a:lnSpc>
                <a:spcPct val="108700"/>
              </a:lnSpc>
              <a:spcBef>
                <a:spcPts val="20"/>
              </a:spcBef>
            </a:pP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teacher must ask questions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the students by giving pauses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video or prepare a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worksheet in the sequence of </a:t>
            </a:r>
            <a:r>
              <a:rPr dirty="0" sz="1200">
                <a:latin typeface="Arial MT"/>
                <a:cs typeface="Arial MT"/>
              </a:rPr>
              <a:t>video </a:t>
            </a:r>
            <a:r>
              <a:rPr dirty="0" sz="1200" spc="-5">
                <a:latin typeface="Arial MT"/>
                <a:cs typeface="Arial MT"/>
              </a:rPr>
              <a:t>and ask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solve </a:t>
            </a:r>
            <a:r>
              <a:rPr dirty="0" sz="1200">
                <a:latin typeface="Arial MT"/>
                <a:cs typeface="Arial MT"/>
              </a:rPr>
              <a:t>it. If </a:t>
            </a:r>
            <a:r>
              <a:rPr dirty="0" sz="1200" spc="-5">
                <a:latin typeface="Arial MT"/>
                <a:cs typeface="Arial MT"/>
              </a:rPr>
              <a:t>teacher is presenting </a:t>
            </a:r>
            <a:r>
              <a:rPr dirty="0" sz="1200">
                <a:latin typeface="Arial MT"/>
                <a:cs typeface="Arial MT"/>
              </a:rPr>
              <a:t> these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during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video,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effective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tool.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5.</a:t>
            </a:r>
            <a:r>
              <a:rPr dirty="0" sz="1200" spc="254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Audios: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0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Children’s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own </a:t>
            </a:r>
            <a:r>
              <a:rPr dirty="0" sz="1200" spc="-5" b="1">
                <a:latin typeface="Arial"/>
                <a:cs typeface="Arial"/>
              </a:rPr>
              <a:t>recording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identify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their </a:t>
            </a:r>
            <a:r>
              <a:rPr dirty="0" sz="1200" spc="-5" b="1">
                <a:latin typeface="Arial"/>
                <a:cs typeface="Arial"/>
              </a:rPr>
              <a:t>strengths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weaknesses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</a:t>
            </a:r>
            <a:r>
              <a:rPr dirty="0" sz="1200" spc="-5" b="1">
                <a:latin typeface="Arial"/>
                <a:cs typeface="Arial"/>
              </a:rPr>
              <a:t> speech.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Pronunciation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lessons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610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Rhymes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65480" y="639571"/>
            <a:ext cx="6167120" cy="624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 marR="5080" indent="-6350">
              <a:lnSpc>
                <a:spcPct val="1092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Video </a:t>
            </a:r>
            <a:r>
              <a:rPr dirty="0" sz="1200" spc="-5">
                <a:latin typeface="Arial MT"/>
                <a:cs typeface="Arial MT"/>
              </a:rPr>
              <a:t>tapes </a:t>
            </a:r>
            <a:r>
              <a:rPr dirty="0" sz="1200" spc="-10">
                <a:latin typeface="Arial MT"/>
                <a:cs typeface="Arial MT"/>
              </a:rPr>
              <a:t>can </a:t>
            </a:r>
            <a:r>
              <a:rPr dirty="0" sz="1200" spc="-5">
                <a:latin typeface="Arial MT"/>
                <a:cs typeface="Arial MT"/>
              </a:rPr>
              <a:t>be used mostly in English and Urdu </a:t>
            </a:r>
            <a:r>
              <a:rPr dirty="0" sz="1200">
                <a:latin typeface="Arial MT"/>
                <a:cs typeface="Arial MT"/>
              </a:rPr>
              <a:t>lessons </a:t>
            </a:r>
            <a:r>
              <a:rPr dirty="0" sz="1200" spc="-10">
                <a:latin typeface="Arial MT"/>
                <a:cs typeface="Arial MT"/>
              </a:rPr>
              <a:t>where </a:t>
            </a:r>
            <a:r>
              <a:rPr dirty="0" sz="1200" spc="-5">
                <a:latin typeface="Arial MT"/>
                <a:cs typeface="Arial MT"/>
              </a:rPr>
              <a:t>you </a:t>
            </a:r>
            <a:r>
              <a:rPr dirty="0" sz="1200">
                <a:latin typeface="Arial MT"/>
                <a:cs typeface="Arial MT"/>
              </a:rPr>
              <a:t>want </a:t>
            </a:r>
            <a:r>
              <a:rPr dirty="0" sz="1200" spc="-5">
                <a:latin typeface="Arial MT"/>
                <a:cs typeface="Arial MT"/>
              </a:rPr>
              <a:t>to </a:t>
            </a:r>
            <a:r>
              <a:rPr dirty="0" sz="1200" spc="-10">
                <a:latin typeface="Arial MT"/>
                <a:cs typeface="Arial MT"/>
              </a:rPr>
              <a:t>enhance </a:t>
            </a:r>
            <a:r>
              <a:rPr dirty="0" sz="1200" spc="-5">
                <a:latin typeface="Arial MT"/>
                <a:cs typeface="Arial MT"/>
              </a:rPr>
              <a:t> students speaking skills. you can record the voice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students and ask them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identify </a:t>
            </a:r>
            <a:r>
              <a:rPr dirty="0" sz="1200">
                <a:latin typeface="Arial MT"/>
                <a:cs typeface="Arial MT"/>
              </a:rPr>
              <a:t> 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own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mistakes.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enhance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evaluation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89370" y="1836166"/>
            <a:ext cx="9105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S</a:t>
            </a:r>
            <a:r>
              <a:rPr dirty="0" sz="1200" spc="-5" b="1">
                <a:latin typeface="Arial"/>
                <a:cs typeface="Arial"/>
              </a:rPr>
              <a:t>c</a:t>
            </a:r>
            <a:r>
              <a:rPr dirty="0" sz="1200" b="1">
                <a:latin typeface="Arial"/>
                <a:cs typeface="Arial"/>
              </a:rPr>
              <a:t>hool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l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b="1">
                <a:latin typeface="Arial"/>
                <a:cs typeface="Arial"/>
              </a:rPr>
              <a:t>wn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800" y="1356105"/>
            <a:ext cx="5272405" cy="883919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85"/>
              </a:spcBef>
            </a:pPr>
            <a:r>
              <a:rPr dirty="0" sz="1200" b="1">
                <a:latin typeface="Times New Roman"/>
                <a:cs typeface="Times New Roman"/>
              </a:rPr>
              <a:t>6.  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5" b="1">
                <a:latin typeface="Arial"/>
                <a:cs typeface="Arial"/>
              </a:rPr>
              <a:t>Classrooms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schools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tool:</a:t>
            </a:r>
            <a:endParaRPr sz="1200">
              <a:latin typeface="Arial"/>
              <a:cs typeface="Arial"/>
            </a:endParaRPr>
          </a:p>
          <a:p>
            <a:pPr marL="228600" indent="-229235">
              <a:lnSpc>
                <a:spcPct val="100000"/>
              </a:lnSpc>
              <a:spcBef>
                <a:spcPts val="290"/>
              </a:spcBef>
              <a:buFont typeface="Times New Roman"/>
              <a:buChar char="-"/>
              <a:tabLst>
                <a:tab pos="228600" algn="l"/>
                <a:tab pos="229235" algn="l"/>
              </a:tabLst>
            </a:pPr>
            <a:r>
              <a:rPr dirty="0" sz="1200" spc="-5" b="1">
                <a:latin typeface="Arial"/>
                <a:cs typeface="Arial"/>
              </a:rPr>
              <a:t>Human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resource</a:t>
            </a:r>
            <a:endParaRPr sz="1200">
              <a:latin typeface="Arial"/>
              <a:cs typeface="Arial"/>
            </a:endParaRPr>
          </a:p>
          <a:p>
            <a:pPr marL="228600" indent="-229235">
              <a:lnSpc>
                <a:spcPct val="100000"/>
              </a:lnSpc>
              <a:spcBef>
                <a:spcPts val="325"/>
              </a:spcBef>
              <a:buFont typeface="Times New Roman"/>
              <a:buChar char="-"/>
              <a:tabLst>
                <a:tab pos="228600" algn="l"/>
                <a:tab pos="229235" algn="l"/>
              </a:tabLst>
            </a:pPr>
            <a:r>
              <a:rPr dirty="0" sz="1200" spc="-5" b="1">
                <a:latin typeface="Arial"/>
                <a:cs typeface="Arial"/>
              </a:rPr>
              <a:t>Teaching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kits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(water bottles,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books,</a:t>
            </a:r>
            <a:r>
              <a:rPr dirty="0" sz="1200" spc="-5" b="1">
                <a:latin typeface="Arial"/>
                <a:cs typeface="Arial"/>
              </a:rPr>
              <a:t> pencil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box,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bags,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teacher’s </a:t>
            </a:r>
            <a:r>
              <a:rPr dirty="0" sz="1200" b="1">
                <a:latin typeface="Arial"/>
                <a:cs typeface="Arial"/>
              </a:rPr>
              <a:t>bag)</a:t>
            </a:r>
            <a:r>
              <a:rPr dirty="0" sz="1200" spc="25" b="1">
                <a:latin typeface="Arial"/>
                <a:cs typeface="Arial"/>
              </a:rPr>
              <a:t> </a:t>
            </a:r>
            <a:r>
              <a:rPr dirty="0" sz="1200">
                <a:latin typeface="Arial MT"/>
                <a:cs typeface="Arial MT"/>
              </a:rPr>
              <a:t>-</a:t>
            </a:r>
            <a:endParaRPr sz="12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95"/>
              </a:spcBef>
            </a:pPr>
            <a:r>
              <a:rPr dirty="0" sz="1200" spc="-5" b="1">
                <a:latin typeface="Arial"/>
                <a:cs typeface="Arial"/>
              </a:rPr>
              <a:t>plants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0" y="2232405"/>
            <a:ext cx="6850380" cy="5020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6350" indent="-6350">
              <a:lnSpc>
                <a:spcPct val="11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material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children’s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bags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or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geometry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boxes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helpful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-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colors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shapes.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You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can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ask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use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</a:t>
            </a:r>
            <a:r>
              <a:rPr dirty="0" sz="1200" spc="10">
                <a:latin typeface="Arial MT"/>
                <a:cs typeface="Arial MT"/>
              </a:rPr>
              <a:t> for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descriptive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writing.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How</a:t>
            </a:r>
            <a:r>
              <a:rPr dirty="0" u="heavy" sz="14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 </a:t>
            </a:r>
            <a:r>
              <a:rPr dirty="0" u="heavy" sz="14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make</a:t>
            </a:r>
            <a:r>
              <a:rPr dirty="0" u="heavy" sz="14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learning tools?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dirty="0" sz="1200" spc="-5" b="1">
                <a:latin typeface="Arial"/>
                <a:cs typeface="Arial"/>
              </a:rPr>
              <a:t>There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are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four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steps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make effective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tools: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Identify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purpose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3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Identify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strategy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Select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make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tool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2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Evaluate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success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tool.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95"/>
              </a:spcBef>
              <a:buFont typeface="Times New Roman"/>
              <a:buChar char="-"/>
              <a:tabLst>
                <a:tab pos="469900" algn="l"/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Use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waste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material </a:t>
            </a:r>
            <a:r>
              <a:rPr dirty="0" sz="1200" spc="-10" b="1">
                <a:latin typeface="Arial"/>
                <a:cs typeface="Arial"/>
              </a:rPr>
              <a:t>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cheap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material</a:t>
            </a:r>
            <a:r>
              <a:rPr dirty="0" sz="1200" spc="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to </a:t>
            </a:r>
            <a:r>
              <a:rPr dirty="0" sz="1200" spc="-5" b="1">
                <a:latin typeface="Arial"/>
                <a:cs typeface="Arial"/>
              </a:rPr>
              <a:t>make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teaching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tools</a:t>
            </a:r>
            <a:r>
              <a:rPr dirty="0" sz="1200" spc="355" b="1">
                <a:latin typeface="Arial"/>
                <a:cs typeface="Arial"/>
              </a:rPr>
              <a:t> </a:t>
            </a: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Technology</a:t>
            </a:r>
            <a:r>
              <a:rPr dirty="0" u="heavy" sz="1400" spc="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as a</a:t>
            </a: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tool:</a:t>
            </a:r>
            <a:endParaRPr sz="1400">
              <a:latin typeface="Arial"/>
              <a:cs typeface="Arial"/>
            </a:endParaRPr>
          </a:p>
          <a:p>
            <a:pPr algn="just" marL="18415" marR="464820" indent="-6350">
              <a:lnSpc>
                <a:spcPct val="109200"/>
              </a:lnSpc>
              <a:spcBef>
                <a:spcPts val="835"/>
              </a:spcBef>
            </a:pP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are living in the </a:t>
            </a:r>
            <a:r>
              <a:rPr dirty="0" sz="1200" spc="-10">
                <a:latin typeface="Arial MT"/>
                <a:cs typeface="Arial MT"/>
              </a:rPr>
              <a:t>age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information. </a:t>
            </a:r>
            <a:r>
              <a:rPr dirty="0" sz="1200">
                <a:latin typeface="Arial MT"/>
                <a:cs typeface="Arial MT"/>
              </a:rPr>
              <a:t>We </a:t>
            </a:r>
            <a:r>
              <a:rPr dirty="0" sz="1200" spc="-5">
                <a:latin typeface="Arial MT"/>
                <a:cs typeface="Arial MT"/>
              </a:rPr>
              <a:t>teachers today have very limited information. How </a:t>
            </a:r>
            <a:r>
              <a:rPr dirty="0" sz="1200">
                <a:latin typeface="Arial MT"/>
                <a:cs typeface="Arial MT"/>
              </a:rPr>
              <a:t> can </a:t>
            </a:r>
            <a:r>
              <a:rPr dirty="0" sz="1200" spc="-5">
                <a:latin typeface="Arial MT"/>
                <a:cs typeface="Arial MT"/>
              </a:rPr>
              <a:t>we enhance </a:t>
            </a:r>
            <a:r>
              <a:rPr dirty="0" sz="1200">
                <a:latin typeface="Arial MT"/>
                <a:cs typeface="Arial MT"/>
              </a:rPr>
              <a:t>our </a:t>
            </a:r>
            <a:r>
              <a:rPr dirty="0" sz="1200" spc="-5">
                <a:latin typeface="Arial MT"/>
                <a:cs typeface="Arial MT"/>
              </a:rPr>
              <a:t>own and students’ information? </a:t>
            </a:r>
            <a:r>
              <a:rPr dirty="0" sz="1200">
                <a:latin typeface="Arial MT"/>
                <a:cs typeface="Arial MT"/>
              </a:rPr>
              <a:t>There are </a:t>
            </a:r>
            <a:r>
              <a:rPr dirty="0" sz="1200" spc="-5">
                <a:latin typeface="Arial MT"/>
                <a:cs typeface="Arial MT"/>
              </a:rPr>
              <a:t>many internet </a:t>
            </a:r>
            <a:r>
              <a:rPr dirty="0" sz="1200">
                <a:latin typeface="Arial MT"/>
                <a:cs typeface="Arial MT"/>
              </a:rPr>
              <a:t>sources </a:t>
            </a:r>
            <a:r>
              <a:rPr dirty="0" sz="1200" spc="-5">
                <a:latin typeface="Arial MT"/>
                <a:cs typeface="Arial MT"/>
              </a:rPr>
              <a:t>e.g. one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given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reference: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u="sng" sz="12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http://www.khanacademy.org</a:t>
            </a:r>
            <a:endParaRPr sz="1200">
              <a:latin typeface="Arial MT"/>
              <a:cs typeface="Arial MT"/>
            </a:endParaRPr>
          </a:p>
          <a:p>
            <a:pPr algn="just" marL="18415" marR="471170" indent="-6350">
              <a:lnSpc>
                <a:spcPct val="109200"/>
              </a:lnSpc>
              <a:spcBef>
                <a:spcPts val="1010"/>
              </a:spcBef>
            </a:pPr>
            <a:r>
              <a:rPr dirty="0" sz="1200">
                <a:latin typeface="Arial MT"/>
                <a:cs typeface="Arial MT"/>
              </a:rPr>
              <a:t>This website </a:t>
            </a:r>
            <a:r>
              <a:rPr dirty="0" sz="1200" spc="-5">
                <a:latin typeface="Arial MT"/>
                <a:cs typeface="Arial MT"/>
              </a:rPr>
              <a:t>has </a:t>
            </a:r>
            <a:r>
              <a:rPr dirty="0" sz="1200" spc="-10">
                <a:latin typeface="Arial MT"/>
                <a:cs typeface="Arial MT"/>
              </a:rPr>
              <a:t>2700 </a:t>
            </a:r>
            <a:r>
              <a:rPr dirty="0" sz="1200">
                <a:latin typeface="Arial MT"/>
                <a:cs typeface="Arial MT"/>
              </a:rPr>
              <a:t>videos </a:t>
            </a:r>
            <a:r>
              <a:rPr dirty="0" sz="1200" spc="-5">
                <a:latin typeface="Arial MT"/>
                <a:cs typeface="Arial MT"/>
              </a:rPr>
              <a:t>and these are easily downloadable. These videos are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every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 and comprises </a:t>
            </a:r>
            <a:r>
              <a:rPr dirty="0" sz="1200">
                <a:latin typeface="Arial MT"/>
                <a:cs typeface="Arial MT"/>
              </a:rPr>
              <a:t>of very </a:t>
            </a:r>
            <a:r>
              <a:rPr dirty="0" sz="1200" spc="-5">
                <a:latin typeface="Arial MT"/>
                <a:cs typeface="Arial MT"/>
              </a:rPr>
              <a:t>simple to complex mathematics, chemistry problem etc. So,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technology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brought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revolution.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Tools</a:t>
            </a:r>
            <a:r>
              <a:rPr dirty="0" u="heavy" sz="140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dirty="0" u="heavy" sz="14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students’</a:t>
            </a:r>
            <a:r>
              <a:rPr dirty="0" u="heavy" sz="14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learning:</a:t>
            </a:r>
            <a:endParaRPr sz="1400">
              <a:latin typeface="Arial"/>
              <a:cs typeface="Arial"/>
            </a:endParaRPr>
          </a:p>
          <a:p>
            <a:pPr marL="18415" marR="5080" indent="-6350">
              <a:lnSpc>
                <a:spcPct val="108300"/>
              </a:lnSpc>
              <a:spcBef>
                <a:spcPts val="860"/>
              </a:spcBef>
            </a:pP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3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29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tools</a:t>
            </a:r>
            <a:r>
              <a:rPr dirty="0" sz="1200" spc="2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discussed</a:t>
            </a:r>
            <a:r>
              <a:rPr dirty="0" sz="1200" spc="3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above</a:t>
            </a:r>
            <a:r>
              <a:rPr dirty="0" sz="1200" spc="3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3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selected</a:t>
            </a:r>
            <a:r>
              <a:rPr dirty="0" sz="1200" spc="3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</a:t>
            </a:r>
            <a:r>
              <a:rPr dirty="0" sz="1200" spc="3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30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purpose.</a:t>
            </a:r>
            <a:r>
              <a:rPr dirty="0" sz="1200" spc="30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3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3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</a:t>
            </a:r>
            <a:r>
              <a:rPr dirty="0" sz="1200" spc="2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3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3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textbooks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technology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best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tools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 use</a:t>
            </a:r>
            <a:r>
              <a:rPr dirty="0" sz="1200" spc="-5">
                <a:latin typeface="Arial MT"/>
                <a:cs typeface="Arial MT"/>
              </a:rPr>
              <a:t> 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8240648"/>
            <a:ext cx="241681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Tools</a:t>
            </a:r>
            <a:r>
              <a:rPr dirty="0" u="heavy" sz="14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dirty="0" u="heavy" sz="14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teacher’s learning: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88620" y="8486520"/>
          <a:ext cx="6091555" cy="212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015"/>
                <a:gridCol w="3041015"/>
              </a:tblGrid>
              <a:tr h="262128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400" spc="-5" b="1">
                          <a:latin typeface="Arial"/>
                          <a:cs typeface="Arial"/>
                        </a:rPr>
                        <a:t>Tool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79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400" spc="-5" b="1">
                          <a:latin typeface="Arial"/>
                          <a:cs typeface="Arial"/>
                        </a:rPr>
                        <a:t>Purpose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279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1648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Reflective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logs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plan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instruction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1647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DART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exercises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diagnose students reading skills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202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Spelling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error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analysis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Spellings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1648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Students’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notebooks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Formative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1648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Observational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checklists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Psychomotor skills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assessment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1647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Students’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feedback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plan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instruction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1647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Students’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work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Formative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assessment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Technology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New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learning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44500" y="10900409"/>
            <a:ext cx="6386195" cy="621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8415" marR="5080" indent="-6350">
              <a:lnSpc>
                <a:spcPct val="108700"/>
              </a:lnSpc>
              <a:spcBef>
                <a:spcPts val="95"/>
              </a:spcBef>
            </a:pPr>
            <a:r>
              <a:rPr dirty="0" sz="1200" spc="-5" b="1">
                <a:latin typeface="Arial"/>
                <a:cs typeface="Arial"/>
              </a:rPr>
              <a:t>Reflective </a:t>
            </a:r>
            <a:r>
              <a:rPr dirty="0" sz="1200" b="1">
                <a:latin typeface="Arial"/>
                <a:cs typeface="Arial"/>
              </a:rPr>
              <a:t>log: </a:t>
            </a:r>
            <a:r>
              <a:rPr dirty="0" sz="1200">
                <a:latin typeface="Arial MT"/>
                <a:cs typeface="Arial MT"/>
              </a:rPr>
              <a:t>A </a:t>
            </a:r>
            <a:r>
              <a:rPr dirty="0" sz="1200" spc="-5">
                <a:latin typeface="Arial MT"/>
                <a:cs typeface="Arial MT"/>
              </a:rPr>
              <a:t>teacher will write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reflective log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his/her teaching that how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lesson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goes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how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etc.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reflect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present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lesson,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could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 effectively</a:t>
            </a:r>
            <a:r>
              <a:rPr dirty="0" sz="1200">
                <a:latin typeface="Arial MT"/>
                <a:cs typeface="Arial MT"/>
              </a:rPr>
              <a:t> for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next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639571"/>
            <a:ext cx="6784975" cy="1804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092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DART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exercises:</a:t>
            </a:r>
            <a:r>
              <a:rPr dirty="0" sz="1200" spc="155" b="1">
                <a:latin typeface="Arial"/>
                <a:cs typeface="Arial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exercises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are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very</a:t>
            </a:r>
            <a:r>
              <a:rPr dirty="0" sz="1200" spc="1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often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used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1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teachers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diagnose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</a:t>
            </a:r>
            <a:r>
              <a:rPr dirty="0" sz="1200" spc="1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endParaRPr sz="1200">
              <a:latin typeface="Arial MT"/>
              <a:cs typeface="Arial MT"/>
            </a:endParaRPr>
          </a:p>
          <a:p>
            <a:pPr marL="18415" marR="105410" indent="-6350">
              <a:lnSpc>
                <a:spcPct val="109200"/>
              </a:lnSpc>
              <a:spcBef>
                <a:spcPts val="1010"/>
              </a:spcBef>
            </a:pP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you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assess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student’s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spellings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check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type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spellings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errors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make.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spelling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error</a:t>
            </a:r>
            <a:r>
              <a:rPr dirty="0" sz="1200" spc="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analysis.</a:t>
            </a:r>
            <a:endParaRPr sz="1200">
              <a:latin typeface="Arial"/>
              <a:cs typeface="Arial"/>
            </a:endParaRPr>
          </a:p>
          <a:p>
            <a:pPr marL="18415" marR="165100" indent="-6350">
              <a:lnSpc>
                <a:spcPct val="109200"/>
              </a:lnSpc>
              <a:spcBef>
                <a:spcPts val="995"/>
              </a:spcBef>
            </a:pP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want</a:t>
            </a:r>
            <a:r>
              <a:rPr dirty="0" sz="1200" spc="7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students’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particular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topic</a:t>
            </a:r>
            <a:r>
              <a:rPr dirty="0" sz="1200" spc="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then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analyze</a:t>
            </a:r>
            <a:r>
              <a:rPr dirty="0" sz="1200" spc="6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tests</a:t>
            </a:r>
            <a:r>
              <a:rPr dirty="0" sz="1200" spc="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 </a:t>
            </a:r>
            <a:r>
              <a:rPr dirty="0" sz="1200">
                <a:latin typeface="Arial MT"/>
                <a:cs typeface="Arial MT"/>
              </a:rPr>
              <a:t>also </a:t>
            </a:r>
            <a:r>
              <a:rPr dirty="0" sz="1200" spc="-5">
                <a:latin typeface="Arial MT"/>
                <a:cs typeface="Arial MT"/>
              </a:rPr>
              <a:t>analyze 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notebooks.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200">
                <a:latin typeface="Arial MT"/>
                <a:cs typeface="Arial MT"/>
              </a:rPr>
              <a:t>If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want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effective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instruction,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</a:t>
            </a:r>
            <a:r>
              <a:rPr dirty="0" sz="1200" spc="-5">
                <a:latin typeface="Arial MT"/>
                <a:cs typeface="Arial MT"/>
              </a:rPr>
              <a:t> may ask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give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feedback.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572" y="3074161"/>
            <a:ext cx="6506209" cy="281940"/>
          </a:xfrm>
          <a:prstGeom prst="rect">
            <a:avLst/>
          </a:prstGeom>
          <a:solidFill>
            <a:srgbClr val="006FC0"/>
          </a:solidFill>
          <a:ln w="6096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2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dirty="0" sz="16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#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45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“Effective</a:t>
            </a:r>
            <a:r>
              <a:rPr dirty="0" sz="16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Teaching”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3482086"/>
            <a:ext cx="6849109" cy="8158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8415" marR="464184" indent="-6350">
              <a:lnSpc>
                <a:spcPct val="109400"/>
              </a:lnSpc>
              <a:spcBef>
                <a:spcPts val="95"/>
              </a:spcBef>
            </a:pP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the last </a:t>
            </a:r>
            <a:r>
              <a:rPr dirty="0" sz="1200" spc="-5">
                <a:latin typeface="Arial MT"/>
                <a:cs typeface="Arial MT"/>
              </a:rPr>
              <a:t>lecture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the course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general method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teaching. People cannot help us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always we </a:t>
            </a:r>
            <a:r>
              <a:rPr dirty="0" sz="1200">
                <a:latin typeface="Arial MT"/>
                <a:cs typeface="Arial MT"/>
              </a:rPr>
              <a:t>must </a:t>
            </a:r>
            <a:r>
              <a:rPr dirty="0" sz="1200" spc="-5">
                <a:latin typeface="Arial MT"/>
                <a:cs typeface="Arial MT"/>
              </a:rPr>
              <a:t>help ourselves. And </a:t>
            </a:r>
            <a:r>
              <a:rPr dirty="0" sz="1200">
                <a:latin typeface="Arial MT"/>
                <a:cs typeface="Arial MT"/>
              </a:rPr>
              <a:t>for </a:t>
            </a:r>
            <a:r>
              <a:rPr dirty="0" sz="1200" spc="-5">
                <a:latin typeface="Arial MT"/>
                <a:cs typeface="Arial MT"/>
              </a:rPr>
              <a:t>this purpose the </a:t>
            </a:r>
            <a:r>
              <a:rPr dirty="0" sz="1200">
                <a:latin typeface="Arial MT"/>
                <a:cs typeface="Arial MT"/>
              </a:rPr>
              <a:t>best thing </a:t>
            </a:r>
            <a:r>
              <a:rPr dirty="0" sz="1200" spc="-5">
                <a:latin typeface="Arial MT"/>
                <a:cs typeface="Arial MT"/>
              </a:rPr>
              <a:t>is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keep </a:t>
            </a:r>
            <a:r>
              <a:rPr dirty="0" sz="1200" spc="-10">
                <a:latin typeface="Arial MT"/>
                <a:cs typeface="Arial MT"/>
              </a:rPr>
              <a:t>record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everything. Teaching </a:t>
            </a:r>
            <a:r>
              <a:rPr dirty="0" sz="1200" spc="-1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about growth </a:t>
            </a:r>
            <a:r>
              <a:rPr dirty="0" sz="1200">
                <a:latin typeface="Arial MT"/>
                <a:cs typeface="Arial MT"/>
              </a:rPr>
              <a:t>(growth of </a:t>
            </a:r>
            <a:r>
              <a:rPr dirty="0" sz="1200" spc="-5">
                <a:latin typeface="Arial MT"/>
                <a:cs typeface="Arial MT"/>
              </a:rPr>
              <a:t>teacher as well as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learner). </a:t>
            </a:r>
            <a:r>
              <a:rPr dirty="0" sz="1200">
                <a:latin typeface="Arial MT"/>
                <a:cs typeface="Arial MT"/>
              </a:rPr>
              <a:t>For the </a:t>
            </a:r>
            <a:r>
              <a:rPr dirty="0" sz="1200" spc="-5">
                <a:latin typeface="Arial MT"/>
                <a:cs typeface="Arial MT"/>
              </a:rPr>
              <a:t>growth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3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necessary </a:t>
            </a:r>
            <a:r>
              <a:rPr dirty="0" sz="1200">
                <a:latin typeface="Arial MT"/>
                <a:cs typeface="Arial MT"/>
              </a:rPr>
              <a:t>to </a:t>
            </a:r>
            <a:r>
              <a:rPr dirty="0" sz="1200" spc="-5">
                <a:latin typeface="Arial MT"/>
                <a:cs typeface="Arial MT"/>
              </a:rPr>
              <a:t>reflect all </a:t>
            </a:r>
            <a:r>
              <a:rPr dirty="0" sz="1200">
                <a:latin typeface="Arial MT"/>
                <a:cs typeface="Arial MT"/>
              </a:rPr>
              <a:t>those </a:t>
            </a:r>
            <a:r>
              <a:rPr dirty="0" sz="1200" spc="-5">
                <a:latin typeface="Arial MT"/>
                <a:cs typeface="Arial MT"/>
              </a:rPr>
              <a:t>things we do. </a:t>
            </a:r>
            <a:r>
              <a:rPr dirty="0" sz="1200">
                <a:latin typeface="Arial MT"/>
                <a:cs typeface="Arial MT"/>
              </a:rPr>
              <a:t>Never </a:t>
            </a:r>
            <a:r>
              <a:rPr dirty="0" sz="1200" spc="-5">
                <a:latin typeface="Arial MT"/>
                <a:cs typeface="Arial MT"/>
              </a:rPr>
              <a:t>say we can go without planning. Always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 before going to </a:t>
            </a:r>
            <a:r>
              <a:rPr dirty="0" sz="1200" spc="-1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classroom and always </a:t>
            </a:r>
            <a:r>
              <a:rPr dirty="0" sz="1200">
                <a:latin typeface="Arial MT"/>
                <a:cs typeface="Arial MT"/>
              </a:rPr>
              <a:t>reflect </a:t>
            </a:r>
            <a:r>
              <a:rPr dirty="0" sz="1200" spc="-5">
                <a:latin typeface="Arial MT"/>
                <a:cs typeface="Arial MT"/>
              </a:rPr>
              <a:t>on your practices. Today’s lesson is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recap 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previous</a:t>
            </a:r>
            <a:r>
              <a:rPr dirty="0" sz="1200">
                <a:latin typeface="Arial MT"/>
                <a:cs typeface="Arial MT"/>
              </a:rPr>
              <a:t> lectures.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Session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content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Teacher’s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assumptions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8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motivation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9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fun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7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theories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7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IPT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30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9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Taxonomies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8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Teaching </a:t>
            </a:r>
            <a:r>
              <a:rPr dirty="0" sz="1200">
                <a:latin typeface="Arial MT"/>
                <a:cs typeface="Arial MT"/>
              </a:rPr>
              <a:t>vs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7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question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30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Image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child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 b="1">
                <a:latin typeface="Arial"/>
                <a:cs typeface="Arial"/>
              </a:rPr>
              <a:t>What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teaching?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Calibri"/>
              <a:buChar char="-"/>
            </a:pPr>
            <a:endParaRPr sz="11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 subjects?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7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Is it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certain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behaviors?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9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Is it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helping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pupils</a:t>
            </a:r>
            <a:r>
              <a:rPr dirty="0" sz="1200">
                <a:latin typeface="Arial MT"/>
                <a:cs typeface="Arial MT"/>
              </a:rPr>
              <a:t> get </a:t>
            </a:r>
            <a:r>
              <a:rPr dirty="0" sz="1200" spc="-5">
                <a:latin typeface="Arial MT"/>
                <a:cs typeface="Arial MT"/>
              </a:rPr>
              <a:t>jobs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their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later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life?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7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enlightenment?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200" spc="-5">
                <a:latin typeface="Arial MT"/>
                <a:cs typeface="Arial MT"/>
              </a:rPr>
              <a:t>These 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all </a:t>
            </a:r>
            <a:r>
              <a:rPr dirty="0" sz="1200" spc="-5">
                <a:latin typeface="Arial MT"/>
                <a:cs typeface="Arial MT"/>
              </a:rPr>
              <a:t>secondary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purposes, basic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purpose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produce good </a:t>
            </a:r>
            <a:r>
              <a:rPr dirty="0" sz="1200">
                <a:latin typeface="Arial MT"/>
                <a:cs typeface="Arial MT"/>
              </a:rPr>
              <a:t>citizens.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200" b="1">
                <a:latin typeface="Arial"/>
                <a:cs typeface="Arial"/>
              </a:rPr>
              <a:t>Assumptions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teaching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Classrooms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isolated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8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content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subjects.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7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Discovery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exploring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static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facts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concepts.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30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Physical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education,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debates,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music,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art,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community</a:t>
            </a:r>
            <a:r>
              <a:rPr dirty="0" sz="1200">
                <a:latin typeface="Arial MT"/>
                <a:cs typeface="Arial MT"/>
              </a:rPr>
              <a:t> etc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essentially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not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main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curriculum.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31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Silence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promotes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endParaRPr sz="1200">
              <a:latin typeface="Arial MT"/>
              <a:cs typeface="Arial MT"/>
            </a:endParaRPr>
          </a:p>
          <a:p>
            <a:pPr marL="18415" marR="6985" indent="-6350">
              <a:lnSpc>
                <a:spcPts val="1580"/>
              </a:lnSpc>
              <a:spcBef>
                <a:spcPts val="5"/>
              </a:spcBef>
            </a:pPr>
            <a:r>
              <a:rPr dirty="0" sz="1200">
                <a:latin typeface="Arial MT"/>
                <a:cs typeface="Arial MT"/>
              </a:rPr>
              <a:t>Whatever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constructively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reflect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1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houses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communities.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Because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classrooms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society.</a:t>
            </a:r>
            <a:endParaRPr sz="1200">
              <a:latin typeface="Arial MT"/>
              <a:cs typeface="Arial MT"/>
            </a:endParaRPr>
          </a:p>
          <a:p>
            <a:pPr marL="18415" marR="5080" indent="-6350">
              <a:lnSpc>
                <a:spcPts val="1560"/>
              </a:lnSpc>
              <a:spcBef>
                <a:spcPts val="50"/>
              </a:spcBef>
            </a:pP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teaching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subjects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r>
              <a:rPr dirty="0" sz="1200" spc="-7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developing</a:t>
            </a:r>
            <a:r>
              <a:rPr dirty="0" sz="1200" spc="-6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skills.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7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developing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responsible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attitudes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towards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society.</a:t>
            </a:r>
            <a:endParaRPr sz="1200">
              <a:latin typeface="Arial MT"/>
              <a:cs typeface="Arial MT"/>
            </a:endParaRPr>
          </a:p>
          <a:p>
            <a:pPr algn="just" marL="18415" marR="464820" indent="-6350">
              <a:lnSpc>
                <a:spcPct val="109200"/>
              </a:lnSpc>
              <a:spcBef>
                <a:spcPts val="935"/>
              </a:spcBef>
            </a:pPr>
            <a:r>
              <a:rPr dirty="0" sz="1200">
                <a:latin typeface="Arial MT"/>
                <a:cs typeface="Arial MT"/>
              </a:rPr>
              <a:t>We mostly </a:t>
            </a:r>
            <a:r>
              <a:rPr dirty="0" sz="1200" spc="-5">
                <a:latin typeface="Arial MT"/>
                <a:cs typeface="Arial MT"/>
              </a:rPr>
              <a:t>focus on activity base learning </a:t>
            </a:r>
            <a:r>
              <a:rPr dirty="0" sz="1200" spc="-10">
                <a:latin typeface="Arial MT"/>
                <a:cs typeface="Arial MT"/>
              </a:rPr>
              <a:t>or </a:t>
            </a:r>
            <a:r>
              <a:rPr dirty="0" sz="1200">
                <a:latin typeface="Arial MT"/>
                <a:cs typeface="Arial MT"/>
              </a:rPr>
              <a:t>discovery learning. Discovery learning </a:t>
            </a:r>
            <a:r>
              <a:rPr dirty="0" sz="1200" spc="-5">
                <a:latin typeface="Arial MT"/>
                <a:cs typeface="Arial MT"/>
              </a:rPr>
              <a:t>is about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exploring the static facts which are already exist in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society. Teaching is much </a:t>
            </a:r>
            <a:r>
              <a:rPr dirty="0" sz="1200">
                <a:latin typeface="Arial MT"/>
                <a:cs typeface="Arial MT"/>
              </a:rPr>
              <a:t>more </a:t>
            </a:r>
            <a:r>
              <a:rPr dirty="0" sz="1200" spc="-10">
                <a:latin typeface="Arial MT"/>
                <a:cs typeface="Arial MT"/>
              </a:rPr>
              <a:t>than 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that,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creation.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639571"/>
            <a:ext cx="6849745" cy="6119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240029" indent="-6350">
              <a:lnSpc>
                <a:spcPct val="1092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Education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should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focus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holistic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child.</a:t>
            </a:r>
            <a:r>
              <a:rPr dirty="0" sz="1200" spc="2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part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5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curriculum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essential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curriculum.</a:t>
            </a:r>
            <a:endParaRPr sz="1200">
              <a:latin typeface="Arial MT"/>
              <a:cs typeface="Arial MT"/>
            </a:endParaRPr>
          </a:p>
          <a:p>
            <a:pPr marL="18415" marR="5715" indent="-6350">
              <a:lnSpc>
                <a:spcPct val="109200"/>
              </a:lnSpc>
              <a:spcBef>
                <a:spcPts val="1010"/>
              </a:spcBef>
            </a:pPr>
            <a:r>
              <a:rPr dirty="0" sz="1200">
                <a:latin typeface="Arial MT"/>
                <a:cs typeface="Arial MT"/>
              </a:rPr>
              <a:t>Active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promotes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actual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Silence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promotes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learning.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need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promote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 learning.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200" spc="-5" b="1">
                <a:latin typeface="Arial"/>
                <a:cs typeface="Arial"/>
              </a:rPr>
              <a:t>Vygotsky’s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theory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239395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-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Vygotsky’s</a:t>
            </a:r>
            <a:r>
              <a:rPr dirty="0" sz="1200" spc="-5">
                <a:latin typeface="Arial MT"/>
                <a:cs typeface="Arial MT"/>
              </a:rPr>
              <a:t> theory included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four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major ideas.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5">
                <a:latin typeface="Arial MT"/>
                <a:cs typeface="Arial MT"/>
              </a:rPr>
              <a:t> are: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5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construct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their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own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Language plays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an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role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cognitive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18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lead development.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70"/>
              </a:spcBef>
              <a:buFont typeface="Times New Roman"/>
              <a:buAutoNum type="arabicPeriod"/>
              <a:tabLst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separated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context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which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occurs.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 b="1">
                <a:latin typeface="Arial"/>
                <a:cs typeface="Arial"/>
              </a:rPr>
              <a:t>Zone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Proximal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development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5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This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 </a:t>
            </a:r>
            <a:r>
              <a:rPr dirty="0" sz="1200">
                <a:latin typeface="Arial MT"/>
                <a:cs typeface="Arial MT"/>
              </a:rPr>
              <a:t>also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established by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Vygotsky.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8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gap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between actual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potential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level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5">
                <a:latin typeface="Arial MT"/>
                <a:cs typeface="Arial MT"/>
              </a:rPr>
              <a:t> a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Zone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5">
                <a:latin typeface="Arial MT"/>
                <a:cs typeface="Arial MT"/>
              </a:rPr>
              <a:t> Proximal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Development.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200" spc="-5" b="1">
                <a:latin typeface="Arial"/>
                <a:cs typeface="Arial"/>
              </a:rPr>
              <a:t>Diversity</a:t>
            </a:r>
            <a:endParaRPr sz="1200">
              <a:latin typeface="Arial"/>
              <a:cs typeface="Arial"/>
            </a:endParaRPr>
          </a:p>
          <a:p>
            <a:pPr algn="just" marL="18415" marR="466090" indent="-6350">
              <a:lnSpc>
                <a:spcPct val="109600"/>
              </a:lnSpc>
              <a:spcBef>
                <a:spcPts val="970"/>
              </a:spcBef>
            </a:pPr>
            <a:r>
              <a:rPr dirty="0" sz="1200" spc="-5">
                <a:latin typeface="Arial MT"/>
                <a:cs typeface="Arial MT"/>
              </a:rPr>
              <a:t>Children think different, they </a:t>
            </a:r>
            <a:r>
              <a:rPr dirty="0" sz="1200">
                <a:latin typeface="Arial MT"/>
                <a:cs typeface="Arial MT"/>
              </a:rPr>
              <a:t>very </a:t>
            </a:r>
            <a:r>
              <a:rPr dirty="0" sz="1200" spc="-5">
                <a:latin typeface="Arial MT"/>
                <a:cs typeface="Arial MT"/>
              </a:rPr>
              <a:t>in their abilities. Teacher is same but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5">
                <a:latin typeface="Arial MT"/>
                <a:cs typeface="Arial MT"/>
              </a:rPr>
              <a:t>students are all 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different.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students.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minimum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expectation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cannot expect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same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measure.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200" b="1">
                <a:latin typeface="Arial"/>
                <a:cs typeface="Arial"/>
              </a:rPr>
              <a:t>Educational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equity</a:t>
            </a: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1115"/>
              </a:spcBef>
            </a:pPr>
            <a:r>
              <a:rPr dirty="0" sz="1200" spc="-5">
                <a:latin typeface="Arial MT"/>
                <a:cs typeface="Arial MT"/>
              </a:rPr>
              <a:t>Social</a:t>
            </a:r>
            <a:r>
              <a:rPr dirty="0" sz="1200">
                <a:latin typeface="Arial MT"/>
                <a:cs typeface="Arial MT"/>
              </a:rPr>
              <a:t> context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wide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concept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it </a:t>
            </a:r>
            <a:r>
              <a:rPr dirty="0" sz="1200" spc="-5">
                <a:latin typeface="Arial MT"/>
                <a:cs typeface="Arial MT"/>
              </a:rPr>
              <a:t>also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equity.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buFont typeface="Calibri"/>
              <a:buChar char="-"/>
              <a:tabLst>
                <a:tab pos="462280" algn="l"/>
                <a:tab pos="462915" algn="l"/>
                <a:tab pos="4442460" algn="l"/>
              </a:tabLst>
            </a:pP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teach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they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also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raise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them.	(Sousa,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2003)</a:t>
            </a:r>
            <a:endParaRPr sz="1200">
              <a:latin typeface="Arial MT"/>
              <a:cs typeface="Arial MT"/>
            </a:endParaRPr>
          </a:p>
          <a:p>
            <a:pPr marL="462280" marR="5715" indent="-229235">
              <a:lnSpc>
                <a:spcPts val="1560"/>
              </a:lnSpc>
              <a:spcBef>
                <a:spcPts val="6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taught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affect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ways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will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thereafter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treat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others.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(Schlesinger,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1993)</a:t>
            </a:r>
            <a:endParaRPr sz="1200">
              <a:latin typeface="Arial MT"/>
              <a:cs typeface="Arial MT"/>
            </a:endParaRPr>
          </a:p>
          <a:p>
            <a:pPr marL="462280" marR="5080" indent="-229235">
              <a:lnSpc>
                <a:spcPts val="1570"/>
              </a:lnSpc>
              <a:spcBef>
                <a:spcPts val="5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Equity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means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students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treated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equally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well and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 school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resources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shared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equally.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6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Schools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diverse</a:t>
            </a:r>
            <a:r>
              <a:rPr dirty="0" sz="1200" spc="-5">
                <a:latin typeface="Arial MT"/>
                <a:cs typeface="Arial MT"/>
              </a:rPr>
              <a:t> learners and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must</a:t>
            </a:r>
            <a:r>
              <a:rPr dirty="0" sz="1200" spc="-5">
                <a:latin typeface="Arial MT"/>
                <a:cs typeface="Arial MT"/>
              </a:rPr>
              <a:t> celebrate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equity.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7586853"/>
            <a:ext cx="6853555" cy="4091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Facts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IPT</a:t>
            </a:r>
            <a:endParaRPr sz="1200">
              <a:latin typeface="Arial"/>
              <a:cs typeface="Arial"/>
            </a:endParaRPr>
          </a:p>
          <a:p>
            <a:pPr marL="462280" marR="5080" indent="-229235">
              <a:lnSpc>
                <a:spcPct val="108300"/>
              </a:lnSpc>
              <a:spcBef>
                <a:spcPts val="109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Images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much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economical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take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space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working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memory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than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ideas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expressed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 words.</a:t>
            </a:r>
            <a:endParaRPr sz="1200">
              <a:latin typeface="Arial MT"/>
              <a:cs typeface="Arial MT"/>
            </a:endParaRPr>
          </a:p>
          <a:p>
            <a:pPr marL="462280" marR="10795" indent="-229235">
              <a:lnSpc>
                <a:spcPct val="109200"/>
              </a:lnSpc>
              <a:spcBef>
                <a:spcPts val="5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worth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thousand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words.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Perhaps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overstatement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pictures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images</a:t>
            </a:r>
            <a:r>
              <a:rPr dirty="0" sz="1200" spc="7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can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represent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great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deal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 </a:t>
            </a:r>
            <a:r>
              <a:rPr dirty="0" sz="1200" spc="-5">
                <a:latin typeface="Arial MT"/>
                <a:cs typeface="Arial MT"/>
              </a:rPr>
              <a:t>information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very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efficient</a:t>
            </a:r>
            <a:r>
              <a:rPr dirty="0" sz="1200">
                <a:latin typeface="Arial MT"/>
                <a:cs typeface="Arial MT"/>
              </a:rPr>
              <a:t> way.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200" spc="-5" b="1">
                <a:latin typeface="Arial"/>
                <a:cs typeface="Arial"/>
              </a:rPr>
              <a:t>Taxonomies</a:t>
            </a:r>
            <a:endParaRPr sz="1200">
              <a:latin typeface="Arial"/>
              <a:cs typeface="Arial"/>
            </a:endParaRPr>
          </a:p>
          <a:p>
            <a:pPr marL="18415" marR="8890" indent="-6350">
              <a:lnSpc>
                <a:spcPct val="109400"/>
              </a:lnSpc>
              <a:spcBef>
                <a:spcPts val="980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talked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taxonomies.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most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important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taxonomy</a:t>
            </a:r>
            <a:r>
              <a:rPr dirty="0" sz="1200" spc="-5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Bloom’s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taxonomy.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This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taxonomy </a:t>
            </a:r>
            <a:r>
              <a:rPr dirty="0" sz="1200" spc="-3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is about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domain.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200" spc="-5">
                <a:latin typeface="Arial MT"/>
                <a:cs typeface="Arial MT"/>
              </a:rPr>
              <a:t>Levels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Bloom’s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cognitive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domain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Arial MT"/>
              <a:cs typeface="Arial MT"/>
            </a:endParaRPr>
          </a:p>
          <a:p>
            <a:pPr marL="355600" indent="-229235"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  <a:tabLst>
                <a:tab pos="356235" algn="l"/>
              </a:tabLst>
            </a:pPr>
            <a:r>
              <a:rPr dirty="0" sz="1200" spc="-5" b="1">
                <a:latin typeface="Arial"/>
                <a:cs typeface="Arial"/>
              </a:rPr>
              <a:t>Knowledge</a:t>
            </a:r>
            <a:endParaRPr sz="1200">
              <a:latin typeface="Arial"/>
              <a:cs typeface="Arial"/>
            </a:endParaRPr>
          </a:p>
          <a:p>
            <a:pPr marL="355600" indent="-229235">
              <a:lnSpc>
                <a:spcPct val="100000"/>
              </a:lnSpc>
              <a:spcBef>
                <a:spcPts val="180"/>
              </a:spcBef>
              <a:buFont typeface="Times New Roman"/>
              <a:buAutoNum type="arabicPeriod"/>
              <a:tabLst>
                <a:tab pos="356235" algn="l"/>
              </a:tabLst>
            </a:pPr>
            <a:r>
              <a:rPr dirty="0" sz="1200" spc="-5" b="1">
                <a:latin typeface="Arial"/>
                <a:cs typeface="Arial"/>
              </a:rPr>
              <a:t>Comprehension</a:t>
            </a:r>
            <a:endParaRPr sz="1200">
              <a:latin typeface="Arial"/>
              <a:cs typeface="Arial"/>
            </a:endParaRPr>
          </a:p>
          <a:p>
            <a:pPr marL="355600" indent="-229235">
              <a:lnSpc>
                <a:spcPct val="100000"/>
              </a:lnSpc>
              <a:spcBef>
                <a:spcPts val="190"/>
              </a:spcBef>
              <a:buFont typeface="Times New Roman"/>
              <a:buAutoNum type="arabicPeriod"/>
              <a:tabLst>
                <a:tab pos="356235" algn="l"/>
              </a:tabLst>
            </a:pPr>
            <a:r>
              <a:rPr dirty="0" sz="1200" b="1">
                <a:latin typeface="Arial"/>
                <a:cs typeface="Arial"/>
              </a:rPr>
              <a:t>Application</a:t>
            </a:r>
            <a:endParaRPr sz="1200">
              <a:latin typeface="Arial"/>
              <a:cs typeface="Arial"/>
            </a:endParaRPr>
          </a:p>
          <a:p>
            <a:pPr marL="355600" indent="-229235">
              <a:lnSpc>
                <a:spcPct val="100000"/>
              </a:lnSpc>
              <a:spcBef>
                <a:spcPts val="170"/>
              </a:spcBef>
              <a:buFont typeface="Times New Roman"/>
              <a:buAutoNum type="arabicPeriod"/>
              <a:tabLst>
                <a:tab pos="356235" algn="l"/>
              </a:tabLst>
            </a:pPr>
            <a:r>
              <a:rPr dirty="0" sz="1200" spc="-5" b="1">
                <a:latin typeface="Arial"/>
                <a:cs typeface="Arial"/>
              </a:rPr>
              <a:t>Analysis</a:t>
            </a:r>
            <a:endParaRPr sz="1200">
              <a:latin typeface="Arial"/>
              <a:cs typeface="Arial"/>
            </a:endParaRPr>
          </a:p>
          <a:p>
            <a:pPr marL="355600" indent="-229235">
              <a:lnSpc>
                <a:spcPct val="100000"/>
              </a:lnSpc>
              <a:spcBef>
                <a:spcPts val="180"/>
              </a:spcBef>
              <a:buFont typeface="Times New Roman"/>
              <a:buAutoNum type="arabicPeriod"/>
              <a:tabLst>
                <a:tab pos="356235" algn="l"/>
              </a:tabLst>
            </a:pPr>
            <a:r>
              <a:rPr dirty="0" sz="1200" spc="-5" b="1">
                <a:latin typeface="Arial"/>
                <a:cs typeface="Arial"/>
              </a:rPr>
              <a:t>Synthesis</a:t>
            </a:r>
            <a:endParaRPr sz="1200">
              <a:latin typeface="Arial"/>
              <a:cs typeface="Arial"/>
            </a:endParaRPr>
          </a:p>
          <a:p>
            <a:pPr marL="12700" marR="5274310" indent="114300">
              <a:lnSpc>
                <a:spcPct val="110000"/>
              </a:lnSpc>
              <a:spcBef>
                <a:spcPts val="35"/>
              </a:spcBef>
              <a:buFont typeface="Times New Roman"/>
              <a:buAutoNum type="arabicPeriod"/>
              <a:tabLst>
                <a:tab pos="356235" algn="l"/>
              </a:tabLst>
            </a:pPr>
            <a:r>
              <a:rPr dirty="0" sz="1200" spc="-5" b="1">
                <a:latin typeface="Arial"/>
                <a:cs typeface="Arial"/>
              </a:rPr>
              <a:t>Evaluation 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Psychomotor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domain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5">
                <a:latin typeface="Arial MT"/>
                <a:cs typeface="Arial MT"/>
              </a:rPr>
              <a:t> 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 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physical movements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4500" y="656335"/>
            <a:ext cx="6847205" cy="8594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 MT"/>
                <a:cs typeface="Arial MT"/>
              </a:rPr>
              <a:t>Hierarchical levels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Simpson’s taxonomy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Perception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8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Set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8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Guided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response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8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Mechanism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8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Complex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overt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response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9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Adaptation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8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Origination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00" spc="-5" b="1">
                <a:latin typeface="Arial"/>
                <a:cs typeface="Arial"/>
              </a:rPr>
              <a:t>Affective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domain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200">
                <a:latin typeface="Arial MT"/>
                <a:cs typeface="Arial MT"/>
              </a:rPr>
              <a:t>This</a:t>
            </a:r>
            <a:r>
              <a:rPr dirty="0" sz="1200" spc="-5">
                <a:latin typeface="Arial MT"/>
                <a:cs typeface="Arial MT"/>
              </a:rPr>
              <a:t> is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about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attitudes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behaviors.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200" spc="-5">
                <a:latin typeface="Arial MT"/>
                <a:cs typeface="Arial MT"/>
              </a:rPr>
              <a:t>Hierarchical levels</a:t>
            </a:r>
            <a:r>
              <a:rPr dirty="0" sz="1200">
                <a:latin typeface="Arial MT"/>
                <a:cs typeface="Arial MT"/>
              </a:rPr>
              <a:t> of</a:t>
            </a:r>
            <a:r>
              <a:rPr dirty="0" sz="1200" spc="-5">
                <a:latin typeface="Arial MT"/>
                <a:cs typeface="Arial MT"/>
              </a:rPr>
              <a:t> Bloom’s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and</a:t>
            </a:r>
            <a:r>
              <a:rPr dirty="0" sz="1200" spc="-5">
                <a:latin typeface="Arial MT"/>
                <a:cs typeface="Arial MT"/>
              </a:rPr>
              <a:t> Krathwohl’s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taxonomy.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Arial MT"/>
              <a:cs typeface="Arial MT"/>
            </a:endParaRPr>
          </a:p>
          <a:p>
            <a:pPr marL="469900" indent="-229235">
              <a:lnSpc>
                <a:spcPct val="100000"/>
              </a:lnSpc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Receiving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7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Responding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8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Valuing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95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b="1">
                <a:latin typeface="Arial"/>
                <a:cs typeface="Arial"/>
              </a:rPr>
              <a:t>Organization</a:t>
            </a: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80"/>
              </a:spcBef>
              <a:buFont typeface="Times New Roman"/>
              <a:buAutoNum type="arabicPeriod"/>
              <a:tabLst>
                <a:tab pos="470534" algn="l"/>
              </a:tabLst>
            </a:pPr>
            <a:r>
              <a:rPr dirty="0" sz="1200" spc="-5" b="1">
                <a:latin typeface="Arial"/>
                <a:cs typeface="Arial"/>
              </a:rPr>
              <a:t>Characterization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200" b="1">
                <a:latin typeface="Arial"/>
                <a:cs typeface="Arial"/>
              </a:rPr>
              <a:t>Planning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200" b="1">
                <a:latin typeface="Arial"/>
                <a:cs typeface="Arial"/>
              </a:rPr>
              <a:t>Planning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equation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Less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leads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 less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learning.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(Walsh, 1992)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7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Planning </a:t>
            </a:r>
            <a:r>
              <a:rPr dirty="0" sz="1200">
                <a:latin typeface="Arial MT"/>
                <a:cs typeface="Arial MT"/>
              </a:rPr>
              <a:t>= </a:t>
            </a:r>
            <a:r>
              <a:rPr dirty="0" sz="1200" spc="-5">
                <a:latin typeface="Arial MT"/>
                <a:cs typeface="Arial MT"/>
              </a:rPr>
              <a:t>Content </a:t>
            </a:r>
            <a:r>
              <a:rPr dirty="0" sz="1200">
                <a:latin typeface="Arial MT"/>
                <a:cs typeface="Arial MT"/>
              </a:rPr>
              <a:t>+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Method</a:t>
            </a:r>
            <a:endParaRPr sz="1200">
              <a:latin typeface="Arial MT"/>
              <a:cs typeface="Arial MT"/>
            </a:endParaRPr>
          </a:p>
          <a:p>
            <a:pPr marL="462280" marR="5080" indent="-229235">
              <a:lnSpc>
                <a:spcPts val="1600"/>
              </a:lnSpc>
              <a:spcBef>
                <a:spcPts val="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Example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driver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going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new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place</a:t>
            </a:r>
            <a:r>
              <a:rPr dirty="0" sz="1200" spc="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refers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map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more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often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as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comparedto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who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been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there</a:t>
            </a:r>
            <a:r>
              <a:rPr dirty="0" sz="1200">
                <a:latin typeface="Arial MT"/>
                <a:cs typeface="Arial MT"/>
              </a:rPr>
              <a:t> for </a:t>
            </a:r>
            <a:r>
              <a:rPr dirty="0" sz="1200" spc="-5">
                <a:latin typeface="Arial MT"/>
                <a:cs typeface="Arial MT"/>
              </a:rPr>
              <a:t>quite many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times.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b="1">
                <a:latin typeface="Arial"/>
                <a:cs typeface="Arial"/>
              </a:rPr>
              <a:t>Post </a:t>
            </a:r>
            <a:r>
              <a:rPr dirty="0" sz="1200" spc="-5" b="1">
                <a:latin typeface="Arial"/>
                <a:cs typeface="Arial"/>
              </a:rPr>
              <a:t>lesson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activities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200" spc="-5">
                <a:latin typeface="Arial MT"/>
                <a:cs typeface="Arial MT"/>
              </a:rPr>
              <a:t>These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activities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includes: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Evaluating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plans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7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Evaluation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unit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plans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1200" spc="-5" b="1">
                <a:latin typeface="Arial"/>
                <a:cs typeface="Arial"/>
              </a:rPr>
              <a:t>Evaluation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student’s</a:t>
            </a:r>
            <a:r>
              <a:rPr dirty="0" sz="120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learning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462280" indent="-229235">
              <a:lnSpc>
                <a:spcPct val="100000"/>
              </a:lnSpc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What did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my</a:t>
            </a:r>
            <a:r>
              <a:rPr dirty="0" sz="1200" spc="-5">
                <a:latin typeface="Arial MT"/>
                <a:cs typeface="Arial MT"/>
              </a:rPr>
              <a:t> students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learn?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9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What did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my </a:t>
            </a:r>
            <a:r>
              <a:rPr dirty="0" sz="1200" spc="-5">
                <a:latin typeface="Arial MT"/>
                <a:cs typeface="Arial MT"/>
              </a:rPr>
              <a:t>student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not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learn?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7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What was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interesting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students?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90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was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difficult</a:t>
            </a:r>
            <a:r>
              <a:rPr dirty="0" sz="1200" spc="-5">
                <a:latin typeface="Arial MT"/>
                <a:cs typeface="Arial MT"/>
              </a:rPr>
              <a:t> to </a:t>
            </a:r>
            <a:r>
              <a:rPr dirty="0" sz="1200" spc="-10">
                <a:latin typeface="Arial MT"/>
                <a:cs typeface="Arial MT"/>
              </a:rPr>
              <a:t>the</a:t>
            </a:r>
            <a:r>
              <a:rPr dirty="0" sz="1200" spc="-5">
                <a:latin typeface="Arial MT"/>
                <a:cs typeface="Arial MT"/>
              </a:rPr>
              <a:t> students?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7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What evidence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 </a:t>
            </a:r>
            <a:r>
              <a:rPr dirty="0" sz="1200" spc="-5">
                <a:latin typeface="Arial MT"/>
                <a:cs typeface="Arial MT"/>
              </a:rPr>
              <a:t>have</a:t>
            </a:r>
            <a:r>
              <a:rPr dirty="0" sz="1200">
                <a:latin typeface="Arial MT"/>
                <a:cs typeface="Arial MT"/>
              </a:rPr>
              <a:t> for </a:t>
            </a:r>
            <a:r>
              <a:rPr dirty="0" sz="1200" spc="-5">
                <a:latin typeface="Arial MT"/>
                <a:cs typeface="Arial MT"/>
              </a:rPr>
              <a:t>three findings?</a:t>
            </a:r>
            <a:endParaRPr sz="1200">
              <a:latin typeface="Arial MT"/>
              <a:cs typeface="Arial MT"/>
            </a:endParaRPr>
          </a:p>
          <a:p>
            <a:pPr marL="462280" indent="-229235">
              <a:lnSpc>
                <a:spcPct val="100000"/>
              </a:lnSpc>
              <a:spcBef>
                <a:spcPts val="275"/>
              </a:spcBef>
              <a:buFont typeface="Calibri"/>
              <a:buChar char="-"/>
              <a:tabLst>
                <a:tab pos="462280" algn="l"/>
                <a:tab pos="462915" algn="l"/>
              </a:tabLst>
            </a:pPr>
            <a:r>
              <a:rPr dirty="0" sz="1200" spc="-5">
                <a:latin typeface="Arial MT"/>
                <a:cs typeface="Arial MT"/>
              </a:rPr>
              <a:t>What will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 </a:t>
            </a:r>
            <a:r>
              <a:rPr dirty="0" sz="1200" spc="-5">
                <a:latin typeface="Arial MT"/>
                <a:cs typeface="Arial MT"/>
              </a:rPr>
              <a:t>learn in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future?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1200" spc="-5">
                <a:latin typeface="Arial MT"/>
                <a:cs typeface="Arial MT"/>
              </a:rPr>
              <a:t>Learning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always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involves</a:t>
            </a:r>
            <a:r>
              <a:rPr dirty="0" sz="1200">
                <a:latin typeface="Arial MT"/>
                <a:cs typeface="Arial MT"/>
              </a:rPr>
              <a:t> the</a:t>
            </a:r>
            <a:r>
              <a:rPr dirty="0" sz="1200" spc="-5">
                <a:latin typeface="Arial MT"/>
                <a:cs typeface="Arial MT"/>
              </a:rPr>
              <a:t> learners.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200" spc="-5" b="1">
                <a:latin typeface="Arial"/>
                <a:cs typeface="Arial"/>
              </a:rPr>
              <a:t>Essential</a:t>
            </a:r>
            <a:r>
              <a:rPr dirty="0" sz="1200" spc="-10" b="1">
                <a:latin typeface="Arial"/>
                <a:cs typeface="Arial"/>
              </a:rPr>
              <a:t> vs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unit</a:t>
            </a:r>
            <a:r>
              <a:rPr dirty="0" sz="1200" spc="-5" b="1">
                <a:latin typeface="Arial"/>
                <a:cs typeface="Arial"/>
              </a:rPr>
              <a:t> questions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88620" y="9259189"/>
          <a:ext cx="6091555" cy="168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015"/>
                <a:gridCol w="3041015"/>
              </a:tblGrid>
              <a:tr h="232028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Essential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questions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Unit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questions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920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0623">
                <a:tc>
                  <a:txBody>
                    <a:bodyPr/>
                    <a:lstStyle/>
                    <a:p>
                      <a:pPr marL="67945" marR="525780">
                        <a:lnSpc>
                          <a:spcPct val="104200"/>
                        </a:lnSpc>
                        <a:spcBef>
                          <a:spcPts val="16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Must a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story have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 moral, hero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villain?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1024255">
                        <a:lnSpc>
                          <a:spcPct val="104200"/>
                        </a:lnSpc>
                        <a:spcBef>
                          <a:spcPts val="165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What is the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moral of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story?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Who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 hero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story?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1648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Who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friend?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Are Pakistan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Iran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good friends?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98576">
                <a:tc>
                  <a:txBody>
                    <a:bodyPr/>
                    <a:lstStyle/>
                    <a:p>
                      <a:pPr marL="67945" marR="24130">
                        <a:lnSpc>
                          <a:spcPct val="103299"/>
                        </a:lnSpc>
                        <a:spcBef>
                          <a:spcPts val="19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Do</a:t>
                      </a:r>
                      <a:r>
                        <a:rPr dirty="0" sz="120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we</a:t>
                      </a:r>
                      <a:r>
                        <a:rPr dirty="0" sz="1200" spc="1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always</a:t>
                      </a:r>
                      <a:r>
                        <a:rPr dirty="0" sz="12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mean</a:t>
                      </a:r>
                      <a:r>
                        <a:rPr dirty="0" sz="120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what</a:t>
                      </a:r>
                      <a:r>
                        <a:rPr dirty="0" sz="1200" spc="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we</a:t>
                      </a:r>
                      <a:r>
                        <a:rPr dirty="0" sz="120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say</a:t>
                      </a:r>
                      <a:r>
                        <a:rPr dirty="0" sz="120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 spc="11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say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what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we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mean?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79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What are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sarcasm, irony,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satire?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algn="just" marL="67945" marR="24130">
                        <a:lnSpc>
                          <a:spcPct val="103299"/>
                        </a:lnSpc>
                      </a:pPr>
                      <a:r>
                        <a:rPr dirty="0" sz="1200" spc="-5">
                          <a:latin typeface="Arial MT"/>
                          <a:cs typeface="Arial MT"/>
                        </a:rPr>
                        <a:t>How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do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different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genres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help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us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in </a:t>
                      </a:r>
                      <a:r>
                        <a:rPr dirty="0" sz="1200" spc="-3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c0mmunicating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without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saying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what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we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mean?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44500" y="11257026"/>
            <a:ext cx="5837555" cy="557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What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child?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tabLst>
                <a:tab pos="462280" algn="l"/>
              </a:tabLst>
            </a:pPr>
            <a:r>
              <a:rPr dirty="0" sz="1200">
                <a:latin typeface="Calibri"/>
                <a:cs typeface="Calibri"/>
              </a:rPr>
              <a:t>-	</a:t>
            </a:r>
            <a:r>
              <a:rPr dirty="0" sz="120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>
                <a:latin typeface="Arial MT"/>
                <a:cs typeface="Arial MT"/>
              </a:rPr>
              <a:t> a</a:t>
            </a:r>
            <a:r>
              <a:rPr dirty="0" sz="1200" spc="-5">
                <a:latin typeface="Arial MT"/>
                <a:cs typeface="Arial MT"/>
              </a:rPr>
              <a:t> “tabula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rasa”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an </a:t>
            </a:r>
            <a:r>
              <a:rPr dirty="0" sz="1200" spc="-5">
                <a:latin typeface="Arial MT"/>
                <a:cs typeface="Arial MT"/>
              </a:rPr>
              <a:t>empty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vessel</a:t>
            </a:r>
            <a:r>
              <a:rPr dirty="0" sz="1200">
                <a:latin typeface="Arial MT"/>
                <a:cs typeface="Arial MT"/>
              </a:rPr>
              <a:t> to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filled</a:t>
            </a:r>
            <a:r>
              <a:rPr dirty="0" sz="1200">
                <a:latin typeface="Arial MT"/>
                <a:cs typeface="Arial MT"/>
              </a:rPr>
              <a:t> by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knowledge.</a:t>
            </a:r>
            <a:r>
              <a:rPr dirty="0" sz="1200">
                <a:latin typeface="Arial MT"/>
                <a:cs typeface="Arial MT"/>
              </a:rPr>
              <a:t> ( </a:t>
            </a:r>
            <a:r>
              <a:rPr dirty="0" sz="1200" spc="-5">
                <a:latin typeface="Arial MT"/>
                <a:cs typeface="Arial MT"/>
              </a:rPr>
              <a:t>John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Locke)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3569" y="11862511"/>
            <a:ext cx="342900" cy="317500"/>
          </a:xfrm>
          <a:custGeom>
            <a:avLst/>
            <a:gdLst/>
            <a:ahLst/>
            <a:cxnLst/>
            <a:rect l="l" t="t" r="r" b="b"/>
            <a:pathLst>
              <a:path w="342900" h="317500">
                <a:moveTo>
                  <a:pt x="342900" y="0"/>
                </a:moveTo>
                <a:lnTo>
                  <a:pt x="0" y="0"/>
                </a:lnTo>
                <a:lnTo>
                  <a:pt x="0" y="317296"/>
                </a:lnTo>
                <a:lnTo>
                  <a:pt x="342900" y="317296"/>
                </a:lnTo>
                <a:lnTo>
                  <a:pt x="3429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65480" y="642619"/>
            <a:ext cx="6629400" cy="1243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9235">
              <a:lnSpc>
                <a:spcPct val="109200"/>
              </a:lnSpc>
              <a:spcBef>
                <a:spcPts val="100"/>
              </a:spcBef>
              <a:buFont typeface="Calibri"/>
              <a:buChar char="-"/>
              <a:tabLst>
                <a:tab pos="241300" algn="l"/>
                <a:tab pos="241935" algn="l"/>
                <a:tab pos="1875155" algn="l"/>
              </a:tabLst>
            </a:pPr>
            <a:r>
              <a:rPr dirty="0" sz="1200">
                <a:latin typeface="Arial MT"/>
                <a:cs typeface="Arial MT"/>
              </a:rPr>
              <a:t>Is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biologically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learned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being?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What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is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learned</a:t>
            </a:r>
            <a:r>
              <a:rPr dirty="0" sz="1200" spc="1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by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one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organism</a:t>
            </a:r>
            <a:r>
              <a:rPr dirty="0" sz="1200" spc="18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may</a:t>
            </a:r>
            <a:r>
              <a:rPr dirty="0" sz="1200" spc="18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be</a:t>
            </a:r>
            <a:r>
              <a:rPr dirty="0" sz="1200" spc="1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transmitted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biologically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3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others.	(Darwin)</a:t>
            </a:r>
            <a:endParaRPr sz="1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335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Is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 natural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discoverer?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(Bruner)</a:t>
            </a:r>
            <a:endParaRPr sz="1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85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 spc="-5">
                <a:latin typeface="Arial MT"/>
                <a:cs typeface="Arial MT"/>
              </a:rPr>
              <a:t>Are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all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children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perfectly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designed</a:t>
            </a:r>
            <a:r>
              <a:rPr dirty="0" sz="1200" spc="8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organisms,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ready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9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from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their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surroundings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so</a:t>
            </a:r>
            <a:r>
              <a:rPr dirty="0" sz="1200" spc="8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as</a:t>
            </a:r>
            <a:r>
              <a:rPr dirty="0" sz="1200" spc="9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endParaRPr sz="1200">
              <a:latin typeface="Arial MT"/>
              <a:cs typeface="Arial MT"/>
            </a:endParaRPr>
          </a:p>
          <a:p>
            <a:pPr marL="241300" marR="5715">
              <a:lnSpc>
                <a:spcPct val="108300"/>
              </a:lnSpc>
              <a:spcBef>
                <a:spcPts val="25"/>
              </a:spcBef>
            </a:pPr>
            <a:r>
              <a:rPr dirty="0" sz="1200" spc="-5">
                <a:latin typeface="Arial MT"/>
                <a:cs typeface="Arial MT"/>
              </a:rPr>
              <a:t>grow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various adults,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but due to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the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malign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influence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corrupt society.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often</a:t>
            </a:r>
            <a:r>
              <a:rPr dirty="0" sz="1200" spc="-5">
                <a:latin typeface="Arial MT"/>
                <a:cs typeface="Arial MT"/>
              </a:rPr>
              <a:t> fail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do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so.</a:t>
            </a:r>
            <a:r>
              <a:rPr dirty="0" sz="1200" spc="-5">
                <a:latin typeface="Arial MT"/>
                <a:cs typeface="Arial MT"/>
              </a:rPr>
              <a:t> (Rousseau)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74589" y="1883409"/>
            <a:ext cx="18224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6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select</a:t>
            </a:r>
            <a:r>
              <a:rPr dirty="0" sz="1200" spc="6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 spc="6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activities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5480" y="1851405"/>
            <a:ext cx="4627880" cy="675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9235">
              <a:lnSpc>
                <a:spcPct val="117500"/>
              </a:lnSpc>
              <a:spcBef>
                <a:spcPts val="100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Does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learn according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to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his/her</a:t>
            </a:r>
            <a:r>
              <a:rPr dirty="0" sz="1200" spc="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interests?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(John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Dewey)</a:t>
            </a:r>
            <a:r>
              <a:rPr dirty="0" sz="1200" spc="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- </a:t>
            </a:r>
            <a:r>
              <a:rPr dirty="0" sz="1200" spc="-32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according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our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own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image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of</a:t>
            </a:r>
            <a:r>
              <a:rPr dirty="0" sz="120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child.</a:t>
            </a:r>
            <a:endParaRPr sz="12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285"/>
              </a:spcBef>
              <a:buFont typeface="Calibri"/>
              <a:buChar char="-"/>
              <a:tabLst>
                <a:tab pos="241300" algn="l"/>
                <a:tab pos="241935" algn="l"/>
              </a:tabLst>
            </a:pPr>
            <a:r>
              <a:rPr dirty="0" sz="1200">
                <a:latin typeface="Arial MT"/>
                <a:cs typeface="Arial MT"/>
              </a:rPr>
              <a:t>We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end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our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5">
                <a:latin typeface="Arial MT"/>
                <a:cs typeface="Arial MT"/>
              </a:rPr>
              <a:t>lesson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on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“Less</a:t>
            </a:r>
            <a:r>
              <a:rPr dirty="0" sz="1200" spc="-5">
                <a:latin typeface="Arial MT"/>
                <a:cs typeface="Arial MT"/>
              </a:rPr>
              <a:t> is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more”.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304799"/>
            <a:ext cx="7164705" cy="12193905"/>
          </a:xfrm>
          <a:custGeom>
            <a:avLst/>
            <a:gdLst/>
            <a:ahLst/>
            <a:cxnLst/>
            <a:rect l="l" t="t" r="r" b="b"/>
            <a:pathLst>
              <a:path w="7164705" h="12193905">
                <a:moveTo>
                  <a:pt x="56375" y="47244"/>
                </a:moveTo>
                <a:lnTo>
                  <a:pt x="47244" y="47244"/>
                </a:lnTo>
                <a:lnTo>
                  <a:pt x="47244" y="56388"/>
                </a:lnTo>
                <a:lnTo>
                  <a:pt x="47244" y="12137136"/>
                </a:lnTo>
                <a:lnTo>
                  <a:pt x="47244" y="12146280"/>
                </a:lnTo>
                <a:lnTo>
                  <a:pt x="56375" y="12146280"/>
                </a:lnTo>
                <a:lnTo>
                  <a:pt x="56375" y="12137136"/>
                </a:lnTo>
                <a:lnTo>
                  <a:pt x="56375" y="56388"/>
                </a:lnTo>
                <a:lnTo>
                  <a:pt x="56375" y="47244"/>
                </a:lnTo>
                <a:close/>
              </a:path>
              <a:path w="7164705" h="12193905">
                <a:moveTo>
                  <a:pt x="7117080" y="47244"/>
                </a:moveTo>
                <a:lnTo>
                  <a:pt x="7107936" y="47244"/>
                </a:lnTo>
                <a:lnTo>
                  <a:pt x="56388" y="47244"/>
                </a:lnTo>
                <a:lnTo>
                  <a:pt x="56388" y="56388"/>
                </a:lnTo>
                <a:lnTo>
                  <a:pt x="7107936" y="56388"/>
                </a:lnTo>
                <a:lnTo>
                  <a:pt x="7107936" y="12137136"/>
                </a:lnTo>
                <a:lnTo>
                  <a:pt x="56388" y="12137136"/>
                </a:lnTo>
                <a:lnTo>
                  <a:pt x="56388" y="12146280"/>
                </a:lnTo>
                <a:lnTo>
                  <a:pt x="7107936" y="12146280"/>
                </a:lnTo>
                <a:lnTo>
                  <a:pt x="7117080" y="12146280"/>
                </a:lnTo>
                <a:lnTo>
                  <a:pt x="7117080" y="12137136"/>
                </a:lnTo>
                <a:lnTo>
                  <a:pt x="7117080" y="56388"/>
                </a:lnTo>
                <a:lnTo>
                  <a:pt x="7117080" y="47244"/>
                </a:lnTo>
                <a:close/>
              </a:path>
              <a:path w="7164705" h="12193905">
                <a:moveTo>
                  <a:pt x="7164324" y="0"/>
                </a:moveTo>
                <a:lnTo>
                  <a:pt x="7126224" y="0"/>
                </a:lnTo>
                <a:lnTo>
                  <a:pt x="7126224" y="38100"/>
                </a:lnTo>
                <a:lnTo>
                  <a:pt x="7126224" y="56388"/>
                </a:lnTo>
                <a:lnTo>
                  <a:pt x="7126224" y="12137136"/>
                </a:lnTo>
                <a:lnTo>
                  <a:pt x="7126224" y="12155424"/>
                </a:lnTo>
                <a:lnTo>
                  <a:pt x="7107936" y="12155424"/>
                </a:lnTo>
                <a:lnTo>
                  <a:pt x="56388" y="12155424"/>
                </a:lnTo>
                <a:lnTo>
                  <a:pt x="38100" y="12155424"/>
                </a:lnTo>
                <a:lnTo>
                  <a:pt x="38100" y="12137136"/>
                </a:lnTo>
                <a:lnTo>
                  <a:pt x="38100" y="56388"/>
                </a:lnTo>
                <a:lnTo>
                  <a:pt x="38100" y="38100"/>
                </a:lnTo>
                <a:lnTo>
                  <a:pt x="56388" y="38100"/>
                </a:lnTo>
                <a:lnTo>
                  <a:pt x="7107936" y="38100"/>
                </a:lnTo>
                <a:lnTo>
                  <a:pt x="7126224" y="38100"/>
                </a:lnTo>
                <a:lnTo>
                  <a:pt x="7126224" y="0"/>
                </a:lnTo>
                <a:lnTo>
                  <a:pt x="7107936" y="0"/>
                </a:lnTo>
                <a:lnTo>
                  <a:pt x="56388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56388"/>
                </a:lnTo>
                <a:lnTo>
                  <a:pt x="0" y="12137136"/>
                </a:lnTo>
                <a:lnTo>
                  <a:pt x="0" y="12155424"/>
                </a:lnTo>
                <a:lnTo>
                  <a:pt x="0" y="12193524"/>
                </a:lnTo>
                <a:lnTo>
                  <a:pt x="38100" y="12193524"/>
                </a:lnTo>
                <a:lnTo>
                  <a:pt x="56388" y="12193524"/>
                </a:lnTo>
                <a:lnTo>
                  <a:pt x="7107936" y="12193524"/>
                </a:lnTo>
                <a:lnTo>
                  <a:pt x="7126224" y="12193524"/>
                </a:lnTo>
                <a:lnTo>
                  <a:pt x="7164324" y="12193524"/>
                </a:lnTo>
                <a:lnTo>
                  <a:pt x="7164324" y="12155424"/>
                </a:lnTo>
                <a:lnTo>
                  <a:pt x="7164324" y="12137136"/>
                </a:lnTo>
                <a:lnTo>
                  <a:pt x="7164324" y="56388"/>
                </a:lnTo>
                <a:lnTo>
                  <a:pt x="7164324" y="38100"/>
                </a:lnTo>
                <a:lnTo>
                  <a:pt x="716432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408430" algn="l"/>
              </a:tabLst>
            </a:pPr>
            <a:r>
              <a:rPr dirty="0"/>
              <a:t>MUHAMMAD</a:t>
            </a:r>
            <a:r>
              <a:rPr dirty="0" spc="-5"/>
              <a:t> IMRAN	</a:t>
            </a:r>
            <a:fld id="{81D60167-4931-47E6-BA6A-407CBD079E47}" type="slidenum">
              <a:rPr dirty="0" b="0">
                <a:solidFill>
                  <a:srgbClr val="FFFFFF"/>
                </a:solidFill>
                <a:latin typeface="Calibri"/>
                <a:cs typeface="Calibri"/>
              </a:rPr>
              <a:t>174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MUHAMMAD IMRAN</dc:creator>
  <dc:title>Handouts EDU 301(1)</dc:title>
  <dcterms:created xsi:type="dcterms:W3CDTF">2021-04-21T09:34:07Z</dcterms:created>
  <dcterms:modified xsi:type="dcterms:W3CDTF">2021-04-21T09:34:07Z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2020-11-04T00:00:00Z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2021-04-21T00:00:00Z</vt:filetime>
  </property>
</Properties>
</file>