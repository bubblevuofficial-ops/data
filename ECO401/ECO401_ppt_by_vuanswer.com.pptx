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</Types>
</file>

<file path=_rels/.rels><?xml version="1.0" encoding="UTF-8"?>
<Relationships xmlns="http://schemas.openxmlformats.org/package/2006/relationships"><Relationship Id="rId1" Type="http://schemas.openxmlformats.org/package/2006/relationships/metadata/core-properties" Target="docProps/core.xml" TargetMode="Internal"></Relationship><Relationship Id="rId2" Type="http://schemas.openxmlformats.org/officeDocument/2006/relationships/extended-properties" Target="docProps/app.xml" TargetMode="Internal"></Relationship><Relationship Id="rId3" Type="http://schemas.openxmlformats.org/officeDocument/2006/relationships/officeDocument" Target="ppt/presentation.xml" TargetMode="Interna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</p:sldIdLst>
  <p:sldSz cx="7772400" cy="10058400" type="custom"/>
  <p:notesSz cx="6858000" cy="9144000"/>
  <p:defaultTextStyle>
    <a:defPPr>
      <a:defRPr lang="ko-KR"/>
    </a:defPPr>
    <a:lvl1pPr algn="l" marL="0" indent="0" defTabSz="914400">
      <a:buNone/>
      <a:defRPr lang="ko-KR" smtClean="0" sz="1800" baseline="0">
        <a:solidFill>
          <a:srgbClr val="000000"/>
        </a:solidFill>
        <a:latin typeface="SimSun"/>
        <a:ea typeface="SimSun"/>
      </a:defRPr>
    </a:lvl1pPr>
    <a:lvl2pPr lvl="1" marL="457200" indent="0" defTabSz="914400">
      <a:defRPr lang="ko-KR" smtClean="0"/>
    </a:lvl2pPr>
    <a:lvl3pPr lvl="2" marL="914400" indent="0" defTabSz="914400">
      <a:defRPr lang="ko-KR" smtClean="0"/>
    </a:lvl3pPr>
    <a:lvl4pPr lvl="3" marL="1371600" indent="0" defTabSz="914400">
      <a:defRPr lang="ko-KR" smtClean="0"/>
    </a:lvl4pPr>
    <a:lvl5pPr lvl="4" marL="1828800" indent="0" defTabSz="914400">
      <a:defRPr lang="ko-KR" smtClean="0"/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1" d="100"/>
          <a:sy n="51" d="100"/>
        </p:scale>
        <p:origin x="-6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slideMaster" Target="slideMasters/slideMaster1.xml" TargetMode="Internal"></Relationship><Relationship Id="rId2" Type="http://schemas.openxmlformats.org/officeDocument/2006/relationships/slide" Target="slides/slide1.xml" TargetMode="Internal"></Relationship><Relationship Id="rId3" Type="http://schemas.openxmlformats.org/officeDocument/2006/relationships/slide" Target="slides/slide2.xml" TargetMode="Internal"></Relationship><Relationship Id="rId4" Type="http://schemas.openxmlformats.org/officeDocument/2006/relationships/slide" Target="slides/slide3.xml" TargetMode="Internal"></Relationship><Relationship Id="rId5" Type="http://schemas.openxmlformats.org/officeDocument/2006/relationships/slide" Target="slides/slide4.xml" TargetMode="Internal"></Relationship><Relationship Id="rId6" Type="http://schemas.openxmlformats.org/officeDocument/2006/relationships/slide" Target="slides/slide5.xml" TargetMode="Internal"></Relationship><Relationship Id="rId7" Type="http://schemas.openxmlformats.org/officeDocument/2006/relationships/slide" Target="slides/slide6.xml" TargetMode="Internal"></Relationship><Relationship Id="rId8" Type="http://schemas.openxmlformats.org/officeDocument/2006/relationships/slide" Target="slides/slide7.xml" TargetMode="Internal"></Relationship><Relationship Id="rId9" Type="http://schemas.openxmlformats.org/officeDocument/2006/relationships/slide" Target="slides/slide8.xml" TargetMode="Internal"></Relationship><Relationship Id="rId10" Type="http://schemas.openxmlformats.org/officeDocument/2006/relationships/slide" Target="slides/slide9.xml" TargetMode="Internal"></Relationship><Relationship Id="rId11" Type="http://schemas.openxmlformats.org/officeDocument/2006/relationships/slide" Target="slides/slide10.xml" TargetMode="Internal"></Relationship><Relationship Id="rId12" Type="http://schemas.openxmlformats.org/officeDocument/2006/relationships/slide" Target="slides/slide11.xml" TargetMode="Internal"></Relationship><Relationship Id="rId13" Type="http://schemas.openxmlformats.org/officeDocument/2006/relationships/slide" Target="slides/slide12.xml" TargetMode="Internal"></Relationship><Relationship Id="rId14" Type="http://schemas.openxmlformats.org/officeDocument/2006/relationships/slide" Target="slides/slide13.xml" TargetMode="Internal"></Relationship><Relationship Id="rId15" Type="http://schemas.openxmlformats.org/officeDocument/2006/relationships/slide" Target="slides/slide14.xml" TargetMode="Internal"></Relationship><Relationship Id="rId16" Type="http://schemas.openxmlformats.org/officeDocument/2006/relationships/slide" Target="slides/slide15.xml" TargetMode="Internal"></Relationship><Relationship Id="rId17" Type="http://schemas.openxmlformats.org/officeDocument/2006/relationships/slide" Target="slides/slide16.xml" TargetMode="Internal"></Relationship><Relationship Id="rId18" Type="http://schemas.openxmlformats.org/officeDocument/2006/relationships/slide" Target="slides/slide17.xml" TargetMode="Internal"></Relationship><Relationship Id="rId19" Type="http://schemas.openxmlformats.org/officeDocument/2006/relationships/slide" Target="slides/slide18.xml" TargetMode="Internal"></Relationship><Relationship Id="rId20" Type="http://schemas.openxmlformats.org/officeDocument/2006/relationships/slide" Target="slides/slide19.xml" TargetMode="Internal"></Relationship><Relationship Id="rId21" Type="http://schemas.openxmlformats.org/officeDocument/2006/relationships/slide" Target="slides/slide20.xml" TargetMode="Internal"></Relationship><Relationship Id="rId22" Type="http://schemas.openxmlformats.org/officeDocument/2006/relationships/slide" Target="slides/slide21.xml" TargetMode="Internal"></Relationship><Relationship Id="rId23" Type="http://schemas.openxmlformats.org/officeDocument/2006/relationships/slide" Target="slides/slide22.xml" TargetMode="Internal"></Relationship><Relationship Id="rId24" Type="http://schemas.openxmlformats.org/officeDocument/2006/relationships/slide" Target="slides/slide23.xml" TargetMode="Internal"></Relationship><Relationship Id="rId25" Type="http://schemas.openxmlformats.org/officeDocument/2006/relationships/slide" Target="slides/slide24.xml" TargetMode="Internal"></Relationship><Relationship Id="rId26" Type="http://schemas.openxmlformats.org/officeDocument/2006/relationships/slide" Target="slides/slide25.xml" TargetMode="Internal"></Relationship><Relationship Id="rId27" Type="http://schemas.openxmlformats.org/officeDocument/2006/relationships/slide" Target="slides/slide26.xml" TargetMode="Internal"></Relationship><Relationship Id="rId28" Type="http://schemas.openxmlformats.org/officeDocument/2006/relationships/slide" Target="slides/slide27.xml" TargetMode="Internal"></Relationship><Relationship Id="rId29" Type="http://schemas.openxmlformats.org/officeDocument/2006/relationships/slide" Target="slides/slide28.xml" TargetMode="Internal"></Relationship><Relationship Id="rId30" Type="http://schemas.openxmlformats.org/officeDocument/2006/relationships/slide" Target="slides/slide29.xml" TargetMode="Internal"></Relationship><Relationship Id="rId31" Type="http://schemas.openxmlformats.org/officeDocument/2006/relationships/slide" Target="slides/slide30.xml" TargetMode="Internal"></Relationship><Relationship Id="rId32" Type="http://schemas.openxmlformats.org/officeDocument/2006/relationships/slide" Target="slides/slide31.xml" TargetMode="Internal"></Relationship><Relationship Id="rId33" Type="http://schemas.openxmlformats.org/officeDocument/2006/relationships/slide" Target="slides/slide32.xml" TargetMode="Internal"></Relationship><Relationship Id="rId34" Type="http://schemas.openxmlformats.org/officeDocument/2006/relationships/slide" Target="slides/slide33.xml" TargetMode="Internal"></Relationship><Relationship Id="rId35" Type="http://schemas.openxmlformats.org/officeDocument/2006/relationships/slide" Target="slides/slide34.xml" TargetMode="Internal"></Relationship><Relationship Id="rId36" Type="http://schemas.openxmlformats.org/officeDocument/2006/relationships/slide" Target="slides/slide35.xml" TargetMode="Internal"></Relationship><Relationship Id="rId37" Type="http://schemas.openxmlformats.org/officeDocument/2006/relationships/slide" Target="slides/slide36.xml" TargetMode="Internal"></Relationship><Relationship Id="rId38" Type="http://schemas.openxmlformats.org/officeDocument/2006/relationships/slide" Target="slides/slide37.xml" TargetMode="Internal"></Relationship><Relationship Id="rId39" Type="http://schemas.openxmlformats.org/officeDocument/2006/relationships/slide" Target="slides/slide38.xml" TargetMode="Internal"></Relationship><Relationship Id="rId40" Type="http://schemas.openxmlformats.org/officeDocument/2006/relationships/slide" Target="slides/slide39.xml" TargetMode="Internal"></Relationship><Relationship Id="rId41" Type="http://schemas.openxmlformats.org/officeDocument/2006/relationships/slide" Target="slides/slide40.xml" TargetMode="Internal"></Relationship><Relationship Id="rId42" Type="http://schemas.openxmlformats.org/officeDocument/2006/relationships/slide" Target="slides/slide41.xml" TargetMode="Internal"></Relationship><Relationship Id="rId43" Type="http://schemas.openxmlformats.org/officeDocument/2006/relationships/slide" Target="slides/slide42.xml" TargetMode="Internal"></Relationship><Relationship Id="rId44" Type="http://schemas.openxmlformats.org/officeDocument/2006/relationships/slide" Target="slides/slide43.xml" TargetMode="Internal"></Relationship><Relationship Id="rId45" Type="http://schemas.openxmlformats.org/officeDocument/2006/relationships/slide" Target="slides/slide44.xml" TargetMode="Internal"></Relationship><Relationship Id="rId46" Type="http://schemas.openxmlformats.org/officeDocument/2006/relationships/slide" Target="slides/slide45.xml" TargetMode="Internal"></Relationship><Relationship Id="rId47" Type="http://schemas.openxmlformats.org/officeDocument/2006/relationships/slide" Target="slides/slide46.xml" TargetMode="Internal"></Relationship><Relationship Id="rId48" Type="http://schemas.openxmlformats.org/officeDocument/2006/relationships/slide" Target="slides/slide47.xml" TargetMode="Internal"></Relationship><Relationship Id="rId49" Type="http://schemas.openxmlformats.org/officeDocument/2006/relationships/slide" Target="slides/slide48.xml" TargetMode="Internal"></Relationship><Relationship Id="rId50" Type="http://schemas.openxmlformats.org/officeDocument/2006/relationships/slide" Target="slides/slide49.xml" TargetMode="Internal"></Relationship><Relationship Id="rId51" Type="http://schemas.openxmlformats.org/officeDocument/2006/relationships/slide" Target="slides/slide50.xml" TargetMode="Internal"></Relationship><Relationship Id="rId52" Type="http://schemas.openxmlformats.org/officeDocument/2006/relationships/slide" Target="slides/slide51.xml" TargetMode="Internal"></Relationship><Relationship Id="rId53" Type="http://schemas.openxmlformats.org/officeDocument/2006/relationships/slide" Target="slides/slide52.xml" TargetMode="Internal"></Relationship><Relationship Id="rId54" Type="http://schemas.openxmlformats.org/officeDocument/2006/relationships/slide" Target="slides/slide53.xml" TargetMode="Internal"></Relationship><Relationship Id="rId55" Type="http://schemas.openxmlformats.org/officeDocument/2006/relationships/slide" Target="slides/slide54.xml" TargetMode="Internal"></Relationship><Relationship Id="rId56" Type="http://schemas.openxmlformats.org/officeDocument/2006/relationships/slide" Target="slides/slide55.xml" TargetMode="Internal"></Relationship><Relationship Id="rId57" Type="http://schemas.openxmlformats.org/officeDocument/2006/relationships/slide" Target="slides/slide56.xml" TargetMode="Internal"></Relationship><Relationship Id="rId58" Type="http://schemas.openxmlformats.org/officeDocument/2006/relationships/slide" Target="slides/slide57.xml" TargetMode="Internal"></Relationship><Relationship Id="rId59" Type="http://schemas.openxmlformats.org/officeDocument/2006/relationships/slide" Target="slides/slide58.xml" TargetMode="Internal"></Relationship><Relationship Id="rId60" Type="http://schemas.openxmlformats.org/officeDocument/2006/relationships/slide" Target="slides/slide59.xml" TargetMode="Internal"></Relationship><Relationship Id="rId61" Type="http://schemas.openxmlformats.org/officeDocument/2006/relationships/slide" Target="slides/slide60.xml" TargetMode="Internal"></Relationship><Relationship Id="rId62" Type="http://schemas.openxmlformats.org/officeDocument/2006/relationships/slide" Target="slides/slide61.xml" TargetMode="Internal"></Relationship><Relationship Id="rId63" Type="http://schemas.openxmlformats.org/officeDocument/2006/relationships/slide" Target="slides/slide62.xml" TargetMode="Internal"></Relationship><Relationship Id="rId64" Type="http://schemas.openxmlformats.org/officeDocument/2006/relationships/slide" Target="slides/slide63.xml" TargetMode="Internal"></Relationship><Relationship Id="rId65" Type="http://schemas.openxmlformats.org/officeDocument/2006/relationships/slide" Target="slides/slide64.xml" TargetMode="Internal"></Relationship><Relationship Id="rId66" Type="http://schemas.openxmlformats.org/officeDocument/2006/relationships/slide" Target="slides/slide65.xml" TargetMode="Internal"></Relationship><Relationship Id="rId67" Type="http://schemas.openxmlformats.org/officeDocument/2006/relationships/slide" Target="slides/slide66.xml" TargetMode="Internal"></Relationship><Relationship Id="rId68" Type="http://schemas.openxmlformats.org/officeDocument/2006/relationships/slide" Target="slides/slide67.xml" TargetMode="Internal"></Relationship><Relationship Id="rId69" Type="http://schemas.openxmlformats.org/officeDocument/2006/relationships/slide" Target="slides/slide68.xml" TargetMode="Internal"></Relationship><Relationship Id="rId70" Type="http://schemas.openxmlformats.org/officeDocument/2006/relationships/slide" Target="slides/slide69.xml" TargetMode="Internal"></Relationship><Relationship Id="rId71" Type="http://schemas.openxmlformats.org/officeDocument/2006/relationships/slide" Target="slides/slide70.xml" TargetMode="Internal"></Relationship><Relationship Id="rId72" Type="http://schemas.openxmlformats.org/officeDocument/2006/relationships/slide" Target="slides/slide71.xml" TargetMode="Internal"></Relationship><Relationship Id="rId73" Type="http://schemas.openxmlformats.org/officeDocument/2006/relationships/slide" Target="slides/slide72.xml" TargetMode="Internal"></Relationship><Relationship Id="rId74" Type="http://schemas.openxmlformats.org/officeDocument/2006/relationships/slide" Target="slides/slide73.xml" TargetMode="Internal"></Relationship><Relationship Id="rId75" Type="http://schemas.openxmlformats.org/officeDocument/2006/relationships/slide" Target="slides/slide74.xml" TargetMode="Internal"></Relationship><Relationship Id="rId76" Type="http://schemas.openxmlformats.org/officeDocument/2006/relationships/slide" Target="slides/slide75.xml" TargetMode="Internal"></Relationship><Relationship Id="rId77" Type="http://schemas.openxmlformats.org/officeDocument/2006/relationships/slide" Target="slides/slide76.xml" TargetMode="Internal"></Relationship><Relationship Id="rId78" Type="http://schemas.openxmlformats.org/officeDocument/2006/relationships/slide" Target="slides/slide77.xml" TargetMode="Internal"></Relationship><Relationship Id="rId79" Type="http://schemas.openxmlformats.org/officeDocument/2006/relationships/slide" Target="slides/slide78.xml" TargetMode="Internal"></Relationship><Relationship Id="rId80" Type="http://schemas.openxmlformats.org/officeDocument/2006/relationships/slide" Target="slides/slide79.xml" TargetMode="Internal"></Relationship><Relationship Id="rId81" Type="http://schemas.openxmlformats.org/officeDocument/2006/relationships/slide" Target="slides/slide80.xml" TargetMode="Internal"></Relationship><Relationship Id="rId82" Type="http://schemas.openxmlformats.org/officeDocument/2006/relationships/slide" Target="slides/slide81.xml" TargetMode="Internal"></Relationship><Relationship Id="rId83" Type="http://schemas.openxmlformats.org/officeDocument/2006/relationships/slide" Target="slides/slide82.xml" TargetMode="Internal"></Relationship><Relationship Id="rId84" Type="http://schemas.openxmlformats.org/officeDocument/2006/relationships/slide" Target="slides/slide83.xml" TargetMode="Internal"></Relationship><Relationship Id="rId85" Type="http://schemas.openxmlformats.org/officeDocument/2006/relationships/slide" Target="slides/slide84.xml" TargetMode="Internal"></Relationship><Relationship Id="rId86" Type="http://schemas.openxmlformats.org/officeDocument/2006/relationships/slide" Target="slides/slide85.xml" TargetMode="Internal"></Relationship><Relationship Id="rId87" Type="http://schemas.openxmlformats.org/officeDocument/2006/relationships/slide" Target="slides/slide86.xml" TargetMode="Internal"></Relationship><Relationship Id="rId88" Type="http://schemas.openxmlformats.org/officeDocument/2006/relationships/slide" Target="slides/slide87.xml" TargetMode="Internal"></Relationship><Relationship Id="rId89" Type="http://schemas.openxmlformats.org/officeDocument/2006/relationships/slide" Target="slides/slide88.xml" TargetMode="Internal"></Relationship><Relationship Id="rId90" Type="http://schemas.openxmlformats.org/officeDocument/2006/relationships/slide" Target="slides/slide89.xml" TargetMode="Internal"></Relationship><Relationship Id="rId91" Type="http://schemas.openxmlformats.org/officeDocument/2006/relationships/slide" Target="slides/slide90.xml" TargetMode="Internal"></Relationship><Relationship Id="rId92" Type="http://schemas.openxmlformats.org/officeDocument/2006/relationships/slide" Target="slides/slide91.xml" TargetMode="Internal"></Relationship><Relationship Id="rId93" Type="http://schemas.openxmlformats.org/officeDocument/2006/relationships/slide" Target="slides/slide92.xml" TargetMode="Internal"></Relationship><Relationship Id="rId94" Type="http://schemas.openxmlformats.org/officeDocument/2006/relationships/slide" Target="slides/slide93.xml" TargetMode="Internal"></Relationship><Relationship Id="rId95" Type="http://schemas.openxmlformats.org/officeDocument/2006/relationships/slide" Target="slides/slide94.xml" TargetMode="Internal"></Relationship><Relationship Id="rId96" Type="http://schemas.openxmlformats.org/officeDocument/2006/relationships/slide" Target="slides/slide95.xml" TargetMode="Internal"></Relationship><Relationship Id="rId97" Type="http://schemas.openxmlformats.org/officeDocument/2006/relationships/slide" Target="slides/slide96.xml" TargetMode="Internal"></Relationship><Relationship Id="rId98" Type="http://schemas.openxmlformats.org/officeDocument/2006/relationships/slide" Target="slides/slide97.xml" TargetMode="Internal"></Relationship><Relationship Id="rId99" Type="http://schemas.openxmlformats.org/officeDocument/2006/relationships/slide" Target="slides/slide98.xml" TargetMode="Internal"></Relationship><Relationship Id="rId100" Type="http://schemas.openxmlformats.org/officeDocument/2006/relationships/slide" Target="slides/slide99.xml" TargetMode="Internal"></Relationship><Relationship Id="rId101" Type="http://schemas.openxmlformats.org/officeDocument/2006/relationships/slide" Target="slides/slide100.xml" TargetMode="Internal"></Relationship><Relationship Id="rId102" Type="http://schemas.openxmlformats.org/officeDocument/2006/relationships/slide" Target="slides/slide101.xml" TargetMode="Internal"></Relationship><Relationship Id="rId103" Type="http://schemas.openxmlformats.org/officeDocument/2006/relationships/slide" Target="slides/slide102.xml" TargetMode="Internal"></Relationship><Relationship Id="rId104" Type="http://schemas.openxmlformats.org/officeDocument/2006/relationships/slide" Target="slides/slide103.xml" TargetMode="Internal"></Relationship><Relationship Id="rId105" Type="http://schemas.openxmlformats.org/officeDocument/2006/relationships/slide" Target="slides/slide104.xml" TargetMode="Internal"></Relationship><Relationship Id="rId106" Type="http://schemas.openxmlformats.org/officeDocument/2006/relationships/slide" Target="slides/slide105.xml" TargetMode="Internal"></Relationship><Relationship Id="rId107" Type="http://schemas.openxmlformats.org/officeDocument/2006/relationships/slide" Target="slides/slide106.xml" TargetMode="Internal"></Relationship><Relationship Id="rId108" Type="http://schemas.openxmlformats.org/officeDocument/2006/relationships/slide" Target="slides/slide107.xml" TargetMode="Internal"></Relationship><Relationship Id="rId109" Type="http://schemas.openxmlformats.org/officeDocument/2006/relationships/slide" Target="slides/slide108.xml" TargetMode="Internal"></Relationship><Relationship Id="rId110" Type="http://schemas.openxmlformats.org/officeDocument/2006/relationships/slide" Target="slides/slide109.xml" TargetMode="Internal"></Relationship><Relationship Id="rId111" Type="http://schemas.openxmlformats.org/officeDocument/2006/relationships/slide" Target="slides/slide110.xml" TargetMode="Internal"></Relationship><Relationship Id="rId112" Type="http://schemas.openxmlformats.org/officeDocument/2006/relationships/slide" Target="slides/slide111.xml" TargetMode="Internal"></Relationship><Relationship Id="rId113" Type="http://schemas.openxmlformats.org/officeDocument/2006/relationships/slide" Target="slides/slide112.xml" TargetMode="Internal"></Relationship><Relationship Id="rId114" Type="http://schemas.openxmlformats.org/officeDocument/2006/relationships/slide" Target="slides/slide113.xml" TargetMode="Internal"></Relationship><Relationship Id="rId115" Type="http://schemas.openxmlformats.org/officeDocument/2006/relationships/slide" Target="slides/slide114.xml" TargetMode="Internal"></Relationship><Relationship Id="rId116" Type="http://schemas.openxmlformats.org/officeDocument/2006/relationships/slide" Target="slides/slide115.xml" TargetMode="Internal"></Relationship><Relationship Id="rId117" Type="http://schemas.openxmlformats.org/officeDocument/2006/relationships/slide" Target="slides/slide116.xml" TargetMode="Internal"></Relationship><Relationship Id="rId118" Type="http://schemas.openxmlformats.org/officeDocument/2006/relationships/slide" Target="slides/slide117.xml" TargetMode="Internal"></Relationship><Relationship Id="rId119" Type="http://schemas.openxmlformats.org/officeDocument/2006/relationships/slide" Target="slides/slide118.xml" TargetMode="Internal"></Relationship><Relationship Id="rId120" Type="http://schemas.openxmlformats.org/officeDocument/2006/relationships/slide" Target="slides/slide119.xml" TargetMode="Internal"></Relationship><Relationship Id="rId121" Type="http://schemas.openxmlformats.org/officeDocument/2006/relationships/slide" Target="slides/slide120.xml" TargetMode="Internal"></Relationship><Relationship Id="rId122" Type="http://schemas.openxmlformats.org/officeDocument/2006/relationships/slide" Target="slides/slide121.xml" TargetMode="Internal"></Relationship><Relationship Id="rId123" Type="http://schemas.openxmlformats.org/officeDocument/2006/relationships/slide" Target="slides/slide122.xml" TargetMode="Internal"></Relationship><Relationship Id="rId124" Type="http://schemas.openxmlformats.org/officeDocument/2006/relationships/slide" Target="slides/slide123.xml" TargetMode="Internal"></Relationship><Relationship Id="rId125" Type="http://schemas.openxmlformats.org/officeDocument/2006/relationships/slide" Target="slides/slide124.xml" TargetMode="Internal"></Relationship><Relationship Id="rId126" Type="http://schemas.openxmlformats.org/officeDocument/2006/relationships/slide" Target="slides/slide125.xml" TargetMode="Internal"></Relationship><Relationship Id="rId127" Type="http://schemas.openxmlformats.org/officeDocument/2006/relationships/slide" Target="slides/slide126.xml" TargetMode="Internal"></Relationship><Relationship Id="rId128" Type="http://schemas.openxmlformats.org/officeDocument/2006/relationships/slide" Target="slides/slide127.xml" TargetMode="Internal"></Relationship><Relationship Id="rId129" Type="http://schemas.openxmlformats.org/officeDocument/2006/relationships/slide" Target="slides/slide128.xml" TargetMode="Internal"></Relationship><Relationship Id="rId130" Type="http://schemas.openxmlformats.org/officeDocument/2006/relationships/slide" Target="slides/slide129.xml" TargetMode="Internal"></Relationship><Relationship Id="rId131" Type="http://schemas.openxmlformats.org/officeDocument/2006/relationships/slide" Target="slides/slide130.xml" TargetMode="Internal"></Relationship><Relationship Id="rId132" Type="http://schemas.openxmlformats.org/officeDocument/2006/relationships/slide" Target="slides/slide131.xml" TargetMode="Internal"></Relationship><Relationship Id="rId133" Type="http://schemas.openxmlformats.org/officeDocument/2006/relationships/slide" Target="slides/slide132.xml" TargetMode="Internal"></Relationship><Relationship Id="rId134" Type="http://schemas.openxmlformats.org/officeDocument/2006/relationships/slide" Target="slides/slide133.xml" TargetMode="Internal"></Relationship><Relationship Id="rId135" Type="http://schemas.openxmlformats.org/officeDocument/2006/relationships/slide" Target="slides/slide134.xml" TargetMode="Internal"></Relationship><Relationship Id="rId136" Type="http://schemas.openxmlformats.org/officeDocument/2006/relationships/slide" Target="slides/slide135.xml" TargetMode="Internal"></Relationship><Relationship Id="rId137" Type="http://schemas.openxmlformats.org/officeDocument/2006/relationships/slide" Target="slides/slide136.xml" TargetMode="Internal"></Relationship><Relationship Id="rId138" Type="http://schemas.openxmlformats.org/officeDocument/2006/relationships/slide" Target="slides/slide137.xml" TargetMode="Internal"></Relationship><Relationship Id="rId139" Type="http://schemas.openxmlformats.org/officeDocument/2006/relationships/slide" Target="slides/slide138.xml" TargetMode="Internal"></Relationship><Relationship Id="rId140" Type="http://schemas.openxmlformats.org/officeDocument/2006/relationships/slide" Target="slides/slide139.xml" TargetMode="Internal"></Relationship><Relationship Id="rId141" Type="http://schemas.openxmlformats.org/officeDocument/2006/relationships/slide" Target="slides/slide140.xml" TargetMode="Internal"></Relationship><Relationship Id="rId142" Type="http://schemas.openxmlformats.org/officeDocument/2006/relationships/slide" Target="slides/slide141.xml" TargetMode="Internal"></Relationship><Relationship Id="rId143" Type="http://schemas.openxmlformats.org/officeDocument/2006/relationships/slide" Target="slides/slide142.xml" TargetMode="Internal"></Relationship><Relationship Id="rId144" Type="http://schemas.openxmlformats.org/officeDocument/2006/relationships/slide" Target="slides/slide143.xml" TargetMode="Internal"></Relationship><Relationship Id="rId145" Type="http://schemas.openxmlformats.org/officeDocument/2006/relationships/slide" Target="slides/slide144.xml" TargetMode="Internal"></Relationship><Relationship Id="rId146" Type="http://schemas.openxmlformats.org/officeDocument/2006/relationships/slide" Target="slides/slide145.xml" TargetMode="Internal"></Relationship><Relationship Id="rId147" Type="http://schemas.openxmlformats.org/officeDocument/2006/relationships/slide" Target="slides/slide146.xml" TargetMode="Internal"></Relationship><Relationship Id="rId148" Type="http://schemas.openxmlformats.org/officeDocument/2006/relationships/slide" Target="slides/slide147.xml" TargetMode="Internal"></Relationship><Relationship Id="rId149" Type="http://schemas.openxmlformats.org/officeDocument/2006/relationships/slide" Target="slides/slide148.xml" TargetMode="Internal"></Relationship><Relationship Id="rId150" Type="http://schemas.openxmlformats.org/officeDocument/2006/relationships/slide" Target="slides/slide149.xml" TargetMode="Internal"></Relationship><Relationship Id="rId151" Type="http://schemas.openxmlformats.org/officeDocument/2006/relationships/slide" Target="slides/slide150.xml" TargetMode="Internal"></Relationship><Relationship Id="rId152" Type="http://schemas.openxmlformats.org/officeDocument/2006/relationships/slide" Target="slides/slide151.xml" TargetMode="Internal"></Relationship><Relationship Id="rId153" Type="http://schemas.openxmlformats.org/officeDocument/2006/relationships/slide" Target="slides/slide152.xml" TargetMode="Internal"></Relationship><Relationship Id="rId154" Type="http://schemas.openxmlformats.org/officeDocument/2006/relationships/slide" Target="slides/slide153.xml" TargetMode="Internal"></Relationship><Relationship Id="rId155" Type="http://schemas.openxmlformats.org/officeDocument/2006/relationships/slide" Target="slides/slide154.xml" TargetMode="Internal"></Relationship><Relationship Id="rId156" Type="http://schemas.openxmlformats.org/officeDocument/2006/relationships/slide" Target="slides/slide155.xml" TargetMode="Internal"></Relationship><Relationship Id="rId157" Type="http://schemas.openxmlformats.org/officeDocument/2006/relationships/slide" Target="slides/slide156.xml" TargetMode="Internal"></Relationship><Relationship Id="rId158" Type="http://schemas.openxmlformats.org/officeDocument/2006/relationships/slide" Target="slides/slide157.xml" TargetMode="Internal"></Relationship><Relationship Id="rId159" Type="http://schemas.openxmlformats.org/officeDocument/2006/relationships/slide" Target="slides/slide158.xml" TargetMode="Internal"></Relationship><Relationship Id="rId160" Type="http://schemas.openxmlformats.org/officeDocument/2006/relationships/slide" Target="slides/slide159.xml" TargetMode="Internal"></Relationship><Relationship Id="rId161" Type="http://schemas.openxmlformats.org/officeDocument/2006/relationships/slide" Target="slides/slide160.xml" TargetMode="Internal"></Relationship><Relationship Id="rId162" Type="http://schemas.openxmlformats.org/officeDocument/2006/relationships/slide" Target="slides/slide161.xml" TargetMode="Internal"></Relationship><Relationship Id="rId163" Type="http://schemas.openxmlformats.org/officeDocument/2006/relationships/slide" Target="slides/slide162.xml" TargetMode="Internal"></Relationship><Relationship Id="rId164" Type="http://schemas.openxmlformats.org/officeDocument/2006/relationships/slide" Target="slides/slide163.xml" TargetMode="Internal"></Relationship><Relationship Id="rId165" Type="http://schemas.openxmlformats.org/officeDocument/2006/relationships/slide" Target="slides/slide164.xml" TargetMode="Internal"></Relationship><Relationship Id="rId166" Type="http://schemas.openxmlformats.org/officeDocument/2006/relationships/slide" Target="slides/slide165.xml" TargetMode="Internal"></Relationship><Relationship Id="rId167" Type="http://schemas.openxmlformats.org/officeDocument/2006/relationships/slide" Target="slides/slide166.xml" TargetMode="Internal"></Relationship><Relationship Id="rId168" Type="http://schemas.openxmlformats.org/officeDocument/2006/relationships/slide" Target="slides/slide167.xml" TargetMode="Internal"></Relationship><Relationship Id="rId169" Type="http://schemas.openxmlformats.org/officeDocument/2006/relationships/slide" Target="slides/slide168.xml" TargetMode="Internal"></Relationship><Relationship Id="rId170" Type="http://schemas.openxmlformats.org/officeDocument/2006/relationships/slide" Target="slides/slide169.xml" TargetMode="Internal"></Relationship><Relationship Id="rId171" Type="http://schemas.openxmlformats.org/officeDocument/2006/relationships/slide" Target="slides/slide170.xml" TargetMode="Internal"></Relationship><Relationship Id="rId172" Type="http://schemas.openxmlformats.org/officeDocument/2006/relationships/slide" Target="slides/slide171.xml" TargetMode="Internal"></Relationship><Relationship Id="rId173" Type="http://schemas.openxmlformats.org/officeDocument/2006/relationships/slide" Target="slides/slide172.xml" TargetMode="Internal"></Relationship><Relationship Id="rId174" Type="http://schemas.openxmlformats.org/officeDocument/2006/relationships/slide" Target="slides/slide173.xml" TargetMode="Internal"></Relationship><Relationship Id="rId175" Type="http://schemas.openxmlformats.org/officeDocument/2006/relationships/slide" Target="slides/slide174.xml" TargetMode="Internal"></Relationship><Relationship Id="rId176" Type="http://schemas.openxmlformats.org/officeDocument/2006/relationships/slide" Target="slides/slide175.xml" TargetMode="Internal"></Relationship><Relationship Id="rId177" Type="http://schemas.openxmlformats.org/officeDocument/2006/relationships/slide" Target="slides/slide176.xml" TargetMode="Internal"></Relationship><Relationship Id="rId178" Type="http://schemas.openxmlformats.org/officeDocument/2006/relationships/slide" Target="slides/slide177.xml" TargetMode="Internal"></Relationship><Relationship Id="rId179" Type="http://schemas.openxmlformats.org/officeDocument/2006/relationships/slide" Target="slides/slide178.xml" TargetMode="Internal"></Relationship><Relationship Id="rId180" Type="http://schemas.openxmlformats.org/officeDocument/2006/relationships/theme" Target="theme/theme1.xml" TargetMode="Internal"></Relationship><Relationship Id="rId181" Type="http://schemas.openxmlformats.org/officeDocument/2006/relationships/presProps" Target="presProps.xml" TargetMode="Internal"></Relationship><Relationship Id="rId182" Type="http://schemas.openxmlformats.org/officeDocument/2006/relationships/viewProps" Target="viewProps.xml" TargetMode="Internal"></Relationship><Relationship Id="rId183" Type="http://schemas.openxmlformats.org/officeDocument/2006/relationships/tableStyles" Target="tableStyles.xml" TargetMode="Internal"></Relationship></Relationship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3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4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5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6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7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8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9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0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_rels/slideLayout1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 TargetMode="Internal"></Relationship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marL="0" indent="0">
              <a:buNone/>
              <a:defRPr>
                <a:solidFill>
                  <a:srgbClr val="000000"/>
                </a:solidFill>
              </a:defRPr>
            </a:lvl1pPr>
            <a:lvl2pPr algn="ctr" marL="457200" indent="0">
              <a:buNone/>
              <a:defRPr>
                <a:solidFill>
                  <a:srgbClr val="000000"/>
                </a:solidFill>
              </a:defRPr>
            </a:lvl2pPr>
            <a:lvl3pPr algn="ctr" marL="914400" indent="0">
              <a:buNone/>
              <a:defRPr>
                <a:solidFill>
                  <a:srgbClr val="000000"/>
                </a:solidFill>
              </a:defRPr>
            </a:lvl3pPr>
            <a:lvl4pPr algn="ctr" marL="1371600" indent="0">
              <a:buNone/>
              <a:defRPr>
                <a:solidFill>
                  <a:srgbClr val="000000"/>
                </a:solidFill>
              </a:defRPr>
            </a:lvl4pPr>
            <a:lvl5pPr algn="ctr" marL="1828800" indent="0">
              <a:buNone/>
              <a:defRPr>
                <a:solidFill>
                  <a:srgbClr val="000000"/>
                </a:solidFill>
              </a:defRPr>
            </a:lvl5pPr>
            <a:lvl6pPr algn="ctr" marL="2286000" indent="0">
              <a:buNone/>
              <a:defRPr>
                <a:solidFill>
                  <a:srgbClr val="000000"/>
                </a:solidFill>
              </a:defRPr>
            </a:lvl6pPr>
            <a:lvl7pPr algn="ctr" marL="2743200" indent="0">
              <a:buNone/>
              <a:defRPr>
                <a:solidFill>
                  <a:srgbClr val="000000"/>
                </a:solidFill>
              </a:defRPr>
            </a:lvl7pPr>
            <a:lvl8pPr algn="ctr" marL="3200400" indent="0">
              <a:buNone/>
              <a:defRPr>
                <a:solidFill>
                  <a:srgbClr val="000000"/>
                </a:solidFill>
              </a:defRPr>
            </a:lvl8pPr>
            <a:lvl9pPr algn="ctr" marL="3657600" indent="0">
              <a:buNone/>
              <a:defRPr>
                <a:solidFill>
                  <a:srgbClr val="000000"/>
                </a:solidFill>
              </a:defRPr>
            </a:lvl9pPr>
          </a:lstStyle>
          <a:p>
            <a:r>
              <a:rPr lang="ko-KR" altLang="en-US" dirty="0" smtClean="0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  <a:lvl2pPr marL="457200" indent="0">
              <a:buNone/>
              <a:defRPr sz="1800">
                <a:solidFill>
                  <a:srgbClr val="000000"/>
                </a:solidFill>
              </a:defRPr>
            </a:lvl2pPr>
            <a:lvl3pPr marL="914400" indent="0">
              <a:buNone/>
              <a:defRPr sz="1600">
                <a:solidFill>
                  <a:srgbClr val="000000"/>
                </a:solidFill>
              </a:defRPr>
            </a:lvl3pPr>
            <a:lvl4pPr marL="1371600" indent="0">
              <a:buNone/>
              <a:defRPr sz="1400">
                <a:solidFill>
                  <a:srgbClr val="000000"/>
                </a:solidFill>
              </a:defRPr>
            </a:lvl4pPr>
            <a:lvl5pPr marL="1828800" indent="0">
              <a:buNone/>
              <a:defRPr sz="1400">
                <a:solidFill>
                  <a:srgbClr val="000000"/>
                </a:solidFill>
              </a:defRPr>
            </a:lvl5pPr>
            <a:lvl6pPr marL="2286000" indent="0">
              <a:buNone/>
              <a:defRPr sz="1400">
                <a:solidFill>
                  <a:srgbClr val="000000"/>
                </a:solidFill>
              </a:defRPr>
            </a:lvl6pPr>
            <a:lvl7pPr marL="2743200" indent="0">
              <a:buNone/>
              <a:defRPr sz="1400">
                <a:solidFill>
                  <a:srgbClr val="000000"/>
                </a:solidFill>
              </a:defRPr>
            </a:lvl7pPr>
            <a:lvl8pPr marL="3200400" indent="0">
              <a:buNone/>
              <a:defRPr sz="1400">
                <a:solidFill>
                  <a:srgbClr val="000000"/>
                </a:solidFill>
              </a:defRPr>
            </a:lvl8pPr>
            <a:lvl9pPr marL="3657600" indent="0">
              <a:buNone/>
              <a:defRPr sz="1400">
                <a:solidFill>
                  <a:srgbClr val="000000"/>
                </a:solidFill>
              </a:defRPr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0" defTabSz="0">
              <a:defRPr sz="2800"/>
            </a:lvl1pPr>
            <a:lvl2pPr marL="0" defTabSz="0">
              <a:defRPr sz="2400"/>
            </a:lvl2pPr>
            <a:lvl3pPr marL="0" defTabSz="0">
              <a:defRPr sz="2000"/>
            </a:lvl3pPr>
            <a:lvl4pPr marL="0" defTabSz="0">
              <a:defRPr sz="1800"/>
            </a:lvl4pPr>
            <a:lvl5pPr marL="0" defTabSz="0">
              <a:defRPr sz="1800"/>
            </a:lvl5pPr>
            <a:lvl6pPr marL="0" defTabSz="0">
              <a:defRPr sz="1800"/>
            </a:lvl6pPr>
            <a:lvl7pPr marL="0" defTabSz="0">
              <a:defRPr sz="1800"/>
            </a:lvl7pPr>
            <a:lvl8pPr marL="0" defTabSz="0">
              <a:defRPr sz="1800"/>
            </a:lvl8pPr>
            <a:lvl9pPr marL="0" defTabSz="0">
              <a:defRPr sz="18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/>
        <p:txBody>
          <a:bodyPr/>
          <a:lstStyle>
            <a:lvl1pPr marL="0" defTabSz="0">
              <a:defRPr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marL="0" defTabSz="0">
              <a:defRPr sz="2400"/>
            </a:lvl1pPr>
            <a:lvl2pPr marL="0" defTabSz="0">
              <a:defRPr sz="2000"/>
            </a:lvl2pPr>
            <a:lvl3pPr marL="0" defTabSz="0">
              <a:defRPr sz="1800"/>
            </a:lvl3pPr>
            <a:lvl4pPr marL="0" defTabSz="0">
              <a:defRPr sz="1600"/>
            </a:lvl4pPr>
            <a:lvl5pPr marL="0" defTabSz="0">
              <a:defRPr sz="1600"/>
            </a:lvl5pPr>
            <a:lvl6pPr marL="0" defTabSz="0">
              <a:defRPr sz="1600"/>
            </a:lvl6pPr>
            <a:lvl7pPr marL="0" defTabSz="0">
              <a:defRPr sz="1600"/>
            </a:lvl7pPr>
            <a:lvl8pPr marL="0" defTabSz="0">
              <a:defRPr sz="1600"/>
            </a:lvl8pPr>
            <a:lvl9pPr marL="0" defTabSz="0">
              <a:defRPr sz="16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type="pic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 marL="0" defTabSz="0">
              <a:defRPr sz="3200"/>
            </a:lvl1pPr>
            <a:lvl2pPr marL="0" defTabSz="0">
              <a:defRPr sz="2800"/>
            </a:lvl2pPr>
            <a:lvl3pPr marL="0" defTabSz="0">
              <a:defRPr sz="2400"/>
            </a:lvl3pPr>
            <a:lvl4pPr marL="0" defTabSz="0">
              <a:defRPr sz="2000"/>
            </a:lvl4pPr>
            <a:lvl5pPr marL="0" defTabSz="0">
              <a:defRPr sz="2000"/>
            </a:lvl5pPr>
            <a:lvl6pPr marL="0" defTabSz="0">
              <a:defRPr sz="2000"/>
            </a:lvl6pPr>
            <a:lvl7pPr marL="0" defTabSz="0">
              <a:defRPr sz="2000"/>
            </a:lvl7pPr>
            <a:lvl8pPr marL="0" defTabSz="0">
              <a:defRPr sz="2000"/>
            </a:lvl8pPr>
            <a:lvl9pPr marL="0" defTabSz="0">
              <a:defRPr sz="20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1"/>
          <p:cNvSpPr>
            <a:spLocks noGrp="1"/>
          </p:cNvSpPr>
          <p:nvPr>
            <p:ph type="title" orient="vert" idx="0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E2A0640-D55D-49AB-BE71-95CE015E007B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0A2ECFA0-BEA7-45D1-BB8F-060EF80CCB2E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 TargetMode="Internal"></Relationship><Relationship Id="rId2" Type="http://schemas.openxmlformats.org/officeDocument/2006/relationships/slideLayout" Target="../slideLayouts/slideLayout2.xml" TargetMode="Internal"></Relationship><Relationship Id="rId3" Type="http://schemas.openxmlformats.org/officeDocument/2006/relationships/slideLayout" Target="../slideLayouts/slideLayout3.xml" TargetMode="Internal"></Relationship><Relationship Id="rId4" Type="http://schemas.openxmlformats.org/officeDocument/2006/relationships/slideLayout" Target="../slideLayouts/slideLayout4.xml" TargetMode="Internal"></Relationship><Relationship Id="rId5" Type="http://schemas.openxmlformats.org/officeDocument/2006/relationships/slideLayout" Target="../slideLayouts/slideLayout5.xml" TargetMode="Internal"></Relationship><Relationship Id="rId6" Type="http://schemas.openxmlformats.org/officeDocument/2006/relationships/slideLayout" Target="../slideLayouts/slideLayout6.xml" TargetMode="Internal"></Relationship><Relationship Id="rId7" Type="http://schemas.openxmlformats.org/officeDocument/2006/relationships/slideLayout" Target="../slideLayouts/slideLayout7.xml" TargetMode="Internal"></Relationship><Relationship Id="rId8" Type="http://schemas.openxmlformats.org/officeDocument/2006/relationships/slideLayout" Target="../slideLayouts/slideLayout8.xml" TargetMode="Internal"></Relationship><Relationship Id="rId9" Type="http://schemas.openxmlformats.org/officeDocument/2006/relationships/slideLayout" Target="../slideLayouts/slideLayout9.xml" TargetMode="Internal"></Relationship><Relationship Id="rId10" Type="http://schemas.openxmlformats.org/officeDocument/2006/relationships/slideLayout" Target="../slideLayouts/slideLayout10.xml" TargetMode="Internal"></Relationship><Relationship Id="rId11" Type="http://schemas.openxmlformats.org/officeDocument/2006/relationships/slideLayout" Target="../slideLayouts/slideLayout11.xml" TargetMode="Internal"></Relationship><Relationship Id="rId12" Type="http://schemas.openxmlformats.org/officeDocument/2006/relationships/theme" Target="../theme/theme1.xml" TargetMode="Interna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Click to edit Master text styles</a:t>
            </a:r>
          </a:p>
          <a:p>
            <a:pPr lvl="1"/>
            <a:r>
              <a:rPr lang="ko-KR" altLang="en-US" dirty="0" smtClean="0"/>
              <a:t>Second level</a:t>
            </a:r>
          </a:p>
          <a:p>
            <a:pPr lvl="2"/>
            <a:r>
              <a:rPr lang="ko-KR" altLang="en-US" dirty="0" smtClean="0"/>
              <a:t>Third level</a:t>
            </a:r>
          </a:p>
          <a:p>
            <a:pPr lvl="3"/>
            <a:r>
              <a:rPr lang="ko-KR" altLang="en-US" dirty="0" smtClean="0"/>
              <a:t>Fourth level</a:t>
            </a:r>
          </a:p>
          <a:p>
            <a:pPr lvl="4"/>
            <a:r>
              <a:rPr lang="ko-KR" altLang="en-US" dirty="0" smtClean="0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00000"/>
                </a:solidFill>
              </a:defRPr>
            </a:lvl1pPr>
          </a:lstStyle>
          <a:p>
            <a:fld id="{5C1A2B81-1DA3-497E-83CD-70D401AD2C06}" type="datetimeFigureOut">
              <a:rPr lang="ko-KR" altLang="en-US" dirty="0" smtClean="0"/>
              <a:t>2007-07-13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0000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9CD56DC7-0AF8-4C3E-9120-C82FF52A6C0B}" type="slidenum">
              <a:rPr lang="ko-KR" altLang="en-US" dirty="0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marL="0" indent="0" defTabSz="914400">
        <a:buNone/>
        <a:defRPr lang="ko-KR" smtClean="0" sz="4400" baseline="0">
          <a:solidFill>
            <a:srgbClr val="000000"/>
          </a:solidFill>
          <a:latin typeface="SimSun"/>
          <a:ea typeface="SimSun"/>
        </a:defRPr>
      </a:lvl1pPr>
    </p:titleStyle>
    <p:bodyStyle>
      <a:lvl1pPr algn="l" marL="342900" indent="-342900" defTabSz="914400">
        <a:spcBef>
          <a:spcPct val="20000"/>
        </a:spcBef>
        <a:buFont typeface="SimSun"/>
        <a:buChar char="●"/>
        <a:defRPr lang="ko-KR" smtClean="0" sz="3200" baseline="0">
          <a:solidFill>
            <a:srgbClr val="000000"/>
          </a:solidFill>
          <a:latin typeface="SimSun"/>
          <a:ea typeface="SimSun"/>
        </a:defRPr>
      </a:lvl1pPr>
      <a:lvl2pPr lvl="1" marL="742950" indent="-285750" defTabSz="914400">
        <a:buChar char="-"/>
        <a:defRPr lang="ko-KR" smtClean="0" sz="2800"/>
      </a:lvl2pPr>
      <a:lvl3pPr lvl="2" marL="1143000" indent="-228600" defTabSz="914400">
        <a:buChar char="●"/>
        <a:defRPr lang="ko-KR" smtClean="0" sz="2400"/>
      </a:lvl3pPr>
      <a:lvl4pPr lvl="3" marL="1600200" indent="-228600" defTabSz="914400">
        <a:buChar char="-"/>
        <a:defRPr lang="ko-KR" smtClean="0" sz="2000"/>
      </a:lvl4pPr>
      <a:lvl5pPr lvl="4" marL="2057400" indent="-228600" defTabSz="914400">
        <a:buChar char="»"/>
        <a:defRPr lang="ko-KR" smtClean="0"/>
      </a:lvl5pPr>
    </p:bodyStyle>
    <p:otherStyle>
      <a:lvl1pPr algn="l" marL="0" indent="0" defTabSz="914400">
        <a:buNone/>
        <a:defRPr lang="ko-KR" smtClean="0" sz="1800" baseline="0">
          <a:solidFill>
            <a:srgbClr val="000000"/>
          </a:solidFill>
          <a:latin typeface="SimSun"/>
          <a:ea typeface="SimSun"/>
        </a:defRPr>
      </a:lvl1pPr>
      <a:lvl2pPr lvl="1" marL="457200" indent="0" defTabSz="914400">
        <a:defRPr lang="ko-KR" smtClean="0"/>
      </a:lvl2pPr>
      <a:lvl3pPr lvl="2" marL="914400" indent="0" defTabSz="914400">
        <a:defRPr lang="ko-KR" smtClean="0"/>
      </a:lvl3pPr>
      <a:lvl4pPr lvl="3" marL="1371600" indent="0" defTabSz="914400">
        <a:defRPr lang="ko-KR" smtClean="0"/>
      </a:lvl4pPr>
      <a:lvl5pPr lvl="4" marL="1828800" indent="0" defTabSz="914400">
        <a:defRPr lang="ko-KR" smtClean="0"/>
      </a:lvl5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.jpeg" TargetMode="Interna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.jpeg" TargetMode="Interna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.jpeg" TargetMode="Interna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.jpeg" TargetMode="Interna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.jpeg" TargetMode="Interna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.jpeg" TargetMode="Internal"></Relationship><Relationship Id="rId3" Type="http://schemas.openxmlformats.org/officeDocument/2006/relationships/image" Target="../media/fImage7.jpeg" TargetMode="Interna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.jpeg" TargetMode="Interna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.jpeg" TargetMode="Interna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0.jpeg" TargetMode="Internal"></Relationship><Relationship Id="rId3" Type="http://schemas.openxmlformats.org/officeDocument/2006/relationships/image" Target="../media/fImage11.jpeg" TargetMode="Internal"></Relationship><Relationship Id="rId4" Type="http://schemas.openxmlformats.org/officeDocument/2006/relationships/image" Target="../media/fImage12.jpeg" TargetMode="Internal"></Relationship><Relationship Id="rId5" Type="http://schemas.openxmlformats.org/officeDocument/2006/relationships/image" Target="../media/fImage13.jpeg" TargetMode="Internal"></Relationship><Relationship Id="rId6" Type="http://schemas.openxmlformats.org/officeDocument/2006/relationships/image" Target="../media/fImage14.jpeg" TargetMode="Internal"></Relationship><Relationship Id="rId7" Type="http://schemas.openxmlformats.org/officeDocument/2006/relationships/image" Target="../media/fImage15.jpeg" TargetMode="Internal"></Relationship><Relationship Id="rId8" Type="http://schemas.openxmlformats.org/officeDocument/2006/relationships/image" Target="../media/fImage16.jpeg" TargetMode="Internal"></Relationship><Relationship Id="rId9" Type="http://schemas.openxmlformats.org/officeDocument/2006/relationships/image" Target="../media/fImage17.jpeg" TargetMode="Internal"></Relationship><Relationship Id="rId10" Type="http://schemas.openxmlformats.org/officeDocument/2006/relationships/image" Target="../media/fImage18.jpeg" TargetMode="Internal"></Relationship><Relationship Id="rId11" Type="http://schemas.openxmlformats.org/officeDocument/2006/relationships/image" Target="../media/fImage19.jpeg" TargetMode="Interna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.jpeg" TargetMode="Internal"></Relationship><Relationship Id="rId3" Type="http://schemas.openxmlformats.org/officeDocument/2006/relationships/image" Target="../media/fImage21.jpeg" TargetMode="Internal"></Relationship><Relationship Id="rId4" Type="http://schemas.openxmlformats.org/officeDocument/2006/relationships/image" Target="../media/fImage22.jpeg" TargetMode="Internal"></Relationship><Relationship Id="rId5" Type="http://schemas.openxmlformats.org/officeDocument/2006/relationships/image" Target="../media/fImage23.jpeg" TargetMode="Internal"></Relationship><Relationship Id="rId6" Type="http://schemas.openxmlformats.org/officeDocument/2006/relationships/image" Target="../media/fImage24.jpeg" TargetMode="Internal"></Relationship><Relationship Id="rId7" Type="http://schemas.openxmlformats.org/officeDocument/2006/relationships/image" Target="../media/fImage25.jpeg" TargetMode="Interna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6.jpeg" TargetMode="Interna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7.jpeg" TargetMode="Interna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8.jpeg" TargetMode="Internal"></Relationship><Relationship Id="rId3" Type="http://schemas.openxmlformats.org/officeDocument/2006/relationships/image" Target="../media/fImage29.jpeg" TargetMode="Interna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0.jpeg" TargetMode="Internal"></Relationship><Relationship Id="rId3" Type="http://schemas.openxmlformats.org/officeDocument/2006/relationships/image" Target="../media/fImage31.jpeg" TargetMode="Interna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2.jpeg" TargetMode="Internal"></Relationship><Relationship Id="rId3" Type="http://schemas.openxmlformats.org/officeDocument/2006/relationships/image" Target="../media/fImage33.jpeg" TargetMode="Internal"></Relationship><Relationship Id="rId4" Type="http://schemas.openxmlformats.org/officeDocument/2006/relationships/image" Target="../media/fImage34.jpeg" TargetMode="Internal"></Relationship><Relationship Id="rId5" Type="http://schemas.openxmlformats.org/officeDocument/2006/relationships/image" Target="../media/fImage35.jpeg" TargetMode="Interna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6.jpeg" TargetMode="Internal"></Relationship><Relationship Id="rId3" Type="http://schemas.openxmlformats.org/officeDocument/2006/relationships/image" Target="../media/fImage37.jpeg" TargetMode="Interna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8.jpeg" TargetMode="Interna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39.jpeg" TargetMode="Interna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0.jpeg" TargetMode="Interna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1.jpeg" TargetMode="Interna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2.jpeg" TargetMode="Interna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3.jpeg" TargetMode="Interna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4.jpeg" TargetMode="Interna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5.jpeg" TargetMode="Interna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6.jpeg" TargetMode="Interna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7.jpeg" TargetMode="Interna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8.jpeg" TargetMode="Interna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49.jpeg" TargetMode="Interna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0.jpeg" TargetMode="Interna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1.jpeg" TargetMode="Interna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2.jpeg" TargetMode="Interna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3.jpeg" TargetMode="Interna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4.jpeg" TargetMode="Interna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5.jpeg" TargetMode="Internal"></Relationship><Relationship Id="rId3" Type="http://schemas.openxmlformats.org/officeDocument/2006/relationships/image" Target="../media/fImage56.jpeg" TargetMode="Internal"></Relationship><Relationship Id="rId4" Type="http://schemas.openxmlformats.org/officeDocument/2006/relationships/image" Target="../media/fImage57.jpeg" TargetMode="Internal"></Relationship><Relationship Id="rId5" Type="http://schemas.openxmlformats.org/officeDocument/2006/relationships/image" Target="../media/fImage58.jpeg" TargetMode="Internal"></Relationship></Relationships>
</file>

<file path=ppt/slides/_rels/slide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59.jpeg" TargetMode="Internal"></Relationship><Relationship Id="rId3" Type="http://schemas.openxmlformats.org/officeDocument/2006/relationships/image" Target="../media/fImage60.jpeg" TargetMode="Internal"></Relationship></Relationships>
</file>

<file path=ppt/slides/_rels/slide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1.jpeg" TargetMode="Internal"></Relationship></Relationships>
</file>

<file path=ppt/slides/_rels/slide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2.jpeg" TargetMode="Internal"></Relationship><Relationship Id="rId3" Type="http://schemas.openxmlformats.org/officeDocument/2006/relationships/image" Target="../media/fImage63.jpeg" TargetMode="Internal"></Relationship></Relationships>
</file>

<file path=ppt/slides/_rels/slide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4.jpeg" TargetMode="Internal"></Relationship></Relationships>
</file>

<file path=ppt/slides/_rels/slide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5.jpeg" TargetMode="Internal"></Relationship></Relationships>
</file>

<file path=ppt/slides/_rels/slide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6.jpeg" TargetMode="Internal"></Relationship></Relationships>
</file>

<file path=ppt/slides/_rels/slide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7.jpeg" TargetMode="Internal"></Relationship></Relationships>
</file>

<file path=ppt/slides/_rels/slide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8.jpeg" TargetMode="Internal"></Relationship></Relationships>
</file>

<file path=ppt/slides/_rels/slide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69.jpeg" TargetMode="Internal"></Relationship></Relationships>
</file>

<file path=ppt/slides/_rels/slide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0.jpeg" TargetMode="Internal"></Relationship></Relationships>
</file>

<file path=ppt/slides/_rels/slide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1.jpeg" TargetMode="Internal"></Relationship></Relationships>
</file>

<file path=ppt/slides/_rels/slide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2.jpeg" TargetMode="Internal"></Relationship></Relationships>
</file>

<file path=ppt/slides/_rels/slide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3.jpeg" TargetMode="Internal"></Relationship></Relationships>
</file>

<file path=ppt/slides/_rels/slide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4.jpeg" TargetMode="Internal"></Relationship></Relationships>
</file>

<file path=ppt/slides/_rels/slide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5.jpeg" TargetMode="Internal"></Relationship></Relationships>
</file>

<file path=ppt/slides/_rels/slide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6.jpeg" TargetMode="Internal"></Relationship></Relationships>
</file>

<file path=ppt/slides/_rels/slide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77.jpeg" TargetMode="Internal"></Relationship><Relationship Id="rId3" Type="http://schemas.openxmlformats.org/officeDocument/2006/relationships/image" Target="../media/fImage78.jpeg" TargetMode="Internal"></Relationship><Relationship Id="rId4" Type="http://schemas.openxmlformats.org/officeDocument/2006/relationships/image" Target="../media/fImage79.jpeg" TargetMode="Internal"></Relationship></Relationships>
</file>

<file path=ppt/slides/_rels/slide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0.jpeg" TargetMode="Internal"></Relationship><Relationship Id="rId3" Type="http://schemas.openxmlformats.org/officeDocument/2006/relationships/image" Target="../media/fImage81.jpeg" TargetMode="Internal"></Relationship><Relationship Id="rId4" Type="http://schemas.openxmlformats.org/officeDocument/2006/relationships/image" Target="../media/fImage82.jpeg" TargetMode="Internal"></Relationship><Relationship Id="rId5" Type="http://schemas.openxmlformats.org/officeDocument/2006/relationships/image" Target="../media/fImage83.jpeg" TargetMode="Internal"></Relationship><Relationship Id="rId6" Type="http://schemas.openxmlformats.org/officeDocument/2006/relationships/image" Target="../media/fImage84.jpeg" TargetMode="Internal"></Relationship><Relationship Id="rId7" Type="http://schemas.openxmlformats.org/officeDocument/2006/relationships/image" Target="../media/fImage85.jpeg" TargetMode="Internal"></Relationship><Relationship Id="rId8" Type="http://schemas.openxmlformats.org/officeDocument/2006/relationships/image" Target="../media/fImage86.jpeg" TargetMode="Internal"></Relationship><Relationship Id="rId9" Type="http://schemas.openxmlformats.org/officeDocument/2006/relationships/image" Target="../media/fImage87.jpeg" TargetMode="Internal"></Relationship><Relationship Id="rId10" Type="http://schemas.openxmlformats.org/officeDocument/2006/relationships/image" Target="../media/fImage88.jpeg" TargetMode="Internal"></Relationship></Relationships>
</file>

<file path=ppt/slides/_rels/slide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89.jpeg" TargetMode="Internal"></Relationship></Relationships>
</file>

<file path=ppt/slides/_rels/slide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90.jpeg" TargetMode="Internal"></Relationship><Relationship Id="rId3" Type="http://schemas.openxmlformats.org/officeDocument/2006/relationships/image" Target="../media/fImage91.jpeg" TargetMode="Internal"></Relationship><Relationship Id="rId4" Type="http://schemas.openxmlformats.org/officeDocument/2006/relationships/image" Target="../media/fImage92.jpeg" TargetMode="Internal"></Relationship><Relationship Id="rId5" Type="http://schemas.openxmlformats.org/officeDocument/2006/relationships/image" Target="../media/fImage93.jpeg" TargetMode="Internal"></Relationship><Relationship Id="rId6" Type="http://schemas.openxmlformats.org/officeDocument/2006/relationships/image" Target="../media/fImage94.jpeg" TargetMode="Internal"></Relationship><Relationship Id="rId7" Type="http://schemas.openxmlformats.org/officeDocument/2006/relationships/image" Target="../media/fImage95.jpeg" TargetMode="Internal"></Relationship><Relationship Id="rId8" Type="http://schemas.openxmlformats.org/officeDocument/2006/relationships/image" Target="../media/fImage96.jpeg" TargetMode="Internal"></Relationship><Relationship Id="rId9" Type="http://schemas.openxmlformats.org/officeDocument/2006/relationships/image" Target="../media/fImage97.jpeg" TargetMode="Internal"></Relationship><Relationship Id="rId10" Type="http://schemas.openxmlformats.org/officeDocument/2006/relationships/image" Target="../media/fImage98.jpeg" TargetMode="Internal"></Relationship><Relationship Id="rId11" Type="http://schemas.openxmlformats.org/officeDocument/2006/relationships/image" Target="../media/fImage99.jpeg" TargetMode="Internal"></Relationship><Relationship Id="rId12" Type="http://schemas.openxmlformats.org/officeDocument/2006/relationships/image" Target="../media/fImage100.jpeg" TargetMode="Internal"></Relationship><Relationship Id="rId13" Type="http://schemas.openxmlformats.org/officeDocument/2006/relationships/image" Target="../media/fImage101.jpeg" TargetMode="Internal"></Relationship><Relationship Id="rId14" Type="http://schemas.openxmlformats.org/officeDocument/2006/relationships/image" Target="../media/fImage102.jpeg" TargetMode="Internal"></Relationship><Relationship Id="rId15" Type="http://schemas.openxmlformats.org/officeDocument/2006/relationships/image" Target="../media/fImage103.jpeg" TargetMode="Internal"></Relationship><Relationship Id="rId16" Type="http://schemas.openxmlformats.org/officeDocument/2006/relationships/image" Target="../media/fImage104.jpeg" TargetMode="Internal"></Relationship><Relationship Id="rId17" Type="http://schemas.openxmlformats.org/officeDocument/2006/relationships/image" Target="../media/fImage105.jpeg" TargetMode="Internal"></Relationship><Relationship Id="rId18" Type="http://schemas.openxmlformats.org/officeDocument/2006/relationships/image" Target="../media/fImage106.jpeg" TargetMode="Internal"></Relationship><Relationship Id="rId19" Type="http://schemas.openxmlformats.org/officeDocument/2006/relationships/image" Target="../media/fImage107.jpeg" TargetMode="Internal"></Relationship><Relationship Id="rId20" Type="http://schemas.openxmlformats.org/officeDocument/2006/relationships/image" Target="../media/fImage108.jpeg" TargetMode="Internal"></Relationship><Relationship Id="rId21" Type="http://schemas.openxmlformats.org/officeDocument/2006/relationships/image" Target="../media/fImage109.jpeg" TargetMode="Internal"></Relationship><Relationship Id="rId22" Type="http://schemas.openxmlformats.org/officeDocument/2006/relationships/image" Target="../media/fImage110.jpeg" TargetMode="Internal"></Relationship><Relationship Id="rId23" Type="http://schemas.openxmlformats.org/officeDocument/2006/relationships/image" Target="../media/fImage111.jpeg" TargetMode="Internal"></Relationship><Relationship Id="rId24" Type="http://schemas.openxmlformats.org/officeDocument/2006/relationships/image" Target="../media/fImage112.jpeg" TargetMode="Internal"></Relationship><Relationship Id="rId25" Type="http://schemas.openxmlformats.org/officeDocument/2006/relationships/image" Target="../media/fImage113.jpeg" TargetMode="Internal"></Relationship><Relationship Id="rId26" Type="http://schemas.openxmlformats.org/officeDocument/2006/relationships/image" Target="../media/fImage114.jpeg" TargetMode="Internal"></Relationship><Relationship Id="rId27" Type="http://schemas.openxmlformats.org/officeDocument/2006/relationships/image" Target="../media/fImage115.jpeg" TargetMode="Internal"></Relationship><Relationship Id="rId28" Type="http://schemas.openxmlformats.org/officeDocument/2006/relationships/image" Target="../media/fImage116.jpeg" TargetMode="Internal"></Relationship><Relationship Id="rId29" Type="http://schemas.openxmlformats.org/officeDocument/2006/relationships/image" Target="../media/fImage117.jpeg" TargetMode="Internal"></Relationship><Relationship Id="rId30" Type="http://schemas.openxmlformats.org/officeDocument/2006/relationships/image" Target="../media/fImage118.jpeg" TargetMode="Internal"></Relationship><Relationship Id="rId31" Type="http://schemas.openxmlformats.org/officeDocument/2006/relationships/image" Target="../media/fImage119.jpeg" TargetMode="Internal"></Relationship><Relationship Id="rId32" Type="http://schemas.openxmlformats.org/officeDocument/2006/relationships/image" Target="../media/fImage120.jpeg" TargetMode="Internal"></Relationship></Relationships>
</file>

<file path=ppt/slides/_rels/slide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1.jpeg" TargetMode="Internal"></Relationship></Relationships>
</file>

<file path=ppt/slides/_rels/slide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2.jpeg" TargetMode="Internal"></Relationship></Relationships>
</file>

<file path=ppt/slides/_rels/slide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3.jpeg" TargetMode="Internal"></Relationship></Relationships>
</file>

<file path=ppt/slides/_rels/slide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4.jpeg" TargetMode="Internal"></Relationship></Relationships>
</file>

<file path=ppt/slides/_rels/slide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5.jpeg" TargetMode="Internal"></Relationship></Relationships>
</file>

<file path=ppt/slides/_rels/slide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6.jpeg" TargetMode="Internal"></Relationship></Relationships>
</file>

<file path=ppt/slides/_rels/slide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7.jpeg" TargetMode="Internal"></Relationship></Relationships>
</file>

<file path=ppt/slides/_rels/slide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8.jpeg" TargetMode="Internal"></Relationship></Relationships>
</file>

<file path=ppt/slides/_rels/slide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29.jpeg" TargetMode="Internal"></Relationship></Relationships>
</file>

<file path=ppt/slides/_rels/slide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0.jpeg" TargetMode="Internal"></Relationship></Relationships>
</file>

<file path=ppt/slides/_rels/slide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1.jpeg" TargetMode="Internal"></Relationship></Relationships>
</file>

<file path=ppt/slides/_rels/slide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2.jpeg" TargetMode="Internal"></Relationship></Relationships>
</file>

<file path=ppt/slides/_rels/slide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3.jpeg" TargetMode="Internal"></Relationship></Relationships>
</file>

<file path=ppt/slides/_rels/slide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4.jpeg" TargetMode="Internal"></Relationship></Relationships>
</file>

<file path=ppt/slides/_rels/slide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5.jpeg" TargetMode="Internal"></Relationship></Relationships>
</file>

<file path=ppt/slides/_rels/slide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6.jpeg" TargetMode="Internal"></Relationship></Relationships>
</file>

<file path=ppt/slides/_rels/slide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37.jpeg" TargetMode="Internal"></Relationship><Relationship Id="rId3" Type="http://schemas.openxmlformats.org/officeDocument/2006/relationships/image" Target="../media/fImage138.jpeg" TargetMode="Internal"></Relationship><Relationship Id="rId4" Type="http://schemas.openxmlformats.org/officeDocument/2006/relationships/image" Target="../media/fImage139.jpeg" TargetMode="Internal"></Relationship></Relationships>
</file>

<file path=ppt/slides/_rels/slide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0.jpeg" TargetMode="Internal"></Relationship><Relationship Id="rId3" Type="http://schemas.openxmlformats.org/officeDocument/2006/relationships/image" Target="../media/fImage141.jpeg" TargetMode="Internal"></Relationship></Relationships>
</file>

<file path=ppt/slides/_rels/slide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2.jpeg" TargetMode="Internal"></Relationship></Relationships>
</file>

<file path=ppt/slides/_rels/slide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3.jpeg" TargetMode="Internal"></Relationship></Relationships>
</file>

<file path=ppt/slides/_rels/slide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4.jpeg" TargetMode="Internal"></Relationship></Relationships>
</file>

<file path=ppt/slides/_rels/slide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5.jpeg" TargetMode="Internal"></Relationship></Relationships>
</file>

<file path=ppt/slides/_rels/slide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6.jpeg" TargetMode="Internal"></Relationship></Relationships>
</file>

<file path=ppt/slides/_rels/slide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7.jpeg" TargetMode="Internal"></Relationship></Relationships>
</file>

<file path=ppt/slides/_rels/slide7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8.jpeg" TargetMode="Internal"></Relationship></Relationships>
</file>

<file path=ppt/slides/_rels/slide8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49.jpeg" TargetMode="Internal"></Relationship></Relationships>
</file>

<file path=ppt/slides/_rels/slide8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0.jpeg" TargetMode="Internal"></Relationship></Relationships>
</file>

<file path=ppt/slides/_rels/slide8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1.jpeg" TargetMode="Internal"></Relationship></Relationships>
</file>

<file path=ppt/slides/_rels/slide8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2.jpeg" TargetMode="Internal"></Relationship></Relationships>
</file>

<file path=ppt/slides/_rels/slide8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3.jpeg" TargetMode="Internal"></Relationship></Relationships>
</file>

<file path=ppt/slides/_rels/slide8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4.jpeg" TargetMode="Internal"></Relationship></Relationships>
</file>

<file path=ppt/slides/_rels/slide8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5.jpeg" TargetMode="Internal"></Relationship></Relationships>
</file>

<file path=ppt/slides/_rels/slide8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6.jpeg" TargetMode="Internal"></Relationship></Relationships>
</file>

<file path=ppt/slides/_rels/slide8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7.jpeg" TargetMode="Internal"></Relationship></Relationships>
</file>

<file path=ppt/slides/_rels/slide8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8.jpeg" TargetMode="Internal"></Relationship></Relationships>
</file>

<file path=ppt/slides/_rels/slide9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59.jpeg" TargetMode="Internal"></Relationship></Relationships>
</file>

<file path=ppt/slides/_rels/slide9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0.jpeg" TargetMode="Internal"></Relationship></Relationships>
</file>

<file path=ppt/slides/_rels/slide9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1.jpeg" TargetMode="Internal"></Relationship></Relationships>
</file>

<file path=ppt/slides/_rels/slide9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2.jpeg" TargetMode="Internal"></Relationship></Relationships>
</file>

<file path=ppt/slides/_rels/slide9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3.jpeg" TargetMode="Internal"></Relationship></Relationships>
</file>

<file path=ppt/slides/_rels/slide9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4.jpeg" TargetMode="Internal"></Relationship></Relationships>
</file>

<file path=ppt/slides/_rels/slide9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5.jpeg" TargetMode="Internal"></Relationship></Relationships>
</file>

<file path=ppt/slides/_rels/slide9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6.jpeg" TargetMode="Internal"></Relationship></Relationships>
</file>

<file path=ppt/slides/_rels/slide9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7.jpeg" TargetMode="Internal"></Relationship></Relationships>
</file>

<file path=ppt/slides/_rels/slide9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8.jpeg" TargetMode="Internal"></Relationship></Relationships>
</file>

<file path=ppt/slides/_rels/slide10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69.jpeg" TargetMode="Internal"></Relationship></Relationships>
</file>

<file path=ppt/slides/_rels/slide10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0.jpeg" TargetMode="Internal"></Relationship></Relationships>
</file>

<file path=ppt/slides/_rels/slide10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1.jpeg" TargetMode="Internal"></Relationship></Relationships>
</file>

<file path=ppt/slides/_rels/slide10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2.jpeg" TargetMode="Internal"></Relationship></Relationships>
</file>

<file path=ppt/slides/_rels/slide10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3.jpeg" TargetMode="Internal"></Relationship></Relationships>
</file>

<file path=ppt/slides/_rels/slide10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4.jpeg" TargetMode="Internal"></Relationship><Relationship Id="rId3" Type="http://schemas.openxmlformats.org/officeDocument/2006/relationships/image" Target="../media/fImage175.jpeg" TargetMode="Internal"></Relationship></Relationships>
</file>

<file path=ppt/slides/_rels/slide10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6.jpeg" TargetMode="Internal"></Relationship></Relationships>
</file>

<file path=ppt/slides/_rels/slide10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7.jpeg" TargetMode="Internal"></Relationship></Relationships>
</file>

<file path=ppt/slides/_rels/slide10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8.jpeg" TargetMode="Internal"></Relationship></Relationships>
</file>

<file path=ppt/slides/_rels/slide10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79.jpeg" TargetMode="Internal"></Relationship></Relationships>
</file>

<file path=ppt/slides/_rels/slide1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0.jpeg" TargetMode="Internal"></Relationship></Relationships>
</file>

<file path=ppt/slides/_rels/slide1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1.jpeg" TargetMode="Internal"></Relationship></Relationships>
</file>

<file path=ppt/slides/_rels/slide1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2.jpeg" TargetMode="Internal"></Relationship></Relationships>
</file>

<file path=ppt/slides/_rels/slide1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3.jpeg" TargetMode="Internal"></Relationship></Relationships>
</file>

<file path=ppt/slides/_rels/slide1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4.jpeg" TargetMode="Internal"></Relationship></Relationships>
</file>

<file path=ppt/slides/_rels/slide1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5.jpeg" TargetMode="Internal"></Relationship></Relationships>
</file>

<file path=ppt/slides/_rels/slide1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6.jpeg" TargetMode="Internal"></Relationship></Relationships>
</file>

<file path=ppt/slides/_rels/slide1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7.jpeg" TargetMode="Internal"></Relationship></Relationships>
</file>

<file path=ppt/slides/_rels/slide1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8.jpeg" TargetMode="Internal"></Relationship></Relationships>
</file>

<file path=ppt/slides/_rels/slide1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89.jpeg" TargetMode="Internal"></Relationship></Relationships>
</file>

<file path=ppt/slides/_rels/slide1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0.jpeg" TargetMode="Internal"></Relationship></Relationships>
</file>

<file path=ppt/slides/_rels/slide1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1.jpeg" TargetMode="Internal"></Relationship></Relationships>
</file>

<file path=ppt/slides/_rels/slide1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2.jpeg" TargetMode="Internal"></Relationship></Relationships>
</file>

<file path=ppt/slides/_rels/slide1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3.jpeg" TargetMode="Internal"></Relationship></Relationships>
</file>

<file path=ppt/slides/_rels/slide1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4.jpeg" TargetMode="Internal"></Relationship></Relationships>
</file>

<file path=ppt/slides/_rels/slide1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5.jpeg" TargetMode="Internal"></Relationship></Relationships>
</file>

<file path=ppt/slides/_rels/slide1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6.jpeg" TargetMode="Internal"></Relationship></Relationships>
</file>

<file path=ppt/slides/_rels/slide1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7.jpeg" TargetMode="Internal"></Relationship></Relationships>
</file>

<file path=ppt/slides/_rels/slide1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8.jpeg" TargetMode="Internal"></Relationship></Relationships>
</file>

<file path=ppt/slides/_rels/slide1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199.jpeg" TargetMode="Internal"></Relationship></Relationships>
</file>

<file path=ppt/slides/_rels/slide1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0.jpeg" TargetMode="Internal"></Relationship></Relationships>
</file>

<file path=ppt/slides/_rels/slide1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1.jpeg" TargetMode="Internal"></Relationship></Relationships>
</file>

<file path=ppt/slides/_rels/slide1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2.jpeg" TargetMode="Internal"></Relationship></Relationships>
</file>

<file path=ppt/slides/_rels/slide1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3.jpeg" TargetMode="Internal"></Relationship></Relationships>
</file>

<file path=ppt/slides/_rels/slide1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4.jpeg" TargetMode="Internal"></Relationship></Relationships>
</file>

<file path=ppt/slides/_rels/slide13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5.jpeg" TargetMode="Internal"></Relationship></Relationships>
</file>

<file path=ppt/slides/_rels/slide13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6.jpeg" TargetMode="Internal"></Relationship></Relationships>
</file>

<file path=ppt/slides/_rels/slide13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7.jpeg" TargetMode="Internal"></Relationship></Relationships>
</file>

<file path=ppt/slides/_rels/slide13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8.jpeg" TargetMode="Internal"></Relationship></Relationships>
</file>

<file path=ppt/slides/_rels/slide13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09.jpeg" TargetMode="Internal"></Relationship></Relationships>
</file>

<file path=ppt/slides/_rels/slide14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0.jpeg" TargetMode="Internal"></Relationship></Relationships>
</file>

<file path=ppt/slides/_rels/slide14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1.jpeg" TargetMode="Internal"></Relationship></Relationships>
</file>

<file path=ppt/slides/_rels/slide14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2.jpeg" TargetMode="Internal"></Relationship></Relationships>
</file>

<file path=ppt/slides/_rels/slide14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3.jpeg" TargetMode="Internal"></Relationship></Relationships>
</file>

<file path=ppt/slides/_rels/slide14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4.jpeg" TargetMode="Internal"></Relationship></Relationships>
</file>

<file path=ppt/slides/_rels/slide14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5.jpeg" TargetMode="Internal"></Relationship></Relationships>
</file>

<file path=ppt/slides/_rels/slide14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6.jpeg" TargetMode="Internal"></Relationship></Relationships>
</file>

<file path=ppt/slides/_rels/slide14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7.jpeg" TargetMode="Internal"></Relationship></Relationships>
</file>

<file path=ppt/slides/_rels/slide14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8.jpeg" TargetMode="Internal"></Relationship></Relationships>
</file>

<file path=ppt/slides/_rels/slide14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19.jpeg" TargetMode="Internal"></Relationship></Relationships>
</file>

<file path=ppt/slides/_rels/slide15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0.jpeg" TargetMode="Internal"></Relationship></Relationships>
</file>

<file path=ppt/slides/_rels/slide15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1.jpeg" TargetMode="Internal"></Relationship></Relationships>
</file>

<file path=ppt/slides/_rels/slide15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2.jpeg" TargetMode="Internal"></Relationship></Relationships>
</file>

<file path=ppt/slides/_rels/slide15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3.jpeg" TargetMode="Internal"></Relationship></Relationships>
</file>

<file path=ppt/slides/_rels/slide15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4.jpeg" TargetMode="Internal"></Relationship></Relationships>
</file>

<file path=ppt/slides/_rels/slide15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5.jpeg" TargetMode="Internal"></Relationship></Relationships>
</file>

<file path=ppt/slides/_rels/slide15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6.jpeg" TargetMode="Internal"></Relationship></Relationships>
</file>

<file path=ppt/slides/_rels/slide15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7.jpeg" TargetMode="Internal"></Relationship></Relationships>
</file>

<file path=ppt/slides/_rels/slide15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8.jpeg" TargetMode="Internal"></Relationship></Relationships>
</file>

<file path=ppt/slides/_rels/slide15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29.jpeg" TargetMode="Internal"></Relationship></Relationships>
</file>

<file path=ppt/slides/_rels/slide16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0.jpeg" TargetMode="Internal"></Relationship></Relationships>
</file>

<file path=ppt/slides/_rels/slide16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1.jpeg" TargetMode="Internal"></Relationship></Relationships>
</file>

<file path=ppt/slides/_rels/slide16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2.jpeg" TargetMode="Internal"></Relationship></Relationships>
</file>

<file path=ppt/slides/_rels/slide16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3.jpeg" TargetMode="Internal"></Relationship></Relationships>
</file>

<file path=ppt/slides/_rels/slide16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4.jpeg" TargetMode="Internal"></Relationship></Relationships>
</file>

<file path=ppt/slides/_rels/slide16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5.jpeg" TargetMode="Internal"></Relationship></Relationships>
</file>

<file path=ppt/slides/_rels/slide16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6.jpeg" TargetMode="Internal"></Relationship></Relationships>
</file>

<file path=ppt/slides/_rels/slide16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7.jpeg" TargetMode="Internal"></Relationship></Relationships>
</file>

<file path=ppt/slides/_rels/slide16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8.jpeg" TargetMode="Internal"></Relationship></Relationships>
</file>

<file path=ppt/slides/_rels/slide16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39.jpeg" TargetMode="Internal"></Relationship></Relationships>
</file>

<file path=ppt/slides/_rels/slide17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0.jpeg" TargetMode="Internal"></Relationship></Relationships>
</file>

<file path=ppt/slides/_rels/slide17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1.jpeg" TargetMode="Internal"></Relationship></Relationships>
</file>

<file path=ppt/slides/_rels/slide17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2.jpeg" TargetMode="Internal"></Relationship></Relationships>
</file>

<file path=ppt/slides/_rels/slide17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3.jpeg" TargetMode="Internal"></Relationship></Relationships>
</file>

<file path=ppt/slides/_rels/slide17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4.jpeg" TargetMode="Internal"></Relationship></Relationships>
</file>

<file path=ppt/slides/_rels/slide17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5.jpeg" TargetMode="Internal"></Relationship></Relationships>
</file>

<file path=ppt/slides/_rels/slide17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6.jpeg" TargetMode="Internal"></Relationship><Relationship Id="rId3" Type="http://schemas.openxmlformats.org/officeDocument/2006/relationships/image" Target="../media/fImage247.jpeg" TargetMode="Internal"></Relationship></Relationships>
</file>

<file path=ppt/slides/_rels/slide17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8.jpeg" TargetMode="Internal"></Relationship></Relationships>
</file>

<file path=ppt/slides/_rels/slide17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 TargetMode="Internal"></Relationship><Relationship Id="rId2" Type="http://schemas.openxmlformats.org/officeDocument/2006/relationships/image" Target="../media/fImage249.jpeg" TargetMode="Interna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TO ECONOMICS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Economics?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Economics is not a natural science, i.e. it is not concerned with studying the physical world like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chemistry, biology.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Social sciences are connected with the study of people in society. It is not possible to conduct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laboratory experiments, nor is it possible to fully unravel the process of human decision-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“Economics is the study of how we the people engage ourselves in production, distribution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 of goods and services in a society.”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Normative economics and Positive Economics: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Normative economics refers to value judgments, e.g. what “ought” to be the goals, of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policy. Normative statements cannot be tested.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Positive economics, by contrast, is the analysis of facts and behavior in an economy or “the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way things are.” Positive statements can be tested.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people: includes firms, households and the government.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Goods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the things which are produced to be sold.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Services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involve doing something for the customers but not producing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Factors of production: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Factors of production are inputs into the production process. They are the resources needed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produce goods and services. The factors of production are: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Land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includes the land used for agriculture or industrial purposes as well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natural resources taken from above or below the soil.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Capital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consists of durable producer goods (machines, plants etc.) that are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turn used for production of other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Labor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consists of the manpower used in the process of production.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Entrepreneurship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includes the managerial abilities that a person brings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organization. Entrepreneurs can be owners or managers of firms.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Scarcity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does not mean that a good is rare; scarcity exists because economic resources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unable to supply all the goods demanded.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Rationing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process by which we limit the supply or amount of some economic factor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scarcely available.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Economic Systems: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free market/capitalist economy is a system in which the questions about what to produce,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to produce and for whom to produce are decided primarily by the demand and supply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interactions in the market.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Dictatorship is a system in which economic decisions are taken by the dictator which may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individual or a group of selected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command or planned economy is a mode of economic organization in which the key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functions – for whom, what, how to produce are principally determined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directive. </a:t>
            </a:r>
            <a:endParaRPr lang="ko-KR" altLang="en-US" dirty="0" smtClean="0" sz="1097"/>
          </a:p>
          <a:p>
            <a:pPr marL="0" indent="0" defTabSz="15240" algn="l">
              <a:lnSpc>
                <a:spcPts val="10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1.2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TO ECONOMICS (CONTINUED………)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Optimum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means producing the best possible results (also optimal).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Equity			in economics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means a situation in which every thing is treated fairly or equally, i.e.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according to its due share. So if the lives of all individuals are deemed to have equal value,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equity would demand that all of them have equal financial net worth.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Nepotism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means doing unfair favors for near ones when in power.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Microeconomics and Macroeconomics: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Microeconomics deals with the behavior of individual elements in 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Macroeconomics deals with the behavior of the economy as whole or on aggregate level.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Rational choice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is the choice based on pure reason and without succumbing to one’s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emotions or whims.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Barter trade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non-monetary system of trade in which “goods” not money is exchanged.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was the system used in the world before the advent of coins and currency.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Opportunity Cost: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opportunity cost of a particular choice is the satisfaction that would have been derived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the next best alternative foregone; in other words, it is what must be given up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sacrificed in making a certain choice or decision.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Cost and Marginal Benefit: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 is the increment to total costs of producing an additional unit of some good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service. There are other broader definitions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benefit is the increment to total benefit derived from consuming an additional unit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 or service. There are other broader definitions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Production Possibility Frontier (PPF):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possibility frontier (PPF) is the curve which joins all the points showing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maximum amount of goods and services which the country can produce in a given time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limited resources, given a specific state of technology.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Economic growth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an increase in the total output of a country over time.</a:t>
            </a:r>
            <a:endParaRPr lang="ko-KR" altLang="en-US" dirty="0" smtClean="0" sz="1097"/>
          </a:p>
          <a:p>
            <a:pPr marL="0" indent="0" defTabSz="15240" algn="l">
              <a:lnSpc>
                <a:spcPts val="2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1 -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production and consumption take place without money?  If you think they could,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examples.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People could produce things for their own consumption.  For example, people could grow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vegetables in their garden or allotment; they could do their own painting and decorating.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Alternatively people could engage in barter: they could produce things and then swap them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that other people had produced.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Must goods be at least temporarily unattainable to be scarce?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need not be unattainable to be scarce.  Because people’s incomes are limited, they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have everything they want from shops, even though the shops are stocked full. If all items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shops were free, the shelves would soon be emptied!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we would all like more money, why does the government not print a lot more? Could it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not thereby solve the problem of scarcity ‘at a stroke’?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problem of scarcity is one of a lack of production.  Simply printing more money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producing more goods and services will merely lead to inflation.  To the extent that firms cannot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meet the extra demand (i.e. the extra consumer expenditure) by extra production, they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respond by putting up their prices.  Without extra production, consumers will be unable to buy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more than previously.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of the following are macroeconomic issues, which are microeconomic ones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could be either depending on the context?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Inflation.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Low wages in certain service industries.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The rate of exchange between the dollar and the rupee.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d) Why the price of cabbages fluctuates more than that of cars.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e) The rate of economic growth this year compared with last year.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f) The decline of traditional manufacturing industries.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Macro.  It refers to a general rise in prices across the whole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Micro.  It refers to specific industries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Either.  In a world context, it is a micro issue, since it refers to the price of one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currency in terms of one other.  In a national context it is more of a macro issue,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it refers to the exchange rate at which all Pakistanis goods are traded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internationally.  (This is certainly a less clear–cut division that in (a) and (b) above.)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Micro.  It refers to specific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e) Macro.  It refers to the general growth in output of the economy as a whole.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f) Micro (macro in certain contexts).  It is micro because it refers to specific industries. 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could, however, also help to explain the macroeconomic phenomena of high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or balance of payments problems.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you are looking for a job and are offered two.  One is more unpleasant to do,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but pays more.  How would you make a rational choice between the two jobs?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should weigh up whether the extra pay (benefit) from the better paid job is worth the extra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hardship (cost) involved in doing it.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the principle of weighing up marginal costs and benefits apply to a worker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deciding how much overtime to work in a given week?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worker would consider whether the extra pay (the marginal benefit) is worth the extra effort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loss of leisure (the marginal cost).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it ever be desirable to have total equality in an economy?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objective of total equality may be regarded as desirable in itself by many people.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problems with this objective, however. The first is in defining equality. If there were total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equality of incomes then households with dependants would have a lower income per head than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households where everyone was working.  In other words, equality of incomes would not mean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equality in terms of standards of living.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on the other hand, equality were to be defined in terms of standards of living, then should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needs of different people be taken into account?  Should people with special health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needs have a higher income?  Also, if equality were to be defined in terms of standards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living, many people would regard it as unfair that people should receive different incomes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(according to the nature of their household) for doing the same amount of work.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second major problem concerns incentives.  If all jobs were to be paid the same (or people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were to be paid according to the composition of their household), irrespective of people’s efforts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skills, then what would be the incentive to train or to work harder?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there are several other things you could have done, is the opportunity cost the sum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all of them?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It is the sacrifice involved in the next best alternative.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the opportunity cost of spending an evening revising for an economics exam?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you need to know in order to make a sensible decision about what to do that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evening?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next best alternative might be revising for another exam, or it might be taking time off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relax or to go out.  To make a sensible decision, you need to consider these alternatives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whether they are better or worse for you than studying for the economics exam.  One major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here is the lack of information.  You do not know just how much the extra study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improve your performance in the exam, because you do not know in advance just how much you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learn and you do not know what is going to be on the exam paper.  Similarly you do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know this information for studying for other exams.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Make a list of the benefits of higher education.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benefits to the individual include: increased future earnings; the direct benefits of being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educated; the pleasure of the social contacts at university or college.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the opportunity cost to the individual of attending higher education different from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opportunity costs to society as a whole?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The opportunity cost to society as a whole would include the costs of providing tuition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(staffing costs, materials, capital costs, etc.), which could be greater than any fees the student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have to pay. On the other hand, the benefits to society would include benefits beyond those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received by the individual. For example, they would include the extra profits employers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make by employing the individual with those qualifications.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There is a saying in economics, ‘There is no such thing as a free lunch’ (hence the sub-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title for this box).  What does this mean?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there is always (or virtually always) an opportunity cost of anything we consume.  Even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do not incur the cost ourselves (the ‘lunch’ is free to us), someone will incur the cost (e.g.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institution providing the lunch).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any other (desirable) goods or services truly abundant?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few!  Possibly various social interactions between people, but even here, the time to enjoy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 is not abundant.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Under what circumstances would the production possibility curve be (a) a straight line;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(b) bowed in toward the origin?  Are these circumstances ever likely?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When there are constant opportunity costs.  This will occur when resources are equally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suited to producing either good.  This might possibly occur in our highly simplified world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just two goods.  In the real world it is unlikely.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When there are decreasing opportunity costs.  This will occur when increased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specialization in one good allows the country to become more efficient in its production.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gains ‘economies of scale’ sufficient to offset having to use less suitable resources.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economic growth necessarily involve a parallel outward shift of the production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possibility curve?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Technical progress, the discovery of raw materials, improved education and training, etc.,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favour one good rather than the other.  In such cases the gap between the old and new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curves would be widest where they meet the axis of the good whose potential output had grown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 you agree with the positions that the eight countries (including Pakistan) have been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given in the economics systems spectrum diagram?  Explain why or why not.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that there is no clearly defined scale by which government intervention or free-marketness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measured, the precise position of the countries along the spectrum is open to question.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you think of any examples where prices and wages do not adjust very rapidly to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shortage or surplus?  For what reasons might they not do so?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 Many prices set by companies are adjusted relatively infrequently: it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administratively too costly to change them every time there was a change in demand.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example a mail order company, where all the items in its catalogue have a printed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price, would find it costly to adjust prices very frequently, since that would involve printing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new catalogue, or at least a new price list.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 Many wages are set annually by a process of collective bargaining.  They are not adjusted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interim.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 the prices of fresh vegetables fall when they are in season?  Could an individual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farmer prevent the price falling?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supply is at a high level.  The increased supply creates a surplus which pushes down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price.  Individual farmers could not prevent the price falling.  If they continued to charge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price, consumers would simply buy from those farmers charging the lower price.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you were the owner of a clothes shop, how would you set about deciding what prices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charge for each garment at the end of season sale?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would try to reduce the price of each item as little as was necessary to get rid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remaining stock.  The problem for shop owners is that they do not have enough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about consumer demand to make precise calculations here.  Many shops try a fairly cautious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approach first, and then, if that is not enough to sell all the stock, they make further ‘end of sale’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reductions later.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number of owners of CD players has grown rapidly and hence the demand for CDs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has also grown rapidly.  Yet the prices of CDs have fallen.  How could this come about?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costs of manufacturing CDs may have fallen with improvements in technology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mass-production economies.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Competition from increased numbers of manufacturers may have increased supply of CDs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driven prices down.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36065" y="5196840"/>
            <a:ext cx="4441190" cy="247777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800000"/>
                </a:solidFill>
                <a:latin typeface="Arial"/>
                <a:ea typeface="Arial"/>
              </a:rPr>
              <a:t>	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 advent of copying tracks from the internet reduces the demand for CDs. This 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demand has further compounded the fall in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of the following are positive statements, which are normative statements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could be either depending on the context?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Cutting the higher rates of income tax will redistribute incomes from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poor to the rich.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It is wrong that inflation should be reduced if this means that there will be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higher unemployment.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It is wrong to state that putting up interest rates will reduce inflation.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d) The government should raise interest rates in order to prevent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exchange rate falling.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e) Current government policies should reduce unemployment.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Positive.  This is merely a statement about what would happen.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Normative.  The statement is making the value judgment that reducing inflation is a less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desirable goal than the avoidance of higher unemployment.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Positive.  Here the word ‘wrong’ means ‘incorrect’ not ‘morally wrong’.  The statement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making a claim that can be tested by looking at the facts.  Do higher interest rates reduce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inflation, or don’t they?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Both.  The positive element is the claim that higher interest rates prevent the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falling.  This can be tested by an appeal to the facts.  The normative element is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judgment that the government ought to prevent the exchange rate falling.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e) Either.  It depends what is meant.  If the statement means that current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policies are likely to reduce unemployment, the statement is positive.  If, however,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means that the government ought to direct its policies towards reducing unemployment,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statement is normative.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Explain in words what is happening in the following diagram.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The price mechanism : the effect of the discovery of raw materials</a:t>
            </a:r>
            <a:endParaRPr lang="ko-KR" altLang="en-US" dirty="0" smtClean="0" sz="830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830" b="1">
                <a:solidFill>
                  <a:srgbClr val="000080"/>
                </a:solidFill>
                <a:latin typeface="Arial"/>
              </a:rPr>
              <a:t>Factor M arket</a:t>
            </a:r>
            <a:endParaRPr lang="ko-KR" altLang="en-US" dirty="0" smtClean="0" sz="830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i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		↑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surplus</a:t>
            </a:r>
            <a:endParaRPr lang="ko-KR" altLang="en-US" dirty="0" smtClean="0" sz="830" b="1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830" b="1">
                <a:solidFill>
                  <a:srgbClr val="000080"/>
                </a:solidFill>
                <a:latin typeface="Arial"/>
              </a:rPr>
              <a:t>Goods M arket</a:t>
            </a:r>
            <a:endParaRPr lang="ko-KR" altLang="en-US" dirty="0" smtClean="0" sz="83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g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		↓</a:t>
            </a:r>
            <a:endParaRPr lang="ko-KR" altLang="en-US" dirty="0" smtClean="0" sz="83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i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g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surplus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</a:t>
            </a:r>
            <a:r>
              <a:rPr lang="en-US" altLang="ko-KR" dirty="0" smtClean="0" sz="830" i="1" b="1">
                <a:solidFill>
                  <a:srgbClr val="CC0000"/>
                </a:solidFill>
                <a:latin typeface="Arial"/>
              </a:rPr>
              <a:t>P</a:t>
            </a:r>
            <a:r>
              <a:rPr lang="en-US" altLang="ko-KR" dirty="0" smtClean="0" sz="566" i="1" b="1">
                <a:solidFill>
                  <a:srgbClr val="CC0000"/>
                </a:solidFill>
                <a:latin typeface="Arial"/>
              </a:rPr>
              <a:t>	g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endParaRPr lang="ko-KR" altLang="en-US" dirty="0" smtClean="0" sz="830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new discovery of raw material i means an increase in the supply i. This causes a surplus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(excess supply) in the market for i, causing the price of i to fall until the same is removed (lower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Pi causes demand to increase and supply to fall). The reduction in Pi also reduces the cost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producing good g (we can assume good g uses the factor i intensively), causing the supply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 g to increase beyond demand. The surplus in the market for good g drives the price of 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 until the excess is cleared. The diagram illustrates interdependence between goods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 markets.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different factor markets be interdependent also? Give examples.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A rise in the price of one factor (e.g. oil) will encourage producers to switch to alternatives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(e.g. coal).  This will create a shortage of coal and drive up its price.  This will encourage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endParaRPr lang="ko-KR" altLang="en-US" dirty="0" smtClean="0" sz="1200"/>
          </a:p>
        </p:txBody>
      </p:sp>
      <p:sp>
        <p:nvSpPr>
          <p:cNvPr id="13" name="Rect 3"/>
          <p:cNvSpPr>
            <a:spLocks noGrp="1" noChangeArrowheads="1"/>
          </p:cNvSpPr>
          <p:nvPr/>
        </p:nvSpPr>
        <p:spPr>
          <a:xfrm rot="0">
            <a:off x="4888865" y="6120130"/>
            <a:ext cx="729615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until 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i 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 = 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i</a:t>
            </a:r>
            <a:endParaRPr lang="ko-KR" altLang="en-US" dirty="0" smtClean="0" sz="566" i="1" b="1"/>
          </a:p>
        </p:txBody>
      </p:sp>
      <p:sp>
        <p:nvSpPr>
          <p:cNvPr id="14" name="Rect 3"/>
          <p:cNvSpPr>
            <a:spLocks noGrp="1" noChangeArrowheads="1"/>
          </p:cNvSpPr>
          <p:nvPr/>
        </p:nvSpPr>
        <p:spPr>
          <a:xfrm rot="0">
            <a:off x="3913505" y="6104890"/>
            <a:ext cx="1869440" cy="12103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30" i="1" b="1">
                <a:solidFill>
                  <a:srgbClr val="CC0000"/>
                </a:solidFill>
                <a:latin typeface="Arial"/>
              </a:rPr>
              <a:t>P</a:t>
            </a:r>
            <a:r>
              <a:rPr lang="en-US" altLang="ko-KR" dirty="0" smtClean="0" sz="566" i="1" b="1">
                <a:solidFill>
                  <a:srgbClr val="CC0000"/>
                </a:solidFill>
                <a:latin typeface="Arial"/>
              </a:rPr>
              <a:t>	i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				↓</a:t>
            </a:r>
            <a:endParaRPr lang="ko-KR" altLang="en-US" dirty="0" smtClean="0" sz="83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i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		 ↑</a:t>
            </a:r>
            <a:endParaRPr lang="ko-KR" altLang="en-US" dirty="0" smtClean="0" sz="830"/>
          </a:p>
          <a:p>
            <a:pPr marL="0" indent="0" defTabSz="15240"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</a:t>
            </a: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until 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g 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 = 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g</a:t>
            </a:r>
            <a:endParaRPr lang="ko-KR" altLang="en-US" dirty="0" smtClean="0" sz="566" i="1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g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		↑</a:t>
            </a:r>
            <a:endParaRPr lang="ko-KR" altLang="en-US" dirty="0" smtClean="0" sz="830"/>
          </a:p>
        </p:txBody>
      </p:sp>
      <p:sp>
        <p:nvSpPr>
          <p:cNvPr id="15" name="Rect 3"/>
          <p:cNvSpPr>
            <a:spLocks noGrp="1" noChangeArrowheads="1"/>
          </p:cNvSpPr>
          <p:nvPr/>
        </p:nvSpPr>
        <p:spPr>
          <a:xfrm rot="0">
            <a:off x="2819400" y="5962015"/>
            <a:ext cx="2018665" cy="13074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i</a:t>
            </a:r>
            <a:r>
              <a:rPr lang="en-US" altLang="ko-KR" dirty="0" smtClean="0" sz="830">
                <a:solidFill>
                  <a:srgbClr val="000000"/>
                </a:solidFill>
                <a:latin typeface="Symbol"/>
                <a:ea typeface="Symbol"/>
              </a:rPr>
              <a:t>				↓</a:t>
            </a:r>
            <a:endParaRPr lang="ko-KR" altLang="en-US" dirty="0" smtClean="0" sz="83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30" b="1">
                <a:solidFill>
                  <a:srgbClr val="000000"/>
                </a:solidFill>
                <a:latin typeface="Arial"/>
                <a:ea typeface="Arial"/>
              </a:rPr>
              <a:t>(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 &gt; D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i</a:t>
            </a: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)</a:t>
            </a:r>
            <a:endParaRPr lang="ko-KR" altLang="en-US" dirty="0" smtClean="0" sz="830" b="1"/>
          </a:p>
          <a:p>
            <a:pPr marL="0" indent="0" defTabSz="15240" algn="l">
              <a:lnSpc>
                <a:spcPts val="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</a:t>
            </a: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(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g</a:t>
            </a:r>
            <a:r>
              <a:rPr lang="en-US" altLang="ko-KR" dirty="0" smtClean="0" sz="830" i="1" b="1">
                <a:solidFill>
                  <a:srgbClr val="000000"/>
                </a:solidFill>
                <a:latin typeface="Arial"/>
              </a:rPr>
              <a:t> &gt; D</a:t>
            </a:r>
            <a:r>
              <a:rPr lang="en-US" altLang="ko-KR" dirty="0" smtClean="0" sz="566" i="1" b="1">
                <a:solidFill>
                  <a:srgbClr val="000000"/>
                </a:solidFill>
                <a:latin typeface="Arial"/>
              </a:rPr>
              <a:t>	g</a:t>
            </a:r>
            <a:r>
              <a:rPr lang="en-US" altLang="ko-KR" dirty="0" smtClean="0" sz="830" b="1">
                <a:solidFill>
                  <a:srgbClr val="000000"/>
                </a:solidFill>
                <a:latin typeface="Arial"/>
              </a:rPr>
              <a:t>)</a:t>
            </a:r>
            <a:endParaRPr lang="ko-KR" altLang="en-US" dirty="0" smtClean="0" sz="83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production of coal. Similarly an increase in the population (and consequently size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labour force) of a country will depress the price of labour (wages). This will cause producers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shift to more labour intensive production and reduce production methods which are capital (or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machine) intensive. As a result the demand for capital will fall reducing its rental price.  </a:t>
            </a:r>
            <a:endParaRPr lang="ko-KR" altLang="en-US" dirty="0" smtClean="0" sz="1097"/>
          </a:p>
          <a:p>
            <a:pPr marL="0" indent="0" defTabSz="15240" algn="l">
              <a:lnSpc>
                <a:spcPts val="6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2.1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DEMAND, SUPPLY AND 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Assumption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belief or feeling that something is true or that something will happen,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although there is no proof. Economists make frequent use of assumptions in putting forward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theories.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Perfect competition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refers to a situation in which no firm or consumer is big enough to affect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Shortage, Surplus and Price Mechanism: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shortage is a situation in which demand exceeds supply, i.e. producers are unable to meet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demand for the product.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surplus is a situation of excess supply, in which market demand falls short of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supplied; i.e. the producers are unable to sell all the produced goods in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mechanism is a signaling and rationing device which prompts consumers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producers to adjust their demand and supply, respectively, in response to a shortage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(see below). Shortages cause prices to rise prompting producers to produce more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to demand less. Surpluses cause prices to fall prompting producers to supply less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consumers to demand more. In either case, the price mechanism attempts to clear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shortage or surplus in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Goods Market and Factors Market: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Goods market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market in which goods are bought and sold for the purpose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Factors markets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are markets in which factors of production are bought and sold,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purpose of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Normal goods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goods whose quantity demanded goes up as consumer income increases.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Inferior goods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are goods whose quantity demanded goes down as consumer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Giffen goods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a special case of inferior goods whose quantity demanded increases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of the good rises (i.e. the income effect dominates the substitution effect – see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below).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sum of income and substitution effects.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effect of a price rise on quantity demanded that works through a decline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real income (or purchasing power) of the consumer. Income effect can be positive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negative depending on whether the good is normal or inferior.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Substitution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effect of a price rise on quantity demanded that works through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switching to substitutes goods. The substitution effect of a price rise is always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Substitutes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goods that compete with one another or can be substituted for one another,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like butter and margarine.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Compliments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goods that go hand in hand with each another. Examples are left shoe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 shoe, or bread and butter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Cash crops are the crops which are not used as food but as a raw material in factories e.g.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cotton.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is the quantity of a good buyer wish to purchase at each conceivable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law of demand states that if the price of a certain commodity rises, its quantity demanded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go down, and vice-versa.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demand schedule is a table (sometimes also referred to as a graph) which shows various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combinations of quantity demanded and price.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8575" y="2216150"/>
            <a:ext cx="5632450" cy="53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298575" y="2749550"/>
            <a:ext cx="5632450" cy="36258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298575" y="3112135"/>
            <a:ext cx="5632450" cy="709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98575" y="3818890"/>
            <a:ext cx="5632450" cy="3600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298575" y="4175760"/>
            <a:ext cx="5632450" cy="3594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298575" y="6315710"/>
            <a:ext cx="5632450" cy="3594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853055" y="6678295"/>
            <a:ext cx="1944370" cy="3594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797425" y="6678295"/>
            <a:ext cx="1002665" cy="3594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Picture 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797550" y="6678295"/>
            <a:ext cx="1133475" cy="3594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demand function is an equational representation of demand as a function of its many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determinants.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demand curve is a graph that obtains when price (one of the determinants of demand)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plotted against quantity demanded.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Shifts in the demand curve plotted in P-Qd space are caused by changes in any determinant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demand other than the price of the good itself.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Movements along the curve correspond to the changes in the variable on the vertical axis.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 u="sng" b="1">
                <a:solidFill>
                  <a:srgbClr val="000000"/>
                </a:solidFill>
                <a:latin typeface="Times New Roman"/>
                <a:ea typeface="Times New Roman"/>
              </a:rPr>
              <a:t>Factors Shifting Demand Curve: </a:t>
            </a:r>
            <a:endParaRPr lang="ko-KR" altLang="en-US" dirty="0" smtClean="0" sz="1200" u="sng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Factors Changing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Effect 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Direction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Effect 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Effect on 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Demand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Demand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Shift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Equilibrium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Equilibrium 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Demand Curve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Quantity </a:t>
            </a:r>
            <a:endParaRPr lang="ko-KR" altLang="en-US" dirty="0" smtClean="0" sz="12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(normal good)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income(normal good)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income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(inferior good)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income(inferior good)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Substitute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substitute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complement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price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complement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taste 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preference for good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taste and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preference for good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consumers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consumers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demand curve is a graphic representation of a market demand which shows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quantities of a commodity that consumers are willing able to purchase during a period of time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various alternative prices, while holding constant everything else that effects demand.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demand curve for a commodity is negatively sloped, indicating that more of a commodity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purchased at a lower price. </a:t>
            </a:r>
            <a:endParaRPr lang="ko-KR" altLang="en-US" dirty="0" smtClean="0" sz="1097"/>
          </a:p>
          <a:p>
            <a:pPr marL="0" indent="0" defTabSz="15240" algn="l">
              <a:lnSpc>
                <a:spcPts val="1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41375" y="4355465"/>
            <a:ext cx="5632450" cy="53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1375" y="4895215"/>
            <a:ext cx="5632450" cy="7099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41375" y="5965190"/>
            <a:ext cx="5632450" cy="18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841375" y="6327775"/>
            <a:ext cx="5632450" cy="35941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511425" y="6690360"/>
            <a:ext cx="3962400" cy="35941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2.2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DEMAND, SUPPLY AND EQUILIBRIUM (CONTINUED……..)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is the quantity of a good sellers wish to sell at each conceivable price.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law of supply states that the quantity supplied will go up as the price goes up and vice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supply schedule is a table which shows various combinations of quantity supplied and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supply function is an equational representation of supply as a function of all its determinants.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supply curve obtains when price is plotted against quantity supplied.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Problems of identification arise when we can not determine that the change in the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quantities is either caused by a change in demanded or by changes in both demand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Determinants of supply are: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of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Profitability of alternative products (substitutes in supply)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Profitability of goods in joint supply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Nature and other random shocks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Aims of producers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Expectations of producers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 u="sng" b="1">
                <a:solidFill>
                  <a:srgbClr val="000000"/>
                </a:solidFill>
                <a:latin typeface="Times New Roman"/>
                <a:ea typeface="Times New Roman"/>
              </a:rPr>
              <a:t>Factors Shifting Supply Curve: </a:t>
            </a:r>
            <a:endParaRPr lang="ko-KR" altLang="en-US" dirty="0" smtClean="0" sz="1200" u="sng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Factors Changing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Effect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Direction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Effect 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Effect on 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Shift in 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Equilibrium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  <a:ea typeface="Times New Roman"/>
              </a:rPr>
              <a:t>Equilibrium 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u="sng" b="1">
                <a:solidFill>
                  <a:srgbClr val="000000"/>
                </a:solidFill>
                <a:latin typeface="Times New Roman"/>
                <a:ea typeface="Times New Roman"/>
              </a:rPr>
              <a:t>Supply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200" u="sng" b="1">
                <a:solidFill>
                  <a:srgbClr val="000000"/>
                </a:solidFill>
                <a:latin typeface="Times New Roman"/>
                <a:ea typeface="Times New Roman"/>
              </a:rPr>
              <a:t>Curve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</a:t>
            </a:r>
            <a:r>
              <a:rPr lang="en-US" altLang="ko-KR" dirty="0" smtClean="0" sz="1200" u="sng" b="1">
                <a:solidFill>
                  <a:srgbClr val="000000"/>
                </a:solidFill>
                <a:latin typeface="Times New Roman"/>
                <a:ea typeface="Times New Roman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</a:t>
            </a:r>
            <a:r>
              <a:rPr lang="en-US" altLang="ko-KR" dirty="0" smtClean="0" sz="1200" u="sng" b="1">
                <a:solidFill>
                  <a:srgbClr val="000000"/>
                </a:solidFill>
                <a:latin typeface="Times New Roman"/>
                <a:ea typeface="Times New Roman"/>
              </a:rPr>
              <a:t>Quantity </a:t>
            </a:r>
            <a:endParaRPr lang="ko-KR" altLang="en-US" dirty="0" smtClean="0" sz="1200" u="sng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resource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price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resource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price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Improved technology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Decline in technology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Expect a price 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Decrease 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Expect a price 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Rightward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suppliers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in number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Leftward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Increase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Decrease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</a:t>
            </a:r>
            <a:r>
              <a:rPr lang="en-US" altLang="ko-KR" dirty="0" smtClean="0" sz="1200" u="sng">
                <a:solidFill>
                  <a:srgbClr val="000000"/>
                </a:solidFill>
                <a:latin typeface="Times New Roman"/>
                <a:ea typeface="Times New Roman"/>
              </a:rPr>
              <a:t>suppliers </a:t>
            </a:r>
            <a:endParaRPr lang="ko-KR" altLang="en-US" dirty="0" smtClean="0" sz="1200" u="sng"/>
          </a:p>
          <a:p>
            <a:pPr marL="0" indent="0" defTabSz="15240" algn="l">
              <a:lnSpc>
                <a:spcPts val="1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2.3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DEMAND, SUPPLY AND EQUILIBRIUM (CONTINUED……..)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is a state in which there are no shortages and surpluses; in other words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demanded is equal to the quantity supplied.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price is the price prevailing at the point of intersection of the demand and supply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curves; in other words, it is the price at which the quantity demanded is equal to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supplied.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quantity is the quantity that clears the market; in other words, it is it is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which the quantity demand is equal to the quantity supplied.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Algebraic Representation of Equilibrium: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we have following demand and supply functions,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Qd = 100 – 10 P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Qs = 40 + 20 P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equilibrium,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Qd = Qs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100 - 10P = 40 + 20P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20P + 10P = 100 - 40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30P = 60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P = 60/30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 = 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Putting the value of price in any of demand and supply equation,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= 100 – 10x2 (or 40 + 20x2)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= 100 – 20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 = 80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equilibrium price is 2 and the equilibrium quantity is 80.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can shift if: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Curve Shifts.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Curve Shifts.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Shift.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gives rise to eight possibilities. These eight possibilities can be summarized as following: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S ~,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Ç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Ç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~ , S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È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 Q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Ç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S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 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Ç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Å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S ~ ,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È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 Q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È</a:t>
            </a:r>
            <a:endParaRPr lang="ko-KR" altLang="en-US" dirty="0" smtClean="0" sz="1200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~ , S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Å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Ç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È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S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Å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Ç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 Q ? </a:t>
            </a:r>
            <a:endParaRPr lang="ko-KR" altLang="en-US" dirty="0" smtClean="0" sz="1200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Å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S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È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 Q ? </a:t>
            </a:r>
            <a:endParaRPr lang="ko-KR" altLang="en-US" dirty="0" smtClean="0" sz="1200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Å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S 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Å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  <a:ea typeface="Arial"/>
              </a:rPr>
              <a:t> ,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P ?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200" b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200">
                <a:solidFill>
                  <a:srgbClr val="000000"/>
                </a:solidFill>
                <a:latin typeface="Wingdings"/>
                <a:ea typeface="Wingdings"/>
              </a:rPr>
              <a:t>È</a:t>
            </a:r>
            <a:endParaRPr lang="ko-KR" altLang="en-US" dirty="0" smtClean="0" sz="1200"/>
          </a:p>
          <a:p>
            <a:pPr marL="0" indent="0" defTabSz="15240" algn="l">
              <a:lnSpc>
                <a:spcPts val="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symbol “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Æ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”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“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Ç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”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shows increase and the symbol “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/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Å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” and “</a:t>
            </a:r>
            <a:r>
              <a:rPr lang="en-US" altLang="ko-KR" dirty="0" smtClean="0" sz="1097">
                <a:solidFill>
                  <a:srgbClr val="000000"/>
                </a:solidFill>
                <a:latin typeface="Wingdings"/>
                <a:ea typeface="Wingdings"/>
              </a:rPr>
              <a:t>È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”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shows a 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the symbol “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~”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shows that the particular thing remains same.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Government and Price-Determination: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government may intervene in the market and mandate a maximum price (price ceiling)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minimum price (price floor) for a good or service.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price ceiling is the maximum price limit that the government sets to ensure that prices don’t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 above that limit (medicines for e.g.).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price floor is the minimum price that a Government sets to support a desired commodity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 in a society (wages for e.g.).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Social cost is the cost of an economic decision, whether private or public, borne by the society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a whole.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social cost is the change in social costs caused by a unit change in output. </a:t>
            </a:r>
            <a:endParaRPr lang="ko-KR" altLang="en-US" dirty="0" smtClean="0" sz="1097"/>
          </a:p>
          <a:p>
            <a:pPr marL="0" indent="0" defTabSz="15240" algn="l">
              <a:lnSpc>
                <a:spcPts val="5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80870" y="4349750"/>
            <a:ext cx="4404360" cy="320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2 -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Asif and Aasia’s “monthly” demand schedules for potatoes are given. Roughly draw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these demand schedules on the same graph. Assume that there are 200 consumers in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market. Of these, 100 have schedules like Asif’s and 100 have schedules like Aasia’s.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Complete the Total market demand (“monthly”) column in the table below? 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Asif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Aasia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(pence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(Qd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(Qd 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(kg)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kg)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kg)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kg)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4400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2600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1400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600 </a:t>
            </a:r>
            <a:endParaRPr lang="ko-KR" altLang="en-US" dirty="0" smtClean="0" sz="1097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100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90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80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70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60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50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85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85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858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858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15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25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858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000000"/>
                </a:solidFill>
                <a:latin typeface="Arial"/>
              </a:rPr>
              <a:t>Quantity demanded (kg per month)</a:t>
            </a:r>
            <a:endParaRPr lang="ko-KR" altLang="en-US" dirty="0" smtClean="0" sz="858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Assuming that demand does not change from month to month, how would you plot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annual market demand for potatoes?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amount demanded would be 12 times higher at each price.  If the scale of the horizontal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axis were unaltered, the curve would shift way out to the right.  A simple way of showing the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curve, therefore, would be to compress the scale of the horizontal axis.  (If each of the numbers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axis were multiplied by 12, the curve would remain in physically the same position.)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At what price is their demand the same?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two curves cross at a price of Rs50 per kg and at a demand of 10 kg per month.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</a:t>
            </a:r>
            <a:endParaRPr lang="ko-KR" altLang="en-US" dirty="0" smtClean="0" sz="1200"/>
          </a:p>
        </p:txBody>
      </p:sp>
      <p:sp>
        <p:nvSpPr>
          <p:cNvPr id="30" name="Rect 3"/>
          <p:cNvSpPr>
            <a:spLocks noGrp="1" noChangeArrowheads="1"/>
          </p:cNvSpPr>
          <p:nvPr/>
        </p:nvSpPr>
        <p:spPr>
          <a:xfrm rot="0">
            <a:off x="3618230" y="6087110"/>
            <a:ext cx="2262505" cy="527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9A0000"/>
                </a:solidFill>
                <a:latin typeface="Arial"/>
              </a:rPr>
              <a:t>Asif’s</a:t>
            </a:r>
            <a:endParaRPr lang="ko-KR" altLang="en-US" dirty="0" smtClean="0" sz="85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858">
                <a:solidFill>
                  <a:srgbClr val="9A0000"/>
                </a:solidFill>
                <a:latin typeface="Arial"/>
              </a:rPr>
              <a:t>demand</a:t>
            </a:r>
            <a:endParaRPr lang="ko-KR" altLang="en-US" dirty="0" smtClean="0" sz="858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858">
                <a:solidFill>
                  <a:srgbClr val="00009A"/>
                </a:solidFill>
                <a:latin typeface="Arial"/>
              </a:rPr>
              <a:t>Aasia’s</a:t>
            </a:r>
            <a:endParaRPr lang="ko-KR" altLang="en-US" dirty="0" smtClean="0" sz="85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58">
                <a:solidFill>
                  <a:srgbClr val="00009A"/>
                </a:solidFill>
                <a:latin typeface="Arial"/>
              </a:rPr>
              <a:t>demand</a:t>
            </a:r>
            <a:endParaRPr lang="ko-KR" altLang="en-US" dirty="0" smtClean="0" sz="858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56690" y="3870960"/>
            <a:ext cx="4971415" cy="37274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explanations could there be for the quite different shapes of their two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curves?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explanation could be that Asif is quite happy to eat rice, pasta or bread instead of potatoes.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when the price of potatoes goes up she switches to these other foods, and switches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potatoes when the price of potatoes comes down.  Aasia, by contrast, may not see these other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foods as close substitutes and thus her demand for potatoes will be less price sensitive.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 all these the determinants of demand affect both an individual’s demand and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demand for a product?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except the distribution of income in the economy.  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are given a market demand curve for apples. Assume that the price of apples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increases by 20 per cent at each price – due, say, to substantial increases in the prices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other substitute fruits.   Plot the new demand curve for apples.  Is the new curve parallel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the old one?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See below.  As you can see, the curves are not parallel.  A constant percentage increase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demanded gives a bigger and bigger absolute increase as quantity increases.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100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90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80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70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60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50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40</a:t>
            </a:r>
            <a:endParaRPr lang="ko-KR" altLang="en-US" dirty="0" smtClean="0" sz="1025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25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20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1025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1025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100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200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300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400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500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600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700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800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900</a:t>
            </a:r>
            <a:endParaRPr lang="ko-KR" altLang="en-US" dirty="0" smtClean="0" sz="1025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Quantity demanded (kg per month)</a:t>
            </a:r>
            <a:endParaRPr lang="ko-KR" altLang="en-US" dirty="0" smtClean="0" sz="1025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price of lamb meat rises and yet it is observed that the sales of lamb meat increase.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Does this mean that the demand curve for lamb meat is upward sloping?  Explain.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 not necessarily.  For example, the price of substitutes such as beef or chicken may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risen by a larger amount.  In such cases the demand curve for lamb meat will have shifted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right.  Thus although a rise in the price of lamb meat will cause a movement up along this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curve, more lamb meat will nevertheless be demanded because lamb meat is now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relatively cheaper than the alternatives.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demand function is given by Q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10000 – 200P.  Draw this in P-Q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space. What is it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about the demand function  equation that makes the demand curve in P- Q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space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(a) downward sloping; (b) a straight line?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endParaRPr lang="ko-KR" altLang="en-US" dirty="0" smtClean="0" sz="1200"/>
          </a:p>
        </p:txBody>
      </p:sp>
      <p:sp>
        <p:nvSpPr>
          <p:cNvPr id="33" name="Rect 3"/>
          <p:cNvSpPr>
            <a:spLocks noGrp="1" noChangeArrowheads="1"/>
          </p:cNvSpPr>
          <p:nvPr/>
        </p:nvSpPr>
        <p:spPr>
          <a:xfrm rot="0">
            <a:off x="5589905" y="5721350"/>
            <a:ext cx="479425" cy="298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25">
                <a:solidFill>
                  <a:srgbClr val="9A0000"/>
                </a:solidFill>
                <a:latin typeface="Arial"/>
              </a:rPr>
              <a:t>New</a:t>
            </a:r>
            <a:endParaRPr lang="ko-KR" altLang="en-US" dirty="0" smtClean="0" sz="1025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25">
                <a:solidFill>
                  <a:srgbClr val="9A0000"/>
                </a:solidFill>
                <a:latin typeface="Arial"/>
              </a:rPr>
              <a:t>demand</a:t>
            </a:r>
            <a:endParaRPr lang="ko-KR" altLang="en-US" dirty="0" smtClean="0" sz="1025"/>
          </a:p>
        </p:txBody>
      </p:sp>
      <p:sp>
        <p:nvSpPr>
          <p:cNvPr id="34" name="Rect 3"/>
          <p:cNvSpPr>
            <a:spLocks noGrp="1" noChangeArrowheads="1"/>
          </p:cNvSpPr>
          <p:nvPr/>
        </p:nvSpPr>
        <p:spPr>
          <a:xfrm rot="0">
            <a:off x="1831975" y="5815330"/>
            <a:ext cx="3783330" cy="5918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25">
                <a:solidFill>
                  <a:srgbClr val="000000"/>
                </a:solidFill>
                <a:latin typeface="Arial"/>
              </a:rPr>
              <a:t>30</a:t>
            </a:r>
            <a:endParaRPr lang="ko-KR" altLang="en-US" dirty="0" smtClean="0" sz="1025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9A"/>
                </a:solidFill>
                <a:latin typeface="Arial"/>
              </a:rPr>
              <a:t>Old</a:t>
            </a:r>
            <a:endParaRPr lang="ko-KR" altLang="en-US" dirty="0" smtClean="0" sz="1025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25">
                <a:solidFill>
                  <a:srgbClr val="00009A"/>
                </a:solidFill>
                <a:latin typeface="Arial"/>
              </a:rPr>
              <a:t>demand</a:t>
            </a:r>
            <a:endParaRPr lang="ko-KR" altLang="en-US" dirty="0" smtClean="0" sz="102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502025" y="2399030"/>
            <a:ext cx="1225550" cy="8864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502025" y="3282950"/>
            <a:ext cx="1225550" cy="6578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20570" y="4846320"/>
            <a:ext cx="4356100" cy="28282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fact is that the 200P term has a negative sign attached to it.  This means that as 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rises,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falls.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The fact is that there is no P to a power term.  The demand curve thus has a constant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slope of –1/200.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demand function is given by Q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a + bY, where Y is total income. If the term “a” has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value of –50 000 and the term “b” a value of 0.001, construct a demand schedule with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respect to Y.  Do this for incomes between Rs100 million and Rs300 million at Rs50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million intervals.</a:t>
            </a:r>
            <a:endParaRPr lang="ko-KR" altLang="en-US" dirty="0" smtClean="0" sz="1097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 (in Rs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(in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millions)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000s)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50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100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150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200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250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Now use this schedule to plot a demand curve with respect to income.   Comment on its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shape.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curve will be an upward-sloping straight line, crossing the horizontal axis at –50 000. 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rise by 100 000 units for each Rs100 million rise in income.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300</a:t>
            </a:r>
            <a:endParaRPr lang="ko-KR" altLang="en-US" dirty="0" smtClean="0" sz="78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250</a:t>
            </a:r>
            <a:endParaRPr lang="ko-KR" altLang="en-US" dirty="0" smtClean="0" sz="78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200</a:t>
            </a:r>
            <a:endParaRPr lang="ko-KR" altLang="en-US" dirty="0" smtClean="0" sz="78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150</a:t>
            </a:r>
            <a:endParaRPr lang="ko-KR" altLang="en-US" dirty="0" smtClean="0" sz="78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100</a:t>
            </a:r>
            <a:endParaRPr lang="ko-KR" altLang="en-US" dirty="0" smtClean="0" sz="783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03">
                <a:solidFill>
                  <a:srgbClr val="000000"/>
                </a:solidFill>
                <a:latin typeface="Arial"/>
              </a:rPr>
              <a:t>I</a:t>
            </a:r>
            <a:endParaRPr lang="ko-KR" altLang="en-US" dirty="0" smtClean="0" sz="903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50</a:t>
            </a:r>
            <a:endParaRPr lang="ko-KR" altLang="en-US" dirty="0" smtClean="0" sz="783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783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100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150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200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250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783">
                <a:solidFill>
                  <a:srgbClr val="000000"/>
                </a:solidFill>
                <a:latin typeface="Arial"/>
              </a:rPr>
              <a:t>300</a:t>
            </a:r>
            <a:endParaRPr lang="ko-KR" altLang="en-US" dirty="0" smtClean="0" sz="783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3">
                <a:solidFill>
                  <a:srgbClr val="000000"/>
                </a:solidFill>
                <a:latin typeface="Arial"/>
              </a:rPr>
              <a:t>Quantity demanded</a:t>
            </a:r>
            <a:endParaRPr lang="ko-KR" altLang="en-US" dirty="0" smtClean="0" sz="90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64">
                <a:solidFill>
                  <a:srgbClr val="000000"/>
                </a:solidFill>
                <a:latin typeface="Arial"/>
              </a:rPr>
              <a:t>Market demand (with respect to income)</a:t>
            </a:r>
            <a:endParaRPr lang="ko-KR" altLang="en-US" dirty="0" smtClean="0" sz="964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are the reasons which cause the market supply of potatoes to fall?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cost of producing potatoes rises.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profitability of alternative crops (e.g. carrots) rises.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poor potato harvest.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Farmers expect the price of potatoes to rise (short-run supply falls).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For what reasons might the supply of leather rise?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</a:t>
            </a:r>
            <a:endParaRPr lang="ko-KR" altLang="en-US" dirty="0" smtClean="0" sz="1200"/>
          </a:p>
        </p:txBody>
      </p:sp>
      <p:sp>
        <p:nvSpPr>
          <p:cNvPr id="37" name="Rect 3"/>
          <p:cNvSpPr>
            <a:spLocks noGrp="1" noChangeArrowheads="1"/>
          </p:cNvSpPr>
          <p:nvPr/>
        </p:nvSpPr>
        <p:spPr>
          <a:xfrm rot="0">
            <a:off x="5474335" y="4983480"/>
            <a:ext cx="476250" cy="1250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73">
                <a:solidFill>
                  <a:srgbClr val="006500"/>
                </a:solidFill>
                <a:latin typeface="Arial"/>
              </a:rPr>
              <a:t>Demand</a:t>
            </a:r>
            <a:endParaRPr lang="ko-KR" altLang="en-US" dirty="0" smtClean="0" sz="873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93520" y="3907790"/>
            <a:ext cx="3084830" cy="192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cost of producing leather falls.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profitability of producing mutton and chicken decreases.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price of beef rises (goods in joint supply).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long-running industrial dispute involving leather workers is resolved.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Producers expect the price of leather to fall (short-run supply increases).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This question is concerned with the supply of gas for home and office heating in winters.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each case consider whether there is a movement along the supply curve (and in which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direction) or a shift in it (left or right). (a) New gas fields start up in production. (b)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for home heating rises. (c) The price of electric heating falls. (d) The demand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CNG for cars (produced in joint supply) rises. (e) New technology decreases the costs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gas production.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Shift right. (b) Movement up along (as a result of a rise in price). (c) Movement down along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(as a result of a fall in price resulting from a fall in demand as people switch to electric heating).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(d) Shift right (more of a good in joint supply is produced). (e) Shift right.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supply function is given as Q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c + dP, where “c” is 500 and “d” is 1000. Draw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schedule (table) and graph for equation for prices from Rs1 to Rs10.  What is it in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equation that determines the slope of the supply ‘curve’?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10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9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8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7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6</a:t>
            </a:r>
            <a:endParaRPr lang="ko-KR" altLang="en-US" dirty="0" smtClean="0" sz="674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674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1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674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2000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4000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6000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8000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10000</a:t>
            </a:r>
            <a:endParaRPr lang="ko-KR" altLang="en-US" dirty="0" smtClean="0" sz="674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Quantity supplied </a:t>
            </a:r>
            <a:endParaRPr lang="ko-KR" altLang="en-US" dirty="0" smtClean="0" sz="674"/>
          </a:p>
          <a:p>
            <a:pPr marL="0" indent="0" defTabSz="15240" algn="l">
              <a:lnSpc>
                <a:spcPts val="4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(in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 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(units)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9500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10500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graph is an upward sloping straight line crossing the horizontal axis at 500 units.  The slope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given by the value of the d term: i.e. the slope is 1/1000 (for every Re1 increase in price,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supplied increases by 1000 units). </a:t>
            </a:r>
            <a:endParaRPr lang="ko-KR" altLang="en-US" dirty="0" smtClean="0" sz="1097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</a:t>
            </a:r>
            <a:endParaRPr lang="ko-KR" altLang="en-US" dirty="0" smtClean="0" sz="1200"/>
          </a:p>
        </p:txBody>
      </p:sp>
      <p:sp>
        <p:nvSpPr>
          <p:cNvPr id="40" name="Rect 3"/>
          <p:cNvSpPr>
            <a:spLocks noGrp="1" noChangeArrowheads="1"/>
          </p:cNvSpPr>
          <p:nvPr/>
        </p:nvSpPr>
        <p:spPr>
          <a:xfrm rot="0">
            <a:off x="1734185" y="4123690"/>
            <a:ext cx="2710815" cy="7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17">
                <a:solidFill>
                  <a:srgbClr val="006500"/>
                </a:solidFill>
                <a:latin typeface="Arial"/>
              </a:rPr>
              <a:t>Supply</a:t>
            </a:r>
            <a:endParaRPr lang="ko-KR" altLang="en-US" dirty="0" smtClean="0" sz="61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674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74">
                <a:solidFill>
                  <a:srgbClr val="000000"/>
                </a:solidFill>
                <a:latin typeface="Arial"/>
              </a:rPr>
              <a:t>4</a:t>
            </a:r>
            <a:endParaRPr lang="ko-KR" altLang="en-US" dirty="0" smtClean="0" sz="674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Explain the process by which the price of houses would rise if there were a shortage.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with houses to sell would ask a higher price than previous sellers of similar houses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(probably with the advice of an estate agent).  Potential purchasers would be prepared to pay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price than previously in order to obtain the type of house they wanted.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With a typical upward sloping market supply curve and downward sloping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curve, what would happen to equilibrium price and quantity if the demand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shifted to the left?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price and quantity will fall.  You should be able to label two demand curves (e.g. D1		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D2), two equilibrium points (e.g. e1 and e2) corresponding prices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&lt;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quantities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&gt;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happen to the equilibrium price and quantity of butter in each of the following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cases?  You should state whether demand or supply (or both) have shifted and in which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direction. (In each case assume ceteris paribus.)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(a) A rise in the price of margarine; (b) A rise in the demand for yoghurt; (c) A rise in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of bread; (d) A rise in the demand for bread; (e) An expected rise in the price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butter in the near future; (f) A tax on butter production; (g) The invention of a new, but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expensive, process for removing all cholesterol from butter plus the passing of a law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states that all butter producers must use this process.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Price rises, quantity rises (demand shifts to the right: butter and margarine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Price falls, quantity rises (supply shifts to the right: butter and yoghurt are in joint supply).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Price falls, quantity falls (demand shifts to the left: bread and butter are complementary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Price rises, quantity rises (demand shifts to the right: bread and butter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complementary goods).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e) Price rises, quantity rises or falls depending on relative sizes of the shifts in demand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(demand shifts to the right as people buy now before the price rises; supply shifts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left as producers hold back stocks until the price does rise).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f) Price rises, quantity falls (supply shifts to the left).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g) Price rises, quantity rises or falls depending on the relative size of the shifts in demand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supply (demand shifts to the right as more health-conscious people start buying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butter; supply shifts to the left as a result of the increased cost of production).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there any factors on the supply side that influence house prices?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Although they are usually less important than demand-side factors, they are, nevertheless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important in determining changes in house prices. The two most important are the expectations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construction industry. If house building firms (contractors) are confident that demand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continue to rise, and with it house prices, they are likely to start building more houses.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resulting increase in the supply of houses (after the time taken to build them) will help to dampen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rise in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other major supply-side factor is the expectations of house owners. If people think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will rise in the near future and are thinking of selling their house, they are likely to delay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selling and wait until prices have risen. This (temporary) reduction in supply will help to push up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even further.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Draw a supply and demand diagram with the price of labour (the wage rate) on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vertical axis and the quantity of labour (the number of workers) on the horizontal axis.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happen to employment if the government raises wages from the equilibrium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some minimum wage above the equilibrium?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Firms’ demand for labour will shrink at the new higher wage rate.  The supply of workers will rise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more workers would be willing to work (and work more hours) at the higher wage rate.  There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thus be unemployment (a surplus of workers) at the minimum wage set.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All economies have black markets in goods; whether this poses a serious problem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another matter. What would be the effect on black-market prices of a rise in the official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things being equal, there would probably be a fall in the black-market price.  A rise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official price would cause an increase in the quantity supplied and a reduction in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demanded and hence less of a shortage.  There would therefore be less demand for black-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a system of low official prices plus a black market be more equitable or less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equitable than a system of free markets?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equitable if the supplies at official prices were distributed fairly (e.g. by some form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rationing).  If, however, supplies were allocated on a first-come, first-served basis, then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official markets there would still be inequity between those who are lucky enough or queue long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enough to get the product and those who do not get it.  Also, the rich will still be able to get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 on the black market!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Think of some examples where the price of a good or service is kept below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(e.g. rent controls).  In each case consider the advantages and disadvantages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the policy.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examples are: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Rent controls.  Advantages: makes cheap housing available to those who would otherwise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difficulty in affording reasonable accommodation.  Disadvantages: causes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reduction in the supply of private rented accommodation; causes demand to exceed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and thus some people will be unable to find accommodation.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Tickets for a concert.  Advantages: allows the price to be advertised in advance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guarantees a full house; makes seats available to those who could not afford the free-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price. Disadvantages: causes queuing or seats being only available to those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booking well in advance.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Primary and secondary schooling is free in state schools in most countries.  If parents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given a choice of schools for their children, there will be a shortage of places at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popular schools. What methods could be used for dealing with this shortage?  What are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their relative merits?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 form of rationing (selection) will have to be applied.  This could be done on the basis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ability.  If the objective is to have schools that cater for the full range of abilities, then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objective will not be met.  If the objective is to recruit the most able children, then selection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ability is consistent with this goal.  An alternative is to select by geographical location,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students living nearer to the school being given preference over those living further away.  This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the system used by most state schools.  It could well disadvantage children with particular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needs, however, for whom the school would be particularly suitable. Other methods include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‘sibling’ rule, whereby children who have older brothers or sisters already at the school are given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preference.  This, however, could lead to children living nearer the school being deprived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place.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Under what circumstances would making a product illegal (a) cause a fall in its price; (b)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cause the quantity sold to fall to zero.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Where the shift in demand was greater than the shift in supply (perhaps because of 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‘law abiding’ consumers, or where consumers faced harsher penalties than suppliers.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Where the penalties were very harsh and the law was strictly enforced, and/or where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were very law abiding. </a:t>
            </a:r>
            <a:endParaRPr lang="ko-KR" altLang="en-US" dirty="0" smtClean="0" sz="1097"/>
          </a:p>
          <a:p>
            <a:pPr marL="0" indent="0" defTabSz="15240" algn="l">
              <a:lnSpc>
                <a:spcPts val="67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is a term widely used in economics to denote the “responsiveness of one variable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changes in another.”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Types of Elasticity: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four major types of elasticity: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Elasticity of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Elasticity of Supply.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Elasticity of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Cross-Price Elasticity of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Elasticity of 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elasticity of demand is the percentage change in quantity demanded with respect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percentage change in price.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elasticity of demand can be illustrated by the following formula: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PЄd = Percentage change in Quantity Demanded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Percentage change in Price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Є = Epsilon; universal notation for elasticity.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If, for example, a 20% increase in the price of a product causes a 10% fall in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demanded, the price elasticity of demand will be: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PЄd   = - 10%   = - 0.5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20%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Elasticity of Supply: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elasticity of supply is the percentage change in quantity supplied with respect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percentage change in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elasticity of supply can be illustrated by the following formula: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PЄs = Percentage change in Quantity Supplied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Percentage change in Price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a 15% rise in the price of a product causes a 15% rise in the quantity supplied, the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of supply will be: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PЄs = 15 % = 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15 %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Elasticity of 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elasticity of demand is the percentage change in quantity demanded with respect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percentage change in income of the consumer.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elasticity of demand can be illustrated by the following formula: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YЄd = Percentage change in Quantity Demanded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Percentage change in Income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a 2% rise in the consumer’s incomes causes an 8% rise in product’s demand, then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elasticity of demand for the product will be: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20</a:t>
            </a:r>
            <a:endParaRPr lang="ko-KR" altLang="en-US" dirty="0" smtClean="0" sz="1200"/>
          </a:p>
        </p:txBody>
      </p:sp>
      <p:sp>
        <p:nvSpPr>
          <p:cNvPr id="49" name="Rect 3"/>
          <p:cNvSpPr>
            <a:spLocks noGrp="1" noChangeArrowheads="1"/>
          </p:cNvSpPr>
          <p:nvPr/>
        </p:nvSpPr>
        <p:spPr>
          <a:xfrm rot="0">
            <a:off x="5754370" y="792480"/>
            <a:ext cx="854710" cy="15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</a:rPr>
              <a:t>Lesson 3.1</a:t>
            </a:r>
            <a:endParaRPr lang="ko-KR" altLang="en-US" dirty="0" smtClean="0" sz="1097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YЄd = 8% =4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2%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Cross-Price Elasticity of 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Cross price elasticity of demand is the percentage change in quantity demanded of a specific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good, with respect to the percentage change in the price of another related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PbЄda = Percentage change in Demand for good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Percentage change in Price of good b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If, for example, the demand for butter rose by 2% when the price of margarine rose by 8%,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the cross price elasticity of demand of butter with respect to the price of margarine will be.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PbЄda = 2% = 0.25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8%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If, on the other hand, the price of bread (a compliment) rose, the demand for butter would fall.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a 4% rise in the price of bread led to a 3% fall in the demand for butter, the cross-price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of demand for butter with respect to bread would be: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PbЄda = - 3% = - 0.75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4%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Point Elasticity: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Point elasticity is used when the change in price is very small, i.e. the two points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elasticity is being measured essentially collapse on each other. Differential calculus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used to calculate the instantaneous rate of change of quantity with respect to changes in price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(dQ/dP) and then this is multiplied by P/Q, where P and Q are the price and quantity obtaining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the point of interest. The formula for point elasticity can be illustrated as: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Є=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∆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QxP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∆ P Q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this formula can also be written as: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Є=dQxP    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d P Q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d = infinitely small change in price.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Arc Elasticity: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Arc elasticity measures the “average” elasticity between two points on the demand curve.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formula is simply (change in quantity/change in price)*(average price/average quantity).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Є = 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∆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Q   ÷   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∆ P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Q            P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measure arc elasticity we take average values for Q and P respectively. </a:t>
            </a:r>
            <a:endParaRPr lang="ko-KR" altLang="en-US" dirty="0" smtClean="0" sz="1097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3.2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ELASTICITIES (CONTINUED………….)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 and Inelastic 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Slope and elasticity of demand have an inverse relationship. When slope is high elasticity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is low and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slope of a demand curve is infinity, elasticity is zero (perfectly inelastic demand);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when the slope of a demand curve is zero, elasticity is infinite (perfectly elastic demand).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Unit elasticity means that a 1% change in price will result in an exact 1% change in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demanded. Thus elasticity will be equal to one. A unit elastic demand curve plots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rectangular hyperbola. Note that a straight line demand curve cannot have unit elasticity as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of elasticity changes along the straight line demand curve.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 revenue and Elasticity: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revenue (TR) = Price x Quantity; when the demand curve is inelastic, TR increases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goes up, and vice versa; when the demand curve is elastic, TR falls as the price goes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up, and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Determinants of price elasticity of 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1. Number of close substitutes within the market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- The more (and closer) substitutes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available in the market the more elastic demand will be in response to a change in price.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case, the substitution effect will be quite strong.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2. Percentage of income spent on a good -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It may be the case that the smaller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proportion of income spent taken up with purchasing the good or service the more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will be.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3. Time period under consideration -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Demand tends to be more elastic in the long run rather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in the short run. For example, after the two world oil price shocks of the 1970s -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"response" to higher oil prices was modest in the immediate period after price increases,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time passed, people found ways to consume less petroleum and other oil products.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included measures to get better mileage from their cars; higher spending on insulation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homes and car pooling for commuters. The demand for oil became more elastic in the long-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run.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Effects of Advertising on Demand Curve: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Advertising aims to: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the slope of the demand curve – make it more inelastic. This is done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generating brand loyalty;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Shift the demand curve to the right by tempting the people’s want for that specific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product. </a:t>
            </a:r>
            <a:endParaRPr lang="ko-KR" altLang="en-US" dirty="0" smtClean="0" sz="1097"/>
          </a:p>
          <a:p>
            <a:pPr marL="0" indent="0" defTabSz="15240" algn="l">
              <a:lnSpc>
                <a:spcPts val="18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3.3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ELASTICITIES (CONTINUED………….)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sign of income elasticity of demand is positive, the good is normal and if sign is negative,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good is inferior.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Determinants of Income Elasticity of 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determinants of income elasticity of demand are: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Degree of necessity of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rate at which the desire for good is satisfied as consumption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level of income of consumer.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 Run and Long Run: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 run is a period in which not all factors can adjust fully and therefore adjustment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shocks can only be partial.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 run is a period over which all factors can be changed and full adjustment to shocks 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take place.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Incidence of Taxation: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tax results in a vertical shift of the supply curve as it increases the cost of producing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taxed product.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incidence of taxation relates to how much of the tax’s burden is being borne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and producers. The more inelastic the demand, the more of the tax’s burden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fall on consumers. The more inelastic the supply, the more of the tax’s burden will fall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Terms of trade means the ‘real’ terms at which a nation sells its exports and buys its import.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OPEC: Organization of Petroleum Exporting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3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3 – 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will the price elasticity of demand for a particular brand of a product (e.g. Shell) be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greater than that for the product in general (e.g. petrol)?  Is this difference the result of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difference in the size of the income effect or the substitution effect?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elasticity of demand for a particular brand is more elastic than that for a product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general because people can switch to an alternative brand if the price of one brand goes up.  No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 switching will take place if the price of the product in general (i.e. all brands) goes up.  Thus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difference in elasticity is the result of a difference in the size of the substitution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a general item of expenditure like food (or clothing) have a price-elastic or inelastic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demand? Discuss in the context of income and substitution effects.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income effect will be relatively large (making demand relatively elastic).  The substitution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 will be relatively small (making demand relatively inelastic).  The actual elasticity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depend on the relative size of these two effects.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for oil might be relatively elastic over the longer term, and yet it could still be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observed that over time people consume more oil (or only very slightly less) despite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rising oil prices. How can this apparent contradiction be explained?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Because, there has been a rightward shift in the demand curve for oil.  This is likely to be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result of rising incomes.  Car ownership and use increase as incomes increase.  Also tastes may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changed so that people want to drive more.  There may also have been a decline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 modes of transport such as rail transport and buses.  Finally, people may travel longer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distances to work as a result of a general move to the suburbs.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demand for a product is inelastic.  Will consumer expenditure go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increasing as price rises?  Would there be any limit?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 long as demand remains inelastic with respect to price, then consumer expenditure will go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rising as price rises.  However, if the price is raised high enough, demand always will become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you think of any examples of goods which have a totally inelastic demand (a) at all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prices; (b) over a particular price range?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No goods fit into this category, otherwise price could rise to infinity with no fall in demand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 but people do not have infinite incomes!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Over very small price ranges, the demand for goods with no close substitutes, oil, water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(where it is scarce) may be totally inelastic.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the demand curve corresponding to the following table look like?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curve had an elasticity of –1 throughout its length, what would be the quantity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demanded (a) at a price of £1; (b) at a price of 10p; (c) if the good were free?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P (£)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  <a:ea typeface="Times New Roman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  <a:ea typeface="Times New Roman"/>
              </a:rPr>
              <a:t>Total </a:t>
            </a:r>
            <a:endParaRPr lang="ko-KR" altLang="en-US" dirty="0" smtClean="0" sz="1002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  <a:ea typeface="Times New Roman"/>
              </a:rPr>
              <a:t>Expenditure </a:t>
            </a:r>
            <a:endParaRPr lang="ko-KR" altLang="en-US" dirty="0" smtClean="0" sz="1002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  <a:ea typeface="Times New Roman"/>
              </a:rPr>
              <a:t>(£) </a:t>
            </a:r>
            <a:endParaRPr lang="ko-KR" altLang="en-US" dirty="0" smtClean="0" sz="1002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2.5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400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1000 </a:t>
            </a:r>
            <a:endParaRPr lang="ko-KR" altLang="en-US" dirty="0" smtClean="0" sz="1002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curve will be a ‘rectangular hyperbola’: it will be a smooth curve, concave to the origin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never crosses either axis (Q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1000/P). 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1000 units.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10 000 units.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There would be infinite demand!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Referring to the following table, use the mid-point (arc) formula to calculate the price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elasticity of demand between (a) P = 6 and P = 4; (b) P = 4 and P = 2.  What do you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conclude about the elasticity of a straight-line demand curve as you move down it?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Quantity Demanded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25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30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35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Using the formula: 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Q/mid Q)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÷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P/mid P) gives the following answers: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10/25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÷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–2/5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10/25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5/–2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50/–50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–1 (which is unit elastic)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(b) 10/35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÷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–2/3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10/35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3/–2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30/–70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–0.43 (which is inelastic)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elasticity decreases as you move down a straight-line demand curve.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Given Qd = 60 – 15P + P², calculate the (point) price elasticity of demand at a price of: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a. 5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b. 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c. 0.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that: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Qd = 60 – 15P + P²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dQ/dP = –15 + 2P.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using the formula, 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ε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  <a:ea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d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/d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		×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  <a:ea typeface="Arial"/>
              </a:rPr>
              <a:t>		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the elasticity at the each of the above price points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Equals: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(–15 + (2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5))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(5/ (60 – (15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5) + 5²))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5/10 =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–2.5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(b) (–15 + (2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2))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(2/ (60 – (15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2) + 2²))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–11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2/34 =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–0.65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(c) (–15 + (2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0))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(0/ (60 – (15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0) + 0²))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–15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0/60 =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 you move down a straight-line demand curve, what happens to elasticity?  Why?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decreases.  P/Q gets less and less, but dQ/dP remains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Given the following supply schedule: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</a:t>
            </a:r>
            <a:endParaRPr lang="ko-KR" altLang="en-US" dirty="0" smtClean="0" sz="1097" i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40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a. Draw the supply curve.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b. Using the arc method calculate price elasticity of supply: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i. Between P = 2 and P = 4;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ii. Between P = 8 and P = 10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c. Using the point method calculate price elasticity of supply at P = 6.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d. Does the elasticity of the supply curve increase or decrease as P and Q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increase?  Why?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e. What would be the answer to (d) if the supply curve had been a straight line but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intersecting the horizontal axis to the right of the origin?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supply curve will be an upward sloping straight line crossing the vertical axis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P = 2.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Using the formula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Q/average Q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÷		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P/average P, gives: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10/5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÷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2/3=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3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10/35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÷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2/9=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1.29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Using the formula dQ/dP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P/Q, and given that dQ/dP = 5 (= 10/2), gives: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 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6/20= </a:t>
            </a:r>
            <a:r>
              <a:rPr lang="en-US" altLang="ko-KR" dirty="0" smtClean="0" sz="1200" b="1">
                <a:solidFill>
                  <a:srgbClr val="000000"/>
                </a:solidFill>
                <a:latin typeface="Times New Roman"/>
              </a:rPr>
              <a:t>1.5</a:t>
            </a:r>
            <a:endParaRPr lang="ko-KR" altLang="en-US" dirty="0" smtClean="0" sz="1200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The elasticity of supply decreases as P and Q increase.  It starts at infinity where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curve crosses the vertical axis (Q = 0 and thus P/Q =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∞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 No.  At the point where it crossed the horizontal axis, the elasticity of supply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zero (P = 0 and thus P/Q = 0).  Thereafter, as P and Q increased, so would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elasticity of supply.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are likely to have the highest cross elasticity of demand: two brands of tea, 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tea and coffee?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brands of tea, because they are closer substitutes than tea and coffee.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tends to be more elastic in the long run than in the short run.  Assume that a tax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imposed on a good that was previously untaxed.  How will the incidence of this tax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change as time passes?  How will the incidence be affected if demand too becomes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more elastic over time?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supply becomes more elastic, so output will fall and hence tax revenue will fall.  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time price will tend to rise and hence the incidence will shift from the producer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consumer.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demand becomes more elastic, so this too will lead to a fall in sales.  This, however,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the opposite effect on the incidence of the tax: the burden will tend to shift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to the producer.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raising the tax rate on cigarettes raise more revenue and reduce smoking, are there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any conflict between the health and revenue objectives of the government?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may still be a dilemma in terms of the amount by which the tax rate should be raised.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raise the maximum amount of revenue may require only a relatively modest increase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 rate.  To obtain a large reduction in smoking, however, may require a very large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tax rate.  Ultimately, if the tax rate were to be so high as to stop people smoking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altogether, there would be no tax revenue at all for the government!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are a government minister; what arguments might you put forward in favour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maximising the revenue from cigarette taxation?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it is better than putting the taxes on more socially desirable activities.  That there is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beneficial spin-off from reducing a harmful activity.  (You would conveniently ignore the option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putting up taxes beyond the point that maximises revenue and thus cutting down even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smoking.) </a:t>
            </a:r>
            <a:endParaRPr lang="ko-KR" altLang="en-US" dirty="0" smtClean="0" sz="1097"/>
          </a:p>
          <a:p>
            <a:pPr marL="0" indent="0" defTabSz="15240" algn="l">
              <a:lnSpc>
                <a:spcPts val="3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are a doctor; why might you suggest that smoking should be severely restricted?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methods would you advocate?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medical arguments concerning damage to health should take precedence over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questions of raising revenue.  You would probably advocate using whatever method was most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effective in reducing smoking.  This would probably include a series of measures from large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 in taxes, to banning advertising, to education campaigns against smoking.  You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might even go so far as to advocate making smoking tobacco illegal.  The problem here,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course, would be in policing the law.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the supply curve for food often drawn as a vertical straight line?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because; the supply of food is virtually fixed in the short run. Once a crop is grown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harvested, then it is of a fixed amount. (In practice, the timing of releasing crops on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can vary, given that many crops can be stored.  This does allow some variation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with price.)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income elasticity of demand for potatoes is negative (an ‘inferior’ good). What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implication of this for potato producers?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Potato producers would expect to earn less as time goes past, given that national income rises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 time. Thus if the incomes of individual potato producers are to be protected,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be reduced (with some potato dairy farmers switching to other foodstuffs or away from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food production altogether). </a:t>
            </a:r>
            <a:endParaRPr lang="ko-KR" altLang="en-US" dirty="0" smtClean="0" sz="1097"/>
          </a:p>
          <a:p>
            <a:pPr marL="0" indent="0" defTabSz="15240" algn="l">
              <a:lnSpc>
                <a:spcPts val="4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4.1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DEMAND/CONSUMPTION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Scarcity and Rational Choice: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Although scarcity, as defined in Lectures 1-2 was of a different nature, the most common form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scarcity is the scarcity of income, i.e., the money resources are limited and consumers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faced with the decision on how to spend those scarce resources on different goods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Rational choice consists in evaluating the costs and benefits of different decisions and then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choosing the decision that gives the highest benefit relative to cost.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taking decisions, economics stress the importance of weighing the marginal costs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against marginal benefits rather than total costs and benefits.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Ignorance and Irrationality: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a difference between “ignorance” and “irrationality.” A person operating under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uncertainty and thus at least partial ignorance can still make rational decisions by taking into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all the information she has at her disposal. Rationality is an ex-ante concept.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Economists do not judge rational behavior on the basis of actual outcomes, rather on the basis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choices made.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BEHAVIOR: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two approaches to analyzing consumer behavior;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utility analysis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Indifference curve approach.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Utility Approach: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utility approach involves cardinal measurement of utility, i.e., you assign exact values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you measure utility in exact units, while the indifference curve approach is an ordinal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approach, i.e., you rank possibilities or outcomes in an order of preferences, without assigning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 exact utility values.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Utility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usefulness, benefit or satisfaction derived from the consumption of goods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 utility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entire satisfaction one derives from consuming a good or service.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utility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additional utility derived from the consumption of one or more unit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Law of Diminishing Marginal Utility: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law of diminishing marginal utility states that as you consume more and more of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particular good, the satisfaction or utility that you derive from each additional unit falls.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marginal utility curve slopes downwards in a MU-Q graph showing the principle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diminishing marginal utility. The MU curve is exactly equal to the demand curve.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total utility curve starts at the origin and reaches the peak when marginal utility is zero.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utility can be derived from total utility. It is the slope of the lines joining two adjacent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points on the TU curve.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utility functions can also be derived using calculus.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Consumer Surplus and Optimal Point of Consumption: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surplus is the difference between willingness to pay and what the 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actually has to pay: i.e. CS= MU-P. Total consumer surplus is the area between the MU curve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horizontal market price line. Thus as price increases, consumer surplus shrinks,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optimal point of consumption is that point where consumer surplus becomes zero.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utility is greater than price, consumption will increase causing MU to fall until it equals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price, and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Equi-marginal Principle: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case of more than two goods, optimum consumption point can be arrived at by using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equi-marginal principle. This states that a person will derive a maximum level of TU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consuming a particular bundle of goods when the utility derived from the last dollar spent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each good is the same: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MUa = MUb = MUc  …………….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Pa																			 Pb														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C 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Side and Demand Side Views on the Value of Good: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According to the supply side view on the value of a good, the value of a good was determined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the labor content that had gone into producing good, either directly or indirectly.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According to the demand side view on the value of a good, the value of a good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determined by its marginal utility. This helped solve the diamond-water paradox, i.e. why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diamonds have such a high price while water (much more essential for life) sell so cheaply. </a:t>
            </a:r>
            <a:endParaRPr lang="ko-KR" altLang="en-US" dirty="0" smtClean="0" sz="1097"/>
          </a:p>
          <a:p>
            <a:pPr marL="0" indent="0" defTabSz="15240" algn="l">
              <a:lnSpc>
                <a:spcPts val="48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29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4.2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DEMAND/CONSUMPTION (CONTINUED…………….)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Problem of Uncertainty: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problem of uncertainty is integral to consumption decisions especially in the matter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purchasing durable goods. Uncertainty means assigning probabilities to the outcomes.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consumer’s response to uncertainty depends upon her attitude to risk: whether she is: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Risk averse.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Risk-loving.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Risk neutral.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Risk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means to take a chance after the probabilities have been assigned.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odds ratio (OR)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ratio of the probability of success to the probability of failure. It 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equal to 1, less than 1 or greater than 1. If it is equal to 1 we call it fair odds, if less then 1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unfavorable odds, and if greater 1 then favorable odds.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risk neutral person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one who buys a good when OR &gt; 1. He is indifferent when OR = 1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will not buy when OR &lt; 1.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risk averse person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will not buy if OR &lt; 1. He will also not buy if OR = 1. He might also not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decide to buy if OR &gt; 1.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risk loving person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will buy if OR &gt; 1 or = 1, but he might also buy when OR is &lt; 1.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degree of risk aversion increases as your income level falls, due to diminishing marginal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utility of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 aversion is a common feature of rational utility maximizing behavior by the average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total utility curve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a risk neutral person will be a straight line while that of a risk averse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person will be convex. The greater the convexity (curvature) the more risk averse the person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Risk hedging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can be used to reduce the extent to which concerns about uncertainty affect our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daily lives.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Insurance companies operate under the principle of law of large numbers.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presence of asymmetric information, an insurance company has to contend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problems of adverse selection (people who want to buy insurance are also the most risky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customers; an ex-ante problem) and moral hazard (once a person is insured his behavior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might become more rash; an ex-post problem). </a:t>
            </a:r>
            <a:endParaRPr lang="ko-KR" altLang="en-US" dirty="0" smtClean="0" sz="1097"/>
          </a:p>
          <a:p>
            <a:pPr marL="0" indent="0" defTabSz="15240" algn="l">
              <a:lnSpc>
                <a:spcPts val="2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4.3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DEMAND/CONSUMPTION (CONTINUED…………….)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Indifference Curve Approach: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ordinal approach to utility consists in asking the question as to whether the 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prefers one combination or bundle of goods to another combination or bundle of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Ordinal approaches do not require a “measurement” of the utility a person gains, rather, only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ranking of the various bundles in order of preference.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indifference curve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line which charts out all the different points on which the consumer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indifferent with respect to the utility he derives (in other words it is a combination of all equi-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utility points). It is drawn in goods space, i.e. a good Y on the vertical axis and a good X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horizontal axis.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Indifference curves are bowed in towards the origin. In other words its slope decreases (in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absolute terms) as we move down along the curve from left to right.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average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slope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the indifference curve between any two points is given by the change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quantity of good Y divided by change in the quantity of good X. This is called the marginal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of substitution (MRS).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diminishing marginal rate of substitution (MRS)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related to the principle of diminishing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utility. MRS is equal to the ratio of the marginal utility of X to the marginal utility of 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dY = MU</a:t>
            </a:r>
            <a:r>
              <a:rPr lang="en-US" altLang="ko-KR" dirty="0" smtClean="0" sz="701" u="sng" b="1">
                <a:solidFill>
                  <a:srgbClr val="000000"/>
                </a:solidFill>
                <a:latin typeface="Arial"/>
              </a:rPr>
              <a:t>X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MRS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                                           dX    MU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endParaRPr lang="ko-KR" altLang="en-US" dirty="0" smtClean="0" sz="70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indifference curve for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perfect substitutes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straight line, while it is L-shaped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perfect compliments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indifference map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shows a number of indifference curves corresponding to different levels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utility. A higher indifference curve corresponds to a higher level of utility.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Indifference curves never intersect.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Budget Line and Indifference curves: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budget line shows various combinations of 2 goods X &amp; Y that can be purchased. Its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slope –Px/PY is called input price ratio.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budget line can shift due to changes in total budget and the relative price ratio –Px/PY.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income rises, the budget line will shift outwards (parallel to the initial budget line). If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 price ratio changes, the slope of the budget line changes.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optimum consumption point for the consumer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where the budget line is tangent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highest possible indifference curve. At such a point, the slopes of the indifference curve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budget line are equal. In other words: MRS = Px/Py =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Y/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X = MUx/MUy.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Just as we can use indifference analysis to show the combination of goods that maximizes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utility for a given budget, so too we can show the least-cost combination of goods that yields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level of utility. </a:t>
            </a:r>
            <a:endParaRPr lang="ko-KR" altLang="en-US" dirty="0" smtClean="0" sz="1097"/>
          </a:p>
          <a:p>
            <a:pPr marL="0" indent="0" defTabSz="15240" algn="l">
              <a:lnSpc>
                <a:spcPts val="1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4.4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DEMAND/CONSUMPTION (CONTINUED…………….)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Normal Goods and Giffen Good: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normal good is one whose consumption increases when income increases, while inferior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 is one whose consumption decreases with increase in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Giffen good is a sub-category of inferior goods; its consumption increases when it’s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increases. This is because of its very strong income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normal and inferior goods have downward sloping demand curves.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Income Consumption Curve (ICC) and Price Consumption Curve (PPC):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income consumption curve (ICC) can be used to derive the Engel Curve, which shows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relationship between income and quantity demanded.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consumption curve (PCC) traces out the optimal choice of consumption at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prices. The PCC can be used to derive the demand curve, which shows the 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price &amp; quantity demanded.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When the price of one good change, two things happen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the purchasing power of consumer changes i.e., the budget line shifts (leads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effect).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Secondly, the slope of budget line changes due to a change in the relative price ratio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(leads to substitution effect).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substitution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a price rise is always negative, while 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a price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 on the consumption of a normal good is negative.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income effect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an inferior good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positive. The income effect of a Giffen good is so positive that it offsets the negative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substitution effect, therefore.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Limitation of Indifference Approach: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indifference curves approach has the following limitations: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Indifference curve analysis is only possible for 2 or at best for 3 goods.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It is almost impossible to practically derive indifference curves.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The consumer may not always behave rationally.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The consumer may not always realize the level of utility (ex-post) from consumption,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she originally expected (ex-ante).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 Indifference curve analysis can not help when one of the goods (X or Y) is a durable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good.</a:t>
            </a:r>
            <a:endParaRPr lang="ko-KR" altLang="en-US" dirty="0" smtClean="0" sz="1097"/>
          </a:p>
          <a:p>
            <a:pPr marL="0" indent="0" defTabSz="15240" algn="l">
              <a:lnSpc>
                <a:spcPts val="2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4 -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 you ever purchase things irrationally? If so, what are they and why is your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behaviour irrational?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good example is things you purchase impulsively, when in fact you do have time to reflect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whether you really want them.  It is not a question of ignorance but a lack of care.  Your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behaviour is irrational because the marginal benefit of a bit of extra care would exceed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effort involved.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Imagine that you are going out for the evening with a group of friends.  How would you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decide where to go?  Would this decision-making process be described as ‘rational’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behaviour?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would probably discuss it and try to reach a consensus view.  The benefits to you (and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group members) would probably be maximized in this way.  Whether these benefits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be seen as purely ‘selfish’ on the part of the members of the group, or whether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more genuinely unselfish approach, will depend on the individuals involved.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you buy something in the shop on the corner when you know that the same item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have been bought more cheaply two miles up the road from the wholesale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market, is your behaviour irrational?  Explain.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necessarily.  If you could not have anticipated wanting the item and if it would cost you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time and effort and maybe money (e.g. petrol) to go to the wholesale market, then your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behaviour is rational.  Your behaviour a few days previously would have be irrational, however,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if, when making out your weekly shopping list for the wholesale market, a moment’s thought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have saved you having to make the subsequent trip to the shop on the corner.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there any goods or services where consumers do not experience diminishing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utility?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Virtually none, if the time period is short enough.  If, however, we are referring to a long time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period, such as a year, then initially as more of an item is consumed people may start ‘getting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of a taste for it’ and thus experience increasing marginal utility.  But even with such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items, eventually, as consumption increases, diminishing marginal utility will be experienced.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Ammaar were to consume more and more crisps, would his total utility ever (a) fall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zero; (b) become negative?  Explain.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Yes, both.  If he went on eating more and more, eventually he would feel more dissatisfied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if he had never eaten any in the first place.  He might actually be physically sick!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Complete this table to the level of consumption at which total utility (TU) is at a maximum,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given the utility function TU = Q + 60Q – 4Q2.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60Q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–4Q</a:t>
            </a:r>
            <a:r>
              <a:rPr lang="en-US" altLang="ko-KR" dirty="0" smtClean="0" sz="701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TU </a:t>
            </a:r>
            <a:endParaRPr lang="ko-KR" altLang="en-US" dirty="0" smtClean="0" sz="1097" i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56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104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–36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144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240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–64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176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–100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200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360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–144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216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–196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224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480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–256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224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Derive the MU function from the following TU function: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41830" y="1822450"/>
            <a:ext cx="3425825" cy="39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32305" y="2865120"/>
            <a:ext cx="3441065" cy="3536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44040" y="3733800"/>
            <a:ext cx="3471545" cy="31426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TU = 200Q – 25Q² + Q³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this MU function, draw up a table (like the one above) up to the level of Q where MU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becomes negative.  Graph these figures.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 = dTU/dQ = 200 – 50Q + 3Q²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–50Q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3Q</a:t>
            </a:r>
            <a:r>
              <a:rPr lang="en-US" altLang="ko-KR" dirty="0" smtClean="0" sz="600" i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MU </a:t>
            </a:r>
            <a:endParaRPr lang="ko-KR" altLang="en-US" dirty="0" smtClean="0" sz="94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153 </a:t>
            </a:r>
            <a:endParaRPr lang="ko-KR" altLang="en-US" dirty="0" smtClean="0" sz="94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–100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112 </a:t>
            </a:r>
            <a:endParaRPr lang="ko-KR" altLang="en-US" dirty="0" smtClean="0" sz="94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–150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77 </a:t>
            </a:r>
            <a:endParaRPr lang="ko-KR" altLang="en-US" dirty="0" smtClean="0" sz="94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48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48 </a:t>
            </a:r>
            <a:endParaRPr lang="ko-KR" altLang="en-US" dirty="0" smtClean="0" sz="94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–250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75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25 </a:t>
            </a:r>
            <a:endParaRPr lang="ko-KR" altLang="en-US" dirty="0" smtClean="0" sz="94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–300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108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8 </a:t>
            </a:r>
            <a:endParaRPr lang="ko-KR" altLang="en-US" dirty="0" smtClean="0" sz="94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200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–350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147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–3 </a:t>
            </a:r>
            <a:endParaRPr lang="ko-KR" altLang="en-US" dirty="0" smtClean="0" sz="947"/>
          </a:p>
          <a:p>
            <a:pPr marL="0" indent="0" defTabSz="15240" algn="l">
              <a:lnSpc>
                <a:spcPts val="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1 8 0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1 6 0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1 4 0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1 2 0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1 0 0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8 0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6 0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4 0</a:t>
            </a:r>
            <a:endParaRPr lang="ko-KR" altLang="en-US" dirty="0" smtClean="0" sz="808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2 0</a:t>
            </a:r>
            <a:endParaRPr lang="ko-KR" altLang="en-US" dirty="0" smtClean="0" sz="80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34" i="1" b="1">
                <a:solidFill>
                  <a:srgbClr val="00009A"/>
                </a:solidFill>
                <a:latin typeface="Arial"/>
              </a:rPr>
              <a:t>M U</a:t>
            </a:r>
            <a:endParaRPr lang="ko-KR" altLang="en-US" dirty="0" smtClean="0" sz="1034" i="1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0</a:t>
            </a:r>
            <a:endParaRPr lang="ko-KR" altLang="en-US" dirty="0" smtClean="0" sz="808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6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7</a:t>
            </a:r>
            <a:endParaRPr lang="ko-KR" altLang="en-US" dirty="0" smtClean="0" sz="808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</a:t>
            </a:r>
            <a:r>
              <a:rPr lang="en-US" altLang="ko-KR" dirty="0" smtClean="0" sz="808">
                <a:solidFill>
                  <a:srgbClr val="000000"/>
                </a:solidFill>
                <a:latin typeface="Arial"/>
              </a:rPr>
              <a:t>- 2 0</a:t>
            </a:r>
            <a:endParaRPr lang="ko-KR" altLang="en-US" dirty="0" smtClean="0" sz="808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a good were free, why would total consumer surplus equal total utility? What would be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level of marginal utility?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there would be no expenditure. At the point of maximum consumer surplus, marginal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utility		would be equal to zero, since if P = 0, and MU = P, then MU = 0.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 we get less consumer surplus from goods where our demand is relatively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elastic?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we would not be prepared to pay such a high price for them.  If price went up, we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more readily switch to alternative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marginal utility and market demand be affected by a rise in the price of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complementary good?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utility and market demand would fall (shift to the left).  The rise in the price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complement would cause less of it to be consumed.  This would therefore reduce the marginal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96440" y="1920240"/>
            <a:ext cx="3340735" cy="288353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utility of the other good.  For example, if the price of lettuce goes up and as a result we consume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less lettuce, the marginal utility of mayonnaise will fall.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diagram illustrates a person’s MU curves of water and diamonds.  Assume that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diamonds are more expensive than water.  Show how the MU of diamonds will be greater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than the MU of water.  Show also how the TU of diamonds will be less than the TU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water.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64" i="1">
                <a:solidFill>
                  <a:srgbClr val="000000"/>
                </a:solidFill>
                <a:latin typeface="Arial"/>
              </a:rPr>
              <a:t>MU, P</a:t>
            </a:r>
            <a:endParaRPr lang="ko-KR" altLang="en-US" dirty="0" smtClean="0" sz="964" i="1"/>
          </a:p>
          <a:p>
            <a:pPr marL="0" indent="0" defTabSz="15240" algn="l">
              <a:lnSpc>
                <a:spcPts val="7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878" i="1">
                <a:solidFill>
                  <a:srgbClr val="9A0000"/>
                </a:solidFill>
                <a:latin typeface="Arial"/>
              </a:rPr>
              <a:t>P</a:t>
            </a:r>
            <a:r>
              <a:rPr lang="en-US" altLang="ko-KR" dirty="0" smtClean="0" sz="567" i="1">
                <a:solidFill>
                  <a:srgbClr val="9A0000"/>
                </a:solidFill>
                <a:latin typeface="Arial"/>
              </a:rPr>
              <a:t>d</a:t>
            </a:r>
            <a:endParaRPr lang="ko-KR" altLang="en-US" dirty="0" smtClean="0" sz="567" i="1"/>
          </a:p>
          <a:p>
            <a:pPr marL="0" indent="0" defTabSz="15240" algn="l">
              <a:lnSpc>
                <a:spcPts val="6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878" i="1">
                <a:solidFill>
                  <a:srgbClr val="008000"/>
                </a:solidFill>
                <a:latin typeface="Arial"/>
              </a:rPr>
              <a:t>P</a:t>
            </a:r>
            <a:r>
              <a:rPr lang="en-US" altLang="ko-KR" dirty="0" smtClean="0" sz="567" i="1">
                <a:solidFill>
                  <a:srgbClr val="008000"/>
                </a:solidFill>
                <a:latin typeface="Arial"/>
              </a:rPr>
              <a:t>w</a:t>
            </a:r>
            <a:endParaRPr lang="ko-KR" altLang="en-US" dirty="0" smtClean="0" sz="567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878" i="1">
                <a:solidFill>
                  <a:srgbClr val="9A0000"/>
                </a:solidFill>
                <a:latin typeface="Arial"/>
              </a:rPr>
              <a:t>Q</a:t>
            </a:r>
            <a:r>
              <a:rPr lang="en-US" altLang="ko-KR" dirty="0" smtClean="0" sz="567" i="1">
                <a:solidFill>
                  <a:srgbClr val="9A0000"/>
                </a:solidFill>
                <a:latin typeface="Arial"/>
              </a:rPr>
              <a:t>d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</a:t>
            </a:r>
            <a:r>
              <a:rPr lang="en-US" altLang="ko-KR" dirty="0" smtClean="0" sz="878" i="1">
                <a:solidFill>
                  <a:srgbClr val="008000"/>
                </a:solidFill>
                <a:latin typeface="Arial"/>
              </a:rPr>
              <a:t>Q</a:t>
            </a:r>
            <a:r>
              <a:rPr lang="en-US" altLang="ko-KR" dirty="0" smtClean="0" sz="567" i="1">
                <a:solidFill>
                  <a:srgbClr val="008000"/>
                </a:solidFill>
                <a:latin typeface="Arial"/>
              </a:rPr>
              <a:t>w</a:t>
            </a:r>
            <a:endParaRPr lang="ko-KR" altLang="en-US" dirty="0" smtClean="0" sz="567" i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Define ‘risk’ and ‘uncertainty’.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Risk: when an outcome may or may not occur, but its probability of occurring is known.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Uncertainty: when an outcome may or may not occur and its probability of occurring is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known.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some examples of gambling (or risk taking in general) where the odds are (a)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unfavorable; (b) fair; (c) favourable.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Betting on the horses; firms launching a new product in a market that is already virtually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saturated and where the firm does not bother to advertise.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Gambling on a private game of cards which is a game of pure chance; deciding which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alternative brands to buy when they both cost the same and you have no idea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will like the best.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The buying and selling of shares on the stock exchange by dealers who are skilled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predicting share price movements; not taking an umbrella when the forecast is that it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rain (weather forecasts are right more often than they are wrong!); an employer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taking on a new manager who has excellent references from previous employers.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(Note that in the cases of (a) and (c) the actual odds may not be known, only that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unfavorable or favourable.)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game would you be more willing to play, a 60:40 chance of gaining or losing Rs10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000, or a 40:60 chance of gaining or losing Re1?  Explain why.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Most people would probably prefer the 40:60 chance of gaining or losing Re1.  The reason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that, given the diminishing marginal utility of income, the benefit of gaining Rs10 000 may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considerably less than the costs of losing Rs10 000, and this may be more than enough to deter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people, despite the fact that the chances of winning are 60:40.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 you think that this provides a moral argument for redistributing income from the rich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the poor?  Does it prove that income should be so redistributed?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35</a:t>
            </a:r>
            <a:endParaRPr lang="ko-KR" altLang="en-US" dirty="0" smtClean="0" sz="1200"/>
          </a:p>
        </p:txBody>
      </p:sp>
      <p:sp>
        <p:nvSpPr>
          <p:cNvPr id="80" name="Rect 3"/>
          <p:cNvSpPr>
            <a:spLocks noGrp="1" noChangeArrowheads="1"/>
          </p:cNvSpPr>
          <p:nvPr/>
        </p:nvSpPr>
        <p:spPr>
          <a:xfrm rot="0">
            <a:off x="4730750" y="4053840"/>
            <a:ext cx="476250" cy="1308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78" i="1">
                <a:solidFill>
                  <a:srgbClr val="008000"/>
                </a:solidFill>
                <a:latin typeface="Arial"/>
              </a:rPr>
              <a:t>MU</a:t>
            </a:r>
            <a:r>
              <a:rPr lang="en-US" altLang="ko-KR" dirty="0" smtClean="0" sz="878">
                <a:solidFill>
                  <a:srgbClr val="008000"/>
                </a:solidFill>
                <a:latin typeface="Arial"/>
              </a:rPr>
              <a:t> water</a:t>
            </a:r>
            <a:endParaRPr lang="ko-KR" altLang="en-US" dirty="0" smtClean="0" sz="878"/>
          </a:p>
        </p:txBody>
      </p:sp>
      <p:sp>
        <p:nvSpPr>
          <p:cNvPr id="81" name="Rect 3"/>
          <p:cNvSpPr>
            <a:spLocks noGrp="1" noChangeArrowheads="1"/>
          </p:cNvSpPr>
          <p:nvPr/>
        </p:nvSpPr>
        <p:spPr>
          <a:xfrm rot="0">
            <a:off x="3352800" y="4136390"/>
            <a:ext cx="671830" cy="1308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878" i="1">
                <a:solidFill>
                  <a:srgbClr val="9A0000"/>
                </a:solidFill>
                <a:latin typeface="Arial"/>
              </a:rPr>
              <a:t>MU</a:t>
            </a:r>
            <a:r>
              <a:rPr lang="en-US" altLang="ko-KR" dirty="0" smtClean="0" sz="878">
                <a:solidFill>
                  <a:srgbClr val="9A0000"/>
                </a:solidFill>
                <a:latin typeface="Arial"/>
              </a:rPr>
              <a:t> diamonds</a:t>
            </a:r>
            <a:endParaRPr lang="ko-KR" altLang="en-US" dirty="0" smtClean="0" sz="878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Arguments like this are frequently used to justify redistributing income and form part of people’s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moral code.  Most people would argue that the rich ought to pay more in taxes than the poor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poor ought to receive more state benefits than the rich.  The argument is frequently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expressed in terms of a pound being worth more to a poor person than a rich person.  It does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prove that income should be so redistributed, however, unless you argue (a)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ought to increase total utility in society and (b) that it is possible to compare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utility gained by poor people with that lost by rich people – something that is virtually impossible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details does an insurance company require to know before it will insure a person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drive a car?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Age; sex; occupation; accident record; number of years that a license has been held; traffic law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violations and convictions; model and value of the car; age of the car; details of other drivers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will the following reduce moral hazard?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A no-claims bonus.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 driver having to pay the first so many rupees of any claim (called “excess”).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Offering lower premiums to those less likely to claim (e.g. if a house has a burglar alarm,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less likely to be burgled and therefore the insurance premiums for its contents – TV,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VCR, etc. can be reduced by the insurance company).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case of (a) and (b) people will be more careful as they would incur a financial loss if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event they were insured against occurred (loss of no-claims bonus; paying the first so much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claim).  In the case of (c) it distinguishes people more accurately according to risk. 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encourages people to move into the category of those less likely to claim (but it does not make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more careful within a category: e.g. those with burglar alarms may be less inclined to turn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 on if they are well insured!).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people are generally risk averse, why do so many people around the world take part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national lotteries?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cost of taking part is so little, that they do not regard it as a sacrifice.  They also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likely to take a ‘hopeful’ view (i.e. not based on the true odds) on their chances of winning.  What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more, the act of taking part itself gives pleasure.  Thus the behaviour can still be classed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‘rational’: i.e. one where the perceived marginal benefit of the gamble exceeds the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are insurance companies unwilling to provide insurance against losses arising from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war or ‘civil disorder’?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risks are not independent.  If family A has its house bombed, it is more likely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family B will too.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Name some other events where it would be impossible to obtain insurance.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Against losses on the stock market; against crop losses resulting from drought.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Although indifference curves will normally be bowed in toward the origin, on odd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occasions they might not be. What would indifference curves look like in each of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following cases?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a. X and Y are left shoes and right shoes.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b. X and Y are two brands of the same product, and the consumer cannot tell them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apart.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c. X is a good but Y is a ‘bad’ – like household refuse.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L-shaped.  An additional left shoe will give no extra utility without an additional right shoe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go with it!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Straight lines.  The consumer is prepared to go on giving up one unit of one brand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provided that it is replaced by one unit of the other brand.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85290" y="6160135"/>
            <a:ext cx="5264150" cy="270954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Upward sloping.  If consumers are to be persuaded to put up with more of the ‘bad’, they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have more of the good to compensate.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happen to the budget line if the consumer’s income doubles and the price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both X and Y double?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will not move.  Exactly the same quantities can be purchased as before.  Money income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risen, but real income has remained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income–consumption curve is often drawn as positively sloped at low levels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income. Why?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for those on a low level of income the good is not yet in the category of an inferior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good.  Take the case of inexpensive margarine.  Those on very low incomes may economise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use of it (along with all other products), but as they earn a little more, so they can afford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spread it a little thicker or use it more frequently (the income–consumption curve is positive).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Only when their income rises more substantially do they substitute better quality margarines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butter.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Illustrate on an indifference diagram the effects of the following: A ceteris paribus (a) rise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the price of good Y (b) fall in the price of good X.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budget line will pivot inwards from B1 to B2.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 budget line would pivot outward on the point where the budget line crosses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vertical axis.  It is likely that the new tangency point with an indifference curve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represent an increase in the consumption of both goods.  The diagram above can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used to illustrate this.  Assume the budget line pivots outwards from B1 to B2. 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optimum consumption point will move from point a to 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Illustrate the income and substitution effects in the above question.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See the diagram above.  In each case the substitution effect is shown by a movement from point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to point b and the substitution effect is shown by a movement from point b to point 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there any Giffen goods that you consume?  If not, could you conceive of any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circumstances in which one or more items of your expenditure would become Giffen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goods?</a:t>
            </a:r>
            <a:endParaRPr lang="ko-KR" altLang="en-US" dirty="0" smtClean="0" sz="1097" b="1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70">
                <a:solidFill>
                  <a:srgbClr val="000000"/>
                </a:solidFill>
                <a:latin typeface="Arial"/>
              </a:rPr>
              <a:t>Good Y</a:t>
            </a:r>
            <a:endParaRPr lang="ko-KR" altLang="en-US" dirty="0" smtClean="0" sz="57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70" i="1" b="1">
                <a:solidFill>
                  <a:srgbClr val="00009A"/>
                </a:solidFill>
                <a:latin typeface="Arial"/>
              </a:rPr>
              <a:t>B</a:t>
            </a:r>
            <a:r>
              <a:rPr lang="en-US" altLang="ko-KR" dirty="0" smtClean="0" sz="371" i="1" b="1">
                <a:solidFill>
                  <a:srgbClr val="00009A"/>
                </a:solidFill>
                <a:latin typeface="Arial"/>
              </a:rPr>
              <a:t>1</a:t>
            </a:r>
            <a:endParaRPr lang="ko-KR" altLang="en-US" dirty="0" smtClean="0" sz="371" i="1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70" i="1" b="1">
                <a:solidFill>
                  <a:srgbClr val="008000"/>
                </a:solidFill>
                <a:latin typeface="Arial"/>
              </a:rPr>
              <a:t>B</a:t>
            </a:r>
            <a:r>
              <a:rPr lang="en-US" altLang="ko-KR" dirty="0" smtClean="0" sz="371" i="1" b="1">
                <a:solidFill>
                  <a:srgbClr val="008000"/>
                </a:solidFill>
                <a:latin typeface="Arial"/>
              </a:rPr>
              <a:t>1a</a:t>
            </a:r>
            <a:endParaRPr lang="ko-KR" altLang="en-US" dirty="0" smtClean="0" sz="371" i="1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13">
                <a:solidFill>
                  <a:srgbClr val="008000"/>
                </a:solidFill>
                <a:latin typeface="Arial"/>
              </a:rPr>
              <a:t>S</a:t>
            </a:r>
            <a:endParaRPr lang="ko-KR" altLang="en-US" dirty="0" smtClean="0" sz="513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70" i="1" b="1">
                <a:solidFill>
                  <a:srgbClr val="9A0000"/>
                </a:solidFill>
                <a:latin typeface="Arial"/>
              </a:rPr>
              <a:t>B</a:t>
            </a:r>
            <a:r>
              <a:rPr lang="en-US" altLang="ko-KR" dirty="0" smtClean="0" sz="371" i="1" b="1">
                <a:solidFill>
                  <a:srgbClr val="9A0000"/>
                </a:solidFill>
                <a:latin typeface="Arial"/>
              </a:rPr>
              <a:t>2</a:t>
            </a:r>
            <a:endParaRPr lang="ko-KR" altLang="en-US" dirty="0" smtClean="0" sz="371" i="1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70">
                <a:solidFill>
                  <a:srgbClr val="9A0000"/>
                </a:solidFill>
                <a:latin typeface="Arial"/>
              </a:rPr>
              <a:t>I</a:t>
            </a:r>
            <a:endParaRPr lang="ko-KR" altLang="en-US" dirty="0" smtClean="0" sz="57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85" i="1">
                <a:solidFill>
                  <a:srgbClr val="9A0000"/>
                </a:solidFill>
                <a:latin typeface="Arial"/>
              </a:rPr>
              <a:t>c</a:t>
            </a:r>
            <a:endParaRPr lang="ko-KR" altLang="en-US" dirty="0" smtClean="0" sz="685" i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70" i="1" b="1">
                <a:solidFill>
                  <a:srgbClr val="9A0000"/>
                </a:solidFill>
                <a:latin typeface="Arial"/>
              </a:rPr>
              <a:t>I</a:t>
            </a:r>
            <a:r>
              <a:rPr lang="en-US" altLang="ko-KR" dirty="0" smtClean="0" sz="371" i="1" b="1">
                <a:solidFill>
                  <a:srgbClr val="9A0000"/>
                </a:solidFill>
                <a:latin typeface="Arial"/>
              </a:rPr>
              <a:t>2</a:t>
            </a:r>
            <a:endParaRPr lang="ko-KR" altLang="en-US" dirty="0" smtClean="0" sz="371" i="1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570">
                <a:solidFill>
                  <a:srgbClr val="000000"/>
                </a:solidFill>
                <a:latin typeface="Arial"/>
              </a:rPr>
              <a:t>Good X</a:t>
            </a:r>
            <a:endParaRPr lang="ko-KR" altLang="en-US" dirty="0" smtClean="0" sz="57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614" b="1">
                <a:solidFill>
                  <a:srgbClr val="000000"/>
                </a:solidFill>
                <a:latin typeface="Arial"/>
              </a:rPr>
              <a:t>(a)</a:t>
            </a:r>
            <a:r>
              <a:rPr lang="en-US" altLang="ko-KR" dirty="0" smtClean="0" sz="614">
                <a:solidFill>
                  <a:srgbClr val="000000"/>
                </a:solidFill>
                <a:latin typeface="Arial"/>
              </a:rPr>
              <a:t> Increase in price of Y </a:t>
            </a:r>
            <a:endParaRPr lang="ko-KR" altLang="en-US" dirty="0" smtClean="0" sz="614"/>
          </a:p>
          <a:p>
            <a:pPr marL="0" indent="0" defTabSz="15240" algn="l">
              <a:lnSpc>
                <a:spcPts val="10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37</a:t>
            </a:r>
            <a:endParaRPr lang="ko-KR" altLang="en-US" dirty="0" smtClean="0" sz="1200"/>
          </a:p>
        </p:txBody>
      </p:sp>
      <p:sp>
        <p:nvSpPr>
          <p:cNvPr id="86" name="Rect 3"/>
          <p:cNvSpPr>
            <a:spLocks noGrp="1" noChangeArrowheads="1"/>
          </p:cNvSpPr>
          <p:nvPr/>
        </p:nvSpPr>
        <p:spPr>
          <a:xfrm rot="0">
            <a:off x="5498465" y="7059295"/>
            <a:ext cx="1052830" cy="7099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90" i="1">
                <a:solidFill>
                  <a:srgbClr val="9A0000"/>
                </a:solidFill>
                <a:latin typeface="Arial"/>
              </a:rPr>
              <a:t>c</a:t>
            </a:r>
            <a:endParaRPr lang="ko-KR" altLang="en-US" dirty="0" smtClean="0" sz="690" i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575" i="1" b="1">
                <a:solidFill>
                  <a:srgbClr val="9A0000"/>
                </a:solidFill>
                <a:latin typeface="Arial"/>
              </a:rPr>
              <a:t>I</a:t>
            </a:r>
            <a:r>
              <a:rPr lang="en-US" altLang="ko-KR" dirty="0" smtClean="0" sz="373" i="1" b="1">
                <a:solidFill>
                  <a:srgbClr val="9A0000"/>
                </a:solidFill>
                <a:latin typeface="Arial"/>
              </a:rPr>
              <a:t>2</a:t>
            </a:r>
            <a:endParaRPr lang="ko-KR" altLang="en-US" dirty="0" smtClean="0" sz="373" i="1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575" i="1" b="1">
                <a:solidFill>
                  <a:srgbClr val="9A0000"/>
                </a:solidFill>
                <a:latin typeface="Arial"/>
              </a:rPr>
              <a:t>B</a:t>
            </a:r>
            <a:r>
              <a:rPr lang="en-US" altLang="ko-KR" dirty="0" smtClean="0" sz="373" i="1" b="1">
                <a:solidFill>
                  <a:srgbClr val="9A0000"/>
                </a:solidFill>
                <a:latin typeface="Arial"/>
              </a:rPr>
              <a:t>2</a:t>
            </a:r>
            <a:endParaRPr lang="ko-KR" altLang="en-US" dirty="0" smtClean="0" sz="373" i="1" b="1"/>
          </a:p>
        </p:txBody>
      </p:sp>
      <p:sp>
        <p:nvSpPr>
          <p:cNvPr id="87" name="Rect 3"/>
          <p:cNvSpPr>
            <a:spLocks noGrp="1" noChangeArrowheads="1"/>
          </p:cNvSpPr>
          <p:nvPr/>
        </p:nvSpPr>
        <p:spPr>
          <a:xfrm rot="0">
            <a:off x="5108575" y="7105015"/>
            <a:ext cx="1369695" cy="746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90" i="1">
                <a:solidFill>
                  <a:srgbClr val="00009A"/>
                </a:solidFill>
                <a:latin typeface="Arial"/>
              </a:rPr>
              <a:t>a</a:t>
            </a:r>
            <a:endParaRPr lang="ko-KR" altLang="en-US" dirty="0" smtClean="0" sz="690" i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690" i="1">
                <a:solidFill>
                  <a:srgbClr val="008000"/>
                </a:solidFill>
                <a:latin typeface="Arial"/>
              </a:rPr>
              <a:t>b</a:t>
            </a:r>
            <a:endParaRPr lang="ko-KR" altLang="en-US" dirty="0" smtClean="0" sz="690" i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</a:t>
            </a:r>
            <a:r>
              <a:rPr lang="en-US" altLang="ko-KR" dirty="0" smtClean="0" sz="575" i="1" b="1">
                <a:solidFill>
                  <a:srgbClr val="008000"/>
                </a:solidFill>
                <a:latin typeface="Arial"/>
              </a:rPr>
              <a:t>B</a:t>
            </a:r>
            <a:r>
              <a:rPr lang="en-US" altLang="ko-KR" dirty="0" smtClean="0" sz="373" i="1" b="1">
                <a:solidFill>
                  <a:srgbClr val="008000"/>
                </a:solidFill>
                <a:latin typeface="Arial"/>
              </a:rPr>
              <a:t>1a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575" i="1" b="1">
                <a:solidFill>
                  <a:srgbClr val="00009A"/>
                </a:solidFill>
                <a:latin typeface="Arial"/>
              </a:rPr>
              <a:t>I</a:t>
            </a:r>
            <a:r>
              <a:rPr lang="en-US" altLang="ko-KR" dirty="0" smtClean="0" sz="373" i="1" b="1">
                <a:solidFill>
                  <a:srgbClr val="00009A"/>
                </a:solidFill>
                <a:latin typeface="Arial"/>
              </a:rPr>
              <a:t>1</a:t>
            </a:r>
            <a:endParaRPr lang="ko-KR" altLang="en-US" dirty="0" smtClean="0" sz="373" i="1" b="1"/>
          </a:p>
        </p:txBody>
      </p:sp>
      <p:sp>
        <p:nvSpPr>
          <p:cNvPr id="88" name="Rect 3"/>
          <p:cNvSpPr>
            <a:spLocks noGrp="1" noChangeArrowheads="1"/>
          </p:cNvSpPr>
          <p:nvPr/>
        </p:nvSpPr>
        <p:spPr>
          <a:xfrm rot="0">
            <a:off x="3386455" y="6327775"/>
            <a:ext cx="3295650" cy="1901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575">
                <a:solidFill>
                  <a:srgbClr val="000000"/>
                </a:solidFill>
                <a:latin typeface="Arial"/>
              </a:rPr>
              <a:t>Good Y</a:t>
            </a:r>
            <a:endParaRPr lang="ko-KR" altLang="en-US" dirty="0" smtClean="0" sz="575"/>
          </a:p>
          <a:p>
            <a:pPr marL="0" indent="0" defTabSz="15240" algn="l">
              <a:lnSpc>
                <a:spcPts val="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685" i="1">
                <a:solidFill>
                  <a:srgbClr val="00009A"/>
                </a:solidFill>
                <a:latin typeface="Arial"/>
              </a:rPr>
              <a:t>a</a:t>
            </a:r>
            <a:endParaRPr lang="ko-KR" altLang="en-US" dirty="0" smtClean="0" sz="685" i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685" i="1">
                <a:solidFill>
                  <a:srgbClr val="008000"/>
                </a:solidFill>
                <a:latin typeface="Arial"/>
              </a:rPr>
              <a:t>b</a:t>
            </a:r>
            <a:endParaRPr lang="ko-KR" altLang="en-US" dirty="0" smtClean="0" sz="685" i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570" i="1" b="1">
                <a:solidFill>
                  <a:srgbClr val="00009A"/>
                </a:solidFill>
                <a:latin typeface="Arial"/>
              </a:rPr>
              <a:t>I</a:t>
            </a:r>
            <a:r>
              <a:rPr lang="en-US" altLang="ko-KR" dirty="0" smtClean="0" sz="371" i="1" b="1">
                <a:solidFill>
                  <a:srgbClr val="00009A"/>
                </a:solidFill>
                <a:latin typeface="Arial"/>
              </a:rPr>
              <a:t>1</a:t>
            </a:r>
            <a:endParaRPr lang="ko-KR" altLang="en-US" dirty="0" smtClean="0" sz="371" i="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575" i="1" b="1">
                <a:solidFill>
                  <a:srgbClr val="00009A"/>
                </a:solidFill>
                <a:latin typeface="Arial"/>
              </a:rPr>
              <a:t>B</a:t>
            </a:r>
            <a:r>
              <a:rPr lang="en-US" altLang="ko-KR" dirty="0" smtClean="0" sz="373" i="1" b="1">
                <a:solidFill>
                  <a:srgbClr val="00009A"/>
                </a:solidFill>
                <a:latin typeface="Arial"/>
              </a:rPr>
              <a:t>1</a:t>
            </a:r>
            <a:endParaRPr lang="ko-KR" altLang="en-US" dirty="0" smtClean="0" sz="373" i="1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517">
                <a:solidFill>
                  <a:srgbClr val="008000"/>
                </a:solidFill>
                <a:latin typeface="Arial"/>
              </a:rPr>
              <a:t>Substitution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575">
                <a:solidFill>
                  <a:srgbClr val="000000"/>
                </a:solidFill>
                <a:latin typeface="Arial"/>
              </a:rPr>
              <a:t>Good X</a:t>
            </a:r>
            <a:endParaRPr lang="ko-KR" altLang="en-US" dirty="0" smtClean="0" sz="575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575">
                <a:solidFill>
                  <a:srgbClr val="9A0000"/>
                </a:solidFill>
                <a:latin typeface="Arial"/>
              </a:rPr>
              <a:t>Income</a:t>
            </a:r>
            <a:endParaRPr lang="ko-KR" altLang="en-US" dirty="0" smtClean="0" sz="575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614" b="1">
                <a:solidFill>
                  <a:srgbClr val="000000"/>
                </a:solidFill>
                <a:latin typeface="Arial"/>
              </a:rPr>
              <a:t>(b)</a:t>
            </a:r>
            <a:r>
              <a:rPr lang="en-US" altLang="ko-KR" dirty="0" smtClean="0" sz="614">
                <a:solidFill>
                  <a:srgbClr val="000000"/>
                </a:solidFill>
                <a:latin typeface="Arial"/>
              </a:rPr>
              <a:t> Decrease in price of X </a:t>
            </a:r>
            <a:endParaRPr lang="ko-KR" altLang="en-US" dirty="0" smtClean="0" sz="614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unlikely that any of the goods you consume are Giffen goods.  One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exception may be goods where you have a specific budget for two or more items,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one item is much cheaper: e.g. fruit bought from a greengrocer (or rehri waala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street).  If, say, apples are initially much cheaper than bananas, you may be 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afford some of each.  Then you find that apples have gone up in price, but are still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cheaper than bananas.  What do you do?  By continuing to buy some of each fruit you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feel that you are not eating enough pieces of fruit to keep you healthy and so you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 apples for bananas, thereby purchasing more apples than before (but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probably less pieces of fruit than originally). </a:t>
            </a:r>
            <a:endParaRPr lang="ko-KR" altLang="en-US" dirty="0" smtClean="0" sz="1097"/>
          </a:p>
          <a:p>
            <a:pPr marL="0" indent="0" defTabSz="15240" algn="l">
              <a:lnSpc>
                <a:spcPts val="58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5.1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SUPPLY/COSTS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PRODUCTIVE THEORY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is any organized form of production, in which someone or a collection of individuals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involved in the production of goods and services. A firm can be sole proprietorship (one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person ownership), partnership (a limited number of owners) or a limited company (a large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number of changing shareholders).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is faced with three basic questions: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What should it produce?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How should it produce it and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How much profit/net benefit will the firm make?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traditional theory of the firm says that the firm’s basic goal is to maximize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Production Function: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production function is simply the relationship between inputs &amp; outputs.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Mathematically it can be written as: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 = f (K, L, N, E, T, P……….)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= Output = Total product produced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 =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 = Labor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 = Natural resources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 = Entrepreneurship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 = Technology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 = Power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Cobb Douglas production function: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economics, the Cobb-Douglas functional form of production functions is widely used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represent the relationship of an output to inputs. It was proposed by Knut Wicksell, and tested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against statistical evidence by Paul Douglas and Charles Cobb in 1928.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Cobb Douglas production function can be represented by the following equation,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 = A K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α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L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 – α</a:t>
            </a:r>
            <a:endParaRPr lang="ko-KR" altLang="en-US" dirty="0" smtClean="0" sz="70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Where: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 = output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 = labor input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 = capital input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A, α and 1 – α are constants determined by technology.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 run and Long run: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 run is a period of time in which at least one of the factors of production is fixed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unchangeable; long run is a period of time in which all the factors of production used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are flexible. The actual length of the short run and long-run can vary considerably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industry to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Law of Diminishing Marginal Returns: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law of diminishing marginal returns states that as you increase the quantity of a variable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 together with a fixed factor, the returns (in terms of output) become less and less. Thus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we are using labor in the production of wheat given a fixed amount of land, after a certain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39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point the increase in the output of wheat will become less and less until it starts reducing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output of wheat.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total physical product (TPP)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a factor (F) is the latter’s total contribution to output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measured in units of output produced.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Average physical product (APP)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TPP per unit of the variable factor: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 can be represented by the following formula,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APP = TPPF/QF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physical product (MPP)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addition to TPP brought by employing an extra unit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variable factor More generally,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MPPF = ∆TPPF/∆QF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Relationship between APP and MPP: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marginal physical product equals the average physical product, the average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physical product will not change.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marginal physical product is above the average physical product, the average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physical product will rise.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Times New Roman"/>
                <a:ea typeface="Times New Roman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marginal physical product is below the average physical product the average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physical product will fall. </a:t>
            </a:r>
            <a:endParaRPr lang="ko-KR" altLang="en-US" dirty="0" smtClean="0" sz="1097"/>
          </a:p>
          <a:p>
            <a:pPr marL="0" indent="0" defTabSz="15240" algn="l">
              <a:lnSpc>
                <a:spcPts val="4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5.2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SUPPLY/COSTS (CONTINUED…………..)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population is increasing and output remains constant, then diminishing returns set in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 average per capita production/consumption can be expected to fall ceteris paribus.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is confronted with three more decisions;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Scale of production,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Location, size of industry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Optimum combination of inputs.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Scale of Production: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scale of production (returns to scale) can be increasing, decreasing or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(decreasing) returns to scale arise when a 1% increase in the amount of all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factors employed causes a &gt;1% (&lt;1%) increase in output. Constant returns arise when a 1%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all the factors causes a 1% increase in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Returns to scale and returns to factor are two different concepts, the latter related to the short-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term, the former to the long-term.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returns to scale or (economies of scale) arise if, as firms become bigger and bigger,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costs per unit of output fall. This could be because of larger more efficient plants,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economies, more efficient specialized labour, bulk discounts on purchases etc.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location, size of Decision: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location decision depends upon both the location of raw material suppliers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location of the market. The nature of the product, transportation costs, availability of suitable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land for production, stable power supply and good communications network, availability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qualified and skilled workers, level of wages, the cost of local services and availability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banking and financial facilities are among some other important factors. The size of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industry can lead to external economies and diseconomies of scale.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External Economies and Diseconomies of Scale: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External economies are benefits accruing to any one firm due to actions or the presence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firms. For example, advertising by a rival industry, setting up of credit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bureaus by banks.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example of external diseconomies of scale arising is when, as an industry grows larger,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shortage of specific raw materials or skilled labor occurs, adversely affecting the costs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prospects of all firms in the industry.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Optimum Combination of Factors: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optimum combination of factors will obtain at the point where the marginal physical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 of the last dollar spent on all inputs is equal, i.e.: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MPP</a:t>
            </a:r>
            <a:r>
              <a:rPr lang="en-US" altLang="ko-KR" dirty="0" smtClean="0" sz="701" u="sng" b="1">
                <a:solidFill>
                  <a:srgbClr val="000000"/>
                </a:solidFill>
                <a:latin typeface="Arial"/>
              </a:rPr>
              <a:t>K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  MPP</a:t>
            </a:r>
            <a:r>
              <a:rPr lang="en-US" altLang="ko-KR" dirty="0" smtClean="0" sz="701" u="sng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701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K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           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701" b="1"/>
          </a:p>
          <a:p>
            <a:pPr marL="0" indent="0" defTabSz="15240" algn="l">
              <a:lnSpc>
                <a:spcPts val="1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5.3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SUPPLY/COSTS (CONTINUED…………..)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Isoquant: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isoquant represents different combinations of factors of production that a firm can employ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produce the same 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Isoquants can be used to illustrate the concepts of returns to scale and returns to factor.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Isoquant Map: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Like an indifference map, an isoquant map consists of parallel isoquants that do not intersect.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higher the output level the further to the right an isoquant will be.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Rate of Technical Substitution (MRTS):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slope of an isoquant is called marginal rate of technical substitution (MRTS).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analogous to the term marginal rate of substitution (MRS) in consumer analysis. MRTS is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amount of one factor, e.g. capital, that can be replaced by a 1 unit increase in the other factor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e.g. labor, if output is to be held 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principle of diminishing MRTS is related to the law of diminishing returns. As one moves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 along an isoquant drawn in K-L space, increasing amounts of labor are used relative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capital. Now, given diminishing returns, the MPP of labor will fall relative to the MPP of capital.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Isoquants can be used to illustrate the concepts of returns to scale and returns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factor.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Constant returns to scale: equally spaced isoquants;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Increasing returns to scale: isoquants become closer and closer to each other;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Decreasing returns to scale:  isoquants become further and further apart from each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Diminishing returns to factors can be illustrated by keeping one of the inputs constant (say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capital). Here if there are constant returns to scale, ever increasing increments of labor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required to produce equal increments to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Budget Line: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concept of isocost is similar to the budget line developed in indifference curve analysis.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a line which captures all the different combinations of inputs that the firm can afford to hire.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If price of both inputs increases, the isocost line shifts inwards.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If price of one input increases, it pivots out.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The slope of isocost is PL/PK.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isoquant-isocost combination		can help answer: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What is the least cost way of producing a particular level of output?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What the highest level of output the firm can produce given a certain budget.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either case,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optimal factor combination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obtains at the point of tangency between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relevant iso-cost and iso-quant. </a:t>
            </a:r>
            <a:endParaRPr lang="ko-KR" altLang="en-US" dirty="0" smtClean="0" sz="1097"/>
          </a:p>
          <a:p>
            <a:pPr marL="0" indent="0" defTabSz="15240" algn="l">
              <a:lnSpc>
                <a:spcPts val="1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5.4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SUPPLY/COSTS (CONTINUED…………..)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Economists argue that sunk cost should not be included in a rational person’s decision making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process while opportunity cost should be included.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Variable Cost and Fixed Costs: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which vary with the level of activity (or output) are called variable costs.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which do not vary with the level of activity or output are called fixed costs. In long run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no fixed costs.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an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inverse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relationship between costs and productivity, i.e. as productivity rises,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fall and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 Cost: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cost (TC) is the sum of all fixed and variable costs. It plot as a vertical summation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horizontal line total fixed cost (TFC) curve and the upward sloping total variable cost (TVC)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Average Cost: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cost (AC) is the vertical summation of the AFC &amp; AVC, where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AFC = TFC/Q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AVC = TVC/Q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AC = AFC + AVC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where average fixed cost (AFC) is a downward sloping line as you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dividing a fixed number by an increasing number of output units.  By contrast, average variable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(AVC) first falls as output increases and then rises.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Study of AC is necessary for firms to be able to set the price or (average revenue) at which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will sell. Also they will be interested in knowing how AC is broken down into AFC &amp; AVC.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Relationship between AC and AVC: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Initially, AC falls more rapidly than AVC because AC is a summation of AFC &amp; AVC and since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are falling the effect of two falling curves is greater than the effect of one falling curve.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After the turning point in AVC, both AC and AVC rise but the gap between them narrows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of same reasoning as given above.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Cost: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 is the addition to TC caused by a unit increase in output. More generally: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MC =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TC/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Q.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secret of the shape of the MC curve lies in the law of diminishing marginal returns.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relationship between MC and AC is a reflection of the relationship between MPP &amp; APP.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is: both MC and AC fall in the beginning, then MC starts to rise, cutting AC from below at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latter’s turning point (minima).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long run, the law of diminishing marginal returns does not apply to the extent that it does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short run.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equivalent of constant, increasing and decreasing returns to scale in terms of costs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of scale, diseconomies of scale and constant costs (or constant returns to scale).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In the case of economies of scale, long run total cost (LRTC) is an upward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sloping curve but with falling slope. Note that the slope can never become zero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negative, though.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In diseconomies of scale, LRTC is an upward sloping curve with an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slope.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In constant costs, LRTC is a positively sloped straight line.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Long-Run Average Cost Curve (LRAC):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long-run average cost (LRAC) curve for a typical firm is U shaped.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As a firm expands, it initially experiences economies of scale (due to productive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efficiency, better utilization of resources etc.); in other words it faces a downward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sloping LRAC curve.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After the scale of operation is increased further, however, the firm achieve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 costs i.e., LRAC become flat.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If the firm further increases its scale of operation, diseconomies of scale set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(due to problems with managing a very large organization etc.) and the LRAC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assumes a positive slope.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following assumptions are made while deriving LRAC curves: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of factors are constant, technology is fixed, firms choose that combination of factors 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the MPP of the last dollar spent on each input is equal.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Long-run marginal cost (LRMC):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case a firm is enjoying economies of scale, each incremental unit will cost less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preceding one i.e., LRMC will be falling. The opposite will be true for diseconomies of scale.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case of constant costs, each incremental unit will cost the same, i.e., the LRMC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Relation between SRAC and LRAC curves: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LRAC curve for a firm is actually derived from its SRAC curves. The exact shape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LRAC is a wave connecting the least cost parts of the SRAC curves. In practice however,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LRAC is shown as a smooth U-shaped curve drawn tangent to the SRAC. This is also called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envelope curve. </a:t>
            </a:r>
            <a:endParaRPr lang="ko-KR" altLang="en-US" dirty="0" smtClean="0" sz="1097"/>
          </a:p>
          <a:p>
            <a:pPr marL="0" indent="0" defTabSz="15240" algn="l">
              <a:lnSpc>
                <a:spcPts val="3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5.5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SUPPLY/COSTS (CONTINUED…………..)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REVENUES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Revenues are the sale proceeds that accrue to a firm when it sells the goods it produces;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words they are the cash inflows that the firm received by way of selling its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Total Revenue (TR), Average Revenue (AR) and Marginal Revenue (MR):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revenue (TR), average revenue (AR) and marginal revenue (MR) concepts apply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way as they did to TC, AC and MC.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i. TR = P x Q.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	AR = TR/Q;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 is almost always equal to price unless the firm is engaged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discrimination.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iii. MR =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TR/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Q.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Price-taker and Price-maker Firm: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that does not have the ability to influence market price is a price-taker.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that influences the market price by how much it produces can be called a price-maker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price-setter.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a price taker,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AR=MR=P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In this case TR is a straight line from the origin. The demand (or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AR) curve the firm faces is a horizontal line.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price maker faces a downward sloping demand (or AR) curve i.e., it can’t sell more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reducing price. But this means lowering the price for all units, not just the extra units it hopes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sell.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demand faced by a price maker is elastic, when MR is positive and therefore TR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 due to a decrease in price. Demand is inelastic when MR is negative, and therefore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 falls due to a decrease in price.  </a:t>
            </a:r>
            <a:endParaRPr lang="ko-KR" altLang="en-US" dirty="0" smtClean="0" sz="1097"/>
          </a:p>
          <a:p>
            <a:pPr marL="0" indent="0" defTabSz="15240" algn="l">
              <a:lnSpc>
                <a:spcPts val="35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5.6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BACKGROUND TO SUPPLY/COSTS (CONTINUED…………..)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PROFIT MAXIMISATION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Economists say that when firms earn zero accounting profits, they actually earn normal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profits because TC already includes the normal profits that owners of the firms need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themselves to stay in the business. Positive profits are, for this reason, called supernormal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as they are over and above what the owners normally require as a return for their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entrepreneurship.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Approaches of Profit Maximization: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maximization can be studied using the TR-TC approach and the MR-MC approach.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In the TR-TC approach it is assumed that firm is price maker and firm is operating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short run. Total profit is the vertical distance between TR and TC.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In the MR-MC approach, two steps are followed to identify maximum profit. First: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profit-maximizing output is identified – this is the point where MR cuts MC.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Second: the size of maximum profit is calculated using AC and AR curves.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MR &amp; AR remain same over the long run, then the profit maximizing output will be obtained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MR intersects LRMC.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AC is always above AR, then firms will never be able to make a profit. In this case, the point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MR=MC, represents the loss-minimizing point.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MC and MR intersect at two points, not one, then Firms should produce at that point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intersection of MR and MC beyond which, MC exceeds MR.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a firm’s AR is below its AVC, it will shut down since it is not covering any part of its fixed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Profit maximization using calculus: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total revenue (TR) and total cost equation are given as follows: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 = 48q – q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TC = 12 + 16q + 3Q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we can find out the value of output at which profit is maximized as under: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u="sng">
                <a:solidFill>
                  <a:srgbClr val="000000"/>
                </a:solidFill>
                <a:latin typeface="Arial"/>
              </a:rPr>
              <a:t>Solution: </a:t>
            </a:r>
            <a:endParaRPr lang="ko-KR" altLang="en-US" dirty="0" smtClean="0" sz="1097" u="sng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 is maximized at the point where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MC = MR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function can be found by taking derivative of total cost function. i.e.: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= d TC / dQ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= 16 + 6Q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function can be found by taking derivative of total revenue (TR) function i.e.: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= d TR / dQ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= 48 – 2Q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As profit is maximized at the point where MR = MC, so by equating values of MC and MR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function, we get,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MR =MC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16 + 6Q = 48 – 2Q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6Q + 2Q = 48 – 16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8Q = 32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 = 4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equation for total profit is,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Tñ = TR – TC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= 48Q –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 (12 + 16Q + 3Q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= 48Q – 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– 12 – 16Q – 3Q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 = -4Q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+ 32Q – 12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Putting Q = 4, we get,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Tñ = - 4(4)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+ 32 (4) – 12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    = -64 + 128 - 12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Tñ = 52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 profit is maximized where output is 4 and the maximum profit is 52. </a:t>
            </a:r>
            <a:endParaRPr lang="ko-KR" altLang="en-US" dirty="0" smtClean="0" sz="1097"/>
          </a:p>
          <a:p>
            <a:pPr marL="0" indent="0" defTabSz="15240" algn="l">
              <a:lnSpc>
                <a:spcPts val="3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5 -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will the length of the short run for a shipping company depend on the state of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shipbuilding industry?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shipbuilding industry is in recession, the short run (and the long run) may be shorter. 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take less time to acquire a new ship if there is no waiting list, or if there are already ships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available to purchase (with perhaps only minimal modifications necessary).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Up to roughly how long is the short run in the following cases?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(a) A mobile ice-cream firm. (b) A small grocery. (c) Electricity power generation.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2-3 days: the time necessary to acquire new bicycles, equipment and workers.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Several weeks: the time taken to acquire additional premises.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3-5 years: the time taken to plan and build a new power station.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you advise the naanwaala (bread-maker) next door as to whether he should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(a) employ an extra assistant on a Sunday (which is a high demand day); (b) extend his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shop, thereby allowing more customers to be served on a Sunday?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If maximizing profit is the sole aim, then he should employ an additional assistant if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extra revenue from the extra customers that the assistant can serve is greater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of employing the assistant.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Only if the extra revenue from the extra customers will more than cover the costs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extension plus the extra staffing.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Given that there is a fixed supply of land in the world, what implications can you draw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from about the effects of an increase in world population for food output per head?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things being equal, diminishing returns would cause food output per head to decline (a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declining MPP and APP of labour).  This, however, would be offset (partly, completely or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completely) by improvements in agricultural technology and by increased amounts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devoted to agriculture: this would have the effect of shifting the APP curve upwards.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following are some costs incurred by a shoe manufacturer.  Decide whether each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one is a fixed cost or a variable cost or has some element of both.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(a) The cost of leather. (b) The fee paid to an advertising agency. (c) Wear and tear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machinery. (d) Business rates on the factory. (e) Electricity for heating and lighting. (f)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Electricity for running the machines. (g) Basic minimum wages agreed with the union.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(h) Overtime pay. (i) Depreciation of machines as a result purely of their 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(irrespective of their condition).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Variable.  (b) Fixed (unless the fee negotiated depends on the success of the campaign).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(c) Variable (the more that is produced, the more the wear and tear).  (d) Fixed.  (e) Fixed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factory will be heated and lit to the same extent irrespective of output, but variable if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amount of heating and lighting depends on the amount of the factory in operation, which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turn depends on output.  (f) Variable.  (g) Variable (although the basic wage is fixed per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worker, the cost will still be variable because the total cost will increase with output if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number of workers is increased).  (h) Variable.  (i) Fixed (because it does not depend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a firm has 5 identical machines, each operating independently.  Assume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that with all 5 machines operating normally, 100 units of output are produced each day.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Below what level of output will AVC and MC rise?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 units. Below this level, the one remaining machine left in operation will begin to operate at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below its optimum.  (Note that with 5 machines producing 100 units of output, minimum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AVC could be achieved at 100, 80, 60, 40 and 20 units of output, but between these levels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 machines may be working at less than their optimum and some at more than their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optimum. Thus if the optimum level for a machine is critical, then the AVC curve may look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‘wavy’ rather than a smooth line.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the minimum point of the AVC curve (y) at a lower level of output than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minimum point of the AC curve (z)?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between points y and z marginal cost is above AVC (and thus AVC must be past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minimum point) but below AC (and thus AC cannot yet have reached the minimum point).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 though AVC is rising beyond point y, the fall in AFC initially more than offsets the rise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AVC and thus AC still falls.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economies of scale is a large department store likely to experience?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Specialized staff for each department (saving on training costs and providing a more efficient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 for customers); being able to reallocate space as demand shifts from one product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another and thereby reducing the overall amount of space required; full use of large delivery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lorries which would be able to carry a range of different products; bulk purchasing discounts;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reduced administrative overheads as a proportion of total costs.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are firms likely to experience economies of scale up to a certain size and then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diseconomies of scale after some point beyond that?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economies of scale, given that most arise from increasing returns to scale,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fully realized after a certain level of output, whereas diseconomies of scale, given that they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largely arise from the managerial problems of running large organizations, are only likely to set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beyond a certain 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is the opening up of trade and investment between, say eastern and western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Europe, likely to affect the location of industries within Europe that have (a) substantial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economies of scale; (b) little or no economies of scale?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Given that production will take place in only one or two plants, new plants will tend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located near to the centre of the new enlarged European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Plants will still tend to be scattered round Europe, given that the customers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scattered.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These effects will be the result of attempts to minimize transport costs and thus will be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significant the higher are transport costs per kilometer.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Name some industries where external economies of scale are gained.  What are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specific external economies in each case?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examples are: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services: pool of qualified and experienced labour, access to specialist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software, one firm providing specialist services 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Various parts of the engineering industry: pool of qualified and experienced labour,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access to specialist suppliers, possible joint research, specialized banking 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you expect external economies to be associated with the concentration of 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industry in a particular region?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There may be a common transport and communications infrastructure that can be used;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likely to be a pool of trained and experienced labour in the area; joint demand may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 enough to allow economies of scale to be experienced in the supply of some locally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extracted raw material.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factor X costs twice as much as factor Y (Px/Py = 2), what can be said about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relationship between the MPPs of the two factors if the optimum combination of factors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used?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MPPx/MPPy = 2.  The reason is that if MPPx/Px = MPPy/Py, then, by rearranging the terms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equation, MPPx/MPPy must equal Px/Py (= 2).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49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isoquants ever cross?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for a given state of technology, otherwise it would mean that at one side of the intersection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higher output isoquant would be ‘south-west’ of the lower output isoquant.  This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mean that a higher output could be achieved by using less of both factors of production!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they ever slope upward to the right?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It would mean that one of the two factors had a negative marginal productivity that was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greater than the positive marginal productivity of the other: i.e. that MPPa/MPPb (or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MPPb/MPPa) was negative (a negative marginal rate of factor substitution).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situation will occur when so much is used of one factor that diminishing returns have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so great as to produce substantial negative marginal productivity:  isoquants will bend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back on themselves beyond the points where they become vertical or horizontal.  The firm,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will not produce along this portion of an isoquant, because the price ratio (Pa/Pb)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(virtually) never be 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happen to an isocost if the prices of both factors rise by the same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percentage?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will shift inwards parallel to the old isocost.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 the prices of cattle and sheep prices fall so drastically “on”, or just “after”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first day of Eid-ul-Azha?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supply curve for cattle and sheep is fixed in the short-run, i.e. a vertical supply curve,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 price will be determined by demand.  Since demand for “cattle for sacrifice” falls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drastically after or on the first day of Eid-ul-Azha, the price has to come down drastically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well for the market to clear.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Explain the shape of the LRMC curve for a firm with a typical U-shaped LRAC curve.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first economies of scale cause the LRMC to fall.  Then because of (marginal) diseconomies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scale, additional units of production begin to cost more to produce than previous units: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LRMC begins to slope upwards.  But the LRAC is still falling because the LRMC is below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pulling it down.  It is not until the LRMC crosses the LRAC that the firm will experience a rising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LRAC and hence average diseconomies of scale.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the “envelope curve” be tangential to the bottom of each of the short-run average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 curves?  Explain why it should or should not be.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At the tangency points the two curves must have the same slope. Thus the slope 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tangency point is not zero (the slope at the turning point or minima of the SRAC curves).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the isoquant map look like if there were (a) continuously increasing returns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scale; (b) continuously decreasing returns to scale?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isoquants would get progressively closer and closer together.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The isoquants would get progressively further and further apart.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can we say about the slope of the TR and TC curves at the maximum profit point?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does this tell us about marginal revenue and marginal cost?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slopes are the same.  But given that the slope of the total curve gives the respective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marginal, this means that marginal revenue will be equal to marginal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10970" y="960120"/>
            <a:ext cx="4813300" cy="34258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30680" y="4754880"/>
            <a:ext cx="4766945" cy="34988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Fill in the missing figures in the table below.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</a:t>
            </a:r>
            <a:endParaRPr lang="ko-KR" altLang="en-US" dirty="0" smtClean="0" sz="1097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12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14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36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56 </a:t>
            </a:r>
            <a:endParaRPr lang="ko-KR" altLang="en-US" dirty="0" smtClean="0" sz="1097"/>
          </a:p>
          <a:p>
            <a:pPr marL="0" indent="0" defTabSz="15240"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P = AR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–2  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4.3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1.3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0.5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–1  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–2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9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–18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–3  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–4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16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–42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–6  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should the figures for MR and MC be entered in the spaces between the lines?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marginal revenue (or cost) is the extra revenue (or cost) from moving from one		quantity 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another. </a:t>
            </a:r>
            <a:endParaRPr lang="ko-KR" altLang="en-US" dirty="0" smtClean="0" sz="1097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51</a:t>
            </a:r>
            <a:endParaRPr lang="ko-KR" altLang="en-US" dirty="0" smtClean="0" sz="1200"/>
          </a:p>
        </p:txBody>
      </p:sp>
      <p:sp>
        <p:nvSpPr>
          <p:cNvPr id="117" name="Rect 3"/>
          <p:cNvSpPr>
            <a:spLocks noGrp="1" noChangeArrowheads="1"/>
          </p:cNvSpPr>
          <p:nvPr/>
        </p:nvSpPr>
        <p:spPr>
          <a:xfrm rot="0">
            <a:off x="2541905" y="981710"/>
            <a:ext cx="3618865" cy="170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</a:t>
            </a: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endParaRPr lang="ko-KR" altLang="en-US" dirty="0" smtClean="0" sz="1097"/>
          </a:p>
        </p:txBody>
      </p:sp>
      <p:sp>
        <p:nvSpPr>
          <p:cNvPr id="118" name="Rect 3"/>
          <p:cNvSpPr>
            <a:spLocks noGrp="1" noChangeArrowheads="1"/>
          </p:cNvSpPr>
          <p:nvPr/>
        </p:nvSpPr>
        <p:spPr>
          <a:xfrm rot="0">
            <a:off x="2078990" y="1136650"/>
            <a:ext cx="254000" cy="165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 i="1">
                <a:solidFill>
                  <a:srgbClr val="000000"/>
                </a:solidFill>
                <a:latin typeface="Arial"/>
              </a:rPr>
              <a:t>AR </a:t>
            </a:r>
            <a:endParaRPr lang="ko-KR" altLang="en-US" dirty="0" smtClean="0" sz="1097" i="1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8050" y="2840990"/>
            <a:ext cx="5499100" cy="95694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08050" y="3794760"/>
            <a:ext cx="1828800" cy="5549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36850" y="3794760"/>
            <a:ext cx="3670300" cy="55499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08050" y="4346575"/>
            <a:ext cx="1828800" cy="5543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736850" y="4346575"/>
            <a:ext cx="3670300" cy="5543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08050" y="4898390"/>
            <a:ext cx="1828800" cy="5543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736850" y="4898390"/>
            <a:ext cx="3670300" cy="55435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08050" y="5452745"/>
            <a:ext cx="5499100" cy="38735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are given the following information for a firm.  </a:t>
            </a:r>
            <a:endParaRPr lang="ko-KR" altLang="en-US" dirty="0" smtClean="0" sz="1097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Q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7 </a:t>
            </a:r>
            <a:endParaRPr lang="ko-KR" altLang="en-US" dirty="0" smtClean="0" sz="94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P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4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947" i="1">
                <a:solidFill>
                  <a:srgbClr val="000000"/>
                </a:solidFill>
                <a:latin typeface="Arial"/>
              </a:rPr>
              <a:t>TC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38 </a:t>
            </a:r>
            <a:endParaRPr lang="ko-KR" altLang="en-US" dirty="0" smtClean="0" sz="94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Construct a detailed table like the one you constructed in the earlier question with TR, AC,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MR, TC, AC, MC, T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and A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. Use your table to draw “two” diagrams (one with the marginal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 and cost curves, and one with the total (or average) revenue and cost curves)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 them to show the “profit-maximising output” and the “level of maximum profit”,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respectively.  Confirm your findings by reference to the table you construct.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 Q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P = AR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TR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MR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TC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MC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900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</a:t>
            </a:r>
            <a:r>
              <a:rPr lang="en-US" altLang="ko-KR" dirty="0" smtClean="0" sz="900" i="1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900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–2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20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4.5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5.5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9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4.2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2.8 </a:t>
            </a:r>
            <a:endParaRPr lang="ko-KR" altLang="en-US" dirty="0" smtClean="0" sz="9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7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28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4.7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1.3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–1  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10 </a:t>
            </a:r>
            <a:endParaRPr lang="ko-KR" altLang="en-US" dirty="0" smtClean="0" sz="900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7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38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5.4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"/>
              </a:rPr>
              <a:t>–0.4  </a:t>
            </a:r>
            <a:endParaRPr lang="ko-KR" altLang="en-US" dirty="0" smtClean="0" sz="900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curves will be a similar shape to those discussed in the lecture, and included in the slides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handout. The peak of the T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curve will be at Q = 4.  This will be the output where MR and MC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intersect.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the size of normal ‘profit’ vary with the general state of the economy?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80"/>
                </a:solidFill>
                <a:latin typeface="Arial"/>
              </a:rPr>
              <a:t>Yes.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Normal profit is the rate of profit that can be earned elsewhere (in industries involving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 level of risk). When the economy is booming, profits will normally be higher than when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 is in recession.  Thus the ‘normal’ profit that must be earned in any one industry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be higher to prevent capital being attracted to other industries.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Given the following equations: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 = 72Q – 2Q²; TC = 10 + 12Q + 4Q²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Calculate the maximum profit output and the amount of profit at that output using both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methods.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T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= 72Q – 2Q² – 10 – 12Q – 4Q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–10 + 60Q – 6Q²         (1)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dT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/dQ = 60 – 12Q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Setting this equal to zero gives: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60 – 12Q = 0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12Q = 60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∴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 Q = 5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(b) MR = dTR/dQ = 72 – 4Q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MC = dTC/dQ = 12 + 8Q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Setting MR equal to MC gives: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72 – 4Q = 12 + 8Q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12Q = 60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∴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							Q = 5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find the level of maximum profit, we must substitute Q = 5 into equation (1). This gives: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Π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= –10 + (60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5) – (6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5²)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–10 + 300 – 150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= Rs. 140 </a:t>
            </a:r>
            <a:endParaRPr lang="ko-KR" altLang="en-US" dirty="0" smtClean="0" sz="1097" b="1"/>
          </a:p>
          <a:p>
            <a:pPr marL="0" indent="0" defTabSz="15240" algn="l">
              <a:lnSpc>
                <a:spcPts val="49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9930" y="5452745"/>
            <a:ext cx="875030" cy="5302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81785" y="5452745"/>
            <a:ext cx="649605" cy="5302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231390" y="5452745"/>
            <a:ext cx="835025" cy="5302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066415" y="5452745"/>
            <a:ext cx="1054735" cy="5302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117975" y="5452745"/>
            <a:ext cx="1090930" cy="5302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08905" y="5452745"/>
            <a:ext cx="1396365" cy="53022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09930" y="5982970"/>
            <a:ext cx="875030" cy="41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581785" y="5982970"/>
            <a:ext cx="649605" cy="41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31390" y="5982970"/>
            <a:ext cx="835025" cy="41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66415" y="5982970"/>
            <a:ext cx="1054735" cy="41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4117975" y="5982970"/>
            <a:ext cx="1090930" cy="41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208905" y="5982970"/>
            <a:ext cx="1396365" cy="41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709930" y="6403975"/>
            <a:ext cx="875030" cy="6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581785" y="6403975"/>
            <a:ext cx="649605" cy="6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231390" y="6403975"/>
            <a:ext cx="835025" cy="6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3066415" y="6403975"/>
            <a:ext cx="1054735" cy="6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4117975" y="6403975"/>
            <a:ext cx="1090930" cy="6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5208905" y="6403975"/>
            <a:ext cx="1396365" cy="670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709930" y="7074535"/>
            <a:ext cx="875030" cy="887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581785" y="7074535"/>
            <a:ext cx="649605" cy="887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2231390" y="7074535"/>
            <a:ext cx="835025" cy="887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3066415" y="7074535"/>
            <a:ext cx="1054735" cy="887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5" cstate="print"/>
          <a:stretch>
            <a:fillRect/>
          </a:stretch>
        </p:blipFill>
        <p:spPr>
          <a:xfrm>
            <a:off x="4117975" y="7074535"/>
            <a:ext cx="1090930" cy="887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6" cstate="print"/>
          <a:stretch>
            <a:fillRect/>
          </a:stretch>
        </p:blipFill>
        <p:spPr>
          <a:xfrm>
            <a:off x="5208905" y="7074535"/>
            <a:ext cx="1396365" cy="88709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709930" y="7967345"/>
            <a:ext cx="875030" cy="9264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1581785" y="7967345"/>
            <a:ext cx="649605" cy="9264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29" cstate="print"/>
          <a:stretch>
            <a:fillRect/>
          </a:stretch>
        </p:blipFill>
        <p:spPr>
          <a:xfrm>
            <a:off x="2231390" y="7967345"/>
            <a:ext cx="835025" cy="9264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30" cstate="print"/>
          <a:stretch>
            <a:fillRect/>
          </a:stretch>
        </p:blipFill>
        <p:spPr>
          <a:xfrm>
            <a:off x="3066415" y="7967345"/>
            <a:ext cx="1054735" cy="9264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31" cstate="print"/>
          <a:stretch>
            <a:fillRect/>
          </a:stretch>
        </p:blipFill>
        <p:spPr>
          <a:xfrm>
            <a:off x="4117975" y="7967345"/>
            <a:ext cx="1090930" cy="926465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8"/>
          <p:cNvPicPr>
            <a:picLocks noChangeAspect="1"/>
          </p:cNvPicPr>
          <p:nvPr/>
        </p:nvPicPr>
        <p:blipFill>
          <a:blip r:embed="rId32" cstate="print"/>
          <a:stretch>
            <a:fillRect/>
          </a:stretch>
        </p:blipFill>
        <p:spPr>
          <a:xfrm>
            <a:off x="5208905" y="7967345"/>
            <a:ext cx="1396365" cy="92646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6.1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STRUCTURES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structure refers to how an industry (broadly called market) that a firm is operating in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structured or organized.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key ingredients of any market structure are: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Number of firms in the market/industry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Extent of barriers to entry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Nature of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Degree of control over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Knowledge about market structure can help answer four questions: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How much profit a firm will make (normal or supernormal)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How much quantity it will produce at its profit-maximisation point (i.e. whether it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a large level of output or a small one relative to the market)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Whether or not a higher level of output would increase the cost or productive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efficiency of the firm or allocative efficiency for society (see the summary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for details)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Are the prices set too high, too low, or just right?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Four broad market structures have been identified by economists: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Monopolistic competition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Oligopoly. </a:t>
            </a:r>
            <a:endParaRPr lang="ko-KR" altLang="en-US" dirty="0" smtClean="0" sz="1097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Type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Number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Freedom of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Nature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firms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entry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Unrestricted Homogenous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Grains (wheat) or Horizontal; firm is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(undifferentiated)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vegetables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taker </a:t>
            </a:r>
            <a:endParaRPr lang="ko-KR" altLang="en-US" dirty="0" smtClean="0" sz="1097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but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Monopolistic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/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Several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Oligopoly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Cartel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Differentiated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Restricted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completely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Unique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blocked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 price </a:t>
            </a:r>
            <a:endParaRPr lang="ko-KR" altLang="en-US" dirty="0" smtClean="0" sz="1097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54</a:t>
            </a:r>
            <a:endParaRPr lang="ko-KR" altLang="en-US" dirty="0" smtClean="0" sz="1200"/>
          </a:p>
        </p:txBody>
      </p:sp>
      <p:sp>
        <p:nvSpPr>
          <p:cNvPr id="125" name="Rect 3"/>
          <p:cNvSpPr>
            <a:spLocks noGrp="1" noChangeArrowheads="1"/>
          </p:cNvSpPr>
          <p:nvPr/>
        </p:nvSpPr>
        <p:spPr>
          <a:xfrm rot="0">
            <a:off x="4130040" y="7275830"/>
            <a:ext cx="2460625" cy="4749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Cement, cars,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relatively inelastic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electrical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depends on reactions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appliance, oil.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rivals to  a price </a:t>
            </a:r>
            <a:endParaRPr lang="ko-KR" altLang="en-US" dirty="0" smtClean="0" sz="1097"/>
          </a:p>
        </p:txBody>
      </p:sp>
      <p:sp>
        <p:nvSpPr>
          <p:cNvPr id="126" name="Rect 3"/>
          <p:cNvSpPr>
            <a:spLocks noGrp="1" noChangeArrowheads="1"/>
          </p:cNvSpPr>
          <p:nvPr/>
        </p:nvSpPr>
        <p:spPr>
          <a:xfrm rot="0">
            <a:off x="3075305" y="6577330"/>
            <a:ext cx="3555365" cy="20821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Plumbers,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relatively elastic; firm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restaurants 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some control over </a:t>
            </a:r>
            <a:endParaRPr lang="ko-KR" altLang="en-US" dirty="0" smtClean="0" sz="1097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Undifferentiated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2. </a:t>
            </a:r>
            <a:endParaRPr lang="ko-KR" altLang="en-US" dirty="0" smtClean="0" sz="1097"/>
          </a:p>
          <a:p>
            <a:pPr marL="0" indent="0" defTabSz="15240" algn="l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inelastic than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oligopoly; firm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considerable control </a:t>
            </a:r>
            <a:endParaRPr lang="ko-KR" altLang="en-US" dirty="0" smtClean="0" sz="1097"/>
          </a:p>
        </p:txBody>
      </p:sp>
      <p:sp>
        <p:nvSpPr>
          <p:cNvPr id="127" name="Rect 3"/>
          <p:cNvSpPr>
            <a:spLocks noGrp="1" noChangeArrowheads="1"/>
          </p:cNvSpPr>
          <p:nvPr/>
        </p:nvSpPr>
        <p:spPr>
          <a:xfrm rot="0">
            <a:off x="1593850" y="5486400"/>
            <a:ext cx="4920615" cy="3093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Implication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Examples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curve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firm</a:t>
            </a:r>
            <a:endParaRPr lang="ko-KR" altLang="en-US" dirty="0" smtClean="0" sz="1097" b="1"/>
          </a:p>
          <a:p>
            <a:pPr marL="0" indent="0" defTabSz="15240" algn="l"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Unrestricted Differentiated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Few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Restricted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 </a:t>
            </a:r>
            <a:endParaRPr lang="ko-KR" altLang="en-US" dirty="0" smtClean="0" sz="1097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WAPDA,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KESC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PERFECT COMPETITION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main assumptions of perfect competition are: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Large number of buyers and sellers, therefore firms price-takers.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No barriers to entry (also implies free mobility of factors of production).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Identical/homogeneous products.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Perfect information/knowledge.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word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perfect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 perfect competition is not used its normative sense. Rather it means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competition in the industry is of an extreme nature. It is used as a benchmark with which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compare other types of market structures.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 competition can be thought of as an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extreme form of capitalism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i.e. all the firms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fully subject to the market forces of demand and supply.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Concentration ratio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used to assess the level of competition in an industry. It is simply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percentage of total industry output that is produced by the 5 largest firms in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Short Run and Long Run under Perfect Competition: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short run is the period where at least one factor of production is fixed. In perfect competition,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also means that no new firms can enter the market. In the long run, all the factors of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variable.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analysis can help us answer questions about the market-clearing price and quantity;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the profits are maximized and how much are these profits; how individual firms make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 run supply decisions and how these translate into the long-run industry supply curve.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short run, a perfectly competitive firm can settle at an equilibrium where it is making super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normal profits, normal profits, loss, or where it decides to shut down.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short run, the firm’s supply curve is identical to the positive part of MC. The short run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industry supply curve is simply the horizontal summation of the supply curves of individual firms.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demand (or AR) curve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the industry is downward sloping but for any individual perfectly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competitive firm, is horizontal. Thus the firm can sell as much at the given market price. For this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reason, the AR and MR curves align under perfect competition.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long run, any firm can enter or leave the industry. If there are supernormal profits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 run, more firms will be attracted to the market and the increase in supply will push prices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 to eliminate supernormal profit possibilities in the long run. By contrast, if firms are making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losses in the short run, they will leave the industry in the long run causing supply to fall, prices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 and normal profitability to be restored. In the long run, therefore, perfectly competitive firms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 only earn normal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Allocative Efficiency and Productive Efficiency: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Public interest is concerned with both allocative efficiency and productive efficiency.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Allocative efficiency: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optimal point of production for any individual firm is where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MR=MC. The optimal point of production for any society is where price is equal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cost.  This is called the point of maximum allocative efficiency and is achieved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perfect competition (because MR=MC, and MR=AR=P for a perfectly competitive price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taking firm, therefore P=MC).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Productive efficiency: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This is attained when firms produce at the bottom of their AC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curves, that is, goods are produced in the most cost efficient manner. Perfectly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competitive firms also achieve this in the long run because they produce at P=MC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intersection point also happens to be the point of tangency with the lowest part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 curve. Thus P= ACminimum. </a:t>
            </a:r>
            <a:endParaRPr lang="ko-KR" altLang="en-US" dirty="0" smtClean="0" sz="1097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6.2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STRUCTURES (CONTINUED………..)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defines the other pole or extreme of the market structure spectrum. Usually refers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situation where there is a single producer in the market. However it actually depends upon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narrowly you define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Economists are often interested in how much monopoly power any firm (not necessarily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monopoly) has. Here monopoly stands for the extent to which the firm can raise prices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driving away all it customers. In other words, monopoly power and price elasticity of demand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inversely related.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Profit maximization under monopoly: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The profit maximizing or best level of output is given where MR=MC. Price is 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read off the demand curve which is downward sloping. Note however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difference with perfect competition, where the firm’s demand curve was horizontal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not downward sloping like the industry. IN a monopoly, however, the firm “is”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industry and therefore faces the same demand curve as the industry (a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one).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Depending upon the level of AC at the point where MR=MC, the monopolist might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earn supernormal profits, breaking even or minimizing short run losses.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Price is greater than MR in equilibrium. Therefore price is not equal to MC.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such, therefore, the supply curve for the firm is not the rising part of the MC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monopolist can make supernormal profits even in long run because there is no easy entry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other firms as in the case of perfect competition. So a monopolist can maintain her high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even in the long run.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can a monopolist retain its monopoly?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These can be due to “natural” reasons or “active policies” pursued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monopolist.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Large initial fixed costs may be involved which makes it prohibitive for others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enter.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Natural monopoly experiences economies of scale as its operation becomes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bigger and bigger and therefore it is cost-effective for only one single firm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producing for the entire economy, rather than two or more firms.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Product differentiation or brand loyalty.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v. Active pricing strategies (limit pricing: charging a price below a potential entrant’s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 to drive him out or discourage him from entering).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vi. The “threat of takeover” by the monopolist sometimes prevents other firms from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entering.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vii. The monopolist controls the supply of key factors of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viii. The monopolist produces a product which no one else can imitate, i.e.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protected by patents or copyrights.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Monopolies and the public interest: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a. Disadvantages of monopolies: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Monopolists produce lower quantities at higher prices compared to perfectly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competitive firms. This is because monopolists do not produce where P=MC (the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point of allocative efficiency) nor at P= ACminimum (the point of cost efficiency).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Monopolists earn supernormal profits compared to perfectly competitive firms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Most of the “surplus” (producer + consumer surplus) accrues to monopolists.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Monopolists do not pay sufficient attention to increasing efficiency in their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processes.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b. Advantages of monopolies: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Natural Monopolies are beneficial and efficient for society.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Supernormal or monopoly profits can be invested in R&amp;D, development of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innovative products and to sustain a price war when breaking into new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c. Government regulation: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government can regulate monopolies so as to ensure that they set a price where the AR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intersects the MC curve. This will ensure allocative efficiency. It might not be possible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ensure that productive efficiency is attained as well because it is not necessary for the AR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to intersect MC at the ACminimum. Also, in setting AR (or P) = MC, the economist might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make a loss in which case the government would have to provide a subsidy. If the monopolist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makes a profit then a tax is warranted. Due to difficulties with implementing subsidies,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governments sometimes regulate monopolies at the point where the AR curve intersects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 curve. This often takes the monopolist reasonably close to the allocative and productive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efficiency points without necessitating a tax or a subsidy. </a:t>
            </a:r>
            <a:endParaRPr lang="ko-KR" altLang="en-US" dirty="0" smtClean="0" sz="1097"/>
          </a:p>
          <a:p>
            <a:pPr marL="0" indent="0" defTabSz="15240" algn="l">
              <a:lnSpc>
                <a:spcPts val="49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6.3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STRUCTURES (CONTINUED………..)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DISCRIMINATION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discrimination (PD) happens when a producer charges different prices for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 to different customers.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Types of Price Discrimination: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PD can be of three types: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1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degree (everyone charged according to what he can pay),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2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nd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degree (different prices charged to customers who purchase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quantities) and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3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rd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degree (different prices to customers in different markets).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Consequences of PD: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PD can allow firms making losses to make profits, firms to increase their supernormal profits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make supernormal profits; allow goods to be produced that would otherwise not be produced.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pre-requisites of price discrimination are: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That markets should be independent (it should not be possible for the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customers to arbitrage the price differences in the market).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Firms should have the flexibility to price discriminate (i.e. should have some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control over prices, so perfect competition ruled out).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Price elasticity of demand for different customers should be different.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discrimination can be both,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beneficial or harmful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for public interest depending on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number of factors (equity or fairness concerns, the production of goods otherwise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produced, the use to which price-discriminating firms put their supernormal profits to, etc.).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MONOPOLISTIC COMPETITION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Monopolistic competition is also characterized by a large number of buyers and sellers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absence of entry barriers. In these two respects it is like perfect competition. Firms are price-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takers but not in the extreme sense of perfect competition.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Products are differentiated and in this respect, it is different from perfect competition.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 run and Long run under Monopolistic Competition: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short run, super normal profits are possible, but, in long run only normal profits can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earned. Equilibrium obtains where the AR curve becomes tangent to the AC curve. Public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depends upon the position of AC at the point of tangency. If the AR curve is steep then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point of tangency will produce an output that will be well to the left of right the point where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P= MC or P=AC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minimum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products are differentiated, there is room and rationale for advertising and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promotion. </a:t>
            </a:r>
            <a:endParaRPr lang="ko-KR" altLang="en-US" dirty="0" smtClean="0" sz="1097"/>
          </a:p>
          <a:p>
            <a:pPr marL="0" indent="0" defTabSz="15240" algn="l">
              <a:lnSpc>
                <a:spcPts val="1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6.4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STRUCTURES (CONTINUED………..)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OLIGOPOLY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 to monopoly in the sense that there are a small number of firms (about 2-20)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and, as such, barriers to entry exist.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Similarity of Oligopoly with other Market Structures: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similar to perfect competition in the sense that firms compete with each other, often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feverishly, which may result in prices very similar to those that would obtain under perfect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similar to monopolistic competition since there is a possibility of having differentiated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Strategic interaction: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differs from other forms of competition in that the strategy of each oligopolistic firm depends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action/reaction of other firms in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also differs from all other forms in that it is not possible to identify a single equilibrium.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Collusion: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Collusion occurs when two or more firms decide to cooperate with each other in the setting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and/or quantities.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collude in order to maximize the profits of the industry as a whole by behaving like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single firm. In doing so, they try to increase their individual profits. Often there is a tension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these two goals ad this can lead to collusion to break down.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collusive oligopoly (or cartel) can be formed by deciding upon market shares, advertising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expenses, prices to be charged (identical or different) or production quotas.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Cartel: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cartel is most likely to survive when the number of firms is small, there is openness among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regarding their production processes; the product is homogeneous; there is a large firm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acts as price leader; industry is stable; government’s strictness in implementing anti-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trust (or anti-collusion) laws.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Govt. regulations are helpless against internationally operational cartels or when collusion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tacit (or hidden) not explicit.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Break down of Collusive Oligopoly: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collusive oligopoly (say based on production quotas) is likely to break down when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incentive to cheat is very high. This can arise, for instance, in a situation where there is a lure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very high profits so that individual firms cheat on their quota and try to increase output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profits. But this causes everyone else to do the same and therefore supply soars and prices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tumble producing in effect a non-collusive oligopoly.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incentive to collude becomes strong for members of a non-collusive oligopoly when firms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not making good profits. Thus oligopolies usually oscillate between collusive and non-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collusive equilibria.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Prisoner’s Dilemma Situation: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prisoner’s dilemma situation for oligopolistic firms arises when 2 or more firms by attempting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independently to choose the best strategy anticipation of whatever the others are likely to do,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end up in a worse position than if they had cooperated in the first place. </a:t>
            </a:r>
            <a:endParaRPr lang="ko-KR" altLang="en-US" dirty="0" smtClean="0" sz="1097"/>
          </a:p>
          <a:p>
            <a:pPr marL="0" indent="0" defTabSz="15240" algn="l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59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Maximin and Maximax strategies: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Maximin strategy is a cautious (pessimistic) approach in which firms try to maximize the worst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payoff they can make. A maximax strategy involves choosing the strategy which maximizes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maximum payoff (optimistic).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Kinked Demand Curve: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kinked demand curve explains the “stickiness” of the prices in oligopolistic markets.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main insight is that if one firm raises prices, no one else will and so the firm will face declining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revenues (elastic demand). However if one firm lowered its price, everyone else would lower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prices as well and everyone’s revenues, including the first firm’s revenues would fall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(inelastic demand).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Non Price Competition: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Non price competition means competition amongst the firms based on factors other than price,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e.g. advertising expenditures. </a:t>
            </a:r>
            <a:endParaRPr lang="ko-KR" altLang="en-US" dirty="0" smtClean="0" sz="1097"/>
          </a:p>
          <a:p>
            <a:pPr marL="0" indent="0" defTabSz="15240" algn="l">
              <a:lnSpc>
                <a:spcPts val="5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6 -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two examples of markets which fall into each of the following categories.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 competition: grains; foreign exchange.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Monopolistic competition: taxis; van hire, restaurants.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Oligopoly: (homogeneous) white sugar; (differentiated) soap; banks.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Monopoly: WAPDA (electricity transmission); local bus company on specific routes.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you expect general building contractors and restaurant owners to have the same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degree of control over price?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things being equal, restaurant owners are likely to produce a more differentiated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product/service than general builders (as opposed to specialist builders), and are thus likely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face a less elastic demand.  This gives them more control over price.  Note, however,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control over price depends on the degree of competition a firm faces.  If, therefore, there were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only a few builders in a given town, but many restaurants, the above arguments may not hold.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It is sometimes claimed that the market for the stocks/ shares of a company is perfectly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competitive, or nearly so.  Go through the four main perfect competition assumptions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have been taught about (large no. of price taking firms, no entry barriers,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homogenous product, and perfect information) and see if they apply to HUBCO shares.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Most aspects of the four assumptions of perfect competition apply.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There is a very large number of shareholders (although there are some large institutional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shareholders.)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People are free to buy HUBCO shares (though, in reality, this depends on how liquid, i.e.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accessible/available for sale the HUBCO shares are).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All HUBCO shares are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 Buyers and sellers know the current HUBCO share price, but they have imperfect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knowledge of future share prices.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the market for gold perfectly competitive?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almost similar to the market for HUBCO shares.  There are many buyers and sellers of gold,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who are thus price takers, but who have imperfect knowledge of future gold prices.  Also,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with large gold stocks (e.g. the USA) could influence the price by large-scale selling (or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buying). [Note also that the ‘price’ would have to refer to a weighted average of the price in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major currencies to take account of exchange rate fluctuations.]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are the advantages and disadvantages of using a 5-firm “concentration ratio” rather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than a 10-firm, 3-firm or even a 1-firm ratio?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fewer the number of firms used in the ratio, the more useful it is for seeing just how powerful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largest firms are.  The problem with only including one or two firms in the ratio, however,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it will not pick up the significance of the medium-to-large firms.  For example, if we look 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3-firm ratio for two industries, and if in both cases the three largest firms have a 50 per cent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share, but in one industry the next largest three firms have 45 per cent of the market (a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highly concentrated industry), but in the other industry the next three largest firms have only 5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cent of the market (an industry with many competing firms), the 3-firm ratio will not pick up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difference.  Clearly, this problem is more acute when using a 2-firm or a 1-firm ratio.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more the firms used in the ratio, the more useful it is for seeing whether the industry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moderately competitive or very competitive.  It will not, however, show whether the industry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dominated by just one or two firms.  For example, the 10-firm ratio for two industries may be 90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cent.  But if in one case there are 10 firms of roughly equal size, all with a market share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approximately 9 per cent, then this will be a much more competitive industry than the other one,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that other one is dominated by one large firm which has an 85 per cent market share.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more complete picture would be given of an industry if more than one ratio were used: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perhaps a 1-firm, a 2-firm, a 5-firm and a 10-firm ratio.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 economists treat normal profit as a cost of production?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it is part of the opportunity cost of production.  It is the profit sacrificed by not using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in some alternative use.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determines (a) the level and (b) the rate of normal profit for a particular firm?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easier to answer this in the reverse order.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level of normal profit depends on the total amount of capital employed.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 rate of normal profit is the rate of profit on capital that could be earned by the owner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some alternative industry (involving the same level of risks).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the industry supply be zero when the price of a firm A falls below P1 , where P1 &lt;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AVC for the firm?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Once the price dips below a firm’s AVC curve, it will stop production.  But only if “all” firms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same AVC curve will the “entire industry” stop production.  If some firms have a lower AVC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than firm A, then industry supply will not be zero at P1.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perfect competition so rare?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Information on revenue and costs, especially future revenue and costs, is imperfect.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Producers usually produce differentiated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frequently barriers to entry for new firms.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does the market for fresh vegetables approximate to perfect competition, whereas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that for aircraft does not?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limited economies of scale in the production of fresh vegetables and therefore there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many producers.  There are such substantial economies of scale in aircraft production,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that the market is only large enough for a very limited number of producers, each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which, therefore, will have considerable market power.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advantages might a large established retailer have over a new e-commerce rival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suggest that the new e-commerce business will face difficulties establishing a market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internet shopping?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Customers are familiar with the retailer’s products and services and may trust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quality.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may prefer to be able to ask advice from a sales assistant, something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can’t do when buying over the internet.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retailer may have sufficient market strength to match any lower prices offered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e-commerce firm.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retailer may have sufficient market strength to force down prices from its suppliers.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may prefer to see and/or touch the products on display to assess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quality.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may prefer the ‘retail experience’ of going shopping.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 an illustration of the difficulty in identifying monopolies, try to decide which of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following are monopolies: Pakistan Telecommunications Corporation Limited PTCL);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your local morning newspaper; the village post office; ice cream seller inside the cinema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hall; food sold in a university cafeteria; the board game ‘Monopoly’.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some cases there is more obvious competition than in others. For example, with the growth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mobile phones supplying phone services too, PTCL has lost some of its monopoly status for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section of the population.  In other cases, such as ice creams in the cinema, village post offices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university cafeterias, there is likely to be a local monopoly.  In all cases, the closeness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substitutes will very much depend on consumers’ perceptions.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monopoly would be expected to face an inelastic demand.  And yet, if it produces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where MR = MC, MR must be positive, demand must therefore be elastic. Therefore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monopolist must face an elastic demand!  Can you solve this puzzle?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is elastic at the point where MR = MC.  The reason is that MC must be positive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 MR must also be positive.  But if MR is positive, demand must be elastic.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Nevertheless, at any given price a monopoly will face a less elastic demand curve than a firm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producing the same good under monopolistic competition or oligopoly.  This enables it to raise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further before demand becomes elastic (and before the point is reached where MR = MC).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shares in a monopoly (such as a water supply company in a European country)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were very widely distributed among the population, would the shareholders necessarily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want the firm to use its monopoly power to make larger profits?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water company raised its charges and thereby made a larger profit, shareholders would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gain from larger dividends, but as consumers of water would lose from having to pay the higher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charges.  Except in the case of shareholders with only a few water shares, however, the gain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likely to outweigh the loss. Nevertheless, with shares very widely distributed, the average net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gain would be only very small, and the wider the distribution, the more shareholders there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who would suffer a net loss from the higher charges.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what respects might the behaviour of Microsoft, increasingly becoming a monopoly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software and operating systems market, be deemed to be: (a) against the public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interest; (b) in the public interest?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Prices are likely to be higher, given the lack of competition;  there may be less product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development, because potential competitors fear Microsoft’s power to block their entry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market, or drive them from it if they do succeed in entering;  less choice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By developing products that are in general use round the world, it is more convenient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businesses and their employees, who do not have to learn different sets of programmes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have problems with incompatibility of programmes and operating systems;  monopoly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can lead to high levels of investment and product development, which can help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 prices over the longer term.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which of the following industries are exit costs likely to be low:  (a) steel production;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(b) market gardening; (c) nuclear power generation;  (d) specialist financial advisory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services;  (e) production of a new medicine.  Are these exit costs dependent on how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narrowly the industry is defined?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High. The plant cannot be used for other purposes.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Relatively low.  The industry is not very capital intensive, and the various tools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equipment could be sold or transferred to producing other crops.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Very high.  The plant cannot be used for other purposes and decommissioning costs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high.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Low.  The capital costs are low and offices can be sold.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e) Low to moderate.  It is likely that a pharmaceutical company can relatively easily switch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producing alternative drugs.  Substantial exit costs are only likely to arise if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company is committed to a long-term research and development programme or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equipment is not transferable to producing alternative drugs.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some other examples of monopolistic competition.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include: taxis, car hire, hotels and restaurants, insurance agents, estate agents, office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equipment suppliers, antique dealers, computer systems.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may a food shop charge higher prices than wholesale markets (or supermarkets)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‘essential items’ and yet very similar prices for “delicacy” items?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demand for such essential items from a local food shop is likely to be less price-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elastic than the demand for the delicacy items: if people run out of basic items, they will want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obtain them straight away from the nearest shop rather than waiting until they visit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supermarket.  Also the supermarkets may obtain bulk discount from their suppliers on basic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items, but not on delicacy items, where the sales turnover is much lower.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of these two items is a PSO or Shell petrol station more likely to sell at a discount: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(a) petrol; (b) sweets?  Why?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Petrol. The reason is that demand is more price elastic.  People will be tempted to buy now,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rather than waiting, if they see a reasonable discount.  In the case of sweets, these are often 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impulse buy and the price is very low anyway relative to the amount already spent on petrol. 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penny or two price reductions will probably make very little difference to sales.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monopolistic competition, why does the LRMC curve cross the MRL curve directly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below the tangency point of the LRAC and ARL curves?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way of answering the question is to note that long-run profits are maximized where long-run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equals long-run MC (let’s call it QL).  But at QL, long-run AR equals long-run AC, whilst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other output long-run AR is below long-run AC.  Thus profits must be maximized at QL.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Assuming that supernormal profits can be made in the short run in a monopolistically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competitive industry; will there be any difference in the long-run and short-run elasticity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demand?  Explain.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The entry of new firms, attracted by the supernormal profits, will make the long-run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the firm more elastic: there are now more alternatives for consumers to choose from.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would you expect additional advertising dollars spent by a firm to cause smaller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smaller increases in sales? In other words why should advertising suffer from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“diminishing returns”?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fewer and fewer additional people will see each extra advertisement (i.e. many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will have seen the adverts already and thus there will be little additional effect on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would you rather have: five restaurants to choose from, each with very different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menus and each having spare tables so that you could always guarantee getting one; 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just two restaurants, charging a bit less but with less choice and where you have to book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quite a long time in advance?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people would choose the first, but clearly it is a question of personal preference.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will advertising affect a cartel’s MC and AR curves?  How will this affect the profit-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maximizing output?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advertising increases total cartel sales, the cartel’s AR curve will shift to the right and possibly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less elastic.  The MC curve will only shift if the advertising varies with output.  Given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amount that member firms will advertise might not be known and, even if it were, the exact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effects of any amount of advertising on AR are impossible to identify and compute, it would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difficult for the cartel to identify the profit-maximizing price with any degree of precision.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have been taught about the conditions that facilitate the formation of a cartel?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of these conditions were to found in the oil market in (a) the early 1970s; (b)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mid-1980s; (c) 2000?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relatively few oil producing countries (but more in the 1980s than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1970s).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OPEC members meet openly to discuss pricing and quotas (in all three periods)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methods are relatively similar, although costs vary according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accessibility of the oil.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(final) product is very similar and there is an international price for each type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crude.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Saudi Arabia is the dominant member of OPEC: its dominance over the world market,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waned from the mid-1980s as non-OPEC production increased and there was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world glut of oil. With a growing world economy in the late 1990s, Saudi Arabia’s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influence grew again.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Entry barriers, however, have “not” been significant.  This has allowed several non-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OPEC members (e.g. Mexico, Norway and the UK) to break into the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is relatively stable in the short run (given the price and income inelasticity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demand).  There has been a problem, however, of a decline in demand over the longer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Governments round the world have been relatively powerless to curb OPEC’s collusion,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although from time to time (e.g. during the Gulf War) the USA has released oil from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huge stock piles to prevent excessive price increases.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OPEC have done anything to prevent the long-term decline in real oil prices since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1981?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little, given that the supply of substitutes (both oil and non-oil) for OPEC oil has increased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substantially.  Perhaps, with hindsight, if OPEC had not raised prices so much in 1973/74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1979 there would have been less incentive to develop substitutes and to break the power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cartel.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Many oil analysts are predicting a rapid decline in world oil output in 10 to 20 years 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world reserves are depleted.  What effect is this likely to have on OPEC’s behaviour?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fall in output will drive up prices.  Provided that OPEC can prevent its members from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pumping oil more rapidly to take advantage of the rising price, OPEC’s power could increase. 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demonstrate to its members the rising trend in oil prices and attempt to persuade them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benefit of reducing production even further.  It could ‘sell’ this policy to the world as one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being prudent with dwindling oil stocks.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which of the following industries is collusion likely to occur: bricks, margarine,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cement, crisps, washing powder, blank audio or video cassettes, and carpets?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all cases collusion is quite likely: check out the factors favouring collusion discussed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lecture and also above.  In some cases it is more likely than others: for example, in the case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cement, where there is little product differentiation and a limited number of producers, collusion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more likely than in the case of carpets, where there is much more product differentiation.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there are two major oil companies operating filling stations in an area.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first promises to match the other’s prices. The other promises that it will always sell at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Re.1 per liter cheaper than the first. Describe the likely sequence of events in this ‘game’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the likely eventual outcome. Could the promise of the second company be seen 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credible (i.e. you will believe)?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would be driven down, and hence profits reduced, until one of the companies could no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longer stick to its promise – either the first accepting that its price will be Re. 1 above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second, or the second accepting the same price as the first. Alternatively both companies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simultaneously may decide to abandon their policy and collude to raise prices. This may involve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secret meeting between them, or simply ‘letting it be known’ that they would be willing to raise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prices, providing that the other company did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promise of the second company could be seen as credible if it had lower costs or greater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backing than the first company. In such circumstances, the first company may be forced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give up its policy first. If they have similar costs and financial strength, then the threat is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credible. </a:t>
            </a:r>
            <a:endParaRPr lang="ko-KR" altLang="en-US" dirty="0" smtClean="0" sz="1097"/>
          </a:p>
          <a:p>
            <a:pPr marL="0" indent="0" defTabSz="15240"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Consider a train company which charges different prices for first and standard class,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traveling on different days in the week or different times in the day etc. Are these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examples of price discrimination?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discrimination occurs when the same product or service (with the same marginal cost)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sold at different prices to different customers.  Thus, strictly speaking, charging a different price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first and standard class, for travel on different times of day, or on different days of the week,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at different times of the year are not the purest examples of price discrimination, since (a)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 is different and (b) the marginal cost is not the same.  On the other hand, charging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price for children, students, old people, people traveling on single rather than return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tickets etc. are examples of price discrimination since they allow travel on the same seat on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train to different classes of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these various forms of price discrimination in the traveler’s interest?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lower-price fares are making travel possible for people who could otherwise not afford it,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clearly they are benefiting.  For the people paying the higher-priced fares, then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advantages and disadvantages.  Clearly, they will not like paying more than they would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absence of price discrimination, but given that at peak times some lines are operating to full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capacity, the higher price may be necessary to prevent queuing or grossly overcrowded trains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(though note, as explained in the answer to the last question, charging higher prices at peak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times to everyone is strictly speaking not a form of price discrimination).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If, over time, consumers are encouraged to switch their use of dial-up internet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connections to off-peak periods, what will happen to peak and off-peak prices?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difference between the prices will narrow.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what extent is peak-load pricing (i.e. charging the highest price for a product/service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when the loan of demand for it is highest; e.g. charging a high rate for dial-up internet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connection in the day rather than after midnight) in the interests of consumers?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may help to keep the average price down, if it spreads the use of fixed factors (like bandwidth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telephone lines) more evenly.  It may also help to ease congestion (e.g. on trains) at peak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times for those who have no alternative but to use the service at that time.  Peak users may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prefer a higher priced journey to a more congested journey or having to queue, and possibly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running the risk of not getting the service (e.g. not getting on the train or bus because it is full).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total consumption likely to be higher or lower with a system of peak and off-peak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prices as opposed to a uniform price at all times?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Higher, since some people would only be prepared to buy the product at off-peak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type of price discrimination do cinemas pursue when they charge different prices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for adults and children? First, second or third degree? Would it be possible for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cinema to pursue either of the other two types?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third-degree price discrimination.  It groups cinema goers into two types: adults and children.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could not practice first-degree discrimination: it would not be possible to negotiate a separate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ticket price with each customer!  It could possibly practice a form of second-degree price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discrimination, however, if it gave tokens to people each time they purchased a ticket and then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sold tickets at reduced prices to people with tokens.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all cinema seats could be sold to adults in the evenings at the end of the week, but only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few on Mondays and Tuesdays, what price discrimination policy would you recommend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the cinema in order for it to maximize its weekly revenue?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Offer reduced-price tickets to children in the evenings as well as in the afternoon for the first part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week, but not for the end of the week. </a:t>
            </a:r>
            <a:endParaRPr lang="ko-KR" altLang="en-US" dirty="0" smtClean="0" sz="1097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the cinema make more profit if it could charge adults a different price in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afternoon and the evenings?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Possibly.  The danger for the cinema, however, is that adults who would have gone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cinema anyway may now choose to go in the afternoon, thereby losing the cinema revenue.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Ideally the cinema would like to discriminate in such a way as to encourage people to go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afternoon at a reduced price who would not have gone at all (whether in the afternoon 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evening), like old people for e.g., if they had to pay the higher price.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the Prisoners’ Dilemma game discussed in the lecture a dominant strategy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‘game’?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Because, whatever assumption is made about the other’s behaviour, each prisoner is likely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confess.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each prisoner’s strategy change if there were five prisoners (who committed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joint crime) and not two, and if all five all of them had been caught?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more people there were involved in the crime, the greater would be the likelihood of one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 confessing and therefore the greater the temptation for any individual prisoner to confess.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you think of any other non-economic examples of the prisoners’ dilemma?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Children in a class agreeing not to do homework, but parents keeping them apart after school so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they can persuade their children to do their homework, telling them,  ‘The other children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also be doing theirs and you will not want to show up by doing badly compared with them.’ What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the children do? Do their homework in the fear that everybody else would do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homework (the equivalent of “confessing” in the fear of the other prisoners confessing) or not do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homework hoping that the others won’t do it as well (the equivalent of “not confessing”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hope that the others won’t do it either). </a:t>
            </a:r>
            <a:endParaRPr lang="ko-KR" altLang="en-US" dirty="0" smtClean="0" sz="1097"/>
          </a:p>
          <a:p>
            <a:pPr marL="0" indent="0" defTabSz="15240" algn="l">
              <a:lnSpc>
                <a:spcPts val="37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- 7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7.1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SELECTED ISSUES IN MICROECONOMICS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WELFARE ECONOMICS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Welfare economics is a branch of economics dealing with normative issues (i.e., what should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Marginal Private Cost of Advertising: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marginal private cost of advertising is the cost of every additional TV commercial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newspaper advertisement that a firm has to bear. However, this does not include the nuisance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that such advertisements sometimes cause to viewers of television or readers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newspapers. If firms incorporated these costs into their calculations, they would do less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advertising. Concerns such as these fall into the realm of welfare economics.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Social Cost: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Social cost (benefit) means the cost (benefit) -- may not be in monetary terms – that is borne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(accrues to) society on the whole. The private cost (benefit) of any individual entity (firm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consumer) is subsumed in the social cost (benefit) to society, but obviously not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Externality: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Formally, an externality exists when the production or consumption of a good directly affects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businesses or consumers not involved in buying and selling it and when those spillover effects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not fully reflected in market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positive (negative) externality arises from the beneficial (harmful) spillover effect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or consumption for society. If the externality is a result of private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decisions, it is called a production externality. If it is caused by private consumption decisions,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called a consumption externality.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Optimal Level of Production: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socially optimal level of production of a good means the level of production at which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externality is fully internalized, i.e. the equilibrium price and quantity are determined 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intersection of the marginal “social” benefit curves and marginal “social” cost curves, and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intersection of marginal private benefit (demand) curves and marginal private cost (supply)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tax (subsidy)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raises (reduces) prices by shifting the supply curve vertically upwards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(downwards).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 failure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an imperfection in the price system that prevents an efficient allocation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resources.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Public Good: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public good is one whose benefits are indivisibly spread among the entire community,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whether or not particular individuals desire to consume the good or not.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two characteristics which give rise to public goods: non-rivalness (one person’s 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consumption of the good does not reduce the ability of another to use it; e.g. air) and non-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excludability (it is not possible to exclude anyone from the consumption of the good; e.g.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defense).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MARKET FOR FACTORS OF PRODUCTION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circular flow of income and expenditure shows the flow of goods and factors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households and firms. </a:t>
            </a:r>
            <a:endParaRPr lang="ko-KR" altLang="en-US" dirty="0" smtClean="0" sz="1097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Demand for Factor of Production: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demand for factors of production (like labour) is a derived demand, because it is “derived”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the goods market. For e.g., the demand of labour increases when the demand for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labour-intensive good rises, and as firms try to produce more of that good by employing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Leisure: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Leisure is the time not used for working, or earning wages. It is usually the time that a laborer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uses for relaxation and all activities other than work or necessary sleep.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Marginal Disutility of Work (MDU):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marginal disutility of work (MDU) means the negative impact on the laborer of working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additional unit of time. The MDU curve defines the supply curve for labour.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Opportunity Cost: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opportunity cost of working is leisure (and vice versa) that the worker could have enjoyed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during that time had he not been working. </a:t>
            </a:r>
            <a:endParaRPr lang="ko-KR" altLang="en-US" dirty="0" smtClean="0" sz="1097"/>
          </a:p>
          <a:p>
            <a:pPr marL="0" indent="0" defTabSz="15240" algn="l">
              <a:lnSpc>
                <a:spcPts val="48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69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7.2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SELECTED ISSUES IN MICROECONOMICS (CONTINUED……………)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and Demand Curve for Labor: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labour supply curve may bend backwards above a certain wage rate as the income effect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higher income dominates the substitution effect of higher wages.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wage rate is the marginal cost of labour to the firm and is directly proportional to the hours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demand curve for labour can be derived from the intersection of the wage rate lines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(horizontal parallel lines) and the marginal revenue product of labour (a downward sloping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concave function) given by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MPP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x MR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where subscript “L” stands for labour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subscript “i” stands for the good which the labourer helps produce.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Value of Marginal Product of Labor (VMP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):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value of marginal productivity of labor can be represented by the following formula: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value of marginal product of labour (VMP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) = MPP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x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.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equal to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when P = MC (as in perfect competition), but otherwise VMP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&gt;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important difference between labour and land, capital is that the latter two can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purchased but labour can only be rented.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rent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periodic payment as a reward for hiring the factor of production for that period,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the purchase price of capital is the “value” of owning that capital for its entire life.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Net Present Value (NPV) and Discounting: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Decisions about purchasing capital or land are often made on the basis of the net present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(NPV) associated with the decision. The NPV of an asset is the discounted value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net returns that the asset generates over a period of time plus the discounted value of its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disposal value at the end of the period minus the initial purchase cost.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Discounting is the process of converting a stream of future incomes and expenses into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present value. The discount rate is the rate at which the future incomes are discounted.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ECONOMICS OF INFORMATION PRODUCTS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economics of information products or (internet products) involves studying how economic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principles apply to the production, distribution and consumption of these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internet has reduced 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marginal cost of distributing information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to zero, as once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 is launched on the web, any number of potential customers can access/view it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additional cost to the producer of the information.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the average cost of information product is falling over the entire range of output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structure most consistent with such a product is (natural) monopoly.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Experience goods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goods that people must get a flavor of before they can consider buying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them.  </a:t>
            </a:r>
            <a:endParaRPr lang="ko-KR" altLang="en-US" dirty="0" smtClean="0" sz="1097"/>
          </a:p>
          <a:p>
            <a:pPr marL="0" indent="0" defTabSz="15240" algn="l">
              <a:lnSpc>
                <a:spcPts val="15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05255" y="5297170"/>
            <a:ext cx="5659755" cy="293243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Picture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05255" y="8601710"/>
            <a:ext cx="5659755" cy="74358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7 -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WELFARE ECONOMICS AND EXTERNALITIES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monopoly power existed in an industry, would production be above or below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socially efficient level (assuming no externalities)?  Which would be greater, MSB or P?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firm with monopoly power produces where MR = MC. But this is below the socially efficient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of output which obtains where P = MC.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Assuming no externalities, and perfect competition show that social efficiency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achieved in the factor markets, where: MSB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MRP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MDU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MSC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f 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(where MRP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marginal product of a factor, MDU is the marginal disutility of supplying it and f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any factor).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marginal benefit to the employer from employing a factor.  Profits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maximised where MRP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The MDU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marginal cost to the factor supplier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supplying a factor.  The factor supplier’s ‘surplus’ will be maximised where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MDU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Under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 competition, since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each producer,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MDU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each factor supplier,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then, since the market price for the factor (P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is the same for all firms and factor suppliers,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MDU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all firms and factor suppliers. In the absence of externalities in the factor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market, MSB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and MDU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MSC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 Thus: MSB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MDU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MSC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, i.e. MSB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MSC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Note: The concepts in this question will not be tested in the exam.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Trace through the effects in both factor and goods markets of the following: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An increase in the productivity of a particular type of labour.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An increase in the supply of a particular factor.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following charts illustrate the effects: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1. Labour demand</a:t>
            </a:r>
            <a:endParaRPr lang="ko-KR" altLang="en-US" dirty="0" smtClean="0" sz="1200" i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 MRP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(i.e.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)  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MRP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W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				→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 employment of labour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W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2. Labour supply</a:t>
            </a:r>
            <a:endParaRPr lang="ko-KR" altLang="en-US" dirty="0" smtClean="0" sz="1200" i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W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W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MDU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(i.e.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W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MSC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)  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→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 supply of labour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MDU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(movement up along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MDU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and hence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MSC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curve) . 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These adjustments would continue until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=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MSC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. 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3. Producer supply</a:t>
            </a:r>
            <a:endParaRPr lang="ko-KR" altLang="en-US" dirty="0" smtClean="0" sz="1200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 MRP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l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MC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P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MC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(i.e.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MSC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)  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→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 production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P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4. Consumer demand</a:t>
            </a:r>
            <a:endParaRPr lang="ko-KR" altLang="en-US" dirty="0" smtClean="0" sz="1200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MU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P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				→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	 consumption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MU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(movement down along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MU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and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hence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curve) 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These adjustments would continue until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=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MSC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(in goods markets). </a:t>
            </a:r>
            <a:endParaRPr lang="ko-KR" altLang="en-US" dirty="0" smtClean="0" sz="1200"/>
          </a:p>
          <a:p>
            <a:pPr marL="0" indent="0" defTabSz="15240" algn="l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(b)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1. Factor supply</a:t>
            </a:r>
            <a:endParaRPr lang="ko-KR" altLang="en-US" dirty="0" smtClean="0" sz="1200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 S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(i.e.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MSC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) 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S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D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2. Factor demand</a:t>
            </a:r>
            <a:endParaRPr lang="ko-KR" altLang="en-US" dirty="0" smtClean="0" sz="1200" i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8055" y="640080"/>
            <a:ext cx="5659755" cy="223139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MRP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				→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 employment of factor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(movement down along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MRP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endParaRPr lang="ko-KR" altLang="en-US" dirty="0" smtClean="0" sz="852" i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and hence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curve) 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These adjustments would continue until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=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MSC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. 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3. Producer supply</a:t>
            </a:r>
            <a:endParaRPr lang="ko-KR" altLang="en-US" dirty="0" smtClean="0" sz="1200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 P</a:t>
            </a:r>
            <a:r>
              <a:rPr lang="en-US" altLang="ko-KR" dirty="0" smtClean="0" sz="852" i="1">
                <a:solidFill>
                  <a:srgbClr val="000000"/>
                </a:solidFill>
                <a:latin typeface="Times New Roman"/>
              </a:rPr>
              <a:t>f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MC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P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MC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(i.e.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MSC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)  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→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 production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P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200" i="1">
                <a:solidFill>
                  <a:srgbClr val="000080"/>
                </a:solidFill>
                <a:latin typeface="Times New Roman"/>
                <a:ea typeface="Times New Roman"/>
              </a:rPr>
              <a:t>4. Consumer demand</a:t>
            </a:r>
            <a:endParaRPr lang="ko-KR" altLang="en-US" dirty="0" smtClean="0" sz="1200" i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P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MU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	&gt;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	P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  <a:ea typeface="Symbol"/>
              </a:rPr>
              <a:t>				→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	 consumption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↑</a:t>
            </a:r>
            <a:r>
              <a:rPr lang="en-US" altLang="ko-KR" dirty="0" smtClean="0" sz="1602">
                <a:solidFill>
                  <a:srgbClr val="000000"/>
                </a:solidFill>
                <a:latin typeface="Symbol"/>
              </a:rPr>
              <a:t>				→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  <a:ea typeface="Times New Roman"/>
              </a:rPr>
              <a:t>				MU</a:t>
            </a:r>
            <a:r>
              <a:rPr lang="en-US" altLang="ko-KR" dirty="0" smtClean="0" sz="1200">
                <a:solidFill>
                  <a:srgbClr val="000000"/>
                </a:solidFill>
                <a:latin typeface="Symbol"/>
                <a:ea typeface="Symbol"/>
              </a:rPr>
              <a:t>↓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(movement down along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MU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and </a:t>
            </a:r>
            <a:endParaRPr lang="ko-KR" altLang="en-US" dirty="0" smtClean="0" sz="120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hence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curve) </a:t>
            </a:r>
            <a:endParaRPr lang="ko-KR" altLang="en-US" dirty="0" smtClean="0" sz="120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 These adjustments would continue until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MSB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= </a:t>
            </a:r>
            <a:r>
              <a:rPr lang="en-US" altLang="ko-KR" dirty="0" smtClean="0" sz="1200" i="1">
                <a:solidFill>
                  <a:srgbClr val="000000"/>
                </a:solidFill>
                <a:latin typeface="Times New Roman"/>
              </a:rPr>
              <a:t>MSC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</a:rPr>
              <a:t> (in goods markets). </a:t>
            </a:r>
            <a:endParaRPr lang="ko-KR" altLang="en-US" dirty="0" smtClean="0" sz="1200"/>
          </a:p>
          <a:p>
            <a:pPr marL="0" indent="0" defTabSz="15240" algn="l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Note: The concepts in this question will not be tested in the exam.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MU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/MU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were greater than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, how would consumers behave? What would bring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consumption back to equilibrium where MU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/MU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would buy relatively more of X and relatively less of Y.  But as they did this,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/MU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would fall (because of diminishing marginal utility) until MU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/MU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Note: The concepts in this question will not be tested in the exam. 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MC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/MC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were greater than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how would firms behave?  What would bring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production back into equilibrium where MC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/MC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? </a:t>
            </a:r>
            <a:endParaRPr lang="ko-KR" altLang="en-US" dirty="0" smtClean="0" sz="1097" b="1"/>
          </a:p>
          <a:p>
            <a:pPr marL="0" indent="0" defTabSz="15240" algn="l">
              <a:lnSpc>
                <a:spcPts val="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would produce relatively more of good Y and relatively less of good X.  But as they did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this,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would fall (because of the law of diminishing returns and hence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costs as production increases) until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Y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are marginal external costs?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different between marginal social cost and marginal private costs is marginal external cost.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other words, it is the marginal cost of the externality to society.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it likely that the MSB curve will be parallel to the MU curve?  Explain your reasoning.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It is likely that the marginal external costs of consumption will increase as more is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consumed, and thus the curves will get further apart (making the MSB curve steeper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 = MB curve).  For example, the marginal pollution costs of cars gets progressively greater as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and more cars come onto the roads and the environment becomes less and less able to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absorb the additional quantities of pollutants.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other examples of each of the four types of externality.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External costs of production (MSC &gt; MC): The pollution of rivers and streams by slurry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nitrate run-off from farms; road congestion near a factory.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External benefits of production (MSC &lt; MC): Beneficial spin-offs from the development of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new products (for example, the various space programmes in the USA, the USSR and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Europe have contributed to advances in medicine, materials technology, etc.); where the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opening of a new environmentally friendly factory results in less output from factories that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pollute.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External costs of consumption (MSB &lt; MB): The effect of CFC aerosols on the ozone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layer; the unpleasant sight of kites stuck in trees and wires.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External benefits of consumption (MSB &gt; MB): People decorating the outside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houses or making their gardens look attractive benefits neighbours and passers-by; car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owners getting their cars properly serviced so as to reduce the smoke emitted and the </a:t>
            </a:r>
            <a:endParaRPr lang="ko-KR" altLang="en-US" dirty="0" smtClean="0" sz="1097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pollution associated with it.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Some roads could be regarded as a public good, but some could be provided by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market.  Which types of road could be provided by the market?  Why?  Would it be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good idea?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Roads where there are relatively few access points and where therefore it would be practical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charge tolls.  Charges could be regarded as a useful means of restricting use of the roads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question, or, by charging more at peak times, of encouraging people to travel at off-peak times.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 as system, however, could be regarded as unfair by those using the toll roads, and might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merely divert congestion onto the non-toll roads.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of the following have the property of non-rivalry: (a) a can of drink; (b) public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transport; (c) a commercial radio broadcast; (d) the sight of flowers in a public park?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No.  (b) No (passengers take up seats).  (c) Yes.  (d) Yes (unless I get in your way!).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some other examples of public goods.  Does the provider of these goods (the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government or local authority) charge for their use? If so is the method of charging based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on the amount of the good that people use?  Is it a good method of charging?  Could you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suggest a better method?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examples are: national defence; urban roads.  In both cases the user is not directly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charged.  The funding comes from taxation.  In the case of roads, part of the funding comes from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road users generally (in the form of taxes on petrol and road fund licences) and part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general or local taxation.  Only in the case of petrol tax is the charging related to the amount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use the public good.  It encourages people to use the roads less, and thus takes into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the marginal cost (i.e. repairs and maintenance) of road provision.  In this sense,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roads are not a pure public good because using them does create a small amount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wear and tear on them (although a significant portion of road maintenance costs are due simply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deterioration through time).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marginal cost of provision is zero (as is the case with a pure public good) then charging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according to how much they use it will not cause an efficient allocation of resources: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zero marginal cost, the price should be zero.  Charging people according to how much they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 it, however, could be regarded as fair according to the benefit principle – but not according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principle of vertical equity.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Name some goods or services provided by the government or local authorities that are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not public goods.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Education, health, libraries, parks. Only limited people can use these facilities.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health care is provided free, the demand is likely to be high.  How is this high demand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dealt with?  Is this a good way of dealing with it?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dealt with by a system of queuing.  Emergency cases are usually dealt with immediately,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least very quickly, but non-emergency cases may have to wait weeks, months or even years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treatment.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people would argue that for reasons of equity, and the special nature of health, it is better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solve the problem of waiting lists by diverting more resources into health care, rather than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using a system of charging people.  Except where there are initially idle resources or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inefficiencies, this approach will result in a lower provision of other publicly provided goods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services, or higher taxes.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you attempt to value time that you yourself save (a) getting to work; (b) going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on holiday; (c) going out in the evening?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approach is to ask what the opportunity cost to you of that time is.  What else could you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done with the time and what, as a result, would you have been prepared to pay to save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time?  Thus in the case of (b), if you have a long holiday and the travel is seen as an enjoyable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 of it, then there may be no time cost to you, or it may even be seen as a benefit; whereas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only have a week off work and want to get to the sun as quickly as possible, then you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want to minimise travel time and thus may be prepared to pay quite a lot more to fly rather than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 over land.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Imagine that a public project yields a return of 13 per cent (after taking into account all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social costs and benefits), whereas a 15 per cent private return could typically be earned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the private sector.  How would you justify diverting resources from the private sector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this project?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it could be argued that this particular project yielded longer-term benefits, and that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of discount is too high in the sense that it gives undue weight to present benefits and costs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 future benefits and costs than is socially desirable, then there would be some justification.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justification for a lower social rate of discount is that the market only reflects the wishes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current generation, whereas governments ought to take a longer-term perspective.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alternative justification may be in terms of the distribution of costs and benefits.  If the project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an effective means of targeting help to the poor (say a new hospital in an area where there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a lot of poverty) then the government may want to apply a lower rate of discount.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a project has an initial construction cost of Rs10 000, takes a year to come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into operation and then has a life of 3 years.  Assume that it yields Rs5000 per year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each of these 3 years.  Is the NPV positive at (a) a 10 per cent discount rate; (b) a 15 per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cent discount rate?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NPV = –Rs.10 000 + Rs.5000/1.1 + Rs.5000/1.21 + Rs.5000/1.331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–Rs.10 000 + Rs.4545 + Rs.4132 + Rs.3757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+Rs.2434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NPV is therefore positive at a 10 per cent discount rate.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(b) NPV = –Rs.10 000 + Rs.5000/1.15 + Rs.5000/1.3225 + Rs.5000/1.5209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–Rs.10 000 + Rs.4348 + Rs.3781 + Rs.3288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+Rs.1417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NPV is therefore still positive at a 15 per cent discount rate.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this type of cost–benefit analysis (CBA) simpler to conduct that ones assessing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desirability of a new road or airport?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specific scenarios, with very precise assumptions. The main purpose was not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demonstrate the positive NPV (which depends on the assumptions about the value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environmental benefits of reducing emissions), but to compare the relative advantages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alternative scenarios.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a CBA of a new road or airport, there have to be assumptions, not only about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environmental impact, but about the value of time saved or additional time incurred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travellers, about the value of lives saved or lost and about the costs to local people disturbed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the road or airport. Thus the measurement of externalities is likely to be more problematic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in the case of lowering the sulphur content of road fuel.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do merit goods differ from public goods?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could be provided by the market (albeit with too little consumed).  The problem of non-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excludability does not apply.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Note: The concepts in this question will not be tested in the exam.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Summarize the economic policies of the major political parties. (If it is near an election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could refer to their manifestos.)  How far can an economist go in assessing these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policies?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will need to look at the current policies.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Economists in their role as economists cannot challenge fundamental normative issues – such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whether it is desirable to have a much more substantial redistribution of income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rich to the poor.  They can, however, examine whether the factual claims of the parties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correct, and whether the policies they advocate will bring the effects they claim.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Note: The concepts in this question will not be tested in the exam.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some examples of how correcting problems in one part of the economy will create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problems elsewhere.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examples are: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local authority reduces street parking in the centre of a town in order to reduce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congestion on the streets, but succeeds in encouraging commuters and shoppers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park outside the town centre in residential areas, thus reducing the quality of life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those living in those areas.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government taxes the consumption of electricity in order to encourage people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more fuel efficient and thus to reduce power station emissions.  Some people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respond by switching to burning coal, with the result that emissions from this source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MARKET FOR FACTORS OF PRODUCTION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might the labour supply curve be backward bending?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after a point the income effect of the higher wage dominates the substitution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 that when we talk of substitution, it is substitution between work and leisure. The labourer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decide how to utilize his time, i.e. how much hours to spend working and how much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spend relaxing. If the wage rate (which also represents the worker’s income) becomes very high,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that leisure is a normal good, the demand for relaxation increases. This is the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 and it is positive for leisure and negative for hours worked.  However, as the wage rate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increases, the opportunity cost of relaxing increases and prompts the worker to work more. This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the substitution effect and is negative for leisure and positive for hours worked. The labour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curve becomes backward bending when the income effect of higher wages dominates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substitution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the distinction between MRP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and VMP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? When is this distinction important?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Labour’s marginal revenue product (MRP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MR * MPP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70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Labour’s value of marginal product (VMP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P * MPP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two terms mean the same when the product market is perfectly competitive, because then: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MR = MC = P. However, when the product market is not perfectly competitive, for e.g., if it is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monopoly, then P &gt; MR at the profit maximizing output, and therefore VMP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&gt;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important implication of this is that a monopolist would pay labourers less than the “value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that their labour helps produce”, i.e. the VMP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To that effect this can be viewed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exploitation of labour.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 any of the following contradict marginal productivity theory: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Nationally negotiated wage rates;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Discrimination;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 if marginal productivity theory were not relevant in these cases, the theory would still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accurate in the sense that if firms wanted to maximise profits then they should employ workers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point where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MRP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But do any of the above four cases necessarily contradict marginal productivity theory? </a:t>
            </a:r>
            <a:endParaRPr lang="ko-KR" altLang="en-US" dirty="0" smtClean="0" sz="1097" b="1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No, not necessarily.  Firms may find it convenient (in terms of the costs of negotiating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avoidance of disputes) to pay nationally agreed wage rates.  They then could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 workers up to the point where their MRP was equal to this wage rate (which,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that the firm was a ‘wage taker’ would be equal to the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Yes.  Discrimination would lead to firms employing those workers against whom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were discriminating below the level where their MRP was equal to their MC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of the following are stocks and which are flows?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Unemployment.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Redundancies (job lay-offs).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Profits.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d) A firm’s stock market valuation (share price).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e) The value of property after a period of inflation.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Stocks: (a), (d) and (e).  They are measurements at a point in time.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Flows: (b) and (c).  They are measurements over a period of time.  (Note that (e) would only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flow if it were measuring the rise in the value of property over a period of time.)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the present value of a machine that lasts three years, earns Rs.100m in year 1,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Rs.200m in year 2 and Rs.200m in year 3, and then has a scrap value of Rs.100m?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the rate of discount is 5 per cent.  If the machine costs Rs.500m, is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investment worthwhile?  Would it be worthwhile if the rate of discount were 10 per cent?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Using the formula given in the lectures: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PV = Rs.100/1.05 + Rs.200/(1.05)² + Rs.300/(1.05)³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Rs.95.24 + Rs.181.41 + Rs.259.15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Rs.535.80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the investment is profitable at a discount rate of 5 per cent given that the machine costs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Rs.500.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rate of discount is 10 per cent, then the present value this time is given by: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PV = Rs.100/1.1 + Rs.200/(1.1)² + Rs.300/(1.1)³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Rs.90.91 + Rs.165.29 + Rs.225.40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= Rs.481.59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a 10 per cent discount rate, therefore, the investment would not be profitable.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market price would a piece of land sell for if it earned Rs.10,000 rent per year, and if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rate of interest were 5 per cent?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According to the formula, market price of land = [annual rental value (in Rs.) / interest rate (in %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p.a.)]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Rs.10,000/0.05 = Rs.200,000.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does this tell us about the relationship between the price of an asset (like land)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rate of interest?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higher the rate of interest, the lower the market price of the asset. The asset would have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cheaper (i.e. yield a higher rate of return) to persuade the purchaser to sacrifice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alternative of earning the market rate of interest.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INFORMATION ECONOMICS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many dimensions to information economics. The first of these was touched upon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lectures on background on demand under “demand under uncertainty.” We touched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concepts like moral hazard and adverse selection. Below we touch upon some of the remaining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aspects that were not covered there. PART A contains questions related to the economics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information products on the web that were covered in the lecture, while PART B contains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“general” information economics issues.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PART A: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has the internet done to the cost of distributing information?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has virtually brought down this cost to zero. Distributors can place information on their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websites and consumers can access it or download it from there without any additional cost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distributor. There are however still the initial costs of preparing the information in a format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can be placed on the web, and also the costs of maintaining the website and marketing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website to interested consumers of that information. However, in terms of the marginal cost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distributing information to one more consumer, that cost has now been brought down to virtually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zero by the internet.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are experience goods?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These are goods whose value can be ascertained by the consumer only after experiencing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consuming it. For example if a university wanted to deliver an online course in say, finance,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might allow potential students to take part of the course free and then if they are satisfied they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proceed with a charge for the remaining or whole of the course. The same principle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applies to buying software on the web. You are often given a free trial version before you asked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commit to buy the software.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is it possible for companies like MSN or yahoo to provide free e-mail or chatting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facilities or “web space” to internet users the world over?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Everything has a cost. Providing free web space or e-mail account to millions of users also must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a cost. Now if the users are not paying this cost, someone else should. This someone else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the ever-growing pool of businesses (travel companies, financial advisors, supermarkets,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fashion outlets – you name it) who wish to advertise their products to millions of potential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customers worldwide. Yahoo and MSN, because they have such a large captive clientele 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serve as the ideal vehicle media for their advertisements. Thus you will see that whenever you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log on to the yahoo page there is some advert that appears without you asking. This is to ensure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“all” users do actually see the advert, so that “some of them” buy the product being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advertised.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PART B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(YOU WILL NOT BE TESTED ON THIS IN THE EXAM)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you wanted the following information.  In which cases could you (i) buy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perfect information, (ii) buy imperfect information, (iii) be able to obtain information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without paying for it, (iv) not be able to obtain information?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Which washing machine is the most reliable?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Which of two jobs that are vacant is the most satisfying?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Which builder will repair my roof most cheaply?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d) Which builder will make the best job of repairing my roof?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e) Which builder is best value for money?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f)    How big a mortgage would it be wise for me to take out?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g) What course of higher education should I follow?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h) What brand of washing powder washes whiter?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which cases are there non-monetary costs to you of finding out the information?  How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you know whether the information you acquire is accurate or not? </a:t>
            </a:r>
            <a:endParaRPr lang="ko-KR" altLang="en-US" dirty="0" smtClean="0" sz="1097" b="1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(a) (i) or (ii);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(b) (iii) (by asking people currently doing the job) or (iv);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(c) (iii) (by obtaining estimates);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(d) (iii) (albeit imperfect, by inspecting other work that the different builders have done) or (iv);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(e) As (d);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(f)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(iii);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(g) (iii);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(h) (i) or (ii) (as in (a)) or (iii) by experimenting.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could involve the non-monetary costs of the time involved in finding out.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If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	the information is purely factual (as in (c) above), and you can trust the source of your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information, there is no problem.  If you cannot trust the source, or if the information is subjective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(such as other people’s experiences in (b) above), then you will only have imperfect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costs and/or benefits until you actually experience them.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Make a list of pieces of information a firm might want to know, and consider whether it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buy the information and how reliable that information might be.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Some examples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position and elasticity of the demand curve: Market research can provide some information,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but it is very unreliable, especially in an oligopolistic environment, where the actions of rival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unpredictable.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Next year’s wages bill: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information cannot be purchased, but it could use its own past experiences to predict (albeit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imperfectly) the outcome of wage negotiations.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costs of alternative inputs: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information is probably available free from suppliers.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Ways of saving taxes: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Employing accountants can help the firm save money here.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type of information can be a public good?  (Clue: do not confuse a public good with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something merely provided by the government, which could also be provided by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private sector.)  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example of information that is nearer to being a public good, is information that is simple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enough not to require being presented as a set of tables or as a report.  It can be told from one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person to another: as such it would be difficult to enforce copyright.  An example would be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current rate of inflation or the size of the balance of trade deficit or surplus. </a:t>
            </a:r>
            <a:endParaRPr lang="ko-KR" altLang="en-US" dirty="0" smtClean="0" sz="1097"/>
          </a:p>
          <a:p>
            <a:pPr marL="0" indent="0" defTabSz="15240" algn="l">
              <a:lnSpc>
                <a:spcPts val="18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78</a:t>
            </a:r>
            <a:endParaRPr lang="ko-KR" altLang="en-US" dirty="0" smtClean="0" sz="1200"/>
          </a:p>
        </p:txBody>
      </p:sp>
      <p:sp>
        <p:nvSpPr>
          <p:cNvPr id="176" name="Rect 3"/>
          <p:cNvSpPr>
            <a:spLocks noGrp="1" noChangeArrowheads="1"/>
          </p:cNvSpPr>
          <p:nvPr/>
        </p:nvSpPr>
        <p:spPr>
          <a:xfrm rot="0">
            <a:off x="7589520" y="1938655"/>
            <a:ext cx="250825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- 8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8.1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TO MACROECONOMICS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a subject, macroeconomics only began to be taught in colleges and universities in the 1940s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after the influence of a very influential British economist, John Maynard Keynes who believed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 economy (with its associated variables) deserved to be understood and analyzed in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own right, and not just as an aggregation of the various micro-markets, as was believed earlier.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Macroeconomics deals with the behaviour of the economy as a whole. The variables of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from the price, demand or supply of a particular product to the economy-wide price level,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 and aggregate supply.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Aggregate Demand (AD):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 (AD) is the total planned or desired spending (expenditure) in the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during a given period. AD is the sum of consumption, investment, government spending and net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 (i.e. exports minus imports), and is inversely related to the aggregate price level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wealth, interest rate and international purchasing power effects.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Level and its Effects: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price level is the weighted average price index of the prices of all the goods and services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Inflation or inflation rate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percentage annual increase in the price level.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Hyperinflation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inflation at extremely high rates (say 1000, 1 million, or even 1 billion percent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wealth effect of a price level increase on AD is negative and works through the reduction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purchasing power of consumers’ income and wealth (real asset values). These cause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reduction in consumption demand.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interest rate effect of a price level increase on AD is negative as it causes a fall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demand. Higher prices cause the nominal interest rate to rise discouraging firm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international purchasing power (or competitiveness) effect of a price level increase on AD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also negative as it reduces the net foreign demand for domestic goods and services. 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level of a certain country increases the demand for its exports falls because they become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expensive (less competitive) in international markets.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Shifts in Aggregate Demand: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 shifts to the right when any component of AD increases autonomously; e.g., if a) consumers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more willing to spend at every price level; b) there are autonomous increases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due to better business prospects; c) the government spends more, or reduces taxes;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net exports rise at all prices (due to say an increase in the quality of domestic goods relative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goods).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Aggregate Supply (AS):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supply (AS) is the total value of goods and services that all the firms in the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and can willingly produce in a given time period. Aggregate supply is a function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available inputs, technology and the price level. It slopes upward in P-Output space but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exact slope depends whether the economy is operating at below full employment (flat) or full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employment (steep)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Full Employment: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Full employment is a state of the economy in which the productive resources of the economy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fully employed. Output may be expanded from this full employment level by asking labourers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 overtime or renting capital from outside. An alternative (historical) definition of full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79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employment was: that level of employment at which no (or minimal) involuntary 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exists.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Invisible Hand: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Invisible hand was a concept introduced by Adam Smith in 1776 to describe the paradox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laissez-faire market economy. The invisible hand doctrine holds that, with each participant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pursuing his or her own private interest, a market system nevertheless works to the benefits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as though a benevolent invisible hand were directing the whole process.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Classical Economists: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Classical economists were the earliest brand of economists the world knew. They were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essentially micro-economists who believed the macro economy was an uninteresting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aggregation of individual (or micro) markets, and any problem at the macro level was necessarily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symptom of some micro level problem.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optimal role for the government under Classical economics was one of laissez-faire. They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believed that if the prices of goods, services and factors were allowed to be determined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free operation of the forces of demand and supply (i.e. the price mechanism) the best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outcome for resource allocation would obtain. In other words the economy would be at the full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employment level, and it would not be possible to improve that situation through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intervention.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recession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a downturn in real GDP for two or more successive quarters. </a:t>
            </a:r>
            <a:endParaRPr lang="ko-KR" altLang="en-US" dirty="0" smtClean="0" sz="1097"/>
          </a:p>
          <a:p>
            <a:pPr marL="0" indent="0" defTabSz="15240" algn="l">
              <a:lnSpc>
                <a:spcPts val="44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8.2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TO MACROECONOMICS (CONTINUED………..)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Great Depression and Say’s Law: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Great Depression was the longest and severest recession the world has ever seen.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struck North America and Europe in the late 1920s after the Wall Street crash of 1929 (and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following the earlier hyperinflation in Germany, and the formation of the Soviet Union)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lasted till the mid 1930s. It was characterized by persistent high unemployment, low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by firms and falling prices of goods, services and factors.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important law the Classical subscribed to, which assumed particular importance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context of the Great Depression, was Say’s law: “supply creates its own demand.”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implication of this was that involuntary unemployment (people being unemployed against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wishes) was a temporary phenomenon as the excess supply of labour would cause wages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fall thereby prompting firms to demand more labour. If there was persistent unemployment,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voluntary, i.e. workers themselves preferred to remain unemployed.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Classicals’ Views about Great Depression: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Classicals’ reading of the three problems of the Great Depression, i.e. low investment,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 unemployment and low output, was as follows: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Investment was low because the interest rate was too high in the loanable funds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market. Policy recommendation: savings be increased to lower the interest rate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boost investment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Unemployment was high because of obstructions to the free market mechanism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 market which were preventing wages from falling to the market clearing level.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 recommendation: these obstructions: benefit payments to unemployed, taxes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and trade unions be eliminated.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The AS curve was vertical therefore lack or excess of demand could not explain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 level of activity in the aggregate market for goods and services. Policy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recommendation: focus on ways to move the AS curve to the right (i.e. supply side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Keynesians’ Views about Great Depression: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Keynes’ view on the causes of the Great Depression and what needed to be done was very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different. He believed that there were overarching problems of low demand and static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pessimistic expectations that needed to be addressed rather than disequilibria in the loanable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funds, labour and goods markets. In particular, he maintained that: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Low investment was because of firms’ bearish expectations about their ability to sell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products they produced. Firms needed to see that the potential buyers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had the money and the willingness to buy goods before they could be convinced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undertake more production thereof. Therefore, higher savings, which would lead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 consumption expenditure on goods and services would not increase but decrease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by reinforcing firms’ bearish expectations about their ability to sell their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products. Policy recommendation: households should be convinced to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 and reduce saving.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Unemployment was high and rising because the labour market equilibrium was moving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further and further away from the full employment level. This was not because wages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were being prevented from falling to the market clearing level, but because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clearing level fell further with each wage decrease. This happened because a reduction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wages also lowered consumers’ earning and spending power reinforcing firms’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pessimistic view of their ability to sell their products. Policy recommendation: higher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payments to consumers should be given out (possibly by the state) in order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their ability to buy the goods being produced by firms.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excess capacity or slack in the economy), and upward sloping after that, so that an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81</a:t>
            </a:r>
            <a:endParaRPr lang="ko-KR" altLang="en-US" dirty="0" smtClean="0" sz="1200"/>
          </a:p>
        </p:txBody>
      </p:sp>
      <p:sp>
        <p:nvSpPr>
          <p:cNvPr id="183" name="Rect 3"/>
          <p:cNvSpPr>
            <a:spLocks noGrp="1" noChangeArrowheads="1"/>
          </p:cNvSpPr>
          <p:nvPr/>
        </p:nvSpPr>
        <p:spPr>
          <a:xfrm rot="0">
            <a:off x="1417320" y="8991600"/>
            <a:ext cx="6386830" cy="155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The AS curve was horizontal at the less than full employment level (i.e. when there                  </a:t>
            </a:r>
            <a:endParaRPr lang="ko-KR" altLang="en-US" dirty="0" smtClean="0" sz="1097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injection of aggregate demand in times of recession could materially increase output,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employment and national income.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summary, Keynes believed that an economy could settle at equilibrium below the full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employment level, he advocated demand-side policies to lift the economy out of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towards full employment. He suggested the government spend itself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encourage consumption spending. This would cause demand and prices of goods to rise,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generating firms’ interest in producing more. This would in turn require hiring to go up, which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cause labour incomes to go up which would lead to further higher demand for goods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hence a reinforcement of the virtuous circle. Only such a circle could, according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Keynes, change agents’ pessimistic view of the future and take the economy out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Depression. </a:t>
            </a:r>
            <a:endParaRPr lang="ko-KR" altLang="en-US" dirty="0" smtClean="0" sz="1097"/>
          </a:p>
          <a:p>
            <a:pPr marL="0" indent="0" defTabSz="15240" algn="l">
              <a:lnSpc>
                <a:spcPts val="56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8.3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INTRODUCTION TO MACROECONOMICS (CONTINUED………..)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Keynes’ suggestions were taken on board by government but in a rather different context than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 might have anticipated, i.e. in the context of war. The Second World War broke out in 1939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higher defense expenditures by European governments to finance the War gave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necessary boost to aggregate demand. But while the economy emerged from its low-demand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recession, it now faced supply-side destruction due to war.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 was not a socialist, just someone who believed the market could not be left alone. 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the brain child of institutions such as the IMF, WB and GATT.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Keynes Demand Management Policies: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 exerted a phenomenal influence on economic thinking and policy-making in the 20th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century and to date. In the 1950s and 60s, Keynesian demand management policies were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practiced by many governments when demand went “off” due to cyclical fluctuations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economy. In recessions, the government increased spending and encouraged the private sector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do the same. In booms the opposite was done to cool the economy down.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major problem with Keynesian demand management policies was that they viewed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and inflation to be the opposite sides of the same coin. Thus, if 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high, prices must be low and vice versa. Keynes’ policies could not be applied in a situation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both prices and unemployment were rising (stagflation) – this situation arose in the 1970s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the two oil price shocks (which were essentially supply side shocks), and led to the decline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Keynesian economics.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Monetarist School: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Monetarist School, led by Milton Friedman separated the explanation for inflation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unemployment. He noted that inflation was always and everywhere a monetary phenomenon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key to keeping inflation low was to keep monetary growth aligned with expected real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growth.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Real Business Cycles (RBC) School: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Real Business Cycles (RBC) School also gained currency in the 1970s. The exponents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business cycles view noted that output fluctuated mainly due to technology shocks faced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economy, and that no Keynesian type policy could, or should attempt to, neutralize their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Rational Expectations School: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same period, 1970s, saw the rise of the rational expectations school (as opposed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Keynes’ static expectations hypothesis) led by such people as Robert Lucas, Robert Barro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Thomas Sargent who conceptualized agents as making use of all the information available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them, and not just past information, while making decisions. Under these and other conditions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showed that predictable macroeconomic policies (like Keynesian demand management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policies) had no effect on real output or unemployment.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Neo Classical Economics: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Coupled with the insights of the monetarist and business cycle schools, this view of the world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reinforced the pre-Keynesian beliefs in the power of the free market and stressed the micro-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foundations of macroeconomics. For this reason, it is called new or Neo Classical Economics.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Neo Keynesian School: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the 1980s, the new or Neo Keynesian School has emerged, led by economists such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Joseph Stiglitz. The new Keynesians have highlighted market failures at the micro level that may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arise due to information asymmetries and coordination failures (moral hazard and adverse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selection problems). As such they have shown avenues for meaningful government intervention.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is broadly where modern macroeconomics currently stands. 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8 –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of the following are macroeconomic issues, which are microeconomic ones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could be either depending on the context?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Inflation.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Low wages in certain service industries.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The rate of exchange between the pound and the euro.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d) Why the price of cabbages fluctuates more than that of cars.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e) The rate of economic growth this year compared with last year.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f) The decline of traditional manufacturing industries.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Macro.  It refers to a general rise in prices across the whole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Micro.  It refers to specific industries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Either.  In a world context, it is a micro issue, since it refers to the price of one currency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terms of one other.  In a national context it is more of a macro issue, since it refers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euro exchange rate at which all UK goods are traded internationally.  (This is certainly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less clear–cut division that in (a) and (b) above.)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Micro.  It refers to specific products.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e) Macro.  It refers to the general growth in output of the economy as a whole.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f) Micro (macro in certain contexts).  It is micro because it refers to specific industries. 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could, however, also help to explain the macroeconomic phenomena of high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or balance of payments problems.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This question is about the merits and demerits of an economic system (like socialism)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mainly focuses on ways of achieving equality of incomes and wealth across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citizens. Would it ever be desirable to have total equality in an economy?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objective of total equality may be regarded as desirable in itself by many people.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problems with this objective, however.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first is in defining equality. If there were total equality of incomes then households with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dependants would have a lower income per head than households where everyone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working.  In other words, equality of incomes would not mean equality in terms of standards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living.  If on the other hand, equality were to be defined in terms of standards of living, 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the different needs of different people be taken into account?  Should people with special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health or other needs have a higher income?  Also, if equality were to be defined in terms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standards of living, many people would regard it as unfair that people should receive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incomes (according to the nature of their household) for doing the same amount of work.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second major problem concerns incentives.  If all jobs were to be paid the same (or people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were to be paid according to the composition of their household), irrespective of people’s efforts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skills, then what would be the incentive to train or to work harder?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Is it possible to disagree with the positions that the different countries have been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assigned in the spectrum diagram in Lecture 25 based on one’s general knowledge about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these countries’ economic systems?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Given that there is no clearly defined scale by which government intervention is measured,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precise position of the countries along the spectrum is open to question.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macroeconomic problem(s) has/have generally been less severe since in the early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1990s than in the 1980s?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and, since the mid-1990s, unemployment. We must remember that unemployment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major problem in the 1920s and 1930s (during the Great Depression) and inflation was a major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in the 1970s and early 1980s.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This question is about wages, about whose rigidity and flexibility Classical economists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Keynes argued for long. Why are real wages likely to be more flexible downwards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than money (or nominal) wages?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(or nominal) wages are unlikely to fall.  The reason is that price inflation is virtually always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positive.  Thus if money wages were to fall, there would have to be a bigger fall in real wages.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example if inflation were 10 per cent and firms wanted to cut money wages by 5 per cent,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would mean cutting real wages by 15 per cent: something they would find hard to get away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with. Real wages, on the other hand frequently do fall.  Because wage agreements are usually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made in money terms, it only needs inflation to go ahead of money wage increases, and real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wages will fall.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Another reason why money wages are less flexible downwards has to do with money illusion.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will resist a cut in money wages, seeing this as a clear cut in their living standard.  If,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a money wage increase is given a bit below the rate of inflation (i.e. a real wage cut),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workers will perceive this as an increase and will be more inclined to accept it. 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indeed, because pay increases normally occur annually, any money rise (even if below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annual rate of inflation) will be a temporary real rise for a few months, until inflation overtakes 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it be possible for a short-run AS curve to be horizontal at all levels of output?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Given that some factors are fixed in supply in the short run, there will inevitably be a limit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output.  As that limit is approached, the AS curve will slope upwards until it becomes vertical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limit.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firms believe the aggregate supply curve to be relatively elastic, what effect will this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belief have on the outcome of an increase in aggregate demand?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will respond to the increase in aggregate demand by increasing their output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investment.  There are two main reasons.  The first is that they will expect output elsewhere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and that they will therefore be able to obtain supplies.  The second is that, if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believe that the rise in aggregate demand is not going to cause inflation to increase significantly,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will not expect the government to start deflating the economy and thus dampening demand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again.  They will therefore expect their increased sales to continue.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might be the negative effects of higher government expenditure (the suggested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policy prescription of Keynes) on the private sector?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government expenditure (financed from borrowing from banks) has two possible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negative effects on the private sector: financial crowding out and resource crowding out.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former, higher government borrowing from banks leaves fewer loanable funds with banks to lend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private sector. In any case, the interest rate rises due to a higher demand for lonabale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funds. This has a negative impact on private sector investment. As for resource crowding out,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projects could divert key workers and other resources that are in short supply away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the private sector. Since labour and other resources are not homogeneous and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perfectly mobile, resource crowding out can occur even when the economy has some slack in it,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i.e. is operating at less than full employment.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What, in Keynes’s view, would be the impact of a higher money supply on output, given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that there “is” slack in the economy?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rise in money supply results in an increase in aggregate demand: as people hold more money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their consumption demand increases. Interest rates also fall causing investment demand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rise. All this will lead to a rise in output with little increase in the level of prices. Thus the nominal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money supply translates fully into a real increase, delivering a strong output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response in the process.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be the Classical economists’ criticism of this argument?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increases in money supply would simply lead to higher prices in the private sector,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government projects (public works etc.) would lead to “full” crowding out - financial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resource.  Given that the cause of the problem, to Classical economists, was market rigidities,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solution was to free-up markets: to encourage workers to accept lower wages,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producers to charge lower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the extreme Keynesian model, is there any point in supply-side policies?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Successful supply-side policies, by increasing potential output, will shift the upward sloping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vertical portions of the AS curve to the right.  As a result, expansionary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management policies could now increase output to a higher level than before.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the new (or neo) Classical model, should supply side policies be used as a weapon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against inflation?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important o understand that new classical economics is strongly inspired by monetarist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thinking. Monetarists separated the explanation for inflation and unemployment. According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them, the way to reduce unemployment was to invoke supply side measures which serve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 the natural rate of unemployment, whereas demand side policies (which for monetarists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means monetary policy) policies should be used to tackle inflation. Therefore the answer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above question is “no”.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we assume that if prices and wages are flexible and agents form expectations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rationally, then is the task of the macroeconomic policymaker trivial?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answer is no. This question is about neo-Keynesianism. As you know, the debate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Classicals and Keynes was related to the functioning of markets and the flexibility of prices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wages therein. Keynes said wages were rigid, Classicals said they shouldn’t be. Then there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debate between Keynesian economists and neo-Classical economists over how agents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formed expectations about the future. Keynes believed in static expectations whereas neo-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Classical economists believed in rational expectations. Now if we assume that prices and wages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perfectly flexible and expectations are rationally formed, then we are essentially subscribing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laissez faire, pre-Keynesian Classical view of things., in which there was very little role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intervention. However, this is where neo-Keynesians come in. The new Keynesians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highlighted market failures at the micro level that may arise due to information asymmetries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coordination failures (moral hazard and adverse selection problems). As such they have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shown avenues for meaningful government intervention.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might expansionary aggregate demand policy positively affect aggregate supply?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expansion in demand comes about due to higher investment, and if the same leads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technological change (this usually happens in the very long run), then the long-run AS curve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might also shift to the right. In this case, the expansionary impact on output and income effect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be magnified.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Does the shape of the long-run AS curve depend on how the ‘long’ run is defined?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If the long run is defined so as to include the possibility of technological change resulting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investment, then the long-run aggregate supply curve can be deemed relatively elastic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(flat).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there is a fall in aggregate demand (for goods). Trace through the short-run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long-run effect on employment.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fall.  This causes the real wage to rise. At this real wage rate there is a deficiency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labour.  In the short run there will be an increase in unemployment.  In the long run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deficiency of demand will drive down the money wage rate until the real wage rate has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returned to its earlier level.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AS and AD in an economy intersect at a point a, and after a rightward shift in AD and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leftward shift in AS, the new equilibrium obtains at a g which is vertically above point a,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does this necessarily imply that the long-run AS curve is vertical?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would only be so if the upward shifts in the (short-run) AS curves had been entirely due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aggregate demand feeding through into higher prices. If, however, AS had shifted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upwards partly as a result of cost-push pressures independent of aggregate demand, then point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 could still be vertically above point a (i.e. if the long-run AS curve were upward sloping and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had shifted upwards).  With an upward-sloping long-run AS curve, if there had been no such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cost-push pressures, g would be to the north east of a. Alternatively, if cost-push pressures had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been great enough, point g could be to the northwest of point a.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it possible for the AS curve shift to the right over time?  If it did how would this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influence the effects of the rises in aggregate demand?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Potential GDP, Yp, and hence AS, will shift to the right over time as potential growth takes place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(new resources discovered and new technologies invented).  Also the rise in aggregate demand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in output may lead to increased investment and hence a bigger capital stock: this too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shift Yp and AS to the right. The rightward shift of Yp and AS will allow the rise in aggregate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to lead to a bigger increase in actual output (Y) and a smaller increase in the price level.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there are two shocks. The first causes aggregate supply to shift to the left.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second, occurring several months later, has the opposite effect on aggregate supply.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Show that if both these effects persist over a period of time, but gradually fade away,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economy will experience a recession which will bottom out and be followed in smooth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succession by a recovery.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fall (leftward shift) in aggregate supply in the new classical model will reduce output and hence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 a recession.  If the shock pushing the AS curve to the left persists for a period of time,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the recession will deepen as aggregate supply falls, but less and less quickly as the effect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fades away.  If the second shock has a rightward pushing effect on the AS curve, then, as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first effect fades away, the second effect will become relatively stronger.  Output will begin to rise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 and gather pace as the first effect disappears.  Whether output will continue falling initially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after the appearance of the second effect depends on the relative size of the two effects at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particular stage.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you are living in a Keynesian world and there is slack in the economy and room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expansionary macroeconomic policies, would you introduce these policies in a slow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steady manner or haphazardly and suddenly?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management would have be carried out in a steady and predictable way since Keynes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assigned a lot of importance to certainty and stability and the confidence they give to firms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undertaking investment.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constant criticism of governments in the media makes people highly cynical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skeptical about the government’s ability to manage the economy, what effect will this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have on the performance of the economy?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 will become less manageable!  It may become less stable and as a result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and growth may be lower and inflation higher.  The worse people believe the long-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 economic prospects are for the country, the more pessimistic they are likely to become,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thus the worse is likely to be the actual performance of 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This question is about the Monetarist challenge to Keynesian economics. Since this is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difficult question to answer, I would advise you to revisit it at the end of the course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during the discussion on inflation, and the monetary sector.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a monetarist answer the Keynesian criticisms given below?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‘The time lag with monetary policy could be very long.’ Monetarists do not claim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can be used to fine tune the economy.  It is simply important to maintain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stable growth in the money supply in line with long-term growth in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‘Monetary and fiscal policy can work together.’ Monetarists would argue that it is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effects of fiscal policy that cause aggregate demand to change.  Pure fiscal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 will be ineffective, leading merely to crowding out.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3. ‘The velocity of money is not stable, thus making the predictions of the quantity theory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– i.e. that monetary growth must necessarily lead to inflation – is unreliable.’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Monetarists would accept that the velocity of money circulation fluctuates in the short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term, but they will argue that there is still a strong correlation between monetary growth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inflation over the longer term.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4. ‘Changes in aggregate demand cause changes in money supply and not vice versa.’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Monetarists would argue that if governments respond to a rise in aggregate demand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allowing money supply to increase, then that is their choice to expand money supply. 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had chosen not to and had pursued a policy of higher interest rates, then money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would have thereby been controlled and aggregate demand would soon have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fallen back again.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Suppose that, as part of the national curriculum, everyone in the country had to study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economics up to the age of 16.  Suppose also that the reporting of economic news by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media became more thorough (and interesting!).  What effects would these developments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have on the government’s ability to manage the economy?  How would your answer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differ if you were a Keynesian from if you were a new classicist?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People’s predictions would become more accurate (at least that’s what teachers of economics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probably hope!).   Thus the government would be less able to fool people.  In the new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classical world there would be less shifting of the short-run AS curve or the short-run Phillips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curve.  The government would find it even more useless to try to reduce unemployment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demand-side policy.  On the other hand a tight monetary policy would be more likely to reduce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very rapidly.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Keynesian world, correctly executed demand management policy would be seen to be so.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would create a climate of confidence which would help to encourage stable growth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investment.  On the other hand, poorly executed government policy would again be seen to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so.  This could cause a crisis of confidence, a fall in investment and a rise in 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and/or inflation. </a:t>
            </a:r>
            <a:endParaRPr lang="ko-KR" altLang="en-US" dirty="0" smtClean="0" sz="1097"/>
          </a:p>
          <a:p>
            <a:pPr marL="0" indent="0" defTabSz="15240" algn="l">
              <a:lnSpc>
                <a:spcPts val="38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- 9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9.1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USE OF MACROECONOMIC DATA, AND THE DEFINITION AND ACCOUNTING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NATIONAL INCOME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USE OF MACROECONOMIC DATA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is said: “there are lies, damned lies and statistics.” Likewise, macroeconomic statistics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also susceptible of both manipulation and misinterpretation. In order to ensure that you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understand what a particular number or data representation really means, the following need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be considered: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Data might be used selectively. Certain information might be excluded: e.g.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as a whole might have increased but food inflation might have fallen.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In graphs, the vertical and horizontal scales used might be such in a way so as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paint a very dramatic (or totally benign) picture of things.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Values used might be absolute, not proportionate. People might be paying higher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taxes, but as a proportion of income, the same may have fallen, as incomes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might have risen even higher.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Questions of distribution might be ignored. For e.g., while the economy might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become richer overall, the ownership of the higher wealth might be highly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skewed so that the richer have become richer and poor poorer.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v. Data might be nominal or real. Nominal data is recorded in money terms,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unadjusted for inflation. Real data is nominal data adjusted for changes in prices.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Most macroeconomic data is presented and analyzed in real terms so as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permit meaningful intertemporal and cross-country comparisons.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vi. Certain time periods might be excluded: e.g. economic growth might be 4.5%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 the 1990-95 timeframe, but only 3.5% over the 1988-97 horizon.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vii. Data might be aggregate, ignoring per capita considerations: e.g. a country’s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income goes up but per capital income goes down due to a bigger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population.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viii. vii also applies in the context of growth rates. So if national income is growing 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5% p.a. but the population at 6% p.a., per capital income would be falling 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of 1% p.a.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DEFINITION AND ACCOUNTING OF NATIONAL INCOME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Gross Domestic Product (GDP):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Gross domestic product (GDP) is the value of the total final output produced inside a country,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during a given year. GDP, like all measures of national income, is a flow (as opposed to stock)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figure accruing over the period of one year.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Concept of Flow and Stock: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flow figure refers to a certain period of time. A stock figure implies a particular point in time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therefore changes instantaneously. Flows accumulate into stocks. Changes in stocks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equal flows. In accounting terminology, stocks are balance sheet items, while flows are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statement items.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Ways of Measuring GDP: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three equivalent ways of measuring GDP: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The product or value added method which sums the value added by all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productive entities in the economy;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The expenditure method which sums up the value of all the “final goods”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transactions taking place in the economy;  </a:t>
            </a:r>
            <a:endParaRPr lang="ko-KR" altLang="en-US" dirty="0" smtClean="0" sz="1097"/>
          </a:p>
          <a:p>
            <a:pPr marL="0" indent="0" defTabSz="15240"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89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And the factor income method which sums up all the incomes earned by all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factors of production in the economy (rent for land, wages for labour, interest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capital, and equity returns for entrepreneurship).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three methods are equivalent. One way to see why this must be so is because in an ex-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post sense, aggregate supply (i) = aggregate demand (ii) = national income (iii).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Value added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difference between the value of goods produced and the cost of materials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supplies used in producing them. Value added consists of the wages, interest and profit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components added to the output by a firm.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Final and Intermediate Goods: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Final goods are meant for direct use by the end consumer rather than for further processing.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Intermediate goods are those that are intended for further processing. So an iron rod,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purchased by a household as a weapon against infiltrating thieves would categorize as a final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good, but if purchased by a firm for use in the making of an automobile would categorize as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intermediate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GDP might be calculated at market prices (includes sales tax paid by consumer as part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final price) or at factor cost (excludes sales tax). If there is no sales tax, the two measures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collapse to the same thing.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Net Domestic Product (NDP):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Net domestic product (NDP) is obtained by subtracting depreciation from GDP. Depreciation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reduction in the value of a capital good due to the wear and tear caused during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39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9.2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USE OF MACROECONOMIC DATA, AND THE DEFINITION AND ACCOUNTING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NATIONAL INCOME (CONTINUED……………..)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Gross National Product (GNP):                          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Gross national product (GNP) is the value, at current market prices, of all final goods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 produced during a year by the factors owned by the citizens of a country. Thus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earned by Pakistani citizens working in the US would be included in Pakistan’s GNP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but excluded from Pakistan’s GDP. Conversely, the income earned by a US citizen (individual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corporate) in Pakistan would be included in Pakistan’s GDP but excluded from Pakistan’s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GNP. Generally, GNP = GDP + net factor income from abroad.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Net National Product (NNP):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Mathematically, national income is net national product (NNP). It is GNP adjusted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depreciation. In words, it is the net output of commodities and services flowing during the year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the country’s production system in the hands of ultimate consumers.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 Capita Income, Personal Income and Disposable Income: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capita income is obtained by dividing the national income by the total number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population. It is the average annual income per head for all the inhabitants of the country; it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used to represent the standard of living of the people.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personal income of an individual is the total amount of income s/he receives form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deploying all the different factors of production s/he owns. Aggregate personal income is just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above definition aggregated for the whole of 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Disposable income is obtained by subtracting the amount of direct taxes from the personal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of the person. Aggregate holds as above as well.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Real GDP, Nominal GDP and Price Deflator: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Real flow includes services of land labor and capital going from households to firms,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products of firms as physical goods of services flowing to households. Real GDP therefore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excludes the effect of prices and focuses entirely on the volume (or quantity) of goods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 produced.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(or nominal) flow includes the payments firms make to households for factor services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also it includes the household spending money to buy goods from firms. Nominal GDP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therefore include the effect of changes in the price level, as it is a measure of the money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of goods and services produced.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the price deflator (see price\ratio expression in brackets below) which enables us to move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nominal to real GDP. It provides a measure of the change in prices from the base (or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benchmark) year to year ‘a’, given values for some aggregate price index for the two years: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Real GDP year a = Nominal GDP year a X (Price Index base year / Price Index year a)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Using a similar formula and the same base year, Real GDP year b can be calculated and 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compared with Real GDP year a  to get an idea of real GDP growth over the ‘a’ to ‘b’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period.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 Capita GDP: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capita GDP is simply the total GDP of the economy divided by the no. of people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economy. The GDP of China might be bigger than the GDP of Switzerland but in average per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 terms, Switzerland’s income might be several times that of China’s; the figure given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lectures was 160.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Purchasing Parity (PPP):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The purchasing power parity (PPP) measure of GDP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recognizes the fact that a given amount of income in one country might not be able to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 the same quantity of goods and services in another country. So, for e.g., if China’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capita income is 1/160th of Switzerland’s per capital income, it might be that goods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services in China are much cheaper and therefore China’s per capita income does not need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 160 times in order to deliver the same standard of living as in Switzerland. The PPP GDP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capita is therefore a more sensible measure to use for comparison across countries 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levels of development. This is indeed the reason why many international development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organizations prefer this over simple GDP per capital.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Drawback of GDP Based Measures: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many caveats with a GDP based measure of national income.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GDP by definition excludes productive activities in the informal economy. Thus,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activities such as a person painting a wall in his own house, or a woman cooking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food in her house, would be excluded by a GDP-based measure. In countries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a large part of economic activity goes unreported and undocumented (like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lower income countries), the GDP might seriously understate the level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income and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GDP cannot include the black or illegal economy. So, for example, if a banned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 is produced illegally and exported outside the country, and foreign money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received in exchange for it, then that “export revenue” will not be included as part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GDP. Lower income countries often confront a large black economy which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cannot be documented. Living standards in such countries are therefore often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than what a per capital income measure based on GDP would suggest.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A GDP-based measure of welfare or living standards also needs to be corrected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externalities. For e.g., if a country’s GDP is growing at a very fast rate but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at the cost of rising environmental pollution (which might cause serious future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health hazards) or non-renewable natural resource depletion, then a simple GDP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 of income will overstate the performance of the economy and ignore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serious long-term risks it faces.  </a:t>
            </a:r>
            <a:endParaRPr lang="ko-KR" altLang="en-US" dirty="0" smtClean="0" sz="1097"/>
          </a:p>
          <a:p>
            <a:pPr marL="0" indent="0" defTabSz="15240" algn="l">
              <a:lnSpc>
                <a:spcPts val="34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9 -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we were trying to get a ‘true’ measure of national production, which of the following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activities would you include: (a) washing-up; (b) planting flowers in the garden; (c)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playing an educational game with children in the family; (d) playing any game with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children in the family; (e) cooking your own supper; (f) cooking the supper for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whole family; (g) reading a novel for pleasure; (h) reading a textbook as part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studying? Is there a measurement problem if you get pleasure from the do-it-yourself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activity itself as well as from its outcome?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difficulty stems from separating production from consumption.  In the paid-employment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sector of the economy, the distinction is clear.  With production, money flows from firms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households (as wages, etc.), and with consumption, money flows from households to firms.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activities in the home, however, have both a production and consumption element.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Although they all lead to a benefit when complete (e.g. washing-up leads to clean dishes),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several, if not all, could give pleasure while they are actually being performed.  If so, should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lots of benefits be recorded (or even three)?  Playing an educational game with children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 give pleasure to the children, future benefits to the children from the educational element,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pleasure to the parents.  Then there is the cost element. Should this be deducted?  It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deducted for marketed output.  In other words, the final value of goods and services sold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 is included, not the value minus the cost of producing them: costs such as the disutility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(effort, boredom, etc.) experienced by workers.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Ideally, a true measure of national welfare, as opposed to national production, should be only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net measure (i.e. benefits from consumption, minus costs of production).  If this principle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used to measure welfare in the household, then all pleasurable activities should be included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a positive sign (including things such as reading a novel for pleasure) and anything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causing displeasure should be recorded with a negative sign.  Most of the above activities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have elements of both benefits and costs.  However, when marketed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is recorded, costs are ignored, and so for comparative purposes, household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should be recorded on the same basis, and only the benefits recorded.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the above items bring pleasure, either directly (such as reading a novel) or indirectly (such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doing the washing-up), and in this sense they should all be included, but whether activities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give direct pleasure should count as production or merely as consumption, is a question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definition.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Review this question after the balance of payments lectures. If the Malaysian ringgit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undervalued by 47 per cent in PPP terms against the US dollar, and the Swiss franc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overvalued by 53 per cent, what implications does this have for the interpretation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Malaysian, Swiss and US GDP statistics?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GDP figures understate the purchasing value of Malaysian national income by 47 per cent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 to US national income, and overstate the purchasing value of Swiss national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53 per cent relative to US national income.  In other words, at the exchange rates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question, Malaysian national income seems 47 per cent lower relative US national 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it really is in purchasing terms, and Swiss national income seems 53 per cent higher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 to US national income than it really is in purchasing terms.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there are no sales taxes, no net factor income from abroad and no depreciation, will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GDP at market prices and national income measures collapse to the same thing?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National income is NNP at factor cost = GNP at factor cost - depreciation. Since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depreciation = 0, NNP at factor cost = GNP at factor cost.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GNP at factor cost = GDP at factor cost + net factor income from abroad. Since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net factor income from abroad = 0, GNP at factor cost = GDP at factor cost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GDP at factor cost = GDP at market price – sales taxes. Since sales taxes = 0,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GDP at factor cost = GDP at market price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Therefore NNP at factor cost = GDP at market price.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nominal GDP has increased by 10% over last year but real GDP has fallen by 2%, by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percentage must have prices risen?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12%. Real GDP growth rate = GDP growth rate – the rate of inflation.  -2% = 10% +?;? = 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12%.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population growth good or bad for a country’s economic welfare?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depends. If the energies of the growing population (and labour force) can be usefully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efficiently employed towards productive activity, then the growth impact of the larger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population may dominate the negative impact of the large denominator in the per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formula. However, if more and more people produce less and less (law of diminishing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returns) and the quality of human capital created is generally poor, then it might well be that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 population leads to a decline in per capita income and hence average living standards.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also depends on the starting level of the population. In many African countries, centuries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slavery and migration to other countries, and decades of disease and wars, have led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working populations in these countries to fall below the minimum threshold required for them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“take off” in an economic sense. By contrast, many South Asian and East Asian countries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quite heavily populated and could use a little cooling down of population growth rates.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should one treat macroeconomic statistics?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extreme caution, as such data is likely to be used and abused by different interest groups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support their respective stories. It is usually not the data which is misleading or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consistent with the truth but the manner in which it is presented which makes a certain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interpretation of that data more likely. Objective analysis of data consists in stripping it off its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particular dressings and looking at all the possible stories it can tell.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By what would we need to divide GDP in order to get a measure of labour productivity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 hour?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total number of hours worked in the year throughout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the size of the underground or black economy likely to increase or decrease as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level of unemployment rises?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could rise or fall depending on which of two effects is the larger.  On the one hand, if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certain proportion of unemployed people claim unemployment benefit and work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underground economy, then, with a higher official level of unemployed, the size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underground economy is likely to be bigger.  On the other hand, if the economy is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recession, it is likely that the size of the underground economy will shrink along with the rest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Name some external benefits that are not included in GDP statistics?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Three examples are: the pleasure people get from seeing other people’s attractive houses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gardens, aesthetically pleasing architecture, improved health from a better diet.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worries about the consequences of economic growth a ‘luxury’ that only rich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countries can afford?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is a very cynical way of looking at the issue.  The point is that the marginal benefit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output in a poor country is likely to be much higher than in a rich country (given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diminishing marginal utility of income).  Thus if a cost–benefit study were done of specific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policies, the benefits would probably enter with a higher value per unit in a poor country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in a rich country.  This does not mean that the cost should be ignored.  It is just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may be prepared to make bigger sacrifices for increased output in poor countries than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rich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must be careful with these arguments, however.  They could be used to ‘justify’ policies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are highly damaging to the environment by governments which have little long-term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in the welfare of the people, or by firms which are unconcerned about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environmental consequences of their activities.  The point is that costs should still be taken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into account: it is just that the benefits should possibly be given a higher weighting.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a retailer buys a product from a wholesaler for £80 and sells it to a consumer for £100,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then the £20 of value that has been added will go partly in wages, partly in rent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partly in profits.  Thus £20 of income has been generated at the retail stage.  But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good actually contributes a total of £100 to GDP.  Where then is the remaining £80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worth of income recorded?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the wholesale stage and earlier.  Each stage adds value – value that is partly in wages,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partly in rent, etc.  When the values added at all the stages are summed, this gives the final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of the good.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index called the index of sustainable economic welfare (ISEW) has been developed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by certain economists to measure sustainable development in different countries.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index takes account of factors like depletion of natural resources which reduces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likelihood of growth being sustained. Make out a case against using ISEW.  How would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advocate of the use of ISEW reply to your points?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three major criticisms of ISEW.  The first concerns its use as a substitute for GDP.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GDP is not meant to be a true measure of living standards, both now and sustainable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future. Instead it is primarily a measure of output that involves exchange, an important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 when attempting to understand the relationship between aggregate demand (as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expressed through exchange relationships) and aggregate supply.  The second criticism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concerns the selection of items that should be included.  Any list could be criticized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including too many or too few items.  For example, it could be argued that various forms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public expenditure should be included (other than on health and education, which are already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included).  On the other hand, various forms of ‘services of household labour’ are not clearly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production.  They could be seen as a form of consumption.  For example, does time spent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gardening constitutes work or pleasure?  We would not include watching television or sitting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relaxing as production, so should be include gardening or any other hobbies as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generates pleasure when consumed or merely as pure consumption?  Similarly, do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relationships between people constitute the ‘provision of services’ or is it rather mere joint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consumption?  The third and perhaps the most serious criticism concerns measurement.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How, for example, should the depletion of non-renewable resources or long-term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environmental damage be measured?  Such measurement entails various value judgments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about the relationship between present and future costs.  In fact, the value placed on all non-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marketed items is likely to be highly controversial (more so than marketed items, where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corrections for market distortions could relatively easily be made).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advocate of ISEW would reply that ISEW, as its name says, is meant to be a measure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sustainable economic welfare, and not a measure of marketed output and is thus doing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something different from the conventional use of GDP.  If GDP is used, not for its original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purpose, but as a measure of welfare, then ISEW is superior.  As far as the selection of items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their measurement is concerned, there will be inevitably be disagreement,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have different values.  But here the advocate of ISEW would reply with the last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sentences of the box. </a:t>
            </a:r>
            <a:endParaRPr lang="ko-KR" altLang="en-US" dirty="0" smtClean="0" sz="1097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- 10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10.1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MACROECONOMIC EQUILIBRIUM &amp; VARIABLES; THE DETERMINATION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INCOME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MACROECONOMIC EQUILIBRIUM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circular flow of money in the economy helps illustrate the Classical and Keynesian notions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macroeconomic equilibrium. The circular flow depicts incomes flowing from firms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households in return for factor services supplied by households to firms, and subsequently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these household incomes being expended on goods and services supplied by firms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households.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Leakages and Injections: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‘A leakage or withdrawal is any use of the income received by households that does not return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revenue to domestic firms. Savings, taxes and imports are examples of leakages as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does not fall as expenditure on goods and firms produced by domestic firms.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Injections are payments to firms not originating from households: government spending, firms’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and exports are all examples of injections into the circular flow.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Macroeconomic Equilibrium in Case of Keynesian and Classical Sense: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Macroeconomic equilibrium in a Keynesian sense obtains when total injections equal total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leakages (or total withdrawals), or aggregate supply equals aggregate demand. These are two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equivalent notions of Keynesian equilibrium and can be expressed respectively as: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 + T + M ≡ I + G + X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 = Y = AD ≡ C + I + G + (X-M);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AS is aggregate supply, Y is national income, AD is aggregate demand, C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consumption, I is investment, G is government spending, X is exports, M is imports, S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saving and T is taxes.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Macroeconomic equilibrium in a Classical sense refers, by contrast, to joint equilibrium in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underlying sectors or markets of the economy. So S must equal I (loan able funds market;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 players are banks and financial markets), G must equal T (fiscal sector; key player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government) and X = M (external sector, key players are importers and exporters).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disequilibrium at the macro level was attributable to disequilibrium in one or more of these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individual markets.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Keynes’ major insight was that equilibrium in the individual markets was not a necessary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condition for equilibrium at the macro level. Indeed it was possible for all the individual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sectors to be in disequilibrium but aggregate demand and supply to be equal, and therefore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overall economy to be in equilibrium. As such, he argued that in the face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macroeconomic equilibrium (situations like unemployment, high inflation etc.) policy needed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focus on aggregate demand and aggregate supply rather than individual markets.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MACROECONOMIC VARIABLES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refresh your memories, aggregate demand is the total planned or desired spending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 during a given period. It is determined by the money supply, aggregate price level,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consumption, domestic investment, government spending and taxes, net exports (i.e. exports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minus imports). Aggregate supply is the total value of goods and services that firms would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willingly produce in a given time period. Aggregate supply is a function of available inputs,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technology and the price level.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Disposable income (Y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that part of the total national income (Y) that is available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households for consumption or saving. So Y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Y – T.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Consumption and Consumption Function: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 (C) is the amount of national income that is spent on goods and services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produced by domestic firms in a given period of time. Consumption is the most stable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important component of aggregate demand, accounting for about two-thirds to three-fourths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GDP in most countries.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consumption function is a schedule relating total consumption to personal disposable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income. It usually takes the form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 = a + bY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= a + b(Y-T)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where a is the minimum level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 that must take place even if Y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zero, and b is the marginal propensity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drawn in expenditure-income space, the consumption function plots as a straight line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positive intercept, and a positive (but less than 1) slope. The slope is merely the MPC.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intercept is positive because some consumption must happen even at a zero level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(people will borrow and spend on food for e.g.), and the slope is less than 1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all the income is consumed (part of it is saved).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Marginal Propensity to Consume (MPC) and Marginal Propensity to Save (MPS):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propensity to consume (MPC) is the extra amount that people consume when they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receive an extra dollar of disposable income. MPC’s numerical value is usually between 0.5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1, but can vary considerably across different countries, population age groups, and stages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a person’s life.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Marginal propensity to save (MPS) is the fraction of the additional dollar of disposable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is saved. Thus, MPC = 1 – MPS. Average propensity to consume (APC) is the ratio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consumption to total disposable income. Average propensity to save (APS) is the ratio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total saving to total disposable income. As before, APC = 1 – APS.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Saving Function: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saving function yields the amount of saving that households of a nation will undertake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each level of income. A usual formula is S = c + d(Y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). d is MPS, positive, and usually less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0.5.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relationship between saving and the interest rate is also important. The relationship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positive, is plotted in i-S space, and implies that household saving increases as the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goes up, i.e. the incentive to keep one’s money in the bank and earn interest thereon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 as the return on that money increases.  </a:t>
            </a:r>
            <a:endParaRPr lang="ko-KR" altLang="en-US" dirty="0" smtClean="0" sz="1097"/>
          </a:p>
          <a:p>
            <a:pPr marL="0" indent="0" defTabSz="15240" algn="l">
              <a:lnSpc>
                <a:spcPts val="2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10.2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MACROECONOMIC EQUILIBRIUM &amp; VARIABLES; THE DETERMINATION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INCOME (CONTINUED………..)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Investment and Investment Demand Curve: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(I) or gross capital formation is any economic activity (usually undertaken by firms)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forgoes consumption today with an eye to increase output in future. Investment is by far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most volatile component of aggregate demand.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investment demand curve shows the relationship between the level of investment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borrowing for the firm (i.e. the interest rate), plotted in i-I space. The cost of borrowing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important because most investments are financed using borrowed resources (e.g. loans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banks). The relationship between the interest rate on such borrowing and investment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is obviously negative, i.e. as the interest rate goes up, investment demand decreases.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Types of Investment: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can be of various types: residential and non-residential construction, purchases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producer durables (i.e., capital equipment, machinery etc.) and buildup of business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inventories. While all these different types are affected t some extent by the interest rate, there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other important determinants as well.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Residential construction depends upon the number of willing house-buying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households, their wealth and indebtedness levels, their ability to obtain a house-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building loan from financial institutions and the cost of housing units.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Non-residential construction depends upon the willingness and ability of firms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buy commercial property, the vacancy rate of existing units, the needs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business units for additional commercial space, and firms’ ability to meet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rental costs which are directly linked to their current and expected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and sales.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The demand for producers’ durable purchases depends on utilization of existing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productive capacity, the availability of advanced (more efficient) technology,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current and expected sales and existing and future competition.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Changes in business inventories depend on current and expected sales, current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expected inventory prices, and certainty of inventory deliveries.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Imports, Exports and Trade Balance: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Imports are goods and services that are produced in another country and consumed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home country. Thus a refrigerator produced in Korea brought into Pakistan to be sold 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locally would characterize as an import.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 are goods and services that are produced in the home country and consumed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another country. Thus a communications satellite produced in Pakistan but sold to neighboring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Iran would categories as a Pakistani export.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country’s imports are related to its level of income, exchange rate, domestic prices relative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prices in foreign countries, import tariffs (taxes and customs duties levied on imported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goods), and quantitative restrictions (quotas) on imported goods. Imports are influenced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variables except that they are affected by foreign, not home, country income levels.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Trade balance is the excess of exports over imports. A negative trade balance is called a trade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deficit. Because the determinants of a country’s exports and imports change with time, it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reasonable to expect a country’s trade balance to change over time.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Fiscal policy: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Policy is a government program with respect to i) expenditure (G): the purchase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and services and spending in the form of subsidies, unemployment benefits etc. and ii)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 revenue (T): the amount and type of taxes.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T-G is referred to as the fiscal balance. If G&gt;T, there is a fiscal or budget deficit; if G&lt;T, there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a fiscal or budget surplus. If G=T, there is a balanced budget. 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DETERMINATION OF NATIONAL INCOME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45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Line and Equilibrium: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45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line drawn in Y-X space has the feature that at any point on the line, the horizontal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vertical distances are the same. Thus, if the units used to measure X and Y are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(i.e. same scales), the values of the two variables at any point along the line are equal.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45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line drawn in expenditure-income (or AD-Y) space captures macroeconomic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in the economy (recall, macroeconomic equilibrium obtains when AS = AD = Y). 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 points along this line, expenditure and income are equal.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Superimposing the aggregate demand (AD) line or expenditure function on the 45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line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diagram helps get the level at which a particular economy’s equilibrium is struck; i.e. the point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which the AD line intersects the 45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line.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AD or expenditure function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given by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AD = C + I + G + (X-M)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We saw earlier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 function was upward sloping with positive intercept but slope between 0 and 1 (i.e. less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steep than the 45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0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line). Adding the I, G and X-M functions to the C function simply involves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moving the C line vertically upwards (parallel shift). So C+I will be higher than C by the amount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I; C+I+G will be higher than C+I by the amount of G; and C+I+G + (X-M) will be higher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lower than C+I+G depending on whether the country is running a trade surplus or deficit,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respectively.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Starting from a certain equilibrium level, any increase in G, I and (X-M) will cause a multiplied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income. Thus depending on the slope of the AD line, it is possible for a $10mn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G (shown by an upward vertical shift of the AD line) to lead to a $50mn increase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income and expenditure.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above example, if the economy had started from the full-employment equilibrium, 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$10mn increase in G would lead to an inflationary gap. An inflationary gap refers to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situation where there is pressure on prices to rise. The size of the inflationary gap is $10mn,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i.e. the amount by which the C+I+G+NX line must shift down to bring equilibrium income back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full employment level. Likewise, a deflationary gap could result if, starting from the full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employment level, there was a reduction in 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Algebraic determination of equilibrium: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Algebraic determination of equilibrium can be done by inserting the plugging the consumption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function in place of C in the equation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AD = C + I + G + (X-M)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absence of taxes, a consumption function simply collapses to C = a + bY.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equilibrium,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 = AD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Y* = a + bY* + G + I + (X-M)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leads to: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Y* = [1/(1-b)] . [“a” + I + G + X-M]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is the autonomous part of consumption, i.e. the level of consumption that is independent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analysis can also be done using the injections-leakages approach, i.e.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identifying the point where the upward sloping leakage function (S+M+T) intersects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horizontal injections line (I+G+X).  </a:t>
            </a:r>
            <a:endParaRPr lang="ko-KR" altLang="en-US" dirty="0" smtClean="0" sz="1097"/>
          </a:p>
          <a:p>
            <a:pPr marL="0" indent="0" defTabSz="15240" algn="l">
              <a:lnSpc>
                <a:spcPts val="1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99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10.3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MACROECONOMIC EQUILIBRIUM &amp; VARIABLES; THE DETERMINATION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INCOME (CONTINUED………..)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KEYNESIAN MULTIPLIER AND ACCELERATOR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Keynesian Multiplier: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Reverting to the 45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line approach, the term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[1/(1-b)]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called the Keynesian multiplier (“k”)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is the factor by which equilibrium output, income or expenditure increase in response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increase in AD (caused by an increase in “a”, G, I or X-M). The higher is b, the bigger is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multiplier.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Mathematical representation of Keynes multiplier is as follows: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 = C + I + G + NX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 = a +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 = a + bY + I + G + NX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 – bY = a + I + G + NX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 = a + I + G + NX =   1    (a + I + G + NX)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– b               1 – b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 =     1____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 – b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Keynes’s intuition about the multiplier was as follows: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increase in AD caused by an injection into the circular flow, e.g. higher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spending on wages paid to government employees, would lead to higher money wages held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government servants. Higher wages would translate into higher consumption expenditure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goods and services in the economy, leading to higher money incomes of sellers of goods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services. When firms see consumers more prosperous, they are incentivised to produce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more, thus their demand for labour goes up. This triggers a second rise of income increases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hands of workers (who are also consumers) leading to a further multiplied effect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consumption, production and hiring. And so on. The multiplier effect would not be infinite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leakages (saving, taxes, imports) from the circular flow of incomes each time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workers receive wages from firms. The lower the leakages and the higher the marginal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propensity to consume, the higher will be the multiplier effect.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Keynes paradox of Thrift: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reverse multiplier effect can be illustrated in the context of Keynes’s paradox of thrift,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highlights the negative impact of higher saving in an economy in recession. As noted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earlier, Classical economists thought the solution to the problem of low investment during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Great Depression was high real interest rates caused by low savings. If the latter could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increased, the real interest rate would fall and investment would pick up. However, Keynes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said that such thrift (or conservative saving behaviour) would accentuate the recession.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save more, they will spend less. Firms will therefore produce less, and labour hiring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will, as a result, fall, leading to a decline in incomes. This decline would also happen in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multiplied fashion, causing a huge decline in national income. The paradox lies in the fact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saving, while usually considered good for any one individual, can actually be harmful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overall economy if everyone started saving.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Accelerator: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accelerator is a related concept which formalizes the investment response to output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changes in an economy. The key observation here is that when an economy begins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recover from a slump, investment can rise very rapidly and, in percentage terms, the rise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may be several times the rise in income. Since investment is an injection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circular flow of income, these changes in investment will cause multiplied changes in income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thus heighten a boom or deepen a recession. The formula for the accelerator is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= I/(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Y),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K)/(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Y), noting that I =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	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K, where I is investment and K is capital (the stock of plants,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buildings or machinery in the economy).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reason why investment increases by much more than a change in income is 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follows: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Suppose firms anticipate national income (and hence the demand for their products) to rise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10% p.a. over the next 5 years. In response, firms will therefore normally look to undertake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(such as buying a machine) which will enable them to meet this new demand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entire 5 year period. It is usually neither feasible nor possible to buy a machine that has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year life! Thus, it is easy to see why a given annual change in output (10%) might prompt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with a five year horizon to make an investment of over 50%. 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Reverting back to the formula, the size of the accelerator,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, depends on the marginal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output ratio: 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K)/(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Y). This is the cost of extra capital required to produce a Re.1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national output. So if Rs.2 billion worth of capital is required to produce Rs.1 billion worth of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output, then 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K)/(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Y) is 2. It is easy to see that, other things being equal the marginal capital-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ratio and the accelerator are essentially the same.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is likely to be greater than 1.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Interaction of accelerator and Multiplier: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obvious that the interaction of the accelerator and multiplier can set off a chain reaction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 which can life output and income manifold. For e.g., if there is a rise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expenditure, this will lead to a multiplied rise in national income. But this rise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income will set off an accelerator effect: firms will respond to the rise in incomes (and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resulting rise in consumer demand) by investing more. But this rise in investment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constitute a further rise in injections and thus will lead to a second multiplies rise in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so on… 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reason why such an interaction cannot raise output infinitely is because of two reasons i)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 runs into the full-employment constraint, i.e. there is a fixed number of workers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economy, and ii) output must grow at an increasing rate (something which is difficult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sustain for very long) in order for investment to continue rising. This is because the accelerator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links investment to changes in output, not the level of output. So for e.g., if output rises in year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 by Rs.3bn, in year 2 by Rs.2bn, and in year 3 by Rs.1bn, then with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= 2, investment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Rs.6bn, Rs.4bn, and Rs.2bn in years 1, 2 and 3 respectively. As can be seen, I falls even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though output is rising, leading to a reverse multiplier accelerator chain reaction to be set off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 will be reversed. The key point to remember, again, is that investment is related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“changes in income” not the “level of income”, and therefore “changes in income” have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in order for investment to increase. A mere increase in level is not important. </a:t>
            </a:r>
            <a:endParaRPr lang="ko-KR" altLang="en-US" dirty="0" smtClean="0" sz="1097"/>
          </a:p>
          <a:p>
            <a:pPr marL="0" indent="0" defTabSz="15240" algn="l">
              <a:lnSpc>
                <a:spcPts val="2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10 -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are the conditions for macroeconomic equilibrium in the economy.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Injections (governemnt spending, exports, investment) into the circular flow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incomes must equal the withdrawals (saving, taxes, imports) from the circular flow;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Aggregate demand must equal aggregate income must equal aggregate supply.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two approaches are equivalent. Note, however, that the equilibrium of an economy, at least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a Keynesian world, does not imply the full-employment equilibrium. It is possible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inflationary and deflationary gaps to exist.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are the major macroeconomic variables involved in the determination of national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income?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C, I, G, X, M, T, S, prices, exchange rate, interest rate and money supply. We focus on the first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seven in this part of the course, but will enrich our analysis with the remaining four later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context of the IS-LM approach to equilibrium determination and international finance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considerations.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does the 45 degree line in expenditure-income space represent?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represents all the points at which the economy is in equilibrium, i.e. the expenditure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domestic goods and services is equal to the supply of domestic goods and services is equal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incomes distributed to factors used in the production of those goods and services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the following net injections, net withdrawals or neither?  If there is uncertainty,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explain your assumptions.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i. Firms spend money on research.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ii. The government increases personal tax allowances.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iii. The general public deposits more money in banks.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iv. Pakistani investors earn higher dividends on overseas investments.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v. The government purchases US military aircraft.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vi. People draw on their savings to finance holiday trips abroad.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vii. People draw on their savings to finance holidays within Pakistan.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viii. The government runs a budget deficit (spends more than it receives in tax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revenues) and finances it by borrowing from the general public.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ix. The government runs a budget deficit and finances it by printing more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money.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Increase in injections (investment).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Decrease in withdrawals (taxes).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Increase in withdrawals (saving).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Fall in withdrawals (a reduction in net outflow abroad from the household sector).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v. Neither.  The inner flow is unaffected.  If, however, this were financed from higher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taxes, it would result in an increase in withdrawals.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vi. Neither.  The inner flow is unaffected.  The consumption of domestically produced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and services remains the same.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vii. Decrease in withdrawals (saving).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viii. Neither.  An increase in government expenditure (or decrease in taxes, or both)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offset by an increase in saving (i.e. people buying government securities).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ix. Net injections.  An increase in government expenditure (or decrease in taxes,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both) is not offset by changes elsewhere.  Extra money is printed to finance the net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injection. </a:t>
            </a:r>
            <a:endParaRPr lang="ko-KR" altLang="en-US" dirty="0" smtClean="0" sz="1097"/>
          </a:p>
          <a:p>
            <a:pPr marL="0" indent="0" defTabSz="15240" algn="l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It is possible that as people get richer they will spend a smaller and smaller fraction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each rise in income (and save a larger fraction).  Why might this be so?  What effect will it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have on the shape of the consumption function?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likely that the rich will feel that they can afford to save a larger proportion of their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the poor.  The consumption function will slope upwards, but get less and less steep. This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means mpc will fall as incomes rise.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effect will the following have on the mpc: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a rise in the rate of income tax;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people anticipate that the rate of inflation is about to rise;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the government redistributes income from the rich to the poor? </a:t>
            </a:r>
            <a:endParaRPr lang="ko-KR" altLang="en-US" dirty="0" smtClean="0" sz="1097" b="1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mpc will fall.  Note that here we are relating consumption to gross income.  For any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gross income, a rise in taxes will cause a fall in disposable income and hence a fall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consumption.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The  mpc will rise as people spend a larger fraction of any rise in income, for if they wait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consume, their incomes will be worth less in the enxt period in urchasing power terms. 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The mpc will increase, because the poor have a higher mpc than the rich.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be the impact of changing the determinant variables given in the first column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(below) on consumption and saving. Must saving always fall if consumption falls?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Determinant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Consumption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</a:t>
            </a:r>
            <a:r>
              <a:rPr lang="en-US" altLang="ko-KR" dirty="0" smtClean="0" sz="947" b="1">
                <a:solidFill>
                  <a:srgbClr val="000000"/>
                </a:solidFill>
                <a:latin typeface="Arial"/>
              </a:rPr>
              <a:t>Saving </a:t>
            </a:r>
            <a:endParaRPr lang="ko-KR" altLang="en-US" dirty="0" smtClean="0" sz="94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Income (rise)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endParaRPr lang="ko-KR" altLang="en-US" dirty="0" smtClean="0" sz="94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Assets held (increase in)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fall </a:t>
            </a:r>
            <a:endParaRPr lang="ko-KR" altLang="en-US" dirty="0" smtClean="0" sz="94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Taxation (fall)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endParaRPr lang="ko-KR" altLang="en-US" dirty="0" smtClean="0" sz="94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Cost of credit (lower interest rates)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fall </a:t>
            </a:r>
            <a:endParaRPr lang="ko-KR" altLang="en-US" dirty="0" smtClean="0" sz="94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Expectations (that prices will rise)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fall </a:t>
            </a:r>
            <a:endParaRPr lang="ko-KR" altLang="en-US" dirty="0" smtClean="0" sz="94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Redistribution of income (becomes more equal)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fall </a:t>
            </a:r>
            <a:endParaRPr lang="ko-KR" altLang="en-US" dirty="0" smtClean="0" sz="94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Tastes and attitudes (people want to consume more)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fall </a:t>
            </a:r>
            <a:endParaRPr lang="ko-KR" altLang="en-US" dirty="0" smtClean="0" sz="94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The average age of durables (increases)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rise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</a:t>
            </a:r>
            <a:r>
              <a:rPr lang="en-US" altLang="ko-KR" dirty="0" smtClean="0" sz="947">
                <a:solidFill>
                  <a:srgbClr val="000000"/>
                </a:solidFill>
                <a:latin typeface="Arial"/>
              </a:rPr>
              <a:t>fall </a:t>
            </a:r>
            <a:endParaRPr lang="ko-KR" altLang="en-US" dirty="0" smtClean="0" sz="947"/>
          </a:p>
          <a:p>
            <a:pPr marL="0" indent="0" defTabSz="1524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there are two determinants of consumption (namely income and taxation, which will not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 saving to rise if consumption is caused to fall.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Why, if the growth in output slows down (but is still positive), is investment likely to fall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(i.e. be negative)?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firms will require a smaller increase in capital.  They will thus buy fewer extra machines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other equipment: i.e. investment will fall. The underlying concept is that of Keynes’s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accelerator which relates induced investment to changes in output rather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of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some other examples of changes in one injection or withdrawal that can affect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others.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rise in government expenditure on infrastructure projects may encourage firms to invest,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or, on the other hand, may replace private investment.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rise in taxation will reduce savings and imports as well as consumption of domestic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and services.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depreciation of the exchange rate will lead to increased exports (an injection)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decreased imports (a withdrawal).  This could encourage increased investment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domestic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Higher savings will mean less total consumption, including less expenditure on imports.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Keeping Keynes’s paradox of thrift arguments in mind, is an increase in saving ever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desirable?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If there is a problem of excess demand, an increase in savings will reduce inflationary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pressures.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If investment increases over time, an increase in savings will allow these increases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financed without problems of rising interest rates or inflation, problems which would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effect of curtailing the investment.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present level of a country’s exports is £12 billion; investment is £2 billion;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government expenditure is £4 billion; total consumer spending (including on imports)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£36 billion; imports are £12 billion and expenditure taxes are £2 billion.  The economy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currently in equilibrium.  It is estimated that an income of £50 billion is necessary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generate full employment. The marginal propensity to save is 0.25.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Is there an inflationary or deflationary gap in this situation?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What is the size of the gap?  (Don’t confuse this with the difference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between Y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and Y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What would be an appropriate government policy to close this gap?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Injections (J) = £12bn + £2bn + £4bn = £18bn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Domestic consumption (C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= £36bn – £12bn – £2bn = £22bn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Expenditure on domestic goods, E  = C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+ J = £18 + £22 = £40bn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Multiplier = 1/mps = 1/0.25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= 4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Deflationary gap.  If the economy is in equilibrium, then Y = E.  Thus Y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£40bn.  But full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employment is achieved at an income of £50bn.  There is thus a deflationary gap.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£2.5bn.  This is the amount that must be injected (given a multiplier of 4) in order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national income by £10bn from the current £40bn to the full-employment level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£50bn.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Increase government expenditure by £2.5bn.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does investment in construction and producer goods industries tend to fluctuate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more than investment in retailing and the service industries?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demand for the output of these industries (which are ‘investment’ goods industries)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fluctuates much more as a result of the accelerator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some examples of single shocks and continuing changes on the demand side.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Does the existence of multiplier and accelerator effects make the distinction between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single shocks and continuing effects more difficult to make on the demand side than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supply side?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of single shocks include government expenditure on a specific project, a surge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spending in anticipation of a rise in taxes and a temporary movement in the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65375" y="3639185"/>
            <a:ext cx="4166235" cy="214312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(a depreciation causing a rise in aggregate demand through increased exports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decreased imports, and an appreciation causing a fall in aggregate demand).  Examples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continuing changes include a sustained increase in consumer or business confidence,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builds over time, and changes in interest rates that then remain for a period of time.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multiplier and accelerator will amplify single shocks on the demand side and the process will last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several months.  Aggregate demand will not go on and on rising, however, unless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continuing changes on the demand side, which then continue to be amplified by the multiplier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accelerator.  Thus the effects are somewhat less clear cut than with changes on the supply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side, but it is still possible to distinguish between single shocks on the demand side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continuing changes (even if the single shocks do cause multiplier and accelerator effects).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Draw an injections and withdrawals diagram, with a fairly shallow W curve. Mark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level of national income. Now draw a second steeper W curve passing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through the same point. This second W curve would correspond to the case where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mps is higher.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Assuming now that there has been an increase in injections, draw a second J line above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first. Mark the new equilibrium level of national income with each of the two W curves. You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see that national income rises less with the steeper W curve. The higher mps has a 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4" i="1">
                <a:solidFill>
                  <a:srgbClr val="000000"/>
                </a:solidFill>
                <a:latin typeface="Arial"/>
              </a:rPr>
              <a:t>W, J</a:t>
            </a:r>
            <a:endParaRPr lang="ko-KR" altLang="en-US" dirty="0" smtClean="0" sz="1004" i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5" i="1">
                <a:solidFill>
                  <a:srgbClr val="006500"/>
                </a:solidFill>
                <a:latin typeface="Arial"/>
              </a:rPr>
              <a:t>W</a:t>
            </a:r>
            <a:r>
              <a:rPr lang="en-US" altLang="ko-KR" dirty="0" smtClean="0" sz="730">
                <a:solidFill>
                  <a:srgbClr val="006500"/>
                </a:solidFill>
                <a:latin typeface="Arial"/>
              </a:rPr>
              <a:t>economy 2</a:t>
            </a:r>
            <a:endParaRPr lang="ko-KR" altLang="en-US" dirty="0" smtClean="0" sz="73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5" i="1">
                <a:solidFill>
                  <a:srgbClr val="650065"/>
                </a:solidFill>
                <a:latin typeface="Arial"/>
              </a:rPr>
              <a:t>W</a:t>
            </a:r>
            <a:r>
              <a:rPr lang="en-US" altLang="ko-KR" dirty="0" smtClean="0" sz="730">
                <a:solidFill>
                  <a:srgbClr val="650065"/>
                </a:solidFill>
                <a:latin typeface="Arial"/>
              </a:rPr>
              <a:t>economy 1</a:t>
            </a:r>
            <a:endParaRPr lang="ko-KR" altLang="en-US" dirty="0" smtClean="0" sz="730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5" i="1">
                <a:solidFill>
                  <a:srgbClr val="CC0000"/>
                </a:solidFill>
                <a:latin typeface="Arial"/>
              </a:rPr>
              <a:t>J</a:t>
            </a:r>
            <a:r>
              <a:rPr lang="en-US" altLang="ko-KR" dirty="0" smtClean="0" sz="730">
                <a:solidFill>
                  <a:srgbClr val="CC0000"/>
                </a:solidFill>
                <a:latin typeface="Arial"/>
              </a:rPr>
              <a:t>2</a:t>
            </a:r>
            <a:endParaRPr lang="ko-KR" altLang="en-US" dirty="0" smtClean="0" sz="730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5" i="1">
                <a:solidFill>
                  <a:srgbClr val="000080"/>
                </a:solidFill>
                <a:latin typeface="Arial"/>
              </a:rPr>
              <a:t>J</a:t>
            </a:r>
            <a:r>
              <a:rPr lang="en-US" altLang="ko-KR" dirty="0" smtClean="0" sz="730">
                <a:solidFill>
                  <a:srgbClr val="000080"/>
                </a:solidFill>
                <a:latin typeface="Arial"/>
              </a:rPr>
              <a:t>1</a:t>
            </a:r>
            <a:endParaRPr lang="ko-KR" altLang="en-US" dirty="0" smtClean="0" sz="73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912">
                <a:solidFill>
                  <a:srgbClr val="000000"/>
                </a:solidFill>
                <a:latin typeface="Arial"/>
              </a:rPr>
              <a:t>O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</a:t>
            </a:r>
            <a:r>
              <a:rPr lang="en-US" altLang="ko-KR" dirty="0" smtClean="0" sz="912" i="1">
                <a:solidFill>
                  <a:srgbClr val="000080"/>
                </a:solidFill>
                <a:latin typeface="Arial"/>
              </a:rPr>
              <a:t>Y</a:t>
            </a:r>
            <a:r>
              <a:rPr lang="en-US" altLang="ko-KR" dirty="0" smtClean="0" sz="593">
                <a:solidFill>
                  <a:srgbClr val="000080"/>
                </a:solidFill>
                <a:latin typeface="Arial"/>
              </a:rPr>
              <a:t>0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</a:t>
            </a:r>
            <a:r>
              <a:rPr lang="en-US" altLang="ko-KR" dirty="0" smtClean="0" sz="912" i="1">
                <a:solidFill>
                  <a:srgbClr val="006500"/>
                </a:solidFill>
                <a:latin typeface="Arial"/>
              </a:rPr>
              <a:t>Y</a:t>
            </a:r>
            <a:r>
              <a:rPr lang="en-US" altLang="ko-KR" dirty="0" smtClean="0" sz="593">
                <a:solidFill>
                  <a:srgbClr val="006500"/>
                </a:solidFill>
                <a:latin typeface="Arial"/>
              </a:rPr>
              <a:t>2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</a:t>
            </a:r>
            <a:r>
              <a:rPr lang="en-US" altLang="ko-KR" dirty="0" smtClean="0" sz="912" i="1">
                <a:solidFill>
                  <a:srgbClr val="650065"/>
                </a:solidFill>
                <a:latin typeface="Arial"/>
              </a:rPr>
              <a:t>Y</a:t>
            </a:r>
            <a:r>
              <a:rPr lang="en-US" altLang="ko-KR" dirty="0" smtClean="0" sz="593">
                <a:solidFill>
                  <a:srgbClr val="650065"/>
                </a:solidFill>
                <a:latin typeface="Arial"/>
              </a:rPr>
              <a:t>1</a:t>
            </a:r>
            <a:endParaRPr lang="ko-KR" altLang="en-US" dirty="0" smtClean="0" sz="593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4">
                <a:solidFill>
                  <a:srgbClr val="000000"/>
                </a:solidFill>
                <a:latin typeface="Arial"/>
              </a:rPr>
              <a:t>Economies with different marginal rates of taxation</a:t>
            </a:r>
            <a:endParaRPr lang="ko-KR" altLang="en-US" dirty="0" smtClean="0" sz="1004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dampening effect on the multiplier. A higher tax rate has the same dampening effect as well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reducing the size of the multiplier (by increasing the size of the term in the denominator).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Multiplier with taxes = 1/[1-{mpc(1-t)}];as t increases, (1-t) falls,, therefore 1-{.} rises, causing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multiplier to fall.   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effects will government investment expenditure have on public-sector debt (a)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short run; (b) in the long run?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Increase.  Unless financed by extra taxation, an increase in government expenditure (for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whatever purpose) will lead to an increase in public-sector debt.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Possibly decrease.  If the investment leads to extra output and income, then the extra tax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 from the extra incomes and expenditure could more than offset the cost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investment, thereby leading to a fall in public-sector debt.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cuts in interest rates are not successful in causing significant increases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investment, how can they lead to economic recovery? What, in these circumstances,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determines the magnitude of the recovery?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can lead to recovery if they cause consumers to borrow more. The increased spending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causes a multiplied rise in national income. The magnitude of the recovery depends on (a)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amount of extra consumer spending; (b) the size of the multiplier; (c) whether there is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subsequent increase in investment (through the accelerator effect).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105</a:t>
            </a:r>
            <a:endParaRPr lang="ko-KR" altLang="en-US" dirty="0" smtClean="0" sz="1200"/>
          </a:p>
        </p:txBody>
      </p:sp>
      <p:sp>
        <p:nvSpPr>
          <p:cNvPr id="232" name="Rect 3"/>
          <p:cNvSpPr>
            <a:spLocks noGrp="1" noChangeArrowheads="1"/>
          </p:cNvSpPr>
          <p:nvPr/>
        </p:nvSpPr>
        <p:spPr>
          <a:xfrm rot="0">
            <a:off x="5864225" y="5440680"/>
            <a:ext cx="111125" cy="149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4" i="1">
                <a:solidFill>
                  <a:srgbClr val="000000"/>
                </a:solidFill>
                <a:latin typeface="Arial"/>
              </a:rPr>
              <a:t>Y</a:t>
            </a:r>
            <a:endParaRPr lang="ko-KR" altLang="en-US" dirty="0" smtClean="0" sz="1004" i="1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do people’s expectations influence the outcome?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People’s expectations will reinforce whatever it is they expect (self-fulfilling expectations). 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expect a rise in government expenditure to lead to a) higher interest rates, b) a reduction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private-sector investment and hence c) no expansion of the economy, they will reduce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plans, thus bringing about the effect (i.e. economic stagnation) that they had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anticipated.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government increases spending by Rs.10bn and finances it totally from taxes, will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there be any expansionary impact on output?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The increase in spending is an injection of Rs.10 bn. The withdrawal, however, is less than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Rs.10bn, as saving (a withdrawal from the system falls). Why does saving fall? Because higher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taxes reduce disposable income and therefore given a fixed mps out of disposable income,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saving will fall. The concept is called balanced budget multiplier, i.e. the fact that tax-financed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spending (which has no effect on the fiscal balance) can still be expected to have a multiplied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(albeit much smaller) effect on equilibrium output and income. </a:t>
            </a:r>
            <a:endParaRPr lang="ko-KR" altLang="en-US" dirty="0" smtClean="0" sz="1097"/>
          </a:p>
          <a:p>
            <a:pPr marL="0" indent="0" defTabSz="15240" algn="l">
              <a:lnSpc>
                <a:spcPts val="50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- 11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FOUR BIG MACROECONOMIC ISSUES AND THEIR INTER-RELATIONSHIPS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study any major issue or problem in macroeconomics, it is important to address at least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questions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about it: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Why is it important (i.e. what are its costs);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What are its causes or the possible diagnoses of the problem; and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What is the policy prescription associated with each different diagnosis.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will look at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four major problems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here: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Unemployment,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Inflation,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Balance of payments problem and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The lack of growth.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this is a course in introductory economics, some of these problems will have to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introduced in the context of the economic history of HICs.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We’ll begin with unemployment, which, as you know, peaked during the Great Depression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leading to the great rift between Keynes and the Classicists, and the subsequent birth of modern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macroeconomics. We shall then move to inflation which became a major problem in the 1970s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context of the two oils price shocks. We’ll then turn to balance of payments disequilibria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have especially afflicted the LICs since the early 1980s. Finally we’ll look at the challenges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involved in achieving sustainable and sustained economic growth.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thing you should remember at all times is that macroeconomic problems tend to be related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each other, and it is difficult (and often misleading) to analyze them in isolation. It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important, therefore, to see how these four problems might be interrelated.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UNEMPLOYMENT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History of Unemployment: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history of unemployment, which is relevant to macroeconomics, started way back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Great Depression (1929-33), when unemployment rates reached levels of 25% in the US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western Europe. During the second world war, the problem subsided due to higher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defense spending and war-related recruitment. Post-war, unemployment rates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continued to fall as rebuilding efforts gathered pace all over the world, esp. in war-ravaged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Europe and East Asia. Many colonies gained independence during this time as well (late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1940s till early 1960s) and undertook massive infrastructure and industrial initiatives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absorbed a large part of the workforce. The problem did not raise its head again until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1970s, when two oil price shocks (1973, 1979), and the associated episodes of cost-push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and balance of payments deficits in many countries led to a global recession that was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compounded in the early 1980s by rising interest rates (induced by tight US monetary policy).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world recovered from recession in the mid-1980s, and following a brief recession (that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lasted till the early 1990s), saw the rise of the new economy (i.e., the age of information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technology) and a rapid growth in jobs related thereto. By the turn of the millennium, however,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new economy bubble had burst, causing decline in growth rates in many HICs. This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decline was compounded by the events of September the 11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 the New York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subsequent “war on terror” started by the U.S. and its allies. It is worth noting that Japan,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world’s 2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nd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largest economy, has remained in recession virtually all through the 1990s.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Interestingly, there has been a general rise in the rate of unemployment in many LICs (except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East Asia) over the last 2-3 decades – a rise that has not been strictly correlated with global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boom-recession cycles. The unemployment problem in these LICs was seen to assume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permanent nature due to their high population growth rates – rates that far outstripped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rate of new job-creation in these economies. Also there was a loss of jobs in many of these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due to adoption of capital-intensive as opposed to labour-intensive technologies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industrial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Definition of unemployment: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unemployment can be defined in terms of absolute numbers, in most cases, it is the 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unemployment which is quoted and which enables cross-country comparisons.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rate is defined as the ratio of the no. of unemployed people divided by the sum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employed and unemployed people. A rate of 3-4% is usually considered low, 10-15%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considered high, and over 20% considered extremely high. It is worth mentioning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figures, because they are such a sensitive political issue, are often under-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stated by government and over-stated by opposition groups. In most LICs, “official”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rates are seriously misleading, and you can find the government quoting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figure of 5% for unemployment, when the actual rate is around 20-25%, if not higher. 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Labor Force ( LF):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fundamental concept in relation to the above definition of unemployment is that of the labour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force (LF). The labour force is essentially the denominator in the formula for 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rate. The labour force includes all people eligible and able to work, so excludes children,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elderly people, parent(s) busy raising children, the handicapped and terminally ill etc.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Note, however that there is a difference between a person who is able to work and a person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who is also willing to accept a particular job. So, for instance, a chartered accountant who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looking for a job may be offered the job of a bus driver, but he will not accept that job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not worthy of his qualifications, and/or offers a wage below his reservation wage. Thus,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order to be employed you need to fulfill two conditions: you have to be a member of the labour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force (LF) and you have to be willing to accept a particular job (“AJ”). This distinction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developed further shortly.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Definitional Problems with Unemployment Rate: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Keeping the AJ and LF distinction aside for a while, there can be some other definitional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problems with the unemployment rate that need to be addressed. In particular, we might wish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see why the unemployment rate may be reported as: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Lower than it actually is (i.e. the severity of the problem of there being very few jobs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compared to workers is under-stated). There are two common reasons: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underemployment and disguised unemployment. Underemployment refers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situation when a person is reported as employed but is actually only doing a part-time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job. Disguised unemployment is a situation where a person gets a salary but does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really have a job to do, as is often the case for excess workers in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departments.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Higher than it actually is (i.e. the severity of the problem of there being very few jobs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compared to workers is over-stated). The possible reasons here could be: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The existence of child labour, i.e. children taking the jobs that would otherwise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been available to adults.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Incompatibility between skills and jobs, i.e. there might be a demand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workers possessing a certain skill, but the people who are seeking jobs do not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that skill and therefore remain unemployed.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People doing more that one job.  If a doctor works in a hospital in the morning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runs his/her clinic at home in the evening, s/he is actually doing two jobs.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Were s/he to concentrate on his/her home practice only, the hospital job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available to some other doctor.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Unemployment benefit given by the state to the unemployed. This is usually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case for the welfare states (most HICs) where people can live off rather well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benefit and therefore choose to not work. In LICs, where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state does not quite pay unemployment benefits, the analogy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beggary. Some people would rather beg on the streets than work honorably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earn their living.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important concept related to unemployment is that of its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duration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The duration of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particular unemployment spell depends on when the benefits of accepting a certain job exceed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costs of continuing to searching for a better job (see also the section on search or frictional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below). In an aggregate sense, however, the duration of an 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episode in a country depends on the rate at which people enter the pool of the unemployed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(i.e. become unemployed) and the rate at which they exit the pool of the unemployed (i.e. find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acceptable job).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People entering the unemployed pool include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those made redundant, sacked, resigning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temporarily laid off. They could also include those formerly outside the labour force, for e.g.: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college leavers, women returning to the labour force after raising children.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People leaving the unemployed pool include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those taking new jobs, returning to old jobs (if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had been temporarily suspended or laid off) They could also include people who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disheartened and give up looking for a job, those who have reached retirement age,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who temporarily withdraw from the labour force (e.g. to raise a family), those who emigrate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die.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Costs of unemployment: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unemployment is voluntary, i.e. people do not work because they feel they are better off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being unemployed, the costs are borne essentially by society, not the individual per se.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are: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Output and hence national income is lower than potential.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Government loses tax revenues because of a.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Firms lose revenues as they could have employed more workers and produce and sell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Other workers lose additional wages that they might have otherwise been able to earn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higher national output.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 There is a general tendency for crime and violence to rise in society as 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levels increase.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unemployment is involuntary, then all the above broader social costs are borne, but private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individual costs for the unemployed individual must also now be added. These would include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loss of personal income, mental stress due to loss in self-esteem, worsening of 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family or friends.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Causes of unemployment: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essentially three schools of thought regarding the causes of unemployment: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Classicist, Keynesian and Monetarist schools.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before we delve into the specific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arguments presented thereby, we must develop an understanding of how labour market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is generally struck in an economy.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Labor Market Equilibrium: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first the supply side of labour. As mentioned earlier, however, a distinction needs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made between LF and AJ. LF stands for the size of the labour force, and is drawn as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upward sloping fairly inelastic line in wage – no. of workers space. It is drawn as fairly inelastic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size of labour force would be expected to be fairly unresponsive to the wage rate.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badly handicapped or terminally ill person will not suddenly decide to join the labour force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just because wages went up. Some people (like parents looking after kids) however might still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inclined to become members of the labour force if wages go up; the reason why the LF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is not perfectly inelastic (i.e. vertical). 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109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AJ curve represents those members of the labour force which are willing to accept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suitable jobs. The AJ curve is flatter than the LF curve because job seekers would be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willing to accept jobs in response to a rise in wages compared to people who are not even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members of the labour force. The AJ curve is to the left of the LF curve because there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always be some people in LF who cannot accept jobs (like the terminally ill). However, given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flatter AJ and a steeper LF, it is clear why the horizontal gap between AJ and LF would narrow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higher wage rates.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demand for labour is generated by firms, government-owned or private, which need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hire workers to produce goods and services. The lower the wage rate, the more will firms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willing to hire workers. Therefore, the demand curve for labour, LD, is downward sloping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wage – no. of workers space.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intersection of LD and AJ determines labour market equilibrium, i.e. the no. of potential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workers who will be employed (N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), and the wage rate that they will earn (w*). The intersection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LD and LF delivers N*, the maximum possible no. of workers that can be employed at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particular wage rate. The horizontal distance between N* and N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referred to as the natural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of unemployment. When the horizontal axis measure the employment rate, the same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measures the natural rate of unemployment. To keep things simple, we will not differentiate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the two terms and will use them interchangeably.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Classical Views about unemployment: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Classicists viewed unemployment as an essentially voluntary phenomenon caused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wages that were higher than the free market level. If wages were allowed to fall to the market-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clearing level, firms’ demand for labour would increase, removing the initial unemployment.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main policy prescription was therefore to remove any factors (labour unions, minimum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wage legislation, unemployment benefit) that prevented wages from falling to market-clearing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levels. The theoretical problems with this view of unemployment aside, there were serious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difficulties that could be expected in implementing the above policy prescription. Unions were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politically strong bodies and could not simply be wished away; removing the minimum wage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threshold would hurt the poorest workers, whose wages would now fall below the threshold.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Similarly, removing unemployment benefit was likely to be seen as an attack on the safety net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the poorest sections of society.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Keynesian Views about Unemployment: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 located the origins of unemployment in deficient aggregate demand. According to him,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 could be boosted by pumping government expenditure, this would cause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labour to increase as part of a multiplier effect. The increased demand would absorb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excess supply of labourers, thus alleviating the unemployment problem. </a:t>
            </a:r>
            <a:endParaRPr lang="ko-KR" altLang="en-US" dirty="0" smtClean="0" sz="1097"/>
          </a:p>
          <a:p>
            <a:pPr marL="0" indent="0" defTabSz="15240" algn="l">
              <a:lnSpc>
                <a:spcPts val="23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11.2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FOUR BIG MACROECONOMIC ISSUES AND THEIR INTER-RELATIONSHIPS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(CONTINUED…….)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Monetarists’ Views about Unemployment: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Monetarists viewed unemployment essentially in its natural rate context, and thus as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that could not be cured through wage decreases or demand injections. According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them, the economy usually operated around the full employment level, and thus the only type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employment to worry about the natural rate kind. Attention, therefore, needed to focus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horizontal distance between the AJ and LF curves at the market-clearing wage rate, w*. If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distance could be reduced, by shifting the AJ curve to the right (i.e. closer to the LF curve),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unemployment rate could be reduced.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According to monetarists, the reason why people on the labour force might not be willing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accept jobs, was located in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frictional (search), structural and seasonal reasons.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Frictional unemployment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was defined as unemployment caused by delays in matching job-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seekers to jobs. Delays were seen as being essentially caused by a lack of information,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job centers newspapers etc. with better information on jobs etc. could help.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Structural unemployment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was associated with changes in the structure of an economy: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changes in demand patterns (tastes, fashion etc.), changes in methods of productions (capital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vs. labour intensive production techniques being adopted, the replacement of some jobs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computer-based solutions). Also, if industrial or business activity were reduced in a particular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region of the economy due to environmental or law and order reasons, or if a geographical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area suffers a natural calamity, the resulting unemployment would also be categorized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structural unemployment. Both market-friendly and interventionist policies have been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suggested to address this type of unemployment. Among the market-friendly policies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encouraging people to i) retrain themselves (for e.g., facilitate training of mine workers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computer jobs), ii) get on their bikes and look for jobs. Interventionist policies included directed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action to match jobs with skills. Thus the government could give financial grants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training a certain group of people for a certain type of job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Seasonal unemployment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relates to certain types of workers going out of job due to seasonal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factors. Thus crop producers in cold countries would have little to do when the fields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covered with snow from December till March. The policies that could address this problem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be to facilitate labour migration in winter months, or to develop alternative tasks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winter (holding winter games in the region and developing it as a tourist spot for e.g.!)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Monetarists also suggested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side measures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which generally reduced the incentive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work. One example is lowering income tax rates and thus increasing the incentive for people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work the extra hour and earn the extra dollar.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Hysteresis: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Hysteresis refers to the permanent effects of a temporary change. In the context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unemployment, for example, a temporary fall in demand in the economy which leads to lower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activity and hence lay-offs by firms may have more permanent effects given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search behaviour of workers (laid off workers become disheartened as time goes by and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fail the first few job interviews; they become lazy, their skills rust, they become used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benefit and are therefore less likely to find jobs) and the recruitment behaviour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firms (by the time firms need to re-hire, their own motivation and speed of recruitment has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slowed; they’re not putting up enough job adverts and hence the likelihood of instant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recruitment decreases). The result could well be longer spells of unemployment. Generally, it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also been seen that the likelihood of a person leaving the unemployment state falls as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duration of his/her unemployment spell lengthens.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INFLATION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Definition of Inflation and deflation: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is a situation in which there is a continuous rise in the general price level. Deflation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opposite of inflation and occurs when the general level of prices falls. The rate of inflation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the percentage annual increase in average price level.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Pure inflation is a special case of inflation in which the prices of all the goods and services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 are rising at the same rate. So if an economy produces three goods: apples,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shirts and cars, and they cost Rs. 5, Rs. 100 and Rs. 400,000 respectively in 1992, while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in 1993 are Rs. 6, Rs. 120 and Rs. 480,000, and the prices in 1994 are Rs. 9, Rs. 180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Rs. 720,000, respectively, then we can say that there was pure inflation of 20% in 1993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(over 1992) and pure inflation of 50% in 1994 (over 1993).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Measurement of Inflation: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generally, inflation (in % p.a.) is measured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[(P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 - 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t-1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)/P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t-1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]*100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refers to the average price level prevailing in year t,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t-1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is the average price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prevailing in period t-1. The term average price level usually refers to the value of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index, like consumer price index or producer price index etc., which weights the prices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according to their share in the total nominal GDP.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Ideal Inflation Rate for an Economy: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difficult to say what the ideal inflation rate for an economy is. But it is not usually zero.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small positive inflation rate of about 3% is considered healthy for mature HICs while 7%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quite acceptable for fast growing emerging economies. Inflation rates above 10% are generally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considered undesirable.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 countries, esp. in Latin America, have recorded inflation rates in 100s and 1000s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percentage p.a. – these episodes were known as hyper inflation episodes. The first country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suffer hyperinflation, and perhaps in its severest form, was Germany in the 1920s. The country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burdened with very high debt – linked to obligations taken on as a result of being defeated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the allies in the 1st World War. The German government could not find the resources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pay off the debt or the interest thereon and resorted to printing money. This, however, plunged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local economy into hyperinflation.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Choice of price Index: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important statistical challenges to resolve in the definition of inflation. The choice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index often affects what one can say about inflation. Thus it might be that overall inflation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high, but food inflation is low. Similarly, there can be a price index for students, the health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sector, housing and each has a different meaning attached to it. When talking about inflation,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be clear which index is being referred to. The most commonly used index when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referring to overall inflation in the economy is the retail or consumer price index (CPI).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CPI and PPI: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CPI measures the cost of a fixed basket of consumer goods in which the weight assigned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each commodity is the share of expenditures on that commodity by consumers. The producer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index (PPI) is the price index of goods and raw materials sold at the wholesale level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producers: examples of goods in the wholesale basket are steel, wheat, cotton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all these indices are measures of price inflation. A slightly different but related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concept is that of wage inflation, which measures the rate of increase of average wages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economy. Since real wages are nominal wages adjusted for prices, it is straightforward to see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if wage inflation is greater than price inflation, real wages are rising, and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where price inflation is very high often keep track of wage inflation rates to ensure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real wage (which measures the purchasing power of workers) remains constant.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practice of linking wages to prices is called “index-linking” and is the norm in many Latin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American countries.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Costs of inflation: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Inflation redistributes income away from those on fixed incomes (or who do not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bargaining power to renegotiate wages) towards owners of land, property or assets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whose prices are generally quite sensitive to the general price level. Traders also raise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faster when they see a rise in the inflation rate. But the salary class is often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constrained from doing so. In many African and South Asian countries, the problem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been quite acute. Wage earners, esp. in the government sector, had lost (by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1990s) up to 90% of the purchasing power of their incomes from the 1960s.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reason, a gradual but persistent decline in real wages what could not be reversed.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led to corruption and inefficiency in many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High inflation increases uncertainty for firms, thus impacting investment rather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negatively. The point to note here is that inflation is most volatile at high levels (thus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fluctuation of the inflation rate around 25% will be much higher than its fluctuation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around 2%). Thus high inflation translates into uncertainty about prices, which means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inability to accurately forecast firm revenues and expenditures, which means lower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ex-ante.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Balance of payments problems are also often a result of high domestic inflation. Rising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in a country, if not offset by equally offsetting depreciation of the exchange rate,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 lead to the domestic currency becoming overvalued and therefore to a decline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 and a rise in imports – in other words to a deterioration of the current account.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Resource wastage is high when inflation is high. Extra resources (time and money)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dedicated, both by individuals and firms, merely to hedge against the purchasing power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erosion effects of inflation. Restaurants have to change their menus frequently; price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lists have to be issued more frequently.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Summing up in the words of Hazrat Ali (AS), “high inflation together with a deteriorating law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order position are hallmarks of the worst possible government.” </a:t>
            </a:r>
            <a:endParaRPr lang="ko-KR" altLang="en-US" dirty="0" smtClean="0" sz="1097"/>
          </a:p>
          <a:p>
            <a:pPr marL="0" indent="0" defTabSz="15240" algn="l">
              <a:lnSpc>
                <a:spcPts val="27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11.3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FOUR BIG MACROECONOMIC ISSUES AND THEIR INTER-RELATIONSHIPS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(CONTINUED…….)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Causes of Inflation: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three views here: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Traditional Keynesian View.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 cost push inflation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The monetarist view.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The traditional Keynesian view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which sees inflation and unemployment as opposite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sides of the same coin, so is merely a result of excessive aggregate demand (demand-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pull inflation). Assuming that increases in aggregate demand in a Keynesian world do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some output and employment impact, one can think of plotting the 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inflation and unemployment as trade-off: a downward sloping curve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inflation-unemployment space. This curve is called the Phillips curve names after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economist who first quantitatively documented this trade-off in the context of the UK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 in the 1950s and 60s.  The Phillips curve tradeoff can be summarized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follows: Lower unemployment can be achieved only at the cost of higher inflation.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 prescription flowing from this particular diagnosis of inflation was simple: reduce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 by contractionary fiscal and/or monetary policies.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Cost-push inflation: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This view came to fore in the 1970s when the world was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confronted with a situation of rising prices but high unemployment (stagflation),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something that demand-pull theories could not explain. It was observed that the two oil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shocks in the 1970s, which were essentially supply side shocks (because they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the cost of production), were capable of producing such a situation. In AD-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space, such a supply shock would be shown by shifting the AS curve to the left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(and up) causing prices to rise and output (and employment) to fall. In the context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Phillips curve, the supply shock would be shown by shifting the Phillips curve out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right, reflecting a structural shift in the inflation-unemployment trade-off. The name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to the resulting higher inflation (at any level of unemployment) was cost-push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inflation. The policy prescription appropriate for dealing with it, included supply-side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measures such as developing alternative energy sources, fuel efficient technologies,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cost reduction methods, and reducing tax distortions (that reduce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incentive to produce), increasing competition (in search of productivity gains), removing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floors etc. Keynesian demand management policies were obviously not seen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relevant in this context. It is important to note that sometimes what appears as cost-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push inflation is actually driven by higher demand. For e.g., let’s say demand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property increases in an economy; this causes housing prices to rise, causing rents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rise, causing workers to demand higher wages. Higher wages cause firms’ production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to increase prompting them to raise goods prices which in turn causes retail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to rise. At every point of the who chain, it is the costs that are rising (rental costs,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costs, purchase costs of retailers), but the cause of these rising costs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demand for property. This situation is often branded cost-push illusion.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The Monetarists View: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Monetarists located the causes of inflation in the Quantity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Theory of Money (QTM), which provided an explanation for inflation totally independent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that for unemployment. QTM states: MV = PQ, where M is the real money supply,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 is the velocity of money (the no. of times money is circulated in the economy in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year), P is the price level and Q is the real output. Assuming a constant V and a stable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(natural rate) output Q*, changes in P could be explained totally by changes in M.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stable M would imply a stable P. Thus the Monetarist key to solving the inflation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was a stable money supply set to grow at the rate of growth of natural 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(Q*). For Monetarists, the concern was not the government’s expansionary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policy per se, but the manner in which the fiscal deficit was financed. If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financed its deficit by borrowing from the central bank (i.e. printing money,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thus expanding money supply), this would be tantamount to inflationary finance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budget. If, however the government financed the deficit by borrowing from banks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retail savers, then there would be little inflationary consequences.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also instructive to see how Monetarist’s viewed the Phillips curve, and the inflation-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tradeoff. Monetarists believed that the economy generally gravitated around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full-employment or natural rate level, and any positive output or employment impact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inflationary demand policies would have be limited. The duration and extent of this limited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impact would depend on how much money illusion private agents suffered from. Money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illusion is when agents base their decisions on their expectations about inflation (set in period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t-1), so that when government driven actual inflation (increase in prices and wages) in period 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exceeds expected inflation, agents view the increase as real rather than nominal,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 erroneously spend more than they should. In setting expectations for period t+1,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they learn from the previous period, raising their inflationary expectations based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outcome in period t. Only an inflation rate higher than this new expected rate can convince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 to spend more. The net effect of learn and error process is that inflation rises very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steeply in response to continued demand-injections by government until the effect on spending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employment is virtually zero – a vertical Phillips curve. This is how Monetarists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characterized the long-term tradeoff between output and inflation, i.e. that there was no trade-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 and that expansionary demand policies (i.e. expansionary monetary policy) translated fully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into higher inflation with no impact on employment whatsoever. </a:t>
            </a:r>
            <a:endParaRPr lang="ko-KR" altLang="en-US" dirty="0" smtClean="0" sz="1097"/>
          </a:p>
          <a:p>
            <a:pPr marL="0" indent="0" defTabSz="15240" algn="l">
              <a:lnSpc>
                <a:spcPts val="4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11.4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FOUR BIG MACROECONOMIC ISSUES AND THEIR INTER-RELATIONSHIPS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(CONTINUED…….)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BALANCE OF PAYMENTS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balance of payments (BOPs) is an accounting record of a country’s transactions with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rest of the world. To illustrate the related concepts in a non-complicated way, we shall assume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two-country world (Pakistan and the US), and view things from the Pakistani side.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Before we can fully grasp the BOPs, it is important to develop an understanding of the market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foreign exchange. Foreign exchange, in the Pakistani context, simply means US dollars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(note that foreign exchange from the US’s point of view would be Pak rupees).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Market for Foreign Exchange: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 for foreign exchange (or dollars) in Pakistan works like the market for any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commodity (like apples, oranges etc.). We have an upward sloping supply curve and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demand curve. We operate in the same price-quantity framework, noting,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that quantity in this context means the quantity of dollars and price in this case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means price per dollar, i.e. the rupee price of a dollar. However, the latter is simply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Rupee/US$ exchange rate, and hence we can label the vertical axis accordingly.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Forces of Demand and Supply in Foreign Exchange Market: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Now, consider what the forces of demand and supply are in this market. First consider what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cause the supply curve for dollars to shift to the right, i.e. what would cause the supply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dollars in the market to increase given a certain exchange rate. Well, any transaction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the effect of bringing dollars into the country would have this effect. Examples of such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transactions are net inflows of US investment into Pakistan, Pakistani exports to the US,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remittances from Pakistanis working in the US. Now what are examples of transactions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 the demand for dollars to increase? Pakistani imports of US goods, Pakistani travelers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traveling to the US, Pakistani students paying for study in US universities, profits repatriated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 by US firms operating in Pakistan.  All these will cause the demand for dollars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to increase.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transaction which causes the supply curve of dollars to shift to the right is recorded with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positive sign on the BOPs (as it corresponds to an inflow of dollars), while any transaction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causes the demand curve to shift to the right is recorded with a negative sign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BOPs.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 in the Market of Foreign Exchange: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in the market for foreign exchange occurs at the point of intersection of the supply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demand curves. In BOP terminology, this is when all the +vs and the –ves balance; i.e.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BOPs is zero (external balance).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an initial equilibrium, it is useful to study note how market equilibrium responds to a shift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in, say, the supply curve. A distinction has to be made between the cases when the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is fixed by the government and when it is left to float freely.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exchange rate is fixed, the government has to make up for any excess or shortfall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market. Thus, if 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supply curve shifts to the right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(say due to a rise in exports),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an excess supply of dollars, the government must step in and purchase those excess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dollars from the foreign exchange market, pumping the equivalent local currency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process. This purchase is an example of foreign exchange market intervention by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(often implemented by the central bank on behalf of the government).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Similarly, if there is a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rightward shift in the demand curve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(due to, say, a rise in imports),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there is a situation of excess demand for dollars at the given exchange rate,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must step in and supply those dollars from its coffers in exchange for local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currency. The government’s foreign exchange reserves fall and the local currency (rupee)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contracts as a result of this kind of intervention. 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let the exchange rate float freely is to allow the price mechanism to bring about automatic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in the foreign exchange market. Thus in this case, if there is an excess supply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dollars, the price of the dollar falls (i.e. less rupees are required to purchase one dollar).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words, the rupee appreciates vis-à-vis the dollar. Conversely if there is an excess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dollars in the market, then this pushes the exchange rate up (i.e. more rupees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 be needed to buy one dollar). In other words, the rupee depreciates. Note that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 (decrease) in the price of the dollar is equivalent to a(n) depreciation (appreciation)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rupee, not vice versa.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Parts of BOP: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BOPs can be divided into three parts: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Current account,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Capital account and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Changes to reserves.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Current account: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current account balance is essentially the trade balance (exports minus imports), but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net factor receipts from abroad added.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exchange rate is fixed, then changes in reserves must mirror the combined balance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current and capital accounts in order to bring the overall BOPs to zero. If the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is floating, then changes to reserves can remain zero, as the adjustment burden is borne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the exchange rate which appreciates (depreciates) in response to a joint surplus (deficit)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current and capital accounts.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External Transactions: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External transactions which have no long-term (or future) flow implications for the current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are recorded on the current account. Thus exports, imports, and factor payments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(foreign workers’ outward remittances, interest on foreign debt, and dividends on profits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firms) and factor receipts (overseas Pakistanis’ inwards worker remittances,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earned on foreign assets held, dividends earned by Pakistani firms abroad) are all recorded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current account.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Compare these transactions with the taking on of a new long-term foreign debt – recorded with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plus sign under the capital account. Here, the initial inflow of dollars does not make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transaction complete in an inter-temporal sense. The money that has come in will have to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repaid, both principal and interest over the future. Similarly, foreign investment coming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country. The initial dollars coming in will imply a future stream of current account outflows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terms of dividend remittance abroad.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the long-term, the current account and capital account should usually mirror each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other.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So if the current account is in deficit, you would expect the country to be borrowing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attracting foreign investment on the capital account to bring the overall BOPs to zero.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Similarly, if the current account is in surplus, you would expect the country to be lending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rest of the world or investing outside the country.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capital Account: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capital account generally provides a direct picture of the net asset position of a country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vis-à-vis the rest of the world. If the capital account stays in surplus year after year,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indicates the country’s increasing indebtedness to the rest of the world. If however, the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stays in deficit year after year, this means the country’s indebtedness to the rest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world is falling.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At the introductory level, BOP problems normally refer to a deficit on the current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account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since the capital account is assumed to be passive. Thus external disequilibrium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usually associated with a situation where the trade balance (exports – imports) is in deficit.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This raises two questions: 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Is a current account deficit necessarily bad?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The answer is no. Recalling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condition for macroeconomic equilibrium S+T+M = I+G+X, and rearranging, we can get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{M-X} = [I-S] + (G-T). The {} term is the current account or trade balance, the [] term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gives the private sector resource deficit (i.e. the excess of the private sector’s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over savings) and the () term is the government fiscal deficit. It is clear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M&gt;X because G&gt;T (i.e. government is spending in excess of its resources), then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current account deficit might be unsustainable (i.e. bad), especially if the government’s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spending is essentially of a current nature. However, a trade deficit which finances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private investment that would otherwise not have been possible, is likely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desirable, esp. if the private sector is investing in industries that will have future export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potential (because this means the country will have the foreign exchange reserves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future to pay off the debt that is being incurred today to finance the current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deficit).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How can a current account, which is in deficit, be restored to balance?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Firstly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be recognized that perennial current account deficits of the sort implied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question only obtain under fixed exchange rates (because under floating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rates, the disequilibrium would self-correct through exchange rate depreciation). One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quick fix solution to sort out current account deficits under fixed exchange rate regimes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to have an economic deflation. The theory here is as follows: when a country’s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income rises, it spends more; part of that spending falls on imported goods;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imports cause the current account to worsen. The reverse is also true: lower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must reduce import spending and therefore improve the current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spending. However, economic contraction is a rather painful way of restoring current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equilibrium. A less painful one suggested by economists is devaluation,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name given to exchange rate depreciation but in the context of fixed exchange rates.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(The corresponding term for exchange rate appreciation is revaluation.) A devaluation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attempts to bring the exchange rate in line with its long-run equilibrium level, i.e. a level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consistent with international competitiveness. Competitiveness is simply defined 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real exchange rate (RER), where RER = (P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)*NER; NER is the nominal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(in Rs/$),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price level prevailing in the foreign country (US), and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level prevailing in the home country (Pakistan). The formula simply says that,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a fixed NER, if inflation is higher in Pakistan (relative to the US), Pakistani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 will become less attractive (or competitive) in the international market. 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result, our exports will fall, and current account will go into deficit. To rectify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situation, the NER can be devalued so as to make our goods cheaper and bring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competitiveness back to its original higher level. However, there are many provisos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attached to the devaluation policy prescription. Devaluation only works if the country’s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 and imports are elastic, otherwise the price effect of the devaluation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dominate the volume effect and the current account will worsen. Secondly, the country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have excess productive capacity in order to meet the higher demand for exports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is created as a result of the devaluation. Thirdly, the country should not have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high foreign debt whose burden increases so much as a result of the devaluation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negative effects associated therewith overwhelm any positive competitiveness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effects. </a:t>
            </a:r>
            <a:endParaRPr lang="ko-KR" altLang="en-US" dirty="0" smtClean="0" sz="1097"/>
          </a:p>
          <a:p>
            <a:pPr marL="0" indent="0" defTabSz="15240" algn="l">
              <a:lnSpc>
                <a:spcPts val="14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11.5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FOUR BIG MACROECONOMIC ISSUES AND THEIR INTER-RELATIONSHIPS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(CONTINUED…….)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Determinants of Capital Account: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Although the focus of discussion above has been the current account, it is useful to briefly look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the determinants of the capital account, and the factors which increase the ability of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country to attract capital account inflows: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attractiveness of the macroeconomic environment, the law and order situation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an important determinant of foreign investment inflows into the country. The better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situation, the more inflows can be expected by way of direct investment by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 more favourable are international conditions to borrowing (foreign lenders’ attitude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towards, and perception of, the borrowing country; foreign interest rates), the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easily can a country raise foreign debt.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If foreign interest rates are lower than domestic interest rates (the latter adjusted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downwards for any expected exchanger ate depreciation), then foreign portfolio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investors will want to invest in the domestic country’s stocks, bonds and other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bearing assets. The underlying relationship being referred to here is that of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parity which says: i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should approximately equal i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if private portfolio flows are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balance. Here i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stands for domestic interest rate,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	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E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expected depreciation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adjustment, and i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f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the foreign interest rate.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it is not already clear, the costs of running a high BOPs or current account deficit (high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usually defined as over 5% of GNP) for a long time can be fairly severe. The country risks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losing precious foreign exchange reserves if the exchange rate is fixed.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 this case,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contraction, and hence AD contraction, follows the loss in reserves with obvious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social costs. Alternatively, if the country completely runs out of reserves, a BOPs crisis 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occur which can be very costly both in terms of the image of the country internationally as well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its ability to borrow and attract investment from abroad.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GROWTH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Growth and Growth Rate: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Economic growth is increase in an economy’s level of production, output or income. We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talk about production or output in two broad definitional contexts. One, we can compare real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GDP with some other measure of welfare (for e.g., one which adjusts for externalities, social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indicators, the black market, purchasing power parity, income inequality etc.). Two, we can talk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about potential vs. actual output. Potential output is the aggregate capacity output of a nation;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maximum quantity of goods and services that can be produced with available resources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 given state of technology.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 our discussion here, we will abstract from such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complexities and take output to simply mean real GDP.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growth rate of a country’s real GDP can be negative, positive or zero. A growth rate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2-3% is considered normal for mature developed countries; for LICs, 5-7%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considered healthy and 7%+ excellent.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 Capita Real GDP: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studying growth, it is always instructive to analyse changes in per capita real GDP along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changes in real GDP. Per capita real GDP growth adjusts GDP growth downwards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population growth rate and gives a more accurate indication of improvements in living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1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Note that serious BOPs problems or crises are unlikely under floating exchange rates.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2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Thus, when the production possibilities frontier of a country shifts out, that represents an increase in potential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GDP. Actual GDP can be less than or equal to potential GDP, and is usually less. The difference between potential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and actual GDP is sometimes referred to as the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output gap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.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119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standards in a country. For mature HICs, Real GDP growth rate = per capita real GDP growth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rate, since the population size in these countries is quite stable.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also important to note that even a small per capital real GDP growth rate (say around 2%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p.a.), if sustained for a very long very of time (say 100 years) can deliver huge improvements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living standards. The U.S. and Japan in the 19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centuries and East Asian tiger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in the last four decades are a neat example of this.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Growth is an Important Macroeconomic Issue: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obvious why growth is an important macroeconomic issue. Every government aspires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deliver a higher growth rate for the country. High growth rates means higher national 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means better living standards on average, which in democracies, means happier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electorates and therefore increased chances of re-election for another term in office. However,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all countries might wish to achieve high growth rates, in practice, only a handful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been able to convert the wish into reality.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Traditional Thinking about Growth: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Traditional thinking on growth was that it can be driven either by an increase in factor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resources (land, natural resources, labour, capital), i.e. an increase in potential GDP, or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efficient use of the factors, i.e. a move from inside the PPF to the PPF. The policy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implication attached to this line of thinking was simple. Countries must either accumulate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factors of production (esp. capital), or develop more cost-efficient technologies and methods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to utilize those resources better. In any event, factors of production were at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heart of growth theory. </a:t>
            </a:r>
            <a:endParaRPr lang="ko-KR" altLang="en-US" dirty="0" smtClean="0" sz="1097"/>
          </a:p>
          <a:p>
            <a:pPr marL="0" indent="0" defTabSz="15240" algn="l">
              <a:lnSpc>
                <a:spcPts val="4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11.6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FOUR BIG MACROECONOMIC ISSUES AND THEIR INTER-RELATIONSHIPS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(CONTINUED…….)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Link between growth and the various factors of production: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Before we move to neo-classical and endogenous growth theories, let us gain a better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understanding of the link between growth and the various factors of production. We begin by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recalling the familiar Cobb-Douglas constant returns to scale production function: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 = K</a:t>
            </a:r>
            <a:r>
              <a:rPr lang="en-US" altLang="ko-KR" dirty="0" smtClean="0" sz="701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  <a:ea typeface="Arial"/>
              </a:rPr>
              <a:t>L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1-</a:t>
            </a:r>
            <a:r>
              <a:rPr lang="en-US" altLang="ko-KR" dirty="0" smtClean="0" sz="701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	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hypothetical economy. Here Y denotes output, K denotes capital (machines, buildings etc.),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 denotes labour, and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is a parameter that lies between 0 and 1. Dividing both sides by L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substituting Y/L = y (per capita output), and K/L = k (per capita capital), we have the per capita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function y = k</a:t>
            </a:r>
            <a:r>
              <a:rPr lang="en-US" altLang="ko-KR" dirty="0" smtClean="0" sz="701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Labor and Capital: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 for a given L and no depreciation, an increase in K should translate into an increase in 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through it an increase in y. This is an example of capital deepening induced growth.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when there is depreciation (say at a rate d% p.a.) of the capital stock and the labour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is growing at n% p.a., capital must grow at least by (d+n)% p.a. in order keep K/L, or k,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constant. This is called capital widening, i.e. more capital being created but spread over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larger population so as to deliver the same K/L. The per capita output impact of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widening is zero, because k remains the same.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 taking capital as fixed, let’s analyze the ways in which labour can serve as the engine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growth. It is obvious that an increase in the no. of labour hours worked would expand output.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historically, the working week has been shortened from 6 to 5 days so it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incorrect to cite this as the major source of world economic growth over the last century. What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else could therefore have driven the rapid expansion of production in the 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century. It might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the case that there are now more people on the labour force, due to perhaps a larger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proportion of women doing marketable jobs (which is historically accurate). Then it might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quality of human capital has gone up. The same workers, because they are better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educated and have better skills, can produce more output using the same amount of capital.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Japan and Germany are prime examples of this – i.e. of countries which achieved very high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rates despite having very low levels of physical capital left after World War II. It was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quality of these countries’ human capital which made the difference.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Land: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Let’s now concentrate on land. The earliest thinking on this was all doom and gloom. Malthus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(1798), for instance, noted that the supply of land, esp. agricultural land, was fixed, whereas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world population was rising fast. Given diminishing returns (in terms of marginal food product)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labour, the implication was obvious: world hunger. While the starvation hypothesis did come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true for come countries, it did not happen for the whole world. Why?  Predominantly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unanticipated productivity improvements in agricultural production. Technological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breakthroughs, like tractors, fertilizers, etc. increased yields per acre by many 100s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percents permitting a food output that far exceeded world food requirements even with a larger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population. Today, land does not feature centrally in growth theory, as many countries (e.g.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European countries, Japan, Singapore, Hong Kong, etc.) were seen to achieve very high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rates while geographically much larger South Asian, Latin American and African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lagged behind.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Land is one type of natural resource that goes into production. The other type is raw materials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like mineral wealth or timber. The important point about these resources is that some of them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are not renewable (like oil, coal, gas and other minerals), while others are: timer, fish etc.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important to take these concerns into consideration when talking about the ability of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particular type of natural resource to act as the engine of growth.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above is not true for technical progress, however, which neither depletes nor requires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renewing. An essential and important ingredient in the production process, the technical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knowledge/stock of a country is additive and cumulative and depends on the pace of invention,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innovation and learning by doing that is happening in the economy. In order to protect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incentive to invent and innovate, governments introduce patent and copyright laws which grant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inventor monopoly production rights for a certain period. Also governments directly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indirectly fund research and development activities which are the engine for invention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innovation.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Neo-classical thinking on growth: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Neo-classical thinking on growth is owed to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Robert Solow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whose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exogenous growth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models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 the mid-20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century remained the most influential work in the area till the late 1980s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endogenous growth theories revolutionized thinking in this area.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Based on the principle of diminishing returns to capital,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main theses of the neo-classical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exogenous growth theory were: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steady-state growth rate of real GDP depends on n and t, the exogenous rates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of population and technology. By exogenous, we mean determined outside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model. Thus, there were no policy insights for how governments could affect the steady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state growth rates of countries. In particular, the model suggested that higher savings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only have a level effect on income, not a long-term growth effect as had been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earlier thought. The reason was that savings-enabled investment and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accumulation eventually banged into diminishing returns.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If one country started with lower income and capital than another country, then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poorer country would grow faster in order to catch up with the richer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Eventually, both would grow at the same rate.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Major Weaknesses of Exogenous Growth Model: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Exogenous growth theory suffered from three major weaknesses: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It could not explain why the gap between the poor and rich countries had widened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(anti-catch up),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It could not explain why some countries in East Asia had apparently grown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consistently on the back of higher saving rates, and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It modeled technology as exogenous, and beyond the influence of policy.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first weakness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was answerable within the neo-classical framework: the key insight was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convergence would only be witnessed among countries with similar capital and 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levels to start with; countries with very low capital to start with might actually never grow out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poverty and could see their capital stock falling over time.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second weakness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was addressed by endogenous growth theory (endogenous because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steady state growth rate was determined inside the model, not determined by factors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exogenous to it) which set up the model in a way that the steady state growth rate now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depended directly on the saving rate and level of technology. A permanent increase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saving rate, therefore, meant a permanent increase in the growth rate.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third weakness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was also addressed by endogenous growth theory, which by using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industry structures and technology functions specifications could link technological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progress to conscious R&amp;D effort by firms and government. Non-diminishing returns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technical progress would then generate endogenous growth.  </a:t>
            </a:r>
            <a:endParaRPr lang="ko-KR" altLang="en-US" dirty="0" smtClean="0" sz="1097"/>
          </a:p>
          <a:p>
            <a:pPr marL="0" indent="0" defTabSz="15240" algn="l">
              <a:lnSpc>
                <a:spcPts val="10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11.7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FOUR BIG MACROECONOMIC ISSUES AND THEIR INTER-RELATIONSHIPS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(CONTINUED…….)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RELATIONSHIP BETWEEN THE “BIG FOUR”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Big Four In Case of Short Run: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short-term (up to about two years), the big four objectives of faster growth, lower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unemployment, lower inflation and the avoidance of balance of payments deficits are all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related.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3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They all depend on aggregate demand, and all vary with the course of the trade (or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business) cycle.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expansionary phase of the trade cycle (i.e. just following a recession), AD grows rapidly,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gap between actual and potential output narrows and unemployment (of the demand-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deficient sort) falls. However, rising demand puts pressure on prices (inflation), sucks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imports and lowers competitiveness, moving the balance of payments towards a deficit. Thus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of the problems get better, two worsen. The opposite happens in the contractionary phase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cycle (i.e. just following a boom).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Big Four In Case of Long Run: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long-run, and in a LIC context, however, the inter-relationships between the four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variables can get quite complex. We therefore take a more detailed look at the two way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relationships between pairs of issues.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Inflation-unemployment: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This has already been covered extensively under the Philips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discussion (both under unemployment and inflation). Whether there is actually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trade-off depends very much on which theory you subscribe to: monetarist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Keynesian.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Growth-inflation: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Economic growth is likely to put pressure on prices if there is no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slack in the economy and more production requires workers to work overtime,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machines to be used 24 hours a day etc. Depends also on whether growth is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led or supply led. If it is the former (as in the example above), then it is the AD curve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is shifting right, given an upward sloping supply curve. If it is the latter, then we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in the realm of AS shifts (due to technology improvements etc.) and given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demand curve, prices will fall. The reverse relationship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and growth is almost always negative. An exogenous rise in prices (as caused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the oil price shocks of the 1970s) is equivalent to a leftward shift in the AS curve,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causes equilibrium output to fall. Also, high inflation deters investment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uncertainty effect. Low investment reduces both the productive capacity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 (AS shifts left), and decreases the investment component of aggregate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(AD shifts left). The combined effect on output is likely to be extremely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Growth-unemployment: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Episodes of high economic growth will usually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characterized by low unemployment, but this is not necessarily true. If growth reflects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switch in production away from agricultural commodities and light manufactures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(labour-intensive) to capital intensive goods or to capital-intensive ways of producing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agricultural commodities or light manufactures, then unemployment can actually rise,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labour is substituted by capital (machines). By the same logic, it might be that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3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We speak, of course, in the context of mature HICs, although an extension of this to LICs would not be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entirely misplaced.  </a:t>
            </a:r>
            <a:endParaRPr lang="ko-KR" altLang="en-US" dirty="0" smtClean="0" sz="1002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is moderate or zero, but a switch towards labour-intensive production causes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to fall considerably. The reverse relationship is obvious. Labour is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resource and when unemployed implies the economy producing much below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potential. Thus high growth is unlikely to be seen in the presence of high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unemployment. Also unemployment can affect growth through the former’s effects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social stability, crime, law and order. High unemployment is often associated with riots,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strikes and other disruptions (esp. if there are no so social safety nets like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benefit) and these seldom help the cause of productive activity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growth, at least in the short-term.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Growth-BOPs: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This depends on whether growth is of the import-substituting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industrialization (ISI) sort or export-oriented variety. ISI: If the country (e.g. India from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1947- to the 1980s) imports a lot of capital and machinery in order to set up industries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can produce consumer goods for the home market that were earlier imported form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abroad, then this country can experience growth but a high current account deficit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initially (because the country produces not for the world market but for the home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market, so exports are low while imports of capital are high). Export-led: If a country’s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is mainly attributable to its capture of a larger share of world markets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exports, then that country is more likely to generate current account surpluses as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grows. East Asian countries are prime examples. See also the relationship between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imports and growth/employment (below) .The reverse relationship is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complicated. On the one hand, we see that a country with a fixed exchange rate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experience a loss in reserves, a monetary contraction and thus a reduction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 (and hence growth) when faced with a BOPs deficit. On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hand, if the current account deficit (or capital account surplus) reflects an underlying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private sector resource gap and is financing productive private sector domestic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investment, then the long-term growth implications might be positive (due to higher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domestic private investment). In a related vein, if the private sector is importing a lot,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but the imports are knowledge-intensive and/or have a high technology/skill-content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can further the learning and development of importing country producers then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long-term growth implications might be even more positive.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BOPs-unemployment: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impact of BOPs deficits on unemployment (though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growth) is described above. Another channel could be as follows: If the BOPs deficit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largely reflects domestic consumers switching from local goods to imports, then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BOP- could reduce domestic activity, growth and hence employment. The reverse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relationship would run as follows: High unemployment means low incomes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hands of consumers. Low incomes would imply low spending. The cut in spending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also fall partly on imports, and therefore the BOPs would improve.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		BOPs-inflation: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Under a fixed exchange rate regime, a BOPs deficit reduces domestic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supply which, as per the quantity theory of money, should reduce prices.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floating exchange rates, a BOPs deficit will cause local currency depreciation, which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make imports more expensive. Since imported goods are also included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basket of goods used in the consumer price index, inflation would be seen to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following the depreciation. The reverse relationship works through competitiveness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real exchange rates. Higher domestic inflation (relative to the rest of the world, or 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trading partners, to be precise) will lower export competitiveness, causing the current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to worsen. Since higher inflation also reduces the real interest rate (note: real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 = nominal interest rate – inflation) or real return on domestic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assets, the foreign demand for such assets falls, causing the capital account to go into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deficit as well. The combine effect on the BOPs can thus be quite 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Salter-Swan Diagram: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framework which allows the relationships between the above macroeconomic problems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analyzed and appropriate policy prescriptions to be derived is the Salter-Swan diagram.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diagram uses (real) exchange rate–absorption space, where the exchange rate is defined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Rs. per $, and absorption is a term for aggregate demand-injection variables (like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spending, money supply).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Internal Balance and External Balance: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internal balance (IB) line (combination of points where AD = AS in the economy) slopes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downward, explained as follows: Given fixed AS, he more appreciated the exchange rate (the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lower it is on the vertical axis), the lower the imports, the lower the AD, and therefore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the required level of demand-injection (rightward movement on the horizontal axis)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order to bring AD back up to the level of AS. Thus IB slopes downward. At any point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 of IB the exchange rate is more depreciated than is consistent with internal balance,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 the economy is likely to be experiencing higher AD than AS, and thus inflation.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point to the left of IB, the economy faces unemployment.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external balance (EB) line (combination of points where exports = imports), slopes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upward, explained as follows: As absorption increases, AD and imports increase, thus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requiring a more depreciated exchange rate to bring the current account back to balance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(through higher exports and lower imports). Thus EB slopes upward. At any point to the right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EB, the exchange rate is more appreciated than is required for external balance (also called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overvalued exchange rate), and therefore the economy must be facing a current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deficit. To the left of the EB, there is a current account surplus.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intersection of IB and EB: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intersection of IB and EB delivers the joint internal and external equilibrium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economy.  The economy may in reality not be at this point but be on only one of the IB or EB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lines. In this case it will gradually move to equilibrium along the line it is on. The economy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also be in any of the four quadrants: north (inflation, CA+), west (unemployment, CA+), east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(inflation, CA-), south (unemployment, CA-). LICs often find themselves in the east quadrant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where there is both inflation and unemployment. A combination of devaluation and lower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absorption (tight monetary and fiscal policies) can often do the trick. </a:t>
            </a:r>
            <a:endParaRPr lang="ko-KR" altLang="en-US" dirty="0" smtClean="0" sz="1097"/>
          </a:p>
          <a:p>
            <a:pPr marL="0" indent="0" defTabSz="15240" algn="l">
              <a:lnSpc>
                <a:spcPts val="29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11 -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the government wishes to reduce unemployment in the economy.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every year from year 1 onwards the government is prepared to expand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aggregate demand by whatever it takes to do this.  If this expansion of demand gives 7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 cent inflation p.a., fill in the table (below) for the first six years. Do you think that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after a couple of years people might begin to base their expectations differently? </a:t>
            </a:r>
            <a:endParaRPr lang="ko-KR" altLang="en-US" dirty="0" smtClean="0" sz="1097" b="1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Year </a:t>
            </a:r>
            <a:endParaRPr lang="ko-KR" altLang="en-US" dirty="0" smtClean="0" sz="1002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0% </a:t>
            </a:r>
            <a:endParaRPr lang="ko-KR" altLang="en-US" dirty="0" smtClean="0" sz="1002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2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14%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endParaRPr lang="ko-KR" altLang="en-US" dirty="0" smtClean="0" sz="1002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3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21%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14% </a:t>
            </a:r>
            <a:endParaRPr lang="ko-KR" altLang="en-US" dirty="0" smtClean="0" sz="1002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4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28%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21% </a:t>
            </a:r>
            <a:endParaRPr lang="ko-KR" altLang="en-US" dirty="0" smtClean="0" sz="1002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5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35%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28% </a:t>
            </a:r>
            <a:endParaRPr lang="ko-KR" altLang="en-US" dirty="0" smtClean="0" sz="1002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6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42%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7%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+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35% </a:t>
            </a:r>
            <a:endParaRPr lang="ko-KR" altLang="en-US" dirty="0" smtClean="0" sz="1002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After a couple of years, people will realise that inflation is continuing to rise.  They will therefore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expect this year’s inflation to be higher than last year’s, not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targeting the exchange rate help to reduce inflation?  Does it depend on the rate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inflation in the countries to whose currencies the pound is fixed?</a:t>
            </a:r>
            <a:endParaRPr lang="ko-KR" altLang="en-US" dirty="0" smtClean="0" sz="1097" b="1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will help to reduce inflation, if the rate of inflation is lower abroad than at home.  The main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pressure will be on the export and import substitute sectors, which will have to reduce their 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cost increases in order to remain competitive.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inflation is higher abroad, then targeting the exchange rate will not reduce domestic inflation: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instead, it will probably increase it.  The balance of payments surpluses that will arise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initial lower inflation will have the effect of increasing money supply and hence fuelling inflation.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the best way to reduce unemployment when it is above the  natural rate level;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when it is at the natural rate leve?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government can use Keynesian type demand-management policies (raise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spending above taxes, adopt expansionary monetary policy) to try to reduce unemployment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latter is above the natural rate level. However, when the economy is at the natural rate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level, the government should focus on supply-side policies to reduce the natural rate level.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Demand-increasing policies at this stage are more likely to feed into prices.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determine the speed at which inflation accelerates?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amount by which unemployment is kept below the natural level (a process which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determined by the level of excess demand).  The more that unemployment is kept below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natural level, the more will inflation accelerate.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electoral system would most favour a government being re-elected: the US fixed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term system with presidents being elected every four years, or the UK system where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government can choose to hold an election any time within five years of the last one?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UK system.  This gives a government more flexibility to ensure that the economy is at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politically best point of the business cycle at the time of the election.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126</a:t>
            </a:r>
            <a:endParaRPr lang="ko-KR" altLang="en-US" dirty="0" smtClean="0" sz="1200"/>
          </a:p>
        </p:txBody>
      </p:sp>
      <p:sp>
        <p:nvSpPr>
          <p:cNvPr id="275" name="Rect 3"/>
          <p:cNvSpPr>
            <a:spLocks noGrp="1" noChangeArrowheads="1"/>
          </p:cNvSpPr>
          <p:nvPr/>
        </p:nvSpPr>
        <p:spPr>
          <a:xfrm rot="0">
            <a:off x="3535680" y="2023745"/>
            <a:ext cx="1415415" cy="149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Arial Narrow"/>
              </a:rPr>
              <a:t>=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+ </a:t>
            </a:r>
            <a:endParaRPr lang="ko-KR" altLang="en-US" dirty="0" smtClean="0" sz="1002"/>
          </a:p>
        </p:txBody>
      </p:sp>
      <p:sp>
        <p:nvSpPr>
          <p:cNvPr id="276" name="Rect 3"/>
          <p:cNvSpPr>
            <a:spLocks noGrp="1" noChangeArrowheads="1"/>
          </p:cNvSpPr>
          <p:nvPr/>
        </p:nvSpPr>
        <p:spPr>
          <a:xfrm rot="0">
            <a:off x="2959735" y="1999615"/>
            <a:ext cx="1945640" cy="298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</a:t>
            </a:r>
            <a:r>
              <a:rPr lang="en-US" altLang="ko-KR" dirty="0" smtClean="0" sz="1002">
                <a:solidFill>
                  <a:srgbClr val="000000"/>
                </a:solidFill>
                <a:latin typeface="Arial Narrow"/>
                <a:ea typeface="Arial Narrow"/>
              </a:rPr>
              <a:t>Actual </a:t>
            </a:r>
            <a:endParaRPr lang="ko-KR" altLang="en-US" dirty="0" smtClean="0" sz="1002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02">
                <a:solidFill>
                  <a:srgbClr val="000000"/>
                </a:solidFill>
                <a:latin typeface="Arial Narrow"/>
              </a:rPr>
              <a:t>inflation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900">
                <a:solidFill>
                  <a:srgbClr val="000000"/>
                </a:solidFill>
                <a:latin typeface="Arial Narrow"/>
                <a:ea typeface="Arial Narrow"/>
              </a:rPr>
              <a:t>Inflation</a:t>
            </a:r>
            <a:endParaRPr lang="ko-KR" altLang="en-US" dirty="0" smtClean="0" sz="90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V is constant, will (a) a £10 million rise in M give a £10 million rise in MV; (b) a 10 per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cent rise in M give a 10 per cent rise in MV 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No (unless V = 1)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Yes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both V and Q are constant, will (a) a £10 million rise in M lead to a £10 million rise in P;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(b) a 10 per cent rise in M lead to a 10 per cent rise in P?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No (unless V = Q: which it never would)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Yes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the government choose both the exchange rate and the money supply if it 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prepared to use the reserves to support the exchange rate?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Probably, but only for a short time.  If the government reduces interest rates to avoid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recession, but at the same time is unwilling to let the exchange rate depreciate, then it 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indeed use its reserves to support the currency.  If speculators believe that the government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succeed in supporting the exchange rate, then the government may well succeed. 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will be helped in this, if it is supported by other central banks.  Thus it was easier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UK to support a disequilibrium exchange rate when it was a member of the exchange 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mechanism of the European Monetary System than it was before joining, because there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joint support from the member countries to support currencies that were being pushed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floor of their agreed exchange rate band.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If, however, the government attempts to keep the exchange rate above its equilibrium level over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long term, without correcting the underlying balance of payments problem, then it is likely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country could be forced to devalue: speculation will become too great.  Thus, even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within the exchange rate mechanism (ERM), a country could be forced to devalue, despite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support from other countries.  This was precisely what happened to the UK and Italy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September 1992.  Speculation against the pound and the lira became so great that their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rates could not longer be maintained.  The two countries left the ERM and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rates depreciated.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importers and exporters believe that the exchange rate has ‘bottomed out’, what will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they do?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Importers and exporters will stop speculating that the currency will fall.  Importers will thus cease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‘stocking up’, and will cut back on imports, waiting for the exchange rate to rise.  Exporters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start selling more, to take advantage of the low exchange rate.  The combined effect, therefore,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be a substantial boost to aggregate 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adverse internal effects may follow from (a) a depreciation of the exchange rate; (b)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appreciation of the exchange rate?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It may fuel inflation by increasing the price of imported goods and reducing the need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 industries to restrain cost increases.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It may damage export industries and domestic import-competing industries, which would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 find it more difficult remain competitive.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Describe the open market operations necessary to sterilise the monetary effects of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balance of payments surplus.  Would this in turn have any effect on the current 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financial accounts of the balance of payments?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balance of payments surplus would lead to an increase in the money supply.  To sterilise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the authorities would have to sell securities on the open market.  The resulting higher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 would tend to lead to a continuing surplus on the financial and current accounts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hence a continuing need to sterilise the resulting increase in the money supply. </a:t>
            </a:r>
            <a:endParaRPr lang="ko-KR" altLang="en-US" dirty="0" smtClean="0" sz="1097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Under what circumstances would (a) contractionary and (b) expansionary policies cause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 conflict between internal and external objectives?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When there was an inflationary gap and a balance of payments deficit.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When there was a deflationary gap and a balance of payments surplus.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Making first new classical, and then Keynesian assumptions, trace through the effects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(under a fixed exchange rate) of (a) an increase in domestic saving; (b) a rise in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 for exports.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New classical: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A rise in saving will mean a lower level of aggregate demand. This will cause wage rates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prices to fall, and thus cause imports to fall and exports to rise.  There will be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current account surplus. At the same time, the increased saving plus a lower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transactions demand for money will put downward pressure on interest rates.  There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an outflow of finance and a capital account deficit. Given a high international mobility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finance, the capital account deficit is likely to exceed the current account surplus. 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lead to a contraction in the money supply and hence ease the downward pressure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 (or even allow them to rise again), thus reducing the size of the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deficit, or at least allowing a growing current account surplus to ‘catch up’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account deficit.  Overall balance has been restored.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A rise in the demand for exports will cause the current account to move into surplus.  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same time, the resulting rise in aggregate demand will increase the transactions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money and put upward pressure on interest rates, causing an inflow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finance and hence a capital surplus too.  Money supply will thus rise.  But this will 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put downward pressure on interest rates, thereby boosting aggregate demand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hence the demand for imports, and also stemming the inflow of finance.  The net effect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be an erosion of the current and capital account surpluses until overall balance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been restored.  The current account will come back into balance because of flexible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and wage rates: prices and wage rates will go on rising until the current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has been eliminated. </a:t>
            </a:r>
            <a:endParaRPr lang="ko-KR" altLang="en-US" dirty="0" smtClean="0" sz="1097"/>
          </a:p>
          <a:p>
            <a:pPr marL="0" indent="0" defTabSz="15240" algn="l">
              <a:lnSpc>
                <a:spcPts val="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Keynesian: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A rise in savings will cause a multiplied fall in national income and a reduction in the 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inflation.  This will cause a fall in imports and a rise in exports and hence a surplus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current account.  This will lead to a rise in the money supply as the Bank of England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sells pounds, but this will be more than offset by an endogenous fall in money supply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caused by the reduction in aggregate demand.  This will allow the current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to persist.  The reduction in money supply will prevent downward pressure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rates.  There will therefore be no capital account deficit to match the current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surplus.  Overall external imbalance will persist.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A rise in the demand for exports will cause the current account to move into surplus. 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rise in exports (being an injection) will also cause a multiplied rise in national income.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will increase the demand for imports and will thus reduce the current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somewhat (but not completely, given that the rise in exports is partly matched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rise in other withdrawals too).  The effect on the capital account will be relatively small.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current account surplus will reduce the money supply but the rise in aggregate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will cause an endogenous rise in the money supply.  The net effect on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rates, and hence the capital account, will depend on which of these two effects is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greater.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Suppose that under a managed floating system the government is worried about high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inflation and wants to keep the exchange rate up in order to prevent import prices rising.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tackle the problem of inflation it raises interest rates.  What will happen to the current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financial accounts of the balance of payments?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high interest rates will cause a surplus on the capital account.  The higher exchange 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cause a deficit on the current account.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Imagine that there is an inflationary gap, but a balance of payments equilibrium.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Describe what will happen if the government raises interest rates in order to close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inflationary gap.  Assume first that there is a fixed exchange rate and then that there is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floating exchange rate.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Fixed exchange rate: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The higher interest rates will reduce aggregate demand and thus help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close the inflationary gap.  The higher interest rates, however, will lead to an increase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and a decrease in the supply of sterling: the financial account will move into surplus,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external balance will be destroyed.  The reduction in inflation will also have the effect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exports and reducing imports, thereby also improving the current account. (As we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shall see in section 24.2 and Box 24.2, the effect does not end here.  The balance of payments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will increase the money supply, which will push interest rates back down again, thus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preventing internal balance from being achieved.)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Floating exchange rates: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As under a fixed exchange rate, the higher interest rates will reduce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 and thus help to close the inflationary gap.  The higher interest rates will lead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an increase in the demand for and a decrease in the supply of sterling: the financial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move into surplus, and external balance will be destroyed.  The exchange rate will thus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appreciate, thereby restoring external balance.  The effect of the appreciation will be also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 the demand for exports (an injection) and increase the demand for imports (a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withdrawal).  This will help to reinforce the effect of higher interest rates in dampening aggregate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and restoring internal equilibrium.  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the above it can be seen that monetary policy has a bigger effect on the domestic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 under floating than under fixed exchange rates.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what extent do Keynesians and new classicists agree about the role of fixed exchange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are both critical.  They both argue that monetary policy is relatively ineffective under fixed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rates, and that overall imbalance on the balance of payments may persist.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be the effect of an expansionary fiscal policy on interest rates and national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income if there is a perfectly elastic supply of international finance (i.e. perfect capital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mobility)? See Lecture 44.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will be no effect on interest rates.  Instead, the money supply will expand fully (from 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inflow of finance) to match the rise in aggregate demand, thus giving the full effect on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with no crowding out.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exports likely to continue growing faster than GDP indefinitely?  What will determine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outcome?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Yes, so long as a growing proportion of countries’ GDP comes from exports.  If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trade barriers continue to be eroded, if consumers continue to have a growing demand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imports of goods and services (e.g. foreign holidays) and if firms continue to expand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proportion of their purchases of capital, raw materials, components and semi-finished products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they obtain from abroad, so the exports are likely to continue growing faster than GDP. 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may well level off over the years, however, as comparative advantage becomes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fully exploited and as services (such as entertainment) account for a larger and larger proportion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GDP.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could the world as a whole not experience a problem of a current account balance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payments deficit?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every import to one country is an export from another, and every outflow of investment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or transfer of money from one country is an inflow to another.  Thus when all the current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129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deficits and current account surpluses of all the countries of the world are added up,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must all cancel each other out.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effect will there be on the four objectives of an initial excess of withdrawals over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injections?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withdrawals exceed injections, national income will fall.  Other things being equal, this will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following effects on the four objectives: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Growth will be negative.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Unemployment will rise.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Inflation will fall.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current account of the balance of payments will tend to ‘improve’.  The deficit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reduced, or eliminated, or be transformed into a surplus.  If it was already in surplus,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surplus will increase.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effects, according to monetarists, would successful supply-side policies have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Phillips curve?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supply-side policies reduced the natural level of unemployment by improving the working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the labour market (e.g. by improving information on jobs), then the (vertical) Phillips curve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shift to the left.  If, however, the supply-side policies merely affected output, the Phillips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would be unaffected.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Two economists disagree over the best way of tackling the problem of unemployment.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For what types of reasons might they disagree?  Are these reasons positive 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normative?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may disagree over what has caused unemployment.  This could be either a disagreement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 facts or a disagreement over the way in which these factors operate on unemployment (i.e.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disagreement over the correct model of unemployment).  Alternatively they may disagree over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effects on unemployment of particular policies.  In each of these cases the disagreement is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positive one.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other hand they may disagree over the degree of priority that should be given to tackling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unemployment, given that it might be at the expense of some other economic goal (like reducing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inflation).  In such cases the disagreements are (at least in part) normative.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Make a list of the various inflows to and outflows from employment from and to outside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workforce. </a:t>
            </a:r>
            <a:endParaRPr lang="ko-KR" altLang="en-US" dirty="0" smtClean="0" sz="1097" b="1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Inflows to employment: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School/college leavers.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Immigrants.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Returners to the labour force: e.g. parents after raising children. </a:t>
            </a:r>
            <a:endParaRPr lang="ko-KR" altLang="en-US" dirty="0" smtClean="0" sz="1097"/>
          </a:p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Outflows from employment: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People who retire.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People who are made redundant, who are sacked or who resign, and choose not to look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a new job.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People who temporarily leave their jobs: e.g. to raise a family, or to attend further or higher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education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People who emigrate.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People who die.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have the costs to the government of unemployment benefits not been included as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cost to the economy? </a:t>
            </a:r>
            <a:endParaRPr lang="ko-KR" altLang="en-US" dirty="0" smtClean="0" sz="1097" b="1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unemployment benefit is merely a transfer of money: from the taxpayer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unemployed.  The monetary cost to the taxpayer is exactly offset by the benefit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higher consumer expenditure and higher wages subsequently led to higher prices,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happen to: (a) real wages; (b) unemployment (assuming no further response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from unions)?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Real wages would fall back again.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The lower real wages would cause consumer demand to fall (assuming that profit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earners spend a lower proportion their profits than do wage earners of their wages)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shift AD curve back to the left again.  But unemployment would fall, because firms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afford to employ more workers at the now lower real wage.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can a growth in labour supply can cause disequilibrium unemployment.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AS curve will shift to the right.  If wages are inflexible downwards, this will cause an excess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of labour at the given wage rate.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what areas of the economy are jobs growing most rapidly in developed countries (and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many fast-growing developing countries as well)?  Is this due to a lack of technological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innovation in these areas?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service sector.  It is partly due to a lack of displacement of labour by machines, but also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due to a rapid rate of growth in demand.  (Note that in some parts of the service sector, there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been a displacement of labour as a result of the information technology revolution.)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 you personally gain or lose from inflation?  Why?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will have to answer this for yourself!  Whether you gain or lose will depend on (a) whether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your income tends to go ahead of, or fall behind inflation; (b) whether you are a net borrower 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saver, and whether the rate of interest is above or below the rate of inflation (if it is below, then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real rate of interest is negative and thus borrowers will gain and savers will lose); (c) just how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inconvenient you find it to update your information on prices so that you can decide whether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items are good value for money.  If you are in receipt of a student grant, you are probably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loser, given that grants have not risen to compensate for inflation.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Make a list of those who are most likely to gain and those who are most likely to lose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from inflation.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Gainers: powerful companies; members of powerful unions; property owners (if property is rising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value more rapidly than prices generally).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Losers: those on incomes fixed in money terms (e.g. savers living on interest on their capital: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real value of their capital will be being eroded by inflation); workers with no bargaining power;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on state benefits, where these benefits do not rise in line with prices; students.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consumer demand rises and firms respond by raising prices, is this necessarily 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example of demand-pull inflation? Could there be such a thing as demand-pull illusion?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(Clue: why might consumer demand have risen?)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rise in consumer demand were the result of higher wages resulting from trade union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wage-push pressure, then the rise in demand will be a symptom of these cost-push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pressures.  To refer to the outcome as ‘demand-pull inflation’ would be wrong.  It would be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case of demand-pull illusion.  In practice, most inflationary episodes have both demand-pull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cost-push elements.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is the policy of targeting inflation likely to affect the expected rate of inflation?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likely to make it approximately equal to the target rate, assuming that people believe that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authorities (e.g. the Bank of England in the UK) will be successful in keeping inflation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approximately its target level.  The more successful the authorities are in keeping to the target,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more will people’s expectations help to guarantee that this success will continue.  If,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people believe that the authorities will not be able to keep inflation down to the target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rate, then the expected rate will be above the target rate, making it more difficult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authorities to meet the target.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the US current balance approximately a ‘mirror image’ of the Japanese current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balance?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USA and Japan have a high proportion of their trade with each other.  Many 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imports are Japanese exports and many Japanese imports are US exports.  Thus a Japanese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trade surplus is quite likely to correspond to a US trade deficit.  Similarly, many of the income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flows into and out of each country are from the other. Thus Japanese investments in the US lead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income flowing from the US (a debit on the US current account) to Japan (a credit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Japanese current account).  Clearly, however, the current accounts are only an approximate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mirror image of each other, given each country’s trade with other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Where would interest payments on short-term foreign deposits in UK banks be entered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on the balance of payments account?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a debit on the investment income part of the current account.  Payments of interest, profits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dividends are all elements in this part of the balance of payments account.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did the British pound ‘fare’ compared with the US dollar, the Italian lira and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Japanese yen from 1980 to 2001?  What conclusions can be drawn about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relative movements of these three currencies?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Taking the period as a whole, the pound depreciated against the US dollar and substantially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against the Japanese yen, but appreciated against the Italian lira.  There were, however,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fluctuations around this trend.  There was, for example, an appreciation against the dollar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1993 and 1998 and against the yen between 1995 and 1998.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movements mean that over the period as a whole there was a decrease in demand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pound relative to the dollar and yen, but an increase in demand for the pound relative to the lira.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in turn would suggest, other things being equal, that the rate of inflation was higher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UK than in Japan and the USA but lower than in Italy. 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an American firm wants to import cars from the UK.  Describe how foreign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exchange dealers will respond.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firm will want to purchase pounds with dollars.  It will thus ask banks’ foreign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departments for a $/£ quote.  The dealers will thus be put in competition with each other, trying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offer the lowest $ price for pounds in order to obtain the business.  But they must be careful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to offer so low a $ price that they will be unable to buy the necessary pounds at an even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lower $ price from UK importers wanting dollars.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 through each of the above reasons for shifts in the demand for and supply of rupees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consider what would cause an appreciation of the rupee.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rise in Pakistan’s interest rates relative to those abroad.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lower rate of inflation in Pakistan than abroad.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A fall in Pakistan’s incomes relative to those abroad.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Better investment prospects in Pakistan than abroad.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Speculators believe that the rate of exchange will appreciate.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Pakistani goods become more competitive (in terms of quality, etc.) than imported goods. </a:t>
            </a:r>
            <a:endParaRPr lang="ko-KR" altLang="en-US" dirty="0" smtClean="0" sz="1097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Malaysian ringgit is undervalued by 47 per cent in PPP terms against the US dollar,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the Swiss franc overvalued by 53 per cent, what implications does this have for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interpretation of Malaysian, Swiss and US GDP statistics?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GDP figures understate the purchasing value of Malaysian national income by 47 per cent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 to US national income, and overstate the purchasing value of Swiss national income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53 per cent relative to US national income.  In other words, at the exchange rates in question,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Malaysian national income seems 47 per cent lower relative US national income than it really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purchasing terms, and Swiss national income seems 53 per cent higher relative to US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than it really is in purchasing terms.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growth go on for ever, given that certain resources are finite in supply?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Yes, provided that technical progress continues to allow output be produced with declining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amounts of resources.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For what reasons might the productivity of land increase over time?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of the increase in quantity and quality of complementary factors.  Thus a hectare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land yields more agricultural output today than 100 years ago because of the increased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mechanisation of agriculture and the increased amount of chemicals used.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be the rate of economic growth if 20 per cent of national income were saved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invested and the marginal efficiency of capital were 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2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/</a:t>
            </a:r>
            <a:r>
              <a:rPr lang="en-US" altLang="ko-KR" dirty="0" smtClean="0" sz="701" b="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the formula:  g = i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MEC, the rate of economic growth will be: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20%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×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  <a:ea typeface="Arial"/>
              </a:rPr>
              <a:t>		2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5</a:t>
            </a:r>
            <a:endParaRPr lang="ko-KR" altLang="en-US" dirty="0" smtClean="0" sz="70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 = 8%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there were a gradual increase in the saving rate over time, would this lead to sustained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economic growth?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Yes, but the rate of economic growth would gradually slow down, given that the Y curve gets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less and less steep.  If, however, the extra saving were invested in research and development,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the result that the Y curve shifted upwards, this would allow a higher output to result from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extra saving and hence a faster rate of economic growth as saving increased over time.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this is true, why do people not increase their rate of saving?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people generally have a preference for spending their money sooner rather than later.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Saving entails sacrificing present consumption for future consumption, and the cost of waiting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has to be offset against any increased consumption (from earning interest) in the future.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there were a higher participation rate and GDP per capita rose, would output per worker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also have risen?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necessarily.  GDP per capita will still rise if a greater proportion of the population work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the same output per worker.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people worked longer hours and, as a result, GDP per capita rose, how would you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assess whether the country was ‘better off’?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country would be better off if the benefits from the extra consumption exceeded the costs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working more.  Calculating such costs and benefits is fraught with difficulties, however. 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example, just because people do work longer hours, it cannot be assumed that for them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benefits outweigh the costs: the may have little choice over the number of hours worked,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 if they did, they may not realise the full costs to them (in terms of lost leisure opportunities,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diminished family and social interactions and possibly poorer health).  Also, some of the costs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benefits are external to the people working the longer hours (e.g. costs and benefits to other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family members), and thus may well not be fully taken into account.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Identify some policies that a government could pursue to stimulate productivity growth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through each of the above means.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Giving firms grants and/or tax relief for investment; reducing delays in hearing planning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applications.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Putting more public money into education, training, R &amp; D and infrastructure; better auditing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ensure that such money is used efficiently.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Reducing barriers to trade and outlawing various anti-competitive practices.  </a:t>
            </a:r>
            <a:endParaRPr lang="ko-KR" altLang="en-US" dirty="0" smtClean="0" sz="1097"/>
          </a:p>
          <a:p>
            <a:pPr marL="0" indent="0" defTabSz="15240" algn="l">
              <a:lnSpc>
                <a:spcPts val="56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- 12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12.1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FISCAL POLICY AND TAXATION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policy is the government’s program with respect to the amount and composition of (i)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expenditure: the purchase of goods and services, and spending in the form of subsidies,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payments on debt, unemployment benefit, pension and other payments, (ii) revenues,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i.e. taxes and non-tax fees (such as license fees etc.) and (iii) public debt: borrowing to cover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excess of expenditure over revenues. Borrowing can be done from three sources: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domestic banks and the general public, the central bank (e.g. State Bank of Pakistan),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creditors.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Budget Deficit, Budget Surplus and Balanced Budget: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i&gt;ii: the government is said to be running a fiscal or budget deficit and so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must borrow (or raise debt) to cover the deficit; if i&lt;ii: the government is said to be running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or budget surplus and so the government can pay-off or reduce its debt; if i=ii: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is said to be running a balanced budget and the government’s net debt may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remain constant.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deficits and debt are often reported as a ratio of GDP. Although, there is no theoretical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benchmark for what constitutes a sustainable fiscal deficit or public debt ratio, the Maastricht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criteria (for countries in the European Union) is an important practical guide. It stipulates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deficit to GDP should be less than 3% while public debt to GDP should be less than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60%.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Taxation: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Taxes are general purpose, compulsory contributions by the people to the public treasury (or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exchequer) to meet the expenditure needs of the government. Without taxes,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would not be able to deliver services like law and order, public administration,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national defense, free or subsidized health and education etc.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taxes interfere with the market mechanism, they are considered distortionary, and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 there is a long-standing debate over the desirability of taxes. In a way, the stance over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taxation defines the economic “right” and “left” in HICs. The market-friendly right (like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Republicans in the U.S. or the Conservatives in the U.K.) believe in reducing the size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and its spending so that most of the services in the economy are provided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private sector. As such they can argue for lowering taxes (since government spending is also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less) which according to them distort private sector incentives (remember the Monetarist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argument for removing income taxes in the context of unemployment). By contrast,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interventionist left (like the Democrats in the U.S. or the Labour in the U.K.) consider that a big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active government essential for the delivery of better public services and therefore are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often against cutting taxes and transferring the responsibility of providing these services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private sector.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Debate over Taxation: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two dimensions to the debate over taxation: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equity and efficiency.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Equity: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Equity represents that principle of taxation which emphasizes fairness or just sacrifice, i.e.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everyone should pay tax according to his/her ability. So if a person earns higher income, s/he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be subjected to a higher tax rate. Thus, for e.g., a person earning Rs. 2,000 a month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sacrifice 10% of his/her income as taxes (i.e. Rs.200), whereas a person earning Rs.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200,000 should sacrifice 60% of his/her income as taxes (i.e. Rs. 120,000). In the absence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 progressive taxation, the rich person would have also paid a 10% income tax rate (i.e.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Rs. 20,000). Progressive taxation, in which the tax rate increases as income increases, is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application of the vertical equity principle which espouses the Robinhood approach of taking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from the rich and distributing it to the poor. While controversial, the vertical equity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principle in taxation is applied in one way or another in most countries across the world.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Horizontal Equity: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less controversial principle relates to horizontal equity which says: identically well-off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be taxed identically, i.e. no discrimination due to race, gender, caste, religion etc. There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many examples, however, of violation of this principle and often one comes across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individual belonging to a certain community or grouping enjoying certain economic privileges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enjoyed by a similarly endowed individual of another community or grouping.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now turn to the efficiency dimension, which concerns the distortionary effects of taxation,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esp. the possible negative effects on private sector behaviour and incentives. The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distortionary a tax, the higher the efficiency concerns surrounding it.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Efficiency: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illustrate the concept of efficiency, it is useful to develop an understanding of what is meant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a Pareto-efficient allocation of economic resources. This is a situation in which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impossible to move to another allocation which would make some people better off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nobody worse off. In the context of the production possibilities frontier, therefore, points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frontier are all Pareto-efficient, as it is not possible to move to another point (i.e. produce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one good) without incurring some opportunity cost (i.e. sacrificing the production of some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good).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Economists argue that a free-market perfect competitively economy where P=MC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automatically delivers the optimal allocation in the economy (Pareto-efficiency), so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intervention (like tax) that interferes with that allocation generates efficiency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losses. The efficiency (or welfare) loss of a tax can be illustrated by a simple demand supply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diagram. It can be seen that the loss in consumer and producer surplus is greater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 gain to government.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Does the above argument mean a tax can never be justified on efficiency grounds?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There are two cases in which imposing a tax may actually be better than not imposing it.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When there are market failures, and a tax is imposed to bring the marginal social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equal to marginal social benefit.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When there are existing distortions in the economy and taxes are imposed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spread the distortion over many commodities rather than placing the burden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just one commodity. Another way to say it is: it is better to impose a small tax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number of commodities to raise a certain amount of government revenue,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rather than impose one large tax on one or two commodities only.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Types of Taxes Which a Government Can Impose: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the theory of taxation covered, we can now move to the actual menu of taxes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can impose to raise revenue for itself.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Direct taxes, like income tax, which is imposed on factor incomes. Income tax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individuals is called personal income tax, while for firms is called corporate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tax.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Indirect taxes, like sales tax or value added tax, which is imposed on expenditure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goods and services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Tariffs which and are imposed on import expenditure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Wealth or property taxes which are imposed on fixed assets.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LICs, income tax collection is very low and indirect taxes often account for more than 2/3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rd</a:t>
            </a:r>
            <a:endParaRPr lang="ko-KR" altLang="en-US" dirty="0" smtClean="0" sz="70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total revenue as citizens often under-report their incomes in these countries, there is no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voluntary tax payment culture, and income tax collection agencies are weak and/or corrupt. By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contrast, for HICs, income taxes are much more important, accounting for over 2/3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rd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total tax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revenue.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Disposable income is obtained by subtracting income tax from total income. At the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level, disposable income Y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d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calculated as Y-T, or Y-tY, where t is the net income tax rate.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important question before governments is determining the optimal tax rate, t,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average citizen. If t is too low, not enough taxes might be collected to enable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run and provide proper services. If t becomes too high, the incentive for citizens to work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reduced, meaning national income will go down and tax collection will fall. Also at very high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levels of t, the incentive to cheat and evade taxes increases and the government, therefore,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might face serious enforcement problems.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Laffer curve: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relationship between tax rate and tax revenue collection can be summarized in the Laffer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 diagram. In the tax revenue-tax rate space, the Laffer curve plots as an “inverted U”,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delivering an optimal tax rate t* which is less than 100%.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Expenditures and the Effects of Fiscal Policy: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Having concluded the discussion on tax policy and taxation, let us now focus on expenditures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effects of fiscal policy in aggregate.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Expenditures may be categorized as recurrent and development. The former includes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payments on debt, salaries and administrative expenses of all government ministries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departments, and other exigent recurrent charges on the exchequer. The latter mainly social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sector capital expenditures, esp. those which are expected to yield long-term development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benefits. Examples are building a school or hospital, laying down a new railway system,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building a motorway etc.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Governments often promise to undertake heavy development and social sector (i.e. health,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education etc.) expenditures, but due to scarcity of revenues and borrowing possibilities, can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only manage small development expenditures. A large part of the budget in most countries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committed to recurrent charges.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Repayment of debt is reported below the line with other borrowing and debt aggregates, as 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neither strictly recurrent nor development spending.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Revenues – (recurrent + development expenditures) + interest payments on debt] gives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primary surplus, i.e. the amount available to service the burden of public debt.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tax-adjusted Multiplier and the Balanced budget Multiplier: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Taxes act as a drag on the multiplier effect of government spending, since they represent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leakage from the circular flow of incomes. The tax-adjusted multiplier k* is smaller than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basic Keynesian multiplier, k, introduced earlier. k* is given by {1/[1-(MPC)(1-t)]}, where t is net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tax rate, and T = tY. The higher the tax rate, the greater the leakage and the smaller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fiscal policy multiplier.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interesting to consider the special case of balance budget multiplier. The concept here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if the government spends Rs.10 bn and finances it by increasing taxes by Rs. 10 bn,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multiplier will not be zero, as one might initially expect. This is because, the higher tax causes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disposable income to fall, which in turn causes saving and imports (the other two types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leakages) to fall. Thus the net leakage from the system is less than Rs. 10 and there is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positive multiplier effect, albeit small.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Financing of Deficit: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the size of the balanced budget multiplier is small, it is not always possible to get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required demand expansion by raising expenditures and taxes symmetrically. Thus, the case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deficit spending and financing must be considered. Here the government spends more than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its revenues, and raises debt to finance the excess of expenditures over revenues. The three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borrowing options were mentioned earlier: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Borrow from domestic banking system or general public through a sale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treasury bills and bonds. Bills are short-term debt instruments (&lt; 1 year) and </a:t>
            </a:r>
            <a:endParaRPr lang="ko-KR" altLang="en-US" dirty="0" smtClean="0" sz="1097"/>
          </a:p>
          <a:p>
            <a:pPr marL="0" indent="0" defTabSz="15240"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bonds are long-term bond instruments (&gt; 2 years).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4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major disadvantage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type of borrowing is that it can lead to crowding out of private sector activity.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How? Consider the market for loan able funds. An increased demand for funds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government will cause interest rates in the economy to rise (making loans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expensive for everybody, including the private sector) as well squeeze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quantity of credit available for lending to the private sector.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Borrow from the central bank by ordering the latter to print money and lend it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government (free or at an interest cost) for onward spending. All governments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love to do this, except that this type of “apparently free” financing is highly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inflationary. You can easily imagine why. An increased supply of money given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fixed supply of gods will naturally cause prices of those limited goods to rise.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Borrow from foreign sources either through bonds floated on international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markets or bilateral, multilateral or commercial loans. The advantage of this type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borrowing is that it does not lead to crowding out and is not immediately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inflationary, especially if some of the loan helps finance import expenditure. If all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borrowed money is spent locally given a fixed exchange rate, the monetary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effects of foreign borrowing might become very similar to those of borrowing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central bank.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Should the Fiscal Policy be Active or Passive?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view of the above complications, there is a long-standing debate on whether fiscal policy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be active or passive. Note that in a Keynesian context, even a passive fiscal stance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 an automatic stabilizer effect on aggregate demand. How? If AD falls, Y falls, tax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collection falls, the net income tax rate falls, which is equivalent to a passive fiscal policy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expansion. Also, when AD and Y fall, unemployment rises; which means more people become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eligible for unemployment benefit, which in turn causes government expenditure to rise,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again equivalent to a passive fiscal policy expansion. It is easy to derive the reverse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situation: in which AD rises and fiscal policy becomes passively contractionary.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addition to the above, there is an argument that active fiscal policy cannot be changed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without a time lag. The government passes its budget on an annual basis, and thus a mid-year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 in AD which warrants a fiscal policy response must wait till the start of the next fiscal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year. Unfortunately, the demand conditions might have changed by that time!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arguments against active fiscal policy-led demand-management include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effects of a fiscal expansion on interest rates and subsequently the exchange rate.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mentioned in the discussion on BOPs, a rising domestic interest rate will cause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 to appreciate in real terms (due to the interest parity condition). This,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will cause competitiveness to decline will drive down exports and lead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BOPs problems.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Finally, expansionary fiscal policies can raise the national debt (as you know,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debt is simply an accumulation of past fiscal deficits) which would have to be paid off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future generations, possibly through a painful increase in their tax contributions.  </a:t>
            </a:r>
            <a:endParaRPr lang="ko-KR" altLang="en-US" dirty="0" smtClean="0" sz="1097"/>
          </a:p>
          <a:p>
            <a:pPr marL="0" indent="0" defTabSz="15240" algn="l">
              <a:lnSpc>
                <a:spcPts val="1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4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Bills and bonds can be thought of as certificates that the government gives to its lenders in exchange for cash.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The terms on the certificate stipulate when the government will repay the cash and what interest rate it will pay till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maturity. Thus if the government sells you a 10% 10-year Wapda bond worth Rs. 1000 today, it means you will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give the government Rs. 1000 today and receive the Rs. 1000 from government after a period of 10 years. In the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meantime, however, the government will pay you interest at 10% (or Rs. 100 per year).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12 -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tax increases are ‘phased in’ as the economy recovers from recession, how will this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affect the magnitude and timing of the recovery?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would have a similar effect to automatic fiscal stabilisers.  It would reduce the rate of growth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 and thus dampen and slow down the recovery.  The hope of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that this would make the recovery more sustainable and would create confidence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community that the budget deficit would be significantly reduced over the longer term.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the budget deficit fell, so the hope was that this would allow interest rates to fall.  The danger,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course, was that the tax increases might totally halt the fragile recovery.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lot depended on confidence.  The more that investors believed that the policy would help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make the recovery more sustainable, the more they would invest and, therefore, the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sustained the recovery would be.  On the other hand, if investors believed that the tax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kill off the recovery, the less they would invest, and therefore the more likely the recovery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peter out.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tax cuts are largely saved, should an expansionary fiscal policy be confined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increases in government spending?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Ricardian equivalence states that when a governemnt cuts taxes (and finances the resulting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deficit from borrowing), taxpayers will not spend the higher disposable incomes they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 with as a result of the lower taxes, because they will expect government to raise taxes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future in order to pay the higher interest cost of debt incurred today. Under these conditions,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increases in government spending, provided they are direct expenditure on output-generating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activities, will be more effective than tax cuts in stimulating 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you drive the car at a steady speed if you knew that all the hills were the same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length and height and if there were a constant 30-second delay on the pedals?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You would simply push on the accelerator (or brake) 30 seconds before you wanted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 to occur.  You would do this so that the car would end up braking as you went down hill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accelerating as you went up hill.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lesson for fiscal policy is that if forecasting is correct, if you know the precise effects of any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measures, and if there are no random shocks, then fiscal policy can stabilise the economy.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can a government finance its fiscal deficit?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borrowing locally (i.e. issuing bonds), foreign financing (including non-relpayable grants)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printing money (i.e. borrowing from the central bank). The first of these methods is least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inflationary while the last one is most inflationary.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Are all taxes distortionary?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naïve but not incorrect answer is “Yes”. Indeed all taxes are distortionary, “but”, given existing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distortions, imposing some taxes can actually reduce the distortion in the economy. This is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theory of the second best.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the “without tax” multiplier smaller than the “with tax” multiplier?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taxes are a leakage from the circular flow, and the multiplier measures the impact of 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injection onto the circulr flow. The more avenues for leakages, the less will be this impact.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is a sales tax different from a graduated income tax?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sales tax is a direct and progresisve tax. It’s direct because it is a deduction from the net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of an individual. It is progressive because the graduated levy ensures the burden of tax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reduces for poorer people (this is consistent with the equity principle that the tax burden should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139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commnsurate with “ability to pay”). A sales tax is an indirect tax because it indirectly taxes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people’s incomes. What it taxes directly is people’s consumption expenditure. Naturally,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sales tax is regressive; a poor person pays the same percentage of the retail price as tax as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rich person.  </a:t>
            </a:r>
            <a:endParaRPr lang="ko-KR" altLang="en-US" dirty="0" smtClean="0" sz="1097"/>
          </a:p>
          <a:p>
            <a:pPr marL="0" indent="0" defTabSz="15240" algn="l">
              <a:lnSpc>
                <a:spcPts val="6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- 13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13.1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MONEY, CENTRAL BANKING AND MONETARY POLICY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Money: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or paper currency serves at least three functions: it is a medium of exchange, a store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and a unit of account. Before paper money (and we are talking of not so long ago!),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used coins which had intrinsic value (gold, silver, bronze). Before that (and now we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talking of very long ago!) there was barter trade, where goods and services were exchanged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goods and services and there was no monetary medium of exchange, per se.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Money Supply and Its Various Definitions: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a process by which money is created – the money supply process, and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ideas about why people hold money – money demand theories. We’ll tackle these in order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develop an understanding of money market equilibrium.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Before getting a handle of the money supply process, we must understand the various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definitions of money supply (denoted by Ms). At this introductory stage, we’ll introduce only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three definitions: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M0: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also called base money, high powered money or the monetary base. M0 is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value of all the currency notes and coins that are in circulation in the economy. Note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any currency or coins lying with the central bank (which in Pakistan’s context,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be the State Bank of Pakistan) does not count as M0, as it is not in circulation.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M1: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M0 + all current (or checking) deposits held with commercial banks. Checking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deposits are accounts from which the holders can withdraw money at any time.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M2: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M1 + all time deposits. Time deposits are accounts from which holders can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withdraw money only after giving the banks some notice (usually a few months). When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talking about money supply, this is the measure we often refer to. The relationship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M2 and M0 is the key to unraveling the money supply process. If you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wondering how money supply can be greater than M0, consider one simple answer (in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QTM vein). A 100 rupee note counts as Rs. 100 only for M0; but if that note goes round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 and changes hands 5 times in a year, then the value of that 100 rupee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 is Rs. 500 in an M2 context. From the definition of M2 and M0, however, it is clear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there is something commercial banks do which causes the value of that 100 rupee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 to rise from Rs. 100 to Rs. 500.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do commercial banks do?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take deposits (i.e. borrow money) and make loans (i.e. lend money). The interest 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pay on deposits is lower than the interest rate they charge on their loans. The difference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covers their overhead costs and profits.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banks on-lend all the money they receive as deposits, they would not be able to give any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back to depositors who come to withdraw money from their accounts. On the other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hand, if banks on-lent nothing and kept all the money they receive as deposits in a locked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safe, then there is no profit they will make. There is thus a trade-off between liquidity (having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cash at hand) and profitability. Banks often resolve this trade-off by maintaining cash reserves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are a small ratio of total deposits. Thus if deposits are Rs. 100, banks might decide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keep Rs. 10 of that money in the form of a liquidity reserve (to meet the needs of depositors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who might come to withdraw money on any particular day) and lend the remaining Rs. 90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loans to businesses. In this case the reserve ratio is 10% (i.e. 10/100). Sometimes this reserve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ratio is imposed as a central bank requirement that commercial banks must fulfill.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Money Creation Process: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can now study the money supply or creation process. Imagine the government wishes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buy pencils worth Rs. 10 for its officials. The supplier firm is called S and has a deposit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with Bank A. In order to buy the pencil, the government asks the central bank to print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10 rupee note and give it to the government.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5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This action causes M0 to expand by Rs. 10.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 the government pays this amount to S (in exchange for the pencils) who in turn deposits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money into his account in Bank A. What does A do? Assuming it operates a safety cushion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reserve ratio of 10%, A will add Re. 1 to its liquidity reserve and lend Rs. 9 to firm T. Firm 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takes the Rs. 9 and deposits it in another Bank B. B acts in a similar way: it adds 90 paisa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(10% of Rs. 9) to its existing liquidity reserve and lends the remaining Rs. 8.1 to firm Z.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process goes on, the amount lent falling each time by a factor of 10%.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money creation process is set up as an infinite series (starting from the central bank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printing the ten rupee note), we will have 10 + 10*(90%) + 10*(90%)*(90%) +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10*(90%)*(90%)*(90%) + ……. which is an infinite converging series with a first term of 10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convergence factor of 0.9 (or 90%). The sum to infinity of this series is 10/(1-0.9) = 100.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Thus, an initial M0 expansion of Rs. 10 has a total money supply (or M2) impact of Rs. 100,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thanks to the intermediation of commercial banks. There is a money multiplier (MM) at play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magnitude 10.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Money Multiplier: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you look carefully, the money multiplier is nothing but the inverse of the reserve ratio. Thus,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can write MM = 1/rr, where rr is reserve ratio. Generally, in stock terms we can write, M2 =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MM*M0 = (1/rr)*M0; and in flow terms we can write, 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M2 = (1/rr)*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M0. The higher the reserve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ratio, the higher the leakage, so to speak, from the money creation process and thus the lower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money multiplier. In the extreme, when rr = 100%, MM is 1, and M2 = M0.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complete our understanding of the money supply process let us now zoom in on the central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bank’s balance sheet. To keep things simple, we’ll consider the balance sheet of the State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 of Pakistan, SBP, abstracting from the more complicated ones held by the U.S. Federal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Reserve Bank, the European Central Bank or the Bank of England. The choice of SBP is,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for illustration purposes only and does not reflect on SBP’s actual financials.  </a:t>
            </a:r>
            <a:endParaRPr lang="ko-KR" altLang="en-US" dirty="0" smtClean="0" sz="1097"/>
          </a:p>
          <a:p>
            <a:pPr marL="0" indent="0" defTabSz="15240" algn="l">
              <a:lnSpc>
                <a:spcPts val="3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5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Note that we use the terms government and central bank to mean two distinct entities. By government, we mean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the Ministry of Finance, or the Treasury. The central bank, although a part of the broader definition of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government, is a separate entity in an accounting and administrative sense. As such, in this discussion of the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monetary sector, we consider the central bank as an entity separate from, and lying outside, the government. 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13.2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MONEY, CENTRAL BANKING AND MONETARY POLICY (CONTINUED…….)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Balance Sheet of State Bank: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balance sheet has two sides: assets and liabilities, and the totals of the two must balance.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assets side of SBP’s balance sheet, we have (1) the country’s foreign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reserves (foreign currencies, gold and silver reserves; either held domestically or invested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abroad); (2) credit to government: this would include any SBP lending to government,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including in the form of any outstanding (i.e. yet to mature) treasury bonds and bills lying with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SBP; and (3) credit to banks: this would include any advances (another name for loans)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extended by SBP to commercial banks. On the liabilities side, we have (4) notes and coins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circulation (i.e. M0). Note that for a currency-issuer (SBP in our case), the currency is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liability, not an asset; (5) government or banks’ deposits: these would include any positive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6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balances held by commercial banks and/or the government; (6) outstanding liquidity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paper issued: this would include any bills issued by the central bank for the purpose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mopping up liquidity from the financial system.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the accounting requirement of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(1)+(2)+(3) = (4)+(5)+(6)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we can easily how any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LHS must be reflected by an increase on the RHS. However, only an increase in (4)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 the money supply (M2) to expand.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Let’s simulate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effect of an increase in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(1), caused by SBP’s purchase of dollars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exchange market. As we discussed before, when the government buys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exchange, it must inject an equivalent amount of local currency liquidity into the economy. This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means an increase in (4). Thus, the size of balance sheet grows symmetrically on both sides.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Note, however, that SBP could technically issue liquidity paper (6) to help sweep up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liquidity it injected when purchasing dollars from the market. If this is done, then the rise in (6)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be mirrored by a fall in (4) and therefore the monetary implications of the foreign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intervention would stand neutralized. This process, by which the increase in (4)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substituted by an increase in (6) is called sterilization, and is one of the policies resorted to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facing large foreign exchange inflows while maintaining a fixed exchange rate.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point in the discussion offers a natural launch pad for defining the instruments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available to a central bank. Earlier we talked about monetary policy but never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quite got round to defining the instruments thereof. Having developed an idea of the central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 balance sheet, this is now straightforward to do.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Monetary Policy and its Instruments: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can be defined as the central bank’s Programme, often changing on a daily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basis, regarding the direct or indirect control (through interest rates) of monetary conditions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economy with a view to managing aggregate demand and inflation. There are four major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instruments of monetary policy: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Reserve ratio and SLRs: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central bank can impose and alter a mandatory reserve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ratio for commercial banks, and through that, affect the money multiplier. By extension,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central bank can force commercial banks to comply with additional statutory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liquidity requirements (SLRs) that work similarly to a the reserve ratio. SLRs require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commercial banks to invest in a certain quantity of T-bills and T-bonds. Since a large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stock of these is often held by the central bank as assets (credit to government),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central bank can use SLRs to increase or run-down its holding of this stock, and thus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 M0 to increase or decrease directly. </a:t>
            </a:r>
            <a:endParaRPr lang="ko-KR" altLang="en-US" dirty="0" smtClean="0" sz="1097"/>
          </a:p>
          <a:p>
            <a:pPr marL="0" indent="0" defTabSz="15240" algn="l">
              <a:lnSpc>
                <a:spcPts val="3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6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All licensed commercial banks and the government maintain accounts at the central bank which can be credited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(replenished) or debited (depleted) depending on the transaction. If a commercial bank withdraws cash from its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account with the central bank and lends that cash to some firm operating in the economy, then this transaction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would be a debit one, i.e., it will cause deposits to fall. You can predict the effect on M0. Yes, it will rise by the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same amount.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Discount rate: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As mentioned earlier, the central bank sometimes extends credit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commercial banks on their request to meet their exigent liquidity needs.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7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Such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borrowing is called borrowing from the discount window and the rate the central bank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lends at the discount window is called the discount rate. If the central bank increases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rate, banks would be inclined not to borrow from the central bank and instead keep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large reserve ratio as a cushion against a possible liquidity crunch. A higher discount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thus causes banks’ voluntary reserve ratio to increase and the size of the money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multiplier to reduce.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Open market operations (OMOs):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Central banks conduct OMOs on a frequent basis.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OMO typically involves the central bank buying or selling government securities (T-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bills and bonds) to commercial banks. As mentioned in i) above, the central bank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build or run-down its stock of government securities and affect M0. In contrast to i,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it is not implemented as a mandatory requirement, rather the central bank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conducts an OMO in auction style in which all banks are free to bid. The price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securities (and therefore the yield or interest rate they offer) is determined by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degree of interest in the auction. If for instance, the central bank wants to buy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securities and there are very few willing sellers, then the sellers will demand a higher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for the securities. This will push the yield (or return) on the securities down.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contrast, if there were a large number of willing sellers, they would compete ferociously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 each other to sell their stock to the central bank. In this case, the securities’ prices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likely to be bid down, to the advantage of the central bank. In both cases, however,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money supply will expand, as the central bank injects new currency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 in exchange for the securities. In the reverse case, when the central bank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sells securities in the market, the money supply contracts.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Foreign exchange market interventions: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As discussed earlier in the context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balance of payments, a purchase or sale of foreign exchange by the central bank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ipso facto effect on the money supply – because the central bank has to pay local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currency in order to buy the foreign currency. In balance sheet language, it can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seen that a central bank purchase of foreign exchange, will cause the bank’s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reserves (item 1 on the balance sheet) to increase. Unless sterilized (by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issuing central bank liquidity paper or OMOs) such an increase will cause an increase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M0, which through a multiplier effect causes M2 (or money supply) to increase.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Functions of Central Bank: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Let us conclude our discussion here with a word about the functions of the central bank.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is just one of the functions of the central bank. There are at least three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functions central banks serves: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As lender of last resort, it must bail (or help) out commercial banks facing temporary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liquidity shortfalls;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As supervisor of the financial system, it must ensure its good health by monitoring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commercial banks’ lending (risk-taking), capital adequacy, and liquidity positions.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central bank is also a monitor of the management and governance of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institutions and of any other threats to the stability of the financial system;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As the biggest intervener in the foreign exchange market (and/or setter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rate), it is responsible for exchange rate policy and the balance of payments,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 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Whether the central bank fulfils these functions independently and autonomously or under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instruction by the government (Minster of Finance) depends very much on whether the central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 is de facto autonomous or not. In most HICs, central banks enjoy a fair degree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autonomy (and this is cited as one reason for the stability of their monetary and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7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The central bank is obliged to provide such credit in its capacity as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lender of last resort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. Any bank in trouble (i.e.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in need of cash) can go to the central bank discount window and borrow. As such the central bank provides an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extra cushion to the banking system, whose stability is essential for a smooth payments system in the economy. 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sectors) but in LICs, governments often intervene heavily in the functions of the central bank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preventing it from achieving its mandated objectives of financial sector health, monetary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BOP stability, and low inflation.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People Hold Money: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can now move on to money demand (denoted by Md or L), and the question of why people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hold money? Economists have identified three broad motives: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The transactions motive: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People need to make day-to-day transactions (buy food,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clothes etc.) and therefore need to hold cash in their hands. Of course, the increasing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spread of plastic money (credit cards) has considerably reduced the transactions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incentive for holding money. Assuming no plastic money, an individual’s transactions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money is likely to increase with his/her income, as s/he is more likely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make more transactions if he feels richer.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Precautionary motive: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 addition to money held for making transactions, people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sometimes hold money for precautionary purposes as well: i.e. to meet any urgent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unexpected expenditure needs, or to “snatch a bargain” that might be taken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someone else. Again, precautionary demand for money is likely to increase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	Assets motive (also called speculative or investments motive):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In addition to a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b, people might wish to keep some cash to switch between various investments. So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 a person who owns some land, holds some bonds, and has some stock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investments. Let’s say he spots a good investment opportunity on the stock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but doesn’t have instant buyers for the land or bonds he holds. In this situation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 spare cash in hand would have helped him acquire the equity asset. The assets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money is likely to increase with income (for reasons similar to those for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b) and decrease with interest rates (because the interest rate is the opportunity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 of holding cash in your hands).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Generally, then, money demand Md increases with income levels and falls with interest rates.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Note that we refer to real income (which measures purchasing power) and real interest rates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(which measure real return on invested money), and not their nominal counterparts. Thus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for money we refer to is the demand for real money. Contrast this with what have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been talking about earlier: nominal money supply – i.e. what the central bank controls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its various instruments. Whether nominal and real money supply are equal or not depends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much on the assumption regarding prices. If prices are assumed fixed, then the two are equal,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otherwise not. </a:t>
            </a:r>
            <a:endParaRPr lang="ko-KR" altLang="en-US" dirty="0" smtClean="0" sz="1097"/>
          </a:p>
          <a:p>
            <a:pPr marL="0" indent="0" defTabSz="15240" algn="l">
              <a:lnSpc>
                <a:spcPts val="24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13 -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the government cuts its expenditure and thereby runs a public-sector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surplus.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What will this do initially to equilibrium national income?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What will it do to the demand for money and initially to interest rates?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Under what circumstances will it lead to (i) a decrease in money supply; (ii) no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change in money supply?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d) What effect will (i) and (ii) have on the rate of interest compared with its original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level?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Injections will fall.  The J line would shift downwards, causing a multiplied fall in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This will cause a reduced transactions demand for money.  The L curve will shift to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left, causing a fall in interest rates.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If the reduced expenditure causes a reduction in government borrowing from the banking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sector in such a way as to cause a reduction in banks’ liquidity, there will be a multiple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contraction of credit.  If, however, the government simply reduces the total number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outstanding bonds, then money supply will be little affected.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If money supply is reduced, then interest rates will fall less than in (b) above.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it matter if it was easy to forge a £10 note but cost £15 to do so?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It would not be ‘profitable’ for forgers to produce such notes.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may money prices give a poor indication of the value of goods and services?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Money prices may be distorted by monopoly power.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They ignore externalities.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Simply adding up the money incomes of individuals in order to get a measure of their total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incomes ignores questions of the distribution of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value of money is eroded over time by inflation.  Thus nominal prices would have to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converted to real prices in order to compare the values of goods at different points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time.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effects do debit cards and cash machines (ATMs) have on (a) banks’ prudent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liquidity ratios; (b) the size of the bank multiplier?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Debit cards: (a) Reduce it (there is less need for cash); (b) Increase it (the liquidity ratio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smaller).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Cash machines: (a) Increase it (there is a greater need for cash); (b) Reduce it (the cash ratio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larger).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government borrows but does not spend the proceeds, what effect will this have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money supply if it borrows from (a) the banking sector; (b) the non-bank private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sector?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Little or no effect, if it simply replaces one liquid asset by another; but reduce it, if it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involves reducing the liquidity of the banking sector (e.g. by the sale of bonds).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Reduce it.  The liquidity of the banking sector will be reduced (when people pay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securities with cash withdrawn from the banks, or cheques drawn on the banks).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Under what circumstances are cheques more efficient than cash and vice versa?  Would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you get the same answer from everyone involved in transactions: individuals, firms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banks?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Cheques are more efficient than cash for large transactions, or when there is a danger of theft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cash.  Cheques are less efficient than cash for small transactions: these have a low value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 to the cost of processing a cheque; also cash transactions are quicker than transactions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cheque.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above points apply generally, but sometimes, what may be in the interests of one party to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transaction may not be in the interests of the other(s).  For example, a shop may prefer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receive cash on occasions where it is more convenient for a customer to write out a cheque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(because that saves a visit to the bank or cash machine).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Buying something like a car is at the other end of the spectrum from holding cash.  A car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highly illiquid, but yields a high return to the owner.  In what form is this ‘return’? 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utility per period of time from using it.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the demand for securities be low if their price was high, but was expected to go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rising?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The demand would be high.  People would want to hold the securities, so that they could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benefit from the anticipated capital gain.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Which way is the L (money demand) curve likely to shift in the following cases?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The balance of trade moves into deficit.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People anticipate that foreign interest rates are likely to rise relative to domestic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ones.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The domestic rate of inflation falls below that of other major trading countries.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d) People believe that the rupee is about to depreciate.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To the left.  A deficit on the balance of trade will cause the exchange rate to depreciate.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People, anticipating this, will want to hold smaller rupee balances.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To the left.  People will want to switch to holding the other currencies where interest rates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expected to rise.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To the right.  People will expect an appreciation of the rupee as the lower inflation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causes the balance of payments to move into surplus.  They will therefore want to hold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larger rupee balances.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 To the left.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Trace through the effects on the foreign exchange market of a fall in the money supply.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shortage of money balances will lead to a reduction in the purchase of foreign assets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hence a reduction in the supply of the domestic currency on the foreign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fall in money supply can be represented by a leftward shift in the M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curve.  This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 a rise in the rate of interest.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higher rate of interest will lead to a reduction in the supply of the domestic currency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foreign exchange market as people prefer to keep their deposits within the country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earn the higher rate of interest.  This effect will reinforce the first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higher rate of interest will also increase the demand for the domestic currency on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exchange market as people abroad deposit more in this country to take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advantage of the higher interest rate.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 The increased demand for and reduced supply of the domestic currency will cause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 to appreciate.  This effect will be reinforced by speculation.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effect would a substantial increase in the sale of government bonds and Treasury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bills have on interest rates?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would drive them up.  In order to sell the extra bills, the government would have to accept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lower discount price (a higher rate of discount).  In order to sell the extra bonds, governments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have to offer them at a higher rate of interest, or at a lower price for a given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payment (which amounts to a rise in the interest rate).  These higher rates of interest 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securities would have a knock-on effect on other rates of interest.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banks choose to operate a 20 per cent liquidity ratio and receive extra cash deposits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Rs.10 million: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a) How much credit will ultimately be created?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b) By how much will total deposits have expanded?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c) What is the size of the bank multiplier?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Rs. 40m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Rs. 50m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5 (= 1/0.2)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banks operated a rigid 5 per cent cash ratio and the government reduced the supply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cash by Rs.1 million, how much must credit contract?  What is the money multiplier?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Assuming that this resulted in Rs.1 million less cash being held in the banking system (i.e.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proportion of cash in circulation did not fall), then credit must contract by Rs.19 million, giving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overall reduction in money supply of Rs.20 million (of which the Rs.1 million cash is 5 per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cent).  The money multiplier is therefore 20 (i.e. 1/5%).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Explain how open-market operations could be used to increase the money supply.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central bank could buy back bonds from the banking system before they reached maturity.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banks’ balances in the central bank would be credited, allowing the banks to create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credit.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would it be difficult for a central bank to predict the precise effect on money supply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open-market operations?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Banks may vary their liquidity ratio.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It is difficult to predict how much the holding of Treasury bills by the banks will vary,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much the banks will take this into account when deciding how much credit to grant.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Assume that the central bank of UK (called the Bank of England) wants to reduce interest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rates.  Trace through the process during the day by which it achieves this.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BoE’s Monetary Policy Committee will announce a reduction in the rate of interest.  BoE will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conduct open market operations to back this up.  This will entail making more liquidity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available to banks through gilt repos.  Assuming that the reduction in the rate of interest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announced the previous day, then early in the morning the BoE will forecast the day’s shortage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liquidity in the banking system (at the new lower interest rate) and will offer assistance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banks through repos and rediscounting in order to meet the shortfall.  By making additional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assistance available at further points during the day, the Bank can adjust liquidity as necessary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maintain the rate of interest at the new level.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what ways is the US Fed’s operation of monetary policy (a) similar to and (b) different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from the Bank of England’s?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Fed, like the Bank of England, uses open market operations to influence the money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and thereby to make the announced discount rate the equilibrium rate.  If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discount rate is raised (just as when the Monetary Policy Committee of the bank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England raises the rate of interest) then open market sales of bands and Treasury bills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used to back this up.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Unlike the Bank of England, however, the Fed also from time to time alters the minimum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reserve ratio as a means of influencing bank lending. </a:t>
            </a:r>
            <a:endParaRPr lang="ko-KR" altLang="en-US" dirty="0" smtClean="0" sz="1097"/>
          </a:p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Bank of England issues £1 million of extra bonds and buys back £1 million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Treasury bills, will there automatically be a reduction in credit by a set multiple of £1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million?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It depends on the proportion of the £1 million of bills that were held by the banks (since only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reducing these will there be a reduction in banks’ liquidity).  It also depends on banks’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willingness to vary their liquidity ratio.  Finally, it depends on banks’ use of repo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rediscounting facilities available through the Bank of England (if these are used by the banks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means of maintaining short-run liquidity, there is less pressure on them to reduce credit). 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Trace through the effects of a squeeze on the monetary base from an initial reduction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cash, to banks’ liquidity being restored by the rediscounting of bills.  Will this restoration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liquidity by the Bank of England totally nullify the initial effect of reducing the supply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cash?  (Clue: what is likely to happen to the rate of interest?)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Banks, short of cash, will, in the last resort, acquire money from the Bank of England through gilt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repos or the rediscounting of bills.  But the Bank of England will only do this at a penal rate,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thereby driving up interest rates (to its announced level, assuming that it has raised the rate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interest) and thereby reducing the demand for money, and hence the quantity of credit supplied.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central bank wanted to achieve a lower rate of inflation and also a higher exchange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rate, could it under these circumstances rely simply on the one instrument of interest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higher interest rate would help both to reduce inflation and push up the exchange rate. 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is that the desired magnitude of these effects may require a different sized increase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rates.  If this were the case, then again relying on one instrument alone would not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sufficient.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does an unstable demand for money make it difficult to control the supply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supply of money depends in part on the demand for money.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Assuming that real national output, Q, rises each year as a result of increases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productivity, can money supply rise without causing inflation?  Would this destroy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validity of the quantity theory?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If V does not change, then for every one per cent that output (Q) rises, so M can also rise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one per cent without causing the price level (P) to rise.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does not destroy the validity of the quantity theory. Although the theory states that changes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money supply will not cause changes in output, it still allows for changes in output occurring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independently of changes in money supply, in which case there can be an accommodating rise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money supply without it being inflationary.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Could production and consumption take place without money?  If you think they could,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give examples.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People could produce things for their own consumption.  For example, people could grow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vegetables in their garden or allotment; they could do their own painting and decorating.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Alternatively people could engage in barter: they could produce things and then swap them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that other people had produced.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we would all like more money, why does the government not print a lot more?  Could it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not thereby solve the problem of scarcity ‘at a stroke’?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problem of scarcity is one of a lack of production.  Simply printing more money without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producing more goods and services will merely lead to inflation.  To the extent that firms cannot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meet the extra demand (i.e. the extra consumer expenditure) by extra production, they will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149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respond by putting up their prices.  Without extra production, consumers will end up unable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buy any more than previously.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do you know about the leads and lags associated of monetary and fiscal policy?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Lead time, or the minimum time the government needs before invoking the policy. This 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obviously negligible for monetary policy, as the central bank can instantly take action to affect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supply (either through direct or indirect means). Lead times for fiscal policy invocation,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can be quite substantial. Consider an economy where aggregate demand falls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September, and the next budget is not due till June the following year. Here fiscal policy requires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lead time of about 9 months! (a long enough time period for demand conditions to have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changed or evern reversed). 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Lag time, or the time period taken for a policy change to have an impact, is quite small for fiscal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policy. Thus an increase in taxes will usually have an immediate demand-dampening effect, 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feel the pinch on their disposable income. By contrast, a change in the money supply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takes a long time to have a demand impact. This is because the credit/investment channel for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transmission takes about two years to act. For e.g., if money is tightened today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interest rates rise, firms’ response will be reflected in lower investment outlays in about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years’ time. The projects already underway or likely to come online inside two years cannot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usually be reversed and hence current investment spending will remain unaffected.  </a:t>
            </a:r>
            <a:endParaRPr lang="ko-KR" altLang="en-US" dirty="0" smtClean="0" sz="1097"/>
          </a:p>
          <a:p>
            <a:pPr marL="0" indent="0" defTabSz="15240" algn="l">
              <a:lnSpc>
                <a:spcPts val="45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- 14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14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JOINT EQUILIBRIUM IN THE MONEY AND GOODS MARKETS: THE IS-LM FRAMEWORK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 far we have talked about macroeconomic equilibrium either in the context of the goods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(AS-AD), the labour market, or the loan able funds market. We now enrich our notion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equilibrium with the money market and see what the conditions are for an economy to strike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joint equilibrium in the goods and money markets. The framework within which this is done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called the IS-LM framework. The exact meaning of the letters is perhaps not so important 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meaning. IS actually refers to a curve drawn in i-Y space capturing all the points at which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goods market is in equilibrium. LM is similarly, a curve also drawn in i-Y space, but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capturing all the points at which the money market is in equilibrium. We look at how these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curves are derived, in reverse order, i.e. staring with the LM curve.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MONEY MARKET EQUILIBRIUM: THE LM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start from where we left our discussion of the monetary sector. We noted that money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increased with income and decreased with interest rates. Now plotting the money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 function (we’ll call it L) in i-M space (where M denotes real money), we get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line. The slope of L depends on the sensitivity of money demand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changes in the interest rate, or the interest elasticity of money demand (iє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increase in real income (Y) causes a rightward shift in the L curve while a fall in 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causes a leftward shift. The amount by which L shifts in response to a given change in income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depends on the sensitivity of money demand to income changes, or the income elasticity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demand (Yє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introducing money supply at this stage, we can develop a notion of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money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equilibrium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As mentioned earlier, the nominal money supply is controlled (directly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indirectly) by the central bank. Given a certain level of prices (P), and sticking with the i-M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space, real money supply (i.e Ms/P) will plot as a vertical line intersecting the M axis at a finite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point determined by Ms (determined by the central bank) and the price level. Given constant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prices, an increase in Ms will cause Ms/P to shift to the right, and a decrease in Ms will cause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Ms/P to shift to the left. Similarly, given a constant Ms, an increase in P will shift Ms/P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left, while a decrease will have the opposite effect.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intersection point of the L and Ms/P lines delivers money market.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To see how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responds to changes in income (Y), we can see that with a fixed Ms/P, increases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will cause L to shift to the right, causing the equilibrium interest rate to rise. It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obvious that if we were plotting the equilibrium relationship in the money market in i-Y space,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 would get an upward sloping line, since a rise in income causes a rise in interest rates.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Again, the slope of this line would depend on the two elasticize mentioned above. If Yє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small then even a large change in Y will cause only a small change in money demand. Now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is large, only a small change in i will be required to bring money demand back to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equilibrium levels (i.e. equal to the fixed Ms/P). In this case, the LM curve will be relatively flat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(large changes in Y associated with small changes in i). LM will be steeper the bigger is Yє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 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 smaller is 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L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Shifts in the LM Curve: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also useful to think about factors that will cause shifts in the LM curve. Ms/P is one such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factor. How? Simulate the effect of an increase in Ms/P in i-M space. The vertical Ms/P curve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shifts to the right causing the equilibrium interest rate to fall. Thus for an unchanged 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(since we have not assumed anything about income changes causing shifts in the 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curve), the interest rate falls. The way this translates in i-Y space is simple. Every point on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LM curve will shift vertically downwards. Why vertically downwards, because income has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changed. Thus, it is clear: an increase in real money supply (Ms/P) will cause LM to shift down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(or the right), while an decrease in Ms/P will cause in LM to shift up (or to the left). </a:t>
            </a:r>
            <a:endParaRPr lang="ko-KR" altLang="en-US" dirty="0" smtClean="0" sz="1097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GOODS MARKET EQUILIBRIUM: THE IS CURVE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is much simpler. We start with the loan able funds or (saving-investment) market (with i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vertical axis and S &amp; I on the horizontal axis) where the investment schedule plots as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sloping curve. Now consider what happens to investment demand (I) when there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fall in i (due, say to a rightward shift in the saving function). I will increase, as it is now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cheaper for firms to borrow money and invest. How would a higher I affect income Y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context of the 45 degree line diagram introduced earlier in the course. Clearly, the AD curve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shift upwards by +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 (the increase in I induced by a fall in i). This would cause a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multiplied rise in income, raising the latter by k*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I, where k is the Keynesian multiplier.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Clearly then, a fall in interest rates is associated with a rise in equilibrium national income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the IS curve, which captures goods market equilibrium is downward sloping in i-Y space.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lower the interest rate, the higher the income; the higher is interest rate, the lower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Slope of the IS Curve: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slope of the IS curve, as you may have already guessed, depends on two factors: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sensitivity of investment demand to the interest rate (i.e. how flat the investment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is in i-S,I space) or the interest elasticity of investment (iє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). The higher the 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greater the increase in I for any given -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 Keynesian multiplier (k): the higher is k, the greater the increase in Y given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certain increase in I.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Combining the two then, we can say, the higher is k and the higher is 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the flatter will be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curve. Intuitively it makes sense as well. A flat IS curve relates a small decrease in i with a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large increase in Y. Now with a high 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, a small -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 will cause a large +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I, which, given a large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k, will cause a very high +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Y. Conversely, the IS curve is steep when iє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I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k are small.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Shifts in the IS Curve: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Shifts in the IS curve are also easy to understand. Any injection into the circular flow: e.g.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autonomous changes in C, G or X-M, which are not caused by an interest rate change, but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do cause an increase in AD and Y, will cause the IS curve to shift to the right. Similarly,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shifts the left when there is a decrease in these injections.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IS-LM FRAMEWORK AND FISCAL-MONETARY POLICY INTERACTIONS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upward sloping LM curve and a downward sloping IS curve are bound to provide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intersection point which represents joint equilibrium in the money and goods markets. Since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advent of the IS-LM framework in the 1940s, as an extension of Keynesian ideas,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macroeconomists have been interested in studying how this joint equilibrium can be affected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brought in line with the full-employment equilibrium (remember the two may 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necessarily be the same in a Keynesian world). In particular, their interest has lay in what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can do, by way of fiscal and monetary policies to guide the economy towards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 equilibrium.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Expansionary monetary policy: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mentioned earlier, a real money expansion [i.e. +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Δ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(Ms/P)] can be produced by either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reduction in P or an increase in Ms (the nominal money supply). Let’s assume for the time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being that P is fixed and the central bank increase Ms. Ms/P rises. This will cause the LM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to shift to the right with the effect that interest rates fall and equilibrium income or output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rise. Should the economy operating below the full-employment level, such a policy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clearly help. The reverse process would apply if the central bank reduced money supply in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bid to relieve inflationary of excess demand pressures.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Expansionary fiscal policy: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Similarly, an increase in government spending (G), will cause a rightward shift in the IS curve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causing both equilibrium interest rate and income to rise. There is an important intuition as well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behind why interest rates would rise in this case (apart from the fact that it is graphically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case). The intuition is related the crowding out effect of government spending.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Crowding out of investment demand: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When the government spends and finances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spending through borrowing from banks or the general public (i.e. does not resort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money-supply expanding means of financing the fiscal deficit), the demand for loan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able funds is driven up, causing interest rates to rise and private sector ability to borrow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funds to fall. This acts as a drag on AD and Y which consequently do not rise as much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they would have in the absence of crowding out.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			Crowding out of net exports demand: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Given that higher government spending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causes interest rates to rise one can also see why net exports demand would suffer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such high interest rates as well. As we discussed earlier, higher interest rates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cause the exchange rate to appreciate (interest-parity condition), which in turn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cause competitiveness to fall – thus the negative effect on net exports. As such,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 interest rates induced by higher government spending can crowd out both net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 and investment, thus preventing AD and Y to rise as much as they would have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had interest rates remained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 takes us to the natural question: what if the government financed higher spending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either asking the central bank to print more money for it, or by borrowing from abroad? This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just another way of stating the question: “what if a government fiscal expansion and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expansion were implemented simultaneously, i.e. the IS and LM curves both shifted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right?” It is clear that in this case, the negative effects of higher interest rates can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eliminated. Thus, if the economy is in deep recession, the policy prescription should naturally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to simultaneously effectuate both fiscal and monetary expansions.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Fiscal – Monetary Policy Interaction: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if the economy is not in recession and does not, per se, have excess capacity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slack, the above prescribed simultaneous fiscal and monetary expansions cannot succeed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 income or output. Why? The reason is prices, which we have so far assumed 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constant. However, in reality prices respond readily to demand pressures and as the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approaches the full employment level, expansionary monetary and fiscal policies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increasingly put pressure on prices to rise (recall the AD-AD diagram).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Now assuming we are in such a situation, i.e. the economy is at its full-employment 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 and the government implements a joint fiscal- monetary expansion, we can trace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effect of rising prices on equilibrium. An increase in P will cause real money supply (Ms/P)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fall, which means the LM curve will shift back. In the goods market, on the other hand, rising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cause aggregate demand to fall due to wealth, interest-rate, and the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purchasing power effects, we studied earlier. Thus, the effects of expansionary fiscal policy will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 reversed as well. The net result is that there is no positive impact on equilibrium income;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fact there might even be a negative impact if inflation becomes very high and starts hurting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long-run business confidence and hence investment.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 final point about the comparison between the effectiveness of fiscal policy vs.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monetary policy is: Which is better and when?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Drawing the IS-LM curves, it is easy to see that when the LM curve is relatively flat, any given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expansion will cause a large effect on income and a relatively small effect on i. Thus,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policy is more effective (desirable) in this setting. On the other hand, when the IS curve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relatively flat, any given monetary expansion will produce a larger impact on income.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is more effective in this situation.  </a:t>
            </a:r>
            <a:endParaRPr lang="ko-KR" altLang="en-US" dirty="0" smtClean="0" sz="1097"/>
          </a:p>
          <a:p>
            <a:pPr marL="0" indent="0" defTabSz="15240" algn="l">
              <a:lnSpc>
                <a:spcPts val="4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14 - EXERCISES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be the effect on interest rates of a contractionary monetary policy combined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with a contractionary fiscal policy (lower spending, lower borrowing from the central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bank).. 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IS and LM would shift to the left. The impact on equilibrium income is obvious (it will fall),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but nothing immediately can be said about interest rates, as the two policy changes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opposite effects on the interest rate. However, it should be ntoed that since the fiscal policy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contraction is also causing the monetary base (and henc emoney supply) to contract – “credit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government” and “M0” both fall on the central bank balance sheet due to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reducing its borrowing therefrom. There will be thus be an additional monetary contraction,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makes a rise in interest rates more likely.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On an IS-LM diagram, trace through the effects of (a) a fall in investment and (b) a fall in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money supply. On what does the size of the fall in national income depend?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IS curve will shift to the left. There will be a resulting fall in the rate of interest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fall in national income. The fall in national income will be greater, (i) the flatter the LM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curve – i.e. the less the rate of interest has to fall to bring equilibrium in the money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market; (ii) the steeper the IS curve – i.e. the less will any fall in the rate of interest help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boost investment again (after its initial fall).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The LM curve will shift to the left. There will be a resulting rise in the rate of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fall in national income. The fall in national income will be greater,(i) the flatter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curve – i.e. the more investment is reduced by the rise in interest rates; (ii)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steeper the LM curve – i.e. the more interest rates will have to rise (and hence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investment and national income will fall) in order to restore equilibrium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market..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Explain what could cause a downward shift in the LM curve and how this would affect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AD curve.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LM curve would shift downwards if either of the following occurred: (a) an increase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of money; (b) a fall in the demand for money, other than as a result of a rise in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rates (this could occur, for example, if  people relied more on credit and less on cash).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effect of  the downward shift in the LM curve is a fall in the real rate of interest and a rise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national income.  The rise in national income causes an increase in aggregate demand 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any given price level: i.e. the AD curve shifts to the right. (Whether the price level will rise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hence nominal interest rates, will depend on the shape of the AS curve.)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 ‘ever more rapid financial flows across the world that are unpredictable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uncertain’ make Keynesian discretionary fiscal (and monetary policy) less suitable?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interest-rate and exchange-rate effects of fiscal policy changes will cause crowding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out.  Also, the unpredictability of international financial flows makes the effects of fiscal (and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policy) changes less predictable.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Show what will happen if there is (a) a rise in business confidence and a resulting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increase in investment; (b) a rise in the demand for money balances (say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precautionary purposes).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IS curve will shift to the right.  The effect is the same as with an expansionary fiscal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A rise in the demand for money will shift the LM curve to the left.  The effect will be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as with a contractionary monetary policy.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Compare the relative effectiveness of fiscal and monetary policies as means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expanding aggregate demand under a system of floating exchange rates.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would be relatively effective.  An expansion of the money supply will reduce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rates.  This will increase aggregate demand directly; lead to a depreciation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rate, which will increase exports and reduce imports, thereby further stimulating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aggregate demand; cause initial exchange rate overshooting, reinforcing the boost to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increased exports and reduced imports.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policy will be relatively ineffective.  A cut in taxes and/or an increase in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expenditure will increase the transactions demand for money and thus increase interest rates.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exchange rate will appreciate.  This will have the effect of dampening the rise in aggregate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demand.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Under what circumstances would an expansionary fiscal policy have no effect at all 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national income?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(i) The greater the degree of capital mobility, the bigger will be the balance of payments surplus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resulting from the expansionary fiscal policy (and the higher interest rates it produces),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the exchange rate will appreciate, and hence the more aggregate demand will be reduced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again through exports.  (ii) The greater the price elasticity of demand for imports and exports,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the appreciation will reduce aggregate demand again.  The bigger these two effects,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likely it is that fiscal policy will have no effect on national income under floating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a monetarist answer the Keynesian criticisms given below?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1. ‘The time lag with monetary policy could be very long.’				Monetarists do not claim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policy can be used to fine tune the economy.  It is simply important to maintain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stable growth in the money supply in line with long-term growth in output.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2. ‘Monetary and fiscal policy can work together.’ onetarists would argue that it is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monetary effects of fiscal policy that cause aggregate demand to change.  Pure fiscal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 will be ineffective, leading merely to crowding out.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3. ‘The velocity of money is not stable, thus making the predictions of the quantity theory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– i.e. that monetary growth must necessarily lead to inflation – is unreliable.’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Monetarists would accept that the velocity of money circulation fluctuates in the short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term, but they will argue that there is still a strong correlation between monetary growth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inflation over the longer term.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4. ‘Changes in aggregate demand cause changes in money supply and not vice versa.’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Monetarists would argue that if governments respond to a rise in aggregate demand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allowing money supply to increase, then that is their choice to expand money supply.  If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had chosen not to and had pursued a policy of higher interest rates, then money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supply would have thereby been controlled and aggregate demand would soon have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fallen back again. </a:t>
            </a:r>
            <a:endParaRPr lang="ko-KR" altLang="en-US" dirty="0" smtClean="0" sz="1097"/>
          </a:p>
          <a:p>
            <a:pPr marL="0" indent="0" defTabSz="15240" algn="l">
              <a:lnSpc>
                <a:spcPts val="2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- 15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15.1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 INTRODUCTION TO INTERNATIONAL TRADE AND FINANCE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INTERNATIONAL TRADE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international trade, we mean the exchange of goods and services between different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countries. For any individual country, trade is important for several reasons: the trade balance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drives the BOPs and deeply influences foreign exchange reserves and the exchange rate;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trade helps determine the overall production and consumption possibilities in the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(both in the static and dynamic contexts, as we shall see below); net exports are an important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component of aggregate demand, and hence income and employment; and so 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Interesting Facts about the World Trade: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Four interesting facts about world trade help place it in perspective: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value of world trade has increased 20 fold over the 1930-2000 period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average, the contribution of a country’s exports to its GDP has doubled from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about 30% to 50% over the same period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 the last 50 years, the share of world exports has changed from 50%-50%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between manufactured goods and primary products to 75%-25% in favour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manufactures.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iv.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50% of world trade happens between HICs, 14% happens between LICs and the rest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involves both HICs and LICs.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 countries trade?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there are mutual gains from trade. But then, what are these gains, and how are these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realized? Comparative advantage theory provides the first answers to such questions.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theory says that countries will gain by specializing in and then exporting the good they have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comparative advantage (or lower opportunity cost advantage) in.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Concept of Comparative Advantage: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illustrate the concept of comparative advantage, we take the example of two equi-sized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equi-endowment countries, US and UK. US produces 40 and 60 units of cotton and food p.a.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respectively (using all available resources), while the UK produces 30 and 20 units of cotton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food p.a. respectively (using all available resources). Clearly, the US has an absolute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advantage in the production of both cotton and food. By absolute advantage it is meant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US is more efficient at producing both food and cotton than the UK. However, upon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computing the opportunity costs of producing cotton and food in either country, is revealed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opportunity cost of producing one unit of cotton in the US is 1.5 units of food, whereas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opportunity cost of producing one unit of food in the US is 0.67 units of cotton. By comparison,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opportunity cost of producing one unit of cotton in the UK is 0.67 units of food, whereas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opportunity cost of producing one unit of food in the UK is 1.5 units of cotton. Thus, the US has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lower opportunity cost (comparative advantage) in the production of food while the UK has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lower opportunity cost (comparative advantage) in the production of cotton. By specializing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goods they have comparative advantage in and then trading between them, both two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can enhance their consumption possibilities beyond those implied by autarky (i.e.,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situation of no trade where the PPF and CPF are the same).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Source of Comparative Advantage: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source of comparative advantage can be productivity differentials (Ricardo) or differences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factor endowments (Hechshcer-Ohlin). In the latter case, given two countries (one abundant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labour and one abundant in capital), and a labour-intensive good and a capital intensive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good, the labour abundant country will have comparative advantage in the production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labour-intensive good while the capital abundant country will have comparative advantage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capital-intensive good. 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natural policy prescription emanating from the above argument was that LICs which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often abundant in labour should produce primary products while rich countries alone should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 capital-intensive goods.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Criticism against Hechscher-Ohlin type trade theories: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major criticism leveled against Hechscher-Ohlin type trade theories are that they views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comparative advantage in an essentially static sense; i.e. if Pakistan is better at producing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cotton and Japan better at producing, then this situation will always prevail. Critics argued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comparative advantage can and should be viewed in a dynamic (time-varying) sense, and that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was not wise to rule out the possibility of Pakistan developing comparative advantage in cars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some future point in time.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Naturally, the policy advice of such dynamic comparative advantage theorists was very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different from 6 above. These people argued that countries build comparative advantage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capital-intensive goods by protecting their domestic industries against cheap manufactured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imports from abroad. The protection is operationalised through tariffs (tax on imports) 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outright quota restrictions. The output from the local infant industries (protected in this way)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be used to substitute imports of manufactures. Many LICs (e.g. Mexico, India) religiously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followed this policy prescription in the mid-20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century, but with mixed results.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it is true that many countries pursued, fully or partly, the policy prescription suggested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dynamic comparative advantage theories, only a handful of them were genuinely successful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changing their comparative advantage: Korea developed comparative advantage in the auto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industry, Taiwan in microchips, Malaysia in shipbuilding and consumer electronics, Brazil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light aircraft. Of these, most countries (like the East Asian tigers) had a marked export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orientation in their industrialization and trade policies. This is what set them apart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failures, which had a more import-substituting approach to industrialization. These issues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taken up again in lecture handout 45.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Welfare Effects of Tariff: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important to understand what the welfare effects of a tariff are. While a tariff may seem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desirable because it generates revenue, and may help protect domestic producers, it can often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leave domestic consumers quite worse off. This is because domestic producers only have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compete with the higher (tariff-inclusive) price of imported goods, not with the actual price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those goods are being produced at. Thus domestic consumers in a way are forced to consume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 produced by less efficient domestic producers.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OPTIONAL: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It is instructive to place trade theories in the context of the actual history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 trading system. In particular, it is useful to see: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trade liberalization efforts have proceeded under the GATT/WTO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8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framework?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this, please see file attached: 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WTO.ppt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recent rise in regionalism a threat to multilateral trade liberalization and the WTO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system? See file attached: 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Regionalism.ppt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INTERNATIONAL FINANCE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 finance is concerned with, among other thing, the mobility of financial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across countries, and the problems and opportunities this mobility presents individual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with. It would not be too inaccurate (in present day context) to say that while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 trade deals with the current account, international finance deals with the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 of the BOPs. That said, issues like the choice of exchange rate regime and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modern-day balance of payments crises also fall firmly within the purview of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finance. </a:t>
            </a:r>
            <a:endParaRPr lang="ko-KR" altLang="en-US" dirty="0" smtClean="0" sz="1097"/>
          </a:p>
          <a:p>
            <a:pPr marL="0" indent="0" defTabSz="15240" algn="l">
              <a:lnSpc>
                <a:spcPts val="3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8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GATT stands for the General Agreement on Tariffs and Trade; WTO stands for World Trade Organization.  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Types of Transaction on the Capital Account: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useful to recall the major types of transactions recorded on the capital account: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direct investment, foreign portfolio investment, debt flows and aid flows. FDI and FPI are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of essentially private capital flows. Debt flows could be official (involving multilateral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agencies or other country governments) or private (commercial). Aid flows are almost always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official.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Growth in Private Capital Flows: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has been a phenomenal growth in private capital flows since the 1990s. To give an </a:t>
            </a:r>
            <a:endParaRPr lang="ko-KR" altLang="en-US" dirty="0" smtClean="0" sz="1097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example, the value of capital flow transactions has risen to about 100 times the value of trade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transactions. This was not always so, as until a long time after the start of the 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trade flows remained either equal to or greater than private capital flows!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rapid rise in private capital flows highlights the speed of integration of financial markets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across the world. Innovations in communications technology and financial market engineering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today permit cross-country transactions worth billions of dollars to be executed in real-time. 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same time, capital account liberalization in many countries, rich and poor, has played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important role in boosting these flows.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International Capital Mobility: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case for international capital mobility was most clearly articulated by MacDougal in 1960.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 presented a framework involving two countries, one abundant in financial capital and one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scarce in financial capital. As has been discussed earlier, the abundance of money within 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economy leads to low interest rates, whereas its scarcity causes interest rates to be high.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Thus, the capital-rich country has low interest rates, while the capital-scarce country has high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rates. As a result, there is over-investment in the former, and under-investment in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latter.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both countries could jointly liberalize their capital accounts, some of the capital would fly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the capital-rich countries to the capital-scarce countries to take advantage of the higher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 prevailing there. This would equalize the supply of capital in both countries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causing their interest rates to equalize. Thus, desirably, interest rates in the formerly capital-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rich country rise (causing over-investment to disappear), while interest rates in the formerly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capital-scarce country fall (causing under-investment to disappear). Another way to state this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that capital would flow to (or be allocated to) its most productive uses.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Benefits of International Capital Mobility: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have suggested other benefits of international capital mobility: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Consumption smoothing: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the ability to borrow from the international capital market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allows a country to sustain a higher level of expenditures in times of recession 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current account difficulties, than would be possible if the economy were not integrated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into the international financial market.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Risk diversification: 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international investors’ ability to invest in other the assets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(bonds, stocks, property etc.) of countries other than their home countries permits them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diversify their investment risks. Similar benefits may also accrue to issuers of debt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(or borrowers of capital) who now enjoy a more diversified creditor pool. This enables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them to bargain down their borrowing rates as well as cushions them in the face of any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 of the funding sources drying up.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Fiscal policy becomes more effective: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Given fixed exchange rates, expansionary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policy would not have any crowding out effects if the capital account is open.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because as soon as interest rates begin to rise due to higher government borrowing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(to finance the higher spending), capital flows in through the capital account, which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a fixed exchange rate, expands the foreign exchange reserves and hence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money supply. This is tantamount to the LM curve to shifting to the right. As such,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excess capacity in the economy, income and output rises by much more than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have been possible without an open capital account. By similar logic, the effects </a:t>
            </a:r>
            <a:endParaRPr lang="ko-KR" altLang="en-US" dirty="0" smtClean="0" sz="1097"/>
          </a:p>
          <a:p>
            <a:pPr marL="0" indent="0" defTabSz="1524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a fiscal contraction on income become more pronounced given a fixed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and open capital account.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Disadvantages of International Capital Mobility: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with everything else in economics, there is another side to the story as well; i.e. there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disadvantages of free capital mobility as well, and it is important to understand them in order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form an informed view on the issue.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Monetary policy becomes ineffective: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Given fixed exchange rates, imagine what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happen if the central bank tried to increase money supply. LM would shift down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putting downward pressure on the interest rates. However, as soon as domestic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 falls below the world interest rate, the capital account starts experiencing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deficit (outflows). This outflow is mirrored by a fall in foreign exchange reserves which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causes a money supply contraction. Thus the effects of the initial expansion are totally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undone. The inability of a country to retain monetary policy autonomy, at the same time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a fixed exchange rate and an open capital account is called the unholy trinity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principle. The unholy trinity principle simply says that the three things above cannot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coexist; one must be sacrificed. It can be monetary autonomy, or capital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openness or fixed exchange rates.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Capital flows are pro-cyclical and therefore exacerbate boom-bust cycles: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One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criticisms of global capital is that it moves in sync with countries’ business cycles,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magnifying economic fluctuations (rather than smoothing them out); e.g.: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money would flow to a country when it is experiencing a capital inflow boom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(i.e. exactly the time when it does not need more money, per se) often leading to credit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booms, property bubbles, inflationary pressures, loss of competitiveness and BOPs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problems. Conversely, when conditions are tight, and countries are need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capital, the latter is not available, as all foreign investors “want out.”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iii.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Global capital is highly volatile, making countries targets of speculation: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Some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types of capital flows are more volatile than others. For example, foreign direct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investment, official concessional aid etc. is more stable than foreign portfolio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investment, and commercial bank lending, which are immediately reversible.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recent rise in capital flows reflects an asymmetric increase in this highly reversible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short-term type (also called hot money). Capital follows short term rates of return (1-6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month interest rates for e.g.) in the world, and as soon as this rate falls in one country,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exits that country and enters another with a higher rate, with no regard for the effects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the economy left behind (stock market crash, recession, financial crisis). Also, due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this inherent volatility, the timing and volume of these flows is often determined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speculators, increasing the likelihood that any BOPs difficulties and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 currency crises will be attributable more to a reversal in such investors’ preferences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attitudes than to a weakening of the affected country’s macroeconomic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sector fundamentals (healthy financial system, low inflation, stable real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rate, absence of unholy trinity etc.). There is agreement that the recent spate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financial crises in Latin America, East Asia and Russia was at least partly due to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 speculation activity (and subsequent herding behaviour of investors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9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). 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9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Herding is a term used to describe how investors enter and exit countries, i.e. all at once. Thus, if foreign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investors have invested money in a country and some of them (and these are usually the ones with greater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speculative tendencies) think the economy is going down and it’s time to take their money out, and they act on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their expectations, the other investors will all follow their lead. This is because the other investors would not want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to take the chance of staying behind and suffer through either a devaluation of the currency of a BOPs crisis.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However, by acting together, they often lead to greater losses for both themselves and the host country.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Importantly, herds are often defined in regional terms, i.e. if investors take their money out of one economy in a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region, foreign investors in the other regional economies will join the herd as well, plummeting the whole region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into crisis. In the very recent crises of the late 1990s, such crisis contagion was also seen between regions, i.e. an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  <a:ea typeface="Times New Roman"/>
              </a:rPr>
              <a:t>exit Asia 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strategy being followed by an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exit all emerging markets 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strategy (irrespective of whether those markets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are in Asia or in Latin America or in Central or South Asia).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159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Suggestions to Cure the Problems of Global capital Mobility: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these problems with global capital mobility, there are three major cures suggested.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first focuses on recipient countries and the importance of these countries to further strengthen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financial and macroeconomic fundamentals. The second focuses on reforming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 financial architecture in a way that speculators and irresponsible herding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behaviour can be discouraged (through a threat of penalty). Also this approach argues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setting up of an international lender of last resort which could lend to countries in dire need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exchange, so that full-blown crises can be avoided. The third approach stresses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 of tax-like controls on capital movements, structured so as to penalize round-trippers more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heavily.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10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This approach recognizes that the main culprit in modern day financial crises is often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investors, and therefore host countries themselves should find ways to control (and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tame) them. Supporters of this policy route also point out the difficulties, or lack of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willingness to, reforming the international financial architecture.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OPTIONAL: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a detailed discussion on crises, and also on how exchange rate policy can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help avert them, see 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Financial crises and exchange rates.ppt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4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10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Chile, for e.g., imposed an unremunerated reserve requirement on all foreign capital coming in. The requirement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essentially was that 10% of any individual investment inflow would have to be deposited with the Chilean central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bank for a fixed period of one year. For long-term investors, the implied tax of such a requirement would be small,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but for round-trippers who wish to bring money in and out of Chile several times within a year, the tax would be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huge. 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15 -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does the USA as a whole not specialise as much as General Motors or Texaco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(individual US companies)?  Why does the UK not specialise as much as ICI?  Is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answer to these questions similar to the answer to the questions, ‘Why does the USA not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specialise as much as Luxembourg?’, and ‘Why does ICI or Unilever not specialise 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much as the local butcher?’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two elements to the answer.  One concerns costs, one concerns demand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revenue.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terms of costs, as a firm or country specialises and increases production, so the opportunity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of production are likely to fall at first, due to economies of scale, and then rise as resources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become increasingly scarce.  The butcher’s shop may not have reached the point of rising long-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run opportunity costs.  Also it is too small to push up the price of inputs as it increases its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production.  It is a price taker.  ICI and Texaco, however, probably will have reached the point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rising opportunity costs.  Countries certainly would have if they specialised in only one product.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the larger the organisation or country, the more diversified they are likely to be.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Turning to the demand side:  the butcher’s shop supplies a relatively small market and faces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relatively elastic demand.  It is therefore likely to find that complete specialisation in just one type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product is unlikely to lead to market saturation and a highly depressed price.  Large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companies, however, may find that complete specialisation in one product restricts their ability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expand.  The market simply is not big enough.  Countries would certainly find this.  The USA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could hardly just produce one product!  The world market would be no where near big enough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it.  The general point is that overspecialisation would push the price of the product down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 profits.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Parvez took two minutes to milk the sheep and Tauqeer took six, how could it ever be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more efficient for Tauqeer to do it?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Tauqeer might take more than three times longer than Parvez to do other jobs,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Tauqeer would have a comparative advantage in milking the sheep.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Country L can produce 6 units of wheat or 2 units cloth using X amount of resources in a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year; Country D can produce 8 units of wheat or 20 units of cloth using X amount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resources in a year.  What are the opportunity cost ratios and which country has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comparative advantage in what?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opportunity cost of wheat in terms of cloth is 2/6 in L and 20/8 in D (i.e. 7.5 times higher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opportunity cost of cloth in terms of wheat is 6/2 in L and 8/20 in the D (i.e. 7.5 times higher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L).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Thus L has a comparative advantage in wheat production while D has comparative advantage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cloth production.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Under what circumstances would a gain in revenues by exporting firms not lead to 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increase in wage rates?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there is such surplus labour (e.g. through high unemployment or the firms being legally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required to pay minimum wages) that an increase in demand for labour will not bid up the wage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rate.  At least, however, unemployment will probably fall, unless new workers flood in from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countryside to take advantage of new jobs created in the towns.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Two countries produce televisions and exchange with each other. If 4 units of one country’s TV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 exchange for 3 TV sets imported from the other country, the terms of trade are: 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3/4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 terms of trade are 3, how many units of the imported good could I buy for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money earned by the sale of 1 unit of the exported good?  What is the exchange ratio? </a:t>
            </a:r>
            <a:endParaRPr lang="ko-KR" altLang="en-US" dirty="0" smtClean="0" sz="1097" b="1"/>
          </a:p>
          <a:p>
            <a:pPr marL="0" indent="0" defTabSz="1524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x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/P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= 3/1, then 3 units of imports can be purchased with the money earned by the sale of 1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unit of the exports.  The exchange ratio is 1x:3m.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will exporters probably welcome a ‘deterioration’ in the terms of trade?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a fall in the price of exports relative to imports would probably be the result of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depreciation in the exchange rate.  This would mean that exporters could now reduce the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price of their exports and hence sell more, without reducing their price in domestic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currency.  They would therefore end up earning more. 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it possible to gain from trade if competition is not perfect?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 Production would not initially take place at the Pareto optimum position (i.e. “on” the PPF),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but it is quite likely that trade would lead to a consumption on a higher indifference curve,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therefore there would be some gain: a Pareto improvement.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it possible to gain from trade if it is already producing on the PPF?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Yes. When trade happens, there are both production and consumption gains by expanding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production and consumption possibilities frontiers respectively. Thus even if production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already Pareto efficient, trade will open up possibilities for higher consumption at the lower world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prices; this might require a slight movement along the PPF as well however.  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it be possible for a country with a comparative disadvantage in a given product at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pre-trade levels of output to obtain a comparative advantage in it by specialising in its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production and exporting it?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Yes, if the country has potential economies of scale in producing that good (which it had not yet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exploited).  Specialisation could then reduce the opportunity costs of that good below that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same good in other countries.  (This assumes that the other country does not have potential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of scale in that good or does not exploit them if it does.)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Should the world community welcome the use of tariffs and other forms of protection by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rich countries against imports of goods from lower income countries that have little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regard for the environment?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no simple answer to this question.  In terms of social efficiency, trade should take place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long as the marginal social benefit was greater than the marginal social cost (where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environmental benefits and costs are included in marginal social benefits and costs). 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with this approach is in identifying and measuring such benefits and costs.  Then there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is the problem of whether a social efficiency approach towards sustainability is the appropriate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one.  Then there is the issue of the response by lower income countries to the protection.  Will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respond by introducing cleaner technology?  This may prove difficult to predict.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How would you set about judging whether an industry had a genuine case for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infant/senile industry protection?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Whether it can be demonstrated that, with appropriate investment, costs can be reduced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sufficiently to make the industry internationally competitive.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Does the consumer in the importing country gain or lose from “dumping”?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Dumping happens when an exporter sells its products in another country (the importing country)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at an extremely low price (sometimes below cost).		The purpose of dumping is  often to capture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monopoly position in the importing coountry market and drive other competitors (including local)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short run the consumer in the importing country may gain from the cheaper prices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dumped product.  In the long run the consumer could lose if domestic producers were driven out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business, which then gave the foreign producer a monopoly.  At that point, it is likely that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prices would go up above the pre-dumping levels.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what ways may free trade have harmful cultural effects on developing countries?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products and the lifestyles which they foster could be seen as alien to the values of society.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example, many developing countries have complained about the ‘cocacolonisation’ of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economies, whereby traditional values are being overcome by Western materialist values.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Go through each of these four arguments and provide a reply to the criticisms of them.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 ‘Imports should be reduced since they lower the standard of living.  The money goes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abroad rather than into the domestic economy.’  Imports are not always matched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exports.  If imports exceed exports, then the resulting trade deficit has to be matched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surplus elsewhere on the balance of payments account, which might bring problems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(e.g. short-term financial inflows leading to exchange-rate volatility).  A rise in imports,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being a withdrawal from the circular flow of income, will tend to reduce income unless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matched by a corresponding rise in exports.  Sometimes imports may influence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 tastes, and this may be seen as undesirable.  For example, imports of soft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drinks into poorer developing countries has been criticised for distorting tastes.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 ‘Protection reduces unemployment.’  The greater competition from free trade will provide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permanently less certain market for domestic producers and possibly a permanently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higher rate of structural unemployment, given the greater rate of entry and exit of firms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markets.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 ‘Dumping is always a bad thing, and thus a country should restrict subsidised imports.’ 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gain to consumers may be short-lived, and if more efficient domestic firms have been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driven from the market, there will be a long-term net welfare loss to the country.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be the ‘first-best’ solution to the problem of an infant industry not being able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compete with imports?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the problem is a lack of domestic infrastructure, then the first-best policy is for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provide the infrastructure.  If the problem is a lack of finance for the firms to expand (due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imperfections in the capital market), then the first-best solution is for the government to remove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imperfections in the capital market, or to lend money directly to the firm.  In other words, the first-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best solution is to get to the heart of the problem: to tackle imperfections at source.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Airbus, a consortium based in four European countries, has received massive support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(protection) from European country governments, in order to enable it to compete with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Boeing (a US company), which until the rise of Airbus had dominated the world market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for aircraft. To what extent are (a) air travellers; (b) citizens of the four European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countries likely to gain or lose from this protection?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To the extent that the resulting competition reduces the costs of aircraft and hence air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fares, the traveller will gain.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Whether citizens of the EU as a whole gain depends on whether the costs of the support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(including external costs), as are recouped in the benefits of lower fares to travellers,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profits to Airbus Industries and external benefits (such as spillover research benefits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 industries).  Of course, the costs and benefits will not be equally distributed to EU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citizens and thus there will be redistributive effects of the policy, effects which may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considered to be desirable or undesirable.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 the US action of early 2002 to protect its steel industry be justified on economic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grounds?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terms of economic efficiency, then probably not, unless the protection was temporary while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industry was given the opportunity to invest to allow it to realise a potential comparative </a:t>
            </a:r>
            <a:endParaRPr lang="ko-KR" altLang="en-US" dirty="0" smtClean="0" sz="1097"/>
          </a:p>
          <a:p>
            <a:pPr marL="0" indent="0" defTabSz="1524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advantage (assuming that an imperfect capital market failed to lend it the requisite funds). But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given that the industry almost certainly does not have a potential comparative advantage, there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be no efficiency gains: rather, there would be net loss in efficiency.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main argument, then, would have to be in terms of distributive justice: that giving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industry protection helps save US jobs and the livelihoods of people working in the industry.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a US perspective, there is some justification here. In world terms, however, the gain to US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jobs could well be at the expense of jobs elsewhere, causing a net loss, as production was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diverted from lower-cost producers in other countries to higher-cost producers in the USA.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alternative economic strategy might the US government have adopted to improve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competitiveness of steel producers?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Encouraging investment in new efficient plants by giving tax breaks or grants. Again, unless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these plants had a comparative advantage, this would still be regarded as unfair protection.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 if they did have a potential comparative advantage, any such support would have to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purely temporary to be justified on efficiency grounds.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Outline the advantages and drawbacks of adopting a free-trade strategy for lower income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countries. How might the Doha Development Agenda go some way to reducing these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drawbacks?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two main advantages: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The developing countries can gain from specialisation in goods in which they have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comparative advantage. Other things being equal, this increases national income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these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It can encourage inward investment into these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disadvantages are as follows::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Developed countries may continue to protect their industries. This makes free trade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risky strategy for developing countries, which might find the market for key exports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suddenly cut off.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Freely allowing imports into developing countries may mean that developed countries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dump surplus products on them (especially agricultural surpluses), with damaging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consequences for producers within the developing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It may encourage developing countries to use low-cost, dirty technology, with adverse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environmental consequences.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Multinational investment in developing countries, encouraged by an open trade policy,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lead to culturally damaging influences (the culture of McDonald’s and Coca-Cola)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political control over the developing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the extent that the Doha Development Agenda focuses on sustainable development, fair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access for developing countries to the markets of rich countries and maintaining justifiable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protection by the developing countries for specific sectors, then some of these drawbacks will be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reduced. How much they will be reduced, however, depends on the terms of any agreement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 rigorously they are enforced.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be the economic effects of (a) different rates of VAT, (b) different rates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personal income tax and (c) different rates of company taxation between member states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a regional union (or single market like EU) if in all other respects there were no barriers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trade or factor movements?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Consumers would buy items in those countries that charged the lower rates of VAT. 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push up the prices in these countries and thus have the effect of equalising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tax-inclusive prices between member countries.  This effect will be greater with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expensive items (such as a car), where it would be worthwhile for the consumer to incur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costs of travelling to another country to purchase it.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Workers would move to countries with lower income taxes, thus depressing gross wage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rates there and equalising after-tax wages.  This effect would be greater, the greater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mobility of labour between member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c) Capital would move to countries with lower rates of company tax, thus depressing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of profit in the low tax countries and equalising the after-tax rate of profit.  This effect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be greater, the greater is the mobility of capital between member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the adoption of improved working conditions in poor countries necessarily lead to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higher labour costs per unit of output?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They could lead to an increase in labour productivity which more than offset the cost of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improved working conditions.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When the UK joined the exchange rate mechanism ERM in 1990, it was hoped that this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make speculation pointless.  As it turned out, speculation forced the UK to leave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ERM in 1992.  Can you reconcile this with the argument that fixed rates discourage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speculation?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long as speculators believe that the fixed rate can be maintained, there is no point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speculation.  Thus when the UK first joined, there was little speculation.  But later, when there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was a clear tension between the German desire to keep interest rates high and the UK desire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 interest rates in order to help lift the economy out of recession, speculators began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believe that rates might have to be realigned.  The more they became convinced of this,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the speculative pressures mounted. </a:t>
            </a:r>
            <a:endParaRPr lang="ko-KR" altLang="en-US" dirty="0" smtClean="0" sz="1097"/>
          </a:p>
          <a:p>
            <a:pPr marL="0" indent="0" defTabSz="15240"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speculators on average gain from their speculation, who loses?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People buying or selling internationally traded goods who are not themselves speculating. 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example, if speculation drives the exchange rate below what it would otherwise have been, then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purchasers of imports will be paying a higher price than they otherwise would.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would the adjustable peg system have been less suitable in the world of the mid-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1970s than it was back in the 1950s?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 world economy was in much more of a state of turmoil than in the previous two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decades.  The amount of adjustment required was therefore much greater.  Under an adjustable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peg system, pegged exchange rates would much more rapidly have become disequilibrium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rates.  This would have necessitated more severe stop–go policies and/or more frequent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devaluations/revaluations, with the disruption that such adjustments entail.  What is more, with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much of the increased oil revenues of OPEC being placed on short-term deposit in Western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banks, the size of short-term financial flows had increased substantially and this worsened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of currency instability.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do high international financial mobility and an absence of exchange controls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severely limit a country’s ability to choose its interest rate?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if its interest rate were lower than international rates, there would be a massive outflow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finance if international finance were highly mobile and there were an absence of exchange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controls.  The resulting fall in the money supply would push the interest rate up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 level.  Similarly if its interest rate were higher than international rates, the resulting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massive inflow of finance would increase the money supply and drive its interest rate down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international level.  These effects are stronger if the country is attempting to peg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any of these problems be lessened by the world returning to an adjustable peg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system?  If so, what sort of adjustable peg system would you recommend?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No.  All these problems would have existed with an adjustable peg.  Predicting the appropriate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 at which the currency should be pegged would have been a problem.  Speculative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movements would still have been a problem as long as speculators believed that there was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possibility of devaluation or revaluation.  There would still have been a conflict with internal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policy given that interest rates would have been used to maintain a pegged rate.  There could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still have been competitive pressures to raise interest rates.  Just how bad these problems would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have been would have depended on (a) the determination of countries to defend the pegged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rate, and (b) the amount of support given by the IMF, or central banks collectively, to maintain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pegged rates.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return to an adjustable peg system is best when the required adjustments are easily made,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without building up large deficits or surpluses, and most importantly, when countries pursue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consistent policies: when their economies are harmonised. 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will be the effect on the UK economy if the European Central Bank cuts interest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rates?(The European Central Bank is the central bank for the Euro zone; this currently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excludes Britain)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will an outflow of funds from the euro-zone and the euro will probably depreciate.  Funds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flow to the UK and sterling will probably appreciate.  UK exports will become less competitive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there will probably be a rise in imports.  UK aggregate demand will fall.  This will put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downward pressure on inflation.  (To some extent the downward pressure on aggregate demand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UK will be offset by a rise in aggregate demand in the euro-zone and hence a boost 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UK economy via the international trade multiplier.)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net result of a forecast of lower inflation in the UK and a worsening balance of trade may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encourage the Monetary Policy Committee to lower the rate of interest.  If this happened, it could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neutralise the balance of payments effect of the ECB’s interest rate cut.  In fact, if rates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in the UK fell by the same amount as in the euro-zone, the UK’s balance of trade would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probably improve, as sterling depreciates against the dollar, the yen and other currencies other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than the euro.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did ‘contagion’ spread to countries outside south-east Asia  after the latter region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experience currency crises in 1997-98?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Having witnessed the power of speculative flows to undermine relatively strong countries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south-east Asia, speculators turned their attention to other economies perceived as having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weaknesses.  The speculation against these economies then considerably worsened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position, causing their currencies and stock markets to fall dramatically.  The speculation was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worsened by the perceived inability (or unwillingness) of institutions such as the IMF to provide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rapid support for these economies.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policy measures could the south-east Asian countries have adopted before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crisis to prevent it occurring?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Tighter controls over their banking and financial systems, with better regulation and monitoring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by the authorities and higher minimum reserve requirements; greater exchange rate flexibility;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rigorous attempts to reduce government debt over a long period of time (so as to avoid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shock of sudden deflation); controls over the financing of corporate debt (so as to reduce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levels of corporate debt held overseas).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George Soros, multi-millionaire currency speculator, has referred to global capital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markets as being like a wrecking ball rather than a pendulum, suggesting that such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markets are becoming so volatile that they are damaging to all concerned, including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speculators. What might lead Soros to such an observation?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financial movements are so vast that they are largely beyond the control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governments or international agencies. Once the sentiment of currency traders and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166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speculators is affected in a particular direction (e.g. losing confidence in a particular economy,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such as Argentina in late 2001/early 2002) currency movements can become large and very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damaging. Such short-term movements may bear little relation to long-term fundamentals.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may inflows of short-term deposits create a problem?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they may be very rapidly withdrawn again and thus can contribute to instability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rate.  To prevent sudden outflows of deposits (arising, say, from a fear by depositors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exchange rate is about to fall) governments may be forced to raise interest rates: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something they may otherwise prefer not to do. </a:t>
            </a:r>
            <a:endParaRPr lang="ko-KR" altLang="en-US" dirty="0" smtClean="0" sz="1097"/>
          </a:p>
          <a:p>
            <a:pPr marL="0" indent="0" defTabSz="15240" algn="l">
              <a:lnSpc>
                <a:spcPts val="58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UNIT - 16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CopperplateGothic"/>
                <a:ea typeface="CopperplateGothic"/>
              </a:rPr>
              <a:t>Lesson 16.1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PROBLEMS OF LOWER INCOME COUNTRIES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are huge income and wealth disparities in the world we live in. Roughly one-fourth of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world’s population accounts for on three-fourths of the world’s resources and consumption.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per capita income in the world’s poorest countries is $330 per year whereas in the richer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countries, is $24,000 a year – about 70 times higher!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worryingly, contrary to expectations and wishes, these disparities have not gone away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since the 1950s – the time when many of the world’s poorest countries (colonies) got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independence. In some cases (e.g. Africa), disparities appear to have actually increased,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widening the living standards gap between the first and third worlds. Many people in the Third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World live in extreme poverty beyond the wildest imagination of the people living in HICs.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Theories about the Problems of LICs: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order to explain this huge problem of poverty and of the asymmetric ownership of wealth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income in the world, economists have come up with many theories.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Poverty trap theories: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Poverty trap theories explained the relative poverty of the Third World in the context of the twin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gaps: foreign exchange gap (exports being less than required imports) and an underlying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savings gap (domestic savings being less than required investment).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11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As a result, the LICs’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economies were caught in the vicious cycle of low saving, low scale of investment, low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productivity gains (due to the absence of scale economies), low per capita growth (remember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productivity and technological progress were the engines of PCI growth), low savings …….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Prebisch-Singer Hypothesis (PSH):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rival theory was the Prebisch-Singer Hypothesis (PSH), which located the reasons for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persistent poverty in the structure of trade between the rich and poor countries. The PSH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maintained that that LICs were stuck in the production of primary products (as prescribed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static comparative advantage theories like Hechscher-Ohlin prescribed) which were subject to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volatility and declining prices relative to manufactures and capital goods.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12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 economists pointed out 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lack of human, social and public capital in LICs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as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single most important factor distinguishing them from, say, post-WW2 Germany and Japan,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which were able to rebuild themselves from total destruction to great economic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prosperity on the back of a strong and skilled workforce (human capital), well-developed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institutions like trust, meritocracy and accountability (social capital), and elaborate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communications, energy and housing infrastructures (public capital).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Others drew attention to the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very fast rising populations in LICs,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the particular social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economic pressures created thereby. Coupled also with disease and severe ethnic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regional conflicts, some saw the situation in LICs as virtually ungovernable.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Lack of precious natural resources (like oil, gold, gas, iron, copper etc.)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was also cited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 as the reason for LICs’ continued poverty, and examples were given of South Africa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OPEC countries, many of whom were able to raise living standards solely on the back 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natural resource exports. Strong counter-argument exist against this theory, for e.g., the LICs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registered the highest rates of industrialization and GDP growth during the last four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decades, namely: Korea, Taiwan, Hong Kong, Singapore, did not possess any significant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natural resources. The same is true for Japan in the 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century and the European countries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18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and 19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centuries.  </a:t>
            </a:r>
            <a:endParaRPr lang="ko-KR" altLang="en-US" dirty="0" smtClean="0" sz="1097"/>
          </a:p>
          <a:p>
            <a:pPr marL="0" indent="0" defTabSz="15240" algn="l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11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Recall from the discussion under BOPs that M-X = I-S + G-T, and thus, for a given G-T, I-S and M-X go hand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in hand. 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12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Refer also to the micro lectures on elasticity where the BOPs problems of LICs are explained in the context of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income price and substitution elasticity’s.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Development Strategies: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Keeping the reasons for persistent poverty in LICs aside, there are three broad development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strategies that have been adopted to address the situation.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I.   DEVELOPMENT THROUGH TRADE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Up till the 1970s, it was thought that LICs needed to develop their import competing industries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(import-substituting industrialization), reduce their dependence on consumer goods imports by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switching to domestically produced goods, and hence gradually attain self-sufficiency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exchange adequacy. Inspired by dynamic comparative advantage theories and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massive Soviet industrialization drive launched under Stalin, this model was passionately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followed by many South Asian, African and Latin American countries. The results were not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very positive, unfortunately. For one, the nationalization policies that often accompanied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pursuit of the ISI model led to a crowding out of private entrepreneurship (and with it, the spirit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competition), and the birth of highly inefficient public enterprises, which later became a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breeding ground for corruption, nepotism and labour dumping (excess hiring). Second,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huge savings expected on imports never quite materialized. Given the large current account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deficits delivered by weak exports and stubbornly high imports, therefore, many of these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went into BOPs crises after the 1970s.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East Asian Model: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rival trade model which proved very successful was the East Asian one. These countries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(Korea, Indonesia, Taiwan, Hong Kong, Singapore, Malaysia, and to a lesser extent Thailand,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Indonesia and The Philippines) industrialized not to produce for the local markets (i.e.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substitute their imports) but to produce for the international market (competing with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producers). As a result they had a focus, from the very start, on productive efficiency and did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rely on high tariff protection for very long and therefore attained a sustainable ascent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comparative advantage ladder (from primary products to high tech goods). These are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which have been the fastest growing (or miracle) economies of the last quarter of the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success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of the East Asian model, notwithstanding, there is 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	major criticisms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that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leveled against richer countries with respect to their double standards on trade. The criticism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that, while supporting free trade internationally and whenever it suits their interests, many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these countries impose quotas, tariffs, subsidies and indirect restrictions (environmental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 standards etc.) to prevent poor countries from selling their primary products and light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manufactures to the rich country markets. One example is the agricultural sector, where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wealthy west gives lavish subsidies to its farmers, enabling the latter to out-compete LIC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farmers who are not receiving any subsidies form their governments.  One argument,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therefore, is to require rich countries to open their markets to exports from poor countries.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II.   DEVELOPMENT THROUGH RESOURCE TRANSFER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main idea here was that (as mentioned earlier) poor countries suffered from savings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foreign exchange gaps that could not be filled domestically, and needed to be funded by some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sort of international resource transfer from the rich countries (former colonial powers called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“donors”) to the poor countries (those which got independence in the mid-20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th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century).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Supporters of the model were basically those who felt that the colonizing west needed to take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responsibility for the exploitation of the colonized Third World. The best way to do it was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give aid: both grants (which never had to be repaid) and concessional loans (which had to be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repaid on very soft terms) to poor countries to help them in their initial years and to facilitate </a:t>
            </a:r>
            <a:endParaRPr lang="ko-KR" altLang="en-US" dirty="0" smtClean="0" sz="1097"/>
          </a:p>
          <a:p>
            <a:pPr marL="0" indent="0" defTabSz="15240" algn="l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169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entry into the group of prosperous nations.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13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this reason, the UN charter of 1948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prescribed an annual 0.7% (of GNP) contribution by all rich countries to poor countries.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However, aid has not generally been successful in lifting former colonies out of poverty.  Living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standards in many of the aid-receiving countries have actually fallen, indicating a clear failure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aid. There are many reasons why this could have happened, but the most important ones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perhaps the misuse of aid proceeds by recipient country governments through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misallocation, embezzlement and corruption; the negative role of donors in forcing recipient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to use aid proceeds for importing the goods and services from only the donor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country; the politicizing nature of aid and its associated conditionalities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14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; aid fatigue on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part of donors (i.e. tiredness resulting from having to give aid year after year without any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concrete benefits), the inadequacy of aid (the aid given has never quite been enough, and only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about 0.35% of rich country GNP has been allocated as development aid); the crowding out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domestic savings (that is, as aid comes into the country the incentive for local citizens to save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reduces, thereby compounding the low saving rate problem of poor countries).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Official aid is not the only type of resource transfer. There are private capital flows (portfolio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investments and bank lending) that can also fill resource gaps in LICs. However,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experience with these has not been successful either. The debt crisis of the 1980s in Latin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America, Africa and Asia, and the recent spate of financial crises in Mexico, East Asia, Russia,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Brazil and Argentina have all testify to the dangers of modern day private capital flows. Such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flows are highly reversible and often pro-cyclical accentuating boom-bust cycles in recipient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Due to the failure of the above alternative types of resource flows, attention has, of late, shifted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foreign direct investment (FDI). This type of resource transfer has been deemed more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successful than others due to its ability to relieve three constraints simultaneously: the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exchange and savings constraints (mentioned earlier), the skills constraint (the fact that LICs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 not have the skills – managerial or technical – for industrial upgrading and export market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tapping). FDI had been unwelcome in many LICs in the 1950s and 60s as it was seen as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continuation of colonialism. Foreign money coming into one’s country was one thing, foreign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firms coming, operating and taking control quite another! Indeed there was the perceived risk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foreign firms would take over the strategic sectors of society – financial services,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communications and power. Over time, LICs’ aversion to FDI has decreased considerably.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now recognize the benefits of irreversible FDI and its skill-transfer related advantages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for countries lacking in stability and human capital, respectively. Indeed, countries which have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relied on FDI more than debt and portfolio investments to integrate into the global economy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(China, Chile and many of the East Asian tigers), have been the most successful development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examples of the last 25 years.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OPTIONAL: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For a detailed review of the alternative forms of resource  transfer and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relative merits, please see 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International Resource Transfer.ppt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</a:t>
            </a:r>
            <a:r>
              <a:rPr lang="en-US" altLang="ko-KR" dirty="0" smtClean="0" sz="1097" u="sng" b="1">
                <a:solidFill>
                  <a:srgbClr val="000000"/>
                </a:solidFill>
                <a:latin typeface="Arial"/>
              </a:rPr>
              <a:t>III.   DEVELOPMENT THROUGH STABILISATION AND REFORM </a:t>
            </a:r>
            <a:endParaRPr lang="ko-KR" altLang="en-US" dirty="0" smtClean="0" sz="1097" u="sng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reasoning here was that trade and resource transfer could not, by themselves, lift LICs out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 poverty. Unless LICs’ macroeconomic imbalances (high inflation, current account deficits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etc.) were removed (stabilization), and the structural impediments to their growth relieved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(structural reform), trade and resource transfer could not translate into long-term improvement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living standards. This became particularly obvious after the 1980s debt crisis that swept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across Latin America, Africa and Asia. It is at this point in time that the two international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institutions (IFIs) – the International Monetary Fund (IMF) and the World Bank (WB) –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became involved in macroeconomic stabilization and structural reform, respectively.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13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An early example of the success of aid was post-World War II Germany, which received a lot of financial </a:t>
            </a:r>
            <a:endParaRPr lang="ko-KR" altLang="en-US" dirty="0" smtClean="0" sz="1002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assistance from the U.S. (Marshall Plan) and managed to become an economic giant inside 2 decades after the end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of the war. It was hoped that by giving aid to other poor countries, the same result would obtain. </a:t>
            </a:r>
            <a:endParaRPr lang="ko-KR" altLang="en-US" dirty="0" smtClean="0" sz="1002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648">
                <a:solidFill>
                  <a:srgbClr val="000000"/>
                </a:solidFill>
                <a:latin typeface="Times New Roman"/>
                <a:ea typeface="Times New Roman"/>
              </a:rPr>
              <a:t>14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 These conditionalities are often perceived as an infringement of the freedom of the recipient country, making the </a:t>
            </a:r>
            <a:endParaRPr lang="ko-KR" altLang="en-US" dirty="0" smtClean="0" sz="1002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  <a:ea typeface="Times New Roman"/>
              </a:rPr>
              <a:t>pursuit of </a:t>
            </a:r>
            <a:r>
              <a:rPr lang="en-US" altLang="ko-KR" dirty="0" smtClean="0" sz="1002" i="1">
                <a:solidFill>
                  <a:srgbClr val="000000"/>
                </a:solidFill>
                <a:latin typeface="Times New Roman"/>
              </a:rPr>
              <a:t>donor-prescribed </a:t>
            </a:r>
            <a:r>
              <a:rPr lang="en-US" altLang="ko-KR" dirty="0" smtClean="0" sz="1002">
                <a:solidFill>
                  <a:srgbClr val="000000"/>
                </a:solidFill>
                <a:latin typeface="Times New Roman"/>
              </a:rPr>
              <a:t>policies politically unviable. </a:t>
            </a:r>
            <a:endParaRPr lang="ko-KR" altLang="en-US" dirty="0" smtClean="0" sz="1002"/>
          </a:p>
          <a:p>
            <a:pPr marL="0" indent="0" defTabSz="15240"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170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Importantly, the countries in which the IFIs got involved, did not have much bargaining power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vis-à-vis the IFIs, because the latter had bailed out these countries (by offering them soft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multilateral loans) out after their debt defaults. As a result, the IFIs were able to determine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pace and direction of macroeconomic policy reform in these countries. For a summary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origins of the IMF and the World Bank and their structure and ownership, please see IFIs.ppt.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Most of the IMF’s stabilisation policies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(and indeed WB’s reform ones) were derived from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neo-classical economics, known since 1990 as the “Washington Consensus”. IMF’s main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stated objective was to ensure both through internal balance (supply=demand, i.e. low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inflation, full employment) and external balance (sustainable BOP and external debt position).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approach was “stabilization” through “demand” management, the three tools of the latter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being: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Tight monetary policy: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“demand reducing”; expected to work via higher interest rates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which reduced private sector consumption and investment demand, suppressed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inflation and boosted domestic savings. High interest rates also caused higher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inflows (lower capital flight) and helped restore external balance via the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account.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Tight fiscal policy: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also “demand reducing”; worked via higher revenues (increased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taxation and broader tax base) and reduced expenditure on subsidies, public sector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corporations etc. There was also reduced demand (including, for imports)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government’s borrowing requirement (boosted the creditworthiness of the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as a borrower making borrowing cheaper).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Devaluation: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produced “demand switching” from imports to home produced tradable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goods. Worked via increased competitiveness, export diversification, reduced need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 subsidies (as exporters became competitive), and increased investor confidence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local currency (preventing dollarisation by people fearing an impending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devaluation).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LICs’ experience with IMF policies has generally not been successful: The above policies have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drawn heavy &amp; wide-ranging criticism. Critics have drawn attention towards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Short-term policy conflicts: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demand management policies compromise internal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balance – esp.  income &amp; employment; lower government expenditure means less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output, jobs. Higher interest rates can lead to corporate bankruptcies, bad debts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sector crises.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Devaluation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can raise prices of imports, including necessities, raw materials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goods. Also, devaluation translates into inflation when there is real wage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resistance; i.e. when a devaluation-induced rise in import prices feeds fully into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domestic price level through wages.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Demand-reduction policies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are anti-growth: increased taxation can stifle the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productive sector, as widening the tax net proves difficult and most of the burden falls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on a few taxpayers; cutting government expenditure can cause reduced public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investment in infrastructure, education and health; higher interest rates can discourage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private investment.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Stabilisation hurts the poor: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expenditure cuts almost always fall partly on the social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sectors most relevant to the poor (health, education, food/fertilizer subsidies etc.). This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can lead to political instability, jeopardize economic stabilization and delay or reverse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“reform”. Esp. difficult for democratic governments to push the harsh stabilization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measures through.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is now recognized that these policy conflicts need to be integrated into the Programme in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advance through the institution of proper safety nets for the poor, and assurances that all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“IMF-induced” aid (or debt relief) is channeled strictly to poverty reduction programmes.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World Bank’s structural reform policies: 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World Bank’s structural reform policies have usually involved the following: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171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Liberalization of prices, removal of subsidies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Deregulation involving dismantling of licensing systems and red-tape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Privatization of state-owned enterprises (SOEs). SOEs were usually considered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inefficient due to political interference, and a lack of competition, cost awareness and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fear of bankruptcy  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Trade liberalization, including tariffication of non-tariff-barriers, harmonization of tariffs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an eventual reduction thereof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FDI liberalization, to create a transparent, predictable environment for foreign investors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operate in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Financial liberalization, involving ending of financial repression policies (artificially low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 rates, credit rationing, restrictions on banking competition) and government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involvement in investment allocation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account liberalization, i.e. removing controls on capital flows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Governance and administrative reforms: reducing waste in, and improving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reliability/quality of, pubic services; strengthening tax administration; fiscal 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decentralization; elimination of corruption; enhancing predictability of legal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regulatory framework; reducing over-employment in public sector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most of the policies prescribed by the World Bank appeared desirable, some of them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came with conditionalities that were perceived as politically sensitive, “patronizing”, and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involving dismantling of strong entrenched interest (like domestic industrialists). Predictably,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therefore, non-compliance was a major feature of such programmes.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Even in cases where the domestic government intended to implement the prescribed reforms,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compliance problems occurred due to poor sequencing and/or bad timing. Example 1: relaxing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capital controls given a poorly regulated domestic financial system exposed countries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increased risk of financial crisis. Examples 2: Trade liberalization (reducing tariffs) or financial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liberalization (raising interest rates) before achieving fiscal consolidation (i.e. rationalization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government expenditures and widening of tax base), caused borrowing costs to balloon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fiscal deficits to widen (Zambia, Zimbabwe, Pakistan).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Insistence on rapid liberalization of all sectors has over-stretched many LICs’ institutional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capacities.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So what are the proposed solutions? 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Some Left-leaning critics totally reject the globalization doctrine and want the free-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market model dumped in favour of a more interventionist set-up. Japan and East Asia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are presented as examples of countries which witnessed tremendous growth despite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having serious market-unfriendly “distortions” in their economies. The argument these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critics present is that, in a second-best world, certain distortions may be desirable.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Many NGOs, and LICs themselves, argue for the reform of the global trading system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open up rich country markets and address commodity price instability.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Right-leaning groups (including the US Treasury and the Republican Party) which wish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see the withdrawal of the IMF from development finance in favour of the World Bank;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they would like to see the IMF focusing only on crisis-prevention and providing short-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term liquidity to countries facing BOPs problems. Many NGOs agree that IMF’s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development finance policies have failed but are unclear on whether or not the IMF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should totally withdraw. They fear that in the absence of alternatives (like grants etc.),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overall aid to LICs may fall.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IMF and World Bank themselves want to improve the quality of conditionalities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reducing their quantity, encourage government participation in policy design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setting of these conditionalities so as to encourage ownership of the Fund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Bank programmes. </a:t>
            </a:r>
            <a:endParaRPr lang="ko-KR" altLang="en-US" dirty="0" smtClean="0" sz="1097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NGOs and rich country government, of late, have stressed the need to integrate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poverty reduction objectives and sustainable development into IMF/World Bank </a:t>
            </a:r>
            <a:endParaRPr lang="ko-KR" altLang="en-US" dirty="0" smtClean="0" sz="1097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172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programmes: Poverty Reduction Strategy Papers have been written in this context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ensure sustainable development with a human face.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•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Rich country governments also emphasize the importance of good governance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public policy, better management of public resources, greater transparency, active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public scrutiny, and generally increased government accountability in fiscal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management. </a:t>
            </a:r>
            <a:endParaRPr lang="ko-KR" altLang="en-US" dirty="0" smtClean="0" sz="1097"/>
          </a:p>
          <a:p>
            <a:pPr marL="0" indent="0" defTabSz="15240" algn="l">
              <a:lnSpc>
                <a:spcPts val="62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173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END OF UNIT 16 – EXERCISES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The Human Development Index is a measure of well-being that is based on three equally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weighted indexes: per capita GDP, educational attainment and life expectancy. Dr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Mahboob-ul-Haque (who also served as Pakistan’s Foreign Minister in the 1980s) was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main force behind this idea. For what reasons are HDI and per-capita GDP rankings likely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diverge?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When the other two elements of HDI – educational attainment and like expectancy – diverge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per capita income in the rank order.  One of the main reasons for this divergence is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inequality.  Thus a country with a high GDP per capita, but which is very unequally distributed,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may have a large proportion of the population which is poor, with relatively little access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education and with a relatively low life expectancy. This is the reason why countries like Qatar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and Saudi Arabia despite being very high on the per cpaital GDP ranking, appear quite low on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HDI ranking list.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a disastrous harvest of rice were confined to a particular country, would (a) the world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price and (b) its own domestic price of rice fluctuate significantly?  What would happen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the country’s export earnings and the earnings of individual farmers?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world price would not rise significantly as a result of its poor harvest.  In the extreme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case of a small country facing a perfectly elastic demand for its rice exports, the world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price would be unaffected by its bad harvest.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If rice were a significant proportion of its total exports, the fall in rice production,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hence sales, would cause the current account to deteriorate and the exchange rate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depreciate (assuming a flexible exchange rate).  This would increase the domestic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currency price of its rice exports.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country’s foreign exchange earnings would fall.  Individual farmers’ earnings would also fall,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unless, the rise in price from the exchange rate depreciation were sufficient to offset the fall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output and sales (which is unlikely, unless rice exports constitute a major portion of total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exports).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is an overvalued exchange rate likely to encourage the use of capital-intensive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technology?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it reduces the price of imported capital equipment (assuming that such equipment has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 or zero tariffs imposed on it).  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the use of import controls (tairffs or quotas) help or hinder a policy of export-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orientated industrialisation?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the early stages of industrialisation they may help a country build up its infant industries –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industries that later could become export orientated.  If protection is maintained for too long, or is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too distorting, however, such industries could well remain inefficient and find it difficult to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compete internationally.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Will the adoption of labour-intensive techniques necessarily lead to a more equal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distribution of income?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Not if the amount of investment varies significantly from one sector of the economy to another.  If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it did, then those working in sectors with new efficient labour-intensive technology would gain,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while the poor, the dispossessed, and those working in old inefficient industries would not.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Income distribution could become less equal.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Consider the arguments from the perspective of an advanced country for and against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protecting its industries from imports of manufactures from lower-income countries. </a:t>
            </a:r>
            <a:endParaRPr lang="ko-KR" altLang="en-US" dirty="0" smtClean="0" sz="1097" b="1"/>
          </a:p>
          <a:p>
            <a:pPr marL="0" indent="0" defTabSz="1524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174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Consumers will lose from such protection, because they will be denied access to lower-income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countries’ products at such low prices.  Workers and employers in the industries threatened by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cheaper imports from lower-income countries will gain from the protection.  Nevertheless there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be a net welfare loss to the country.  A better solution to the problem of those in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industries threatened by the imports might for the government to help in the redeployment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labour.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the difference between mechanical efficiency and economic efficiency?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Mechanical efficiency is where there is a low energy loss from a machine.  For example, if a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machine has an 80 per cent mechanical efficiency, this means for every 100 units of energy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used to power the machine, it produces 80 units of energy output.  In the context of the internal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efficiency of a firm, economic efficiency involves producing a given output with the least costly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combination of factors.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Why may governments of lower income countries be less strict than developed countries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 controlling pollution?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Reasons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Given the much lower average levels of income, there is a higher level of marginal utility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from increased output relative to the marginal pollution costs.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There is often less political pressure on governments to reduce pollution.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Possible greater ignorance of the full extent of the harmful effects of the pollution. </a:t>
            </a:r>
            <a:endParaRPr lang="ko-KR" altLang="en-US" dirty="0" smtClean="0" sz="1097"/>
          </a:p>
          <a:p>
            <a:pPr marL="0" indent="0" defTabSz="15240"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difficulties is a government likely to encounter in encouraging the use of labour-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intensive technology?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Difficulties include: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a. Bias of firms towards using capital-intensive technologies which they see as ‘modern’.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b. Lack of efficient labour-intensive techniques available (due to a lack of research and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development).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c. Multinationals’ preference for using techniques with which they are familiar.  Such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techniques, having been developed in advanced countries, are likely to be capital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intensive.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d. Labour-intensive technology may require a higher level of skills from the operatives.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would be the effect on the levels of migration and urban unemployment of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creation of jobs in the towns?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Urban employment would rise with the additional jobs.  But if each job created in the towns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encourages more than one person to migrate from the countryside, the level of urban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will also increase.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Is there any potential conflict between the goals of maximising economic growth and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maximising either (a) the level of employment or (b) the rate of growth of employment?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Maximising growth may involve using more capital-intensive techniques, because they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create a greater surplus for reinvestment.  But the adoption of more capital-intensive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techniques will reduce the level of employment.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There is less likely to be a conflict here.  If capital-intensive techniques lead to a faster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in output, they will tend to lead to a faster growth in employment, albeit from 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lower level. (This conclusion will not follow, however, if there is a continuous switching to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more capital-intensive techniques as profits are reinvested.) </a:t>
            </a:r>
            <a:endParaRPr lang="ko-KR" altLang="en-US" dirty="0" smtClean="0" sz="1097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175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Picture 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4520" y="3611880"/>
            <a:ext cx="3270250" cy="241109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is the relationship between unemployment and (a) poverty; (b) inequality?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The greater the unemployment, the greater will tend to be the level of poverty, given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most lower-income countries there is little or no state financial support for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unemployed.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The greater the unemployment, the greater will tend to be the level of inequality.  Society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will become increasingly polarised into those with and those without jobs.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there were three techniques available, what would the isoquant look like?  Would it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make any difference to the conclusions of this model?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isoquant would have four straight-line sections.  One vertical; then two downward-sloping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sections, the higher one steeper than the other; then a horizontal section.  This is illustrated in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diagram opposite.  Each of the three ‘corners’ of the isoquant would be at the capital/labour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ratio of one of the three techniques.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An isoquant like this would make no difference to the conclusions of the model.  A capital-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intensity bias could still lead to a more capital-intensive technique being chosen from the three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available, than that warranted by questions of cost alone. </a:t>
            </a:r>
            <a:endParaRPr lang="ko-KR" altLang="en-US" dirty="0" smtClean="0" sz="1097"/>
          </a:p>
          <a:p>
            <a:pPr marL="0" indent="0" defTabSz="15240" algn="l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</a:t>
            </a:r>
            <a:r>
              <a:rPr lang="en-US" altLang="ko-KR" dirty="0" smtClean="0" sz="890" i="1" b="1">
                <a:solidFill>
                  <a:srgbClr val="000000"/>
                </a:solidFill>
                <a:latin typeface="Arial"/>
              </a:rPr>
              <a:t>K</a:t>
            </a:r>
            <a:endParaRPr lang="ko-KR" altLang="en-US" dirty="0" smtClean="0" sz="890" i="1" b="1"/>
          </a:p>
          <a:p>
            <a:pPr marL="0" indent="0" defTabSz="15240" algn="l">
              <a:lnSpc>
                <a:spcPts val="15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890" i="1" b="1">
                <a:solidFill>
                  <a:srgbClr val="000000"/>
                </a:solidFill>
                <a:latin typeface="Arial"/>
              </a:rPr>
              <a:t>L</a:t>
            </a:r>
            <a:endParaRPr lang="ko-KR" altLang="en-US" dirty="0" smtClean="0" sz="890" i="1" b="1"/>
          </a:p>
          <a:p>
            <a:pPr marL="0" indent="0" defTabSz="1524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more jobs were created in the towns, how, in the rural–urban migration model, would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this affect (a) the level of urban unemployment; (b) the rate of urban unemployment?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If more jobs were created in the towns, L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would rise.  This would cause W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ue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to rise. </a:t>
            </a:r>
            <a:endParaRPr lang="ko-KR" altLang="en-US" dirty="0" smtClean="0" sz="1097"/>
          </a:p>
          <a:p>
            <a:pPr marL="0" indent="0" defTabSz="15240" algn="l">
              <a:lnSpc>
                <a:spcPts val="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a) If W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rises, more people will migrate and thus the level of urban unemployment will rise. </a:t>
            </a:r>
            <a:endParaRPr lang="ko-KR" altLang="en-US" dirty="0" smtClean="0" sz="1097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b) If the urban wage (W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), the rural wage (W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r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) and the cost of migration (</a:t>
            </a:r>
            <a:r>
              <a:rPr lang="en-US" altLang="ko-KR" dirty="0" smtClean="0" sz="1097">
                <a:solidFill>
                  <a:srgbClr val="000000"/>
                </a:solidFill>
                <a:latin typeface="Symbol"/>
                <a:ea typeface="Symbol"/>
              </a:rPr>
              <a:t>α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  <a:ea typeface="Arial"/>
              </a:rPr>
              <a:t>) are unaltered,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then migration will take place until W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.L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/L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u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 has returned to its original level, with L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m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/L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70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same as before.  Thus although the level of unemployment has risen, the rate of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unemployment has stayed the same.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common ground is there between structuralist and monetarist explanations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inflation and lack of growth in lower-income countries?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Structuralist economists generally accept that high inflation is accompanied by high rates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growth in the money supply, even though they see monetary growth as a symptom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problem rather than its basic cause.  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Both structuralists and monetarists accept the importance of supply-side policies to relieve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bottlenecks, increase growth and reduce unemployment.  Monetarists, however, generally see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means of achieving this to be a liberating of market forces, whereas structuralists generally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advocate interventionist policies.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176</a:t>
            </a:r>
            <a:endParaRPr lang="ko-KR" altLang="en-US" dirty="0" smtClean="0" sz="1200"/>
          </a:p>
        </p:txBody>
      </p:sp>
      <p:sp>
        <p:nvSpPr>
          <p:cNvPr id="377" name="Rect 3"/>
          <p:cNvSpPr>
            <a:spLocks noGrp="1" noChangeArrowheads="1"/>
          </p:cNvSpPr>
          <p:nvPr/>
        </p:nvSpPr>
        <p:spPr>
          <a:xfrm rot="0">
            <a:off x="1429385" y="6800215"/>
            <a:ext cx="126365" cy="179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6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</a:t>
            </a: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e</a:t>
            </a:r>
            <a:endParaRPr lang="ko-KR" altLang="en-US" dirty="0" smtClean="0" sz="701"/>
          </a:p>
          <a:p>
            <a:pPr marL="0" indent="0" defTabSz="15240" algn="l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701">
                <a:solidFill>
                  <a:srgbClr val="000000"/>
                </a:solidFill>
                <a:latin typeface="Arial"/>
              </a:rPr>
              <a:t>u</a:t>
            </a:r>
            <a:endParaRPr lang="ko-KR" altLang="en-US" dirty="0" smtClean="0" sz="701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One solution proposed to help solve Argentina’s weak financial position is that it should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abandon the peso as its unit of currency and replace it with the US dollar (i.e. “dollarise”).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advantages and drawbacks might such a solution have for the Argentine economy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both in the short and the long term?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advantages are that there would be much greater currency stability and a more stable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macroeconomic environment, with inflation more under control. In the short-term this would help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restore confidence in the economy and encourage people to save. In the longer term it would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encourage inward investment and trade. The disadvantage is that interest rates would be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determined in the USA, and they might not be suitable for the Argentine economy at any given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time: in other words, Argentina would lose control over monetary policy. The arguments here are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similar to those concerning whether the UK should adopt the euro. The main difference is that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UK would have considerable input into eurozone macroeconomic policy, whereas Argentina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have no input into US macroeconomic policy.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What are the relative advantages and disadvantages to a lower-income country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rescheduling its debts compared with simply defaulting on them (either temporarily 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permanently)?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Default is a high-risk strategy.  The benefits are an immediate wiping out of debt.  The potential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costs are great, however.  Its assets in foreign institutions may be confiscated, as too may its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ships and merchandise in transit.  Once having defaulted, it will be virtually impossible to raise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future loans to rebuild the economy.  The threat of default, however, especially if made by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several debtor countries acting together, could force creditor institutions to offer lower interest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rates or more generous rescheduling programmes, or even to write off a certain portion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debt. </a:t>
            </a:r>
            <a:endParaRPr lang="ko-KR" altLang="en-US" dirty="0" smtClean="0" sz="1097"/>
          </a:p>
          <a:p>
            <a:pPr marL="0" indent="0" defTabSz="15240"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If reductions in lower-income countries’ debt are in the environmental interests of the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whole world, then why have developed countries not gone much further in reducing or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cancelling the debts owed to them?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Because it would not be in the private interests of the banks concerned.  Even in the case of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official government loans, individual developed countries may be reluctant to cancel debts on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own, feeling that it is not their specific responsibility.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it be possible to devise a scheme of debt repayments that would both be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acceptable to debtor and creditor countries and not damage the environment?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 longer period to pay would reduce the pressure on lower-income countries to exploit their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environment.  Also direct financial help to lower-income countries to protect the environment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be in the global interest and could also help to reduce lower-income countries’ debt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burden.   </a:t>
            </a:r>
            <a:endParaRPr lang="ko-KR" altLang="en-US" dirty="0" smtClean="0" sz="1097"/>
          </a:p>
          <a:p>
            <a:pPr marL="0" indent="0" defTabSz="15240" algn="l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Would the objections of lower-income countries to debt-equity swaps be largely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overcome if foreign ownership was restricted to less than 50 per cent in any company?  If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such restrictions were imposed, would this be likely to affect the ‘price’ at which debt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were swapped for equity?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To some extent, yes.  Lower-income countries would be able to retain the controlling interest in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their companies within their borders.  There would still be foreign influence in the running of the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companies, however, but this may not be wholly unwelcome with the expertise that advanced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countries can bring.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Restricting ownership to less than 50 per cent would reduce the benefits to the developed-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country banks or companies.  They would therefore be unwilling to pay such a high price for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equity than if they had been able to acquire a controlling share. </a:t>
            </a:r>
            <a:endParaRPr lang="ko-KR" altLang="en-US" dirty="0" smtClean="0" sz="1097"/>
          </a:p>
          <a:p>
            <a:pPr marL="0" indent="0" defTabSz="15240" algn="l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177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ct 3"/>
          <p:cNvSpPr>
            <a:spLocks noGrp="1" noChangeArrowheads="1"/>
          </p:cNvSpPr>
          <p:nvPr/>
        </p:nvSpPr>
        <p:spPr>
          <a:xfrm rot="0">
            <a:off x="0" y="0"/>
            <a:ext cx="7797801" cy="100584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/>
          <a:lstStyle/>
          <a:p>
            <a:pPr marL="0" indent="0" defTabSz="15240"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Introduction to Economics –ECO401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Garamond"/>
                <a:ea typeface="Garamond"/>
              </a:rPr>
              <a:t>VU</a:t>
            </a:r>
            <a:endParaRPr lang="ko-KR" altLang="en-US" dirty="0" smtClean="0" sz="1097" b="1"/>
          </a:p>
          <a:p>
            <a:pPr marL="0" indent="0" defTabSz="15240"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>
              <a:latin typeface="Arial"/>
              <a:ea typeface="Arial"/>
            </a:endParaRPr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Imagine that you are an ambassador of a lower-income country at an international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conference.  What would you try to persuade the rich countries to do in order to help you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and other poor countries overcome the debt problem?  How would you set about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persuading them that it was in their own interests to help you? </a:t>
            </a:r>
            <a:endParaRPr lang="ko-KR" altLang="en-US" dirty="0" smtClean="0" sz="1097" b="1"/>
          </a:p>
          <a:p>
            <a:pPr marL="0" indent="0" defTabSz="15240" algn="l">
              <a:lnSpc>
                <a:spcPts val="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could try to persuade them to reschedule your debts and to grant new loans on more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concessionary terms.  This would be in their interests if it enabled you to give a firmer guarantee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that the loans would be repaid.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might also try to encourage them to sign trade deals with you or companies in your country,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 order to improve your balance of payments.  This would again be in their interests in that it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enable you more easily to service any loans they had made to you.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 might also try to persuade them to reduce interest rates, both to make it easier for your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country to service its debts, and to give a boost to world demand and hence to the demand for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your exports.  You could try to show them that a growing world economy was in everyone’s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interests.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To what extent can international negotiations over economic policy be seen as a game of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strategy?  Are there any parallels between the behaviour of countries and the behaviour </a:t>
            </a:r>
            <a:endParaRPr lang="ko-KR" altLang="en-US" dirty="0" smtClean="0" sz="1097" b="1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 b="1">
                <a:solidFill>
                  <a:srgbClr val="000000"/>
                </a:solidFill>
                <a:latin typeface="Arial"/>
              </a:rPr>
              <a:t>of oligopolists? </a:t>
            </a:r>
            <a:endParaRPr lang="ko-KR" altLang="en-US" dirty="0" smtClean="0" sz="1097" b="1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There is a collective gain to countries from agreement over harmonisation and the greater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international macroeconomic stability that would result.  Each individual country, nevertheless,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would have to agree to take decisions which might be directly against its short-term national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interests.  Each country may therefore be tempted to break the agreement.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Clearly there is a parallel with oligopoly.  Collusion is in the collective interests of oligopolists, but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each will be tempted to cheat.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greater the number of countries/oligopolists in an agreement, and the more divergent their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individual economic circumstances, the greater the likelihood of one country/oligopoly breaking </a:t>
            </a:r>
            <a:endParaRPr lang="ko-KR" altLang="en-US" dirty="0" smtClean="0" sz="1097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the agreement, and the less the commitment, therefore, of countries/oligopolists in general to the </a:t>
            </a:r>
            <a:endParaRPr lang="ko-KR" altLang="en-US" dirty="0" smtClean="0" sz="1097"/>
          </a:p>
          <a:p>
            <a:pPr marL="0" indent="0" defTabSz="15240" algn="l">
              <a:lnSpc>
                <a:spcPts val="1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agreemen </a:t>
            </a:r>
            <a:endParaRPr lang="ko-KR" altLang="en-US" dirty="0" smtClean="0" sz="1097"/>
          </a:p>
          <a:p>
            <a:pPr marL="0" indent="0" defTabSz="1524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Arial"/>
              </a:rPr>
              <a:t>------------------THE END----------------- </a:t>
            </a:r>
            <a:endParaRPr lang="ko-KR" altLang="en-US" dirty="0" smtClean="0" sz="1097"/>
          </a:p>
          <a:p>
            <a:pPr marL="0" indent="0" defTabSz="15240" algn="l">
              <a:lnSpc>
                <a:spcPts val="318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ko-KR" altLang="en-US" dirty="0" smtClean="0" sz="950"/>
          </a:p>
          <a:p>
            <a:pPr marL="0" indent="0" defTabSz="1524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 smtClean="0" sz="950">
                <a:solidFill>
                  <a:srgbClr val="000000"/>
                </a:solidFill>
                <a:latin typeface="Arial"/>
              </a:rPr>
              <a:t>																																																																																																																																																												</a:t>
            </a:r>
            <a:r>
              <a:rPr lang="en-US" altLang="ko-KR" dirty="0" smtClean="0" sz="1097">
                <a:solidFill>
                  <a:srgbClr val="000000"/>
                </a:solidFill>
                <a:latin typeface="Garamond"/>
                <a:ea typeface="Garamond"/>
              </a:rPr>
              <a:t>© Copyright Virtual University of Pakistan </a:t>
            </a:r>
            <a:r>
              <a:rPr lang="en-US" altLang="ko-KR" dirty="0" smtClean="0" sz="950">
                <a:solidFill>
                  <a:srgbClr val="000000"/>
                </a:solidFill>
                <a:latin typeface="Arial"/>
                <a:ea typeface="Arial"/>
              </a:rPr>
              <a:t>																																																																																																										</a:t>
            </a:r>
            <a:r>
              <a:rPr lang="en-US" altLang="ko-KR" dirty="0" smtClean="0" sz="1200">
                <a:solidFill>
                  <a:srgbClr val="000000"/>
                </a:solidFill>
                <a:latin typeface="Times New Roman"/>
                <a:ea typeface="Times New Roman"/>
              </a:rPr>
              <a:t>178</a:t>
            </a:r>
            <a:endParaRPr lang="ko-KR" altLang="en-US" dirty="0" smtClean="0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Oox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ulim"/>
        <a:ea typeface=""/>
        <a:cs typeface=""/>
        <a:font script="Jpan" typeface="MS PGothic"/>
        <a:font script="Hang" typeface="Gulim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PDF Converter</Application>
  <PresentationFormat>On-screen Show</PresentationFormat>
  <Paragraphs>0</Paragraphs>
  <Slides>1</Slides>
  <Notes>0</Notes>
  <HiddenSlides>0</HiddenSlides>
  <MMClips>0</MMClips>
  <HeadingPairs>
    <vt:vector size="4" baseType="variant">
      <vt:variant>
        <vt:lpstr>Theme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Title text</vt:lpstr>
    </vt:vector>
  </TitlesOfParts>
  <Company>PDFConverter, Inc.</Company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modified xsi:type="dcterms:W3CDTF">2010-06-24T10:54:49Z</dcterms:modified>
</cp:coreProperties>
</file>