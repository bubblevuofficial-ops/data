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jpg" ContentType="image/jpg"/>
  <Override PartName="/ppt/slides/slide2.xml" ContentType="application/vnd.openxmlformats-officedocument.presentationml.slide+xml"/>
  <Default Extension="png" ContentType="image/png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</p:sldIdLst>
  <p:sldSz cx="7772400" cy="1005840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Relationship Id="rId50" Type="http://schemas.openxmlformats.org/officeDocument/2006/relationships/slide" Target="slides/slide45.xml"/><Relationship Id="rId51" Type="http://schemas.openxmlformats.org/officeDocument/2006/relationships/slide" Target="slides/slide46.xml"/><Relationship Id="rId52" Type="http://schemas.openxmlformats.org/officeDocument/2006/relationships/slide" Target="slides/slide47.xml"/><Relationship Id="rId53" Type="http://schemas.openxmlformats.org/officeDocument/2006/relationships/slide" Target="slides/slide48.xml"/><Relationship Id="rId54" Type="http://schemas.openxmlformats.org/officeDocument/2006/relationships/slide" Target="slides/slide49.xml"/><Relationship Id="rId55" Type="http://schemas.openxmlformats.org/officeDocument/2006/relationships/slide" Target="slides/slide50.xml"/><Relationship Id="rId56" Type="http://schemas.openxmlformats.org/officeDocument/2006/relationships/slide" Target="slides/slide51.xml"/><Relationship Id="rId57" Type="http://schemas.openxmlformats.org/officeDocument/2006/relationships/slide" Target="slides/slide52.xml"/><Relationship Id="rId58" Type="http://schemas.openxmlformats.org/officeDocument/2006/relationships/slide" Target="slides/slide53.xml"/><Relationship Id="rId59" Type="http://schemas.openxmlformats.org/officeDocument/2006/relationships/slide" Target="slides/slide54.xml"/><Relationship Id="rId60" Type="http://schemas.openxmlformats.org/officeDocument/2006/relationships/slide" Target="slides/slide55.xml"/><Relationship Id="rId61" Type="http://schemas.openxmlformats.org/officeDocument/2006/relationships/slide" Target="slides/slide56.xml"/><Relationship Id="rId62" Type="http://schemas.openxmlformats.org/officeDocument/2006/relationships/slide" Target="slides/slide57.xml"/><Relationship Id="rId63" Type="http://schemas.openxmlformats.org/officeDocument/2006/relationships/slide" Target="slides/slide58.xml"/><Relationship Id="rId64" Type="http://schemas.openxmlformats.org/officeDocument/2006/relationships/slide" Target="slides/slide59.xml"/><Relationship Id="rId65" Type="http://schemas.openxmlformats.org/officeDocument/2006/relationships/slide" Target="slides/slide60.xml"/><Relationship Id="rId66" Type="http://schemas.openxmlformats.org/officeDocument/2006/relationships/slide" Target="slides/slide61.xml"/><Relationship Id="rId67" Type="http://schemas.openxmlformats.org/officeDocument/2006/relationships/slide" Target="slides/slide62.xml"/><Relationship Id="rId68" Type="http://schemas.openxmlformats.org/officeDocument/2006/relationships/slide" Target="slides/slide63.xml"/><Relationship Id="rId69" Type="http://schemas.openxmlformats.org/officeDocument/2006/relationships/slide" Target="slides/slide64.xml"/><Relationship Id="rId70" Type="http://schemas.openxmlformats.org/officeDocument/2006/relationships/slide" Target="slides/slide65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82930" y="3118104"/>
            <a:ext cx="6606540" cy="21122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65860" y="5632704"/>
            <a:ext cx="5440680" cy="2514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388620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002786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8620" y="402336"/>
            <a:ext cx="6995160" cy="16093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88620" y="2313432"/>
            <a:ext cx="6995160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2642616" y="9354312"/>
            <a:ext cx="2487168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388620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5596128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11.png"/><Relationship Id="rId9" Type="http://schemas.openxmlformats.org/officeDocument/2006/relationships/image" Target="../media/image12.png"/><Relationship Id="rId10" Type="http://schemas.openxmlformats.org/officeDocument/2006/relationships/image" Target="../media/image13.png"/><Relationship Id="rId11" Type="http://schemas.openxmlformats.org/officeDocument/2006/relationships/image" Target="../media/image14.png"/><Relationship Id="rId12" Type="http://schemas.openxmlformats.org/officeDocument/2006/relationships/image" Target="../media/image15.png"/><Relationship Id="rId13" Type="http://schemas.openxmlformats.org/officeDocument/2006/relationships/image" Target="../media/image16.png"/><Relationship Id="rId14" Type="http://schemas.openxmlformats.org/officeDocument/2006/relationships/image" Target="../media/image17.png"/><Relationship Id="rId15" Type="http://schemas.openxmlformats.org/officeDocument/2006/relationships/image" Target="../media/image18.png"/><Relationship Id="rId16" Type="http://schemas.openxmlformats.org/officeDocument/2006/relationships/image" Target="../media/image19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0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1.jp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2.pn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Relationship Id="rId4" Type="http://schemas.openxmlformats.org/officeDocument/2006/relationships/image" Target="../media/image25.pn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6.png"/><Relationship Id="rId3" Type="http://schemas.openxmlformats.org/officeDocument/2006/relationships/image" Target="../media/image27.png"/><Relationship Id="rId4" Type="http://schemas.openxmlformats.org/officeDocument/2006/relationships/image" Target="../media/image28.png"/><Relationship Id="rId5" Type="http://schemas.openxmlformats.org/officeDocument/2006/relationships/image" Target="../media/image29.png"/><Relationship Id="rId6" Type="http://schemas.openxmlformats.org/officeDocument/2006/relationships/image" Target="../media/image30.png"/><Relationship Id="rId7" Type="http://schemas.openxmlformats.org/officeDocument/2006/relationships/image" Target="../media/image31.png"/><Relationship Id="rId8" Type="http://schemas.openxmlformats.org/officeDocument/2006/relationships/image" Target="../media/image32.png"/><Relationship Id="rId9" Type="http://schemas.openxmlformats.org/officeDocument/2006/relationships/image" Target="../media/image33.png"/><Relationship Id="rId10" Type="http://schemas.openxmlformats.org/officeDocument/2006/relationships/image" Target="../media/image34.png"/><Relationship Id="rId11" Type="http://schemas.openxmlformats.org/officeDocument/2006/relationships/image" Target="../media/image35.png"/><Relationship Id="rId12" Type="http://schemas.openxmlformats.org/officeDocument/2006/relationships/image" Target="../media/image36.png"/><Relationship Id="rId13" Type="http://schemas.openxmlformats.org/officeDocument/2006/relationships/image" Target="../media/image37.png"/><Relationship Id="rId14" Type="http://schemas.openxmlformats.org/officeDocument/2006/relationships/image" Target="../media/image38.pn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9.jpg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0.png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1.png"/><Relationship Id="rId3" Type="http://schemas.openxmlformats.org/officeDocument/2006/relationships/image" Target="../media/image42.png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3.png"/></Relationships>
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4.png"/></Relationships>
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4.png"/><Relationship Id="rId3" Type="http://schemas.openxmlformats.org/officeDocument/2006/relationships/image" Target="../media/image45.png"/></Relationships>
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6.png"/></Relationships>
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7.png"/><Relationship Id="rId3" Type="http://schemas.openxmlformats.org/officeDocument/2006/relationships/image" Target="../media/image48.png"/><Relationship Id="rId4" Type="http://schemas.openxmlformats.org/officeDocument/2006/relationships/image" Target="../media/image49.jpg"/></Relationships>
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0.png"/><Relationship Id="rId3" Type="http://schemas.openxmlformats.org/officeDocument/2006/relationships/image" Target="../media/image51.png"/></Relationships>
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2.png"/></Relationships>
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3.png"/></Relationships>
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4.png"/><Relationship Id="rId3" Type="http://schemas.openxmlformats.org/officeDocument/2006/relationships/image" Target="../media/image55.png"/></Relationships>
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6.png"/><Relationship Id="rId3" Type="http://schemas.openxmlformats.org/officeDocument/2006/relationships/image" Target="../media/image57.png"/><Relationship Id="rId4" Type="http://schemas.openxmlformats.org/officeDocument/2006/relationships/image" Target="../media/image58.png"/></Relationships>
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9.png"/><Relationship Id="rId3" Type="http://schemas.openxmlformats.org/officeDocument/2006/relationships/image" Target="../media/image60.png"/></Relationships>
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1.png"/><Relationship Id="rId3" Type="http://schemas.openxmlformats.org/officeDocument/2006/relationships/image" Target="../media/image62.png"/><Relationship Id="rId4" Type="http://schemas.openxmlformats.org/officeDocument/2006/relationships/image" Target="../media/image63.png"/><Relationship Id="rId5" Type="http://schemas.openxmlformats.org/officeDocument/2006/relationships/image" Target="../media/image64.png"/><Relationship Id="rId6" Type="http://schemas.openxmlformats.org/officeDocument/2006/relationships/image" Target="../media/image65.png"/><Relationship Id="rId7" Type="http://schemas.openxmlformats.org/officeDocument/2006/relationships/image" Target="../media/image66.png"/></Relationships>
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7.png"/><Relationship Id="rId3" Type="http://schemas.openxmlformats.org/officeDocument/2006/relationships/image" Target="../media/image68.png"/><Relationship Id="rId4" Type="http://schemas.openxmlformats.org/officeDocument/2006/relationships/image" Target="../media/image69.png"/><Relationship Id="rId5" Type="http://schemas.openxmlformats.org/officeDocument/2006/relationships/image" Target="../media/image70.png"/><Relationship Id="rId6" Type="http://schemas.openxmlformats.org/officeDocument/2006/relationships/image" Target="../media/image71.png"/><Relationship Id="rId7" Type="http://schemas.openxmlformats.org/officeDocument/2006/relationships/image" Target="../media/image72.png"/><Relationship Id="rId8" Type="http://schemas.openxmlformats.org/officeDocument/2006/relationships/image" Target="../media/image73.png"/><Relationship Id="rId9" Type="http://schemas.openxmlformats.org/officeDocument/2006/relationships/image" Target="../media/image74.png"/><Relationship Id="rId10" Type="http://schemas.openxmlformats.org/officeDocument/2006/relationships/image" Target="../media/image75.png"/></Relationships>

</file>

<file path=ppt/slides/_rels/slide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3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3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3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6.png"/></Relationships>

</file>

<file path=ppt/slides/_rels/slide3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7.png"/></Relationships>

</file>

<file path=ppt/slides/_rels/slide3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8.png"/></Relationships>

</file>

<file path=ppt/slides/_rels/slide3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4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4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4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4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4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4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4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4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4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4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9.jpg"/></Relationships>

</file>

<file path=ppt/slides/_rels/slide5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5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0.png"/></Relationships>

</file>

<file path=ppt/slides/_rels/slide5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5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5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1.png"/></Relationships>

</file>

<file path=ppt/slides/_rels/slide5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2.png"/></Relationships>

</file>

<file path=ppt/slides/_rels/slide5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3.jpg"/><Relationship Id="rId3" Type="http://schemas.openxmlformats.org/officeDocument/2006/relationships/image" Target="../media/image84.png"/></Relationships>

</file>

<file path=ppt/slides/_rels/slide5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5.jpg"/></Relationships>

</file>

<file path=ppt/slides/_rels/slide5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6.png"/></Relationships>

</file>

<file path=ppt/slides/_rels/slide5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7.png"/></Relationships>

</file>

<file path=ppt/slides/_rels/slide6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6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8.png"/></Relationships>

</file>

<file path=ppt/slides/_rels/slide6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6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6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6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hyperlink" Target="https://www.scribd.com/doc/11934168/SRS-of-ATM" TargetMode="Externa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889507"/>
            <a:ext cx="5964555" cy="23285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2540">
              <a:lnSpc>
                <a:spcPct val="100000"/>
              </a:lnSpc>
              <a:spcBef>
                <a:spcPts val="100"/>
              </a:spcBef>
            </a:pPr>
            <a:r>
              <a:rPr dirty="0" sz="1200" spc="-5" b="1">
                <a:latin typeface="Times New Roman"/>
                <a:cs typeface="Times New Roman"/>
              </a:rPr>
              <a:t>HANDOUTS</a:t>
            </a:r>
            <a:r>
              <a:rPr dirty="0" sz="1200" spc="-15" b="1">
                <a:latin typeface="Times New Roman"/>
                <a:cs typeface="Times New Roman"/>
              </a:rPr>
              <a:t> </a:t>
            </a:r>
            <a:r>
              <a:rPr dirty="0" sz="1200" spc="-5" b="1">
                <a:latin typeface="Times New Roman"/>
                <a:cs typeface="Times New Roman"/>
              </a:rPr>
              <a:t>(MID</a:t>
            </a:r>
            <a:r>
              <a:rPr dirty="0" sz="1200" spc="-15" b="1">
                <a:latin typeface="Times New Roman"/>
                <a:cs typeface="Times New Roman"/>
              </a:rPr>
              <a:t> </a:t>
            </a:r>
            <a:r>
              <a:rPr dirty="0" sz="1200" spc="-5" b="1">
                <a:latin typeface="Times New Roman"/>
                <a:cs typeface="Times New Roman"/>
              </a:rPr>
              <a:t>TERM)</a:t>
            </a:r>
            <a:endParaRPr sz="1200">
              <a:latin typeface="Times New Roman"/>
              <a:cs typeface="Times New Roman"/>
            </a:endParaRPr>
          </a:p>
          <a:p>
            <a:pPr algn="ctr" marL="3810">
              <a:lnSpc>
                <a:spcPct val="100000"/>
              </a:lnSpc>
              <a:spcBef>
                <a:spcPts val="855"/>
              </a:spcBef>
            </a:pPr>
            <a:r>
              <a:rPr dirty="0" sz="1200" b="1">
                <a:latin typeface="Times New Roman"/>
                <a:cs typeface="Times New Roman"/>
              </a:rPr>
              <a:t>WEEK</a:t>
            </a:r>
            <a:r>
              <a:rPr dirty="0" sz="1200" spc="-50" b="1">
                <a:latin typeface="Times New Roman"/>
                <a:cs typeface="Times New Roman"/>
              </a:rPr>
              <a:t> </a:t>
            </a:r>
            <a:r>
              <a:rPr dirty="0" sz="1200" spc="-5" b="1">
                <a:latin typeface="Times New Roman"/>
                <a:cs typeface="Times New Roman"/>
              </a:rPr>
              <a:t>1-8</a:t>
            </a:r>
            <a:endParaRPr sz="1200">
              <a:latin typeface="Times New Roman"/>
              <a:cs typeface="Times New Roman"/>
            </a:endParaRPr>
          </a:p>
          <a:p>
            <a:pPr algn="ctr" marL="3175">
              <a:lnSpc>
                <a:spcPct val="100000"/>
              </a:lnSpc>
              <a:spcBef>
                <a:spcPts val="850"/>
              </a:spcBef>
            </a:pPr>
            <a:r>
              <a:rPr dirty="0" sz="1200" spc="-5" b="1">
                <a:latin typeface="Times New Roman"/>
                <a:cs typeface="Times New Roman"/>
              </a:rPr>
              <a:t>Prepared</a:t>
            </a:r>
            <a:r>
              <a:rPr dirty="0" sz="1200" spc="-20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By</a:t>
            </a:r>
            <a:r>
              <a:rPr dirty="0" sz="1200" spc="-15" b="1">
                <a:latin typeface="Times New Roman"/>
                <a:cs typeface="Times New Roman"/>
              </a:rPr>
              <a:t> </a:t>
            </a:r>
            <a:r>
              <a:rPr dirty="0" sz="1200" spc="-5" b="1">
                <a:latin typeface="Times New Roman"/>
                <a:cs typeface="Times New Roman"/>
              </a:rPr>
              <a:t>VURANK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3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35"/>
              </a:spcBef>
            </a:pPr>
            <a:r>
              <a:rPr dirty="0" sz="1200" spc="-5" b="1">
                <a:latin typeface="Times New Roman"/>
                <a:cs typeface="Times New Roman"/>
              </a:rPr>
              <a:t>Introduction </a:t>
            </a:r>
            <a:r>
              <a:rPr dirty="0" sz="1200" b="1">
                <a:latin typeface="Times New Roman"/>
                <a:cs typeface="Times New Roman"/>
              </a:rPr>
              <a:t>to</a:t>
            </a:r>
            <a:r>
              <a:rPr dirty="0" sz="1200" spc="-5" b="1">
                <a:latin typeface="Times New Roman"/>
                <a:cs typeface="Times New Roman"/>
              </a:rPr>
              <a:t> the</a:t>
            </a:r>
            <a:r>
              <a:rPr dirty="0" sz="1200" spc="-10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Discipline</a:t>
            </a:r>
            <a:r>
              <a:rPr dirty="0" sz="1200" spc="-10" b="1">
                <a:latin typeface="Times New Roman"/>
                <a:cs typeface="Times New Roman"/>
              </a:rPr>
              <a:t> of</a:t>
            </a:r>
            <a:r>
              <a:rPr dirty="0" sz="1200" b="1">
                <a:latin typeface="Times New Roman"/>
                <a:cs typeface="Times New Roman"/>
              </a:rPr>
              <a:t> Design:</a:t>
            </a:r>
            <a:endParaRPr sz="12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825"/>
              </a:spcBef>
              <a:buFont typeface="Microsoft Sans Serif"/>
              <a:buChar char=""/>
              <a:tabLst>
                <a:tab pos="469265" algn="l"/>
                <a:tab pos="469900" algn="l"/>
              </a:tabLst>
            </a:pPr>
            <a:r>
              <a:rPr dirty="0" sz="1200">
                <a:latin typeface="Times New Roman"/>
                <a:cs typeface="Times New Roman"/>
              </a:rPr>
              <a:t>We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live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in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designed</a:t>
            </a:r>
            <a:r>
              <a:rPr dirty="0" sz="1200">
                <a:latin typeface="Times New Roman"/>
                <a:cs typeface="Times New Roman"/>
              </a:rPr>
              <a:t> world.</a:t>
            </a:r>
            <a:endParaRPr sz="12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855"/>
              </a:spcBef>
              <a:buFont typeface="Microsoft Sans Serif"/>
              <a:buChar char=""/>
              <a:tabLst>
                <a:tab pos="469265" algn="l"/>
                <a:tab pos="469900" algn="l"/>
              </a:tabLst>
            </a:pPr>
            <a:r>
              <a:rPr dirty="0" sz="1200" spc="-5">
                <a:latin typeface="Times New Roman"/>
                <a:cs typeface="Times New Roman"/>
              </a:rPr>
              <a:t>Design is </a:t>
            </a:r>
            <a:r>
              <a:rPr dirty="0" sz="1200">
                <a:latin typeface="Times New Roman"/>
                <a:cs typeface="Times New Roman"/>
              </a:rPr>
              <a:t>economically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important</a:t>
            </a:r>
            <a:r>
              <a:rPr dirty="0" sz="1200" spc="-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 </a:t>
            </a:r>
            <a:r>
              <a:rPr dirty="0" sz="1200" spc="-5">
                <a:latin typeface="Times New Roman"/>
                <a:cs typeface="Times New Roman"/>
              </a:rPr>
              <a:t>effects </a:t>
            </a:r>
            <a:r>
              <a:rPr dirty="0" sz="1200">
                <a:latin typeface="Times New Roman"/>
                <a:cs typeface="Times New Roman"/>
              </a:rPr>
              <a:t>our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quality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of</a:t>
            </a:r>
            <a:r>
              <a:rPr dirty="0" sz="1200" spc="-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life</a:t>
            </a:r>
            <a:endParaRPr sz="1200">
              <a:latin typeface="Times New Roman"/>
              <a:cs typeface="Times New Roman"/>
            </a:endParaRPr>
          </a:p>
          <a:p>
            <a:pPr marL="469265" marR="5080" indent="-228600">
              <a:lnSpc>
                <a:spcPct val="102499"/>
              </a:lnSpc>
              <a:spcBef>
                <a:spcPts val="825"/>
              </a:spcBef>
              <a:buFont typeface="Microsoft Sans Serif"/>
              <a:buChar char=""/>
              <a:tabLst>
                <a:tab pos="469265" algn="l"/>
                <a:tab pos="469900" algn="l"/>
              </a:tabLst>
            </a:pPr>
            <a:r>
              <a:rPr dirty="0" sz="1200">
                <a:latin typeface="Times New Roman"/>
                <a:cs typeface="Times New Roman"/>
              </a:rPr>
              <a:t>Any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product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that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is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an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aggregate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of </a:t>
            </a:r>
            <a:r>
              <a:rPr dirty="0" sz="1200" spc="-5">
                <a:latin typeface="Times New Roman"/>
                <a:cs typeface="Times New Roman"/>
              </a:rPr>
              <a:t>more</a:t>
            </a:r>
            <a:r>
              <a:rPr dirty="0" sz="1200">
                <a:latin typeface="Times New Roman"/>
                <a:cs typeface="Times New Roman"/>
              </a:rPr>
              <a:t> primitive</a:t>
            </a:r>
            <a:r>
              <a:rPr dirty="0" sz="1200" spc="-5">
                <a:latin typeface="Times New Roman"/>
                <a:cs typeface="Times New Roman"/>
              </a:rPr>
              <a:t> elements,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can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benefit from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</a:t>
            </a:r>
            <a:r>
              <a:rPr dirty="0" sz="1200" spc="-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activity </a:t>
            </a:r>
            <a:r>
              <a:rPr dirty="0" sz="1200" spc="-28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of</a:t>
            </a:r>
            <a:r>
              <a:rPr dirty="0" sz="1200" spc="-5">
                <a:latin typeface="Times New Roman"/>
                <a:cs typeface="Times New Roman"/>
              </a:rPr>
              <a:t> design.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2004" y="5593460"/>
            <a:ext cx="5906135" cy="3291840"/>
          </a:xfrm>
          <a:prstGeom prst="rect">
            <a:avLst/>
          </a:prstGeom>
        </p:spPr>
        <p:txBody>
          <a:bodyPr wrap="square" lIns="0" tIns="1174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25"/>
              </a:spcBef>
            </a:pPr>
            <a:r>
              <a:rPr dirty="0" sz="1200" spc="-5" b="1">
                <a:latin typeface="Times New Roman"/>
                <a:cs typeface="Times New Roman"/>
              </a:rPr>
              <a:t>Software</a:t>
            </a:r>
            <a:r>
              <a:rPr dirty="0" sz="1200" spc="-25" b="1">
                <a:latin typeface="Times New Roman"/>
                <a:cs typeface="Times New Roman"/>
              </a:rPr>
              <a:t> </a:t>
            </a:r>
            <a:r>
              <a:rPr dirty="0" sz="1200" spc="-5" b="1">
                <a:latin typeface="Times New Roman"/>
                <a:cs typeface="Times New Roman"/>
              </a:rPr>
              <a:t>Products:</a:t>
            </a:r>
            <a:endParaRPr sz="12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830"/>
              </a:spcBef>
              <a:buFont typeface="Microsoft Sans Serif"/>
              <a:buChar char=""/>
              <a:tabLst>
                <a:tab pos="469265" algn="l"/>
                <a:tab pos="469900" algn="l"/>
              </a:tabLst>
            </a:pPr>
            <a:r>
              <a:rPr dirty="0" sz="1200" spc="-5" b="1">
                <a:latin typeface="Times New Roman"/>
                <a:cs typeface="Times New Roman"/>
              </a:rPr>
              <a:t>Software</a:t>
            </a:r>
            <a:r>
              <a:rPr dirty="0" sz="1200" b="1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is</a:t>
            </a:r>
            <a:r>
              <a:rPr dirty="0" sz="1200" spc="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any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executable</a:t>
            </a:r>
            <a:r>
              <a:rPr dirty="0" sz="1200" spc="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entity,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such</a:t>
            </a:r>
            <a:r>
              <a:rPr dirty="0" sz="1200" spc="2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as</a:t>
            </a:r>
            <a:r>
              <a:rPr dirty="0" sz="1200" spc="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 </a:t>
            </a:r>
            <a:r>
              <a:rPr dirty="0" sz="1200" spc="-5">
                <a:latin typeface="Times New Roman"/>
                <a:cs typeface="Times New Roman"/>
              </a:rPr>
              <a:t>program,</a:t>
            </a:r>
            <a:r>
              <a:rPr dirty="0" sz="1200" spc="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or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its</a:t>
            </a:r>
            <a:r>
              <a:rPr dirty="0" sz="1200" spc="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parts,</a:t>
            </a:r>
            <a:r>
              <a:rPr dirty="0" sz="1200" spc="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such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as</a:t>
            </a:r>
            <a:r>
              <a:rPr dirty="0" sz="1200" spc="2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sub-programs.</a:t>
            </a:r>
            <a:endParaRPr sz="1200">
              <a:latin typeface="Times New Roman"/>
              <a:cs typeface="Times New Roman"/>
            </a:endParaRPr>
          </a:p>
          <a:p>
            <a:pPr marL="469265" marR="5080" indent="-228600">
              <a:lnSpc>
                <a:spcPct val="102899"/>
              </a:lnSpc>
              <a:spcBef>
                <a:spcPts val="819"/>
              </a:spcBef>
              <a:buFont typeface="Microsoft Sans Serif"/>
              <a:buChar char=""/>
              <a:tabLst>
                <a:tab pos="469265" algn="l"/>
                <a:tab pos="469900" algn="l"/>
              </a:tabLst>
            </a:pPr>
            <a:r>
              <a:rPr dirty="0" sz="1200" spc="-5">
                <a:latin typeface="Times New Roman"/>
                <a:cs typeface="Times New Roman"/>
              </a:rPr>
              <a:t>A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software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product</a:t>
            </a:r>
            <a:r>
              <a:rPr dirty="0" sz="1200" spc="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is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an</a:t>
            </a:r>
            <a:r>
              <a:rPr dirty="0" sz="1200" spc="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entity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comprised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of</a:t>
            </a:r>
            <a:r>
              <a:rPr dirty="0" sz="1200" spc="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one</a:t>
            </a:r>
            <a:r>
              <a:rPr dirty="0" sz="1200" spc="-5">
                <a:latin typeface="Times New Roman"/>
                <a:cs typeface="Times New Roman"/>
              </a:rPr>
              <a:t> </a:t>
            </a:r>
            <a:r>
              <a:rPr dirty="0" sz="1200" spc="5">
                <a:latin typeface="Times New Roman"/>
                <a:cs typeface="Times New Roman"/>
              </a:rPr>
              <a:t>or </a:t>
            </a:r>
            <a:r>
              <a:rPr dirty="0" sz="1200" spc="-5">
                <a:latin typeface="Times New Roman"/>
                <a:cs typeface="Times New Roman"/>
              </a:rPr>
              <a:t>more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programs,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data,</a:t>
            </a:r>
            <a:r>
              <a:rPr dirty="0" sz="1200" spc="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supporting </a:t>
            </a:r>
            <a:r>
              <a:rPr dirty="0" sz="1200" spc="-28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materials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services</a:t>
            </a:r>
            <a:r>
              <a:rPr dirty="0" sz="1200" spc="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that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satisfies</a:t>
            </a:r>
            <a:r>
              <a:rPr dirty="0" sz="1200" spc="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client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needs</a:t>
            </a:r>
            <a:r>
              <a:rPr dirty="0" sz="1200" spc="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desires</a:t>
            </a:r>
            <a:r>
              <a:rPr dirty="0" sz="1200" spc="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either</a:t>
            </a:r>
            <a:r>
              <a:rPr dirty="0" sz="1200" spc="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as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an</a:t>
            </a:r>
            <a:r>
              <a:rPr dirty="0" sz="1200" spc="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independent 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artifact</a:t>
            </a:r>
            <a:r>
              <a:rPr dirty="0" sz="1200">
                <a:latin typeface="Times New Roman"/>
                <a:cs typeface="Times New Roman"/>
              </a:rPr>
              <a:t> or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as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essential</a:t>
            </a:r>
            <a:r>
              <a:rPr dirty="0" sz="1200">
                <a:latin typeface="Times New Roman"/>
                <a:cs typeface="Times New Roman"/>
              </a:rPr>
              <a:t> ingredient in some </a:t>
            </a:r>
            <a:r>
              <a:rPr dirty="0" sz="1200" spc="-5">
                <a:latin typeface="Times New Roman"/>
                <a:cs typeface="Times New Roman"/>
              </a:rPr>
              <a:t>other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artifact.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buFont typeface="Microsoft Sans Serif"/>
              <a:buChar char=""/>
            </a:pPr>
            <a:endParaRPr sz="1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Microsoft Sans Serif"/>
              <a:buChar char=""/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200" spc="-5" b="1">
                <a:latin typeface="Times New Roman"/>
                <a:cs typeface="Times New Roman"/>
              </a:rPr>
              <a:t>What Is Software</a:t>
            </a:r>
            <a:r>
              <a:rPr dirty="0" sz="1200" spc="-10" b="1">
                <a:latin typeface="Times New Roman"/>
                <a:cs typeface="Times New Roman"/>
              </a:rPr>
              <a:t> </a:t>
            </a:r>
            <a:r>
              <a:rPr dirty="0" sz="1200" spc="-5" b="1">
                <a:latin typeface="Times New Roman"/>
                <a:cs typeface="Times New Roman"/>
              </a:rPr>
              <a:t>Design?</a:t>
            </a:r>
            <a:endParaRPr sz="1200">
              <a:latin typeface="Times New Roman"/>
              <a:cs typeface="Times New Roman"/>
            </a:endParaRPr>
          </a:p>
          <a:p>
            <a:pPr marL="469265" marR="281940" indent="-228600">
              <a:lnSpc>
                <a:spcPct val="102499"/>
              </a:lnSpc>
              <a:spcBef>
                <a:spcPts val="805"/>
              </a:spcBef>
              <a:buFont typeface="Microsoft Sans Serif"/>
              <a:buChar char=""/>
              <a:tabLst>
                <a:tab pos="469265" algn="l"/>
                <a:tab pos="469900" algn="l"/>
              </a:tabLst>
            </a:pPr>
            <a:r>
              <a:rPr dirty="0" sz="1200" spc="-5">
                <a:latin typeface="Times New Roman"/>
                <a:cs typeface="Times New Roman"/>
              </a:rPr>
              <a:t>Software design</a:t>
            </a:r>
            <a:r>
              <a:rPr dirty="0" sz="1200" spc="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is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activity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of</a:t>
            </a:r>
            <a:r>
              <a:rPr dirty="0" sz="1200" spc="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specifying</a:t>
            </a:r>
            <a:r>
              <a:rPr dirty="0" sz="1200" spc="-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mature </a:t>
            </a:r>
            <a:r>
              <a:rPr dirty="0" sz="1200" spc="-5">
                <a:latin typeface="Times New Roman"/>
                <a:cs typeface="Times New Roman"/>
              </a:rPr>
              <a:t>and</a:t>
            </a:r>
            <a:r>
              <a:rPr dirty="0" sz="1200" spc="2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composition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of</a:t>
            </a:r>
            <a:r>
              <a:rPr dirty="0" sz="1200" spc="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software </a:t>
            </a:r>
            <a:r>
              <a:rPr dirty="0" sz="1200" spc="-28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products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that</a:t>
            </a:r>
            <a:r>
              <a:rPr dirty="0" sz="1200">
                <a:latin typeface="Times New Roman"/>
                <a:cs typeface="Times New Roman"/>
              </a:rPr>
              <a:t> satisfy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client </a:t>
            </a:r>
            <a:r>
              <a:rPr dirty="0" sz="1200" spc="-5">
                <a:latin typeface="Times New Roman"/>
                <a:cs typeface="Times New Roman"/>
              </a:rPr>
              <a:t>needs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and</a:t>
            </a:r>
            <a:r>
              <a:rPr dirty="0" sz="1200">
                <a:latin typeface="Times New Roman"/>
                <a:cs typeface="Times New Roman"/>
              </a:rPr>
              <a:t> desire, </a:t>
            </a:r>
            <a:r>
              <a:rPr dirty="0" sz="1200" spc="-5">
                <a:latin typeface="Times New Roman"/>
                <a:cs typeface="Times New Roman"/>
              </a:rPr>
              <a:t>subject</a:t>
            </a:r>
            <a:r>
              <a:rPr dirty="0" sz="1200">
                <a:latin typeface="Times New Roman"/>
                <a:cs typeface="Times New Roman"/>
              </a:rPr>
              <a:t> to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constraints.</a:t>
            </a:r>
            <a:endParaRPr sz="1200">
              <a:latin typeface="Times New Roman"/>
              <a:cs typeface="Times New Roman"/>
            </a:endParaRPr>
          </a:p>
          <a:p>
            <a:pPr marL="469265" marR="434975" indent="-228600">
              <a:lnSpc>
                <a:spcPct val="102499"/>
              </a:lnSpc>
              <a:spcBef>
                <a:spcPts val="830"/>
              </a:spcBef>
              <a:buFont typeface="Microsoft Sans Serif"/>
              <a:buChar char=""/>
              <a:tabLst>
                <a:tab pos="469265" algn="l"/>
                <a:tab pos="469900" algn="l"/>
              </a:tabLst>
            </a:pPr>
            <a:r>
              <a:rPr dirty="0" sz="1200" spc="-5">
                <a:latin typeface="Times New Roman"/>
                <a:cs typeface="Times New Roman"/>
              </a:rPr>
              <a:t>Software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designers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do what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designers</a:t>
            </a:r>
            <a:r>
              <a:rPr dirty="0" sz="1200">
                <a:latin typeface="Times New Roman"/>
                <a:cs typeface="Times New Roman"/>
              </a:rPr>
              <a:t> in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other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disciplines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do, </a:t>
            </a:r>
            <a:r>
              <a:rPr dirty="0" sz="1200" spc="-5">
                <a:latin typeface="Times New Roman"/>
                <a:cs typeface="Times New Roman"/>
              </a:rPr>
              <a:t>except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they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 spc="5">
                <a:latin typeface="Times New Roman"/>
                <a:cs typeface="Times New Roman"/>
              </a:rPr>
              <a:t>do </a:t>
            </a:r>
            <a:r>
              <a:rPr dirty="0" sz="1200">
                <a:latin typeface="Times New Roman"/>
                <a:cs typeface="Times New Roman"/>
              </a:rPr>
              <a:t>it for </a:t>
            </a:r>
            <a:r>
              <a:rPr dirty="0" sz="1200" spc="-28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software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products.</a:t>
            </a:r>
            <a:endParaRPr sz="1200">
              <a:latin typeface="Times New Roman"/>
              <a:cs typeface="Times New Roman"/>
            </a:endParaRPr>
          </a:p>
          <a:p>
            <a:pPr marL="469265" marR="478155" indent="-228600">
              <a:lnSpc>
                <a:spcPct val="102499"/>
              </a:lnSpc>
              <a:spcBef>
                <a:spcPts val="825"/>
              </a:spcBef>
              <a:buFont typeface="Microsoft Sans Serif"/>
              <a:buChar char=""/>
              <a:tabLst>
                <a:tab pos="469265" algn="l"/>
                <a:tab pos="469900" algn="l"/>
              </a:tabLst>
            </a:pPr>
            <a:r>
              <a:rPr dirty="0" sz="1200" spc="-5">
                <a:latin typeface="Times New Roman"/>
                <a:cs typeface="Times New Roman"/>
              </a:rPr>
              <a:t>Design</a:t>
            </a:r>
            <a:r>
              <a:rPr dirty="0" sz="1200">
                <a:latin typeface="Times New Roman"/>
                <a:cs typeface="Times New Roman"/>
              </a:rPr>
              <a:t> bridges that</a:t>
            </a:r>
            <a:r>
              <a:rPr dirty="0" sz="1200" spc="1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gap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between</a:t>
            </a:r>
            <a:r>
              <a:rPr dirty="0" sz="1200">
                <a:latin typeface="Times New Roman"/>
                <a:cs typeface="Times New Roman"/>
              </a:rPr>
              <a:t> knowing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what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is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needed</a:t>
            </a:r>
            <a:r>
              <a:rPr dirty="0" sz="1200">
                <a:latin typeface="Times New Roman"/>
                <a:cs typeface="Times New Roman"/>
              </a:rPr>
              <a:t> (software</a:t>
            </a:r>
            <a:r>
              <a:rPr dirty="0" sz="1200" spc="-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requirements </a:t>
            </a:r>
            <a:r>
              <a:rPr dirty="0" sz="1200" spc="-28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specification)</a:t>
            </a:r>
            <a:r>
              <a:rPr dirty="0" sz="1200">
                <a:latin typeface="Times New Roman"/>
                <a:cs typeface="Times New Roman"/>
              </a:rPr>
              <a:t> to entering the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code </a:t>
            </a:r>
            <a:r>
              <a:rPr dirty="0" sz="1200">
                <a:latin typeface="Times New Roman"/>
                <a:cs typeface="Times New Roman"/>
              </a:rPr>
              <a:t>that makes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it </a:t>
            </a:r>
            <a:r>
              <a:rPr dirty="0" sz="1200" spc="-5">
                <a:latin typeface="Times New Roman"/>
                <a:cs typeface="Times New Roman"/>
              </a:rPr>
              <a:t>work</a:t>
            </a:r>
            <a:r>
              <a:rPr dirty="0" sz="1200">
                <a:latin typeface="Times New Roman"/>
                <a:cs typeface="Times New Roman"/>
              </a:rPr>
              <a:t> (the</a:t>
            </a:r>
            <a:r>
              <a:rPr dirty="0" sz="1200" spc="-5">
                <a:latin typeface="Times New Roman"/>
                <a:cs typeface="Times New Roman"/>
              </a:rPr>
              <a:t> construction</a:t>
            </a:r>
            <a:r>
              <a:rPr dirty="0" sz="1200">
                <a:latin typeface="Times New Roman"/>
                <a:cs typeface="Times New Roman"/>
              </a:rPr>
              <a:t> phase).</a:t>
            </a:r>
            <a:endParaRPr sz="12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71489" y="3418961"/>
            <a:ext cx="5829421" cy="155625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4425822"/>
            <a:ext cx="226822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 b="1">
                <a:latin typeface="Times New Roman"/>
                <a:cs typeface="Times New Roman"/>
              </a:rPr>
              <a:t>Design Occurs </a:t>
            </a:r>
            <a:r>
              <a:rPr dirty="0" sz="1200" b="1">
                <a:latin typeface="Times New Roman"/>
                <a:cs typeface="Times New Roman"/>
              </a:rPr>
              <a:t>at</a:t>
            </a:r>
            <a:r>
              <a:rPr dirty="0" sz="1200" spc="-10" b="1">
                <a:latin typeface="Times New Roman"/>
                <a:cs typeface="Times New Roman"/>
              </a:rPr>
              <a:t> </a:t>
            </a:r>
            <a:r>
              <a:rPr dirty="0" sz="1200" spc="-5" b="1">
                <a:latin typeface="Times New Roman"/>
                <a:cs typeface="Times New Roman"/>
              </a:rPr>
              <a:t>Different </a:t>
            </a:r>
            <a:r>
              <a:rPr dirty="0" sz="1200" b="1">
                <a:latin typeface="Times New Roman"/>
                <a:cs typeface="Times New Roman"/>
              </a:rPr>
              <a:t>Levels:</a:t>
            </a:r>
            <a:endParaRPr sz="12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97419" y="1237336"/>
            <a:ext cx="2577560" cy="273935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72266" y="5080339"/>
            <a:ext cx="5398143" cy="398573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889507"/>
            <a:ext cx="5697855" cy="9766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269875">
              <a:lnSpc>
                <a:spcPct val="100000"/>
              </a:lnSpc>
              <a:spcBef>
                <a:spcPts val="100"/>
              </a:spcBef>
            </a:pPr>
            <a:r>
              <a:rPr dirty="0" sz="1200" spc="-5" b="1">
                <a:latin typeface="Times New Roman"/>
                <a:cs typeface="Times New Roman"/>
              </a:rPr>
              <a:t>Standard</a:t>
            </a:r>
            <a:r>
              <a:rPr dirty="0" sz="1200" spc="-10" b="1">
                <a:latin typeface="Times New Roman"/>
                <a:cs typeface="Times New Roman"/>
              </a:rPr>
              <a:t> </a:t>
            </a:r>
            <a:r>
              <a:rPr dirty="0" sz="1200" spc="-5" b="1">
                <a:latin typeface="Times New Roman"/>
                <a:cs typeface="Times New Roman"/>
              </a:rPr>
              <a:t>Levels</a:t>
            </a:r>
            <a:r>
              <a:rPr dirty="0" sz="1200" spc="-10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of </a:t>
            </a:r>
            <a:r>
              <a:rPr dirty="0" sz="1200" spc="-5" b="1">
                <a:latin typeface="Times New Roman"/>
                <a:cs typeface="Times New Roman"/>
              </a:rPr>
              <a:t>Design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55"/>
              </a:spcBef>
            </a:pPr>
            <a:r>
              <a:rPr dirty="0" sz="1200" spc="-5" b="1">
                <a:latin typeface="Times New Roman"/>
                <a:cs typeface="Times New Roman"/>
              </a:rPr>
              <a:t>Why</a:t>
            </a:r>
            <a:r>
              <a:rPr dirty="0" sz="1200" spc="-15" b="1">
                <a:latin typeface="Times New Roman"/>
                <a:cs typeface="Times New Roman"/>
              </a:rPr>
              <a:t> </a:t>
            </a:r>
            <a:r>
              <a:rPr dirty="0" sz="1200" spc="-5" b="1">
                <a:latin typeface="Times New Roman"/>
                <a:cs typeface="Times New Roman"/>
              </a:rPr>
              <a:t>Design</a:t>
            </a:r>
            <a:r>
              <a:rPr dirty="0" sz="1200" spc="-10" b="1">
                <a:latin typeface="Times New Roman"/>
                <a:cs typeface="Times New Roman"/>
              </a:rPr>
              <a:t> </a:t>
            </a:r>
            <a:r>
              <a:rPr dirty="0" sz="1200" spc="-5" b="1">
                <a:latin typeface="Times New Roman"/>
                <a:cs typeface="Times New Roman"/>
              </a:rPr>
              <a:t>is</a:t>
            </a:r>
            <a:r>
              <a:rPr dirty="0" sz="1200" spc="-10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Hard?</a:t>
            </a:r>
            <a:endParaRPr sz="1200">
              <a:latin typeface="Times New Roman"/>
              <a:cs typeface="Times New Roman"/>
            </a:endParaRPr>
          </a:p>
          <a:p>
            <a:pPr marL="469265" marR="5080" indent="-228600">
              <a:lnSpc>
                <a:spcPct val="102499"/>
              </a:lnSpc>
              <a:spcBef>
                <a:spcPts val="800"/>
              </a:spcBef>
              <a:buFont typeface="Microsoft Sans Serif"/>
              <a:buChar char=""/>
              <a:tabLst>
                <a:tab pos="469265" algn="l"/>
                <a:tab pos="469900" algn="l"/>
              </a:tabLst>
            </a:pPr>
            <a:r>
              <a:rPr dirty="0" sz="1200" spc="-5">
                <a:latin typeface="Times New Roman"/>
                <a:cs typeface="Times New Roman"/>
              </a:rPr>
              <a:t>Design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is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difficult </a:t>
            </a:r>
            <a:r>
              <a:rPr dirty="0" sz="1200" spc="-5">
                <a:latin typeface="Times New Roman"/>
                <a:cs typeface="Times New Roman"/>
              </a:rPr>
              <a:t>because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design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is</a:t>
            </a:r>
            <a:r>
              <a:rPr dirty="0" sz="1200" spc="1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an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abstraction</a:t>
            </a:r>
            <a:r>
              <a:rPr dirty="0" sz="1200">
                <a:latin typeface="Times New Roman"/>
                <a:cs typeface="Times New Roman"/>
              </a:rPr>
              <a:t> of the solution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which </a:t>
            </a:r>
            <a:r>
              <a:rPr dirty="0" sz="1200" spc="-5">
                <a:latin typeface="Times New Roman"/>
                <a:cs typeface="Times New Roman"/>
              </a:rPr>
              <a:t>has</a:t>
            </a:r>
            <a:r>
              <a:rPr dirty="0" sz="1200" spc="1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yet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to be </a:t>
            </a:r>
            <a:r>
              <a:rPr dirty="0" sz="1200" spc="-28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created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2004" y="5529453"/>
            <a:ext cx="5899785" cy="3406140"/>
          </a:xfrm>
          <a:prstGeom prst="rect">
            <a:avLst/>
          </a:prstGeom>
        </p:spPr>
        <p:txBody>
          <a:bodyPr wrap="square" lIns="0" tIns="1174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25"/>
              </a:spcBef>
            </a:pPr>
            <a:r>
              <a:rPr dirty="0" sz="1200" spc="-5" b="1">
                <a:latin typeface="Times New Roman"/>
                <a:cs typeface="Times New Roman"/>
              </a:rPr>
              <a:t>Design as Problem</a:t>
            </a:r>
            <a:r>
              <a:rPr dirty="0" sz="1200" spc="-25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Solving:</a:t>
            </a:r>
            <a:endParaRPr sz="12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830"/>
              </a:spcBef>
              <a:buFont typeface="Microsoft Sans Serif"/>
              <a:buChar char=""/>
              <a:tabLst>
                <a:tab pos="469265" algn="l"/>
                <a:tab pos="469900" algn="l"/>
              </a:tabLst>
            </a:pPr>
            <a:r>
              <a:rPr dirty="0" sz="1200" spc="-5">
                <a:latin typeface="Times New Roman"/>
                <a:cs typeface="Times New Roman"/>
              </a:rPr>
              <a:t>An</a:t>
            </a:r>
            <a:r>
              <a:rPr dirty="0" sz="1200">
                <a:latin typeface="Times New Roman"/>
                <a:cs typeface="Times New Roman"/>
              </a:rPr>
              <a:t> especially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fruitful </a:t>
            </a:r>
            <a:r>
              <a:rPr dirty="0" sz="1200" spc="-5">
                <a:latin typeface="Times New Roman"/>
                <a:cs typeface="Times New Roman"/>
              </a:rPr>
              <a:t>way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to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think about design </a:t>
            </a:r>
            <a:r>
              <a:rPr dirty="0" sz="1200" spc="-5">
                <a:latin typeface="Times New Roman"/>
                <a:cs typeface="Times New Roman"/>
              </a:rPr>
              <a:t>is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as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problem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solving.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200" spc="-5" b="1">
                <a:latin typeface="Times New Roman"/>
                <a:cs typeface="Times New Roman"/>
              </a:rPr>
              <a:t>Advantages:</a:t>
            </a:r>
            <a:endParaRPr sz="12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830"/>
              </a:spcBef>
              <a:buAutoNum type="arabicParenR"/>
              <a:tabLst>
                <a:tab pos="469900" algn="l"/>
              </a:tabLst>
            </a:pPr>
            <a:r>
              <a:rPr dirty="0" sz="1200" spc="-5">
                <a:latin typeface="Times New Roman"/>
                <a:cs typeface="Times New Roman"/>
              </a:rPr>
              <a:t>Suggests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partitioning information</a:t>
            </a:r>
            <a:r>
              <a:rPr dirty="0" sz="1200" spc="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between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problem</a:t>
            </a:r>
            <a:r>
              <a:rPr dirty="0" sz="1200" spc="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solution</a:t>
            </a:r>
            <a:endParaRPr sz="12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850"/>
              </a:spcBef>
              <a:buAutoNum type="arabicParenR"/>
              <a:tabLst>
                <a:tab pos="469900" algn="l"/>
              </a:tabLst>
            </a:pPr>
            <a:r>
              <a:rPr dirty="0" sz="1200" spc="-5">
                <a:latin typeface="Times New Roman"/>
                <a:cs typeface="Times New Roman"/>
              </a:rPr>
              <a:t>Emphasizes</a:t>
            </a:r>
            <a:r>
              <a:rPr dirty="0" sz="1200">
                <a:latin typeface="Times New Roman"/>
                <a:cs typeface="Times New Roman"/>
              </a:rPr>
              <a:t> that </a:t>
            </a:r>
            <a:r>
              <a:rPr dirty="0" sz="1200" spc="-5">
                <a:latin typeface="Times New Roman"/>
                <a:cs typeface="Times New Roman"/>
              </a:rPr>
              <a:t>there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may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 spc="5">
                <a:latin typeface="Times New Roman"/>
                <a:cs typeface="Times New Roman"/>
              </a:rPr>
              <a:t>be</a:t>
            </a:r>
            <a:r>
              <a:rPr dirty="0" sz="1200" spc="-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more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than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one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good</a:t>
            </a:r>
            <a:r>
              <a:rPr dirty="0" sz="1200">
                <a:latin typeface="Times New Roman"/>
                <a:cs typeface="Times New Roman"/>
              </a:rPr>
              <a:t> solution </a:t>
            </a:r>
            <a:r>
              <a:rPr dirty="0" sz="1200" spc="-5">
                <a:latin typeface="Times New Roman"/>
                <a:cs typeface="Times New Roman"/>
              </a:rPr>
              <a:t>(design)</a:t>
            </a:r>
            <a:endParaRPr sz="12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844"/>
              </a:spcBef>
              <a:buAutoNum type="arabicParenR"/>
              <a:tabLst>
                <a:tab pos="469900" algn="l"/>
              </a:tabLst>
            </a:pPr>
            <a:r>
              <a:rPr dirty="0" sz="1200" spc="-5">
                <a:latin typeface="Times New Roman"/>
                <a:cs typeface="Times New Roman"/>
              </a:rPr>
              <a:t>Suggests</a:t>
            </a:r>
            <a:r>
              <a:rPr dirty="0" sz="1200" spc="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techniques</a:t>
            </a:r>
            <a:r>
              <a:rPr dirty="0" sz="1200" spc="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such</a:t>
            </a:r>
            <a:r>
              <a:rPr dirty="0" sz="1200" spc="2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as</a:t>
            </a:r>
            <a:r>
              <a:rPr dirty="0" sz="1200" spc="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changing </a:t>
            </a:r>
            <a:r>
              <a:rPr dirty="0" sz="1200">
                <a:latin typeface="Times New Roman"/>
                <a:cs typeface="Times New Roman"/>
              </a:rPr>
              <a:t>the</a:t>
            </a:r>
            <a:r>
              <a:rPr dirty="0" sz="1200" spc="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problem,</a:t>
            </a:r>
            <a:r>
              <a:rPr dirty="0" sz="1200" spc="1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trial</a:t>
            </a:r>
            <a:r>
              <a:rPr dirty="0" sz="1200" spc="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error,</a:t>
            </a:r>
            <a:r>
              <a:rPr dirty="0" sz="1200" spc="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brainstorming,</a:t>
            </a:r>
            <a:r>
              <a:rPr dirty="0" sz="1200" spc="3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etc.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4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200" spc="-5" b="1">
                <a:latin typeface="Times New Roman"/>
                <a:cs typeface="Times New Roman"/>
              </a:rPr>
              <a:t>Abstraction:</a:t>
            </a:r>
            <a:endParaRPr sz="12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830"/>
              </a:spcBef>
              <a:buFont typeface="Microsoft Sans Serif"/>
              <a:buChar char=""/>
              <a:tabLst>
                <a:tab pos="469265" algn="l"/>
                <a:tab pos="469900" algn="l"/>
              </a:tabLst>
            </a:pPr>
            <a:r>
              <a:rPr dirty="0" sz="1200" spc="-5">
                <a:latin typeface="Times New Roman"/>
                <a:cs typeface="Times New Roman"/>
              </a:rPr>
              <a:t>Abstraction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is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an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important problem-solving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technique, especially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in </a:t>
            </a:r>
            <a:r>
              <a:rPr dirty="0" sz="1200" spc="-5">
                <a:latin typeface="Times New Roman"/>
                <a:cs typeface="Times New Roman"/>
              </a:rPr>
              <a:t>software design</a:t>
            </a:r>
            <a:endParaRPr sz="1200">
              <a:latin typeface="Times New Roman"/>
              <a:cs typeface="Times New Roman"/>
            </a:endParaRPr>
          </a:p>
          <a:p>
            <a:pPr marL="469265" marR="5080" indent="-228600">
              <a:lnSpc>
                <a:spcPct val="102499"/>
              </a:lnSpc>
              <a:spcBef>
                <a:spcPts val="815"/>
              </a:spcBef>
              <a:buFont typeface="Microsoft Sans Serif"/>
              <a:buChar char=""/>
              <a:tabLst>
                <a:tab pos="469265" algn="l"/>
                <a:tab pos="469900" algn="l"/>
              </a:tabLst>
            </a:pPr>
            <a:r>
              <a:rPr dirty="0" sz="1200" spc="-5">
                <a:latin typeface="Times New Roman"/>
                <a:cs typeface="Times New Roman"/>
              </a:rPr>
              <a:t>Abstraction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is</a:t>
            </a:r>
            <a:r>
              <a:rPr dirty="0" sz="1200">
                <a:latin typeface="Times New Roman"/>
                <a:cs typeface="Times New Roman"/>
              </a:rPr>
              <a:t> suppressing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or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ignoring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some</a:t>
            </a:r>
            <a:r>
              <a:rPr dirty="0" sz="1200" spc="-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properties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of </a:t>
            </a:r>
            <a:r>
              <a:rPr dirty="0" sz="1200" spc="-5">
                <a:latin typeface="Times New Roman"/>
                <a:cs typeface="Times New Roman"/>
              </a:rPr>
              <a:t>objects,</a:t>
            </a:r>
            <a:r>
              <a:rPr dirty="0" sz="1200">
                <a:latin typeface="Times New Roman"/>
                <a:cs typeface="Times New Roman"/>
              </a:rPr>
              <a:t> events,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or situations in </a:t>
            </a:r>
            <a:r>
              <a:rPr dirty="0" sz="1200" spc="-28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favor of</a:t>
            </a:r>
            <a:r>
              <a:rPr dirty="0" sz="1200">
                <a:latin typeface="Times New Roman"/>
                <a:cs typeface="Times New Roman"/>
              </a:rPr>
              <a:t> others.</a:t>
            </a:r>
            <a:endParaRPr sz="12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69775" y="2321553"/>
            <a:ext cx="5851308" cy="261138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1180845"/>
            <a:ext cx="5967730" cy="53968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 b="1">
                <a:latin typeface="Times New Roman"/>
                <a:cs typeface="Times New Roman"/>
              </a:rPr>
              <a:t>Importance</a:t>
            </a:r>
            <a:r>
              <a:rPr dirty="0" sz="1200" spc="-25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of</a:t>
            </a:r>
            <a:r>
              <a:rPr dirty="0" sz="1200" spc="-15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Abstraction:</a:t>
            </a:r>
            <a:endParaRPr sz="12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850"/>
              </a:spcBef>
              <a:buAutoNum type="arabicPeriod"/>
              <a:tabLst>
                <a:tab pos="469900" algn="l"/>
              </a:tabLst>
            </a:pPr>
            <a:r>
              <a:rPr dirty="0" sz="1200" spc="-5" b="1">
                <a:latin typeface="Times New Roman"/>
                <a:cs typeface="Times New Roman"/>
              </a:rPr>
              <a:t>Problem</a:t>
            </a:r>
            <a:r>
              <a:rPr dirty="0" sz="1200" spc="-40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simplification:</a:t>
            </a:r>
            <a:endParaRPr sz="1200">
              <a:latin typeface="Times New Roman"/>
              <a:cs typeface="Times New Roman"/>
            </a:endParaRPr>
          </a:p>
          <a:p>
            <a:pPr lvl="1" marL="697865" marR="584835" indent="-228600">
              <a:lnSpc>
                <a:spcPct val="102499"/>
              </a:lnSpc>
              <a:spcBef>
                <a:spcPts val="795"/>
              </a:spcBef>
              <a:buFont typeface="Microsoft Sans Serif"/>
              <a:buChar char=""/>
              <a:tabLst>
                <a:tab pos="697865" algn="l"/>
                <a:tab pos="698500" algn="l"/>
              </a:tabLst>
            </a:pPr>
            <a:r>
              <a:rPr dirty="0" sz="1200">
                <a:latin typeface="Times New Roman"/>
                <a:cs typeface="Times New Roman"/>
              </a:rPr>
              <a:t>Abstracting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allows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us</a:t>
            </a:r>
            <a:r>
              <a:rPr dirty="0" sz="1200">
                <a:latin typeface="Times New Roman"/>
                <a:cs typeface="Times New Roman"/>
              </a:rPr>
              <a:t> to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focus</a:t>
            </a:r>
            <a:r>
              <a:rPr dirty="0" sz="1200">
                <a:latin typeface="Times New Roman"/>
                <a:cs typeface="Times New Roman"/>
              </a:rPr>
              <a:t> on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</a:t>
            </a:r>
            <a:r>
              <a:rPr dirty="0" sz="1200" spc="-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most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important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aspects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of</a:t>
            </a:r>
            <a:r>
              <a:rPr dirty="0" sz="1200" spc="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 </a:t>
            </a:r>
            <a:r>
              <a:rPr dirty="0" sz="1200" spc="-5">
                <a:latin typeface="Times New Roman"/>
                <a:cs typeface="Times New Roman"/>
              </a:rPr>
              <a:t>problem</a:t>
            </a:r>
            <a:r>
              <a:rPr dirty="0" sz="1200" spc="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in </a:t>
            </a:r>
            <a:r>
              <a:rPr dirty="0" sz="1200" spc="-28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(partially) </a:t>
            </a:r>
            <a:r>
              <a:rPr dirty="0" sz="1200">
                <a:latin typeface="Times New Roman"/>
                <a:cs typeface="Times New Roman"/>
              </a:rPr>
              <a:t>solving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it.</a:t>
            </a:r>
            <a:endParaRPr sz="12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buFont typeface="Microsoft Sans Serif"/>
              <a:buChar char=""/>
            </a:pPr>
            <a:endParaRPr sz="13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buFont typeface="Microsoft Sans Serif"/>
              <a:buChar char=""/>
            </a:pPr>
            <a:endParaRPr sz="145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5"/>
              </a:spcBef>
              <a:buAutoNum type="arabicPeriod"/>
              <a:tabLst>
                <a:tab pos="469900" algn="l"/>
              </a:tabLst>
            </a:pPr>
            <a:r>
              <a:rPr dirty="0" sz="1200" spc="-5" b="1">
                <a:latin typeface="Times New Roman"/>
                <a:cs typeface="Times New Roman"/>
              </a:rPr>
              <a:t>Structuring</a:t>
            </a:r>
            <a:r>
              <a:rPr dirty="0" sz="1200" spc="-10" b="1">
                <a:latin typeface="Times New Roman"/>
                <a:cs typeface="Times New Roman"/>
              </a:rPr>
              <a:t> </a:t>
            </a:r>
            <a:r>
              <a:rPr dirty="0" sz="1200" spc="-5" b="1">
                <a:latin typeface="Times New Roman"/>
                <a:cs typeface="Times New Roman"/>
              </a:rPr>
              <a:t>problem</a:t>
            </a:r>
            <a:r>
              <a:rPr dirty="0" sz="1200" spc="-25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solving</a:t>
            </a:r>
            <a:endParaRPr sz="1200">
              <a:latin typeface="Times New Roman"/>
              <a:cs typeface="Times New Roman"/>
            </a:endParaRPr>
          </a:p>
          <a:p>
            <a:pPr lvl="1" marL="697865" marR="453390" indent="-228600">
              <a:lnSpc>
                <a:spcPct val="102499"/>
              </a:lnSpc>
              <a:spcBef>
                <a:spcPts val="800"/>
              </a:spcBef>
              <a:buFont typeface="Microsoft Sans Serif"/>
              <a:buChar char=""/>
              <a:tabLst>
                <a:tab pos="697865" algn="l"/>
                <a:tab pos="698500" algn="l"/>
              </a:tabLst>
            </a:pPr>
            <a:r>
              <a:rPr dirty="0" sz="1200" spc="-5" b="1">
                <a:latin typeface="Times New Roman"/>
                <a:cs typeface="Times New Roman"/>
              </a:rPr>
              <a:t>Top-down</a:t>
            </a:r>
            <a:r>
              <a:rPr dirty="0" sz="1200" spc="5" b="1">
                <a:latin typeface="Times New Roman"/>
                <a:cs typeface="Times New Roman"/>
              </a:rPr>
              <a:t> </a:t>
            </a:r>
            <a:r>
              <a:rPr dirty="0" sz="1200" spc="-5" b="1">
                <a:latin typeface="Times New Roman"/>
                <a:cs typeface="Times New Roman"/>
              </a:rPr>
              <a:t>strategy</a:t>
            </a:r>
            <a:r>
              <a:rPr dirty="0" sz="1200" spc="-5">
                <a:latin typeface="Times New Roman"/>
                <a:cs typeface="Times New Roman"/>
              </a:rPr>
              <a:t>: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Solve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an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abstract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version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of</a:t>
            </a:r>
            <a:r>
              <a:rPr dirty="0" sz="1200" spc="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problem,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then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add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details </a:t>
            </a:r>
            <a:r>
              <a:rPr dirty="0" sz="1200" spc="-28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(refinement)</a:t>
            </a:r>
            <a:endParaRPr sz="1200">
              <a:latin typeface="Times New Roman"/>
              <a:cs typeface="Times New Roman"/>
            </a:endParaRPr>
          </a:p>
          <a:p>
            <a:pPr lvl="1" marL="697865" marR="386080" indent="-228600">
              <a:lnSpc>
                <a:spcPct val="102499"/>
              </a:lnSpc>
              <a:spcBef>
                <a:spcPts val="835"/>
              </a:spcBef>
              <a:buFont typeface="Microsoft Sans Serif"/>
              <a:buChar char=""/>
              <a:tabLst>
                <a:tab pos="697865" algn="l"/>
                <a:tab pos="698500" algn="l"/>
              </a:tabLst>
            </a:pPr>
            <a:r>
              <a:rPr dirty="0" sz="1200" spc="-5" b="1">
                <a:latin typeface="Times New Roman"/>
                <a:cs typeface="Times New Roman"/>
              </a:rPr>
              <a:t>Bottom-up</a:t>
            </a:r>
            <a:r>
              <a:rPr dirty="0" sz="1200" b="1">
                <a:latin typeface="Times New Roman"/>
                <a:cs typeface="Times New Roman"/>
              </a:rPr>
              <a:t> </a:t>
            </a:r>
            <a:r>
              <a:rPr dirty="0" sz="1200" spc="-5" b="1">
                <a:latin typeface="Times New Roman"/>
                <a:cs typeface="Times New Roman"/>
              </a:rPr>
              <a:t>strategy</a:t>
            </a:r>
            <a:r>
              <a:rPr dirty="0" sz="1200" spc="-5">
                <a:latin typeface="Times New Roman"/>
                <a:cs typeface="Times New Roman"/>
              </a:rPr>
              <a:t>: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Solve</a:t>
            </a:r>
            <a:r>
              <a:rPr dirty="0" sz="1200" spc="-5">
                <a:latin typeface="Times New Roman"/>
                <a:cs typeface="Times New Roman"/>
              </a:rPr>
              <a:t> parts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of</a:t>
            </a:r>
            <a:r>
              <a:rPr dirty="0" sz="1200" spc="-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 problem and</a:t>
            </a:r>
            <a:r>
              <a:rPr dirty="0" sz="1200" spc="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connect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them</a:t>
            </a:r>
            <a:r>
              <a:rPr dirty="0" sz="1200">
                <a:latin typeface="Times New Roman"/>
                <a:cs typeface="Times New Roman"/>
              </a:rPr>
              <a:t> for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complete </a:t>
            </a:r>
            <a:r>
              <a:rPr dirty="0" sz="1200" spc="-28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solution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200" spc="-5" b="1">
                <a:latin typeface="Times New Roman"/>
                <a:cs typeface="Times New Roman"/>
              </a:rPr>
              <a:t>What</a:t>
            </a:r>
            <a:r>
              <a:rPr dirty="0" sz="1200" spc="-20" b="1">
                <a:latin typeface="Times New Roman"/>
                <a:cs typeface="Times New Roman"/>
              </a:rPr>
              <a:t> </a:t>
            </a:r>
            <a:r>
              <a:rPr dirty="0" sz="1200" spc="-5" b="1">
                <a:latin typeface="Times New Roman"/>
                <a:cs typeface="Times New Roman"/>
              </a:rPr>
              <a:t>is</a:t>
            </a:r>
            <a:r>
              <a:rPr dirty="0" sz="1200" spc="-15" b="1">
                <a:latin typeface="Times New Roman"/>
                <a:cs typeface="Times New Roman"/>
              </a:rPr>
              <a:t> </a:t>
            </a:r>
            <a:r>
              <a:rPr dirty="0" sz="1200" spc="-5" b="1">
                <a:latin typeface="Times New Roman"/>
                <a:cs typeface="Times New Roman"/>
              </a:rPr>
              <a:t>Model?</a:t>
            </a:r>
            <a:endParaRPr sz="12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830"/>
              </a:spcBef>
              <a:buFont typeface="Microsoft Sans Serif"/>
              <a:buChar char=""/>
              <a:tabLst>
                <a:tab pos="469265" algn="l"/>
                <a:tab pos="469900" algn="l"/>
              </a:tabLst>
            </a:pPr>
            <a:r>
              <a:rPr dirty="0" sz="1200" spc="-5">
                <a:latin typeface="Times New Roman"/>
                <a:cs typeface="Times New Roman"/>
              </a:rPr>
              <a:t>A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spc="-5" b="1">
                <a:latin typeface="Times New Roman"/>
                <a:cs typeface="Times New Roman"/>
              </a:rPr>
              <a:t>model</a:t>
            </a:r>
            <a:r>
              <a:rPr dirty="0" sz="1200" b="1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is</a:t>
            </a:r>
            <a:r>
              <a:rPr dirty="0" sz="1200">
                <a:latin typeface="Times New Roman"/>
                <a:cs typeface="Times New Roman"/>
              </a:rPr>
              <a:t> an entity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used to </a:t>
            </a:r>
            <a:r>
              <a:rPr dirty="0" sz="1200" spc="-5">
                <a:latin typeface="Times New Roman"/>
                <a:cs typeface="Times New Roman"/>
              </a:rPr>
              <a:t>represent</a:t>
            </a:r>
            <a:r>
              <a:rPr dirty="0" sz="1200" spc="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another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entity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(the</a:t>
            </a:r>
            <a:r>
              <a:rPr dirty="0" sz="1200" spc="-5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target</a:t>
            </a:r>
            <a:r>
              <a:rPr dirty="0" sz="1200">
                <a:latin typeface="Times New Roman"/>
                <a:cs typeface="Times New Roman"/>
              </a:rPr>
              <a:t>) </a:t>
            </a:r>
            <a:r>
              <a:rPr dirty="0" sz="1200" spc="5">
                <a:latin typeface="Times New Roman"/>
                <a:cs typeface="Times New Roman"/>
              </a:rPr>
              <a:t>by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establishing</a:t>
            </a:r>
            <a:endParaRPr sz="1200">
              <a:latin typeface="Times New Roman"/>
              <a:cs typeface="Times New Roman"/>
            </a:endParaRPr>
          </a:p>
          <a:p>
            <a:pPr lvl="1" marL="697865" marR="548640" indent="-228600">
              <a:lnSpc>
                <a:spcPct val="103299"/>
              </a:lnSpc>
              <a:spcBef>
                <a:spcPts val="815"/>
              </a:spcBef>
              <a:buAutoNum type="alphaLcParenR"/>
              <a:tabLst>
                <a:tab pos="698500" algn="l"/>
              </a:tabLst>
            </a:pPr>
            <a:r>
              <a:rPr dirty="0" sz="1200" spc="-5">
                <a:latin typeface="Times New Roman"/>
                <a:cs typeface="Times New Roman"/>
              </a:rPr>
              <a:t>A correspondence</a:t>
            </a:r>
            <a:r>
              <a:rPr dirty="0" sz="1200">
                <a:latin typeface="Times New Roman"/>
                <a:cs typeface="Times New Roman"/>
              </a:rPr>
              <a:t> between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parts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or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elements</a:t>
            </a:r>
            <a:r>
              <a:rPr dirty="0" sz="1200" spc="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of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</a:t>
            </a:r>
            <a:r>
              <a:rPr dirty="0" sz="1200" spc="-5">
                <a:latin typeface="Times New Roman"/>
                <a:cs typeface="Times New Roman"/>
              </a:rPr>
              <a:t> target</a:t>
            </a:r>
            <a:r>
              <a:rPr dirty="0" sz="1200" spc="1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and</a:t>
            </a:r>
            <a:r>
              <a:rPr dirty="0" sz="1200">
                <a:latin typeface="Times New Roman"/>
                <a:cs typeface="Times New Roman"/>
              </a:rPr>
              <a:t> the</a:t>
            </a:r>
            <a:r>
              <a:rPr dirty="0" sz="1200" spc="2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parts</a:t>
            </a:r>
            <a:r>
              <a:rPr dirty="0" sz="1200" spc="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or </a:t>
            </a:r>
            <a:r>
              <a:rPr dirty="0" sz="1200" spc="-28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elements </a:t>
            </a:r>
            <a:r>
              <a:rPr dirty="0" sz="1200">
                <a:latin typeface="Times New Roman"/>
                <a:cs typeface="Times New Roman"/>
              </a:rPr>
              <a:t>of the </a:t>
            </a:r>
            <a:r>
              <a:rPr dirty="0" sz="1200" spc="-5">
                <a:latin typeface="Times New Roman"/>
                <a:cs typeface="Times New Roman"/>
              </a:rPr>
              <a:t>model</a:t>
            </a:r>
            <a:endParaRPr sz="12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50"/>
              </a:spcBef>
              <a:buFont typeface="Times New Roman"/>
              <a:buAutoNum type="alphaLcParenR"/>
            </a:pPr>
            <a:endParaRPr sz="1250">
              <a:latin typeface="Times New Roman"/>
              <a:cs typeface="Times New Roman"/>
            </a:endParaRPr>
          </a:p>
          <a:p>
            <a:pPr lvl="1" marL="697865" marR="5080" indent="-228600">
              <a:lnSpc>
                <a:spcPct val="103299"/>
              </a:lnSpc>
              <a:buAutoNum type="alphaLcParenR"/>
              <a:tabLst>
                <a:tab pos="698500" algn="l"/>
              </a:tabLst>
            </a:pPr>
            <a:r>
              <a:rPr dirty="0" sz="1200" spc="-5">
                <a:latin typeface="Times New Roman"/>
                <a:cs typeface="Times New Roman"/>
              </a:rPr>
              <a:t>A correspondence</a:t>
            </a:r>
            <a:r>
              <a:rPr dirty="0" sz="1200">
                <a:latin typeface="Times New Roman"/>
                <a:cs typeface="Times New Roman"/>
              </a:rPr>
              <a:t> between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relationships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among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parts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or elements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of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 target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 </a:t>
            </a:r>
            <a:r>
              <a:rPr dirty="0" sz="1200" spc="-28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relationships</a:t>
            </a:r>
            <a:r>
              <a:rPr dirty="0" sz="1200">
                <a:latin typeface="Times New Roman"/>
                <a:cs typeface="Times New Roman"/>
              </a:rPr>
              <a:t> among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parts</a:t>
            </a:r>
            <a:r>
              <a:rPr dirty="0" sz="1200">
                <a:latin typeface="Times New Roman"/>
                <a:cs typeface="Times New Roman"/>
              </a:rPr>
              <a:t> or</a:t>
            </a:r>
            <a:r>
              <a:rPr dirty="0" sz="1200" spc="-5">
                <a:latin typeface="Times New Roman"/>
                <a:cs typeface="Times New Roman"/>
              </a:rPr>
              <a:t> elements</a:t>
            </a:r>
            <a:r>
              <a:rPr dirty="0" sz="1200">
                <a:latin typeface="Times New Roman"/>
                <a:cs typeface="Times New Roman"/>
              </a:rPr>
              <a:t> of the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model.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3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60"/>
              </a:spcBef>
            </a:pPr>
            <a:r>
              <a:rPr dirty="0" sz="1200" spc="-5" b="1">
                <a:latin typeface="Times New Roman"/>
                <a:cs typeface="Times New Roman"/>
              </a:rPr>
              <a:t>Modeling:</a:t>
            </a:r>
            <a:endParaRPr sz="1200">
              <a:latin typeface="Times New Roman"/>
              <a:cs typeface="Times New Roman"/>
            </a:endParaRPr>
          </a:p>
          <a:p>
            <a:pPr marL="469265" marR="227329">
              <a:lnSpc>
                <a:spcPct val="102499"/>
              </a:lnSpc>
              <a:spcBef>
                <a:spcPts val="805"/>
              </a:spcBef>
            </a:pPr>
            <a:r>
              <a:rPr dirty="0" sz="1200" spc="-5">
                <a:latin typeface="Times New Roman"/>
                <a:cs typeface="Times New Roman"/>
              </a:rPr>
              <a:t>A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model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represents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target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spc="10">
                <a:latin typeface="Times New Roman"/>
                <a:cs typeface="Times New Roman"/>
              </a:rPr>
              <a:t>by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having</a:t>
            </a:r>
            <a:r>
              <a:rPr dirty="0" sz="1200" spc="-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model</a:t>
            </a:r>
            <a:r>
              <a:rPr dirty="0" sz="1200" spc="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parts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corresponding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to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target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parts,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with 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relationships</a:t>
            </a:r>
            <a:r>
              <a:rPr dirty="0" sz="1200" spc="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between</a:t>
            </a:r>
            <a:r>
              <a:rPr dirty="0" sz="1200" spc="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model</a:t>
            </a:r>
            <a:r>
              <a:rPr dirty="0" sz="1200" spc="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parts</a:t>
            </a:r>
            <a:r>
              <a:rPr dirty="0" sz="1200" spc="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corresponding</a:t>
            </a:r>
            <a:r>
              <a:rPr dirty="0" sz="1200" spc="-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to</a:t>
            </a:r>
            <a:r>
              <a:rPr dirty="0" sz="1200" spc="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relationships</a:t>
            </a:r>
            <a:r>
              <a:rPr dirty="0" sz="1200" spc="1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between</a:t>
            </a:r>
            <a:r>
              <a:rPr dirty="0" sz="1200" spc="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target</a:t>
            </a:r>
            <a:r>
              <a:rPr dirty="0" sz="1200" spc="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parts.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3263011"/>
            <a:ext cx="4183379" cy="2054225"/>
          </a:xfrm>
          <a:prstGeom prst="rect">
            <a:avLst/>
          </a:prstGeom>
        </p:spPr>
        <p:txBody>
          <a:bodyPr wrap="square" lIns="0" tIns="1174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25"/>
              </a:spcBef>
            </a:pPr>
            <a:r>
              <a:rPr dirty="0" sz="1200" spc="-5" b="1">
                <a:latin typeface="Times New Roman"/>
                <a:cs typeface="Times New Roman"/>
              </a:rPr>
              <a:t>Modeling</a:t>
            </a:r>
            <a:r>
              <a:rPr dirty="0" sz="1200" spc="-10" b="1">
                <a:latin typeface="Times New Roman"/>
                <a:cs typeface="Times New Roman"/>
              </a:rPr>
              <a:t> </a:t>
            </a:r>
            <a:r>
              <a:rPr dirty="0" sz="1200" spc="-5" b="1">
                <a:latin typeface="Times New Roman"/>
                <a:cs typeface="Times New Roman"/>
              </a:rPr>
              <a:t>in Design:</a:t>
            </a:r>
            <a:endParaRPr sz="12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830"/>
              </a:spcBef>
              <a:buFont typeface="Microsoft Sans Serif"/>
              <a:buChar char=""/>
              <a:tabLst>
                <a:tab pos="469265" algn="l"/>
                <a:tab pos="469900" algn="l"/>
              </a:tabLst>
            </a:pPr>
            <a:r>
              <a:rPr dirty="0" sz="1200" spc="-5">
                <a:latin typeface="Times New Roman"/>
                <a:cs typeface="Times New Roman"/>
              </a:rPr>
              <a:t>Modeling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is used </a:t>
            </a:r>
            <a:r>
              <a:rPr dirty="0" sz="1200">
                <a:latin typeface="Times New Roman"/>
                <a:cs typeface="Times New Roman"/>
              </a:rPr>
              <a:t>for</a:t>
            </a:r>
            <a:r>
              <a:rPr dirty="0" sz="1200" spc="-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</a:t>
            </a:r>
            <a:r>
              <a:rPr dirty="0" sz="1200" spc="-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following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purposes:</a:t>
            </a:r>
            <a:endParaRPr sz="1200">
              <a:latin typeface="Times New Roman"/>
              <a:cs typeface="Times New Roman"/>
            </a:endParaRPr>
          </a:p>
          <a:p>
            <a:pPr lvl="1" marL="697865" indent="-229235">
              <a:lnSpc>
                <a:spcPct val="100000"/>
              </a:lnSpc>
              <a:spcBef>
                <a:spcPts val="840"/>
              </a:spcBef>
              <a:buAutoNum type="arabicPeriod"/>
              <a:tabLst>
                <a:tab pos="698500" algn="l"/>
              </a:tabLst>
            </a:pPr>
            <a:r>
              <a:rPr dirty="0" sz="1200" spc="-5">
                <a:latin typeface="Times New Roman"/>
                <a:cs typeface="Times New Roman"/>
              </a:rPr>
              <a:t>Problem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understanding</a:t>
            </a:r>
            <a:endParaRPr sz="1200">
              <a:latin typeface="Times New Roman"/>
              <a:cs typeface="Times New Roman"/>
            </a:endParaRPr>
          </a:p>
          <a:p>
            <a:pPr lvl="1" marL="697865" indent="-229235">
              <a:lnSpc>
                <a:spcPct val="100000"/>
              </a:lnSpc>
              <a:spcBef>
                <a:spcPts val="850"/>
              </a:spcBef>
              <a:buAutoNum type="arabicPeriod"/>
              <a:tabLst>
                <a:tab pos="698500" algn="l"/>
              </a:tabLst>
            </a:pPr>
            <a:r>
              <a:rPr dirty="0" sz="1200" spc="-5">
                <a:latin typeface="Times New Roman"/>
                <a:cs typeface="Times New Roman"/>
              </a:rPr>
              <a:t>Design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creation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and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investigation</a:t>
            </a:r>
            <a:endParaRPr sz="1200">
              <a:latin typeface="Times New Roman"/>
              <a:cs typeface="Times New Roman"/>
            </a:endParaRPr>
          </a:p>
          <a:p>
            <a:pPr lvl="1" marL="697865" indent="-229235">
              <a:lnSpc>
                <a:spcPct val="100000"/>
              </a:lnSpc>
              <a:spcBef>
                <a:spcPts val="855"/>
              </a:spcBef>
              <a:buAutoNum type="arabicPeriod"/>
              <a:tabLst>
                <a:tab pos="698500" algn="l"/>
              </a:tabLst>
            </a:pPr>
            <a:r>
              <a:rPr dirty="0" sz="1200" spc="-5">
                <a:latin typeface="Times New Roman"/>
                <a:cs typeface="Times New Roman"/>
              </a:rPr>
              <a:t>Documentation</a:t>
            </a:r>
            <a:endParaRPr sz="12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850"/>
              </a:spcBef>
              <a:buFont typeface="Microsoft Sans Serif"/>
              <a:buChar char=""/>
              <a:tabLst>
                <a:tab pos="469265" algn="l"/>
                <a:tab pos="469900" algn="l"/>
              </a:tabLst>
            </a:pPr>
            <a:r>
              <a:rPr dirty="0" sz="1200" spc="-5">
                <a:latin typeface="Times New Roman"/>
                <a:cs typeface="Times New Roman"/>
              </a:rPr>
              <a:t>Modeling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work</a:t>
            </a:r>
            <a:r>
              <a:rPr dirty="0" sz="1200">
                <a:latin typeface="Times New Roman"/>
                <a:cs typeface="Times New Roman"/>
              </a:rPr>
              <a:t> because</a:t>
            </a:r>
            <a:r>
              <a:rPr dirty="0" sz="1200" spc="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models </a:t>
            </a:r>
            <a:r>
              <a:rPr dirty="0" sz="1200" spc="-5">
                <a:latin typeface="Times New Roman"/>
                <a:cs typeface="Times New Roman"/>
              </a:rPr>
              <a:t>abstract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details</a:t>
            </a:r>
            <a:r>
              <a:rPr dirty="0" sz="1200">
                <a:latin typeface="Times New Roman"/>
                <a:cs typeface="Times New Roman"/>
              </a:rPr>
              <a:t> of</a:t>
            </a:r>
            <a:r>
              <a:rPr dirty="0" sz="1200" spc="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 </a:t>
            </a:r>
            <a:r>
              <a:rPr dirty="0" sz="1200" spc="-5">
                <a:latin typeface="Times New Roman"/>
                <a:cs typeface="Times New Roman"/>
              </a:rPr>
              <a:t>target.</a:t>
            </a:r>
            <a:endParaRPr sz="12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840"/>
              </a:spcBef>
              <a:buFont typeface="Microsoft Sans Serif"/>
              <a:buChar char=""/>
              <a:tabLst>
                <a:tab pos="469265" algn="l"/>
                <a:tab pos="469900" algn="l"/>
              </a:tabLst>
            </a:pPr>
            <a:r>
              <a:rPr dirty="0" sz="1200" spc="-5">
                <a:latin typeface="Times New Roman"/>
                <a:cs typeface="Times New Roman"/>
              </a:rPr>
              <a:t>Models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can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fail</a:t>
            </a:r>
            <a:r>
              <a:rPr dirty="0" sz="1200">
                <a:latin typeface="Times New Roman"/>
                <a:cs typeface="Times New Roman"/>
              </a:rPr>
              <a:t> if important and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relevant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details</a:t>
            </a:r>
            <a:r>
              <a:rPr dirty="0" sz="1200">
                <a:latin typeface="Times New Roman"/>
                <a:cs typeface="Times New Roman"/>
              </a:rPr>
              <a:t> are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left</a:t>
            </a:r>
            <a:r>
              <a:rPr dirty="0" sz="1200">
                <a:latin typeface="Times New Roman"/>
                <a:cs typeface="Times New Roman"/>
              </a:rPr>
              <a:t> out.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2004" y="6169533"/>
            <a:ext cx="5558790" cy="1373505"/>
          </a:xfrm>
          <a:prstGeom prst="rect">
            <a:avLst/>
          </a:prstGeom>
        </p:spPr>
        <p:txBody>
          <a:bodyPr wrap="square" lIns="0" tIns="1174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25"/>
              </a:spcBef>
            </a:pPr>
            <a:r>
              <a:rPr dirty="0" sz="1200" spc="-5" b="1">
                <a:latin typeface="Times New Roman"/>
                <a:cs typeface="Times New Roman"/>
              </a:rPr>
              <a:t>Modeling</a:t>
            </a:r>
            <a:r>
              <a:rPr dirty="0" sz="1200" spc="-10" b="1">
                <a:latin typeface="Times New Roman"/>
                <a:cs typeface="Times New Roman"/>
              </a:rPr>
              <a:t> </a:t>
            </a:r>
            <a:r>
              <a:rPr dirty="0" sz="1200" spc="-5" b="1">
                <a:latin typeface="Times New Roman"/>
                <a:cs typeface="Times New Roman"/>
              </a:rPr>
              <a:t>in Software</a:t>
            </a:r>
            <a:r>
              <a:rPr dirty="0" sz="1200" spc="-15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Design: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30"/>
              </a:spcBef>
            </a:pPr>
            <a:r>
              <a:rPr dirty="0" sz="1200" spc="-5">
                <a:latin typeface="Times New Roman"/>
                <a:cs typeface="Times New Roman"/>
              </a:rPr>
              <a:t>Software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design</a:t>
            </a:r>
            <a:r>
              <a:rPr dirty="0" sz="1200" spc="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models</a:t>
            </a:r>
            <a:r>
              <a:rPr dirty="0" sz="1200" spc="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may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 spc="5">
                <a:latin typeface="Times New Roman"/>
                <a:cs typeface="Times New Roman"/>
              </a:rPr>
              <a:t>be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divided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into</a:t>
            </a:r>
            <a:r>
              <a:rPr dirty="0" sz="1200" spc="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two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broad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classes: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static</a:t>
            </a:r>
            <a:r>
              <a:rPr dirty="0" sz="1200" spc="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and</a:t>
            </a:r>
            <a:r>
              <a:rPr dirty="0" sz="1200" spc="1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dynamic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5">
                <a:latin typeface="Times New Roman"/>
                <a:cs typeface="Times New Roman"/>
              </a:rPr>
              <a:t>models</a:t>
            </a:r>
            <a:endParaRPr sz="1200">
              <a:latin typeface="Times New Roman"/>
              <a:cs typeface="Times New Roman"/>
            </a:endParaRPr>
          </a:p>
          <a:p>
            <a:pPr marL="469265" marR="131445" indent="-228600">
              <a:lnSpc>
                <a:spcPct val="102499"/>
              </a:lnSpc>
              <a:spcBef>
                <a:spcPts val="825"/>
              </a:spcBef>
              <a:buAutoNum type="arabicParenR"/>
              <a:tabLst>
                <a:tab pos="469900" algn="l"/>
              </a:tabLst>
            </a:pPr>
            <a:r>
              <a:rPr dirty="0" sz="1200" spc="-5">
                <a:latin typeface="Times New Roman"/>
                <a:cs typeface="Times New Roman"/>
              </a:rPr>
              <a:t>A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static</a:t>
            </a:r>
            <a:r>
              <a:rPr dirty="0" sz="1200">
                <a:latin typeface="Times New Roman"/>
                <a:cs typeface="Times New Roman"/>
              </a:rPr>
              <a:t> model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represents</a:t>
            </a:r>
            <a:r>
              <a:rPr dirty="0" sz="1200" spc="2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aspects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of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programs</a:t>
            </a:r>
            <a:r>
              <a:rPr dirty="0" sz="1200" spc="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that</a:t>
            </a:r>
            <a:r>
              <a:rPr dirty="0" sz="1200" spc="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do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not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change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during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program </a:t>
            </a:r>
            <a:r>
              <a:rPr dirty="0" sz="1200" spc="-28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execution.</a:t>
            </a:r>
            <a:endParaRPr sz="12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855"/>
              </a:spcBef>
              <a:buAutoNum type="arabicParenR"/>
              <a:tabLst>
                <a:tab pos="469900" algn="l"/>
              </a:tabLst>
            </a:pPr>
            <a:r>
              <a:rPr dirty="0" sz="1200" spc="-5">
                <a:latin typeface="Times New Roman"/>
                <a:cs typeface="Times New Roman"/>
              </a:rPr>
              <a:t>A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dynamic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model</a:t>
            </a:r>
            <a:r>
              <a:rPr dirty="0" sz="1200" spc="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represents</a:t>
            </a:r>
            <a:r>
              <a:rPr dirty="0" sz="1200" spc="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what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happens</a:t>
            </a:r>
            <a:r>
              <a:rPr dirty="0" sz="1200" spc="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during</a:t>
            </a:r>
            <a:r>
              <a:rPr dirty="0" sz="1200" spc="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program</a:t>
            </a:r>
            <a:r>
              <a:rPr dirty="0" sz="1200" spc="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execution.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2004" y="8500109"/>
            <a:ext cx="186753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 b="1">
                <a:latin typeface="Times New Roman"/>
                <a:cs typeface="Times New Roman"/>
              </a:rPr>
              <a:t>Static</a:t>
            </a:r>
            <a:r>
              <a:rPr dirty="0" sz="1200" spc="-15" b="1">
                <a:latin typeface="Times New Roman"/>
                <a:cs typeface="Times New Roman"/>
              </a:rPr>
              <a:t> </a:t>
            </a:r>
            <a:r>
              <a:rPr dirty="0" sz="1200" spc="-5" b="1">
                <a:latin typeface="Times New Roman"/>
                <a:cs typeface="Times New Roman"/>
              </a:rPr>
              <a:t>and Dynamic</a:t>
            </a:r>
            <a:r>
              <a:rPr dirty="0" sz="1200" spc="-15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Models:</a:t>
            </a:r>
            <a:endParaRPr sz="1200">
              <a:latin typeface="Times New Roman"/>
              <a:cs typeface="Times New Roman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923115" y="997743"/>
            <a:ext cx="4384040" cy="2267585"/>
            <a:chOff x="1923115" y="997743"/>
            <a:chExt cx="4384040" cy="2267585"/>
          </a:xfrm>
        </p:grpSpPr>
        <p:sp>
          <p:nvSpPr>
            <p:cNvPr id="6" name="object 6"/>
            <p:cNvSpPr/>
            <p:nvPr/>
          </p:nvSpPr>
          <p:spPr>
            <a:xfrm>
              <a:off x="1928569" y="1294843"/>
              <a:ext cx="1692910" cy="1685289"/>
            </a:xfrm>
            <a:custGeom>
              <a:avLst/>
              <a:gdLst/>
              <a:ahLst/>
              <a:cxnLst/>
              <a:rect l="l" t="t" r="r" b="b"/>
              <a:pathLst>
                <a:path w="1692910" h="1685289">
                  <a:moveTo>
                    <a:pt x="1692800" y="0"/>
                  </a:moveTo>
                  <a:lnTo>
                    <a:pt x="0" y="0"/>
                  </a:lnTo>
                  <a:lnTo>
                    <a:pt x="0" y="1685016"/>
                  </a:lnTo>
                  <a:lnTo>
                    <a:pt x="1692800" y="1685016"/>
                  </a:lnTo>
                  <a:lnTo>
                    <a:pt x="1692800" y="0"/>
                  </a:lnTo>
                  <a:close/>
                </a:path>
              </a:pathLst>
            </a:custGeom>
            <a:solidFill>
              <a:srgbClr val="FDEEB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1928569" y="1294843"/>
              <a:ext cx="1692910" cy="1685289"/>
            </a:xfrm>
            <a:custGeom>
              <a:avLst/>
              <a:gdLst/>
              <a:ahLst/>
              <a:cxnLst/>
              <a:rect l="l" t="t" r="r" b="b"/>
              <a:pathLst>
                <a:path w="1692910" h="1685289">
                  <a:moveTo>
                    <a:pt x="0" y="1685016"/>
                  </a:moveTo>
                  <a:lnTo>
                    <a:pt x="1692800" y="1685016"/>
                  </a:lnTo>
                  <a:lnTo>
                    <a:pt x="1692800" y="0"/>
                  </a:lnTo>
                  <a:lnTo>
                    <a:pt x="0" y="0"/>
                  </a:lnTo>
                  <a:lnTo>
                    <a:pt x="0" y="1685016"/>
                  </a:lnTo>
                  <a:close/>
                </a:path>
                <a:path w="1692910" h="1685289">
                  <a:moveTo>
                    <a:pt x="1190034" y="842496"/>
                  </a:moveTo>
                  <a:lnTo>
                    <a:pt x="1348698" y="842496"/>
                  </a:lnTo>
                  <a:lnTo>
                    <a:pt x="1348698" y="684546"/>
                  </a:lnTo>
                  <a:lnTo>
                    <a:pt x="1190034" y="684546"/>
                  </a:lnTo>
                  <a:lnTo>
                    <a:pt x="1190034" y="842496"/>
                  </a:lnTo>
                  <a:close/>
                </a:path>
                <a:path w="1692910" h="1685289">
                  <a:moveTo>
                    <a:pt x="96871" y="254585"/>
                  </a:moveTo>
                  <a:lnTo>
                    <a:pt x="255535" y="254585"/>
                  </a:lnTo>
                  <a:lnTo>
                    <a:pt x="255535" y="96342"/>
                  </a:lnTo>
                  <a:lnTo>
                    <a:pt x="96871" y="96342"/>
                  </a:lnTo>
                  <a:lnTo>
                    <a:pt x="96871" y="254585"/>
                  </a:lnTo>
                  <a:close/>
                </a:path>
                <a:path w="1692910" h="1685289">
                  <a:moveTo>
                    <a:pt x="343786" y="491357"/>
                  </a:moveTo>
                  <a:lnTo>
                    <a:pt x="502450" y="491357"/>
                  </a:lnTo>
                  <a:lnTo>
                    <a:pt x="502450" y="333407"/>
                  </a:lnTo>
                  <a:lnTo>
                    <a:pt x="343786" y="333407"/>
                  </a:lnTo>
                  <a:lnTo>
                    <a:pt x="343786" y="491357"/>
                  </a:lnTo>
                  <a:close/>
                </a:path>
                <a:path w="1692910" h="1685289">
                  <a:moveTo>
                    <a:pt x="590690" y="254585"/>
                  </a:moveTo>
                  <a:lnTo>
                    <a:pt x="749354" y="254585"/>
                  </a:lnTo>
                  <a:lnTo>
                    <a:pt x="749354" y="96342"/>
                  </a:lnTo>
                  <a:lnTo>
                    <a:pt x="590690" y="96342"/>
                  </a:lnTo>
                  <a:lnTo>
                    <a:pt x="590690" y="254585"/>
                  </a:lnTo>
                  <a:close/>
                </a:path>
                <a:path w="1692910" h="1685289">
                  <a:moveTo>
                    <a:pt x="343786" y="254585"/>
                  </a:moveTo>
                  <a:lnTo>
                    <a:pt x="502450" y="254585"/>
                  </a:lnTo>
                  <a:lnTo>
                    <a:pt x="502450" y="96342"/>
                  </a:lnTo>
                  <a:lnTo>
                    <a:pt x="343786" y="96342"/>
                  </a:lnTo>
                  <a:lnTo>
                    <a:pt x="343786" y="254585"/>
                  </a:lnTo>
                  <a:close/>
                </a:path>
                <a:path w="1692910" h="1685289">
                  <a:moveTo>
                    <a:pt x="846230" y="1474318"/>
                  </a:moveTo>
                  <a:lnTo>
                    <a:pt x="1004894" y="1474318"/>
                  </a:lnTo>
                  <a:lnTo>
                    <a:pt x="1004894" y="1316369"/>
                  </a:lnTo>
                  <a:lnTo>
                    <a:pt x="846230" y="1316369"/>
                  </a:lnTo>
                  <a:lnTo>
                    <a:pt x="846230" y="1474318"/>
                  </a:lnTo>
                  <a:close/>
                </a:path>
                <a:path w="1692910" h="1685289">
                  <a:moveTo>
                    <a:pt x="612535" y="1474318"/>
                  </a:moveTo>
                  <a:lnTo>
                    <a:pt x="771494" y="1474318"/>
                  </a:lnTo>
                  <a:lnTo>
                    <a:pt x="771494" y="1316369"/>
                  </a:lnTo>
                  <a:lnTo>
                    <a:pt x="612535" y="1316369"/>
                  </a:lnTo>
                  <a:lnTo>
                    <a:pt x="612535" y="1474318"/>
                  </a:lnTo>
                  <a:close/>
                </a:path>
                <a:path w="1692910" h="1685289">
                  <a:moveTo>
                    <a:pt x="379134" y="1474318"/>
                  </a:moveTo>
                  <a:lnTo>
                    <a:pt x="537798" y="1474318"/>
                  </a:lnTo>
                  <a:lnTo>
                    <a:pt x="537798" y="1316369"/>
                  </a:lnTo>
                  <a:lnTo>
                    <a:pt x="379134" y="1316369"/>
                  </a:lnTo>
                  <a:lnTo>
                    <a:pt x="379134" y="1474318"/>
                  </a:lnTo>
                  <a:close/>
                </a:path>
                <a:path w="1692910" h="1685289">
                  <a:moveTo>
                    <a:pt x="246910" y="1544551"/>
                  </a:moveTo>
                  <a:lnTo>
                    <a:pt x="1128493" y="1544551"/>
                  </a:lnTo>
                  <a:lnTo>
                    <a:pt x="1128493" y="1237241"/>
                  </a:lnTo>
                  <a:lnTo>
                    <a:pt x="246910" y="1237241"/>
                  </a:lnTo>
                  <a:lnTo>
                    <a:pt x="246910" y="1544551"/>
                  </a:lnTo>
                  <a:close/>
                </a:path>
              </a:pathLst>
            </a:custGeom>
            <a:ln w="1090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4608627" y="1294796"/>
              <a:ext cx="1692910" cy="1685289"/>
            </a:xfrm>
            <a:custGeom>
              <a:avLst/>
              <a:gdLst/>
              <a:ahLst/>
              <a:cxnLst/>
              <a:rect l="l" t="t" r="r" b="b"/>
              <a:pathLst>
                <a:path w="1692910" h="1685289">
                  <a:moveTo>
                    <a:pt x="846341" y="0"/>
                  </a:moveTo>
                  <a:lnTo>
                    <a:pt x="798338" y="1334"/>
                  </a:lnTo>
                  <a:lnTo>
                    <a:pt x="751035" y="5288"/>
                  </a:lnTo>
                  <a:lnTo>
                    <a:pt x="704503" y="11792"/>
                  </a:lnTo>
                  <a:lnTo>
                    <a:pt x="658813" y="20775"/>
                  </a:lnTo>
                  <a:lnTo>
                    <a:pt x="614038" y="32164"/>
                  </a:lnTo>
                  <a:lnTo>
                    <a:pt x="570250" y="45890"/>
                  </a:lnTo>
                  <a:lnTo>
                    <a:pt x="527518" y="61880"/>
                  </a:lnTo>
                  <a:lnTo>
                    <a:pt x="485916" y="80064"/>
                  </a:lnTo>
                  <a:lnTo>
                    <a:pt x="445516" y="100370"/>
                  </a:lnTo>
                  <a:lnTo>
                    <a:pt x="406387" y="122727"/>
                  </a:lnTo>
                  <a:lnTo>
                    <a:pt x="368603" y="147064"/>
                  </a:lnTo>
                  <a:lnTo>
                    <a:pt x="332235" y="173310"/>
                  </a:lnTo>
                  <a:lnTo>
                    <a:pt x="297354" y="201393"/>
                  </a:lnTo>
                  <a:lnTo>
                    <a:pt x="264032" y="231243"/>
                  </a:lnTo>
                  <a:lnTo>
                    <a:pt x="232341" y="262788"/>
                  </a:lnTo>
                  <a:lnTo>
                    <a:pt x="202352" y="295956"/>
                  </a:lnTo>
                  <a:lnTo>
                    <a:pt x="174137" y="330678"/>
                  </a:lnTo>
                  <a:lnTo>
                    <a:pt x="147768" y="366881"/>
                  </a:lnTo>
                  <a:lnTo>
                    <a:pt x="123316" y="404495"/>
                  </a:lnTo>
                  <a:lnTo>
                    <a:pt x="100853" y="443448"/>
                  </a:lnTo>
                  <a:lnTo>
                    <a:pt x="80450" y="483669"/>
                  </a:lnTo>
                  <a:lnTo>
                    <a:pt x="62180" y="525087"/>
                  </a:lnTo>
                  <a:lnTo>
                    <a:pt x="46113" y="567630"/>
                  </a:lnTo>
                  <a:lnTo>
                    <a:pt x="32321" y="611228"/>
                  </a:lnTo>
                  <a:lnTo>
                    <a:pt x="20876" y="655809"/>
                  </a:lnTo>
                  <a:lnTo>
                    <a:pt x="11850" y="701303"/>
                  </a:lnTo>
                  <a:lnTo>
                    <a:pt x="5314" y="747637"/>
                  </a:lnTo>
                  <a:lnTo>
                    <a:pt x="1340" y="794741"/>
                  </a:lnTo>
                  <a:lnTo>
                    <a:pt x="0" y="842543"/>
                  </a:lnTo>
                  <a:lnTo>
                    <a:pt x="1340" y="890403"/>
                  </a:lnTo>
                  <a:lnTo>
                    <a:pt x="5314" y="937556"/>
                  </a:lnTo>
                  <a:lnTo>
                    <a:pt x="11850" y="983932"/>
                  </a:lnTo>
                  <a:lnTo>
                    <a:pt x="20876" y="1029460"/>
                  </a:lnTo>
                  <a:lnTo>
                    <a:pt x="32321" y="1074068"/>
                  </a:lnTo>
                  <a:lnTo>
                    <a:pt x="46113" y="1117687"/>
                  </a:lnTo>
                  <a:lnTo>
                    <a:pt x="62180" y="1160245"/>
                  </a:lnTo>
                  <a:lnTo>
                    <a:pt x="80450" y="1201673"/>
                  </a:lnTo>
                  <a:lnTo>
                    <a:pt x="100853" y="1241898"/>
                  </a:lnTo>
                  <a:lnTo>
                    <a:pt x="123316" y="1280850"/>
                  </a:lnTo>
                  <a:lnTo>
                    <a:pt x="147768" y="1318460"/>
                  </a:lnTo>
                  <a:lnTo>
                    <a:pt x="174137" y="1354655"/>
                  </a:lnTo>
                  <a:lnTo>
                    <a:pt x="202352" y="1389365"/>
                  </a:lnTo>
                  <a:lnTo>
                    <a:pt x="232341" y="1422519"/>
                  </a:lnTo>
                  <a:lnTo>
                    <a:pt x="264032" y="1454048"/>
                  </a:lnTo>
                  <a:lnTo>
                    <a:pt x="297354" y="1483879"/>
                  </a:lnTo>
                  <a:lnTo>
                    <a:pt x="332235" y="1511942"/>
                  </a:lnTo>
                  <a:lnTo>
                    <a:pt x="368603" y="1538167"/>
                  </a:lnTo>
                  <a:lnTo>
                    <a:pt x="406387" y="1562482"/>
                  </a:lnTo>
                  <a:lnTo>
                    <a:pt x="445516" y="1584818"/>
                  </a:lnTo>
                  <a:lnTo>
                    <a:pt x="485916" y="1605102"/>
                  </a:lnTo>
                  <a:lnTo>
                    <a:pt x="527518" y="1623265"/>
                  </a:lnTo>
                  <a:lnTo>
                    <a:pt x="570250" y="1639236"/>
                  </a:lnTo>
                  <a:lnTo>
                    <a:pt x="614038" y="1652944"/>
                  </a:lnTo>
                  <a:lnTo>
                    <a:pt x="658813" y="1664318"/>
                  </a:lnTo>
                  <a:lnTo>
                    <a:pt x="704503" y="1673288"/>
                  </a:lnTo>
                  <a:lnTo>
                    <a:pt x="751035" y="1679782"/>
                  </a:lnTo>
                  <a:lnTo>
                    <a:pt x="798338" y="1683731"/>
                  </a:lnTo>
                  <a:lnTo>
                    <a:pt x="846341" y="1685063"/>
                  </a:lnTo>
                  <a:lnTo>
                    <a:pt x="894356" y="1683731"/>
                  </a:lnTo>
                  <a:lnTo>
                    <a:pt x="941670" y="1679782"/>
                  </a:lnTo>
                  <a:lnTo>
                    <a:pt x="988212" y="1673288"/>
                  </a:lnTo>
                  <a:lnTo>
                    <a:pt x="1033911" y="1664318"/>
                  </a:lnTo>
                  <a:lnTo>
                    <a:pt x="1078695" y="1652944"/>
                  </a:lnTo>
                  <a:lnTo>
                    <a:pt x="1122492" y="1639236"/>
                  </a:lnTo>
                  <a:lnTo>
                    <a:pt x="1165230" y="1623265"/>
                  </a:lnTo>
                  <a:lnTo>
                    <a:pt x="1206839" y="1605102"/>
                  </a:lnTo>
                  <a:lnTo>
                    <a:pt x="1247246" y="1584818"/>
                  </a:lnTo>
                  <a:lnTo>
                    <a:pt x="1286380" y="1562482"/>
                  </a:lnTo>
                  <a:lnTo>
                    <a:pt x="1324169" y="1538167"/>
                  </a:lnTo>
                  <a:lnTo>
                    <a:pt x="1360541" y="1511942"/>
                  </a:lnTo>
                  <a:lnTo>
                    <a:pt x="1395426" y="1483879"/>
                  </a:lnTo>
                  <a:lnTo>
                    <a:pt x="1428752" y="1454048"/>
                  </a:lnTo>
                  <a:lnTo>
                    <a:pt x="1460446" y="1422519"/>
                  </a:lnTo>
                  <a:lnTo>
                    <a:pt x="1490437" y="1389365"/>
                  </a:lnTo>
                  <a:lnTo>
                    <a:pt x="1518654" y="1354655"/>
                  </a:lnTo>
                  <a:lnTo>
                    <a:pt x="1545025" y="1318460"/>
                  </a:lnTo>
                  <a:lnTo>
                    <a:pt x="1569479" y="1280850"/>
                  </a:lnTo>
                  <a:lnTo>
                    <a:pt x="1591944" y="1241898"/>
                  </a:lnTo>
                  <a:lnTo>
                    <a:pt x="1612347" y="1201673"/>
                  </a:lnTo>
                  <a:lnTo>
                    <a:pt x="1630619" y="1160245"/>
                  </a:lnTo>
                  <a:lnTo>
                    <a:pt x="1646686" y="1117687"/>
                  </a:lnTo>
                  <a:lnTo>
                    <a:pt x="1660479" y="1074068"/>
                  </a:lnTo>
                  <a:lnTo>
                    <a:pt x="1671924" y="1029460"/>
                  </a:lnTo>
                  <a:lnTo>
                    <a:pt x="1680950" y="983932"/>
                  </a:lnTo>
                  <a:lnTo>
                    <a:pt x="1687486" y="937556"/>
                  </a:lnTo>
                  <a:lnTo>
                    <a:pt x="1691460" y="890403"/>
                  </a:lnTo>
                  <a:lnTo>
                    <a:pt x="1692800" y="842543"/>
                  </a:lnTo>
                  <a:lnTo>
                    <a:pt x="1691460" y="794741"/>
                  </a:lnTo>
                  <a:lnTo>
                    <a:pt x="1687486" y="747637"/>
                  </a:lnTo>
                  <a:lnTo>
                    <a:pt x="1680950" y="701303"/>
                  </a:lnTo>
                  <a:lnTo>
                    <a:pt x="1671924" y="655809"/>
                  </a:lnTo>
                  <a:lnTo>
                    <a:pt x="1660479" y="611228"/>
                  </a:lnTo>
                  <a:lnTo>
                    <a:pt x="1646686" y="567630"/>
                  </a:lnTo>
                  <a:lnTo>
                    <a:pt x="1630619" y="525087"/>
                  </a:lnTo>
                  <a:lnTo>
                    <a:pt x="1612347" y="483669"/>
                  </a:lnTo>
                  <a:lnTo>
                    <a:pt x="1591944" y="443448"/>
                  </a:lnTo>
                  <a:lnTo>
                    <a:pt x="1569479" y="404495"/>
                  </a:lnTo>
                  <a:lnTo>
                    <a:pt x="1545025" y="366881"/>
                  </a:lnTo>
                  <a:lnTo>
                    <a:pt x="1518654" y="330678"/>
                  </a:lnTo>
                  <a:lnTo>
                    <a:pt x="1490437" y="295956"/>
                  </a:lnTo>
                  <a:lnTo>
                    <a:pt x="1460446" y="262788"/>
                  </a:lnTo>
                  <a:lnTo>
                    <a:pt x="1428752" y="231243"/>
                  </a:lnTo>
                  <a:lnTo>
                    <a:pt x="1395426" y="201393"/>
                  </a:lnTo>
                  <a:lnTo>
                    <a:pt x="1360541" y="173310"/>
                  </a:lnTo>
                  <a:lnTo>
                    <a:pt x="1324169" y="147064"/>
                  </a:lnTo>
                  <a:lnTo>
                    <a:pt x="1286380" y="122727"/>
                  </a:lnTo>
                  <a:lnTo>
                    <a:pt x="1247246" y="100370"/>
                  </a:lnTo>
                  <a:lnTo>
                    <a:pt x="1206839" y="80064"/>
                  </a:lnTo>
                  <a:lnTo>
                    <a:pt x="1165230" y="61880"/>
                  </a:lnTo>
                  <a:lnTo>
                    <a:pt x="1122492" y="45890"/>
                  </a:lnTo>
                  <a:lnTo>
                    <a:pt x="1078695" y="32164"/>
                  </a:lnTo>
                  <a:lnTo>
                    <a:pt x="1033911" y="20775"/>
                  </a:lnTo>
                  <a:lnTo>
                    <a:pt x="988212" y="11792"/>
                  </a:lnTo>
                  <a:lnTo>
                    <a:pt x="941670" y="5288"/>
                  </a:lnTo>
                  <a:lnTo>
                    <a:pt x="894356" y="1334"/>
                  </a:lnTo>
                  <a:lnTo>
                    <a:pt x="846341" y="0"/>
                  </a:lnTo>
                  <a:close/>
                </a:path>
              </a:pathLst>
            </a:custGeom>
            <a:solidFill>
              <a:srgbClr val="FDEEB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4608627" y="1294796"/>
              <a:ext cx="1692910" cy="1685289"/>
            </a:xfrm>
            <a:custGeom>
              <a:avLst/>
              <a:gdLst/>
              <a:ahLst/>
              <a:cxnLst/>
              <a:rect l="l" t="t" r="r" b="b"/>
              <a:pathLst>
                <a:path w="1692910" h="1685289">
                  <a:moveTo>
                    <a:pt x="1692800" y="842543"/>
                  </a:moveTo>
                  <a:lnTo>
                    <a:pt x="1691460" y="794741"/>
                  </a:lnTo>
                  <a:lnTo>
                    <a:pt x="1687486" y="747637"/>
                  </a:lnTo>
                  <a:lnTo>
                    <a:pt x="1680950" y="701303"/>
                  </a:lnTo>
                  <a:lnTo>
                    <a:pt x="1671924" y="655809"/>
                  </a:lnTo>
                  <a:lnTo>
                    <a:pt x="1660479" y="611228"/>
                  </a:lnTo>
                  <a:lnTo>
                    <a:pt x="1646686" y="567630"/>
                  </a:lnTo>
                  <a:lnTo>
                    <a:pt x="1630619" y="525087"/>
                  </a:lnTo>
                  <a:lnTo>
                    <a:pt x="1612347" y="483669"/>
                  </a:lnTo>
                  <a:lnTo>
                    <a:pt x="1591944" y="443448"/>
                  </a:lnTo>
                  <a:lnTo>
                    <a:pt x="1569479" y="404495"/>
                  </a:lnTo>
                  <a:lnTo>
                    <a:pt x="1545025" y="366881"/>
                  </a:lnTo>
                  <a:lnTo>
                    <a:pt x="1518654" y="330678"/>
                  </a:lnTo>
                  <a:lnTo>
                    <a:pt x="1490437" y="295956"/>
                  </a:lnTo>
                  <a:lnTo>
                    <a:pt x="1460446" y="262788"/>
                  </a:lnTo>
                  <a:lnTo>
                    <a:pt x="1428752" y="231243"/>
                  </a:lnTo>
                  <a:lnTo>
                    <a:pt x="1395426" y="201393"/>
                  </a:lnTo>
                  <a:lnTo>
                    <a:pt x="1360541" y="173310"/>
                  </a:lnTo>
                  <a:lnTo>
                    <a:pt x="1324169" y="147064"/>
                  </a:lnTo>
                  <a:lnTo>
                    <a:pt x="1286380" y="122727"/>
                  </a:lnTo>
                  <a:lnTo>
                    <a:pt x="1247246" y="100370"/>
                  </a:lnTo>
                  <a:lnTo>
                    <a:pt x="1206839" y="80064"/>
                  </a:lnTo>
                  <a:lnTo>
                    <a:pt x="1165230" y="61880"/>
                  </a:lnTo>
                  <a:lnTo>
                    <a:pt x="1122492" y="45890"/>
                  </a:lnTo>
                  <a:lnTo>
                    <a:pt x="1078695" y="32164"/>
                  </a:lnTo>
                  <a:lnTo>
                    <a:pt x="1033911" y="20775"/>
                  </a:lnTo>
                  <a:lnTo>
                    <a:pt x="988212" y="11792"/>
                  </a:lnTo>
                  <a:lnTo>
                    <a:pt x="941670" y="5288"/>
                  </a:lnTo>
                  <a:lnTo>
                    <a:pt x="894356" y="1334"/>
                  </a:lnTo>
                  <a:lnTo>
                    <a:pt x="846341" y="0"/>
                  </a:lnTo>
                  <a:lnTo>
                    <a:pt x="798338" y="1334"/>
                  </a:lnTo>
                  <a:lnTo>
                    <a:pt x="751035" y="5288"/>
                  </a:lnTo>
                  <a:lnTo>
                    <a:pt x="704503" y="11792"/>
                  </a:lnTo>
                  <a:lnTo>
                    <a:pt x="658813" y="20775"/>
                  </a:lnTo>
                  <a:lnTo>
                    <a:pt x="614038" y="32164"/>
                  </a:lnTo>
                  <a:lnTo>
                    <a:pt x="570250" y="45890"/>
                  </a:lnTo>
                  <a:lnTo>
                    <a:pt x="527518" y="61880"/>
                  </a:lnTo>
                  <a:lnTo>
                    <a:pt x="485916" y="80064"/>
                  </a:lnTo>
                  <a:lnTo>
                    <a:pt x="445516" y="100370"/>
                  </a:lnTo>
                  <a:lnTo>
                    <a:pt x="406387" y="122727"/>
                  </a:lnTo>
                  <a:lnTo>
                    <a:pt x="368603" y="147064"/>
                  </a:lnTo>
                  <a:lnTo>
                    <a:pt x="332235" y="173310"/>
                  </a:lnTo>
                  <a:lnTo>
                    <a:pt x="297354" y="201393"/>
                  </a:lnTo>
                  <a:lnTo>
                    <a:pt x="264032" y="231243"/>
                  </a:lnTo>
                  <a:lnTo>
                    <a:pt x="232341" y="262788"/>
                  </a:lnTo>
                  <a:lnTo>
                    <a:pt x="202352" y="295956"/>
                  </a:lnTo>
                  <a:lnTo>
                    <a:pt x="174137" y="330678"/>
                  </a:lnTo>
                  <a:lnTo>
                    <a:pt x="147768" y="366881"/>
                  </a:lnTo>
                  <a:lnTo>
                    <a:pt x="123316" y="404495"/>
                  </a:lnTo>
                  <a:lnTo>
                    <a:pt x="100853" y="443448"/>
                  </a:lnTo>
                  <a:lnTo>
                    <a:pt x="80450" y="483669"/>
                  </a:lnTo>
                  <a:lnTo>
                    <a:pt x="62180" y="525087"/>
                  </a:lnTo>
                  <a:lnTo>
                    <a:pt x="46113" y="567630"/>
                  </a:lnTo>
                  <a:lnTo>
                    <a:pt x="32321" y="611228"/>
                  </a:lnTo>
                  <a:lnTo>
                    <a:pt x="20876" y="655809"/>
                  </a:lnTo>
                  <a:lnTo>
                    <a:pt x="11850" y="701303"/>
                  </a:lnTo>
                  <a:lnTo>
                    <a:pt x="5314" y="747637"/>
                  </a:lnTo>
                  <a:lnTo>
                    <a:pt x="1340" y="794741"/>
                  </a:lnTo>
                  <a:lnTo>
                    <a:pt x="0" y="842543"/>
                  </a:lnTo>
                  <a:lnTo>
                    <a:pt x="1340" y="890403"/>
                  </a:lnTo>
                  <a:lnTo>
                    <a:pt x="5314" y="937556"/>
                  </a:lnTo>
                  <a:lnTo>
                    <a:pt x="11850" y="983932"/>
                  </a:lnTo>
                  <a:lnTo>
                    <a:pt x="20876" y="1029460"/>
                  </a:lnTo>
                  <a:lnTo>
                    <a:pt x="32321" y="1074068"/>
                  </a:lnTo>
                  <a:lnTo>
                    <a:pt x="46113" y="1117687"/>
                  </a:lnTo>
                  <a:lnTo>
                    <a:pt x="62180" y="1160245"/>
                  </a:lnTo>
                  <a:lnTo>
                    <a:pt x="80450" y="1201673"/>
                  </a:lnTo>
                  <a:lnTo>
                    <a:pt x="100853" y="1241898"/>
                  </a:lnTo>
                  <a:lnTo>
                    <a:pt x="123316" y="1280850"/>
                  </a:lnTo>
                  <a:lnTo>
                    <a:pt x="147768" y="1318460"/>
                  </a:lnTo>
                  <a:lnTo>
                    <a:pt x="174137" y="1354655"/>
                  </a:lnTo>
                  <a:lnTo>
                    <a:pt x="202352" y="1389365"/>
                  </a:lnTo>
                  <a:lnTo>
                    <a:pt x="232341" y="1422519"/>
                  </a:lnTo>
                  <a:lnTo>
                    <a:pt x="264032" y="1454048"/>
                  </a:lnTo>
                  <a:lnTo>
                    <a:pt x="297354" y="1483879"/>
                  </a:lnTo>
                  <a:lnTo>
                    <a:pt x="332235" y="1511942"/>
                  </a:lnTo>
                  <a:lnTo>
                    <a:pt x="368603" y="1538167"/>
                  </a:lnTo>
                  <a:lnTo>
                    <a:pt x="406387" y="1562482"/>
                  </a:lnTo>
                  <a:lnTo>
                    <a:pt x="445516" y="1584818"/>
                  </a:lnTo>
                  <a:lnTo>
                    <a:pt x="485916" y="1605102"/>
                  </a:lnTo>
                  <a:lnTo>
                    <a:pt x="527518" y="1623265"/>
                  </a:lnTo>
                  <a:lnTo>
                    <a:pt x="570250" y="1639236"/>
                  </a:lnTo>
                  <a:lnTo>
                    <a:pt x="614038" y="1652944"/>
                  </a:lnTo>
                  <a:lnTo>
                    <a:pt x="658813" y="1664318"/>
                  </a:lnTo>
                  <a:lnTo>
                    <a:pt x="704503" y="1673288"/>
                  </a:lnTo>
                  <a:lnTo>
                    <a:pt x="751035" y="1679782"/>
                  </a:lnTo>
                  <a:lnTo>
                    <a:pt x="798338" y="1683731"/>
                  </a:lnTo>
                  <a:lnTo>
                    <a:pt x="846341" y="1685063"/>
                  </a:lnTo>
                  <a:lnTo>
                    <a:pt x="894356" y="1683731"/>
                  </a:lnTo>
                  <a:lnTo>
                    <a:pt x="941670" y="1679782"/>
                  </a:lnTo>
                  <a:lnTo>
                    <a:pt x="988212" y="1673288"/>
                  </a:lnTo>
                  <a:lnTo>
                    <a:pt x="1033911" y="1664318"/>
                  </a:lnTo>
                  <a:lnTo>
                    <a:pt x="1078695" y="1652944"/>
                  </a:lnTo>
                  <a:lnTo>
                    <a:pt x="1122492" y="1639236"/>
                  </a:lnTo>
                  <a:lnTo>
                    <a:pt x="1165230" y="1623265"/>
                  </a:lnTo>
                  <a:lnTo>
                    <a:pt x="1206839" y="1605102"/>
                  </a:lnTo>
                  <a:lnTo>
                    <a:pt x="1247246" y="1584818"/>
                  </a:lnTo>
                  <a:lnTo>
                    <a:pt x="1286380" y="1562482"/>
                  </a:lnTo>
                  <a:lnTo>
                    <a:pt x="1324169" y="1538167"/>
                  </a:lnTo>
                  <a:lnTo>
                    <a:pt x="1360541" y="1511942"/>
                  </a:lnTo>
                  <a:lnTo>
                    <a:pt x="1395426" y="1483879"/>
                  </a:lnTo>
                  <a:lnTo>
                    <a:pt x="1428752" y="1454048"/>
                  </a:lnTo>
                  <a:lnTo>
                    <a:pt x="1460446" y="1422519"/>
                  </a:lnTo>
                  <a:lnTo>
                    <a:pt x="1490437" y="1389365"/>
                  </a:lnTo>
                  <a:lnTo>
                    <a:pt x="1518654" y="1354655"/>
                  </a:lnTo>
                  <a:lnTo>
                    <a:pt x="1545025" y="1318460"/>
                  </a:lnTo>
                  <a:lnTo>
                    <a:pt x="1569479" y="1280850"/>
                  </a:lnTo>
                  <a:lnTo>
                    <a:pt x="1591944" y="1241898"/>
                  </a:lnTo>
                  <a:lnTo>
                    <a:pt x="1612347" y="1201673"/>
                  </a:lnTo>
                  <a:lnTo>
                    <a:pt x="1630619" y="1160245"/>
                  </a:lnTo>
                  <a:lnTo>
                    <a:pt x="1646686" y="1117687"/>
                  </a:lnTo>
                  <a:lnTo>
                    <a:pt x="1660479" y="1074068"/>
                  </a:lnTo>
                  <a:lnTo>
                    <a:pt x="1671924" y="1029460"/>
                  </a:lnTo>
                  <a:lnTo>
                    <a:pt x="1680950" y="983932"/>
                  </a:lnTo>
                  <a:lnTo>
                    <a:pt x="1687486" y="937556"/>
                  </a:lnTo>
                  <a:lnTo>
                    <a:pt x="1691460" y="890403"/>
                  </a:lnTo>
                  <a:lnTo>
                    <a:pt x="1692800" y="842543"/>
                  </a:lnTo>
                </a:path>
              </a:pathLst>
            </a:custGeom>
            <a:ln w="1090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5596006" y="2558453"/>
              <a:ext cx="267970" cy="266700"/>
            </a:xfrm>
            <a:custGeom>
              <a:avLst/>
              <a:gdLst/>
              <a:ahLst/>
              <a:cxnLst/>
              <a:rect l="l" t="t" r="r" b="b"/>
              <a:pathLst>
                <a:path w="267970" h="266700">
                  <a:moveTo>
                    <a:pt x="133732" y="0"/>
                  </a:moveTo>
                  <a:lnTo>
                    <a:pt x="91681" y="6846"/>
                  </a:lnTo>
                  <a:lnTo>
                    <a:pt x="54998" y="25872"/>
                  </a:lnTo>
                  <a:lnTo>
                    <a:pt x="25966" y="54805"/>
                  </a:lnTo>
                  <a:lnTo>
                    <a:pt x="6872" y="91374"/>
                  </a:lnTo>
                  <a:lnTo>
                    <a:pt x="0" y="133309"/>
                  </a:lnTo>
                  <a:lnTo>
                    <a:pt x="6872" y="175428"/>
                  </a:lnTo>
                  <a:lnTo>
                    <a:pt x="25966" y="211948"/>
                  </a:lnTo>
                  <a:lnTo>
                    <a:pt x="54998" y="240710"/>
                  </a:lnTo>
                  <a:lnTo>
                    <a:pt x="91681" y="259551"/>
                  </a:lnTo>
                  <a:lnTo>
                    <a:pt x="133732" y="266312"/>
                  </a:lnTo>
                  <a:lnTo>
                    <a:pt x="176087" y="259551"/>
                  </a:lnTo>
                  <a:lnTo>
                    <a:pt x="212780" y="240710"/>
                  </a:lnTo>
                  <a:lnTo>
                    <a:pt x="241658" y="211948"/>
                  </a:lnTo>
                  <a:lnTo>
                    <a:pt x="260565" y="175428"/>
                  </a:lnTo>
                  <a:lnTo>
                    <a:pt x="267346" y="133309"/>
                  </a:lnTo>
                  <a:lnTo>
                    <a:pt x="260565" y="91374"/>
                  </a:lnTo>
                  <a:lnTo>
                    <a:pt x="241658" y="54805"/>
                  </a:lnTo>
                  <a:lnTo>
                    <a:pt x="212780" y="25872"/>
                  </a:lnTo>
                  <a:lnTo>
                    <a:pt x="176087" y="6846"/>
                  </a:lnTo>
                  <a:lnTo>
                    <a:pt x="133732" y="0"/>
                  </a:lnTo>
                  <a:close/>
                </a:path>
              </a:pathLst>
            </a:custGeom>
            <a:solidFill>
              <a:srgbClr val="FDEEB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5596006" y="2558453"/>
              <a:ext cx="267970" cy="266700"/>
            </a:xfrm>
            <a:custGeom>
              <a:avLst/>
              <a:gdLst/>
              <a:ahLst/>
              <a:cxnLst/>
              <a:rect l="l" t="t" r="r" b="b"/>
              <a:pathLst>
                <a:path w="267970" h="266700">
                  <a:moveTo>
                    <a:pt x="267346" y="133309"/>
                  </a:moveTo>
                  <a:lnTo>
                    <a:pt x="260565" y="91261"/>
                  </a:lnTo>
                  <a:lnTo>
                    <a:pt x="241658" y="54678"/>
                  </a:lnTo>
                  <a:lnTo>
                    <a:pt x="212780" y="25787"/>
                  </a:lnTo>
                  <a:lnTo>
                    <a:pt x="176087" y="6818"/>
                  </a:lnTo>
                  <a:lnTo>
                    <a:pt x="133732" y="0"/>
                  </a:lnTo>
                  <a:lnTo>
                    <a:pt x="91681" y="6818"/>
                  </a:lnTo>
                  <a:lnTo>
                    <a:pt x="54998" y="25787"/>
                  </a:lnTo>
                  <a:lnTo>
                    <a:pt x="25966" y="54678"/>
                  </a:lnTo>
                  <a:lnTo>
                    <a:pt x="6872" y="91261"/>
                  </a:lnTo>
                  <a:lnTo>
                    <a:pt x="0" y="133309"/>
                  </a:lnTo>
                  <a:lnTo>
                    <a:pt x="6872" y="175428"/>
                  </a:lnTo>
                  <a:lnTo>
                    <a:pt x="25966" y="211948"/>
                  </a:lnTo>
                  <a:lnTo>
                    <a:pt x="54998" y="240710"/>
                  </a:lnTo>
                  <a:lnTo>
                    <a:pt x="91681" y="259551"/>
                  </a:lnTo>
                  <a:lnTo>
                    <a:pt x="133732" y="266312"/>
                  </a:lnTo>
                  <a:lnTo>
                    <a:pt x="176087" y="259551"/>
                  </a:lnTo>
                  <a:lnTo>
                    <a:pt x="212780" y="240710"/>
                  </a:lnTo>
                  <a:lnTo>
                    <a:pt x="241658" y="211948"/>
                  </a:lnTo>
                  <a:lnTo>
                    <a:pt x="260565" y="175428"/>
                  </a:lnTo>
                  <a:lnTo>
                    <a:pt x="267346" y="133309"/>
                  </a:lnTo>
                </a:path>
              </a:pathLst>
            </a:custGeom>
            <a:ln w="1090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627431" y="2589696"/>
              <a:ext cx="204848" cy="203838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819723" y="1850897"/>
              <a:ext cx="204848" cy="204203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281848" y="1447269"/>
              <a:ext cx="204966" cy="203850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105699" y="1868405"/>
              <a:ext cx="204966" cy="204203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105699" y="2482766"/>
              <a:ext cx="204966" cy="204120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105699" y="2175750"/>
              <a:ext cx="204966" cy="203838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4926049" y="1715933"/>
              <a:ext cx="564515" cy="1123950"/>
            </a:xfrm>
            <a:custGeom>
              <a:avLst/>
              <a:gdLst/>
              <a:ahLst/>
              <a:cxnLst/>
              <a:rect l="l" t="t" r="r" b="b"/>
              <a:pathLst>
                <a:path w="564514" h="1123950">
                  <a:moveTo>
                    <a:pt x="281956" y="0"/>
                  </a:moveTo>
                  <a:lnTo>
                    <a:pt x="221527" y="12965"/>
                  </a:lnTo>
                  <a:lnTo>
                    <a:pt x="165587" y="50031"/>
                  </a:lnTo>
                  <a:lnTo>
                    <a:pt x="115519" y="108447"/>
                  </a:lnTo>
                  <a:lnTo>
                    <a:pt x="93119" y="144804"/>
                  </a:lnTo>
                  <a:lnTo>
                    <a:pt x="72707" y="185468"/>
                  </a:lnTo>
                  <a:lnTo>
                    <a:pt x="54456" y="230096"/>
                  </a:lnTo>
                  <a:lnTo>
                    <a:pt x="38537" y="278344"/>
                  </a:lnTo>
                  <a:lnTo>
                    <a:pt x="25125" y="329870"/>
                  </a:lnTo>
                  <a:lnTo>
                    <a:pt x="14392" y="384329"/>
                  </a:lnTo>
                  <a:lnTo>
                    <a:pt x="6512" y="441378"/>
                  </a:lnTo>
                  <a:lnTo>
                    <a:pt x="1656" y="500673"/>
                  </a:lnTo>
                  <a:lnTo>
                    <a:pt x="0" y="561871"/>
                  </a:lnTo>
                  <a:lnTo>
                    <a:pt x="1656" y="623166"/>
                  </a:lnTo>
                  <a:lnTo>
                    <a:pt x="6512" y="682524"/>
                  </a:lnTo>
                  <a:lnTo>
                    <a:pt x="14392" y="739606"/>
                  </a:lnTo>
                  <a:lnTo>
                    <a:pt x="25125" y="794071"/>
                  </a:lnTo>
                  <a:lnTo>
                    <a:pt x="38537" y="845581"/>
                  </a:lnTo>
                  <a:lnTo>
                    <a:pt x="54456" y="893796"/>
                  </a:lnTo>
                  <a:lnTo>
                    <a:pt x="72707" y="938377"/>
                  </a:lnTo>
                  <a:lnTo>
                    <a:pt x="93119" y="978984"/>
                  </a:lnTo>
                  <a:lnTo>
                    <a:pt x="115519" y="1015278"/>
                  </a:lnTo>
                  <a:lnTo>
                    <a:pt x="139732" y="1046920"/>
                  </a:lnTo>
                  <a:lnTo>
                    <a:pt x="192909" y="1094888"/>
                  </a:lnTo>
                  <a:lnTo>
                    <a:pt x="251267" y="1120173"/>
                  </a:lnTo>
                  <a:lnTo>
                    <a:pt x="281956" y="1123461"/>
                  </a:lnTo>
                  <a:lnTo>
                    <a:pt x="312691" y="1120173"/>
                  </a:lnTo>
                  <a:lnTo>
                    <a:pt x="371130" y="1094888"/>
                  </a:lnTo>
                  <a:lnTo>
                    <a:pt x="424377" y="1046920"/>
                  </a:lnTo>
                  <a:lnTo>
                    <a:pt x="448620" y="1015278"/>
                  </a:lnTo>
                  <a:lnTo>
                    <a:pt x="471046" y="978984"/>
                  </a:lnTo>
                  <a:lnTo>
                    <a:pt x="491482" y="938377"/>
                  </a:lnTo>
                  <a:lnTo>
                    <a:pt x="509754" y="893796"/>
                  </a:lnTo>
                  <a:lnTo>
                    <a:pt x="525690" y="845581"/>
                  </a:lnTo>
                  <a:lnTo>
                    <a:pt x="539116" y="794071"/>
                  </a:lnTo>
                  <a:lnTo>
                    <a:pt x="549860" y="739606"/>
                  </a:lnTo>
                  <a:lnTo>
                    <a:pt x="557748" y="682524"/>
                  </a:lnTo>
                  <a:lnTo>
                    <a:pt x="562608" y="623166"/>
                  </a:lnTo>
                  <a:lnTo>
                    <a:pt x="564266" y="561871"/>
                  </a:lnTo>
                  <a:lnTo>
                    <a:pt x="562608" y="500673"/>
                  </a:lnTo>
                  <a:lnTo>
                    <a:pt x="557748" y="441378"/>
                  </a:lnTo>
                  <a:lnTo>
                    <a:pt x="549860" y="384329"/>
                  </a:lnTo>
                  <a:lnTo>
                    <a:pt x="539116" y="329870"/>
                  </a:lnTo>
                  <a:lnTo>
                    <a:pt x="525690" y="278344"/>
                  </a:lnTo>
                  <a:lnTo>
                    <a:pt x="509754" y="230096"/>
                  </a:lnTo>
                  <a:lnTo>
                    <a:pt x="491482" y="185468"/>
                  </a:lnTo>
                  <a:lnTo>
                    <a:pt x="471046" y="144804"/>
                  </a:lnTo>
                  <a:lnTo>
                    <a:pt x="448620" y="108447"/>
                  </a:lnTo>
                  <a:lnTo>
                    <a:pt x="424377" y="76742"/>
                  </a:lnTo>
                  <a:lnTo>
                    <a:pt x="371130" y="28657"/>
                  </a:lnTo>
                  <a:lnTo>
                    <a:pt x="312691" y="3298"/>
                  </a:lnTo>
                  <a:lnTo>
                    <a:pt x="281956" y="0"/>
                  </a:lnTo>
                </a:path>
              </a:pathLst>
            </a:custGeom>
            <a:ln w="1091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3270599" y="1568935"/>
              <a:ext cx="2583180" cy="435609"/>
            </a:xfrm>
            <a:custGeom>
              <a:avLst/>
              <a:gdLst/>
              <a:ahLst/>
              <a:cxnLst/>
              <a:rect l="l" t="t" r="r" b="b"/>
              <a:pathLst>
                <a:path w="2583179" h="435610">
                  <a:moveTo>
                    <a:pt x="75879" y="377542"/>
                  </a:moveTo>
                  <a:lnTo>
                    <a:pt x="3770" y="423604"/>
                  </a:lnTo>
                  <a:lnTo>
                    <a:pt x="942" y="425131"/>
                  </a:lnTo>
                  <a:lnTo>
                    <a:pt x="0" y="428539"/>
                  </a:lnTo>
                  <a:lnTo>
                    <a:pt x="2356" y="431712"/>
                  </a:lnTo>
                  <a:lnTo>
                    <a:pt x="3770" y="433709"/>
                  </a:lnTo>
                  <a:lnTo>
                    <a:pt x="7540" y="435119"/>
                  </a:lnTo>
                  <a:lnTo>
                    <a:pt x="10368" y="433122"/>
                  </a:lnTo>
                  <a:lnTo>
                    <a:pt x="79650" y="389292"/>
                  </a:lnTo>
                  <a:lnTo>
                    <a:pt x="82477" y="387765"/>
                  </a:lnTo>
                  <a:lnTo>
                    <a:pt x="83067" y="384122"/>
                  </a:lnTo>
                  <a:lnTo>
                    <a:pt x="81653" y="381185"/>
                  </a:lnTo>
                  <a:lnTo>
                    <a:pt x="79650" y="378012"/>
                  </a:lnTo>
                  <a:lnTo>
                    <a:pt x="75879" y="377542"/>
                  </a:lnTo>
                  <a:close/>
                </a:path>
                <a:path w="2583179" h="435610">
                  <a:moveTo>
                    <a:pt x="196886" y="304924"/>
                  </a:moveTo>
                  <a:lnTo>
                    <a:pt x="150109" y="330775"/>
                  </a:lnTo>
                  <a:lnTo>
                    <a:pt x="119357" y="353453"/>
                  </a:lnTo>
                  <a:lnTo>
                    <a:pt x="121360" y="355451"/>
                  </a:lnTo>
                  <a:lnTo>
                    <a:pt x="122774" y="358624"/>
                  </a:lnTo>
                  <a:lnTo>
                    <a:pt x="126544" y="359094"/>
                  </a:lnTo>
                  <a:lnTo>
                    <a:pt x="129372" y="357684"/>
                  </a:lnTo>
                  <a:lnTo>
                    <a:pt x="156708" y="340175"/>
                  </a:lnTo>
                  <a:lnTo>
                    <a:pt x="200067" y="316674"/>
                  </a:lnTo>
                  <a:lnTo>
                    <a:pt x="203013" y="315264"/>
                  </a:lnTo>
                  <a:lnTo>
                    <a:pt x="203602" y="311504"/>
                  </a:lnTo>
                  <a:lnTo>
                    <a:pt x="202070" y="308684"/>
                  </a:lnTo>
                  <a:lnTo>
                    <a:pt x="200657" y="305864"/>
                  </a:lnTo>
                  <a:lnTo>
                    <a:pt x="196886" y="304924"/>
                  </a:lnTo>
                  <a:close/>
                </a:path>
                <a:path w="2583179" h="435610">
                  <a:moveTo>
                    <a:pt x="322842" y="239356"/>
                  </a:moveTo>
                  <a:lnTo>
                    <a:pt x="301280" y="248757"/>
                  </a:lnTo>
                  <a:lnTo>
                    <a:pt x="246373" y="278603"/>
                  </a:lnTo>
                  <a:lnTo>
                    <a:pt x="243192" y="280248"/>
                  </a:lnTo>
                  <a:lnTo>
                    <a:pt x="241778" y="283773"/>
                  </a:lnTo>
                  <a:lnTo>
                    <a:pt x="244134" y="286946"/>
                  </a:lnTo>
                  <a:lnTo>
                    <a:pt x="245548" y="289766"/>
                  </a:lnTo>
                  <a:lnTo>
                    <a:pt x="248376" y="290353"/>
                  </a:lnTo>
                  <a:lnTo>
                    <a:pt x="251557" y="288943"/>
                  </a:lnTo>
                  <a:lnTo>
                    <a:pt x="306464" y="259685"/>
                  </a:lnTo>
                  <a:lnTo>
                    <a:pt x="324256" y="251694"/>
                  </a:lnTo>
                  <a:lnTo>
                    <a:pt x="327201" y="250167"/>
                  </a:lnTo>
                  <a:lnTo>
                    <a:pt x="328615" y="246524"/>
                  </a:lnTo>
                  <a:lnTo>
                    <a:pt x="327201" y="243587"/>
                  </a:lnTo>
                  <a:lnTo>
                    <a:pt x="325670" y="240766"/>
                  </a:lnTo>
                  <a:lnTo>
                    <a:pt x="322842" y="239356"/>
                  </a:lnTo>
                  <a:close/>
                </a:path>
                <a:path w="2583179" h="435610">
                  <a:moveTo>
                    <a:pt x="450447" y="181427"/>
                  </a:moveTo>
                  <a:lnTo>
                    <a:pt x="447619" y="182837"/>
                  </a:lnTo>
                  <a:lnTo>
                    <a:pt x="372564" y="216678"/>
                  </a:lnTo>
                  <a:lnTo>
                    <a:pt x="369736" y="218088"/>
                  </a:lnTo>
                  <a:lnTo>
                    <a:pt x="369147" y="221496"/>
                  </a:lnTo>
                  <a:lnTo>
                    <a:pt x="369736" y="224668"/>
                  </a:lnTo>
                  <a:lnTo>
                    <a:pt x="371150" y="227606"/>
                  </a:lnTo>
                  <a:lnTo>
                    <a:pt x="374921" y="228076"/>
                  </a:lnTo>
                  <a:lnTo>
                    <a:pt x="377748" y="227606"/>
                  </a:lnTo>
                  <a:lnTo>
                    <a:pt x="452803" y="193177"/>
                  </a:lnTo>
                  <a:lnTo>
                    <a:pt x="455631" y="191767"/>
                  </a:lnTo>
                  <a:lnTo>
                    <a:pt x="457045" y="188829"/>
                  </a:lnTo>
                  <a:lnTo>
                    <a:pt x="455631" y="185657"/>
                  </a:lnTo>
                  <a:lnTo>
                    <a:pt x="454217" y="182837"/>
                  </a:lnTo>
                  <a:lnTo>
                    <a:pt x="450447" y="181427"/>
                  </a:lnTo>
                  <a:close/>
                </a:path>
                <a:path w="2583179" h="435610">
                  <a:moveTo>
                    <a:pt x="583590" y="131840"/>
                  </a:moveTo>
                  <a:lnTo>
                    <a:pt x="580644" y="133250"/>
                  </a:lnTo>
                  <a:lnTo>
                    <a:pt x="503351" y="161568"/>
                  </a:lnTo>
                  <a:lnTo>
                    <a:pt x="499580" y="162508"/>
                  </a:lnTo>
                  <a:lnTo>
                    <a:pt x="498166" y="166269"/>
                  </a:lnTo>
                  <a:lnTo>
                    <a:pt x="499580" y="169089"/>
                  </a:lnTo>
                  <a:lnTo>
                    <a:pt x="500523" y="171909"/>
                  </a:lnTo>
                  <a:lnTo>
                    <a:pt x="504175" y="173436"/>
                  </a:lnTo>
                  <a:lnTo>
                    <a:pt x="507121" y="172849"/>
                  </a:lnTo>
                  <a:lnTo>
                    <a:pt x="584179" y="144178"/>
                  </a:lnTo>
                  <a:lnTo>
                    <a:pt x="587242" y="142650"/>
                  </a:lnTo>
                  <a:lnTo>
                    <a:pt x="588774" y="139830"/>
                  </a:lnTo>
                  <a:lnTo>
                    <a:pt x="587832" y="136657"/>
                  </a:lnTo>
                  <a:lnTo>
                    <a:pt x="586418" y="133250"/>
                  </a:lnTo>
                  <a:lnTo>
                    <a:pt x="583590" y="131840"/>
                  </a:lnTo>
                  <a:close/>
                </a:path>
                <a:path w="2583179" h="435610">
                  <a:moveTo>
                    <a:pt x="718618" y="90008"/>
                  </a:moveTo>
                  <a:lnTo>
                    <a:pt x="714965" y="90831"/>
                  </a:lnTo>
                  <a:lnTo>
                    <a:pt x="636494" y="114096"/>
                  </a:lnTo>
                  <a:lnTo>
                    <a:pt x="633548" y="114919"/>
                  </a:lnTo>
                  <a:lnTo>
                    <a:pt x="631309" y="117739"/>
                  </a:lnTo>
                  <a:lnTo>
                    <a:pt x="632134" y="121499"/>
                  </a:lnTo>
                  <a:lnTo>
                    <a:pt x="633548" y="124319"/>
                  </a:lnTo>
                  <a:lnTo>
                    <a:pt x="636494" y="125847"/>
                  </a:lnTo>
                  <a:lnTo>
                    <a:pt x="639321" y="125259"/>
                  </a:lnTo>
                  <a:lnTo>
                    <a:pt x="721564" y="101759"/>
                  </a:lnTo>
                  <a:lnTo>
                    <a:pt x="722978" y="97998"/>
                  </a:lnTo>
                  <a:lnTo>
                    <a:pt x="722388" y="95061"/>
                  </a:lnTo>
                  <a:lnTo>
                    <a:pt x="721564" y="92241"/>
                  </a:lnTo>
                  <a:lnTo>
                    <a:pt x="718618" y="90008"/>
                  </a:lnTo>
                  <a:close/>
                </a:path>
                <a:path w="2583179" h="435610">
                  <a:moveTo>
                    <a:pt x="855414" y="55579"/>
                  </a:moveTo>
                  <a:lnTo>
                    <a:pt x="852350" y="56402"/>
                  </a:lnTo>
                  <a:lnTo>
                    <a:pt x="771522" y="74732"/>
                  </a:lnTo>
                  <a:lnTo>
                    <a:pt x="768694" y="75320"/>
                  </a:lnTo>
                  <a:lnTo>
                    <a:pt x="766337" y="79080"/>
                  </a:lnTo>
                  <a:lnTo>
                    <a:pt x="767751" y="81900"/>
                  </a:lnTo>
                  <a:lnTo>
                    <a:pt x="768694" y="84838"/>
                  </a:lnTo>
                  <a:lnTo>
                    <a:pt x="771522" y="87070"/>
                  </a:lnTo>
                  <a:lnTo>
                    <a:pt x="775292" y="86248"/>
                  </a:lnTo>
                  <a:lnTo>
                    <a:pt x="781066" y="84250"/>
                  </a:lnTo>
                  <a:lnTo>
                    <a:pt x="858359" y="67330"/>
                  </a:lnTo>
                  <a:lnTo>
                    <a:pt x="859773" y="64392"/>
                  </a:lnTo>
                  <a:lnTo>
                    <a:pt x="858948" y="61572"/>
                  </a:lnTo>
                  <a:lnTo>
                    <a:pt x="858359" y="57812"/>
                  </a:lnTo>
                  <a:lnTo>
                    <a:pt x="855414" y="55579"/>
                  </a:lnTo>
                  <a:close/>
                </a:path>
                <a:path w="2583179" h="435610">
                  <a:moveTo>
                    <a:pt x="994330" y="29141"/>
                  </a:moveTo>
                  <a:lnTo>
                    <a:pt x="991149" y="30081"/>
                  </a:lnTo>
                  <a:lnTo>
                    <a:pt x="942015" y="37483"/>
                  </a:lnTo>
                  <a:lnTo>
                    <a:pt x="909849" y="43829"/>
                  </a:lnTo>
                  <a:lnTo>
                    <a:pt x="906668" y="44651"/>
                  </a:lnTo>
                  <a:lnTo>
                    <a:pt x="904665" y="47589"/>
                  </a:lnTo>
                  <a:lnTo>
                    <a:pt x="905254" y="51232"/>
                  </a:lnTo>
                  <a:lnTo>
                    <a:pt x="906079" y="54169"/>
                  </a:lnTo>
                  <a:lnTo>
                    <a:pt x="908906" y="56402"/>
                  </a:lnTo>
                  <a:lnTo>
                    <a:pt x="911852" y="55579"/>
                  </a:lnTo>
                  <a:lnTo>
                    <a:pt x="944254" y="48411"/>
                  </a:lnTo>
                  <a:lnTo>
                    <a:pt x="992916" y="41831"/>
                  </a:lnTo>
                  <a:lnTo>
                    <a:pt x="996333" y="40891"/>
                  </a:lnTo>
                  <a:lnTo>
                    <a:pt x="998572" y="38071"/>
                  </a:lnTo>
                  <a:lnTo>
                    <a:pt x="997747" y="35251"/>
                  </a:lnTo>
                  <a:lnTo>
                    <a:pt x="997158" y="31491"/>
                  </a:lnTo>
                  <a:lnTo>
                    <a:pt x="994330" y="29141"/>
                  </a:lnTo>
                  <a:close/>
                </a:path>
                <a:path w="2583179" h="435610">
                  <a:moveTo>
                    <a:pt x="1134543" y="11162"/>
                  </a:moveTo>
                  <a:lnTo>
                    <a:pt x="1131715" y="11162"/>
                  </a:lnTo>
                  <a:lnTo>
                    <a:pt x="1108150" y="13160"/>
                  </a:lnTo>
                  <a:lnTo>
                    <a:pt x="1049237" y="21150"/>
                  </a:lnTo>
                  <a:lnTo>
                    <a:pt x="1046291" y="21973"/>
                  </a:lnTo>
                  <a:lnTo>
                    <a:pt x="1044052" y="24910"/>
                  </a:lnTo>
                  <a:lnTo>
                    <a:pt x="1044052" y="27731"/>
                  </a:lnTo>
                  <a:lnTo>
                    <a:pt x="1044877" y="31491"/>
                  </a:lnTo>
                  <a:lnTo>
                    <a:pt x="1047823" y="33723"/>
                  </a:lnTo>
                  <a:lnTo>
                    <a:pt x="1050651" y="32901"/>
                  </a:lnTo>
                  <a:lnTo>
                    <a:pt x="1110153" y="24323"/>
                  </a:lnTo>
                  <a:lnTo>
                    <a:pt x="1132304" y="22560"/>
                  </a:lnTo>
                  <a:lnTo>
                    <a:pt x="1135132" y="22560"/>
                  </a:lnTo>
                  <a:lnTo>
                    <a:pt x="1138313" y="19740"/>
                  </a:lnTo>
                  <a:lnTo>
                    <a:pt x="1137488" y="16803"/>
                  </a:lnTo>
                  <a:lnTo>
                    <a:pt x="1137488" y="13160"/>
                  </a:lnTo>
                  <a:lnTo>
                    <a:pt x="1134543" y="11162"/>
                  </a:lnTo>
                  <a:close/>
                </a:path>
                <a:path w="2583179" h="435610">
                  <a:moveTo>
                    <a:pt x="1274873" y="822"/>
                  </a:moveTo>
                  <a:lnTo>
                    <a:pt x="1271927" y="822"/>
                  </a:lnTo>
                  <a:lnTo>
                    <a:pt x="1189803" y="6580"/>
                  </a:lnTo>
                  <a:lnTo>
                    <a:pt x="1186621" y="7402"/>
                  </a:lnTo>
                  <a:lnTo>
                    <a:pt x="1184618" y="9635"/>
                  </a:lnTo>
                  <a:lnTo>
                    <a:pt x="1184618" y="16333"/>
                  </a:lnTo>
                  <a:lnTo>
                    <a:pt x="1187446" y="19153"/>
                  </a:lnTo>
                  <a:lnTo>
                    <a:pt x="1191217" y="18330"/>
                  </a:lnTo>
                  <a:lnTo>
                    <a:pt x="1272516" y="12572"/>
                  </a:lnTo>
                  <a:lnTo>
                    <a:pt x="1276287" y="11750"/>
                  </a:lnTo>
                  <a:lnTo>
                    <a:pt x="1278643" y="9635"/>
                  </a:lnTo>
                  <a:lnTo>
                    <a:pt x="1278643" y="5992"/>
                  </a:lnTo>
                  <a:lnTo>
                    <a:pt x="1277701" y="3055"/>
                  </a:lnTo>
                  <a:lnTo>
                    <a:pt x="1274873" y="822"/>
                  </a:lnTo>
                  <a:close/>
                </a:path>
                <a:path w="2583179" h="435610">
                  <a:moveTo>
                    <a:pt x="1416499" y="0"/>
                  </a:moveTo>
                  <a:lnTo>
                    <a:pt x="1327777" y="0"/>
                  </a:lnTo>
                  <a:lnTo>
                    <a:pt x="1325420" y="3055"/>
                  </a:lnTo>
                  <a:lnTo>
                    <a:pt x="1325420" y="9635"/>
                  </a:lnTo>
                  <a:lnTo>
                    <a:pt x="1327777" y="11750"/>
                  </a:lnTo>
                  <a:lnTo>
                    <a:pt x="1416499" y="11750"/>
                  </a:lnTo>
                  <a:lnTo>
                    <a:pt x="1419681" y="8812"/>
                  </a:lnTo>
                  <a:lnTo>
                    <a:pt x="1419681" y="2232"/>
                  </a:lnTo>
                  <a:lnTo>
                    <a:pt x="1416499" y="0"/>
                  </a:lnTo>
                  <a:close/>
                </a:path>
                <a:path w="2583179" h="435610">
                  <a:moveTo>
                    <a:pt x="1472584" y="1645"/>
                  </a:moveTo>
                  <a:lnTo>
                    <a:pt x="1469403" y="1645"/>
                  </a:lnTo>
                  <a:lnTo>
                    <a:pt x="1466575" y="3642"/>
                  </a:lnTo>
                  <a:lnTo>
                    <a:pt x="1466575" y="7402"/>
                  </a:lnTo>
                  <a:lnTo>
                    <a:pt x="1465986" y="10222"/>
                  </a:lnTo>
                  <a:lnTo>
                    <a:pt x="1468814" y="13160"/>
                  </a:lnTo>
                  <a:lnTo>
                    <a:pt x="1471760" y="13160"/>
                  </a:lnTo>
                  <a:lnTo>
                    <a:pt x="1554002" y="18330"/>
                  </a:lnTo>
                  <a:lnTo>
                    <a:pt x="1556830" y="19153"/>
                  </a:lnTo>
                  <a:lnTo>
                    <a:pt x="1560011" y="16333"/>
                  </a:lnTo>
                  <a:lnTo>
                    <a:pt x="1560011" y="13160"/>
                  </a:lnTo>
                  <a:lnTo>
                    <a:pt x="1560600" y="10222"/>
                  </a:lnTo>
                  <a:lnTo>
                    <a:pt x="1557654" y="7402"/>
                  </a:lnTo>
                  <a:lnTo>
                    <a:pt x="1554827" y="6580"/>
                  </a:lnTo>
                  <a:lnTo>
                    <a:pt x="1472584" y="1645"/>
                  </a:lnTo>
                  <a:close/>
                </a:path>
                <a:path w="2583179" h="435610">
                  <a:moveTo>
                    <a:pt x="1610558" y="10222"/>
                  </a:moveTo>
                  <a:lnTo>
                    <a:pt x="1607730" y="12572"/>
                  </a:lnTo>
                  <a:lnTo>
                    <a:pt x="1606788" y="16333"/>
                  </a:lnTo>
                  <a:lnTo>
                    <a:pt x="1606788" y="19153"/>
                  </a:lnTo>
                  <a:lnTo>
                    <a:pt x="1609144" y="21973"/>
                  </a:lnTo>
                  <a:lnTo>
                    <a:pt x="1611972" y="22560"/>
                  </a:lnTo>
                  <a:lnTo>
                    <a:pt x="1693625" y="32901"/>
                  </a:lnTo>
                  <a:lnTo>
                    <a:pt x="1696571" y="33723"/>
                  </a:lnTo>
                  <a:lnTo>
                    <a:pt x="1700223" y="31491"/>
                  </a:lnTo>
                  <a:lnTo>
                    <a:pt x="1700223" y="28671"/>
                  </a:lnTo>
                  <a:lnTo>
                    <a:pt x="1700813" y="24910"/>
                  </a:lnTo>
                  <a:lnTo>
                    <a:pt x="1698810" y="21973"/>
                  </a:lnTo>
                  <a:lnTo>
                    <a:pt x="1695039" y="21973"/>
                  </a:lnTo>
                  <a:lnTo>
                    <a:pt x="1613504" y="11162"/>
                  </a:lnTo>
                  <a:lnTo>
                    <a:pt x="1610558" y="10222"/>
                  </a:lnTo>
                  <a:close/>
                </a:path>
                <a:path w="2583179" h="435610">
                  <a:moveTo>
                    <a:pt x="1753716" y="29141"/>
                  </a:moveTo>
                  <a:lnTo>
                    <a:pt x="1750299" y="29141"/>
                  </a:lnTo>
                  <a:lnTo>
                    <a:pt x="1747118" y="31491"/>
                  </a:lnTo>
                  <a:lnTo>
                    <a:pt x="1747118" y="34311"/>
                  </a:lnTo>
                  <a:lnTo>
                    <a:pt x="1746529" y="37483"/>
                  </a:lnTo>
                  <a:lnTo>
                    <a:pt x="1748885" y="40421"/>
                  </a:lnTo>
                  <a:lnTo>
                    <a:pt x="1751713" y="40891"/>
                  </a:lnTo>
                  <a:lnTo>
                    <a:pt x="1775868" y="43829"/>
                  </a:lnTo>
                  <a:lnTo>
                    <a:pt x="1832542" y="55579"/>
                  </a:lnTo>
                  <a:lnTo>
                    <a:pt x="1835369" y="56402"/>
                  </a:lnTo>
                  <a:lnTo>
                    <a:pt x="1839140" y="54169"/>
                  </a:lnTo>
                  <a:lnTo>
                    <a:pt x="1839140" y="51232"/>
                  </a:lnTo>
                  <a:lnTo>
                    <a:pt x="1839965" y="48411"/>
                  </a:lnTo>
                  <a:lnTo>
                    <a:pt x="1838197" y="44651"/>
                  </a:lnTo>
                  <a:lnTo>
                    <a:pt x="1834780" y="43829"/>
                  </a:lnTo>
                  <a:lnTo>
                    <a:pt x="1778106" y="32901"/>
                  </a:lnTo>
                  <a:lnTo>
                    <a:pt x="1753716" y="29141"/>
                  </a:lnTo>
                  <a:close/>
                </a:path>
                <a:path w="2583179" h="435610">
                  <a:moveTo>
                    <a:pt x="1892868" y="55579"/>
                  </a:moveTo>
                  <a:lnTo>
                    <a:pt x="1889098" y="55579"/>
                  </a:lnTo>
                  <a:lnTo>
                    <a:pt x="1886270" y="56989"/>
                  </a:lnTo>
                  <a:lnTo>
                    <a:pt x="1885328" y="60749"/>
                  </a:lnTo>
                  <a:lnTo>
                    <a:pt x="1884503" y="63570"/>
                  </a:lnTo>
                  <a:lnTo>
                    <a:pt x="1886859" y="66742"/>
                  </a:lnTo>
                  <a:lnTo>
                    <a:pt x="1941177" y="77670"/>
                  </a:lnTo>
                  <a:lnTo>
                    <a:pt x="1969926" y="85660"/>
                  </a:lnTo>
                  <a:lnTo>
                    <a:pt x="1972754" y="87070"/>
                  </a:lnTo>
                  <a:lnTo>
                    <a:pt x="1975582" y="84838"/>
                  </a:lnTo>
                  <a:lnTo>
                    <a:pt x="1977114" y="81900"/>
                  </a:lnTo>
                  <a:lnTo>
                    <a:pt x="1977938" y="79080"/>
                  </a:lnTo>
                  <a:lnTo>
                    <a:pt x="1975582" y="75320"/>
                  </a:lnTo>
                  <a:lnTo>
                    <a:pt x="1972754" y="74732"/>
                  </a:lnTo>
                  <a:lnTo>
                    <a:pt x="1943416" y="66742"/>
                  </a:lnTo>
                  <a:lnTo>
                    <a:pt x="1892868" y="55579"/>
                  </a:lnTo>
                  <a:close/>
                </a:path>
                <a:path w="2583179" h="435610">
                  <a:moveTo>
                    <a:pt x="2026483" y="90008"/>
                  </a:moveTo>
                  <a:lnTo>
                    <a:pt x="2022830" y="91418"/>
                  </a:lnTo>
                  <a:lnTo>
                    <a:pt x="2021887" y="94591"/>
                  </a:lnTo>
                  <a:lnTo>
                    <a:pt x="2021298" y="97998"/>
                  </a:lnTo>
                  <a:lnTo>
                    <a:pt x="2022830" y="100818"/>
                  </a:lnTo>
                  <a:lnTo>
                    <a:pt x="2026483" y="101759"/>
                  </a:lnTo>
                  <a:lnTo>
                    <a:pt x="2103541" y="123732"/>
                  </a:lnTo>
                  <a:lnTo>
                    <a:pt x="2104955" y="124319"/>
                  </a:lnTo>
                  <a:lnTo>
                    <a:pt x="2107900" y="125259"/>
                  </a:lnTo>
                  <a:lnTo>
                    <a:pt x="2111553" y="123732"/>
                  </a:lnTo>
                  <a:lnTo>
                    <a:pt x="2112495" y="120677"/>
                  </a:lnTo>
                  <a:lnTo>
                    <a:pt x="2113909" y="117739"/>
                  </a:lnTo>
                  <a:lnTo>
                    <a:pt x="2111553" y="114096"/>
                  </a:lnTo>
                  <a:lnTo>
                    <a:pt x="2108725" y="113509"/>
                  </a:lnTo>
                  <a:lnTo>
                    <a:pt x="2107311" y="112569"/>
                  </a:lnTo>
                  <a:lnTo>
                    <a:pt x="2026483" y="90008"/>
                  </a:lnTo>
                  <a:close/>
                </a:path>
                <a:path w="2583179" h="435610">
                  <a:moveTo>
                    <a:pt x="2160804" y="131840"/>
                  </a:moveTo>
                  <a:lnTo>
                    <a:pt x="2157858" y="133250"/>
                  </a:lnTo>
                  <a:lnTo>
                    <a:pt x="2156444" y="136070"/>
                  </a:lnTo>
                  <a:lnTo>
                    <a:pt x="2155855" y="139830"/>
                  </a:lnTo>
                  <a:lnTo>
                    <a:pt x="2157269" y="142650"/>
                  </a:lnTo>
                  <a:lnTo>
                    <a:pt x="2160215" y="144178"/>
                  </a:lnTo>
                  <a:lnTo>
                    <a:pt x="2238097" y="171086"/>
                  </a:lnTo>
                  <a:lnTo>
                    <a:pt x="2240925" y="172849"/>
                  </a:lnTo>
                  <a:lnTo>
                    <a:pt x="2243871" y="171086"/>
                  </a:lnTo>
                  <a:lnTo>
                    <a:pt x="2245285" y="168266"/>
                  </a:lnTo>
                  <a:lnTo>
                    <a:pt x="2246110" y="164506"/>
                  </a:lnTo>
                  <a:lnTo>
                    <a:pt x="2244696" y="161568"/>
                  </a:lnTo>
                  <a:lnTo>
                    <a:pt x="2241750" y="160158"/>
                  </a:lnTo>
                  <a:lnTo>
                    <a:pt x="2164456" y="133250"/>
                  </a:lnTo>
                  <a:lnTo>
                    <a:pt x="2160804" y="131840"/>
                  </a:lnTo>
                  <a:close/>
                </a:path>
                <a:path w="2583179" h="435610">
                  <a:moveTo>
                    <a:pt x="2293829" y="181427"/>
                  </a:moveTo>
                  <a:lnTo>
                    <a:pt x="2290059" y="182837"/>
                  </a:lnTo>
                  <a:lnTo>
                    <a:pt x="2288645" y="185657"/>
                  </a:lnTo>
                  <a:lnTo>
                    <a:pt x="2287231" y="188829"/>
                  </a:lnTo>
                  <a:lnTo>
                    <a:pt x="2288645" y="191767"/>
                  </a:lnTo>
                  <a:lnTo>
                    <a:pt x="2291590" y="193177"/>
                  </a:lnTo>
                  <a:lnTo>
                    <a:pt x="2367470" y="226666"/>
                  </a:lnTo>
                  <a:lnTo>
                    <a:pt x="2370298" y="227606"/>
                  </a:lnTo>
                  <a:lnTo>
                    <a:pt x="2373126" y="226666"/>
                  </a:lnTo>
                  <a:lnTo>
                    <a:pt x="2374657" y="223846"/>
                  </a:lnTo>
                  <a:lnTo>
                    <a:pt x="2376071" y="220086"/>
                  </a:lnTo>
                  <a:lnTo>
                    <a:pt x="2374657" y="217266"/>
                  </a:lnTo>
                  <a:lnTo>
                    <a:pt x="2371712" y="215856"/>
                  </a:lnTo>
                  <a:lnTo>
                    <a:pt x="2296657" y="182837"/>
                  </a:lnTo>
                  <a:lnTo>
                    <a:pt x="2293829" y="181427"/>
                  </a:lnTo>
                  <a:close/>
                </a:path>
                <a:path w="2583179" h="435610">
                  <a:moveTo>
                    <a:pt x="2423202" y="238416"/>
                  </a:moveTo>
                  <a:lnTo>
                    <a:pt x="2419431" y="239356"/>
                  </a:lnTo>
                  <a:lnTo>
                    <a:pt x="2416603" y="244997"/>
                  </a:lnTo>
                  <a:lnTo>
                    <a:pt x="2417192" y="248757"/>
                  </a:lnTo>
                  <a:lnTo>
                    <a:pt x="2420256" y="250167"/>
                  </a:lnTo>
                  <a:lnTo>
                    <a:pt x="2493072" y="288356"/>
                  </a:lnTo>
                  <a:lnTo>
                    <a:pt x="2495900" y="289766"/>
                  </a:lnTo>
                  <a:lnTo>
                    <a:pt x="2499670" y="288943"/>
                  </a:lnTo>
                  <a:lnTo>
                    <a:pt x="2501084" y="286006"/>
                  </a:lnTo>
                  <a:lnTo>
                    <a:pt x="2502498" y="283186"/>
                  </a:lnTo>
                  <a:lnTo>
                    <a:pt x="2501673" y="279426"/>
                  </a:lnTo>
                  <a:lnTo>
                    <a:pt x="2498728" y="278015"/>
                  </a:lnTo>
                  <a:lnTo>
                    <a:pt x="2426029" y="239944"/>
                  </a:lnTo>
                  <a:lnTo>
                    <a:pt x="2423202" y="238416"/>
                  </a:lnTo>
                  <a:close/>
                </a:path>
                <a:path w="2583179" h="435610">
                  <a:moveTo>
                    <a:pt x="2547979" y="303514"/>
                  </a:moveTo>
                  <a:lnTo>
                    <a:pt x="2544444" y="304924"/>
                  </a:lnTo>
                  <a:lnTo>
                    <a:pt x="2543030" y="307862"/>
                  </a:lnTo>
                  <a:lnTo>
                    <a:pt x="2541263" y="311034"/>
                  </a:lnTo>
                  <a:lnTo>
                    <a:pt x="2542205" y="314442"/>
                  </a:lnTo>
                  <a:lnTo>
                    <a:pt x="2545033" y="316087"/>
                  </a:lnTo>
                  <a:lnTo>
                    <a:pt x="2572958" y="330775"/>
                  </a:lnTo>
                  <a:lnTo>
                    <a:pt x="2576139" y="332185"/>
                  </a:lnTo>
                  <a:lnTo>
                    <a:pt x="2578967" y="330775"/>
                  </a:lnTo>
                  <a:lnTo>
                    <a:pt x="2582737" y="324782"/>
                  </a:lnTo>
                  <a:lnTo>
                    <a:pt x="2580970" y="321022"/>
                  </a:lnTo>
                  <a:lnTo>
                    <a:pt x="2578142" y="319612"/>
                  </a:lnTo>
                  <a:lnTo>
                    <a:pt x="2550218" y="304924"/>
                  </a:lnTo>
                  <a:lnTo>
                    <a:pt x="2547979" y="30351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0" name="object 2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264717" y="1940595"/>
              <a:ext cx="94830" cy="69340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384075" y="1867978"/>
              <a:ext cx="96007" cy="65931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3512377" y="1568935"/>
              <a:ext cx="2341245" cy="332740"/>
            </a:xfrm>
            <a:custGeom>
              <a:avLst/>
              <a:gdLst/>
              <a:ahLst/>
              <a:cxnLst/>
              <a:rect l="l" t="t" r="r" b="b"/>
              <a:pathLst>
                <a:path w="2341245" h="332739">
                  <a:moveTo>
                    <a:pt x="4595" y="278603"/>
                  </a:moveTo>
                  <a:lnTo>
                    <a:pt x="59501" y="248757"/>
                  </a:lnTo>
                  <a:lnTo>
                    <a:pt x="77882" y="240766"/>
                  </a:lnTo>
                  <a:lnTo>
                    <a:pt x="81064" y="239356"/>
                  </a:lnTo>
                  <a:lnTo>
                    <a:pt x="83891" y="240766"/>
                  </a:lnTo>
                  <a:lnTo>
                    <a:pt x="85423" y="243587"/>
                  </a:lnTo>
                  <a:lnTo>
                    <a:pt x="86837" y="246524"/>
                  </a:lnTo>
                  <a:lnTo>
                    <a:pt x="85423" y="250167"/>
                  </a:lnTo>
                  <a:lnTo>
                    <a:pt x="82477" y="251694"/>
                  </a:lnTo>
                  <a:lnTo>
                    <a:pt x="64686" y="259685"/>
                  </a:lnTo>
                  <a:lnTo>
                    <a:pt x="9779" y="288943"/>
                  </a:lnTo>
                  <a:lnTo>
                    <a:pt x="6598" y="290353"/>
                  </a:lnTo>
                  <a:lnTo>
                    <a:pt x="3770" y="289766"/>
                  </a:lnTo>
                  <a:lnTo>
                    <a:pt x="2356" y="286946"/>
                  </a:lnTo>
                  <a:lnTo>
                    <a:pt x="0" y="283773"/>
                  </a:lnTo>
                  <a:lnTo>
                    <a:pt x="1413" y="280248"/>
                  </a:lnTo>
                  <a:lnTo>
                    <a:pt x="4595" y="278603"/>
                  </a:lnTo>
                  <a:close/>
                </a:path>
                <a:path w="2341245" h="332739">
                  <a:moveTo>
                    <a:pt x="130786" y="216678"/>
                  </a:moveTo>
                  <a:lnTo>
                    <a:pt x="205841" y="182837"/>
                  </a:lnTo>
                  <a:lnTo>
                    <a:pt x="208669" y="181427"/>
                  </a:lnTo>
                  <a:lnTo>
                    <a:pt x="212439" y="182837"/>
                  </a:lnTo>
                  <a:lnTo>
                    <a:pt x="213853" y="185657"/>
                  </a:lnTo>
                  <a:lnTo>
                    <a:pt x="215267" y="188829"/>
                  </a:lnTo>
                  <a:lnTo>
                    <a:pt x="213853" y="191767"/>
                  </a:lnTo>
                  <a:lnTo>
                    <a:pt x="211025" y="193177"/>
                  </a:lnTo>
                  <a:lnTo>
                    <a:pt x="135970" y="227606"/>
                  </a:lnTo>
                  <a:lnTo>
                    <a:pt x="133142" y="228076"/>
                  </a:lnTo>
                  <a:lnTo>
                    <a:pt x="129372" y="227606"/>
                  </a:lnTo>
                  <a:lnTo>
                    <a:pt x="127958" y="224668"/>
                  </a:lnTo>
                  <a:lnTo>
                    <a:pt x="127369" y="221496"/>
                  </a:lnTo>
                  <a:lnTo>
                    <a:pt x="127958" y="218088"/>
                  </a:lnTo>
                  <a:lnTo>
                    <a:pt x="130786" y="216678"/>
                  </a:lnTo>
                  <a:close/>
                </a:path>
                <a:path w="2341245" h="332739">
                  <a:moveTo>
                    <a:pt x="261572" y="161568"/>
                  </a:moveTo>
                  <a:lnTo>
                    <a:pt x="338866" y="133250"/>
                  </a:lnTo>
                  <a:lnTo>
                    <a:pt x="341812" y="131840"/>
                  </a:lnTo>
                  <a:lnTo>
                    <a:pt x="344640" y="133250"/>
                  </a:lnTo>
                  <a:lnTo>
                    <a:pt x="346053" y="136657"/>
                  </a:lnTo>
                  <a:lnTo>
                    <a:pt x="346996" y="139830"/>
                  </a:lnTo>
                  <a:lnTo>
                    <a:pt x="345464" y="142650"/>
                  </a:lnTo>
                  <a:lnTo>
                    <a:pt x="342401" y="144178"/>
                  </a:lnTo>
                  <a:lnTo>
                    <a:pt x="265343" y="172849"/>
                  </a:lnTo>
                  <a:lnTo>
                    <a:pt x="262397" y="173436"/>
                  </a:lnTo>
                  <a:lnTo>
                    <a:pt x="258745" y="171909"/>
                  </a:lnTo>
                  <a:lnTo>
                    <a:pt x="257802" y="169089"/>
                  </a:lnTo>
                  <a:lnTo>
                    <a:pt x="256388" y="166269"/>
                  </a:lnTo>
                  <a:lnTo>
                    <a:pt x="257802" y="162508"/>
                  </a:lnTo>
                  <a:lnTo>
                    <a:pt x="261572" y="161568"/>
                  </a:lnTo>
                  <a:close/>
                </a:path>
                <a:path w="2341245" h="332739">
                  <a:moveTo>
                    <a:pt x="394715" y="114096"/>
                  </a:moveTo>
                  <a:lnTo>
                    <a:pt x="473187" y="90831"/>
                  </a:lnTo>
                  <a:lnTo>
                    <a:pt x="476840" y="90008"/>
                  </a:lnTo>
                  <a:lnTo>
                    <a:pt x="479786" y="92241"/>
                  </a:lnTo>
                  <a:lnTo>
                    <a:pt x="480610" y="95061"/>
                  </a:lnTo>
                  <a:lnTo>
                    <a:pt x="481199" y="97998"/>
                  </a:lnTo>
                  <a:lnTo>
                    <a:pt x="479786" y="101759"/>
                  </a:lnTo>
                  <a:lnTo>
                    <a:pt x="476840" y="102581"/>
                  </a:lnTo>
                  <a:lnTo>
                    <a:pt x="397543" y="125259"/>
                  </a:lnTo>
                  <a:lnTo>
                    <a:pt x="394715" y="125847"/>
                  </a:lnTo>
                  <a:lnTo>
                    <a:pt x="391770" y="124319"/>
                  </a:lnTo>
                  <a:lnTo>
                    <a:pt x="390356" y="121499"/>
                  </a:lnTo>
                  <a:lnTo>
                    <a:pt x="389531" y="117739"/>
                  </a:lnTo>
                  <a:lnTo>
                    <a:pt x="391770" y="114919"/>
                  </a:lnTo>
                  <a:lnTo>
                    <a:pt x="394715" y="114096"/>
                  </a:lnTo>
                  <a:close/>
                </a:path>
                <a:path w="2341245" h="332739">
                  <a:moveTo>
                    <a:pt x="529744" y="74732"/>
                  </a:moveTo>
                  <a:lnTo>
                    <a:pt x="535753" y="73322"/>
                  </a:lnTo>
                  <a:lnTo>
                    <a:pt x="610572" y="56402"/>
                  </a:lnTo>
                  <a:lnTo>
                    <a:pt x="613635" y="55579"/>
                  </a:lnTo>
                  <a:lnTo>
                    <a:pt x="616581" y="57812"/>
                  </a:lnTo>
                  <a:lnTo>
                    <a:pt x="617170" y="61572"/>
                  </a:lnTo>
                  <a:lnTo>
                    <a:pt x="617995" y="64392"/>
                  </a:lnTo>
                  <a:lnTo>
                    <a:pt x="616581" y="67330"/>
                  </a:lnTo>
                  <a:lnTo>
                    <a:pt x="612811" y="68152"/>
                  </a:lnTo>
                  <a:lnTo>
                    <a:pt x="539287" y="84250"/>
                  </a:lnTo>
                  <a:lnTo>
                    <a:pt x="533514" y="86248"/>
                  </a:lnTo>
                  <a:lnTo>
                    <a:pt x="529744" y="87070"/>
                  </a:lnTo>
                  <a:lnTo>
                    <a:pt x="526916" y="84838"/>
                  </a:lnTo>
                  <a:lnTo>
                    <a:pt x="525973" y="81900"/>
                  </a:lnTo>
                  <a:lnTo>
                    <a:pt x="524559" y="79080"/>
                  </a:lnTo>
                  <a:lnTo>
                    <a:pt x="526916" y="75320"/>
                  </a:lnTo>
                  <a:lnTo>
                    <a:pt x="529744" y="74732"/>
                  </a:lnTo>
                  <a:close/>
                </a:path>
                <a:path w="2341245" h="332739">
                  <a:moveTo>
                    <a:pt x="668071" y="43829"/>
                  </a:moveTo>
                  <a:lnTo>
                    <a:pt x="700237" y="37483"/>
                  </a:lnTo>
                  <a:lnTo>
                    <a:pt x="749371" y="30081"/>
                  </a:lnTo>
                  <a:lnTo>
                    <a:pt x="752552" y="29141"/>
                  </a:lnTo>
                  <a:lnTo>
                    <a:pt x="755380" y="31491"/>
                  </a:lnTo>
                  <a:lnTo>
                    <a:pt x="755969" y="35251"/>
                  </a:lnTo>
                  <a:lnTo>
                    <a:pt x="756794" y="38071"/>
                  </a:lnTo>
                  <a:lnTo>
                    <a:pt x="754555" y="40891"/>
                  </a:lnTo>
                  <a:lnTo>
                    <a:pt x="751138" y="41831"/>
                  </a:lnTo>
                  <a:lnTo>
                    <a:pt x="702476" y="48411"/>
                  </a:lnTo>
                  <a:lnTo>
                    <a:pt x="670074" y="55579"/>
                  </a:lnTo>
                  <a:lnTo>
                    <a:pt x="667128" y="56402"/>
                  </a:lnTo>
                  <a:lnTo>
                    <a:pt x="664300" y="54169"/>
                  </a:lnTo>
                  <a:lnTo>
                    <a:pt x="663476" y="51232"/>
                  </a:lnTo>
                  <a:lnTo>
                    <a:pt x="662887" y="47589"/>
                  </a:lnTo>
                  <a:lnTo>
                    <a:pt x="664890" y="44651"/>
                  </a:lnTo>
                  <a:lnTo>
                    <a:pt x="668071" y="43829"/>
                  </a:lnTo>
                  <a:close/>
                </a:path>
                <a:path w="2341245" h="332739">
                  <a:moveTo>
                    <a:pt x="807459" y="21150"/>
                  </a:moveTo>
                  <a:lnTo>
                    <a:pt x="866371" y="13160"/>
                  </a:lnTo>
                  <a:lnTo>
                    <a:pt x="889937" y="11162"/>
                  </a:lnTo>
                  <a:lnTo>
                    <a:pt x="892764" y="11162"/>
                  </a:lnTo>
                  <a:lnTo>
                    <a:pt x="895710" y="13160"/>
                  </a:lnTo>
                  <a:lnTo>
                    <a:pt x="895710" y="16803"/>
                  </a:lnTo>
                  <a:lnTo>
                    <a:pt x="896535" y="19740"/>
                  </a:lnTo>
                  <a:lnTo>
                    <a:pt x="893354" y="22560"/>
                  </a:lnTo>
                  <a:lnTo>
                    <a:pt x="890526" y="22560"/>
                  </a:lnTo>
                  <a:lnTo>
                    <a:pt x="868374" y="24323"/>
                  </a:lnTo>
                  <a:lnTo>
                    <a:pt x="808873" y="32901"/>
                  </a:lnTo>
                  <a:lnTo>
                    <a:pt x="806045" y="33723"/>
                  </a:lnTo>
                  <a:lnTo>
                    <a:pt x="803099" y="31491"/>
                  </a:lnTo>
                  <a:lnTo>
                    <a:pt x="802274" y="27731"/>
                  </a:lnTo>
                  <a:lnTo>
                    <a:pt x="802274" y="24910"/>
                  </a:lnTo>
                  <a:lnTo>
                    <a:pt x="804513" y="21973"/>
                  </a:lnTo>
                  <a:lnTo>
                    <a:pt x="807459" y="21150"/>
                  </a:lnTo>
                  <a:close/>
                </a:path>
                <a:path w="2341245" h="332739">
                  <a:moveTo>
                    <a:pt x="948025" y="6580"/>
                  </a:moveTo>
                  <a:lnTo>
                    <a:pt x="1030149" y="822"/>
                  </a:lnTo>
                  <a:lnTo>
                    <a:pt x="1033095" y="822"/>
                  </a:lnTo>
                  <a:lnTo>
                    <a:pt x="1035923" y="3055"/>
                  </a:lnTo>
                  <a:lnTo>
                    <a:pt x="1036865" y="5992"/>
                  </a:lnTo>
                  <a:lnTo>
                    <a:pt x="1036865" y="9635"/>
                  </a:lnTo>
                  <a:lnTo>
                    <a:pt x="1034509" y="11750"/>
                  </a:lnTo>
                  <a:lnTo>
                    <a:pt x="1030738" y="12572"/>
                  </a:lnTo>
                  <a:lnTo>
                    <a:pt x="949439" y="18330"/>
                  </a:lnTo>
                  <a:lnTo>
                    <a:pt x="945668" y="19153"/>
                  </a:lnTo>
                  <a:lnTo>
                    <a:pt x="942840" y="16333"/>
                  </a:lnTo>
                  <a:lnTo>
                    <a:pt x="942840" y="13160"/>
                  </a:lnTo>
                  <a:lnTo>
                    <a:pt x="942840" y="9635"/>
                  </a:lnTo>
                  <a:lnTo>
                    <a:pt x="944843" y="7402"/>
                  </a:lnTo>
                  <a:lnTo>
                    <a:pt x="948025" y="6580"/>
                  </a:lnTo>
                  <a:close/>
                </a:path>
                <a:path w="2341245" h="332739">
                  <a:moveTo>
                    <a:pt x="1089651" y="0"/>
                  </a:moveTo>
                  <a:lnTo>
                    <a:pt x="1171893" y="0"/>
                  </a:lnTo>
                  <a:lnTo>
                    <a:pt x="1174721" y="0"/>
                  </a:lnTo>
                  <a:lnTo>
                    <a:pt x="1177902" y="2232"/>
                  </a:lnTo>
                  <a:lnTo>
                    <a:pt x="1177902" y="5992"/>
                  </a:lnTo>
                  <a:lnTo>
                    <a:pt x="1177902" y="8812"/>
                  </a:lnTo>
                  <a:lnTo>
                    <a:pt x="1174721" y="11750"/>
                  </a:lnTo>
                  <a:lnTo>
                    <a:pt x="1171893" y="11750"/>
                  </a:lnTo>
                  <a:lnTo>
                    <a:pt x="1089651" y="11750"/>
                  </a:lnTo>
                  <a:lnTo>
                    <a:pt x="1085998" y="11750"/>
                  </a:lnTo>
                  <a:lnTo>
                    <a:pt x="1083642" y="9635"/>
                  </a:lnTo>
                  <a:lnTo>
                    <a:pt x="1083642" y="5992"/>
                  </a:lnTo>
                  <a:lnTo>
                    <a:pt x="1083642" y="3055"/>
                  </a:lnTo>
                  <a:lnTo>
                    <a:pt x="1085998" y="0"/>
                  </a:lnTo>
                  <a:lnTo>
                    <a:pt x="1089651" y="0"/>
                  </a:lnTo>
                  <a:close/>
                </a:path>
                <a:path w="2341245" h="332739">
                  <a:moveTo>
                    <a:pt x="1230806" y="1645"/>
                  </a:moveTo>
                  <a:lnTo>
                    <a:pt x="1313048" y="6580"/>
                  </a:lnTo>
                  <a:lnTo>
                    <a:pt x="1315876" y="7402"/>
                  </a:lnTo>
                  <a:lnTo>
                    <a:pt x="1318822" y="10222"/>
                  </a:lnTo>
                  <a:lnTo>
                    <a:pt x="1318233" y="13160"/>
                  </a:lnTo>
                  <a:lnTo>
                    <a:pt x="1318233" y="16333"/>
                  </a:lnTo>
                  <a:lnTo>
                    <a:pt x="1315051" y="19153"/>
                  </a:lnTo>
                  <a:lnTo>
                    <a:pt x="1312224" y="18330"/>
                  </a:lnTo>
                  <a:lnTo>
                    <a:pt x="1229981" y="13160"/>
                  </a:lnTo>
                  <a:lnTo>
                    <a:pt x="1227036" y="13160"/>
                  </a:lnTo>
                  <a:lnTo>
                    <a:pt x="1224208" y="10222"/>
                  </a:lnTo>
                  <a:lnTo>
                    <a:pt x="1224797" y="7402"/>
                  </a:lnTo>
                  <a:lnTo>
                    <a:pt x="1224797" y="3642"/>
                  </a:lnTo>
                  <a:lnTo>
                    <a:pt x="1227625" y="1645"/>
                  </a:lnTo>
                  <a:lnTo>
                    <a:pt x="1230806" y="1645"/>
                  </a:lnTo>
                  <a:close/>
                </a:path>
                <a:path w="2341245" h="332739">
                  <a:moveTo>
                    <a:pt x="1371726" y="11162"/>
                  </a:moveTo>
                  <a:lnTo>
                    <a:pt x="1453261" y="21973"/>
                  </a:lnTo>
                  <a:lnTo>
                    <a:pt x="1457031" y="21973"/>
                  </a:lnTo>
                  <a:lnTo>
                    <a:pt x="1459034" y="24910"/>
                  </a:lnTo>
                  <a:lnTo>
                    <a:pt x="1458445" y="28671"/>
                  </a:lnTo>
                  <a:lnTo>
                    <a:pt x="1458445" y="31491"/>
                  </a:lnTo>
                  <a:lnTo>
                    <a:pt x="1454793" y="33723"/>
                  </a:lnTo>
                  <a:lnTo>
                    <a:pt x="1451847" y="32901"/>
                  </a:lnTo>
                  <a:lnTo>
                    <a:pt x="1370194" y="22560"/>
                  </a:lnTo>
                  <a:lnTo>
                    <a:pt x="1367366" y="21973"/>
                  </a:lnTo>
                  <a:lnTo>
                    <a:pt x="1365010" y="19153"/>
                  </a:lnTo>
                  <a:lnTo>
                    <a:pt x="1365010" y="16333"/>
                  </a:lnTo>
                  <a:lnTo>
                    <a:pt x="1365952" y="12572"/>
                  </a:lnTo>
                  <a:lnTo>
                    <a:pt x="1368780" y="10222"/>
                  </a:lnTo>
                  <a:lnTo>
                    <a:pt x="1371726" y="11162"/>
                  </a:lnTo>
                  <a:close/>
                </a:path>
                <a:path w="2341245" h="332739">
                  <a:moveTo>
                    <a:pt x="1511938" y="29141"/>
                  </a:moveTo>
                  <a:lnTo>
                    <a:pt x="1536328" y="32901"/>
                  </a:lnTo>
                  <a:lnTo>
                    <a:pt x="1593002" y="43829"/>
                  </a:lnTo>
                  <a:lnTo>
                    <a:pt x="1596419" y="44651"/>
                  </a:lnTo>
                  <a:lnTo>
                    <a:pt x="1598187" y="48411"/>
                  </a:lnTo>
                  <a:lnTo>
                    <a:pt x="1597362" y="51232"/>
                  </a:lnTo>
                  <a:lnTo>
                    <a:pt x="1597362" y="54169"/>
                  </a:lnTo>
                  <a:lnTo>
                    <a:pt x="1593591" y="56402"/>
                  </a:lnTo>
                  <a:lnTo>
                    <a:pt x="1590763" y="55579"/>
                  </a:lnTo>
                  <a:lnTo>
                    <a:pt x="1534089" y="43829"/>
                  </a:lnTo>
                  <a:lnTo>
                    <a:pt x="1509935" y="40891"/>
                  </a:lnTo>
                  <a:lnTo>
                    <a:pt x="1507107" y="40421"/>
                  </a:lnTo>
                  <a:lnTo>
                    <a:pt x="1504751" y="37483"/>
                  </a:lnTo>
                  <a:lnTo>
                    <a:pt x="1505340" y="34311"/>
                  </a:lnTo>
                  <a:lnTo>
                    <a:pt x="1505340" y="31491"/>
                  </a:lnTo>
                  <a:lnTo>
                    <a:pt x="1508521" y="29141"/>
                  </a:lnTo>
                  <a:lnTo>
                    <a:pt x="1511938" y="29141"/>
                  </a:lnTo>
                  <a:close/>
                </a:path>
                <a:path w="2341245" h="332739">
                  <a:moveTo>
                    <a:pt x="1651090" y="55579"/>
                  </a:moveTo>
                  <a:lnTo>
                    <a:pt x="1701637" y="66742"/>
                  </a:lnTo>
                  <a:lnTo>
                    <a:pt x="1730976" y="74732"/>
                  </a:lnTo>
                  <a:lnTo>
                    <a:pt x="1733804" y="75320"/>
                  </a:lnTo>
                  <a:lnTo>
                    <a:pt x="1736160" y="79080"/>
                  </a:lnTo>
                  <a:lnTo>
                    <a:pt x="1735336" y="81900"/>
                  </a:lnTo>
                  <a:lnTo>
                    <a:pt x="1733804" y="84838"/>
                  </a:lnTo>
                  <a:lnTo>
                    <a:pt x="1730976" y="87070"/>
                  </a:lnTo>
                  <a:lnTo>
                    <a:pt x="1728148" y="85660"/>
                  </a:lnTo>
                  <a:lnTo>
                    <a:pt x="1699399" y="77670"/>
                  </a:lnTo>
                  <a:lnTo>
                    <a:pt x="1647909" y="67330"/>
                  </a:lnTo>
                  <a:lnTo>
                    <a:pt x="1645081" y="66742"/>
                  </a:lnTo>
                  <a:lnTo>
                    <a:pt x="1642725" y="63570"/>
                  </a:lnTo>
                  <a:lnTo>
                    <a:pt x="1643549" y="60749"/>
                  </a:lnTo>
                  <a:lnTo>
                    <a:pt x="1644492" y="56989"/>
                  </a:lnTo>
                  <a:lnTo>
                    <a:pt x="1647320" y="55579"/>
                  </a:lnTo>
                  <a:lnTo>
                    <a:pt x="1651090" y="55579"/>
                  </a:lnTo>
                  <a:close/>
                </a:path>
                <a:path w="2341245" h="332739">
                  <a:moveTo>
                    <a:pt x="1787650" y="90831"/>
                  </a:moveTo>
                  <a:lnTo>
                    <a:pt x="1865533" y="112569"/>
                  </a:lnTo>
                  <a:lnTo>
                    <a:pt x="1866947" y="113509"/>
                  </a:lnTo>
                  <a:lnTo>
                    <a:pt x="1869775" y="114096"/>
                  </a:lnTo>
                  <a:lnTo>
                    <a:pt x="1872131" y="117739"/>
                  </a:lnTo>
                  <a:lnTo>
                    <a:pt x="1870717" y="120677"/>
                  </a:lnTo>
                  <a:lnTo>
                    <a:pt x="1869775" y="123732"/>
                  </a:lnTo>
                  <a:lnTo>
                    <a:pt x="1866122" y="125259"/>
                  </a:lnTo>
                  <a:lnTo>
                    <a:pt x="1863176" y="124319"/>
                  </a:lnTo>
                  <a:lnTo>
                    <a:pt x="1861762" y="123732"/>
                  </a:lnTo>
                  <a:lnTo>
                    <a:pt x="1784704" y="101759"/>
                  </a:lnTo>
                  <a:lnTo>
                    <a:pt x="1781052" y="100818"/>
                  </a:lnTo>
                  <a:lnTo>
                    <a:pt x="1779520" y="97998"/>
                  </a:lnTo>
                  <a:lnTo>
                    <a:pt x="1780109" y="94591"/>
                  </a:lnTo>
                  <a:lnTo>
                    <a:pt x="1781052" y="91418"/>
                  </a:lnTo>
                  <a:lnTo>
                    <a:pt x="1784704" y="90008"/>
                  </a:lnTo>
                  <a:lnTo>
                    <a:pt x="1787650" y="90831"/>
                  </a:lnTo>
                  <a:close/>
                </a:path>
                <a:path w="2341245" h="332739">
                  <a:moveTo>
                    <a:pt x="1922678" y="133250"/>
                  </a:moveTo>
                  <a:lnTo>
                    <a:pt x="1999972" y="160158"/>
                  </a:lnTo>
                  <a:lnTo>
                    <a:pt x="2002918" y="161568"/>
                  </a:lnTo>
                  <a:lnTo>
                    <a:pt x="2004331" y="164506"/>
                  </a:lnTo>
                  <a:lnTo>
                    <a:pt x="2003507" y="168266"/>
                  </a:lnTo>
                  <a:lnTo>
                    <a:pt x="2002093" y="171086"/>
                  </a:lnTo>
                  <a:lnTo>
                    <a:pt x="1999147" y="172849"/>
                  </a:lnTo>
                  <a:lnTo>
                    <a:pt x="1996319" y="171086"/>
                  </a:lnTo>
                  <a:lnTo>
                    <a:pt x="1918437" y="144178"/>
                  </a:lnTo>
                  <a:lnTo>
                    <a:pt x="1915491" y="142650"/>
                  </a:lnTo>
                  <a:lnTo>
                    <a:pt x="1914077" y="139830"/>
                  </a:lnTo>
                  <a:lnTo>
                    <a:pt x="1914666" y="136070"/>
                  </a:lnTo>
                  <a:lnTo>
                    <a:pt x="1916080" y="133250"/>
                  </a:lnTo>
                  <a:lnTo>
                    <a:pt x="1919026" y="131840"/>
                  </a:lnTo>
                  <a:lnTo>
                    <a:pt x="1922678" y="133250"/>
                  </a:lnTo>
                  <a:close/>
                </a:path>
                <a:path w="2341245" h="332739">
                  <a:moveTo>
                    <a:pt x="2054879" y="182837"/>
                  </a:moveTo>
                  <a:lnTo>
                    <a:pt x="2129934" y="215856"/>
                  </a:lnTo>
                  <a:lnTo>
                    <a:pt x="2132879" y="217266"/>
                  </a:lnTo>
                  <a:lnTo>
                    <a:pt x="2134293" y="220086"/>
                  </a:lnTo>
                  <a:lnTo>
                    <a:pt x="2132879" y="223846"/>
                  </a:lnTo>
                  <a:lnTo>
                    <a:pt x="2131348" y="226666"/>
                  </a:lnTo>
                  <a:lnTo>
                    <a:pt x="2128520" y="227606"/>
                  </a:lnTo>
                  <a:lnTo>
                    <a:pt x="2125692" y="226666"/>
                  </a:lnTo>
                  <a:lnTo>
                    <a:pt x="2049812" y="193177"/>
                  </a:lnTo>
                  <a:lnTo>
                    <a:pt x="2046867" y="191767"/>
                  </a:lnTo>
                  <a:lnTo>
                    <a:pt x="2045453" y="188829"/>
                  </a:lnTo>
                  <a:lnTo>
                    <a:pt x="2046867" y="185657"/>
                  </a:lnTo>
                  <a:lnTo>
                    <a:pt x="2048280" y="182837"/>
                  </a:lnTo>
                  <a:lnTo>
                    <a:pt x="2052051" y="181427"/>
                  </a:lnTo>
                  <a:lnTo>
                    <a:pt x="2054879" y="182837"/>
                  </a:lnTo>
                  <a:close/>
                </a:path>
                <a:path w="2341245" h="332739">
                  <a:moveTo>
                    <a:pt x="2184251" y="239944"/>
                  </a:moveTo>
                  <a:lnTo>
                    <a:pt x="2256950" y="278015"/>
                  </a:lnTo>
                  <a:lnTo>
                    <a:pt x="2259895" y="279426"/>
                  </a:lnTo>
                  <a:lnTo>
                    <a:pt x="2260720" y="283186"/>
                  </a:lnTo>
                  <a:lnTo>
                    <a:pt x="2259306" y="286006"/>
                  </a:lnTo>
                  <a:lnTo>
                    <a:pt x="2257892" y="288943"/>
                  </a:lnTo>
                  <a:lnTo>
                    <a:pt x="2254122" y="289766"/>
                  </a:lnTo>
                  <a:lnTo>
                    <a:pt x="2251294" y="288356"/>
                  </a:lnTo>
                  <a:lnTo>
                    <a:pt x="2178478" y="250167"/>
                  </a:lnTo>
                  <a:lnTo>
                    <a:pt x="2175414" y="248757"/>
                  </a:lnTo>
                  <a:lnTo>
                    <a:pt x="2174825" y="244997"/>
                  </a:lnTo>
                  <a:lnTo>
                    <a:pt x="2176239" y="242177"/>
                  </a:lnTo>
                  <a:lnTo>
                    <a:pt x="2177653" y="239356"/>
                  </a:lnTo>
                  <a:lnTo>
                    <a:pt x="2181423" y="238416"/>
                  </a:lnTo>
                  <a:lnTo>
                    <a:pt x="2184251" y="239944"/>
                  </a:lnTo>
                  <a:close/>
                </a:path>
                <a:path w="2341245" h="332739">
                  <a:moveTo>
                    <a:pt x="2308439" y="304924"/>
                  </a:moveTo>
                  <a:lnTo>
                    <a:pt x="2336364" y="319612"/>
                  </a:lnTo>
                  <a:lnTo>
                    <a:pt x="2339192" y="321022"/>
                  </a:lnTo>
                  <a:lnTo>
                    <a:pt x="2340959" y="324782"/>
                  </a:lnTo>
                  <a:lnTo>
                    <a:pt x="2339192" y="327602"/>
                  </a:lnTo>
                  <a:lnTo>
                    <a:pt x="2337189" y="330775"/>
                  </a:lnTo>
                  <a:lnTo>
                    <a:pt x="2334361" y="332185"/>
                  </a:lnTo>
                  <a:lnTo>
                    <a:pt x="2331180" y="330775"/>
                  </a:lnTo>
                  <a:lnTo>
                    <a:pt x="2303255" y="316087"/>
                  </a:lnTo>
                  <a:lnTo>
                    <a:pt x="2300427" y="314442"/>
                  </a:lnTo>
                  <a:lnTo>
                    <a:pt x="2299485" y="311034"/>
                  </a:lnTo>
                  <a:lnTo>
                    <a:pt x="2301252" y="307862"/>
                  </a:lnTo>
                  <a:lnTo>
                    <a:pt x="2302666" y="304924"/>
                  </a:lnTo>
                  <a:lnTo>
                    <a:pt x="2306201" y="303514"/>
                  </a:lnTo>
                  <a:lnTo>
                    <a:pt x="2308439" y="304924"/>
                  </a:lnTo>
                  <a:close/>
                </a:path>
              </a:pathLst>
            </a:custGeom>
            <a:ln w="1176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2345078" y="1903940"/>
              <a:ext cx="2795270" cy="715010"/>
            </a:xfrm>
            <a:custGeom>
              <a:avLst/>
              <a:gdLst/>
              <a:ahLst/>
              <a:cxnLst/>
              <a:rect l="l" t="t" r="r" b="b"/>
              <a:pathLst>
                <a:path w="2795270" h="715010">
                  <a:moveTo>
                    <a:pt x="83644" y="669999"/>
                  </a:moveTo>
                  <a:lnTo>
                    <a:pt x="80769" y="671433"/>
                  </a:lnTo>
                  <a:lnTo>
                    <a:pt x="4312" y="702101"/>
                  </a:lnTo>
                  <a:lnTo>
                    <a:pt x="1437" y="703535"/>
                  </a:lnTo>
                  <a:lnTo>
                    <a:pt x="0" y="706402"/>
                  </a:lnTo>
                  <a:lnTo>
                    <a:pt x="1437" y="710127"/>
                  </a:lnTo>
                  <a:lnTo>
                    <a:pt x="2874" y="712994"/>
                  </a:lnTo>
                  <a:lnTo>
                    <a:pt x="5749" y="714428"/>
                  </a:lnTo>
                  <a:lnTo>
                    <a:pt x="9484" y="712994"/>
                  </a:lnTo>
                  <a:lnTo>
                    <a:pt x="85081" y="681750"/>
                  </a:lnTo>
                  <a:lnTo>
                    <a:pt x="88239" y="680892"/>
                  </a:lnTo>
                  <a:lnTo>
                    <a:pt x="89677" y="677167"/>
                  </a:lnTo>
                  <a:lnTo>
                    <a:pt x="88816" y="674300"/>
                  </a:lnTo>
                  <a:lnTo>
                    <a:pt x="87379" y="671433"/>
                  </a:lnTo>
                  <a:lnTo>
                    <a:pt x="83644" y="669999"/>
                  </a:lnTo>
                  <a:close/>
                </a:path>
                <a:path w="2795270" h="715010">
                  <a:moveTo>
                    <a:pt x="214430" y="616676"/>
                  </a:moveTo>
                  <a:lnTo>
                    <a:pt x="211555" y="618109"/>
                  </a:lnTo>
                  <a:lnTo>
                    <a:pt x="135098" y="648778"/>
                  </a:lnTo>
                  <a:lnTo>
                    <a:pt x="132223" y="650211"/>
                  </a:lnTo>
                  <a:lnTo>
                    <a:pt x="130786" y="653948"/>
                  </a:lnTo>
                  <a:lnTo>
                    <a:pt x="132223" y="656803"/>
                  </a:lnTo>
                  <a:lnTo>
                    <a:pt x="133084" y="659671"/>
                  </a:lnTo>
                  <a:lnTo>
                    <a:pt x="136536" y="661104"/>
                  </a:lnTo>
                  <a:lnTo>
                    <a:pt x="139694" y="659671"/>
                  </a:lnTo>
                  <a:lnTo>
                    <a:pt x="215868" y="629002"/>
                  </a:lnTo>
                  <a:lnTo>
                    <a:pt x="219026" y="627568"/>
                  </a:lnTo>
                  <a:lnTo>
                    <a:pt x="220463" y="623843"/>
                  </a:lnTo>
                  <a:lnTo>
                    <a:pt x="219026" y="620976"/>
                  </a:lnTo>
                  <a:lnTo>
                    <a:pt x="218165" y="618109"/>
                  </a:lnTo>
                  <a:lnTo>
                    <a:pt x="214430" y="616676"/>
                  </a:lnTo>
                  <a:close/>
                </a:path>
                <a:path w="2795270" h="715010">
                  <a:moveTo>
                    <a:pt x="345217" y="563928"/>
                  </a:moveTo>
                  <a:lnTo>
                    <a:pt x="342342" y="564504"/>
                  </a:lnTo>
                  <a:lnTo>
                    <a:pt x="265885" y="595466"/>
                  </a:lnTo>
                  <a:lnTo>
                    <a:pt x="263010" y="596900"/>
                  </a:lnTo>
                  <a:lnTo>
                    <a:pt x="261572" y="600331"/>
                  </a:lnTo>
                  <a:lnTo>
                    <a:pt x="262138" y="603492"/>
                  </a:lnTo>
                  <a:lnTo>
                    <a:pt x="263870" y="606359"/>
                  </a:lnTo>
                  <a:lnTo>
                    <a:pt x="267322" y="607792"/>
                  </a:lnTo>
                  <a:lnTo>
                    <a:pt x="270480" y="606359"/>
                  </a:lnTo>
                  <a:lnTo>
                    <a:pt x="343202" y="577112"/>
                  </a:lnTo>
                  <a:lnTo>
                    <a:pt x="346077" y="575678"/>
                  </a:lnTo>
                  <a:lnTo>
                    <a:pt x="348952" y="574820"/>
                  </a:lnTo>
                  <a:lnTo>
                    <a:pt x="351250" y="571096"/>
                  </a:lnTo>
                  <a:lnTo>
                    <a:pt x="349812" y="568228"/>
                  </a:lnTo>
                  <a:lnTo>
                    <a:pt x="348952" y="565361"/>
                  </a:lnTo>
                  <a:lnTo>
                    <a:pt x="345217" y="563928"/>
                  </a:lnTo>
                  <a:close/>
                </a:path>
                <a:path w="2795270" h="715010">
                  <a:moveTo>
                    <a:pt x="477441" y="515774"/>
                  </a:moveTo>
                  <a:lnTo>
                    <a:pt x="474566" y="517196"/>
                  </a:lnTo>
                  <a:lnTo>
                    <a:pt x="397531" y="545009"/>
                  </a:lnTo>
                  <a:lnTo>
                    <a:pt x="394656" y="545585"/>
                  </a:lnTo>
                  <a:lnTo>
                    <a:pt x="392924" y="549310"/>
                  </a:lnTo>
                  <a:lnTo>
                    <a:pt x="393796" y="552177"/>
                  </a:lnTo>
                  <a:lnTo>
                    <a:pt x="395234" y="555044"/>
                  </a:lnTo>
                  <a:lnTo>
                    <a:pt x="398109" y="556478"/>
                  </a:lnTo>
                  <a:lnTo>
                    <a:pt x="401266" y="555902"/>
                  </a:lnTo>
                  <a:lnTo>
                    <a:pt x="478878" y="528101"/>
                  </a:lnTo>
                  <a:lnTo>
                    <a:pt x="482036" y="526667"/>
                  </a:lnTo>
                  <a:lnTo>
                    <a:pt x="483473" y="523800"/>
                  </a:lnTo>
                  <a:lnTo>
                    <a:pt x="482613" y="520639"/>
                  </a:lnTo>
                  <a:lnTo>
                    <a:pt x="481176" y="517196"/>
                  </a:lnTo>
                  <a:lnTo>
                    <a:pt x="477441" y="515774"/>
                  </a:lnTo>
                  <a:close/>
                </a:path>
                <a:path w="2795270" h="715010">
                  <a:moveTo>
                    <a:pt x="610525" y="468185"/>
                  </a:moveTo>
                  <a:lnTo>
                    <a:pt x="607650" y="468761"/>
                  </a:lnTo>
                  <a:lnTo>
                    <a:pt x="530333" y="496562"/>
                  </a:lnTo>
                  <a:lnTo>
                    <a:pt x="526880" y="497996"/>
                  </a:lnTo>
                  <a:lnTo>
                    <a:pt x="525148" y="501721"/>
                  </a:lnTo>
                  <a:lnTo>
                    <a:pt x="526880" y="504588"/>
                  </a:lnTo>
                  <a:lnTo>
                    <a:pt x="527458" y="507455"/>
                  </a:lnTo>
                  <a:lnTo>
                    <a:pt x="531193" y="509171"/>
                  </a:lnTo>
                  <a:lnTo>
                    <a:pt x="534068" y="508313"/>
                  </a:lnTo>
                  <a:lnTo>
                    <a:pt x="611385" y="479935"/>
                  </a:lnTo>
                  <a:lnTo>
                    <a:pt x="614260" y="479078"/>
                  </a:lnTo>
                  <a:lnTo>
                    <a:pt x="616275" y="475353"/>
                  </a:lnTo>
                  <a:lnTo>
                    <a:pt x="614837" y="472486"/>
                  </a:lnTo>
                  <a:lnTo>
                    <a:pt x="614260" y="469619"/>
                  </a:lnTo>
                  <a:lnTo>
                    <a:pt x="610525" y="468185"/>
                  </a:lnTo>
                  <a:close/>
                </a:path>
                <a:path w="2795270" h="715010">
                  <a:moveTo>
                    <a:pt x="744186" y="422887"/>
                  </a:moveTo>
                  <a:lnTo>
                    <a:pt x="741358" y="423463"/>
                  </a:lnTo>
                  <a:lnTo>
                    <a:pt x="662545" y="448973"/>
                  </a:lnTo>
                  <a:lnTo>
                    <a:pt x="659682" y="450407"/>
                  </a:lnTo>
                  <a:lnTo>
                    <a:pt x="658244" y="453567"/>
                  </a:lnTo>
                  <a:lnTo>
                    <a:pt x="659104" y="456423"/>
                  </a:lnTo>
                  <a:lnTo>
                    <a:pt x="660542" y="459290"/>
                  </a:lnTo>
                  <a:lnTo>
                    <a:pt x="663417" y="461593"/>
                  </a:lnTo>
                  <a:lnTo>
                    <a:pt x="680949" y="455001"/>
                  </a:lnTo>
                  <a:lnTo>
                    <a:pt x="745011" y="434355"/>
                  </a:lnTo>
                  <a:lnTo>
                    <a:pt x="747957" y="433780"/>
                  </a:lnTo>
                  <a:lnTo>
                    <a:pt x="749371" y="430912"/>
                  </a:lnTo>
                  <a:lnTo>
                    <a:pt x="748546" y="427188"/>
                  </a:lnTo>
                  <a:lnTo>
                    <a:pt x="747014" y="424320"/>
                  </a:lnTo>
                  <a:lnTo>
                    <a:pt x="744186" y="422887"/>
                  </a:lnTo>
                  <a:close/>
                </a:path>
                <a:path w="2795270" h="715010">
                  <a:moveTo>
                    <a:pt x="878743" y="379598"/>
                  </a:moveTo>
                  <a:lnTo>
                    <a:pt x="875797" y="381032"/>
                  </a:lnTo>
                  <a:lnTo>
                    <a:pt x="797090" y="405978"/>
                  </a:lnTo>
                  <a:lnTo>
                    <a:pt x="794144" y="406554"/>
                  </a:lnTo>
                  <a:lnTo>
                    <a:pt x="791906" y="410279"/>
                  </a:lnTo>
                  <a:lnTo>
                    <a:pt x="793320" y="413146"/>
                  </a:lnTo>
                  <a:lnTo>
                    <a:pt x="794144" y="416295"/>
                  </a:lnTo>
                  <a:lnTo>
                    <a:pt x="797915" y="417728"/>
                  </a:lnTo>
                  <a:lnTo>
                    <a:pt x="800860" y="416871"/>
                  </a:lnTo>
                  <a:lnTo>
                    <a:pt x="879332" y="391924"/>
                  </a:lnTo>
                  <a:lnTo>
                    <a:pt x="882396" y="391360"/>
                  </a:lnTo>
                  <a:lnTo>
                    <a:pt x="883927" y="387624"/>
                  </a:lnTo>
                  <a:lnTo>
                    <a:pt x="882985" y="384757"/>
                  </a:lnTo>
                  <a:lnTo>
                    <a:pt x="881571" y="381890"/>
                  </a:lnTo>
                  <a:lnTo>
                    <a:pt x="878743" y="379598"/>
                  </a:lnTo>
                  <a:close/>
                </a:path>
                <a:path w="2795270" h="715010">
                  <a:moveTo>
                    <a:pt x="1013182" y="337179"/>
                  </a:moveTo>
                  <a:lnTo>
                    <a:pt x="1010119" y="338037"/>
                  </a:lnTo>
                  <a:lnTo>
                    <a:pt x="931647" y="362689"/>
                  </a:lnTo>
                  <a:lnTo>
                    <a:pt x="928701" y="364123"/>
                  </a:lnTo>
                  <a:lnTo>
                    <a:pt x="926462" y="367272"/>
                  </a:lnTo>
                  <a:lnTo>
                    <a:pt x="927876" y="370715"/>
                  </a:lnTo>
                  <a:lnTo>
                    <a:pt x="928701" y="373864"/>
                  </a:lnTo>
                  <a:lnTo>
                    <a:pt x="932118" y="375298"/>
                  </a:lnTo>
                  <a:lnTo>
                    <a:pt x="935299" y="374440"/>
                  </a:lnTo>
                  <a:lnTo>
                    <a:pt x="1013182" y="349505"/>
                  </a:lnTo>
                  <a:lnTo>
                    <a:pt x="1016717" y="348072"/>
                  </a:lnTo>
                  <a:lnTo>
                    <a:pt x="1018366" y="345205"/>
                  </a:lnTo>
                  <a:lnTo>
                    <a:pt x="1017542" y="342338"/>
                  </a:lnTo>
                  <a:lnTo>
                    <a:pt x="1016128" y="338613"/>
                  </a:lnTo>
                  <a:lnTo>
                    <a:pt x="1013182" y="337179"/>
                  </a:lnTo>
                  <a:close/>
                </a:path>
                <a:path w="2795270" h="715010">
                  <a:moveTo>
                    <a:pt x="1148917" y="299907"/>
                  </a:moveTo>
                  <a:lnTo>
                    <a:pt x="1145972" y="300482"/>
                  </a:lnTo>
                  <a:lnTo>
                    <a:pt x="1066675" y="322550"/>
                  </a:lnTo>
                  <a:lnTo>
                    <a:pt x="1063847" y="323419"/>
                  </a:lnTo>
                  <a:lnTo>
                    <a:pt x="1061491" y="326286"/>
                  </a:lnTo>
                  <a:lnTo>
                    <a:pt x="1062433" y="329153"/>
                  </a:lnTo>
                  <a:lnTo>
                    <a:pt x="1062905" y="332878"/>
                  </a:lnTo>
                  <a:lnTo>
                    <a:pt x="1066675" y="334312"/>
                  </a:lnTo>
                  <a:lnTo>
                    <a:pt x="1069621" y="333442"/>
                  </a:lnTo>
                  <a:lnTo>
                    <a:pt x="1152099" y="310799"/>
                  </a:lnTo>
                  <a:lnTo>
                    <a:pt x="1154102" y="307932"/>
                  </a:lnTo>
                  <a:lnTo>
                    <a:pt x="1153512" y="304207"/>
                  </a:lnTo>
                  <a:lnTo>
                    <a:pt x="1152688" y="301340"/>
                  </a:lnTo>
                  <a:lnTo>
                    <a:pt x="1148917" y="299907"/>
                  </a:lnTo>
                  <a:close/>
                </a:path>
                <a:path w="2795270" h="715010">
                  <a:moveTo>
                    <a:pt x="1284888" y="262646"/>
                  </a:moveTo>
                  <a:lnTo>
                    <a:pt x="1281942" y="263210"/>
                  </a:lnTo>
                  <a:lnTo>
                    <a:pt x="1202646" y="285289"/>
                  </a:lnTo>
                  <a:lnTo>
                    <a:pt x="1199818" y="285865"/>
                  </a:lnTo>
                  <a:lnTo>
                    <a:pt x="1197461" y="289014"/>
                  </a:lnTo>
                  <a:lnTo>
                    <a:pt x="1198286" y="291881"/>
                  </a:lnTo>
                  <a:lnTo>
                    <a:pt x="1199818" y="295606"/>
                  </a:lnTo>
                  <a:lnTo>
                    <a:pt x="1202646" y="297039"/>
                  </a:lnTo>
                  <a:lnTo>
                    <a:pt x="1205474" y="296182"/>
                  </a:lnTo>
                  <a:lnTo>
                    <a:pt x="1288069" y="273539"/>
                  </a:lnTo>
                  <a:lnTo>
                    <a:pt x="1290072" y="270671"/>
                  </a:lnTo>
                  <a:lnTo>
                    <a:pt x="1289483" y="266947"/>
                  </a:lnTo>
                  <a:lnTo>
                    <a:pt x="1288658" y="264079"/>
                  </a:lnTo>
                  <a:lnTo>
                    <a:pt x="1284888" y="262646"/>
                  </a:lnTo>
                  <a:close/>
                </a:path>
                <a:path w="2795270" h="715010">
                  <a:moveTo>
                    <a:pt x="1421684" y="227383"/>
                  </a:moveTo>
                  <a:lnTo>
                    <a:pt x="1418502" y="228241"/>
                  </a:lnTo>
                  <a:lnTo>
                    <a:pt x="1367366" y="239991"/>
                  </a:lnTo>
                  <a:lnTo>
                    <a:pt x="1338617" y="248017"/>
                  </a:lnTo>
                  <a:lnTo>
                    <a:pt x="1335789" y="248592"/>
                  </a:lnTo>
                  <a:lnTo>
                    <a:pt x="1333432" y="251753"/>
                  </a:lnTo>
                  <a:lnTo>
                    <a:pt x="1334846" y="254620"/>
                  </a:lnTo>
                  <a:lnTo>
                    <a:pt x="1335789" y="258051"/>
                  </a:lnTo>
                  <a:lnTo>
                    <a:pt x="1338617" y="259779"/>
                  </a:lnTo>
                  <a:lnTo>
                    <a:pt x="1341444" y="258909"/>
                  </a:lnTo>
                  <a:lnTo>
                    <a:pt x="1370783" y="250884"/>
                  </a:lnTo>
                  <a:lnTo>
                    <a:pt x="1421684" y="239133"/>
                  </a:lnTo>
                  <a:lnTo>
                    <a:pt x="1424511" y="238557"/>
                  </a:lnTo>
                  <a:lnTo>
                    <a:pt x="1426868" y="235408"/>
                  </a:lnTo>
                  <a:lnTo>
                    <a:pt x="1426043" y="232541"/>
                  </a:lnTo>
                  <a:lnTo>
                    <a:pt x="1425101" y="228816"/>
                  </a:lnTo>
                  <a:lnTo>
                    <a:pt x="1421684" y="227383"/>
                  </a:lnTo>
                  <a:close/>
                </a:path>
                <a:path w="2795270" h="715010">
                  <a:moveTo>
                    <a:pt x="1559068" y="195292"/>
                  </a:moveTo>
                  <a:lnTo>
                    <a:pt x="1555887" y="196115"/>
                  </a:lnTo>
                  <a:lnTo>
                    <a:pt x="1476001" y="214199"/>
                  </a:lnTo>
                  <a:lnTo>
                    <a:pt x="1473173" y="215056"/>
                  </a:lnTo>
                  <a:lnTo>
                    <a:pt x="1470817" y="218781"/>
                  </a:lnTo>
                  <a:lnTo>
                    <a:pt x="1471760" y="221648"/>
                  </a:lnTo>
                  <a:lnTo>
                    <a:pt x="1472231" y="224516"/>
                  </a:lnTo>
                  <a:lnTo>
                    <a:pt x="1475176" y="226807"/>
                  </a:lnTo>
                  <a:lnTo>
                    <a:pt x="1559068" y="207607"/>
                  </a:lnTo>
                  <a:lnTo>
                    <a:pt x="1562014" y="207031"/>
                  </a:lnTo>
                  <a:lnTo>
                    <a:pt x="1564253" y="203306"/>
                  </a:lnTo>
                  <a:lnTo>
                    <a:pt x="1563428" y="200439"/>
                  </a:lnTo>
                  <a:lnTo>
                    <a:pt x="1562485" y="197525"/>
                  </a:lnTo>
                  <a:lnTo>
                    <a:pt x="1559068" y="195292"/>
                  </a:lnTo>
                  <a:close/>
                </a:path>
                <a:path w="2795270" h="715010">
                  <a:moveTo>
                    <a:pt x="1696453" y="163683"/>
                  </a:moveTo>
                  <a:lnTo>
                    <a:pt x="1693272" y="164623"/>
                  </a:lnTo>
                  <a:lnTo>
                    <a:pt x="1613386" y="182954"/>
                  </a:lnTo>
                  <a:lnTo>
                    <a:pt x="1610558" y="183542"/>
                  </a:lnTo>
                  <a:lnTo>
                    <a:pt x="1608202" y="186362"/>
                  </a:lnTo>
                  <a:lnTo>
                    <a:pt x="1608791" y="190122"/>
                  </a:lnTo>
                  <a:lnTo>
                    <a:pt x="1609616" y="192942"/>
                  </a:lnTo>
                  <a:lnTo>
                    <a:pt x="1612561" y="195292"/>
                  </a:lnTo>
                  <a:lnTo>
                    <a:pt x="1616332" y="194705"/>
                  </a:lnTo>
                  <a:lnTo>
                    <a:pt x="1696453" y="175551"/>
                  </a:lnTo>
                  <a:lnTo>
                    <a:pt x="1699399" y="174964"/>
                  </a:lnTo>
                  <a:lnTo>
                    <a:pt x="1701637" y="171791"/>
                  </a:lnTo>
                  <a:lnTo>
                    <a:pt x="1700813" y="168854"/>
                  </a:lnTo>
                  <a:lnTo>
                    <a:pt x="1699988" y="165211"/>
                  </a:lnTo>
                  <a:lnTo>
                    <a:pt x="1696453" y="163683"/>
                  </a:lnTo>
                  <a:close/>
                </a:path>
                <a:path w="2795270" h="715010">
                  <a:moveTo>
                    <a:pt x="1835369" y="136775"/>
                  </a:moveTo>
                  <a:lnTo>
                    <a:pt x="1832188" y="137597"/>
                  </a:lnTo>
                  <a:lnTo>
                    <a:pt x="1747943" y="152873"/>
                  </a:lnTo>
                  <a:lnTo>
                    <a:pt x="1746175" y="155693"/>
                  </a:lnTo>
                  <a:lnTo>
                    <a:pt x="1746175" y="159453"/>
                  </a:lnTo>
                  <a:lnTo>
                    <a:pt x="1747118" y="162273"/>
                  </a:lnTo>
                  <a:lnTo>
                    <a:pt x="1749946" y="164623"/>
                  </a:lnTo>
                  <a:lnTo>
                    <a:pt x="1753716" y="163683"/>
                  </a:lnTo>
                  <a:lnTo>
                    <a:pt x="1834427" y="148525"/>
                  </a:lnTo>
                  <a:lnTo>
                    <a:pt x="1837372" y="147703"/>
                  </a:lnTo>
                  <a:lnTo>
                    <a:pt x="1839611" y="144765"/>
                  </a:lnTo>
                  <a:lnTo>
                    <a:pt x="1838786" y="141945"/>
                  </a:lnTo>
                  <a:lnTo>
                    <a:pt x="1838197" y="139125"/>
                  </a:lnTo>
                  <a:lnTo>
                    <a:pt x="1835369" y="136775"/>
                  </a:lnTo>
                  <a:close/>
                </a:path>
                <a:path w="2795270" h="715010">
                  <a:moveTo>
                    <a:pt x="1974168" y="110454"/>
                  </a:moveTo>
                  <a:lnTo>
                    <a:pt x="1970398" y="111276"/>
                  </a:lnTo>
                  <a:lnTo>
                    <a:pt x="1889687" y="126434"/>
                  </a:lnTo>
                  <a:lnTo>
                    <a:pt x="1886741" y="126434"/>
                  </a:lnTo>
                  <a:lnTo>
                    <a:pt x="1884503" y="130195"/>
                  </a:lnTo>
                  <a:lnTo>
                    <a:pt x="1885328" y="133015"/>
                  </a:lnTo>
                  <a:lnTo>
                    <a:pt x="1885917" y="135952"/>
                  </a:lnTo>
                  <a:lnTo>
                    <a:pt x="1888744" y="138185"/>
                  </a:lnTo>
                  <a:lnTo>
                    <a:pt x="1972754" y="123027"/>
                  </a:lnTo>
                  <a:lnTo>
                    <a:pt x="1976171" y="122204"/>
                  </a:lnTo>
                  <a:lnTo>
                    <a:pt x="1978410" y="119267"/>
                  </a:lnTo>
                  <a:lnTo>
                    <a:pt x="1977938" y="115624"/>
                  </a:lnTo>
                  <a:lnTo>
                    <a:pt x="1976996" y="112686"/>
                  </a:lnTo>
                  <a:lnTo>
                    <a:pt x="1974168" y="110454"/>
                  </a:lnTo>
                  <a:close/>
                </a:path>
                <a:path w="2795270" h="715010">
                  <a:moveTo>
                    <a:pt x="2112967" y="85425"/>
                  </a:moveTo>
                  <a:lnTo>
                    <a:pt x="2110139" y="86365"/>
                  </a:lnTo>
                  <a:lnTo>
                    <a:pt x="2072435" y="92123"/>
                  </a:lnTo>
                  <a:lnTo>
                    <a:pt x="2028486" y="100113"/>
                  </a:lnTo>
                  <a:lnTo>
                    <a:pt x="2025658" y="100936"/>
                  </a:lnTo>
                  <a:lnTo>
                    <a:pt x="2023301" y="103874"/>
                  </a:lnTo>
                  <a:lnTo>
                    <a:pt x="2024126" y="106694"/>
                  </a:lnTo>
                  <a:lnTo>
                    <a:pt x="2024715" y="110454"/>
                  </a:lnTo>
                  <a:lnTo>
                    <a:pt x="2027661" y="111864"/>
                  </a:lnTo>
                  <a:lnTo>
                    <a:pt x="2030724" y="111864"/>
                  </a:lnTo>
                  <a:lnTo>
                    <a:pt x="2074791" y="103286"/>
                  </a:lnTo>
                  <a:lnTo>
                    <a:pt x="2111553" y="98116"/>
                  </a:lnTo>
                  <a:lnTo>
                    <a:pt x="2114381" y="97176"/>
                  </a:lnTo>
                  <a:lnTo>
                    <a:pt x="2117326" y="94356"/>
                  </a:lnTo>
                  <a:lnTo>
                    <a:pt x="2116737" y="91536"/>
                  </a:lnTo>
                  <a:lnTo>
                    <a:pt x="2115912" y="87775"/>
                  </a:lnTo>
                  <a:lnTo>
                    <a:pt x="2112967" y="85425"/>
                  </a:lnTo>
                  <a:close/>
                </a:path>
                <a:path w="2795270" h="715010">
                  <a:moveTo>
                    <a:pt x="2252354" y="65097"/>
                  </a:moveTo>
                  <a:lnTo>
                    <a:pt x="2249527" y="66037"/>
                  </a:lnTo>
                  <a:lnTo>
                    <a:pt x="2168227" y="77435"/>
                  </a:lnTo>
                  <a:lnTo>
                    <a:pt x="2165046" y="78258"/>
                  </a:lnTo>
                  <a:lnTo>
                    <a:pt x="2163043" y="81195"/>
                  </a:lnTo>
                  <a:lnTo>
                    <a:pt x="2163043" y="84015"/>
                  </a:lnTo>
                  <a:lnTo>
                    <a:pt x="2163632" y="87775"/>
                  </a:lnTo>
                  <a:lnTo>
                    <a:pt x="2166459" y="90126"/>
                  </a:lnTo>
                  <a:lnTo>
                    <a:pt x="2169641" y="89186"/>
                  </a:lnTo>
                  <a:lnTo>
                    <a:pt x="2250940" y="77435"/>
                  </a:lnTo>
                  <a:lnTo>
                    <a:pt x="2254122" y="76848"/>
                  </a:lnTo>
                  <a:lnTo>
                    <a:pt x="2256125" y="74027"/>
                  </a:lnTo>
                  <a:lnTo>
                    <a:pt x="2256125" y="70855"/>
                  </a:lnTo>
                  <a:lnTo>
                    <a:pt x="2255536" y="67447"/>
                  </a:lnTo>
                  <a:lnTo>
                    <a:pt x="2252354" y="65097"/>
                  </a:lnTo>
                  <a:close/>
                </a:path>
                <a:path w="2795270" h="715010">
                  <a:moveTo>
                    <a:pt x="2392096" y="44769"/>
                  </a:moveTo>
                  <a:lnTo>
                    <a:pt x="2389268" y="45356"/>
                  </a:lnTo>
                  <a:lnTo>
                    <a:pt x="2307615" y="57107"/>
                  </a:lnTo>
                  <a:lnTo>
                    <a:pt x="2303844" y="57694"/>
                  </a:lnTo>
                  <a:lnTo>
                    <a:pt x="2301841" y="60867"/>
                  </a:lnTo>
                  <a:lnTo>
                    <a:pt x="2302430" y="63687"/>
                  </a:lnTo>
                  <a:lnTo>
                    <a:pt x="2303255" y="67447"/>
                  </a:lnTo>
                  <a:lnTo>
                    <a:pt x="2306201" y="69445"/>
                  </a:lnTo>
                  <a:lnTo>
                    <a:pt x="2309029" y="68857"/>
                  </a:lnTo>
                  <a:lnTo>
                    <a:pt x="2390682" y="56284"/>
                  </a:lnTo>
                  <a:lnTo>
                    <a:pt x="2393510" y="56284"/>
                  </a:lnTo>
                  <a:lnTo>
                    <a:pt x="2395866" y="53347"/>
                  </a:lnTo>
                  <a:lnTo>
                    <a:pt x="2395866" y="49704"/>
                  </a:lnTo>
                  <a:lnTo>
                    <a:pt x="2394923" y="46766"/>
                  </a:lnTo>
                  <a:lnTo>
                    <a:pt x="2392096" y="44769"/>
                  </a:lnTo>
                  <a:close/>
                </a:path>
                <a:path w="2795270" h="715010">
                  <a:moveTo>
                    <a:pt x="2532308" y="27848"/>
                  </a:moveTo>
                  <a:lnTo>
                    <a:pt x="2529480" y="28436"/>
                  </a:lnTo>
                  <a:lnTo>
                    <a:pt x="2447238" y="37366"/>
                  </a:lnTo>
                  <a:lnTo>
                    <a:pt x="2444410" y="37366"/>
                  </a:lnTo>
                  <a:lnTo>
                    <a:pt x="2442054" y="40186"/>
                  </a:lnTo>
                  <a:lnTo>
                    <a:pt x="2442054" y="43946"/>
                  </a:lnTo>
                  <a:lnTo>
                    <a:pt x="2442643" y="46766"/>
                  </a:lnTo>
                  <a:lnTo>
                    <a:pt x="2445824" y="49116"/>
                  </a:lnTo>
                  <a:lnTo>
                    <a:pt x="2448770" y="49116"/>
                  </a:lnTo>
                  <a:lnTo>
                    <a:pt x="2530305" y="40186"/>
                  </a:lnTo>
                  <a:lnTo>
                    <a:pt x="2533840" y="39599"/>
                  </a:lnTo>
                  <a:lnTo>
                    <a:pt x="2536079" y="36426"/>
                  </a:lnTo>
                  <a:lnTo>
                    <a:pt x="2535489" y="33606"/>
                  </a:lnTo>
                  <a:lnTo>
                    <a:pt x="2535489" y="29846"/>
                  </a:lnTo>
                  <a:lnTo>
                    <a:pt x="2532308" y="27848"/>
                  </a:lnTo>
                  <a:close/>
                </a:path>
                <a:path w="2795270" h="715010">
                  <a:moveTo>
                    <a:pt x="2672638" y="13278"/>
                  </a:moveTo>
                  <a:lnTo>
                    <a:pt x="2669221" y="13278"/>
                  </a:lnTo>
                  <a:lnTo>
                    <a:pt x="2587568" y="21855"/>
                  </a:lnTo>
                  <a:lnTo>
                    <a:pt x="2584623" y="22678"/>
                  </a:lnTo>
                  <a:lnTo>
                    <a:pt x="2581795" y="25616"/>
                  </a:lnTo>
                  <a:lnTo>
                    <a:pt x="2582384" y="28436"/>
                  </a:lnTo>
                  <a:lnTo>
                    <a:pt x="2582384" y="31608"/>
                  </a:lnTo>
                  <a:lnTo>
                    <a:pt x="2585212" y="33606"/>
                  </a:lnTo>
                  <a:lnTo>
                    <a:pt x="2588982" y="33606"/>
                  </a:lnTo>
                  <a:lnTo>
                    <a:pt x="2670635" y="25028"/>
                  </a:lnTo>
                  <a:lnTo>
                    <a:pt x="2674406" y="24088"/>
                  </a:lnTo>
                  <a:lnTo>
                    <a:pt x="2676409" y="21855"/>
                  </a:lnTo>
                  <a:lnTo>
                    <a:pt x="2675820" y="18448"/>
                  </a:lnTo>
                  <a:lnTo>
                    <a:pt x="2675820" y="15275"/>
                  </a:lnTo>
                  <a:lnTo>
                    <a:pt x="2672638" y="13278"/>
                  </a:lnTo>
                  <a:close/>
                </a:path>
                <a:path w="2795270" h="715010">
                  <a:moveTo>
                    <a:pt x="2791053" y="0"/>
                  </a:moveTo>
                  <a:lnTo>
                    <a:pt x="2788225" y="587"/>
                  </a:lnTo>
                  <a:lnTo>
                    <a:pt x="2727781" y="6697"/>
                  </a:lnTo>
                  <a:lnTo>
                    <a:pt x="2724953" y="7167"/>
                  </a:lnTo>
                  <a:lnTo>
                    <a:pt x="2722125" y="10340"/>
                  </a:lnTo>
                  <a:lnTo>
                    <a:pt x="2722597" y="13278"/>
                  </a:lnTo>
                  <a:lnTo>
                    <a:pt x="2722597" y="16920"/>
                  </a:lnTo>
                  <a:lnTo>
                    <a:pt x="2725542" y="18918"/>
                  </a:lnTo>
                  <a:lnTo>
                    <a:pt x="2729313" y="18448"/>
                  </a:lnTo>
                  <a:lnTo>
                    <a:pt x="2788815" y="11750"/>
                  </a:lnTo>
                  <a:lnTo>
                    <a:pt x="2792467" y="11750"/>
                  </a:lnTo>
                  <a:lnTo>
                    <a:pt x="2794824" y="8930"/>
                  </a:lnTo>
                  <a:lnTo>
                    <a:pt x="2793881" y="5757"/>
                  </a:lnTo>
                  <a:lnTo>
                    <a:pt x="2793881" y="2350"/>
                  </a:lnTo>
                  <a:lnTo>
                    <a:pt x="279105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2345078" y="1903940"/>
              <a:ext cx="2795270" cy="715010"/>
            </a:xfrm>
            <a:custGeom>
              <a:avLst/>
              <a:gdLst/>
              <a:ahLst/>
              <a:cxnLst/>
              <a:rect l="l" t="t" r="r" b="b"/>
              <a:pathLst>
                <a:path w="2795270" h="715010">
                  <a:moveTo>
                    <a:pt x="4312" y="702101"/>
                  </a:moveTo>
                  <a:lnTo>
                    <a:pt x="80769" y="671433"/>
                  </a:lnTo>
                  <a:lnTo>
                    <a:pt x="83644" y="669999"/>
                  </a:lnTo>
                  <a:lnTo>
                    <a:pt x="87379" y="671433"/>
                  </a:lnTo>
                  <a:lnTo>
                    <a:pt x="88816" y="674300"/>
                  </a:lnTo>
                  <a:lnTo>
                    <a:pt x="89677" y="677167"/>
                  </a:lnTo>
                  <a:lnTo>
                    <a:pt x="88239" y="680892"/>
                  </a:lnTo>
                  <a:lnTo>
                    <a:pt x="85081" y="681750"/>
                  </a:lnTo>
                  <a:lnTo>
                    <a:pt x="9484" y="712994"/>
                  </a:lnTo>
                  <a:lnTo>
                    <a:pt x="5749" y="714428"/>
                  </a:lnTo>
                  <a:lnTo>
                    <a:pt x="2874" y="712994"/>
                  </a:lnTo>
                  <a:lnTo>
                    <a:pt x="1437" y="710127"/>
                  </a:lnTo>
                  <a:lnTo>
                    <a:pt x="0" y="706402"/>
                  </a:lnTo>
                  <a:lnTo>
                    <a:pt x="1437" y="703535"/>
                  </a:lnTo>
                  <a:lnTo>
                    <a:pt x="4312" y="702101"/>
                  </a:lnTo>
                  <a:close/>
                </a:path>
                <a:path w="2795270" h="715010">
                  <a:moveTo>
                    <a:pt x="135098" y="648778"/>
                  </a:moveTo>
                  <a:lnTo>
                    <a:pt x="211555" y="618109"/>
                  </a:lnTo>
                  <a:lnTo>
                    <a:pt x="214430" y="616676"/>
                  </a:lnTo>
                  <a:lnTo>
                    <a:pt x="218165" y="618109"/>
                  </a:lnTo>
                  <a:lnTo>
                    <a:pt x="219026" y="620976"/>
                  </a:lnTo>
                  <a:lnTo>
                    <a:pt x="220463" y="623843"/>
                  </a:lnTo>
                  <a:lnTo>
                    <a:pt x="219026" y="627568"/>
                  </a:lnTo>
                  <a:lnTo>
                    <a:pt x="215868" y="629002"/>
                  </a:lnTo>
                  <a:lnTo>
                    <a:pt x="139694" y="659670"/>
                  </a:lnTo>
                  <a:lnTo>
                    <a:pt x="136536" y="661104"/>
                  </a:lnTo>
                  <a:lnTo>
                    <a:pt x="133084" y="659670"/>
                  </a:lnTo>
                  <a:lnTo>
                    <a:pt x="132223" y="656803"/>
                  </a:lnTo>
                  <a:lnTo>
                    <a:pt x="130786" y="653948"/>
                  </a:lnTo>
                  <a:lnTo>
                    <a:pt x="132223" y="650211"/>
                  </a:lnTo>
                  <a:lnTo>
                    <a:pt x="135098" y="648778"/>
                  </a:lnTo>
                  <a:close/>
                </a:path>
                <a:path w="2795270" h="715010">
                  <a:moveTo>
                    <a:pt x="265885" y="595466"/>
                  </a:moveTo>
                  <a:lnTo>
                    <a:pt x="338029" y="566219"/>
                  </a:lnTo>
                  <a:lnTo>
                    <a:pt x="342342" y="564503"/>
                  </a:lnTo>
                  <a:lnTo>
                    <a:pt x="345217" y="563928"/>
                  </a:lnTo>
                  <a:lnTo>
                    <a:pt x="348952" y="565361"/>
                  </a:lnTo>
                  <a:lnTo>
                    <a:pt x="349812" y="568228"/>
                  </a:lnTo>
                  <a:lnTo>
                    <a:pt x="351250" y="571096"/>
                  </a:lnTo>
                  <a:lnTo>
                    <a:pt x="348952" y="574820"/>
                  </a:lnTo>
                  <a:lnTo>
                    <a:pt x="346077" y="575678"/>
                  </a:lnTo>
                  <a:lnTo>
                    <a:pt x="343202" y="577112"/>
                  </a:lnTo>
                  <a:lnTo>
                    <a:pt x="270480" y="606359"/>
                  </a:lnTo>
                  <a:lnTo>
                    <a:pt x="267322" y="607792"/>
                  </a:lnTo>
                  <a:lnTo>
                    <a:pt x="263870" y="606359"/>
                  </a:lnTo>
                  <a:lnTo>
                    <a:pt x="262138" y="603492"/>
                  </a:lnTo>
                  <a:lnTo>
                    <a:pt x="261572" y="600331"/>
                  </a:lnTo>
                  <a:lnTo>
                    <a:pt x="263010" y="596900"/>
                  </a:lnTo>
                  <a:lnTo>
                    <a:pt x="265885" y="595466"/>
                  </a:lnTo>
                  <a:close/>
                </a:path>
                <a:path w="2795270" h="715010">
                  <a:moveTo>
                    <a:pt x="397531" y="545009"/>
                  </a:moveTo>
                  <a:lnTo>
                    <a:pt x="474566" y="517196"/>
                  </a:lnTo>
                  <a:lnTo>
                    <a:pt x="477441" y="515774"/>
                  </a:lnTo>
                  <a:lnTo>
                    <a:pt x="481176" y="517196"/>
                  </a:lnTo>
                  <a:lnTo>
                    <a:pt x="482613" y="520639"/>
                  </a:lnTo>
                  <a:lnTo>
                    <a:pt x="483473" y="523800"/>
                  </a:lnTo>
                  <a:lnTo>
                    <a:pt x="482036" y="526667"/>
                  </a:lnTo>
                  <a:lnTo>
                    <a:pt x="478878" y="528101"/>
                  </a:lnTo>
                  <a:lnTo>
                    <a:pt x="401267" y="555902"/>
                  </a:lnTo>
                  <a:lnTo>
                    <a:pt x="398109" y="556478"/>
                  </a:lnTo>
                  <a:lnTo>
                    <a:pt x="395234" y="555044"/>
                  </a:lnTo>
                  <a:lnTo>
                    <a:pt x="393796" y="552177"/>
                  </a:lnTo>
                  <a:lnTo>
                    <a:pt x="392924" y="549310"/>
                  </a:lnTo>
                  <a:lnTo>
                    <a:pt x="394656" y="545585"/>
                  </a:lnTo>
                  <a:lnTo>
                    <a:pt x="397531" y="545009"/>
                  </a:lnTo>
                  <a:close/>
                </a:path>
                <a:path w="2795270" h="715010">
                  <a:moveTo>
                    <a:pt x="530333" y="496562"/>
                  </a:moveTo>
                  <a:lnTo>
                    <a:pt x="607650" y="468761"/>
                  </a:lnTo>
                  <a:lnTo>
                    <a:pt x="610525" y="468185"/>
                  </a:lnTo>
                  <a:lnTo>
                    <a:pt x="614260" y="469619"/>
                  </a:lnTo>
                  <a:lnTo>
                    <a:pt x="614837" y="472486"/>
                  </a:lnTo>
                  <a:lnTo>
                    <a:pt x="616275" y="475353"/>
                  </a:lnTo>
                  <a:lnTo>
                    <a:pt x="614260" y="479078"/>
                  </a:lnTo>
                  <a:lnTo>
                    <a:pt x="611385" y="479935"/>
                  </a:lnTo>
                  <a:lnTo>
                    <a:pt x="534068" y="508313"/>
                  </a:lnTo>
                  <a:lnTo>
                    <a:pt x="531193" y="509171"/>
                  </a:lnTo>
                  <a:lnTo>
                    <a:pt x="527458" y="507455"/>
                  </a:lnTo>
                  <a:lnTo>
                    <a:pt x="526880" y="504588"/>
                  </a:lnTo>
                  <a:lnTo>
                    <a:pt x="525148" y="501721"/>
                  </a:lnTo>
                  <a:lnTo>
                    <a:pt x="526880" y="497996"/>
                  </a:lnTo>
                  <a:lnTo>
                    <a:pt x="530333" y="496562"/>
                  </a:lnTo>
                  <a:close/>
                </a:path>
                <a:path w="2795270" h="715010">
                  <a:moveTo>
                    <a:pt x="662545" y="448973"/>
                  </a:moveTo>
                  <a:lnTo>
                    <a:pt x="677497" y="444096"/>
                  </a:lnTo>
                  <a:lnTo>
                    <a:pt x="741358" y="423463"/>
                  </a:lnTo>
                  <a:lnTo>
                    <a:pt x="744186" y="422887"/>
                  </a:lnTo>
                  <a:lnTo>
                    <a:pt x="747014" y="424320"/>
                  </a:lnTo>
                  <a:lnTo>
                    <a:pt x="748546" y="427188"/>
                  </a:lnTo>
                  <a:lnTo>
                    <a:pt x="749371" y="430912"/>
                  </a:lnTo>
                  <a:lnTo>
                    <a:pt x="747957" y="433780"/>
                  </a:lnTo>
                  <a:lnTo>
                    <a:pt x="745011" y="434355"/>
                  </a:lnTo>
                  <a:lnTo>
                    <a:pt x="680949" y="455001"/>
                  </a:lnTo>
                  <a:lnTo>
                    <a:pt x="667152" y="460159"/>
                  </a:lnTo>
                  <a:lnTo>
                    <a:pt x="663417" y="461593"/>
                  </a:lnTo>
                  <a:lnTo>
                    <a:pt x="660542" y="459290"/>
                  </a:lnTo>
                  <a:lnTo>
                    <a:pt x="659104" y="456423"/>
                  </a:lnTo>
                  <a:lnTo>
                    <a:pt x="658244" y="453567"/>
                  </a:lnTo>
                  <a:lnTo>
                    <a:pt x="659682" y="450406"/>
                  </a:lnTo>
                  <a:lnTo>
                    <a:pt x="662545" y="448973"/>
                  </a:lnTo>
                  <a:close/>
                </a:path>
                <a:path w="2795270" h="715010">
                  <a:moveTo>
                    <a:pt x="797090" y="405978"/>
                  </a:moveTo>
                  <a:lnTo>
                    <a:pt x="875797" y="381032"/>
                  </a:lnTo>
                  <a:lnTo>
                    <a:pt x="878743" y="379598"/>
                  </a:lnTo>
                  <a:lnTo>
                    <a:pt x="881571" y="381890"/>
                  </a:lnTo>
                  <a:lnTo>
                    <a:pt x="882985" y="384757"/>
                  </a:lnTo>
                  <a:lnTo>
                    <a:pt x="883927" y="387624"/>
                  </a:lnTo>
                  <a:lnTo>
                    <a:pt x="882396" y="391360"/>
                  </a:lnTo>
                  <a:lnTo>
                    <a:pt x="879332" y="391924"/>
                  </a:lnTo>
                  <a:lnTo>
                    <a:pt x="800860" y="416871"/>
                  </a:lnTo>
                  <a:lnTo>
                    <a:pt x="797915" y="417728"/>
                  </a:lnTo>
                  <a:lnTo>
                    <a:pt x="794144" y="416295"/>
                  </a:lnTo>
                  <a:lnTo>
                    <a:pt x="793320" y="413146"/>
                  </a:lnTo>
                  <a:lnTo>
                    <a:pt x="791906" y="410279"/>
                  </a:lnTo>
                  <a:lnTo>
                    <a:pt x="794144" y="406554"/>
                  </a:lnTo>
                  <a:lnTo>
                    <a:pt x="797090" y="405978"/>
                  </a:lnTo>
                  <a:close/>
                </a:path>
                <a:path w="2795270" h="715010">
                  <a:moveTo>
                    <a:pt x="931647" y="362689"/>
                  </a:moveTo>
                  <a:lnTo>
                    <a:pt x="1010119" y="338037"/>
                  </a:lnTo>
                  <a:lnTo>
                    <a:pt x="1013182" y="337179"/>
                  </a:lnTo>
                  <a:lnTo>
                    <a:pt x="1016128" y="338613"/>
                  </a:lnTo>
                  <a:lnTo>
                    <a:pt x="1017542" y="342337"/>
                  </a:lnTo>
                  <a:lnTo>
                    <a:pt x="1018367" y="345205"/>
                  </a:lnTo>
                  <a:lnTo>
                    <a:pt x="1016717" y="348072"/>
                  </a:lnTo>
                  <a:lnTo>
                    <a:pt x="1013182" y="349505"/>
                  </a:lnTo>
                  <a:lnTo>
                    <a:pt x="935299" y="374440"/>
                  </a:lnTo>
                  <a:lnTo>
                    <a:pt x="932118" y="375298"/>
                  </a:lnTo>
                  <a:lnTo>
                    <a:pt x="928701" y="373864"/>
                  </a:lnTo>
                  <a:lnTo>
                    <a:pt x="927876" y="370715"/>
                  </a:lnTo>
                  <a:lnTo>
                    <a:pt x="926463" y="367272"/>
                  </a:lnTo>
                  <a:lnTo>
                    <a:pt x="928701" y="364123"/>
                  </a:lnTo>
                  <a:lnTo>
                    <a:pt x="931647" y="362689"/>
                  </a:lnTo>
                  <a:close/>
                </a:path>
                <a:path w="2795270" h="715010">
                  <a:moveTo>
                    <a:pt x="1066675" y="322550"/>
                  </a:moveTo>
                  <a:lnTo>
                    <a:pt x="1145972" y="300482"/>
                  </a:lnTo>
                  <a:lnTo>
                    <a:pt x="1148917" y="299907"/>
                  </a:lnTo>
                  <a:lnTo>
                    <a:pt x="1152688" y="301340"/>
                  </a:lnTo>
                  <a:lnTo>
                    <a:pt x="1153513" y="304207"/>
                  </a:lnTo>
                  <a:lnTo>
                    <a:pt x="1154102" y="307932"/>
                  </a:lnTo>
                  <a:lnTo>
                    <a:pt x="1152099" y="310799"/>
                  </a:lnTo>
                  <a:lnTo>
                    <a:pt x="1148917" y="311657"/>
                  </a:lnTo>
                  <a:lnTo>
                    <a:pt x="1069621" y="333442"/>
                  </a:lnTo>
                  <a:lnTo>
                    <a:pt x="1066675" y="334312"/>
                  </a:lnTo>
                  <a:lnTo>
                    <a:pt x="1062905" y="332878"/>
                  </a:lnTo>
                  <a:lnTo>
                    <a:pt x="1062433" y="329153"/>
                  </a:lnTo>
                  <a:lnTo>
                    <a:pt x="1061491" y="326286"/>
                  </a:lnTo>
                  <a:lnTo>
                    <a:pt x="1063847" y="323419"/>
                  </a:lnTo>
                  <a:lnTo>
                    <a:pt x="1066675" y="322550"/>
                  </a:lnTo>
                  <a:close/>
                </a:path>
                <a:path w="2795270" h="715010">
                  <a:moveTo>
                    <a:pt x="1202646" y="285289"/>
                  </a:moveTo>
                  <a:lnTo>
                    <a:pt x="1281942" y="263210"/>
                  </a:lnTo>
                  <a:lnTo>
                    <a:pt x="1284888" y="262646"/>
                  </a:lnTo>
                  <a:lnTo>
                    <a:pt x="1288659" y="264079"/>
                  </a:lnTo>
                  <a:lnTo>
                    <a:pt x="1289483" y="266947"/>
                  </a:lnTo>
                  <a:lnTo>
                    <a:pt x="1290072" y="270671"/>
                  </a:lnTo>
                  <a:lnTo>
                    <a:pt x="1288069" y="273539"/>
                  </a:lnTo>
                  <a:lnTo>
                    <a:pt x="1284888" y="274396"/>
                  </a:lnTo>
                  <a:lnTo>
                    <a:pt x="1205474" y="296182"/>
                  </a:lnTo>
                  <a:lnTo>
                    <a:pt x="1202646" y="297039"/>
                  </a:lnTo>
                  <a:lnTo>
                    <a:pt x="1199818" y="295606"/>
                  </a:lnTo>
                  <a:lnTo>
                    <a:pt x="1198286" y="291881"/>
                  </a:lnTo>
                  <a:lnTo>
                    <a:pt x="1197461" y="289014"/>
                  </a:lnTo>
                  <a:lnTo>
                    <a:pt x="1199818" y="285865"/>
                  </a:lnTo>
                  <a:lnTo>
                    <a:pt x="1202646" y="285289"/>
                  </a:lnTo>
                  <a:close/>
                </a:path>
                <a:path w="2795270" h="715010">
                  <a:moveTo>
                    <a:pt x="1338617" y="248017"/>
                  </a:moveTo>
                  <a:lnTo>
                    <a:pt x="1367366" y="239991"/>
                  </a:lnTo>
                  <a:lnTo>
                    <a:pt x="1418502" y="228240"/>
                  </a:lnTo>
                  <a:lnTo>
                    <a:pt x="1421684" y="227383"/>
                  </a:lnTo>
                  <a:lnTo>
                    <a:pt x="1425101" y="228816"/>
                  </a:lnTo>
                  <a:lnTo>
                    <a:pt x="1426043" y="232541"/>
                  </a:lnTo>
                  <a:lnTo>
                    <a:pt x="1426868" y="235408"/>
                  </a:lnTo>
                  <a:lnTo>
                    <a:pt x="1424512" y="238557"/>
                  </a:lnTo>
                  <a:lnTo>
                    <a:pt x="1421684" y="239133"/>
                  </a:lnTo>
                  <a:lnTo>
                    <a:pt x="1370783" y="250884"/>
                  </a:lnTo>
                  <a:lnTo>
                    <a:pt x="1341444" y="258909"/>
                  </a:lnTo>
                  <a:lnTo>
                    <a:pt x="1338617" y="259779"/>
                  </a:lnTo>
                  <a:lnTo>
                    <a:pt x="1335789" y="258051"/>
                  </a:lnTo>
                  <a:lnTo>
                    <a:pt x="1334846" y="254620"/>
                  </a:lnTo>
                  <a:lnTo>
                    <a:pt x="1333432" y="251753"/>
                  </a:lnTo>
                  <a:lnTo>
                    <a:pt x="1335789" y="248592"/>
                  </a:lnTo>
                  <a:lnTo>
                    <a:pt x="1338617" y="248017"/>
                  </a:lnTo>
                  <a:close/>
                </a:path>
                <a:path w="2795270" h="715010">
                  <a:moveTo>
                    <a:pt x="1476001" y="214199"/>
                  </a:moveTo>
                  <a:lnTo>
                    <a:pt x="1555887" y="196115"/>
                  </a:lnTo>
                  <a:lnTo>
                    <a:pt x="1559068" y="195292"/>
                  </a:lnTo>
                  <a:lnTo>
                    <a:pt x="1562485" y="197525"/>
                  </a:lnTo>
                  <a:lnTo>
                    <a:pt x="1563428" y="200439"/>
                  </a:lnTo>
                  <a:lnTo>
                    <a:pt x="1564253" y="203306"/>
                  </a:lnTo>
                  <a:lnTo>
                    <a:pt x="1562014" y="207031"/>
                  </a:lnTo>
                  <a:lnTo>
                    <a:pt x="1559068" y="207607"/>
                  </a:lnTo>
                  <a:lnTo>
                    <a:pt x="1478829" y="225949"/>
                  </a:lnTo>
                  <a:lnTo>
                    <a:pt x="1475177" y="226807"/>
                  </a:lnTo>
                  <a:lnTo>
                    <a:pt x="1472231" y="224516"/>
                  </a:lnTo>
                  <a:lnTo>
                    <a:pt x="1471760" y="221648"/>
                  </a:lnTo>
                  <a:lnTo>
                    <a:pt x="1470817" y="218781"/>
                  </a:lnTo>
                  <a:lnTo>
                    <a:pt x="1473173" y="215056"/>
                  </a:lnTo>
                  <a:lnTo>
                    <a:pt x="1476001" y="214199"/>
                  </a:lnTo>
                  <a:close/>
                </a:path>
                <a:path w="2795270" h="715010">
                  <a:moveTo>
                    <a:pt x="1613386" y="182954"/>
                  </a:moveTo>
                  <a:lnTo>
                    <a:pt x="1693272" y="164623"/>
                  </a:lnTo>
                  <a:lnTo>
                    <a:pt x="1696453" y="163683"/>
                  </a:lnTo>
                  <a:lnTo>
                    <a:pt x="1699988" y="165211"/>
                  </a:lnTo>
                  <a:lnTo>
                    <a:pt x="1700813" y="168854"/>
                  </a:lnTo>
                  <a:lnTo>
                    <a:pt x="1701637" y="171791"/>
                  </a:lnTo>
                  <a:lnTo>
                    <a:pt x="1699399" y="174964"/>
                  </a:lnTo>
                  <a:lnTo>
                    <a:pt x="1696453" y="175551"/>
                  </a:lnTo>
                  <a:lnTo>
                    <a:pt x="1616332" y="194705"/>
                  </a:lnTo>
                  <a:lnTo>
                    <a:pt x="1612561" y="195292"/>
                  </a:lnTo>
                  <a:lnTo>
                    <a:pt x="1609616" y="192942"/>
                  </a:lnTo>
                  <a:lnTo>
                    <a:pt x="1608791" y="190122"/>
                  </a:lnTo>
                  <a:lnTo>
                    <a:pt x="1608202" y="186362"/>
                  </a:lnTo>
                  <a:lnTo>
                    <a:pt x="1610558" y="183542"/>
                  </a:lnTo>
                  <a:lnTo>
                    <a:pt x="1613386" y="182954"/>
                  </a:lnTo>
                  <a:close/>
                </a:path>
                <a:path w="2795270" h="715010">
                  <a:moveTo>
                    <a:pt x="1751360" y="152286"/>
                  </a:moveTo>
                  <a:lnTo>
                    <a:pt x="1832188" y="137597"/>
                  </a:lnTo>
                  <a:lnTo>
                    <a:pt x="1835370" y="136775"/>
                  </a:lnTo>
                  <a:lnTo>
                    <a:pt x="1838197" y="139125"/>
                  </a:lnTo>
                  <a:lnTo>
                    <a:pt x="1838786" y="141945"/>
                  </a:lnTo>
                  <a:lnTo>
                    <a:pt x="1839611" y="144765"/>
                  </a:lnTo>
                  <a:lnTo>
                    <a:pt x="1837373" y="147703"/>
                  </a:lnTo>
                  <a:lnTo>
                    <a:pt x="1834427" y="148525"/>
                  </a:lnTo>
                  <a:lnTo>
                    <a:pt x="1753716" y="163683"/>
                  </a:lnTo>
                  <a:lnTo>
                    <a:pt x="1749946" y="164623"/>
                  </a:lnTo>
                  <a:lnTo>
                    <a:pt x="1747118" y="162273"/>
                  </a:lnTo>
                  <a:lnTo>
                    <a:pt x="1746176" y="159453"/>
                  </a:lnTo>
                  <a:lnTo>
                    <a:pt x="1746176" y="155693"/>
                  </a:lnTo>
                  <a:lnTo>
                    <a:pt x="1747943" y="152873"/>
                  </a:lnTo>
                  <a:lnTo>
                    <a:pt x="1751360" y="152286"/>
                  </a:lnTo>
                  <a:close/>
                </a:path>
                <a:path w="2795270" h="715010">
                  <a:moveTo>
                    <a:pt x="1889687" y="126434"/>
                  </a:moveTo>
                  <a:lnTo>
                    <a:pt x="1970398" y="111276"/>
                  </a:lnTo>
                  <a:lnTo>
                    <a:pt x="1974168" y="110454"/>
                  </a:lnTo>
                  <a:lnTo>
                    <a:pt x="1976996" y="112686"/>
                  </a:lnTo>
                  <a:lnTo>
                    <a:pt x="1977939" y="115624"/>
                  </a:lnTo>
                  <a:lnTo>
                    <a:pt x="1978410" y="119267"/>
                  </a:lnTo>
                  <a:lnTo>
                    <a:pt x="1976171" y="122204"/>
                  </a:lnTo>
                  <a:lnTo>
                    <a:pt x="1972754" y="123027"/>
                  </a:lnTo>
                  <a:lnTo>
                    <a:pt x="1891926" y="137597"/>
                  </a:lnTo>
                  <a:lnTo>
                    <a:pt x="1888745" y="138185"/>
                  </a:lnTo>
                  <a:lnTo>
                    <a:pt x="1885917" y="135952"/>
                  </a:lnTo>
                  <a:lnTo>
                    <a:pt x="1885328" y="133015"/>
                  </a:lnTo>
                  <a:lnTo>
                    <a:pt x="1884503" y="130195"/>
                  </a:lnTo>
                  <a:lnTo>
                    <a:pt x="1886742" y="126434"/>
                  </a:lnTo>
                  <a:lnTo>
                    <a:pt x="1889687" y="126434"/>
                  </a:lnTo>
                  <a:close/>
                </a:path>
                <a:path w="2795270" h="715010">
                  <a:moveTo>
                    <a:pt x="2028486" y="100113"/>
                  </a:moveTo>
                  <a:lnTo>
                    <a:pt x="2072435" y="92123"/>
                  </a:lnTo>
                  <a:lnTo>
                    <a:pt x="2110139" y="86365"/>
                  </a:lnTo>
                  <a:lnTo>
                    <a:pt x="2112967" y="85425"/>
                  </a:lnTo>
                  <a:lnTo>
                    <a:pt x="2115912" y="87775"/>
                  </a:lnTo>
                  <a:lnTo>
                    <a:pt x="2116737" y="91536"/>
                  </a:lnTo>
                  <a:lnTo>
                    <a:pt x="2117326" y="94356"/>
                  </a:lnTo>
                  <a:lnTo>
                    <a:pt x="2114381" y="97176"/>
                  </a:lnTo>
                  <a:lnTo>
                    <a:pt x="2111553" y="98116"/>
                  </a:lnTo>
                  <a:lnTo>
                    <a:pt x="2074791" y="103286"/>
                  </a:lnTo>
                  <a:lnTo>
                    <a:pt x="2030724" y="111864"/>
                  </a:lnTo>
                  <a:lnTo>
                    <a:pt x="2027661" y="111864"/>
                  </a:lnTo>
                  <a:lnTo>
                    <a:pt x="2024715" y="110454"/>
                  </a:lnTo>
                  <a:lnTo>
                    <a:pt x="2024126" y="106694"/>
                  </a:lnTo>
                  <a:lnTo>
                    <a:pt x="2023301" y="103874"/>
                  </a:lnTo>
                  <a:lnTo>
                    <a:pt x="2025658" y="100936"/>
                  </a:lnTo>
                  <a:lnTo>
                    <a:pt x="2028486" y="100113"/>
                  </a:lnTo>
                  <a:close/>
                </a:path>
                <a:path w="2795270" h="715010">
                  <a:moveTo>
                    <a:pt x="2168227" y="77435"/>
                  </a:moveTo>
                  <a:lnTo>
                    <a:pt x="2249527" y="66037"/>
                  </a:lnTo>
                  <a:lnTo>
                    <a:pt x="2252354" y="65097"/>
                  </a:lnTo>
                  <a:lnTo>
                    <a:pt x="2255536" y="67447"/>
                  </a:lnTo>
                  <a:lnTo>
                    <a:pt x="2256125" y="70855"/>
                  </a:lnTo>
                  <a:lnTo>
                    <a:pt x="2256125" y="74027"/>
                  </a:lnTo>
                  <a:lnTo>
                    <a:pt x="2254122" y="76848"/>
                  </a:lnTo>
                  <a:lnTo>
                    <a:pt x="2250941" y="77435"/>
                  </a:lnTo>
                  <a:lnTo>
                    <a:pt x="2169641" y="89186"/>
                  </a:lnTo>
                  <a:lnTo>
                    <a:pt x="2166460" y="90126"/>
                  </a:lnTo>
                  <a:lnTo>
                    <a:pt x="2163632" y="87775"/>
                  </a:lnTo>
                  <a:lnTo>
                    <a:pt x="2163043" y="84015"/>
                  </a:lnTo>
                  <a:lnTo>
                    <a:pt x="2163043" y="81195"/>
                  </a:lnTo>
                  <a:lnTo>
                    <a:pt x="2165046" y="78258"/>
                  </a:lnTo>
                  <a:lnTo>
                    <a:pt x="2168227" y="77435"/>
                  </a:lnTo>
                  <a:close/>
                </a:path>
                <a:path w="2795270" h="715010">
                  <a:moveTo>
                    <a:pt x="2307615" y="57107"/>
                  </a:moveTo>
                  <a:lnTo>
                    <a:pt x="2389268" y="45356"/>
                  </a:lnTo>
                  <a:lnTo>
                    <a:pt x="2392096" y="44769"/>
                  </a:lnTo>
                  <a:lnTo>
                    <a:pt x="2394923" y="46766"/>
                  </a:lnTo>
                  <a:lnTo>
                    <a:pt x="2395866" y="49704"/>
                  </a:lnTo>
                  <a:lnTo>
                    <a:pt x="2395866" y="53347"/>
                  </a:lnTo>
                  <a:lnTo>
                    <a:pt x="2393510" y="56284"/>
                  </a:lnTo>
                  <a:lnTo>
                    <a:pt x="2390682" y="56284"/>
                  </a:lnTo>
                  <a:lnTo>
                    <a:pt x="2309029" y="68857"/>
                  </a:lnTo>
                  <a:lnTo>
                    <a:pt x="2306201" y="69445"/>
                  </a:lnTo>
                  <a:lnTo>
                    <a:pt x="2303255" y="67447"/>
                  </a:lnTo>
                  <a:lnTo>
                    <a:pt x="2302430" y="63687"/>
                  </a:lnTo>
                  <a:lnTo>
                    <a:pt x="2301841" y="60867"/>
                  </a:lnTo>
                  <a:lnTo>
                    <a:pt x="2303844" y="57694"/>
                  </a:lnTo>
                  <a:lnTo>
                    <a:pt x="2307615" y="57107"/>
                  </a:lnTo>
                  <a:close/>
                </a:path>
                <a:path w="2795270" h="715010">
                  <a:moveTo>
                    <a:pt x="2447238" y="37366"/>
                  </a:moveTo>
                  <a:lnTo>
                    <a:pt x="2529480" y="28436"/>
                  </a:lnTo>
                  <a:lnTo>
                    <a:pt x="2532308" y="27848"/>
                  </a:lnTo>
                  <a:lnTo>
                    <a:pt x="2535489" y="29846"/>
                  </a:lnTo>
                  <a:lnTo>
                    <a:pt x="2535489" y="33606"/>
                  </a:lnTo>
                  <a:lnTo>
                    <a:pt x="2536079" y="36426"/>
                  </a:lnTo>
                  <a:lnTo>
                    <a:pt x="2533840" y="39599"/>
                  </a:lnTo>
                  <a:lnTo>
                    <a:pt x="2530305" y="40186"/>
                  </a:lnTo>
                  <a:lnTo>
                    <a:pt x="2448770" y="49116"/>
                  </a:lnTo>
                  <a:lnTo>
                    <a:pt x="2445824" y="49116"/>
                  </a:lnTo>
                  <a:lnTo>
                    <a:pt x="2442643" y="46766"/>
                  </a:lnTo>
                  <a:lnTo>
                    <a:pt x="2442054" y="43946"/>
                  </a:lnTo>
                  <a:lnTo>
                    <a:pt x="2442054" y="40186"/>
                  </a:lnTo>
                  <a:lnTo>
                    <a:pt x="2444410" y="37366"/>
                  </a:lnTo>
                  <a:lnTo>
                    <a:pt x="2447238" y="37366"/>
                  </a:lnTo>
                  <a:close/>
                </a:path>
                <a:path w="2795270" h="715010">
                  <a:moveTo>
                    <a:pt x="2587568" y="21855"/>
                  </a:moveTo>
                  <a:lnTo>
                    <a:pt x="2669222" y="13278"/>
                  </a:lnTo>
                  <a:lnTo>
                    <a:pt x="2672639" y="13278"/>
                  </a:lnTo>
                  <a:lnTo>
                    <a:pt x="2675820" y="15275"/>
                  </a:lnTo>
                  <a:lnTo>
                    <a:pt x="2675820" y="18448"/>
                  </a:lnTo>
                  <a:lnTo>
                    <a:pt x="2676409" y="21855"/>
                  </a:lnTo>
                  <a:lnTo>
                    <a:pt x="2674406" y="24088"/>
                  </a:lnTo>
                  <a:lnTo>
                    <a:pt x="2670635" y="25028"/>
                  </a:lnTo>
                  <a:lnTo>
                    <a:pt x="2588982" y="33606"/>
                  </a:lnTo>
                  <a:lnTo>
                    <a:pt x="2585212" y="33606"/>
                  </a:lnTo>
                  <a:lnTo>
                    <a:pt x="2582384" y="31608"/>
                  </a:lnTo>
                  <a:lnTo>
                    <a:pt x="2582384" y="28436"/>
                  </a:lnTo>
                  <a:lnTo>
                    <a:pt x="2581795" y="25616"/>
                  </a:lnTo>
                  <a:lnTo>
                    <a:pt x="2584623" y="22678"/>
                  </a:lnTo>
                  <a:lnTo>
                    <a:pt x="2587568" y="21855"/>
                  </a:lnTo>
                  <a:close/>
                </a:path>
                <a:path w="2795270" h="715010">
                  <a:moveTo>
                    <a:pt x="2727781" y="6697"/>
                  </a:moveTo>
                  <a:lnTo>
                    <a:pt x="2788225" y="587"/>
                  </a:lnTo>
                  <a:lnTo>
                    <a:pt x="2791053" y="0"/>
                  </a:lnTo>
                  <a:lnTo>
                    <a:pt x="2793881" y="2350"/>
                  </a:lnTo>
                  <a:lnTo>
                    <a:pt x="2793881" y="5757"/>
                  </a:lnTo>
                  <a:lnTo>
                    <a:pt x="2794824" y="8930"/>
                  </a:lnTo>
                  <a:lnTo>
                    <a:pt x="2792467" y="11750"/>
                  </a:lnTo>
                  <a:lnTo>
                    <a:pt x="2788815" y="11750"/>
                  </a:lnTo>
                  <a:lnTo>
                    <a:pt x="2729313" y="18448"/>
                  </a:lnTo>
                  <a:lnTo>
                    <a:pt x="2725542" y="18918"/>
                  </a:lnTo>
                  <a:lnTo>
                    <a:pt x="2722597" y="16920"/>
                  </a:lnTo>
                  <a:lnTo>
                    <a:pt x="2722597" y="13278"/>
                  </a:lnTo>
                  <a:lnTo>
                    <a:pt x="2722125" y="10340"/>
                  </a:lnTo>
                  <a:lnTo>
                    <a:pt x="2724953" y="7167"/>
                  </a:lnTo>
                  <a:lnTo>
                    <a:pt x="2727781" y="6697"/>
                  </a:lnTo>
                  <a:close/>
                </a:path>
              </a:pathLst>
            </a:custGeom>
            <a:ln w="1176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2627059" y="2229358"/>
              <a:ext cx="2448560" cy="388620"/>
            </a:xfrm>
            <a:custGeom>
              <a:avLst/>
              <a:gdLst/>
              <a:ahLst/>
              <a:cxnLst/>
              <a:rect l="l" t="t" r="r" b="b"/>
              <a:pathLst>
                <a:path w="2448560" h="388619">
                  <a:moveTo>
                    <a:pt x="86224" y="348883"/>
                  </a:moveTo>
                  <a:lnTo>
                    <a:pt x="83067" y="349740"/>
                  </a:lnTo>
                  <a:lnTo>
                    <a:pt x="5172" y="376684"/>
                  </a:lnTo>
                  <a:lnTo>
                    <a:pt x="2297" y="377542"/>
                  </a:lnTo>
                  <a:lnTo>
                    <a:pt x="0" y="380985"/>
                  </a:lnTo>
                  <a:lnTo>
                    <a:pt x="1720" y="384134"/>
                  </a:lnTo>
                  <a:lnTo>
                    <a:pt x="2297" y="387001"/>
                  </a:lnTo>
                  <a:lnTo>
                    <a:pt x="6032" y="388435"/>
                  </a:lnTo>
                  <a:lnTo>
                    <a:pt x="8907" y="387577"/>
                  </a:lnTo>
                  <a:lnTo>
                    <a:pt x="86802" y="360633"/>
                  </a:lnTo>
                  <a:lnTo>
                    <a:pt x="89677" y="359775"/>
                  </a:lnTo>
                  <a:lnTo>
                    <a:pt x="91114" y="356332"/>
                  </a:lnTo>
                  <a:lnTo>
                    <a:pt x="90537" y="353183"/>
                  </a:lnTo>
                  <a:lnTo>
                    <a:pt x="89099" y="350316"/>
                  </a:lnTo>
                  <a:lnTo>
                    <a:pt x="86224" y="348883"/>
                  </a:lnTo>
                  <a:close/>
                </a:path>
                <a:path w="2448560" h="388619">
                  <a:moveTo>
                    <a:pt x="219026" y="302727"/>
                  </a:moveTo>
                  <a:lnTo>
                    <a:pt x="216151" y="304442"/>
                  </a:lnTo>
                  <a:lnTo>
                    <a:pt x="138256" y="330528"/>
                  </a:lnTo>
                  <a:lnTo>
                    <a:pt x="135381" y="331962"/>
                  </a:lnTo>
                  <a:lnTo>
                    <a:pt x="133944" y="335123"/>
                  </a:lnTo>
                  <a:lnTo>
                    <a:pt x="134521" y="337990"/>
                  </a:lnTo>
                  <a:lnTo>
                    <a:pt x="135959" y="341715"/>
                  </a:lnTo>
                  <a:lnTo>
                    <a:pt x="139116" y="343148"/>
                  </a:lnTo>
                  <a:lnTo>
                    <a:pt x="142569" y="341715"/>
                  </a:lnTo>
                  <a:lnTo>
                    <a:pt x="219886" y="315335"/>
                  </a:lnTo>
                  <a:lnTo>
                    <a:pt x="223338" y="313901"/>
                  </a:lnTo>
                  <a:lnTo>
                    <a:pt x="225058" y="311034"/>
                  </a:lnTo>
                  <a:lnTo>
                    <a:pt x="223338" y="307885"/>
                  </a:lnTo>
                  <a:lnTo>
                    <a:pt x="222761" y="304442"/>
                  </a:lnTo>
                  <a:lnTo>
                    <a:pt x="219026" y="302727"/>
                  </a:lnTo>
                  <a:close/>
                </a:path>
                <a:path w="2448560" h="388619">
                  <a:moveTo>
                    <a:pt x="353547" y="259720"/>
                  </a:moveTo>
                  <a:lnTo>
                    <a:pt x="304968" y="273480"/>
                  </a:lnTo>
                  <a:lnTo>
                    <a:pt x="266745" y="288967"/>
                  </a:lnTo>
                  <a:lnTo>
                    <a:pt x="268182" y="292692"/>
                  </a:lnTo>
                  <a:lnTo>
                    <a:pt x="269043" y="295559"/>
                  </a:lnTo>
                  <a:lnTo>
                    <a:pt x="272778" y="296992"/>
                  </a:lnTo>
                  <a:lnTo>
                    <a:pt x="275653" y="296135"/>
                  </a:lnTo>
                  <a:lnTo>
                    <a:pt x="308714" y="284666"/>
                  </a:lnTo>
                  <a:lnTo>
                    <a:pt x="354124" y="271482"/>
                  </a:lnTo>
                  <a:lnTo>
                    <a:pt x="357282" y="270613"/>
                  </a:lnTo>
                  <a:lnTo>
                    <a:pt x="358720" y="267746"/>
                  </a:lnTo>
                  <a:lnTo>
                    <a:pt x="357860" y="264890"/>
                  </a:lnTo>
                  <a:lnTo>
                    <a:pt x="357282" y="261154"/>
                  </a:lnTo>
                  <a:lnTo>
                    <a:pt x="353547" y="259720"/>
                  </a:lnTo>
                  <a:close/>
                </a:path>
                <a:path w="2448560" h="388619">
                  <a:moveTo>
                    <a:pt x="489541" y="221026"/>
                  </a:moveTo>
                  <a:lnTo>
                    <a:pt x="486360" y="221601"/>
                  </a:lnTo>
                  <a:lnTo>
                    <a:pt x="407016" y="244245"/>
                  </a:lnTo>
                  <a:lnTo>
                    <a:pt x="404141" y="245102"/>
                  </a:lnTo>
                  <a:lnTo>
                    <a:pt x="402127" y="248827"/>
                  </a:lnTo>
                  <a:lnTo>
                    <a:pt x="403564" y="251694"/>
                  </a:lnTo>
                  <a:lnTo>
                    <a:pt x="404141" y="254562"/>
                  </a:lnTo>
                  <a:lnTo>
                    <a:pt x="407016" y="256853"/>
                  </a:lnTo>
                  <a:lnTo>
                    <a:pt x="410174" y="255995"/>
                  </a:lnTo>
                  <a:lnTo>
                    <a:pt x="489541" y="233352"/>
                  </a:lnTo>
                  <a:lnTo>
                    <a:pt x="492369" y="232776"/>
                  </a:lnTo>
                  <a:lnTo>
                    <a:pt x="494726" y="229051"/>
                  </a:lnTo>
                  <a:lnTo>
                    <a:pt x="493783" y="226184"/>
                  </a:lnTo>
                  <a:lnTo>
                    <a:pt x="492369" y="223035"/>
                  </a:lnTo>
                  <a:lnTo>
                    <a:pt x="489541" y="221026"/>
                  </a:lnTo>
                  <a:close/>
                </a:path>
                <a:path w="2448560" h="388619">
                  <a:moveTo>
                    <a:pt x="625512" y="182895"/>
                  </a:moveTo>
                  <a:lnTo>
                    <a:pt x="622331" y="183753"/>
                  </a:lnTo>
                  <a:lnTo>
                    <a:pt x="608545" y="187196"/>
                  </a:lnTo>
                  <a:lnTo>
                    <a:pt x="542916" y="205550"/>
                  </a:lnTo>
                  <a:lnTo>
                    <a:pt x="539500" y="206972"/>
                  </a:lnTo>
                  <a:lnTo>
                    <a:pt x="537850" y="209839"/>
                  </a:lnTo>
                  <a:lnTo>
                    <a:pt x="538675" y="213000"/>
                  </a:lnTo>
                  <a:lnTo>
                    <a:pt x="539500" y="216443"/>
                  </a:lnTo>
                  <a:lnTo>
                    <a:pt x="542916" y="217877"/>
                  </a:lnTo>
                  <a:lnTo>
                    <a:pt x="546098" y="217301"/>
                  </a:lnTo>
                  <a:lnTo>
                    <a:pt x="612198" y="198383"/>
                  </a:lnTo>
                  <a:lnTo>
                    <a:pt x="625512" y="195222"/>
                  </a:lnTo>
                  <a:lnTo>
                    <a:pt x="628340" y="194646"/>
                  </a:lnTo>
                  <a:lnTo>
                    <a:pt x="630343" y="191779"/>
                  </a:lnTo>
                  <a:lnTo>
                    <a:pt x="629754" y="188054"/>
                  </a:lnTo>
                  <a:lnTo>
                    <a:pt x="628929" y="185187"/>
                  </a:lnTo>
                  <a:lnTo>
                    <a:pt x="625512" y="182895"/>
                  </a:lnTo>
                  <a:close/>
                </a:path>
                <a:path w="2448560" h="388619">
                  <a:moveTo>
                    <a:pt x="762897" y="151369"/>
                  </a:moveTo>
                  <a:lnTo>
                    <a:pt x="759716" y="152227"/>
                  </a:lnTo>
                  <a:lnTo>
                    <a:pt x="679830" y="170569"/>
                  </a:lnTo>
                  <a:lnTo>
                    <a:pt x="676649" y="171145"/>
                  </a:lnTo>
                  <a:lnTo>
                    <a:pt x="674646" y="174870"/>
                  </a:lnTo>
                  <a:lnTo>
                    <a:pt x="675235" y="177737"/>
                  </a:lnTo>
                  <a:lnTo>
                    <a:pt x="676059" y="180604"/>
                  </a:lnTo>
                  <a:lnTo>
                    <a:pt x="678887" y="182895"/>
                  </a:lnTo>
                  <a:lnTo>
                    <a:pt x="762897" y="163977"/>
                  </a:lnTo>
                  <a:lnTo>
                    <a:pt x="765725" y="163119"/>
                  </a:lnTo>
                  <a:lnTo>
                    <a:pt x="767728" y="159395"/>
                  </a:lnTo>
                  <a:lnTo>
                    <a:pt x="767139" y="156527"/>
                  </a:lnTo>
                  <a:lnTo>
                    <a:pt x="766314" y="153660"/>
                  </a:lnTo>
                  <a:lnTo>
                    <a:pt x="762897" y="151369"/>
                  </a:lnTo>
                  <a:close/>
                </a:path>
                <a:path w="2448560" h="388619">
                  <a:moveTo>
                    <a:pt x="899928" y="120113"/>
                  </a:moveTo>
                  <a:lnTo>
                    <a:pt x="897100" y="120689"/>
                  </a:lnTo>
                  <a:lnTo>
                    <a:pt x="817215" y="139043"/>
                  </a:lnTo>
                  <a:lnTo>
                    <a:pt x="814033" y="139901"/>
                  </a:lnTo>
                  <a:lnTo>
                    <a:pt x="812030" y="142768"/>
                  </a:lnTo>
                  <a:lnTo>
                    <a:pt x="812619" y="146199"/>
                  </a:lnTo>
                  <a:lnTo>
                    <a:pt x="813444" y="149360"/>
                  </a:lnTo>
                  <a:lnTo>
                    <a:pt x="816390" y="151369"/>
                  </a:lnTo>
                  <a:lnTo>
                    <a:pt x="820042" y="150793"/>
                  </a:lnTo>
                  <a:lnTo>
                    <a:pt x="899928" y="131581"/>
                  </a:lnTo>
                  <a:lnTo>
                    <a:pt x="903109" y="131005"/>
                  </a:lnTo>
                  <a:lnTo>
                    <a:pt x="905112" y="128150"/>
                  </a:lnTo>
                  <a:lnTo>
                    <a:pt x="904523" y="124989"/>
                  </a:lnTo>
                  <a:lnTo>
                    <a:pt x="903699" y="122122"/>
                  </a:lnTo>
                  <a:lnTo>
                    <a:pt x="899928" y="120113"/>
                  </a:lnTo>
                  <a:close/>
                </a:path>
                <a:path w="2448560" h="388619">
                  <a:moveTo>
                    <a:pt x="1039669" y="94320"/>
                  </a:moveTo>
                  <a:lnTo>
                    <a:pt x="1035899" y="95178"/>
                  </a:lnTo>
                  <a:lnTo>
                    <a:pt x="955188" y="109796"/>
                  </a:lnTo>
                  <a:lnTo>
                    <a:pt x="952243" y="109796"/>
                  </a:lnTo>
                  <a:lnTo>
                    <a:pt x="950004" y="112663"/>
                  </a:lnTo>
                  <a:lnTo>
                    <a:pt x="950829" y="116388"/>
                  </a:lnTo>
                  <a:lnTo>
                    <a:pt x="950829" y="119255"/>
                  </a:lnTo>
                  <a:lnTo>
                    <a:pt x="953774" y="121546"/>
                  </a:lnTo>
                  <a:lnTo>
                    <a:pt x="957427" y="120689"/>
                  </a:lnTo>
                  <a:lnTo>
                    <a:pt x="1038255" y="106929"/>
                  </a:lnTo>
                  <a:lnTo>
                    <a:pt x="1041083" y="106071"/>
                  </a:lnTo>
                  <a:lnTo>
                    <a:pt x="1043440" y="103204"/>
                  </a:lnTo>
                  <a:lnTo>
                    <a:pt x="1043440" y="100337"/>
                  </a:lnTo>
                  <a:lnTo>
                    <a:pt x="1042497" y="96612"/>
                  </a:lnTo>
                  <a:lnTo>
                    <a:pt x="1039669" y="94320"/>
                  </a:lnTo>
                  <a:close/>
                </a:path>
                <a:path w="2448560" h="388619">
                  <a:moveTo>
                    <a:pt x="1178468" y="70232"/>
                  </a:moveTo>
                  <a:lnTo>
                    <a:pt x="1174815" y="71102"/>
                  </a:lnTo>
                  <a:lnTo>
                    <a:pt x="1093987" y="84861"/>
                  </a:lnTo>
                  <a:lnTo>
                    <a:pt x="1091159" y="85719"/>
                  </a:lnTo>
                  <a:lnTo>
                    <a:pt x="1088803" y="88586"/>
                  </a:lnTo>
                  <a:lnTo>
                    <a:pt x="1089745" y="92311"/>
                  </a:lnTo>
                  <a:lnTo>
                    <a:pt x="1089745" y="95178"/>
                  </a:lnTo>
                  <a:lnTo>
                    <a:pt x="1093398" y="97470"/>
                  </a:lnTo>
                  <a:lnTo>
                    <a:pt x="1096343" y="96612"/>
                  </a:lnTo>
                  <a:lnTo>
                    <a:pt x="1177054" y="82852"/>
                  </a:lnTo>
                  <a:lnTo>
                    <a:pt x="1180824" y="81994"/>
                  </a:lnTo>
                  <a:lnTo>
                    <a:pt x="1182238" y="79127"/>
                  </a:lnTo>
                  <a:lnTo>
                    <a:pt x="1182238" y="76260"/>
                  </a:lnTo>
                  <a:lnTo>
                    <a:pt x="1181414" y="72535"/>
                  </a:lnTo>
                  <a:lnTo>
                    <a:pt x="1178468" y="70232"/>
                  </a:lnTo>
                  <a:close/>
                </a:path>
                <a:path w="2448560" h="388619">
                  <a:moveTo>
                    <a:pt x="1318209" y="51314"/>
                  </a:moveTo>
                  <a:lnTo>
                    <a:pt x="1315381" y="51314"/>
                  </a:lnTo>
                  <a:lnTo>
                    <a:pt x="1233728" y="61642"/>
                  </a:lnTo>
                  <a:lnTo>
                    <a:pt x="1229958" y="61642"/>
                  </a:lnTo>
                  <a:lnTo>
                    <a:pt x="1227719" y="64510"/>
                  </a:lnTo>
                  <a:lnTo>
                    <a:pt x="1228544" y="67941"/>
                  </a:lnTo>
                  <a:lnTo>
                    <a:pt x="1228544" y="71102"/>
                  </a:lnTo>
                  <a:lnTo>
                    <a:pt x="1231372" y="73099"/>
                  </a:lnTo>
                  <a:lnTo>
                    <a:pt x="1235142" y="73099"/>
                  </a:lnTo>
                  <a:lnTo>
                    <a:pt x="1316795" y="63076"/>
                  </a:lnTo>
                  <a:lnTo>
                    <a:pt x="1319623" y="63076"/>
                  </a:lnTo>
                  <a:lnTo>
                    <a:pt x="1321980" y="59915"/>
                  </a:lnTo>
                  <a:lnTo>
                    <a:pt x="1321980" y="56472"/>
                  </a:lnTo>
                  <a:lnTo>
                    <a:pt x="1321037" y="53323"/>
                  </a:lnTo>
                  <a:lnTo>
                    <a:pt x="1318209" y="51314"/>
                  </a:lnTo>
                  <a:close/>
                </a:path>
                <a:path w="2448560" h="388619">
                  <a:moveTo>
                    <a:pt x="1458422" y="34405"/>
                  </a:moveTo>
                  <a:lnTo>
                    <a:pt x="1455594" y="35263"/>
                  </a:lnTo>
                  <a:lnTo>
                    <a:pt x="1373352" y="44722"/>
                  </a:lnTo>
                  <a:lnTo>
                    <a:pt x="1370288" y="44722"/>
                  </a:lnTo>
                  <a:lnTo>
                    <a:pt x="1368167" y="47589"/>
                  </a:lnTo>
                  <a:lnTo>
                    <a:pt x="1368167" y="51314"/>
                  </a:lnTo>
                  <a:lnTo>
                    <a:pt x="1368756" y="54181"/>
                  </a:lnTo>
                  <a:lnTo>
                    <a:pt x="1371702" y="56472"/>
                  </a:lnTo>
                  <a:lnTo>
                    <a:pt x="1374883" y="56472"/>
                  </a:lnTo>
                  <a:lnTo>
                    <a:pt x="1457008" y="46155"/>
                  </a:lnTo>
                  <a:lnTo>
                    <a:pt x="1459953" y="46155"/>
                  </a:lnTo>
                  <a:lnTo>
                    <a:pt x="1462192" y="43288"/>
                  </a:lnTo>
                  <a:lnTo>
                    <a:pt x="1461367" y="40421"/>
                  </a:lnTo>
                  <a:lnTo>
                    <a:pt x="1461367" y="36696"/>
                  </a:lnTo>
                  <a:lnTo>
                    <a:pt x="1458422" y="34405"/>
                  </a:lnTo>
                  <a:close/>
                </a:path>
                <a:path w="2448560" h="388619">
                  <a:moveTo>
                    <a:pt x="1598752" y="20645"/>
                  </a:moveTo>
                  <a:lnTo>
                    <a:pt x="1595924" y="21221"/>
                  </a:lnTo>
                  <a:lnTo>
                    <a:pt x="1541607" y="24946"/>
                  </a:lnTo>
                  <a:lnTo>
                    <a:pt x="1513682" y="27813"/>
                  </a:lnTo>
                  <a:lnTo>
                    <a:pt x="1510501" y="28671"/>
                  </a:lnTo>
                  <a:lnTo>
                    <a:pt x="1508498" y="31538"/>
                  </a:lnTo>
                  <a:lnTo>
                    <a:pt x="1508498" y="34405"/>
                  </a:lnTo>
                  <a:lnTo>
                    <a:pt x="1509087" y="37272"/>
                  </a:lnTo>
                  <a:lnTo>
                    <a:pt x="1512268" y="39563"/>
                  </a:lnTo>
                  <a:lnTo>
                    <a:pt x="1515096" y="39563"/>
                  </a:lnTo>
                  <a:lnTo>
                    <a:pt x="1542078" y="35838"/>
                  </a:lnTo>
                  <a:lnTo>
                    <a:pt x="1596749" y="32971"/>
                  </a:lnTo>
                  <a:lnTo>
                    <a:pt x="1599577" y="32114"/>
                  </a:lnTo>
                  <a:lnTo>
                    <a:pt x="1602522" y="30104"/>
                  </a:lnTo>
                  <a:lnTo>
                    <a:pt x="1602522" y="26379"/>
                  </a:lnTo>
                  <a:lnTo>
                    <a:pt x="1601580" y="23512"/>
                  </a:lnTo>
                  <a:lnTo>
                    <a:pt x="1598752" y="20645"/>
                  </a:lnTo>
                  <a:close/>
                </a:path>
                <a:path w="2448560" h="388619">
                  <a:moveTo>
                    <a:pt x="1739907" y="11762"/>
                  </a:moveTo>
                  <a:lnTo>
                    <a:pt x="1736961" y="11762"/>
                  </a:lnTo>
                  <a:lnTo>
                    <a:pt x="1654484" y="16920"/>
                  </a:lnTo>
                  <a:lnTo>
                    <a:pt x="1651067" y="17496"/>
                  </a:lnTo>
                  <a:lnTo>
                    <a:pt x="1648710" y="20645"/>
                  </a:lnTo>
                  <a:lnTo>
                    <a:pt x="1648710" y="23512"/>
                  </a:lnTo>
                  <a:lnTo>
                    <a:pt x="1649653" y="26379"/>
                  </a:lnTo>
                  <a:lnTo>
                    <a:pt x="1652481" y="29246"/>
                  </a:lnTo>
                  <a:lnTo>
                    <a:pt x="1655426" y="28671"/>
                  </a:lnTo>
                  <a:lnTo>
                    <a:pt x="1737551" y="23512"/>
                  </a:lnTo>
                  <a:lnTo>
                    <a:pt x="1740496" y="23512"/>
                  </a:lnTo>
                  <a:lnTo>
                    <a:pt x="1742735" y="20645"/>
                  </a:lnTo>
                  <a:lnTo>
                    <a:pt x="1742735" y="14053"/>
                  </a:lnTo>
                  <a:lnTo>
                    <a:pt x="1739907" y="11762"/>
                  </a:lnTo>
                  <a:close/>
                </a:path>
                <a:path w="2448560" h="388619">
                  <a:moveTo>
                    <a:pt x="1881062" y="3736"/>
                  </a:moveTo>
                  <a:lnTo>
                    <a:pt x="1856555" y="3736"/>
                  </a:lnTo>
                  <a:lnTo>
                    <a:pt x="1795050" y="8025"/>
                  </a:lnTo>
                  <a:lnTo>
                    <a:pt x="1791868" y="8025"/>
                  </a:lnTo>
                  <a:lnTo>
                    <a:pt x="1789865" y="10892"/>
                  </a:lnTo>
                  <a:lnTo>
                    <a:pt x="1789865" y="17496"/>
                  </a:lnTo>
                  <a:lnTo>
                    <a:pt x="1792811" y="19787"/>
                  </a:lnTo>
                  <a:lnTo>
                    <a:pt x="1796463" y="19787"/>
                  </a:lnTo>
                  <a:lnTo>
                    <a:pt x="1857497" y="15487"/>
                  </a:lnTo>
                  <a:lnTo>
                    <a:pt x="1881062" y="15487"/>
                  </a:lnTo>
                  <a:lnTo>
                    <a:pt x="1883890" y="12619"/>
                  </a:lnTo>
                  <a:lnTo>
                    <a:pt x="1883890" y="6603"/>
                  </a:lnTo>
                  <a:lnTo>
                    <a:pt x="1881062" y="3736"/>
                  </a:lnTo>
                  <a:close/>
                </a:path>
                <a:path w="2448560" h="388619">
                  <a:moveTo>
                    <a:pt x="2021864" y="1433"/>
                  </a:moveTo>
                  <a:lnTo>
                    <a:pt x="2019036" y="1433"/>
                  </a:lnTo>
                  <a:lnTo>
                    <a:pt x="1936794" y="2867"/>
                  </a:lnTo>
                  <a:lnTo>
                    <a:pt x="1933023" y="2867"/>
                  </a:lnTo>
                  <a:lnTo>
                    <a:pt x="1930785" y="6027"/>
                  </a:lnTo>
                  <a:lnTo>
                    <a:pt x="1930785" y="11762"/>
                  </a:lnTo>
                  <a:lnTo>
                    <a:pt x="1933023" y="14629"/>
                  </a:lnTo>
                  <a:lnTo>
                    <a:pt x="1936794" y="14629"/>
                  </a:lnTo>
                  <a:lnTo>
                    <a:pt x="2019036" y="13195"/>
                  </a:lnTo>
                  <a:lnTo>
                    <a:pt x="2021864" y="13195"/>
                  </a:lnTo>
                  <a:lnTo>
                    <a:pt x="2025045" y="10892"/>
                  </a:lnTo>
                  <a:lnTo>
                    <a:pt x="2025045" y="4594"/>
                  </a:lnTo>
                  <a:lnTo>
                    <a:pt x="2021864" y="1433"/>
                  </a:lnTo>
                  <a:close/>
                </a:path>
                <a:path w="2448560" h="388619">
                  <a:moveTo>
                    <a:pt x="2163019" y="0"/>
                  </a:moveTo>
                  <a:lnTo>
                    <a:pt x="2160073" y="0"/>
                  </a:lnTo>
                  <a:lnTo>
                    <a:pt x="2077949" y="869"/>
                  </a:lnTo>
                  <a:lnTo>
                    <a:pt x="2074178" y="869"/>
                  </a:lnTo>
                  <a:lnTo>
                    <a:pt x="2071940" y="3736"/>
                  </a:lnTo>
                  <a:lnTo>
                    <a:pt x="2071940" y="10328"/>
                  </a:lnTo>
                  <a:lnTo>
                    <a:pt x="2074178" y="12619"/>
                  </a:lnTo>
                  <a:lnTo>
                    <a:pt x="2077949" y="12619"/>
                  </a:lnTo>
                  <a:lnTo>
                    <a:pt x="2160073" y="11762"/>
                  </a:lnTo>
                  <a:lnTo>
                    <a:pt x="2163019" y="11762"/>
                  </a:lnTo>
                  <a:lnTo>
                    <a:pt x="2165847" y="8895"/>
                  </a:lnTo>
                  <a:lnTo>
                    <a:pt x="2165847" y="2303"/>
                  </a:lnTo>
                  <a:lnTo>
                    <a:pt x="2163019" y="0"/>
                  </a:lnTo>
                  <a:close/>
                </a:path>
                <a:path w="2448560" h="388619">
                  <a:moveTo>
                    <a:pt x="2218751" y="1433"/>
                  </a:moveTo>
                  <a:lnTo>
                    <a:pt x="2215923" y="1433"/>
                  </a:lnTo>
                  <a:lnTo>
                    <a:pt x="2212977" y="3736"/>
                  </a:lnTo>
                  <a:lnTo>
                    <a:pt x="2212977" y="10328"/>
                  </a:lnTo>
                  <a:lnTo>
                    <a:pt x="2215334" y="13195"/>
                  </a:lnTo>
                  <a:lnTo>
                    <a:pt x="2218161" y="13195"/>
                  </a:lnTo>
                  <a:lnTo>
                    <a:pt x="2300404" y="16920"/>
                  </a:lnTo>
                  <a:lnTo>
                    <a:pt x="2304174" y="16920"/>
                  </a:lnTo>
                  <a:lnTo>
                    <a:pt x="2306413" y="14053"/>
                  </a:lnTo>
                  <a:lnTo>
                    <a:pt x="2307002" y="10892"/>
                  </a:lnTo>
                  <a:lnTo>
                    <a:pt x="2307002" y="8025"/>
                  </a:lnTo>
                  <a:lnTo>
                    <a:pt x="2304174" y="5170"/>
                  </a:lnTo>
                  <a:lnTo>
                    <a:pt x="2301228" y="5170"/>
                  </a:lnTo>
                  <a:lnTo>
                    <a:pt x="2218751" y="1433"/>
                  </a:lnTo>
                  <a:close/>
                </a:path>
                <a:path w="2448560" h="388619">
                  <a:moveTo>
                    <a:pt x="2359906" y="7461"/>
                  </a:moveTo>
                  <a:lnTo>
                    <a:pt x="2356135" y="7461"/>
                  </a:lnTo>
                  <a:lnTo>
                    <a:pt x="2354132" y="9459"/>
                  </a:lnTo>
                  <a:lnTo>
                    <a:pt x="2354132" y="13195"/>
                  </a:lnTo>
                  <a:lnTo>
                    <a:pt x="2353307" y="16062"/>
                  </a:lnTo>
                  <a:lnTo>
                    <a:pt x="2356135" y="19212"/>
                  </a:lnTo>
                  <a:lnTo>
                    <a:pt x="2359317" y="19212"/>
                  </a:lnTo>
                  <a:lnTo>
                    <a:pt x="2441559" y="22654"/>
                  </a:lnTo>
                  <a:lnTo>
                    <a:pt x="2445329" y="22654"/>
                  </a:lnTo>
                  <a:lnTo>
                    <a:pt x="2447332" y="20645"/>
                  </a:lnTo>
                  <a:lnTo>
                    <a:pt x="2447332" y="16920"/>
                  </a:lnTo>
                  <a:lnTo>
                    <a:pt x="2448157" y="14053"/>
                  </a:lnTo>
                  <a:lnTo>
                    <a:pt x="2445329" y="10892"/>
                  </a:lnTo>
                  <a:lnTo>
                    <a:pt x="2442148" y="10892"/>
                  </a:lnTo>
                  <a:lnTo>
                    <a:pt x="2359906" y="746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2627059" y="2229358"/>
              <a:ext cx="2448560" cy="388620"/>
            </a:xfrm>
            <a:custGeom>
              <a:avLst/>
              <a:gdLst/>
              <a:ahLst/>
              <a:cxnLst/>
              <a:rect l="l" t="t" r="r" b="b"/>
              <a:pathLst>
                <a:path w="2448560" h="388619">
                  <a:moveTo>
                    <a:pt x="5172" y="376684"/>
                  </a:moveTo>
                  <a:lnTo>
                    <a:pt x="83067" y="349740"/>
                  </a:lnTo>
                  <a:lnTo>
                    <a:pt x="86224" y="348882"/>
                  </a:lnTo>
                  <a:lnTo>
                    <a:pt x="89099" y="350316"/>
                  </a:lnTo>
                  <a:lnTo>
                    <a:pt x="90537" y="353183"/>
                  </a:lnTo>
                  <a:lnTo>
                    <a:pt x="91114" y="356332"/>
                  </a:lnTo>
                  <a:lnTo>
                    <a:pt x="89677" y="359775"/>
                  </a:lnTo>
                  <a:lnTo>
                    <a:pt x="86802" y="360633"/>
                  </a:lnTo>
                  <a:lnTo>
                    <a:pt x="8907" y="387577"/>
                  </a:lnTo>
                  <a:lnTo>
                    <a:pt x="6032" y="388435"/>
                  </a:lnTo>
                  <a:lnTo>
                    <a:pt x="2297" y="387001"/>
                  </a:lnTo>
                  <a:lnTo>
                    <a:pt x="1720" y="384134"/>
                  </a:lnTo>
                  <a:lnTo>
                    <a:pt x="0" y="380985"/>
                  </a:lnTo>
                  <a:lnTo>
                    <a:pt x="2297" y="377542"/>
                  </a:lnTo>
                  <a:lnTo>
                    <a:pt x="5172" y="376684"/>
                  </a:lnTo>
                  <a:close/>
                </a:path>
                <a:path w="2448560" h="388619">
                  <a:moveTo>
                    <a:pt x="138256" y="330528"/>
                  </a:moveTo>
                  <a:lnTo>
                    <a:pt x="216151" y="304442"/>
                  </a:lnTo>
                  <a:lnTo>
                    <a:pt x="219026" y="302727"/>
                  </a:lnTo>
                  <a:lnTo>
                    <a:pt x="222761" y="304442"/>
                  </a:lnTo>
                  <a:lnTo>
                    <a:pt x="223338" y="307885"/>
                  </a:lnTo>
                  <a:lnTo>
                    <a:pt x="225058" y="311034"/>
                  </a:lnTo>
                  <a:lnTo>
                    <a:pt x="223338" y="313901"/>
                  </a:lnTo>
                  <a:lnTo>
                    <a:pt x="219886" y="315335"/>
                  </a:lnTo>
                  <a:lnTo>
                    <a:pt x="142569" y="341715"/>
                  </a:lnTo>
                  <a:lnTo>
                    <a:pt x="139116" y="343148"/>
                  </a:lnTo>
                  <a:lnTo>
                    <a:pt x="135959" y="341715"/>
                  </a:lnTo>
                  <a:lnTo>
                    <a:pt x="134521" y="337990"/>
                  </a:lnTo>
                  <a:lnTo>
                    <a:pt x="133944" y="335123"/>
                  </a:lnTo>
                  <a:lnTo>
                    <a:pt x="135381" y="331962"/>
                  </a:lnTo>
                  <a:lnTo>
                    <a:pt x="138256" y="330528"/>
                  </a:lnTo>
                  <a:close/>
                </a:path>
                <a:path w="2448560" h="388619">
                  <a:moveTo>
                    <a:pt x="271918" y="284666"/>
                  </a:moveTo>
                  <a:lnTo>
                    <a:pt x="304968" y="273480"/>
                  </a:lnTo>
                  <a:lnTo>
                    <a:pt x="350672" y="260296"/>
                  </a:lnTo>
                  <a:lnTo>
                    <a:pt x="353547" y="259720"/>
                  </a:lnTo>
                  <a:lnTo>
                    <a:pt x="357282" y="261154"/>
                  </a:lnTo>
                  <a:lnTo>
                    <a:pt x="357860" y="264890"/>
                  </a:lnTo>
                  <a:lnTo>
                    <a:pt x="358720" y="267746"/>
                  </a:lnTo>
                  <a:lnTo>
                    <a:pt x="357282" y="270613"/>
                  </a:lnTo>
                  <a:lnTo>
                    <a:pt x="354124" y="271482"/>
                  </a:lnTo>
                  <a:lnTo>
                    <a:pt x="308714" y="284666"/>
                  </a:lnTo>
                  <a:lnTo>
                    <a:pt x="275653" y="296135"/>
                  </a:lnTo>
                  <a:lnTo>
                    <a:pt x="272778" y="296992"/>
                  </a:lnTo>
                  <a:lnTo>
                    <a:pt x="269043" y="295559"/>
                  </a:lnTo>
                  <a:lnTo>
                    <a:pt x="268182" y="292692"/>
                  </a:lnTo>
                  <a:lnTo>
                    <a:pt x="266745" y="288967"/>
                  </a:lnTo>
                  <a:lnTo>
                    <a:pt x="269043" y="286100"/>
                  </a:lnTo>
                  <a:lnTo>
                    <a:pt x="271918" y="284666"/>
                  </a:lnTo>
                  <a:close/>
                </a:path>
                <a:path w="2448560" h="388619">
                  <a:moveTo>
                    <a:pt x="407016" y="244245"/>
                  </a:moveTo>
                  <a:lnTo>
                    <a:pt x="486360" y="221601"/>
                  </a:lnTo>
                  <a:lnTo>
                    <a:pt x="489541" y="221026"/>
                  </a:lnTo>
                  <a:lnTo>
                    <a:pt x="492369" y="223035"/>
                  </a:lnTo>
                  <a:lnTo>
                    <a:pt x="493783" y="226184"/>
                  </a:lnTo>
                  <a:lnTo>
                    <a:pt x="494726" y="229051"/>
                  </a:lnTo>
                  <a:lnTo>
                    <a:pt x="492369" y="232776"/>
                  </a:lnTo>
                  <a:lnTo>
                    <a:pt x="489541" y="233352"/>
                  </a:lnTo>
                  <a:lnTo>
                    <a:pt x="410174" y="255995"/>
                  </a:lnTo>
                  <a:lnTo>
                    <a:pt x="407016" y="256853"/>
                  </a:lnTo>
                  <a:lnTo>
                    <a:pt x="404141" y="254562"/>
                  </a:lnTo>
                  <a:lnTo>
                    <a:pt x="403564" y="251694"/>
                  </a:lnTo>
                  <a:lnTo>
                    <a:pt x="402127" y="248827"/>
                  </a:lnTo>
                  <a:lnTo>
                    <a:pt x="404141" y="245102"/>
                  </a:lnTo>
                  <a:lnTo>
                    <a:pt x="407016" y="244245"/>
                  </a:lnTo>
                  <a:close/>
                </a:path>
                <a:path w="2448560" h="388619">
                  <a:moveTo>
                    <a:pt x="542916" y="205550"/>
                  </a:moveTo>
                  <a:lnTo>
                    <a:pt x="608545" y="187196"/>
                  </a:lnTo>
                  <a:lnTo>
                    <a:pt x="622331" y="183753"/>
                  </a:lnTo>
                  <a:lnTo>
                    <a:pt x="625512" y="182895"/>
                  </a:lnTo>
                  <a:lnTo>
                    <a:pt x="628929" y="185187"/>
                  </a:lnTo>
                  <a:lnTo>
                    <a:pt x="629754" y="188054"/>
                  </a:lnTo>
                  <a:lnTo>
                    <a:pt x="630343" y="191779"/>
                  </a:lnTo>
                  <a:lnTo>
                    <a:pt x="628340" y="194646"/>
                  </a:lnTo>
                  <a:lnTo>
                    <a:pt x="625512" y="195222"/>
                  </a:lnTo>
                  <a:lnTo>
                    <a:pt x="612198" y="198383"/>
                  </a:lnTo>
                  <a:lnTo>
                    <a:pt x="546098" y="217301"/>
                  </a:lnTo>
                  <a:lnTo>
                    <a:pt x="542916" y="217877"/>
                  </a:lnTo>
                  <a:lnTo>
                    <a:pt x="539500" y="216443"/>
                  </a:lnTo>
                  <a:lnTo>
                    <a:pt x="538675" y="213000"/>
                  </a:lnTo>
                  <a:lnTo>
                    <a:pt x="537850" y="209839"/>
                  </a:lnTo>
                  <a:lnTo>
                    <a:pt x="539500" y="206972"/>
                  </a:lnTo>
                  <a:lnTo>
                    <a:pt x="542916" y="205550"/>
                  </a:lnTo>
                  <a:close/>
                </a:path>
                <a:path w="2448560" h="388619">
                  <a:moveTo>
                    <a:pt x="679830" y="170569"/>
                  </a:moveTo>
                  <a:lnTo>
                    <a:pt x="759716" y="152227"/>
                  </a:lnTo>
                  <a:lnTo>
                    <a:pt x="762897" y="151369"/>
                  </a:lnTo>
                  <a:lnTo>
                    <a:pt x="766314" y="153660"/>
                  </a:lnTo>
                  <a:lnTo>
                    <a:pt x="767139" y="156527"/>
                  </a:lnTo>
                  <a:lnTo>
                    <a:pt x="767728" y="159395"/>
                  </a:lnTo>
                  <a:lnTo>
                    <a:pt x="765725" y="163119"/>
                  </a:lnTo>
                  <a:lnTo>
                    <a:pt x="762897" y="163977"/>
                  </a:lnTo>
                  <a:lnTo>
                    <a:pt x="682658" y="182038"/>
                  </a:lnTo>
                  <a:lnTo>
                    <a:pt x="678887" y="182895"/>
                  </a:lnTo>
                  <a:lnTo>
                    <a:pt x="676059" y="180604"/>
                  </a:lnTo>
                  <a:lnTo>
                    <a:pt x="675235" y="177737"/>
                  </a:lnTo>
                  <a:lnTo>
                    <a:pt x="674646" y="174870"/>
                  </a:lnTo>
                  <a:lnTo>
                    <a:pt x="676649" y="171145"/>
                  </a:lnTo>
                  <a:lnTo>
                    <a:pt x="679830" y="170569"/>
                  </a:lnTo>
                  <a:close/>
                </a:path>
                <a:path w="2448560" h="388619">
                  <a:moveTo>
                    <a:pt x="817215" y="139043"/>
                  </a:moveTo>
                  <a:lnTo>
                    <a:pt x="897100" y="120689"/>
                  </a:lnTo>
                  <a:lnTo>
                    <a:pt x="899928" y="120113"/>
                  </a:lnTo>
                  <a:lnTo>
                    <a:pt x="903699" y="122122"/>
                  </a:lnTo>
                  <a:lnTo>
                    <a:pt x="904523" y="124989"/>
                  </a:lnTo>
                  <a:lnTo>
                    <a:pt x="905113" y="128150"/>
                  </a:lnTo>
                  <a:lnTo>
                    <a:pt x="903109" y="131005"/>
                  </a:lnTo>
                  <a:lnTo>
                    <a:pt x="899928" y="131581"/>
                  </a:lnTo>
                  <a:lnTo>
                    <a:pt x="820042" y="150793"/>
                  </a:lnTo>
                  <a:lnTo>
                    <a:pt x="816390" y="151369"/>
                  </a:lnTo>
                  <a:lnTo>
                    <a:pt x="813444" y="149360"/>
                  </a:lnTo>
                  <a:lnTo>
                    <a:pt x="812619" y="146199"/>
                  </a:lnTo>
                  <a:lnTo>
                    <a:pt x="812030" y="142768"/>
                  </a:lnTo>
                  <a:lnTo>
                    <a:pt x="814033" y="139901"/>
                  </a:lnTo>
                  <a:lnTo>
                    <a:pt x="817215" y="139043"/>
                  </a:lnTo>
                  <a:close/>
                </a:path>
                <a:path w="2448560" h="388619">
                  <a:moveTo>
                    <a:pt x="955188" y="109796"/>
                  </a:moveTo>
                  <a:lnTo>
                    <a:pt x="1035899" y="95178"/>
                  </a:lnTo>
                  <a:lnTo>
                    <a:pt x="1039669" y="94320"/>
                  </a:lnTo>
                  <a:lnTo>
                    <a:pt x="1042497" y="96612"/>
                  </a:lnTo>
                  <a:lnTo>
                    <a:pt x="1043440" y="100337"/>
                  </a:lnTo>
                  <a:lnTo>
                    <a:pt x="1043440" y="103204"/>
                  </a:lnTo>
                  <a:lnTo>
                    <a:pt x="1041083" y="106071"/>
                  </a:lnTo>
                  <a:lnTo>
                    <a:pt x="1038255" y="106929"/>
                  </a:lnTo>
                  <a:lnTo>
                    <a:pt x="957427" y="120689"/>
                  </a:lnTo>
                  <a:lnTo>
                    <a:pt x="953775" y="121546"/>
                  </a:lnTo>
                  <a:lnTo>
                    <a:pt x="950829" y="119255"/>
                  </a:lnTo>
                  <a:lnTo>
                    <a:pt x="950829" y="116388"/>
                  </a:lnTo>
                  <a:lnTo>
                    <a:pt x="950004" y="112663"/>
                  </a:lnTo>
                  <a:lnTo>
                    <a:pt x="952243" y="109796"/>
                  </a:lnTo>
                  <a:lnTo>
                    <a:pt x="955188" y="109796"/>
                  </a:lnTo>
                  <a:close/>
                </a:path>
                <a:path w="2448560" h="388619">
                  <a:moveTo>
                    <a:pt x="1093987" y="84861"/>
                  </a:moveTo>
                  <a:lnTo>
                    <a:pt x="1174815" y="71102"/>
                  </a:lnTo>
                  <a:lnTo>
                    <a:pt x="1178468" y="70232"/>
                  </a:lnTo>
                  <a:lnTo>
                    <a:pt x="1181414" y="72535"/>
                  </a:lnTo>
                  <a:lnTo>
                    <a:pt x="1182238" y="76260"/>
                  </a:lnTo>
                  <a:lnTo>
                    <a:pt x="1182238" y="79127"/>
                  </a:lnTo>
                  <a:lnTo>
                    <a:pt x="1180825" y="81994"/>
                  </a:lnTo>
                  <a:lnTo>
                    <a:pt x="1177054" y="82852"/>
                  </a:lnTo>
                  <a:lnTo>
                    <a:pt x="1096344" y="96612"/>
                  </a:lnTo>
                  <a:lnTo>
                    <a:pt x="1093398" y="97470"/>
                  </a:lnTo>
                  <a:lnTo>
                    <a:pt x="1089745" y="95178"/>
                  </a:lnTo>
                  <a:lnTo>
                    <a:pt x="1089745" y="92311"/>
                  </a:lnTo>
                  <a:lnTo>
                    <a:pt x="1088803" y="88586"/>
                  </a:lnTo>
                  <a:lnTo>
                    <a:pt x="1091159" y="85719"/>
                  </a:lnTo>
                  <a:lnTo>
                    <a:pt x="1093987" y="84861"/>
                  </a:lnTo>
                  <a:close/>
                </a:path>
                <a:path w="2448560" h="388619">
                  <a:moveTo>
                    <a:pt x="1233728" y="61642"/>
                  </a:moveTo>
                  <a:lnTo>
                    <a:pt x="1315381" y="51314"/>
                  </a:lnTo>
                  <a:lnTo>
                    <a:pt x="1318209" y="51314"/>
                  </a:lnTo>
                  <a:lnTo>
                    <a:pt x="1321037" y="53323"/>
                  </a:lnTo>
                  <a:lnTo>
                    <a:pt x="1321980" y="56472"/>
                  </a:lnTo>
                  <a:lnTo>
                    <a:pt x="1321980" y="59915"/>
                  </a:lnTo>
                  <a:lnTo>
                    <a:pt x="1319623" y="63076"/>
                  </a:lnTo>
                  <a:lnTo>
                    <a:pt x="1316795" y="63076"/>
                  </a:lnTo>
                  <a:lnTo>
                    <a:pt x="1235142" y="73099"/>
                  </a:lnTo>
                  <a:lnTo>
                    <a:pt x="1231372" y="73099"/>
                  </a:lnTo>
                  <a:lnTo>
                    <a:pt x="1228544" y="71102"/>
                  </a:lnTo>
                  <a:lnTo>
                    <a:pt x="1228544" y="67941"/>
                  </a:lnTo>
                  <a:lnTo>
                    <a:pt x="1227719" y="64510"/>
                  </a:lnTo>
                  <a:lnTo>
                    <a:pt x="1229958" y="61642"/>
                  </a:lnTo>
                  <a:lnTo>
                    <a:pt x="1233728" y="61642"/>
                  </a:lnTo>
                  <a:close/>
                </a:path>
                <a:path w="2448560" h="388619">
                  <a:moveTo>
                    <a:pt x="1373352" y="44722"/>
                  </a:moveTo>
                  <a:lnTo>
                    <a:pt x="1455594" y="35263"/>
                  </a:lnTo>
                  <a:lnTo>
                    <a:pt x="1458422" y="34405"/>
                  </a:lnTo>
                  <a:lnTo>
                    <a:pt x="1461367" y="36696"/>
                  </a:lnTo>
                  <a:lnTo>
                    <a:pt x="1461367" y="40421"/>
                  </a:lnTo>
                  <a:lnTo>
                    <a:pt x="1462192" y="43288"/>
                  </a:lnTo>
                  <a:lnTo>
                    <a:pt x="1459953" y="46155"/>
                  </a:lnTo>
                  <a:lnTo>
                    <a:pt x="1457008" y="46155"/>
                  </a:lnTo>
                  <a:lnTo>
                    <a:pt x="1374883" y="56472"/>
                  </a:lnTo>
                  <a:lnTo>
                    <a:pt x="1371702" y="56472"/>
                  </a:lnTo>
                  <a:lnTo>
                    <a:pt x="1368756" y="54181"/>
                  </a:lnTo>
                  <a:lnTo>
                    <a:pt x="1368167" y="51314"/>
                  </a:lnTo>
                  <a:lnTo>
                    <a:pt x="1368167" y="47589"/>
                  </a:lnTo>
                  <a:lnTo>
                    <a:pt x="1370288" y="44722"/>
                  </a:lnTo>
                  <a:lnTo>
                    <a:pt x="1373352" y="44722"/>
                  </a:lnTo>
                  <a:close/>
                </a:path>
                <a:path w="2448560" h="388619">
                  <a:moveTo>
                    <a:pt x="1513682" y="27813"/>
                  </a:moveTo>
                  <a:lnTo>
                    <a:pt x="1541607" y="24946"/>
                  </a:lnTo>
                  <a:lnTo>
                    <a:pt x="1595924" y="21221"/>
                  </a:lnTo>
                  <a:lnTo>
                    <a:pt x="1598752" y="20645"/>
                  </a:lnTo>
                  <a:lnTo>
                    <a:pt x="1601580" y="23512"/>
                  </a:lnTo>
                  <a:lnTo>
                    <a:pt x="1602522" y="26379"/>
                  </a:lnTo>
                  <a:lnTo>
                    <a:pt x="1602522" y="30104"/>
                  </a:lnTo>
                  <a:lnTo>
                    <a:pt x="1599577" y="32114"/>
                  </a:lnTo>
                  <a:lnTo>
                    <a:pt x="1596749" y="32971"/>
                  </a:lnTo>
                  <a:lnTo>
                    <a:pt x="1542078" y="35838"/>
                  </a:lnTo>
                  <a:lnTo>
                    <a:pt x="1515096" y="39563"/>
                  </a:lnTo>
                  <a:lnTo>
                    <a:pt x="1512268" y="39563"/>
                  </a:lnTo>
                  <a:lnTo>
                    <a:pt x="1509087" y="37272"/>
                  </a:lnTo>
                  <a:lnTo>
                    <a:pt x="1508498" y="34405"/>
                  </a:lnTo>
                  <a:lnTo>
                    <a:pt x="1508498" y="31538"/>
                  </a:lnTo>
                  <a:lnTo>
                    <a:pt x="1510501" y="28671"/>
                  </a:lnTo>
                  <a:lnTo>
                    <a:pt x="1513682" y="27813"/>
                  </a:lnTo>
                  <a:close/>
                </a:path>
                <a:path w="2448560" h="388619">
                  <a:moveTo>
                    <a:pt x="1654484" y="16920"/>
                  </a:moveTo>
                  <a:lnTo>
                    <a:pt x="1736962" y="11762"/>
                  </a:lnTo>
                  <a:lnTo>
                    <a:pt x="1739907" y="11762"/>
                  </a:lnTo>
                  <a:lnTo>
                    <a:pt x="1742735" y="14053"/>
                  </a:lnTo>
                  <a:lnTo>
                    <a:pt x="1742735" y="17496"/>
                  </a:lnTo>
                  <a:lnTo>
                    <a:pt x="1742735" y="20645"/>
                  </a:lnTo>
                  <a:lnTo>
                    <a:pt x="1740496" y="23512"/>
                  </a:lnTo>
                  <a:lnTo>
                    <a:pt x="1737551" y="23512"/>
                  </a:lnTo>
                  <a:lnTo>
                    <a:pt x="1655426" y="28671"/>
                  </a:lnTo>
                  <a:lnTo>
                    <a:pt x="1652481" y="29246"/>
                  </a:lnTo>
                  <a:lnTo>
                    <a:pt x="1649653" y="26379"/>
                  </a:lnTo>
                  <a:lnTo>
                    <a:pt x="1648710" y="23512"/>
                  </a:lnTo>
                  <a:lnTo>
                    <a:pt x="1648710" y="20645"/>
                  </a:lnTo>
                  <a:lnTo>
                    <a:pt x="1651067" y="17496"/>
                  </a:lnTo>
                  <a:lnTo>
                    <a:pt x="1654484" y="16920"/>
                  </a:lnTo>
                  <a:close/>
                </a:path>
                <a:path w="2448560" h="388619">
                  <a:moveTo>
                    <a:pt x="1795050" y="8025"/>
                  </a:moveTo>
                  <a:lnTo>
                    <a:pt x="1856555" y="3736"/>
                  </a:lnTo>
                  <a:lnTo>
                    <a:pt x="1877881" y="3736"/>
                  </a:lnTo>
                  <a:lnTo>
                    <a:pt x="1881062" y="3736"/>
                  </a:lnTo>
                  <a:lnTo>
                    <a:pt x="1883890" y="6603"/>
                  </a:lnTo>
                  <a:lnTo>
                    <a:pt x="1883890" y="9459"/>
                  </a:lnTo>
                  <a:lnTo>
                    <a:pt x="1883890" y="12619"/>
                  </a:lnTo>
                  <a:lnTo>
                    <a:pt x="1881062" y="15487"/>
                  </a:lnTo>
                  <a:lnTo>
                    <a:pt x="1877881" y="15487"/>
                  </a:lnTo>
                  <a:lnTo>
                    <a:pt x="1857497" y="15487"/>
                  </a:lnTo>
                  <a:lnTo>
                    <a:pt x="1796463" y="19787"/>
                  </a:lnTo>
                  <a:lnTo>
                    <a:pt x="1792811" y="19787"/>
                  </a:lnTo>
                  <a:lnTo>
                    <a:pt x="1789865" y="17496"/>
                  </a:lnTo>
                  <a:lnTo>
                    <a:pt x="1789865" y="14053"/>
                  </a:lnTo>
                  <a:lnTo>
                    <a:pt x="1789865" y="10892"/>
                  </a:lnTo>
                  <a:lnTo>
                    <a:pt x="1791868" y="8025"/>
                  </a:lnTo>
                  <a:lnTo>
                    <a:pt x="1795050" y="8025"/>
                  </a:lnTo>
                  <a:close/>
                </a:path>
                <a:path w="2448560" h="388619">
                  <a:moveTo>
                    <a:pt x="1936794" y="2867"/>
                  </a:moveTo>
                  <a:lnTo>
                    <a:pt x="2019036" y="1433"/>
                  </a:lnTo>
                  <a:lnTo>
                    <a:pt x="2021864" y="1433"/>
                  </a:lnTo>
                  <a:lnTo>
                    <a:pt x="2025045" y="4594"/>
                  </a:lnTo>
                  <a:lnTo>
                    <a:pt x="2025045" y="7461"/>
                  </a:lnTo>
                  <a:lnTo>
                    <a:pt x="2025045" y="10892"/>
                  </a:lnTo>
                  <a:lnTo>
                    <a:pt x="2021864" y="13195"/>
                  </a:lnTo>
                  <a:lnTo>
                    <a:pt x="2019036" y="13195"/>
                  </a:lnTo>
                  <a:lnTo>
                    <a:pt x="1936794" y="14629"/>
                  </a:lnTo>
                  <a:lnTo>
                    <a:pt x="1933023" y="14629"/>
                  </a:lnTo>
                  <a:lnTo>
                    <a:pt x="1930785" y="11762"/>
                  </a:lnTo>
                  <a:lnTo>
                    <a:pt x="1930785" y="8895"/>
                  </a:lnTo>
                  <a:lnTo>
                    <a:pt x="1930785" y="6027"/>
                  </a:lnTo>
                  <a:lnTo>
                    <a:pt x="1933023" y="2867"/>
                  </a:lnTo>
                  <a:lnTo>
                    <a:pt x="1936794" y="2867"/>
                  </a:lnTo>
                  <a:close/>
                </a:path>
                <a:path w="2448560" h="388619">
                  <a:moveTo>
                    <a:pt x="2077949" y="869"/>
                  </a:moveTo>
                  <a:lnTo>
                    <a:pt x="2160073" y="0"/>
                  </a:lnTo>
                  <a:lnTo>
                    <a:pt x="2163019" y="0"/>
                  </a:lnTo>
                  <a:lnTo>
                    <a:pt x="2165847" y="2303"/>
                  </a:lnTo>
                  <a:lnTo>
                    <a:pt x="2165847" y="6027"/>
                  </a:lnTo>
                  <a:lnTo>
                    <a:pt x="2165847" y="8895"/>
                  </a:lnTo>
                  <a:lnTo>
                    <a:pt x="2163019" y="11762"/>
                  </a:lnTo>
                  <a:lnTo>
                    <a:pt x="2160073" y="11762"/>
                  </a:lnTo>
                  <a:lnTo>
                    <a:pt x="2077949" y="12619"/>
                  </a:lnTo>
                  <a:lnTo>
                    <a:pt x="2074179" y="12619"/>
                  </a:lnTo>
                  <a:lnTo>
                    <a:pt x="2071940" y="10328"/>
                  </a:lnTo>
                  <a:lnTo>
                    <a:pt x="2071940" y="6603"/>
                  </a:lnTo>
                  <a:lnTo>
                    <a:pt x="2071940" y="3736"/>
                  </a:lnTo>
                  <a:lnTo>
                    <a:pt x="2074179" y="869"/>
                  </a:lnTo>
                  <a:lnTo>
                    <a:pt x="2077949" y="869"/>
                  </a:lnTo>
                  <a:close/>
                </a:path>
                <a:path w="2448560" h="388619">
                  <a:moveTo>
                    <a:pt x="2218751" y="1433"/>
                  </a:moveTo>
                  <a:lnTo>
                    <a:pt x="2301229" y="5170"/>
                  </a:lnTo>
                  <a:lnTo>
                    <a:pt x="2304174" y="5170"/>
                  </a:lnTo>
                  <a:lnTo>
                    <a:pt x="2307002" y="8025"/>
                  </a:lnTo>
                  <a:lnTo>
                    <a:pt x="2307002" y="10892"/>
                  </a:lnTo>
                  <a:lnTo>
                    <a:pt x="2306413" y="14053"/>
                  </a:lnTo>
                  <a:lnTo>
                    <a:pt x="2304174" y="16920"/>
                  </a:lnTo>
                  <a:lnTo>
                    <a:pt x="2300404" y="16920"/>
                  </a:lnTo>
                  <a:lnTo>
                    <a:pt x="2218161" y="13195"/>
                  </a:lnTo>
                  <a:lnTo>
                    <a:pt x="2215334" y="13195"/>
                  </a:lnTo>
                  <a:lnTo>
                    <a:pt x="2212977" y="10328"/>
                  </a:lnTo>
                  <a:lnTo>
                    <a:pt x="2212977" y="7461"/>
                  </a:lnTo>
                  <a:lnTo>
                    <a:pt x="2212977" y="3736"/>
                  </a:lnTo>
                  <a:lnTo>
                    <a:pt x="2215923" y="1433"/>
                  </a:lnTo>
                  <a:lnTo>
                    <a:pt x="2218751" y="1433"/>
                  </a:lnTo>
                  <a:close/>
                </a:path>
                <a:path w="2448560" h="388619">
                  <a:moveTo>
                    <a:pt x="2359906" y="7461"/>
                  </a:moveTo>
                  <a:lnTo>
                    <a:pt x="2442148" y="10892"/>
                  </a:lnTo>
                  <a:lnTo>
                    <a:pt x="2445329" y="10892"/>
                  </a:lnTo>
                  <a:lnTo>
                    <a:pt x="2448157" y="14053"/>
                  </a:lnTo>
                  <a:lnTo>
                    <a:pt x="2447332" y="16920"/>
                  </a:lnTo>
                  <a:lnTo>
                    <a:pt x="2447332" y="20645"/>
                  </a:lnTo>
                  <a:lnTo>
                    <a:pt x="2445329" y="22654"/>
                  </a:lnTo>
                  <a:lnTo>
                    <a:pt x="2441559" y="22654"/>
                  </a:lnTo>
                  <a:lnTo>
                    <a:pt x="2359317" y="19212"/>
                  </a:lnTo>
                  <a:lnTo>
                    <a:pt x="2356135" y="19212"/>
                  </a:lnTo>
                  <a:lnTo>
                    <a:pt x="2353307" y="16062"/>
                  </a:lnTo>
                  <a:lnTo>
                    <a:pt x="2354132" y="13195"/>
                  </a:lnTo>
                  <a:lnTo>
                    <a:pt x="2354132" y="9459"/>
                  </a:lnTo>
                  <a:lnTo>
                    <a:pt x="2356135" y="7461"/>
                  </a:lnTo>
                  <a:lnTo>
                    <a:pt x="2359906" y="7461"/>
                  </a:lnTo>
                  <a:close/>
                </a:path>
              </a:pathLst>
            </a:custGeom>
            <a:ln w="1176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2927726" y="2600308"/>
              <a:ext cx="2192655" cy="168910"/>
            </a:xfrm>
            <a:custGeom>
              <a:avLst/>
              <a:gdLst/>
              <a:ahLst/>
              <a:cxnLst/>
              <a:rect l="l" t="t" r="r" b="b"/>
              <a:pathLst>
                <a:path w="2192654" h="168910">
                  <a:moveTo>
                    <a:pt x="3735" y="92887"/>
                  </a:moveTo>
                  <a:lnTo>
                    <a:pt x="565" y="94884"/>
                  </a:lnTo>
                  <a:lnTo>
                    <a:pt x="565" y="98045"/>
                  </a:lnTo>
                  <a:lnTo>
                    <a:pt x="0" y="101477"/>
                  </a:lnTo>
                  <a:lnTo>
                    <a:pt x="2297" y="104637"/>
                  </a:lnTo>
                  <a:lnTo>
                    <a:pt x="5172" y="104637"/>
                  </a:lnTo>
                  <a:lnTo>
                    <a:pt x="87379" y="115530"/>
                  </a:lnTo>
                  <a:lnTo>
                    <a:pt x="90254" y="115530"/>
                  </a:lnTo>
                  <a:lnTo>
                    <a:pt x="93129" y="113239"/>
                  </a:lnTo>
                  <a:lnTo>
                    <a:pt x="93129" y="110372"/>
                  </a:lnTo>
                  <a:lnTo>
                    <a:pt x="93989" y="106647"/>
                  </a:lnTo>
                  <a:lnTo>
                    <a:pt x="91691" y="103780"/>
                  </a:lnTo>
                  <a:lnTo>
                    <a:pt x="88816" y="103780"/>
                  </a:lnTo>
                  <a:lnTo>
                    <a:pt x="6610" y="93451"/>
                  </a:lnTo>
                  <a:lnTo>
                    <a:pt x="3735" y="92887"/>
                  </a:lnTo>
                  <a:close/>
                </a:path>
                <a:path w="2192654" h="168910">
                  <a:moveTo>
                    <a:pt x="146881" y="111229"/>
                  </a:moveTo>
                  <a:lnTo>
                    <a:pt x="144006" y="111229"/>
                  </a:lnTo>
                  <a:lnTo>
                    <a:pt x="141131" y="113239"/>
                  </a:lnTo>
                  <a:lnTo>
                    <a:pt x="140271" y="116106"/>
                  </a:lnTo>
                  <a:lnTo>
                    <a:pt x="139399" y="119255"/>
                  </a:lnTo>
                  <a:lnTo>
                    <a:pt x="141708" y="122122"/>
                  </a:lnTo>
                  <a:lnTo>
                    <a:pt x="145443" y="122698"/>
                  </a:lnTo>
                  <a:lnTo>
                    <a:pt x="227050" y="133015"/>
                  </a:lnTo>
                  <a:lnTo>
                    <a:pt x="229995" y="133873"/>
                  </a:lnTo>
                  <a:lnTo>
                    <a:pt x="232823" y="131581"/>
                  </a:lnTo>
                  <a:lnTo>
                    <a:pt x="233648" y="128714"/>
                  </a:lnTo>
                  <a:lnTo>
                    <a:pt x="233648" y="124989"/>
                  </a:lnTo>
                  <a:lnTo>
                    <a:pt x="231409" y="122122"/>
                  </a:lnTo>
                  <a:lnTo>
                    <a:pt x="228463" y="122122"/>
                  </a:lnTo>
                  <a:lnTo>
                    <a:pt x="146881" y="111229"/>
                  </a:lnTo>
                  <a:close/>
                </a:path>
                <a:path w="2192654" h="168910">
                  <a:moveTo>
                    <a:pt x="286551" y="128714"/>
                  </a:moveTo>
                  <a:lnTo>
                    <a:pt x="283370" y="128714"/>
                  </a:lnTo>
                  <a:lnTo>
                    <a:pt x="280542" y="130723"/>
                  </a:lnTo>
                  <a:lnTo>
                    <a:pt x="279953" y="134448"/>
                  </a:lnTo>
                  <a:lnTo>
                    <a:pt x="279953" y="137315"/>
                  </a:lnTo>
                  <a:lnTo>
                    <a:pt x="281956" y="140465"/>
                  </a:lnTo>
                  <a:lnTo>
                    <a:pt x="285727" y="140465"/>
                  </a:lnTo>
                  <a:lnTo>
                    <a:pt x="367380" y="147057"/>
                  </a:lnTo>
                  <a:lnTo>
                    <a:pt x="371032" y="147057"/>
                  </a:lnTo>
                  <a:lnTo>
                    <a:pt x="373978" y="144765"/>
                  </a:lnTo>
                  <a:lnTo>
                    <a:pt x="373978" y="138173"/>
                  </a:lnTo>
                  <a:lnTo>
                    <a:pt x="371622" y="135306"/>
                  </a:lnTo>
                  <a:lnTo>
                    <a:pt x="368794" y="135306"/>
                  </a:lnTo>
                  <a:lnTo>
                    <a:pt x="286551" y="128714"/>
                  </a:lnTo>
                  <a:close/>
                </a:path>
                <a:path w="2192654" h="168910">
                  <a:moveTo>
                    <a:pt x="426882" y="139607"/>
                  </a:moveTo>
                  <a:lnTo>
                    <a:pt x="423936" y="139607"/>
                  </a:lnTo>
                  <a:lnTo>
                    <a:pt x="420755" y="141898"/>
                  </a:lnTo>
                  <a:lnTo>
                    <a:pt x="420755" y="144765"/>
                  </a:lnTo>
                  <a:lnTo>
                    <a:pt x="420284" y="148490"/>
                  </a:lnTo>
                  <a:lnTo>
                    <a:pt x="423111" y="151357"/>
                  </a:lnTo>
                  <a:lnTo>
                    <a:pt x="425939" y="151357"/>
                  </a:lnTo>
                  <a:lnTo>
                    <a:pt x="508535" y="157949"/>
                  </a:lnTo>
                  <a:lnTo>
                    <a:pt x="511363" y="157949"/>
                  </a:lnTo>
                  <a:lnTo>
                    <a:pt x="514191" y="155658"/>
                  </a:lnTo>
                  <a:lnTo>
                    <a:pt x="514191" y="151933"/>
                  </a:lnTo>
                  <a:lnTo>
                    <a:pt x="515133" y="149066"/>
                  </a:lnTo>
                  <a:lnTo>
                    <a:pt x="511952" y="146199"/>
                  </a:lnTo>
                  <a:lnTo>
                    <a:pt x="509006" y="146199"/>
                  </a:lnTo>
                  <a:lnTo>
                    <a:pt x="426882" y="139607"/>
                  </a:lnTo>
                  <a:close/>
                </a:path>
                <a:path w="2192654" h="168910">
                  <a:moveTo>
                    <a:pt x="567094" y="149924"/>
                  </a:moveTo>
                  <a:lnTo>
                    <a:pt x="564266" y="149924"/>
                  </a:lnTo>
                  <a:lnTo>
                    <a:pt x="561321" y="151933"/>
                  </a:lnTo>
                  <a:lnTo>
                    <a:pt x="561321" y="158525"/>
                  </a:lnTo>
                  <a:lnTo>
                    <a:pt x="564266" y="161686"/>
                  </a:lnTo>
                  <a:lnTo>
                    <a:pt x="567094" y="161686"/>
                  </a:lnTo>
                  <a:lnTo>
                    <a:pt x="649337" y="163683"/>
                  </a:lnTo>
                  <a:lnTo>
                    <a:pt x="652518" y="163683"/>
                  </a:lnTo>
                  <a:lnTo>
                    <a:pt x="655346" y="161686"/>
                  </a:lnTo>
                  <a:lnTo>
                    <a:pt x="655346" y="155094"/>
                  </a:lnTo>
                  <a:lnTo>
                    <a:pt x="653107" y="151933"/>
                  </a:lnTo>
                  <a:lnTo>
                    <a:pt x="649337" y="151933"/>
                  </a:lnTo>
                  <a:lnTo>
                    <a:pt x="567094" y="149924"/>
                  </a:lnTo>
                  <a:close/>
                </a:path>
                <a:path w="2192654" h="168910">
                  <a:moveTo>
                    <a:pt x="708249" y="154224"/>
                  </a:moveTo>
                  <a:lnTo>
                    <a:pt x="705422" y="154224"/>
                  </a:lnTo>
                  <a:lnTo>
                    <a:pt x="702240" y="156527"/>
                  </a:lnTo>
                  <a:lnTo>
                    <a:pt x="702240" y="163119"/>
                  </a:lnTo>
                  <a:lnTo>
                    <a:pt x="705422" y="165987"/>
                  </a:lnTo>
                  <a:lnTo>
                    <a:pt x="708249" y="165987"/>
                  </a:lnTo>
                  <a:lnTo>
                    <a:pt x="790492" y="168278"/>
                  </a:lnTo>
                  <a:lnTo>
                    <a:pt x="793320" y="168278"/>
                  </a:lnTo>
                  <a:lnTo>
                    <a:pt x="796265" y="165987"/>
                  </a:lnTo>
                  <a:lnTo>
                    <a:pt x="796265" y="159383"/>
                  </a:lnTo>
                  <a:lnTo>
                    <a:pt x="794144" y="156527"/>
                  </a:lnTo>
                  <a:lnTo>
                    <a:pt x="790492" y="156527"/>
                  </a:lnTo>
                  <a:lnTo>
                    <a:pt x="708249" y="154224"/>
                  </a:lnTo>
                  <a:close/>
                </a:path>
                <a:path w="2192654" h="168910">
                  <a:moveTo>
                    <a:pt x="934475" y="155658"/>
                  </a:moveTo>
                  <a:lnTo>
                    <a:pt x="931647" y="155658"/>
                  </a:lnTo>
                  <a:lnTo>
                    <a:pt x="849051" y="157091"/>
                  </a:lnTo>
                  <a:lnTo>
                    <a:pt x="846223" y="157091"/>
                  </a:lnTo>
                  <a:lnTo>
                    <a:pt x="843395" y="159959"/>
                  </a:lnTo>
                  <a:lnTo>
                    <a:pt x="843395" y="165987"/>
                  </a:lnTo>
                  <a:lnTo>
                    <a:pt x="846223" y="168854"/>
                  </a:lnTo>
                  <a:lnTo>
                    <a:pt x="849051" y="168854"/>
                  </a:lnTo>
                  <a:lnTo>
                    <a:pt x="931647" y="167420"/>
                  </a:lnTo>
                  <a:lnTo>
                    <a:pt x="935299" y="167420"/>
                  </a:lnTo>
                  <a:lnTo>
                    <a:pt x="937302" y="164553"/>
                  </a:lnTo>
                  <a:lnTo>
                    <a:pt x="937302" y="157949"/>
                  </a:lnTo>
                  <a:lnTo>
                    <a:pt x="934475" y="155658"/>
                  </a:lnTo>
                  <a:close/>
                </a:path>
                <a:path w="2192654" h="168910">
                  <a:moveTo>
                    <a:pt x="1075630" y="152791"/>
                  </a:moveTo>
                  <a:lnTo>
                    <a:pt x="1072684" y="152791"/>
                  </a:lnTo>
                  <a:lnTo>
                    <a:pt x="990206" y="154224"/>
                  </a:lnTo>
                  <a:lnTo>
                    <a:pt x="986554" y="154224"/>
                  </a:lnTo>
                  <a:lnTo>
                    <a:pt x="984433" y="157091"/>
                  </a:lnTo>
                  <a:lnTo>
                    <a:pt x="984433" y="163683"/>
                  </a:lnTo>
                  <a:lnTo>
                    <a:pt x="987378" y="165987"/>
                  </a:lnTo>
                  <a:lnTo>
                    <a:pt x="990206" y="165987"/>
                  </a:lnTo>
                  <a:lnTo>
                    <a:pt x="1072684" y="164553"/>
                  </a:lnTo>
                  <a:lnTo>
                    <a:pt x="1076219" y="164553"/>
                  </a:lnTo>
                  <a:lnTo>
                    <a:pt x="1078458" y="161686"/>
                  </a:lnTo>
                  <a:lnTo>
                    <a:pt x="1078458" y="155658"/>
                  </a:lnTo>
                  <a:lnTo>
                    <a:pt x="1075630" y="152791"/>
                  </a:lnTo>
                  <a:close/>
                </a:path>
                <a:path w="2192654" h="168910">
                  <a:moveTo>
                    <a:pt x="1216431" y="144765"/>
                  </a:moveTo>
                  <a:lnTo>
                    <a:pt x="1213014" y="144765"/>
                  </a:lnTo>
                  <a:lnTo>
                    <a:pt x="1130536" y="150499"/>
                  </a:lnTo>
                  <a:lnTo>
                    <a:pt x="1127591" y="150499"/>
                  </a:lnTo>
                  <a:lnTo>
                    <a:pt x="1125588" y="153367"/>
                  </a:lnTo>
                  <a:lnTo>
                    <a:pt x="1125588" y="159959"/>
                  </a:lnTo>
                  <a:lnTo>
                    <a:pt x="1128533" y="162250"/>
                  </a:lnTo>
                  <a:lnTo>
                    <a:pt x="1131361" y="162250"/>
                  </a:lnTo>
                  <a:lnTo>
                    <a:pt x="1213604" y="156527"/>
                  </a:lnTo>
                  <a:lnTo>
                    <a:pt x="1217256" y="156527"/>
                  </a:lnTo>
                  <a:lnTo>
                    <a:pt x="1219613" y="153367"/>
                  </a:lnTo>
                  <a:lnTo>
                    <a:pt x="1219613" y="150499"/>
                  </a:lnTo>
                  <a:lnTo>
                    <a:pt x="1218788" y="147057"/>
                  </a:lnTo>
                  <a:lnTo>
                    <a:pt x="1216431" y="144765"/>
                  </a:lnTo>
                  <a:close/>
                </a:path>
                <a:path w="2192654" h="168910">
                  <a:moveTo>
                    <a:pt x="1356997" y="135306"/>
                  </a:moveTo>
                  <a:lnTo>
                    <a:pt x="1353816" y="135306"/>
                  </a:lnTo>
                  <a:lnTo>
                    <a:pt x="1271692" y="141040"/>
                  </a:lnTo>
                  <a:lnTo>
                    <a:pt x="1268746" y="141040"/>
                  </a:lnTo>
                  <a:lnTo>
                    <a:pt x="1265918" y="143907"/>
                  </a:lnTo>
                  <a:lnTo>
                    <a:pt x="1266507" y="147057"/>
                  </a:lnTo>
                  <a:lnTo>
                    <a:pt x="1266507" y="150499"/>
                  </a:lnTo>
                  <a:lnTo>
                    <a:pt x="1269335" y="152791"/>
                  </a:lnTo>
                  <a:lnTo>
                    <a:pt x="1272516" y="152791"/>
                  </a:lnTo>
                  <a:lnTo>
                    <a:pt x="1354759" y="147057"/>
                  </a:lnTo>
                  <a:lnTo>
                    <a:pt x="1357586" y="147057"/>
                  </a:lnTo>
                  <a:lnTo>
                    <a:pt x="1360414" y="143907"/>
                  </a:lnTo>
                  <a:lnTo>
                    <a:pt x="1359943" y="141040"/>
                  </a:lnTo>
                  <a:lnTo>
                    <a:pt x="1359943" y="137315"/>
                  </a:lnTo>
                  <a:lnTo>
                    <a:pt x="1356997" y="135306"/>
                  </a:lnTo>
                  <a:close/>
                </a:path>
                <a:path w="2192654" h="168910">
                  <a:moveTo>
                    <a:pt x="1497328" y="119831"/>
                  </a:moveTo>
                  <a:lnTo>
                    <a:pt x="1493557" y="120689"/>
                  </a:lnTo>
                  <a:lnTo>
                    <a:pt x="1411904" y="129290"/>
                  </a:lnTo>
                  <a:lnTo>
                    <a:pt x="1409076" y="130148"/>
                  </a:lnTo>
                  <a:lnTo>
                    <a:pt x="1406131" y="133015"/>
                  </a:lnTo>
                  <a:lnTo>
                    <a:pt x="1406720" y="135882"/>
                  </a:lnTo>
                  <a:lnTo>
                    <a:pt x="1406720" y="139607"/>
                  </a:lnTo>
                  <a:lnTo>
                    <a:pt x="1409901" y="141898"/>
                  </a:lnTo>
                  <a:lnTo>
                    <a:pt x="1413318" y="141040"/>
                  </a:lnTo>
                  <a:lnTo>
                    <a:pt x="1494971" y="131581"/>
                  </a:lnTo>
                  <a:lnTo>
                    <a:pt x="1497799" y="131581"/>
                  </a:lnTo>
                  <a:lnTo>
                    <a:pt x="1500980" y="128714"/>
                  </a:lnTo>
                  <a:lnTo>
                    <a:pt x="1500156" y="125847"/>
                  </a:lnTo>
                  <a:lnTo>
                    <a:pt x="1500156" y="122122"/>
                  </a:lnTo>
                  <a:lnTo>
                    <a:pt x="1497328" y="119831"/>
                  </a:lnTo>
                  <a:close/>
                </a:path>
                <a:path w="2192654" h="168910">
                  <a:moveTo>
                    <a:pt x="1636715" y="103780"/>
                  </a:moveTo>
                  <a:lnTo>
                    <a:pt x="1633770" y="103780"/>
                  </a:lnTo>
                  <a:lnTo>
                    <a:pt x="1552470" y="113239"/>
                  </a:lnTo>
                  <a:lnTo>
                    <a:pt x="1548700" y="114096"/>
                  </a:lnTo>
                  <a:lnTo>
                    <a:pt x="1546461" y="116964"/>
                  </a:lnTo>
                  <a:lnTo>
                    <a:pt x="1547286" y="119831"/>
                  </a:lnTo>
                  <a:lnTo>
                    <a:pt x="1547286" y="123556"/>
                  </a:lnTo>
                  <a:lnTo>
                    <a:pt x="1550114" y="125847"/>
                  </a:lnTo>
                  <a:lnTo>
                    <a:pt x="1553059" y="124989"/>
                  </a:lnTo>
                  <a:lnTo>
                    <a:pt x="1635302" y="115530"/>
                  </a:lnTo>
                  <a:lnTo>
                    <a:pt x="1638365" y="115530"/>
                  </a:lnTo>
                  <a:lnTo>
                    <a:pt x="1640486" y="112663"/>
                  </a:lnTo>
                  <a:lnTo>
                    <a:pt x="1640486" y="108938"/>
                  </a:lnTo>
                  <a:lnTo>
                    <a:pt x="1639897" y="106071"/>
                  </a:lnTo>
                  <a:lnTo>
                    <a:pt x="1636715" y="103780"/>
                  </a:lnTo>
                  <a:close/>
                </a:path>
                <a:path w="2192654" h="168910">
                  <a:moveTo>
                    <a:pt x="1775868" y="81125"/>
                  </a:moveTo>
                  <a:lnTo>
                    <a:pt x="1772686" y="81700"/>
                  </a:lnTo>
                  <a:lnTo>
                    <a:pt x="1691858" y="94884"/>
                  </a:lnTo>
                  <a:lnTo>
                    <a:pt x="1688087" y="95742"/>
                  </a:lnTo>
                  <a:lnTo>
                    <a:pt x="1686084" y="98609"/>
                  </a:lnTo>
                  <a:lnTo>
                    <a:pt x="1686674" y="101477"/>
                  </a:lnTo>
                  <a:lnTo>
                    <a:pt x="1687616" y="105213"/>
                  </a:lnTo>
                  <a:lnTo>
                    <a:pt x="1690444" y="107504"/>
                  </a:lnTo>
                  <a:lnTo>
                    <a:pt x="1693272" y="106647"/>
                  </a:lnTo>
                  <a:lnTo>
                    <a:pt x="1774925" y="93451"/>
                  </a:lnTo>
                  <a:lnTo>
                    <a:pt x="1777871" y="92887"/>
                  </a:lnTo>
                  <a:lnTo>
                    <a:pt x="1780109" y="90020"/>
                  </a:lnTo>
                  <a:lnTo>
                    <a:pt x="1779284" y="86859"/>
                  </a:lnTo>
                  <a:lnTo>
                    <a:pt x="1779284" y="83416"/>
                  </a:lnTo>
                  <a:lnTo>
                    <a:pt x="1775868" y="81125"/>
                  </a:lnTo>
                  <a:close/>
                </a:path>
                <a:path w="2192654" h="168910">
                  <a:moveTo>
                    <a:pt x="1915255" y="58482"/>
                  </a:moveTo>
                  <a:lnTo>
                    <a:pt x="1911485" y="59057"/>
                  </a:lnTo>
                  <a:lnTo>
                    <a:pt x="1830774" y="72241"/>
                  </a:lnTo>
                  <a:lnTo>
                    <a:pt x="1827829" y="73099"/>
                  </a:lnTo>
                  <a:lnTo>
                    <a:pt x="1825590" y="75966"/>
                  </a:lnTo>
                  <a:lnTo>
                    <a:pt x="1825590" y="78833"/>
                  </a:lnTo>
                  <a:lnTo>
                    <a:pt x="1826415" y="81700"/>
                  </a:lnTo>
                  <a:lnTo>
                    <a:pt x="1829243" y="83992"/>
                  </a:lnTo>
                  <a:lnTo>
                    <a:pt x="1833013" y="83992"/>
                  </a:lnTo>
                  <a:lnTo>
                    <a:pt x="1913841" y="70232"/>
                  </a:lnTo>
                  <a:lnTo>
                    <a:pt x="1916669" y="70232"/>
                  </a:lnTo>
                  <a:lnTo>
                    <a:pt x="1918908" y="66507"/>
                  </a:lnTo>
                  <a:lnTo>
                    <a:pt x="1918908" y="63640"/>
                  </a:lnTo>
                  <a:lnTo>
                    <a:pt x="1918083" y="60491"/>
                  </a:lnTo>
                  <a:lnTo>
                    <a:pt x="1915255" y="58482"/>
                  </a:lnTo>
                  <a:close/>
                </a:path>
                <a:path w="2192654" h="168910">
                  <a:moveTo>
                    <a:pt x="2052640" y="28377"/>
                  </a:moveTo>
                  <a:lnTo>
                    <a:pt x="2049694" y="29246"/>
                  </a:lnTo>
                  <a:lnTo>
                    <a:pt x="1968984" y="46731"/>
                  </a:lnTo>
                  <a:lnTo>
                    <a:pt x="1966156" y="47589"/>
                  </a:lnTo>
                  <a:lnTo>
                    <a:pt x="1963799" y="50456"/>
                  </a:lnTo>
                  <a:lnTo>
                    <a:pt x="1964389" y="53323"/>
                  </a:lnTo>
                  <a:lnTo>
                    <a:pt x="1965213" y="57048"/>
                  </a:lnTo>
                  <a:lnTo>
                    <a:pt x="1968159" y="59057"/>
                  </a:lnTo>
                  <a:lnTo>
                    <a:pt x="1971812" y="58482"/>
                  </a:lnTo>
                  <a:lnTo>
                    <a:pt x="2052051" y="40997"/>
                  </a:lnTo>
                  <a:lnTo>
                    <a:pt x="2054879" y="40139"/>
                  </a:lnTo>
                  <a:lnTo>
                    <a:pt x="2056882" y="37272"/>
                  </a:lnTo>
                  <a:lnTo>
                    <a:pt x="2056410" y="33547"/>
                  </a:lnTo>
                  <a:lnTo>
                    <a:pt x="2055468" y="30680"/>
                  </a:lnTo>
                  <a:lnTo>
                    <a:pt x="2052640" y="28377"/>
                  </a:lnTo>
                  <a:close/>
                </a:path>
                <a:path w="2192654" h="168910">
                  <a:moveTo>
                    <a:pt x="2187668" y="0"/>
                  </a:moveTo>
                  <a:lnTo>
                    <a:pt x="2106958" y="16626"/>
                  </a:lnTo>
                  <a:lnTo>
                    <a:pt x="2104130" y="17484"/>
                  </a:lnTo>
                  <a:lnTo>
                    <a:pt x="2101773" y="21209"/>
                  </a:lnTo>
                  <a:lnTo>
                    <a:pt x="2102598" y="24076"/>
                  </a:lnTo>
                  <a:lnTo>
                    <a:pt x="2103187" y="26943"/>
                  </a:lnTo>
                  <a:lnTo>
                    <a:pt x="2106368" y="29246"/>
                  </a:lnTo>
                  <a:lnTo>
                    <a:pt x="2109196" y="28377"/>
                  </a:lnTo>
                  <a:lnTo>
                    <a:pt x="2187197" y="11750"/>
                  </a:lnTo>
                  <a:lnTo>
                    <a:pt x="2190025" y="10892"/>
                  </a:lnTo>
                  <a:lnTo>
                    <a:pt x="2192263" y="8025"/>
                  </a:lnTo>
                  <a:lnTo>
                    <a:pt x="2191439" y="5158"/>
                  </a:lnTo>
                  <a:lnTo>
                    <a:pt x="2190849" y="1433"/>
                  </a:lnTo>
                  <a:lnTo>
                    <a:pt x="21876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2927726" y="2600308"/>
              <a:ext cx="2192655" cy="168910"/>
            </a:xfrm>
            <a:custGeom>
              <a:avLst/>
              <a:gdLst/>
              <a:ahLst/>
              <a:cxnLst/>
              <a:rect l="l" t="t" r="r" b="b"/>
              <a:pathLst>
                <a:path w="2192654" h="168910">
                  <a:moveTo>
                    <a:pt x="6610" y="93451"/>
                  </a:moveTo>
                  <a:lnTo>
                    <a:pt x="88816" y="103780"/>
                  </a:lnTo>
                  <a:lnTo>
                    <a:pt x="91691" y="103780"/>
                  </a:lnTo>
                  <a:lnTo>
                    <a:pt x="93989" y="106647"/>
                  </a:lnTo>
                  <a:lnTo>
                    <a:pt x="93129" y="110372"/>
                  </a:lnTo>
                  <a:lnTo>
                    <a:pt x="93129" y="113239"/>
                  </a:lnTo>
                  <a:lnTo>
                    <a:pt x="90254" y="115530"/>
                  </a:lnTo>
                  <a:lnTo>
                    <a:pt x="87379" y="115530"/>
                  </a:lnTo>
                  <a:lnTo>
                    <a:pt x="5172" y="104637"/>
                  </a:lnTo>
                  <a:lnTo>
                    <a:pt x="2297" y="104637"/>
                  </a:lnTo>
                  <a:lnTo>
                    <a:pt x="0" y="101476"/>
                  </a:lnTo>
                  <a:lnTo>
                    <a:pt x="565" y="98045"/>
                  </a:lnTo>
                  <a:lnTo>
                    <a:pt x="565" y="94884"/>
                  </a:lnTo>
                  <a:lnTo>
                    <a:pt x="3735" y="92887"/>
                  </a:lnTo>
                  <a:lnTo>
                    <a:pt x="6610" y="93451"/>
                  </a:lnTo>
                  <a:close/>
                </a:path>
                <a:path w="2192654" h="168910">
                  <a:moveTo>
                    <a:pt x="146881" y="111229"/>
                  </a:moveTo>
                  <a:lnTo>
                    <a:pt x="228463" y="122122"/>
                  </a:lnTo>
                  <a:lnTo>
                    <a:pt x="231409" y="122122"/>
                  </a:lnTo>
                  <a:lnTo>
                    <a:pt x="233648" y="124989"/>
                  </a:lnTo>
                  <a:lnTo>
                    <a:pt x="233648" y="128714"/>
                  </a:lnTo>
                  <a:lnTo>
                    <a:pt x="232823" y="131581"/>
                  </a:lnTo>
                  <a:lnTo>
                    <a:pt x="229995" y="133873"/>
                  </a:lnTo>
                  <a:lnTo>
                    <a:pt x="227050" y="133015"/>
                  </a:lnTo>
                  <a:lnTo>
                    <a:pt x="145443" y="122698"/>
                  </a:lnTo>
                  <a:lnTo>
                    <a:pt x="141708" y="122122"/>
                  </a:lnTo>
                  <a:lnTo>
                    <a:pt x="139399" y="119255"/>
                  </a:lnTo>
                  <a:lnTo>
                    <a:pt x="140271" y="116106"/>
                  </a:lnTo>
                  <a:lnTo>
                    <a:pt x="141131" y="113239"/>
                  </a:lnTo>
                  <a:lnTo>
                    <a:pt x="144006" y="111229"/>
                  </a:lnTo>
                  <a:lnTo>
                    <a:pt x="146881" y="111229"/>
                  </a:lnTo>
                  <a:close/>
                </a:path>
                <a:path w="2192654" h="168910">
                  <a:moveTo>
                    <a:pt x="286551" y="128714"/>
                  </a:moveTo>
                  <a:lnTo>
                    <a:pt x="368794" y="135306"/>
                  </a:lnTo>
                  <a:lnTo>
                    <a:pt x="371622" y="135306"/>
                  </a:lnTo>
                  <a:lnTo>
                    <a:pt x="373978" y="138173"/>
                  </a:lnTo>
                  <a:lnTo>
                    <a:pt x="373978" y="141898"/>
                  </a:lnTo>
                  <a:lnTo>
                    <a:pt x="373978" y="144765"/>
                  </a:lnTo>
                  <a:lnTo>
                    <a:pt x="371032" y="147057"/>
                  </a:lnTo>
                  <a:lnTo>
                    <a:pt x="367380" y="147057"/>
                  </a:lnTo>
                  <a:lnTo>
                    <a:pt x="285727" y="140465"/>
                  </a:lnTo>
                  <a:lnTo>
                    <a:pt x="281956" y="140465"/>
                  </a:lnTo>
                  <a:lnTo>
                    <a:pt x="279953" y="137315"/>
                  </a:lnTo>
                  <a:lnTo>
                    <a:pt x="279953" y="134448"/>
                  </a:lnTo>
                  <a:lnTo>
                    <a:pt x="280542" y="130723"/>
                  </a:lnTo>
                  <a:lnTo>
                    <a:pt x="283370" y="128714"/>
                  </a:lnTo>
                  <a:lnTo>
                    <a:pt x="286551" y="128714"/>
                  </a:lnTo>
                  <a:close/>
                </a:path>
                <a:path w="2192654" h="168910">
                  <a:moveTo>
                    <a:pt x="426882" y="139607"/>
                  </a:moveTo>
                  <a:lnTo>
                    <a:pt x="509006" y="146199"/>
                  </a:lnTo>
                  <a:lnTo>
                    <a:pt x="511952" y="146199"/>
                  </a:lnTo>
                  <a:lnTo>
                    <a:pt x="515133" y="149066"/>
                  </a:lnTo>
                  <a:lnTo>
                    <a:pt x="514191" y="151933"/>
                  </a:lnTo>
                  <a:lnTo>
                    <a:pt x="514191" y="155658"/>
                  </a:lnTo>
                  <a:lnTo>
                    <a:pt x="511363" y="157949"/>
                  </a:lnTo>
                  <a:lnTo>
                    <a:pt x="508535" y="157949"/>
                  </a:lnTo>
                  <a:lnTo>
                    <a:pt x="425939" y="151357"/>
                  </a:lnTo>
                  <a:lnTo>
                    <a:pt x="423111" y="151357"/>
                  </a:lnTo>
                  <a:lnTo>
                    <a:pt x="420284" y="148490"/>
                  </a:lnTo>
                  <a:lnTo>
                    <a:pt x="420755" y="144765"/>
                  </a:lnTo>
                  <a:lnTo>
                    <a:pt x="420755" y="141898"/>
                  </a:lnTo>
                  <a:lnTo>
                    <a:pt x="423936" y="139607"/>
                  </a:lnTo>
                  <a:lnTo>
                    <a:pt x="426882" y="139607"/>
                  </a:lnTo>
                  <a:close/>
                </a:path>
                <a:path w="2192654" h="168910">
                  <a:moveTo>
                    <a:pt x="567094" y="149924"/>
                  </a:moveTo>
                  <a:lnTo>
                    <a:pt x="649337" y="151933"/>
                  </a:lnTo>
                  <a:lnTo>
                    <a:pt x="653107" y="151933"/>
                  </a:lnTo>
                  <a:lnTo>
                    <a:pt x="655346" y="155094"/>
                  </a:lnTo>
                  <a:lnTo>
                    <a:pt x="655346" y="158525"/>
                  </a:lnTo>
                  <a:lnTo>
                    <a:pt x="655346" y="161686"/>
                  </a:lnTo>
                  <a:lnTo>
                    <a:pt x="652518" y="163683"/>
                  </a:lnTo>
                  <a:lnTo>
                    <a:pt x="649337" y="163683"/>
                  </a:lnTo>
                  <a:lnTo>
                    <a:pt x="567094" y="161686"/>
                  </a:lnTo>
                  <a:lnTo>
                    <a:pt x="564266" y="161686"/>
                  </a:lnTo>
                  <a:lnTo>
                    <a:pt x="561321" y="158525"/>
                  </a:lnTo>
                  <a:lnTo>
                    <a:pt x="561321" y="155658"/>
                  </a:lnTo>
                  <a:lnTo>
                    <a:pt x="561321" y="151933"/>
                  </a:lnTo>
                  <a:lnTo>
                    <a:pt x="564266" y="149924"/>
                  </a:lnTo>
                  <a:lnTo>
                    <a:pt x="567094" y="149924"/>
                  </a:lnTo>
                  <a:close/>
                </a:path>
                <a:path w="2192654" h="168910">
                  <a:moveTo>
                    <a:pt x="708249" y="154224"/>
                  </a:moveTo>
                  <a:lnTo>
                    <a:pt x="790492" y="156527"/>
                  </a:lnTo>
                  <a:lnTo>
                    <a:pt x="794144" y="156527"/>
                  </a:lnTo>
                  <a:lnTo>
                    <a:pt x="796265" y="159383"/>
                  </a:lnTo>
                  <a:lnTo>
                    <a:pt x="796265" y="162250"/>
                  </a:lnTo>
                  <a:lnTo>
                    <a:pt x="796265" y="165987"/>
                  </a:lnTo>
                  <a:lnTo>
                    <a:pt x="793320" y="168278"/>
                  </a:lnTo>
                  <a:lnTo>
                    <a:pt x="790492" y="168278"/>
                  </a:lnTo>
                  <a:lnTo>
                    <a:pt x="708249" y="165987"/>
                  </a:lnTo>
                  <a:lnTo>
                    <a:pt x="705422" y="165987"/>
                  </a:lnTo>
                  <a:lnTo>
                    <a:pt x="702240" y="163119"/>
                  </a:lnTo>
                  <a:lnTo>
                    <a:pt x="702240" y="159383"/>
                  </a:lnTo>
                  <a:lnTo>
                    <a:pt x="702240" y="156527"/>
                  </a:lnTo>
                  <a:lnTo>
                    <a:pt x="705422" y="154224"/>
                  </a:lnTo>
                  <a:lnTo>
                    <a:pt x="708249" y="154224"/>
                  </a:lnTo>
                  <a:close/>
                </a:path>
                <a:path w="2192654" h="168910">
                  <a:moveTo>
                    <a:pt x="849051" y="157091"/>
                  </a:moveTo>
                  <a:lnTo>
                    <a:pt x="931647" y="155658"/>
                  </a:lnTo>
                  <a:lnTo>
                    <a:pt x="934475" y="155658"/>
                  </a:lnTo>
                  <a:lnTo>
                    <a:pt x="937302" y="157949"/>
                  </a:lnTo>
                  <a:lnTo>
                    <a:pt x="937302" y="161686"/>
                  </a:lnTo>
                  <a:lnTo>
                    <a:pt x="937302" y="164553"/>
                  </a:lnTo>
                  <a:lnTo>
                    <a:pt x="935299" y="167420"/>
                  </a:lnTo>
                  <a:lnTo>
                    <a:pt x="931647" y="167420"/>
                  </a:lnTo>
                  <a:lnTo>
                    <a:pt x="849051" y="168854"/>
                  </a:lnTo>
                  <a:lnTo>
                    <a:pt x="846223" y="168854"/>
                  </a:lnTo>
                  <a:lnTo>
                    <a:pt x="843395" y="165987"/>
                  </a:lnTo>
                  <a:lnTo>
                    <a:pt x="843395" y="163119"/>
                  </a:lnTo>
                  <a:lnTo>
                    <a:pt x="843395" y="159959"/>
                  </a:lnTo>
                  <a:lnTo>
                    <a:pt x="846223" y="157091"/>
                  </a:lnTo>
                  <a:lnTo>
                    <a:pt x="849051" y="157091"/>
                  </a:lnTo>
                  <a:close/>
                </a:path>
                <a:path w="2192654" h="168910">
                  <a:moveTo>
                    <a:pt x="990206" y="154224"/>
                  </a:moveTo>
                  <a:lnTo>
                    <a:pt x="1072684" y="152791"/>
                  </a:lnTo>
                  <a:lnTo>
                    <a:pt x="1075630" y="152791"/>
                  </a:lnTo>
                  <a:lnTo>
                    <a:pt x="1078458" y="155658"/>
                  </a:lnTo>
                  <a:lnTo>
                    <a:pt x="1078458" y="158525"/>
                  </a:lnTo>
                  <a:lnTo>
                    <a:pt x="1078458" y="161686"/>
                  </a:lnTo>
                  <a:lnTo>
                    <a:pt x="1076219" y="164553"/>
                  </a:lnTo>
                  <a:lnTo>
                    <a:pt x="1072684" y="164553"/>
                  </a:lnTo>
                  <a:lnTo>
                    <a:pt x="990206" y="165987"/>
                  </a:lnTo>
                  <a:lnTo>
                    <a:pt x="987378" y="165987"/>
                  </a:lnTo>
                  <a:lnTo>
                    <a:pt x="984433" y="163683"/>
                  </a:lnTo>
                  <a:lnTo>
                    <a:pt x="984433" y="159959"/>
                  </a:lnTo>
                  <a:lnTo>
                    <a:pt x="984433" y="157091"/>
                  </a:lnTo>
                  <a:lnTo>
                    <a:pt x="986554" y="154224"/>
                  </a:lnTo>
                  <a:lnTo>
                    <a:pt x="990206" y="154224"/>
                  </a:lnTo>
                  <a:close/>
                </a:path>
                <a:path w="2192654" h="168910">
                  <a:moveTo>
                    <a:pt x="1130537" y="150499"/>
                  </a:moveTo>
                  <a:lnTo>
                    <a:pt x="1213014" y="144765"/>
                  </a:lnTo>
                  <a:lnTo>
                    <a:pt x="1216431" y="144765"/>
                  </a:lnTo>
                  <a:lnTo>
                    <a:pt x="1218788" y="147057"/>
                  </a:lnTo>
                  <a:lnTo>
                    <a:pt x="1219613" y="150499"/>
                  </a:lnTo>
                  <a:lnTo>
                    <a:pt x="1219613" y="153367"/>
                  </a:lnTo>
                  <a:lnTo>
                    <a:pt x="1217256" y="156527"/>
                  </a:lnTo>
                  <a:lnTo>
                    <a:pt x="1213604" y="156527"/>
                  </a:lnTo>
                  <a:lnTo>
                    <a:pt x="1131361" y="162250"/>
                  </a:lnTo>
                  <a:lnTo>
                    <a:pt x="1128533" y="162250"/>
                  </a:lnTo>
                  <a:lnTo>
                    <a:pt x="1125588" y="159959"/>
                  </a:lnTo>
                  <a:lnTo>
                    <a:pt x="1125588" y="156527"/>
                  </a:lnTo>
                  <a:lnTo>
                    <a:pt x="1125588" y="153367"/>
                  </a:lnTo>
                  <a:lnTo>
                    <a:pt x="1127591" y="150499"/>
                  </a:lnTo>
                  <a:lnTo>
                    <a:pt x="1130537" y="150499"/>
                  </a:lnTo>
                  <a:close/>
                </a:path>
                <a:path w="2192654" h="168910">
                  <a:moveTo>
                    <a:pt x="1271692" y="141040"/>
                  </a:moveTo>
                  <a:lnTo>
                    <a:pt x="1353816" y="135306"/>
                  </a:lnTo>
                  <a:lnTo>
                    <a:pt x="1356997" y="135306"/>
                  </a:lnTo>
                  <a:lnTo>
                    <a:pt x="1359943" y="137315"/>
                  </a:lnTo>
                  <a:lnTo>
                    <a:pt x="1359943" y="141040"/>
                  </a:lnTo>
                  <a:lnTo>
                    <a:pt x="1360414" y="143907"/>
                  </a:lnTo>
                  <a:lnTo>
                    <a:pt x="1357587" y="147057"/>
                  </a:lnTo>
                  <a:lnTo>
                    <a:pt x="1354759" y="147057"/>
                  </a:lnTo>
                  <a:lnTo>
                    <a:pt x="1272516" y="152791"/>
                  </a:lnTo>
                  <a:lnTo>
                    <a:pt x="1269335" y="152791"/>
                  </a:lnTo>
                  <a:lnTo>
                    <a:pt x="1266507" y="150499"/>
                  </a:lnTo>
                  <a:lnTo>
                    <a:pt x="1266507" y="147057"/>
                  </a:lnTo>
                  <a:lnTo>
                    <a:pt x="1265918" y="143907"/>
                  </a:lnTo>
                  <a:lnTo>
                    <a:pt x="1268746" y="141040"/>
                  </a:lnTo>
                  <a:lnTo>
                    <a:pt x="1271692" y="141040"/>
                  </a:lnTo>
                  <a:close/>
                </a:path>
                <a:path w="2192654" h="168910">
                  <a:moveTo>
                    <a:pt x="1411904" y="129290"/>
                  </a:moveTo>
                  <a:lnTo>
                    <a:pt x="1493557" y="120689"/>
                  </a:lnTo>
                  <a:lnTo>
                    <a:pt x="1497328" y="119831"/>
                  </a:lnTo>
                  <a:lnTo>
                    <a:pt x="1500156" y="122122"/>
                  </a:lnTo>
                  <a:lnTo>
                    <a:pt x="1500156" y="125847"/>
                  </a:lnTo>
                  <a:lnTo>
                    <a:pt x="1500980" y="128714"/>
                  </a:lnTo>
                  <a:lnTo>
                    <a:pt x="1497799" y="131581"/>
                  </a:lnTo>
                  <a:lnTo>
                    <a:pt x="1494971" y="131581"/>
                  </a:lnTo>
                  <a:lnTo>
                    <a:pt x="1413318" y="141040"/>
                  </a:lnTo>
                  <a:lnTo>
                    <a:pt x="1409901" y="141898"/>
                  </a:lnTo>
                  <a:lnTo>
                    <a:pt x="1406720" y="139607"/>
                  </a:lnTo>
                  <a:lnTo>
                    <a:pt x="1406720" y="135882"/>
                  </a:lnTo>
                  <a:lnTo>
                    <a:pt x="1406131" y="133015"/>
                  </a:lnTo>
                  <a:lnTo>
                    <a:pt x="1409076" y="130148"/>
                  </a:lnTo>
                  <a:lnTo>
                    <a:pt x="1411904" y="129290"/>
                  </a:lnTo>
                  <a:close/>
                </a:path>
                <a:path w="2192654" h="168910">
                  <a:moveTo>
                    <a:pt x="1552470" y="113239"/>
                  </a:moveTo>
                  <a:lnTo>
                    <a:pt x="1633770" y="103780"/>
                  </a:lnTo>
                  <a:lnTo>
                    <a:pt x="1636715" y="103780"/>
                  </a:lnTo>
                  <a:lnTo>
                    <a:pt x="1639897" y="106071"/>
                  </a:lnTo>
                  <a:lnTo>
                    <a:pt x="1640486" y="108938"/>
                  </a:lnTo>
                  <a:lnTo>
                    <a:pt x="1640486" y="112663"/>
                  </a:lnTo>
                  <a:lnTo>
                    <a:pt x="1638365" y="115530"/>
                  </a:lnTo>
                  <a:lnTo>
                    <a:pt x="1635302" y="115530"/>
                  </a:lnTo>
                  <a:lnTo>
                    <a:pt x="1553059" y="124989"/>
                  </a:lnTo>
                  <a:lnTo>
                    <a:pt x="1550114" y="125847"/>
                  </a:lnTo>
                  <a:lnTo>
                    <a:pt x="1547286" y="123556"/>
                  </a:lnTo>
                  <a:lnTo>
                    <a:pt x="1547286" y="119831"/>
                  </a:lnTo>
                  <a:lnTo>
                    <a:pt x="1546461" y="116964"/>
                  </a:lnTo>
                  <a:lnTo>
                    <a:pt x="1548700" y="114096"/>
                  </a:lnTo>
                  <a:lnTo>
                    <a:pt x="1552470" y="113239"/>
                  </a:lnTo>
                  <a:close/>
                </a:path>
                <a:path w="2192654" h="168910">
                  <a:moveTo>
                    <a:pt x="1691858" y="94884"/>
                  </a:moveTo>
                  <a:lnTo>
                    <a:pt x="1772686" y="81700"/>
                  </a:lnTo>
                  <a:lnTo>
                    <a:pt x="1775868" y="81125"/>
                  </a:lnTo>
                  <a:lnTo>
                    <a:pt x="1779285" y="83416"/>
                  </a:lnTo>
                  <a:lnTo>
                    <a:pt x="1779285" y="86859"/>
                  </a:lnTo>
                  <a:lnTo>
                    <a:pt x="1780109" y="90020"/>
                  </a:lnTo>
                  <a:lnTo>
                    <a:pt x="1777871" y="92887"/>
                  </a:lnTo>
                  <a:lnTo>
                    <a:pt x="1774925" y="93451"/>
                  </a:lnTo>
                  <a:lnTo>
                    <a:pt x="1693272" y="106647"/>
                  </a:lnTo>
                  <a:lnTo>
                    <a:pt x="1690444" y="107504"/>
                  </a:lnTo>
                  <a:lnTo>
                    <a:pt x="1687616" y="105213"/>
                  </a:lnTo>
                  <a:lnTo>
                    <a:pt x="1686674" y="101476"/>
                  </a:lnTo>
                  <a:lnTo>
                    <a:pt x="1686084" y="98609"/>
                  </a:lnTo>
                  <a:lnTo>
                    <a:pt x="1688087" y="95742"/>
                  </a:lnTo>
                  <a:lnTo>
                    <a:pt x="1691858" y="94884"/>
                  </a:lnTo>
                  <a:close/>
                </a:path>
                <a:path w="2192654" h="168910">
                  <a:moveTo>
                    <a:pt x="1830774" y="72241"/>
                  </a:moveTo>
                  <a:lnTo>
                    <a:pt x="1911485" y="59057"/>
                  </a:lnTo>
                  <a:lnTo>
                    <a:pt x="1915255" y="58482"/>
                  </a:lnTo>
                  <a:lnTo>
                    <a:pt x="1918083" y="60491"/>
                  </a:lnTo>
                  <a:lnTo>
                    <a:pt x="1918908" y="63640"/>
                  </a:lnTo>
                  <a:lnTo>
                    <a:pt x="1918908" y="66507"/>
                  </a:lnTo>
                  <a:lnTo>
                    <a:pt x="1916669" y="70232"/>
                  </a:lnTo>
                  <a:lnTo>
                    <a:pt x="1913841" y="70232"/>
                  </a:lnTo>
                  <a:lnTo>
                    <a:pt x="1833013" y="83992"/>
                  </a:lnTo>
                  <a:lnTo>
                    <a:pt x="1829243" y="83992"/>
                  </a:lnTo>
                  <a:lnTo>
                    <a:pt x="1826415" y="81700"/>
                  </a:lnTo>
                  <a:lnTo>
                    <a:pt x="1825590" y="78833"/>
                  </a:lnTo>
                  <a:lnTo>
                    <a:pt x="1825590" y="75966"/>
                  </a:lnTo>
                  <a:lnTo>
                    <a:pt x="1827829" y="73099"/>
                  </a:lnTo>
                  <a:lnTo>
                    <a:pt x="1830774" y="72241"/>
                  </a:lnTo>
                  <a:close/>
                </a:path>
                <a:path w="2192654" h="168910">
                  <a:moveTo>
                    <a:pt x="1968984" y="46731"/>
                  </a:moveTo>
                  <a:lnTo>
                    <a:pt x="2049694" y="29246"/>
                  </a:lnTo>
                  <a:lnTo>
                    <a:pt x="2052640" y="28377"/>
                  </a:lnTo>
                  <a:lnTo>
                    <a:pt x="2055468" y="30680"/>
                  </a:lnTo>
                  <a:lnTo>
                    <a:pt x="2056410" y="33547"/>
                  </a:lnTo>
                  <a:lnTo>
                    <a:pt x="2056882" y="37272"/>
                  </a:lnTo>
                  <a:lnTo>
                    <a:pt x="2054879" y="40139"/>
                  </a:lnTo>
                  <a:lnTo>
                    <a:pt x="2052051" y="40997"/>
                  </a:lnTo>
                  <a:lnTo>
                    <a:pt x="1971812" y="58482"/>
                  </a:lnTo>
                  <a:lnTo>
                    <a:pt x="1968159" y="59057"/>
                  </a:lnTo>
                  <a:lnTo>
                    <a:pt x="1965213" y="57048"/>
                  </a:lnTo>
                  <a:lnTo>
                    <a:pt x="1964389" y="53323"/>
                  </a:lnTo>
                  <a:lnTo>
                    <a:pt x="1963799" y="50456"/>
                  </a:lnTo>
                  <a:lnTo>
                    <a:pt x="1966156" y="47589"/>
                  </a:lnTo>
                  <a:lnTo>
                    <a:pt x="1968984" y="46731"/>
                  </a:lnTo>
                  <a:close/>
                </a:path>
                <a:path w="2192654" h="168910">
                  <a:moveTo>
                    <a:pt x="2106958" y="16626"/>
                  </a:moveTo>
                  <a:lnTo>
                    <a:pt x="2184840" y="575"/>
                  </a:lnTo>
                  <a:lnTo>
                    <a:pt x="2187668" y="0"/>
                  </a:lnTo>
                  <a:lnTo>
                    <a:pt x="2190849" y="1433"/>
                  </a:lnTo>
                  <a:lnTo>
                    <a:pt x="2191439" y="5158"/>
                  </a:lnTo>
                  <a:lnTo>
                    <a:pt x="2192263" y="8025"/>
                  </a:lnTo>
                  <a:lnTo>
                    <a:pt x="2190025" y="10892"/>
                  </a:lnTo>
                  <a:lnTo>
                    <a:pt x="2187197" y="11750"/>
                  </a:lnTo>
                  <a:lnTo>
                    <a:pt x="2109196" y="28377"/>
                  </a:lnTo>
                  <a:lnTo>
                    <a:pt x="2106368" y="29246"/>
                  </a:lnTo>
                  <a:lnTo>
                    <a:pt x="2103187" y="26943"/>
                  </a:lnTo>
                  <a:lnTo>
                    <a:pt x="2102598" y="24076"/>
                  </a:lnTo>
                  <a:lnTo>
                    <a:pt x="2101773" y="21209"/>
                  </a:lnTo>
                  <a:lnTo>
                    <a:pt x="2104130" y="17484"/>
                  </a:lnTo>
                  <a:lnTo>
                    <a:pt x="2106958" y="16626"/>
                  </a:lnTo>
                  <a:close/>
                </a:path>
              </a:pathLst>
            </a:custGeom>
            <a:ln w="1176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2697766" y="2783204"/>
              <a:ext cx="2401570" cy="476250"/>
            </a:xfrm>
            <a:custGeom>
              <a:avLst/>
              <a:gdLst/>
              <a:ahLst/>
              <a:cxnLst/>
              <a:rect l="l" t="t" r="r" b="b"/>
              <a:pathLst>
                <a:path w="2401570" h="476250">
                  <a:moveTo>
                    <a:pt x="8047" y="49598"/>
                  </a:moveTo>
                  <a:lnTo>
                    <a:pt x="4312" y="50456"/>
                  </a:lnTo>
                  <a:lnTo>
                    <a:pt x="2297" y="53323"/>
                  </a:lnTo>
                  <a:lnTo>
                    <a:pt x="0" y="55321"/>
                  </a:lnTo>
                  <a:lnTo>
                    <a:pt x="577" y="59057"/>
                  </a:lnTo>
                  <a:lnTo>
                    <a:pt x="3735" y="61349"/>
                  </a:lnTo>
                  <a:lnTo>
                    <a:pt x="68986" y="110372"/>
                  </a:lnTo>
                  <a:lnTo>
                    <a:pt x="71861" y="112369"/>
                  </a:lnTo>
                  <a:lnTo>
                    <a:pt x="75596" y="111793"/>
                  </a:lnTo>
                  <a:lnTo>
                    <a:pt x="77894" y="108938"/>
                  </a:lnTo>
                  <a:lnTo>
                    <a:pt x="79332" y="106635"/>
                  </a:lnTo>
                  <a:lnTo>
                    <a:pt x="78471" y="102910"/>
                  </a:lnTo>
                  <a:lnTo>
                    <a:pt x="76457" y="100901"/>
                  </a:lnTo>
                  <a:lnTo>
                    <a:pt x="10345" y="51890"/>
                  </a:lnTo>
                  <a:lnTo>
                    <a:pt x="8047" y="49598"/>
                  </a:lnTo>
                  <a:close/>
                </a:path>
                <a:path w="2401570" h="476250">
                  <a:moveTo>
                    <a:pt x="120441" y="133591"/>
                  </a:moveTo>
                  <a:lnTo>
                    <a:pt x="116706" y="134448"/>
                  </a:lnTo>
                  <a:lnTo>
                    <a:pt x="115268" y="137315"/>
                  </a:lnTo>
                  <a:lnTo>
                    <a:pt x="112971" y="139607"/>
                  </a:lnTo>
                  <a:lnTo>
                    <a:pt x="113831" y="143332"/>
                  </a:lnTo>
                  <a:lnTo>
                    <a:pt x="116128" y="145341"/>
                  </a:lnTo>
                  <a:lnTo>
                    <a:pt x="137973" y="161392"/>
                  </a:lnTo>
                  <a:lnTo>
                    <a:pt x="185693" y="190627"/>
                  </a:lnTo>
                  <a:lnTo>
                    <a:pt x="187990" y="192355"/>
                  </a:lnTo>
                  <a:lnTo>
                    <a:pt x="191725" y="191497"/>
                  </a:lnTo>
                  <a:lnTo>
                    <a:pt x="194023" y="188630"/>
                  </a:lnTo>
                  <a:lnTo>
                    <a:pt x="195460" y="185763"/>
                  </a:lnTo>
                  <a:lnTo>
                    <a:pt x="194600" y="182038"/>
                  </a:lnTo>
                  <a:lnTo>
                    <a:pt x="191725" y="180604"/>
                  </a:lnTo>
                  <a:lnTo>
                    <a:pt x="144583" y="151933"/>
                  </a:lnTo>
                  <a:lnTo>
                    <a:pt x="123316" y="135882"/>
                  </a:lnTo>
                  <a:lnTo>
                    <a:pt x="120441" y="133591"/>
                  </a:lnTo>
                  <a:close/>
                </a:path>
                <a:path w="2401570" h="476250">
                  <a:moveTo>
                    <a:pt x="238867" y="208981"/>
                  </a:moveTo>
                  <a:lnTo>
                    <a:pt x="235698" y="210415"/>
                  </a:lnTo>
                  <a:lnTo>
                    <a:pt x="233695" y="212706"/>
                  </a:lnTo>
                  <a:lnTo>
                    <a:pt x="232257" y="215574"/>
                  </a:lnTo>
                  <a:lnTo>
                    <a:pt x="232823" y="219298"/>
                  </a:lnTo>
                  <a:lnTo>
                    <a:pt x="235698" y="220732"/>
                  </a:lnTo>
                  <a:lnTo>
                    <a:pt x="279965" y="247676"/>
                  </a:lnTo>
                  <a:lnTo>
                    <a:pt x="310729" y="263163"/>
                  </a:lnTo>
                  <a:lnTo>
                    <a:pt x="314464" y="261729"/>
                  </a:lnTo>
                  <a:lnTo>
                    <a:pt x="315902" y="258862"/>
                  </a:lnTo>
                  <a:lnTo>
                    <a:pt x="316479" y="255701"/>
                  </a:lnTo>
                  <a:lnTo>
                    <a:pt x="315902" y="252834"/>
                  </a:lnTo>
                  <a:lnTo>
                    <a:pt x="286575" y="238217"/>
                  </a:lnTo>
                  <a:lnTo>
                    <a:pt x="241742" y="211273"/>
                  </a:lnTo>
                  <a:lnTo>
                    <a:pt x="238867" y="208981"/>
                  </a:lnTo>
                  <a:close/>
                </a:path>
                <a:path w="2401570" h="476250">
                  <a:moveTo>
                    <a:pt x="362749" y="275489"/>
                  </a:moveTo>
                  <a:lnTo>
                    <a:pt x="359309" y="276923"/>
                  </a:lnTo>
                  <a:lnTo>
                    <a:pt x="357871" y="280072"/>
                  </a:lnTo>
                  <a:lnTo>
                    <a:pt x="356139" y="282939"/>
                  </a:lnTo>
                  <a:lnTo>
                    <a:pt x="356999" y="286664"/>
                  </a:lnTo>
                  <a:lnTo>
                    <a:pt x="426846" y="321069"/>
                  </a:lnTo>
                  <a:lnTo>
                    <a:pt x="434859" y="323936"/>
                  </a:lnTo>
                  <a:lnTo>
                    <a:pt x="437804" y="324512"/>
                  </a:lnTo>
                  <a:lnTo>
                    <a:pt x="441457" y="323078"/>
                  </a:lnTo>
                  <a:lnTo>
                    <a:pt x="442399" y="320211"/>
                  </a:lnTo>
                  <a:lnTo>
                    <a:pt x="443813" y="317344"/>
                  </a:lnTo>
                  <a:lnTo>
                    <a:pt x="442399" y="314477"/>
                  </a:lnTo>
                  <a:lnTo>
                    <a:pt x="439218" y="312750"/>
                  </a:lnTo>
                  <a:lnTo>
                    <a:pt x="432031" y="309883"/>
                  </a:lnTo>
                  <a:lnTo>
                    <a:pt x="365919" y="276923"/>
                  </a:lnTo>
                  <a:lnTo>
                    <a:pt x="362749" y="275489"/>
                  </a:lnTo>
                  <a:close/>
                </a:path>
                <a:path w="2401570" h="476250">
                  <a:moveTo>
                    <a:pt x="490708" y="332538"/>
                  </a:moveTo>
                  <a:lnTo>
                    <a:pt x="486938" y="333971"/>
                  </a:lnTo>
                  <a:lnTo>
                    <a:pt x="486348" y="337120"/>
                  </a:lnTo>
                  <a:lnTo>
                    <a:pt x="484934" y="340563"/>
                  </a:lnTo>
                  <a:lnTo>
                    <a:pt x="486348" y="343712"/>
                  </a:lnTo>
                  <a:lnTo>
                    <a:pt x="489176" y="345146"/>
                  </a:lnTo>
                  <a:lnTo>
                    <a:pt x="566234" y="374381"/>
                  </a:lnTo>
                  <a:lnTo>
                    <a:pt x="569415" y="375815"/>
                  </a:lnTo>
                  <a:lnTo>
                    <a:pt x="572243" y="374381"/>
                  </a:lnTo>
                  <a:lnTo>
                    <a:pt x="573775" y="371514"/>
                  </a:lnTo>
                  <a:lnTo>
                    <a:pt x="575189" y="368365"/>
                  </a:lnTo>
                  <a:lnTo>
                    <a:pt x="573775" y="364922"/>
                  </a:lnTo>
                  <a:lnTo>
                    <a:pt x="570829" y="363488"/>
                  </a:lnTo>
                  <a:lnTo>
                    <a:pt x="493536" y="333971"/>
                  </a:lnTo>
                  <a:lnTo>
                    <a:pt x="490708" y="332538"/>
                  </a:lnTo>
                  <a:close/>
                </a:path>
                <a:path w="2401570" h="476250">
                  <a:moveTo>
                    <a:pt x="622908" y="380120"/>
                  </a:moveTo>
                  <a:lnTo>
                    <a:pt x="619138" y="381553"/>
                  </a:lnTo>
                  <a:lnTo>
                    <a:pt x="618549" y="385280"/>
                  </a:lnTo>
                  <a:lnTo>
                    <a:pt x="617724" y="388147"/>
                  </a:lnTo>
                  <a:lnTo>
                    <a:pt x="619138" y="391013"/>
                  </a:lnTo>
                  <a:lnTo>
                    <a:pt x="622908" y="391873"/>
                  </a:lnTo>
                  <a:lnTo>
                    <a:pt x="701616" y="415380"/>
                  </a:lnTo>
                  <a:lnTo>
                    <a:pt x="705386" y="415953"/>
                  </a:lnTo>
                  <a:lnTo>
                    <a:pt x="708214" y="413946"/>
                  </a:lnTo>
                  <a:lnTo>
                    <a:pt x="708803" y="410793"/>
                  </a:lnTo>
                  <a:lnTo>
                    <a:pt x="709746" y="407926"/>
                  </a:lnTo>
                  <a:lnTo>
                    <a:pt x="708214" y="405060"/>
                  </a:lnTo>
                  <a:lnTo>
                    <a:pt x="705386" y="403627"/>
                  </a:lnTo>
                  <a:lnTo>
                    <a:pt x="625736" y="380980"/>
                  </a:lnTo>
                  <a:lnTo>
                    <a:pt x="622908" y="380120"/>
                  </a:lnTo>
                  <a:close/>
                </a:path>
                <a:path w="2401570" h="476250">
                  <a:moveTo>
                    <a:pt x="758290" y="417387"/>
                  </a:moveTo>
                  <a:lnTo>
                    <a:pt x="755109" y="419680"/>
                  </a:lnTo>
                  <a:lnTo>
                    <a:pt x="754520" y="422546"/>
                  </a:lnTo>
                  <a:lnTo>
                    <a:pt x="753695" y="425413"/>
                  </a:lnTo>
                  <a:lnTo>
                    <a:pt x="755933" y="428567"/>
                  </a:lnTo>
                  <a:lnTo>
                    <a:pt x="839590" y="445193"/>
                  </a:lnTo>
                  <a:lnTo>
                    <a:pt x="843360" y="446053"/>
                  </a:lnTo>
                  <a:lnTo>
                    <a:pt x="846188" y="443760"/>
                  </a:lnTo>
                  <a:lnTo>
                    <a:pt x="847130" y="440893"/>
                  </a:lnTo>
                  <a:lnTo>
                    <a:pt x="847720" y="438026"/>
                  </a:lnTo>
                  <a:lnTo>
                    <a:pt x="845599" y="435160"/>
                  </a:lnTo>
                  <a:lnTo>
                    <a:pt x="841946" y="434300"/>
                  </a:lnTo>
                  <a:lnTo>
                    <a:pt x="761707" y="418247"/>
                  </a:lnTo>
                  <a:lnTo>
                    <a:pt x="758290" y="417387"/>
                  </a:lnTo>
                  <a:close/>
                </a:path>
                <a:path w="2401570" h="476250">
                  <a:moveTo>
                    <a:pt x="896264" y="444619"/>
                  </a:moveTo>
                  <a:lnTo>
                    <a:pt x="893318" y="446626"/>
                  </a:lnTo>
                  <a:lnTo>
                    <a:pt x="892493" y="450354"/>
                  </a:lnTo>
                  <a:lnTo>
                    <a:pt x="892493" y="453220"/>
                  </a:lnTo>
                  <a:lnTo>
                    <a:pt x="894850" y="456373"/>
                  </a:lnTo>
                  <a:lnTo>
                    <a:pt x="898502" y="456373"/>
                  </a:lnTo>
                  <a:lnTo>
                    <a:pt x="979920" y="465834"/>
                  </a:lnTo>
                  <a:lnTo>
                    <a:pt x="983101" y="465834"/>
                  </a:lnTo>
                  <a:lnTo>
                    <a:pt x="985929" y="463540"/>
                  </a:lnTo>
                  <a:lnTo>
                    <a:pt x="986518" y="460673"/>
                  </a:lnTo>
                  <a:lnTo>
                    <a:pt x="986518" y="456947"/>
                  </a:lnTo>
                  <a:lnTo>
                    <a:pt x="984515" y="454080"/>
                  </a:lnTo>
                  <a:lnTo>
                    <a:pt x="981570" y="454080"/>
                  </a:lnTo>
                  <a:lnTo>
                    <a:pt x="899092" y="445193"/>
                  </a:lnTo>
                  <a:lnTo>
                    <a:pt x="896264" y="444619"/>
                  </a:lnTo>
                  <a:close/>
                </a:path>
                <a:path w="2401570" h="476250">
                  <a:moveTo>
                    <a:pt x="1036476" y="459813"/>
                  </a:moveTo>
                  <a:lnTo>
                    <a:pt x="1033648" y="462106"/>
                  </a:lnTo>
                  <a:lnTo>
                    <a:pt x="1032824" y="465834"/>
                  </a:lnTo>
                  <a:lnTo>
                    <a:pt x="1032824" y="468700"/>
                  </a:lnTo>
                  <a:lnTo>
                    <a:pt x="1035062" y="471567"/>
                  </a:lnTo>
                  <a:lnTo>
                    <a:pt x="1038008" y="472427"/>
                  </a:lnTo>
                  <a:lnTo>
                    <a:pt x="1050615" y="473000"/>
                  </a:lnTo>
                  <a:lnTo>
                    <a:pt x="1121075" y="474433"/>
                  </a:lnTo>
                  <a:lnTo>
                    <a:pt x="1123903" y="474433"/>
                  </a:lnTo>
                  <a:lnTo>
                    <a:pt x="1127084" y="472427"/>
                  </a:lnTo>
                  <a:lnTo>
                    <a:pt x="1127084" y="465834"/>
                  </a:lnTo>
                  <a:lnTo>
                    <a:pt x="1124728" y="462680"/>
                  </a:lnTo>
                  <a:lnTo>
                    <a:pt x="1121075" y="462680"/>
                  </a:lnTo>
                  <a:lnTo>
                    <a:pt x="1051204" y="462106"/>
                  </a:lnTo>
                  <a:lnTo>
                    <a:pt x="1039422" y="460673"/>
                  </a:lnTo>
                  <a:lnTo>
                    <a:pt x="1036476" y="459813"/>
                  </a:lnTo>
                  <a:close/>
                </a:path>
                <a:path w="2401570" h="476250">
                  <a:moveTo>
                    <a:pt x="1265058" y="461246"/>
                  </a:moveTo>
                  <a:lnTo>
                    <a:pt x="1261288" y="461246"/>
                  </a:lnTo>
                  <a:lnTo>
                    <a:pt x="1210740" y="464400"/>
                  </a:lnTo>
                  <a:lnTo>
                    <a:pt x="1176807" y="464400"/>
                  </a:lnTo>
                  <a:lnTo>
                    <a:pt x="1173861" y="466407"/>
                  </a:lnTo>
                  <a:lnTo>
                    <a:pt x="1173861" y="473000"/>
                  </a:lnTo>
                  <a:lnTo>
                    <a:pt x="1176807" y="475866"/>
                  </a:lnTo>
                  <a:lnTo>
                    <a:pt x="1209798" y="475866"/>
                  </a:lnTo>
                  <a:lnTo>
                    <a:pt x="1262112" y="473000"/>
                  </a:lnTo>
                  <a:lnTo>
                    <a:pt x="1265883" y="473000"/>
                  </a:lnTo>
                  <a:lnTo>
                    <a:pt x="1267886" y="470133"/>
                  </a:lnTo>
                  <a:lnTo>
                    <a:pt x="1267886" y="463540"/>
                  </a:lnTo>
                  <a:lnTo>
                    <a:pt x="1265058" y="461246"/>
                  </a:lnTo>
                  <a:close/>
                </a:path>
                <a:path w="2401570" h="476250">
                  <a:moveTo>
                    <a:pt x="1404681" y="448920"/>
                  </a:moveTo>
                  <a:lnTo>
                    <a:pt x="1401854" y="449780"/>
                  </a:lnTo>
                  <a:lnTo>
                    <a:pt x="1368745" y="454080"/>
                  </a:lnTo>
                  <a:lnTo>
                    <a:pt x="1320200" y="457807"/>
                  </a:lnTo>
                  <a:lnTo>
                    <a:pt x="1317373" y="457807"/>
                  </a:lnTo>
                  <a:lnTo>
                    <a:pt x="1314191" y="460673"/>
                  </a:lnTo>
                  <a:lnTo>
                    <a:pt x="1315016" y="463540"/>
                  </a:lnTo>
                  <a:lnTo>
                    <a:pt x="1315016" y="467266"/>
                  </a:lnTo>
                  <a:lnTo>
                    <a:pt x="1317962" y="469273"/>
                  </a:lnTo>
                  <a:lnTo>
                    <a:pt x="1320790" y="469273"/>
                  </a:lnTo>
                  <a:lnTo>
                    <a:pt x="1369334" y="465834"/>
                  </a:lnTo>
                  <a:lnTo>
                    <a:pt x="1403267" y="461246"/>
                  </a:lnTo>
                  <a:lnTo>
                    <a:pt x="1406802" y="460673"/>
                  </a:lnTo>
                  <a:lnTo>
                    <a:pt x="1409041" y="457807"/>
                  </a:lnTo>
                  <a:lnTo>
                    <a:pt x="1408452" y="454080"/>
                  </a:lnTo>
                  <a:lnTo>
                    <a:pt x="1407627" y="451214"/>
                  </a:lnTo>
                  <a:lnTo>
                    <a:pt x="1404681" y="448920"/>
                  </a:lnTo>
                  <a:close/>
                </a:path>
                <a:path w="2401570" h="476250">
                  <a:moveTo>
                    <a:pt x="1543598" y="426847"/>
                  </a:moveTo>
                  <a:lnTo>
                    <a:pt x="1540652" y="427707"/>
                  </a:lnTo>
                  <a:lnTo>
                    <a:pt x="1526042" y="431433"/>
                  </a:lnTo>
                  <a:lnTo>
                    <a:pt x="1459588" y="440893"/>
                  </a:lnTo>
                  <a:lnTo>
                    <a:pt x="1456760" y="441753"/>
                  </a:lnTo>
                  <a:lnTo>
                    <a:pt x="1454757" y="444619"/>
                  </a:lnTo>
                  <a:lnTo>
                    <a:pt x="1454757" y="447487"/>
                  </a:lnTo>
                  <a:lnTo>
                    <a:pt x="1455346" y="450354"/>
                  </a:lnTo>
                  <a:lnTo>
                    <a:pt x="1458174" y="452646"/>
                  </a:lnTo>
                  <a:lnTo>
                    <a:pt x="1461356" y="452646"/>
                  </a:lnTo>
                  <a:lnTo>
                    <a:pt x="1528045" y="442327"/>
                  </a:lnTo>
                  <a:lnTo>
                    <a:pt x="1543598" y="438600"/>
                  </a:lnTo>
                  <a:lnTo>
                    <a:pt x="1546426" y="438026"/>
                  </a:lnTo>
                  <a:lnTo>
                    <a:pt x="1547840" y="435160"/>
                  </a:lnTo>
                  <a:lnTo>
                    <a:pt x="1547250" y="432006"/>
                  </a:lnTo>
                  <a:lnTo>
                    <a:pt x="1546426" y="428567"/>
                  </a:lnTo>
                  <a:lnTo>
                    <a:pt x="1543598" y="426847"/>
                  </a:lnTo>
                  <a:close/>
                </a:path>
                <a:path w="2401570" h="476250">
                  <a:moveTo>
                    <a:pt x="1680983" y="393306"/>
                  </a:moveTo>
                  <a:lnTo>
                    <a:pt x="1677212" y="394166"/>
                  </a:lnTo>
                  <a:lnTo>
                    <a:pt x="1596973" y="413946"/>
                  </a:lnTo>
                  <a:lnTo>
                    <a:pt x="1594145" y="414519"/>
                  </a:lnTo>
                  <a:lnTo>
                    <a:pt x="1592731" y="417387"/>
                  </a:lnTo>
                  <a:lnTo>
                    <a:pt x="1593556" y="420540"/>
                  </a:lnTo>
                  <a:lnTo>
                    <a:pt x="1594145" y="423980"/>
                  </a:lnTo>
                  <a:lnTo>
                    <a:pt x="1596973" y="425413"/>
                  </a:lnTo>
                  <a:lnTo>
                    <a:pt x="1600154" y="424840"/>
                  </a:lnTo>
                  <a:lnTo>
                    <a:pt x="1680158" y="405633"/>
                  </a:lnTo>
                  <a:lnTo>
                    <a:pt x="1682986" y="404200"/>
                  </a:lnTo>
                  <a:lnTo>
                    <a:pt x="1685224" y="401333"/>
                  </a:lnTo>
                  <a:lnTo>
                    <a:pt x="1684753" y="398466"/>
                  </a:lnTo>
                  <a:lnTo>
                    <a:pt x="1683810" y="395600"/>
                  </a:lnTo>
                  <a:lnTo>
                    <a:pt x="1680983" y="393306"/>
                  </a:lnTo>
                  <a:close/>
                </a:path>
                <a:path w="2401570" h="476250">
                  <a:moveTo>
                    <a:pt x="1813772" y="348589"/>
                  </a:moveTo>
                  <a:lnTo>
                    <a:pt x="1810944" y="349447"/>
                  </a:lnTo>
                  <a:lnTo>
                    <a:pt x="1732944" y="375815"/>
                  </a:lnTo>
                  <a:lnTo>
                    <a:pt x="1729291" y="377253"/>
                  </a:lnTo>
                  <a:lnTo>
                    <a:pt x="1727759" y="380120"/>
                  </a:lnTo>
                  <a:lnTo>
                    <a:pt x="1728702" y="382986"/>
                  </a:lnTo>
                  <a:lnTo>
                    <a:pt x="1730116" y="386140"/>
                  </a:lnTo>
                  <a:lnTo>
                    <a:pt x="1732944" y="388147"/>
                  </a:lnTo>
                  <a:lnTo>
                    <a:pt x="1736714" y="386713"/>
                  </a:lnTo>
                  <a:lnTo>
                    <a:pt x="1814597" y="361197"/>
                  </a:lnTo>
                  <a:lnTo>
                    <a:pt x="1817542" y="359763"/>
                  </a:lnTo>
                  <a:lnTo>
                    <a:pt x="1818956" y="356896"/>
                  </a:lnTo>
                  <a:lnTo>
                    <a:pt x="1818367" y="353171"/>
                  </a:lnTo>
                  <a:lnTo>
                    <a:pt x="1816953" y="350304"/>
                  </a:lnTo>
                  <a:lnTo>
                    <a:pt x="1813772" y="348589"/>
                  </a:lnTo>
                  <a:close/>
                </a:path>
                <a:path w="2401570" h="476250">
                  <a:moveTo>
                    <a:pt x="1943145" y="294689"/>
                  </a:moveTo>
                  <a:lnTo>
                    <a:pt x="1940199" y="295265"/>
                  </a:lnTo>
                  <a:lnTo>
                    <a:pt x="1864673" y="328237"/>
                  </a:lnTo>
                  <a:lnTo>
                    <a:pt x="1861727" y="329671"/>
                  </a:lnTo>
                  <a:lnTo>
                    <a:pt x="1860077" y="333395"/>
                  </a:lnTo>
                  <a:lnTo>
                    <a:pt x="1861727" y="336263"/>
                  </a:lnTo>
                  <a:lnTo>
                    <a:pt x="1863259" y="339130"/>
                  </a:lnTo>
                  <a:lnTo>
                    <a:pt x="1866676" y="340563"/>
                  </a:lnTo>
                  <a:lnTo>
                    <a:pt x="1869857" y="339130"/>
                  </a:lnTo>
                  <a:lnTo>
                    <a:pt x="1944558" y="306452"/>
                  </a:lnTo>
                  <a:lnTo>
                    <a:pt x="1947740" y="304724"/>
                  </a:lnTo>
                  <a:lnTo>
                    <a:pt x="1949154" y="301857"/>
                  </a:lnTo>
                  <a:lnTo>
                    <a:pt x="1947740" y="298132"/>
                  </a:lnTo>
                  <a:lnTo>
                    <a:pt x="1946797" y="295265"/>
                  </a:lnTo>
                  <a:lnTo>
                    <a:pt x="1943145" y="294689"/>
                  </a:lnTo>
                  <a:close/>
                </a:path>
                <a:path w="2401570" h="476250">
                  <a:moveTo>
                    <a:pt x="2068158" y="230191"/>
                  </a:moveTo>
                  <a:lnTo>
                    <a:pt x="2065330" y="231625"/>
                  </a:lnTo>
                  <a:lnTo>
                    <a:pt x="1993103" y="271188"/>
                  </a:lnTo>
                  <a:lnTo>
                    <a:pt x="1990275" y="272622"/>
                  </a:lnTo>
                  <a:lnTo>
                    <a:pt x="1989332" y="276347"/>
                  </a:lnTo>
                  <a:lnTo>
                    <a:pt x="1990864" y="279214"/>
                  </a:lnTo>
                  <a:lnTo>
                    <a:pt x="1992514" y="282081"/>
                  </a:lnTo>
                  <a:lnTo>
                    <a:pt x="1996048" y="282939"/>
                  </a:lnTo>
                  <a:lnTo>
                    <a:pt x="1999112" y="281505"/>
                  </a:lnTo>
                  <a:lnTo>
                    <a:pt x="2070985" y="241942"/>
                  </a:lnTo>
                  <a:lnTo>
                    <a:pt x="2073342" y="240508"/>
                  </a:lnTo>
                  <a:lnTo>
                    <a:pt x="2074756" y="236783"/>
                  </a:lnTo>
                  <a:lnTo>
                    <a:pt x="2071928" y="231049"/>
                  </a:lnTo>
                  <a:lnTo>
                    <a:pt x="2068158" y="230191"/>
                  </a:lnTo>
                  <a:close/>
                </a:path>
                <a:path w="2401570" h="476250">
                  <a:moveTo>
                    <a:pt x="2187161" y="157091"/>
                  </a:moveTo>
                  <a:lnTo>
                    <a:pt x="2184805" y="158525"/>
                  </a:lnTo>
                  <a:lnTo>
                    <a:pt x="2124832" y="198665"/>
                  </a:lnTo>
                  <a:lnTo>
                    <a:pt x="2116466" y="203247"/>
                  </a:lnTo>
                  <a:lnTo>
                    <a:pt x="2113520" y="204681"/>
                  </a:lnTo>
                  <a:lnTo>
                    <a:pt x="2113049" y="208406"/>
                  </a:lnTo>
                  <a:lnTo>
                    <a:pt x="2115877" y="214140"/>
                  </a:lnTo>
                  <a:lnTo>
                    <a:pt x="2119647" y="214998"/>
                  </a:lnTo>
                  <a:lnTo>
                    <a:pt x="2122475" y="213564"/>
                  </a:lnTo>
                  <a:lnTo>
                    <a:pt x="2129663" y="208981"/>
                  </a:lnTo>
                  <a:lnTo>
                    <a:pt x="2191521" y="167984"/>
                  </a:lnTo>
                  <a:lnTo>
                    <a:pt x="2193760" y="166551"/>
                  </a:lnTo>
                  <a:lnTo>
                    <a:pt x="2194349" y="162826"/>
                  </a:lnTo>
                  <a:lnTo>
                    <a:pt x="2192935" y="159959"/>
                  </a:lnTo>
                  <a:lnTo>
                    <a:pt x="2190932" y="157949"/>
                  </a:lnTo>
                  <a:lnTo>
                    <a:pt x="2187161" y="157091"/>
                  </a:lnTo>
                  <a:close/>
                </a:path>
                <a:path w="2401570" h="476250">
                  <a:moveTo>
                    <a:pt x="2304751" y="75108"/>
                  </a:moveTo>
                  <a:lnTo>
                    <a:pt x="2300981" y="75108"/>
                  </a:lnTo>
                  <a:lnTo>
                    <a:pt x="2298625" y="76542"/>
                  </a:lnTo>
                  <a:lnTo>
                    <a:pt x="2261274" y="107504"/>
                  </a:lnTo>
                  <a:lnTo>
                    <a:pt x="2233467" y="125565"/>
                  </a:lnTo>
                  <a:lnTo>
                    <a:pt x="2230521" y="127856"/>
                  </a:lnTo>
                  <a:lnTo>
                    <a:pt x="2230521" y="131581"/>
                  </a:lnTo>
                  <a:lnTo>
                    <a:pt x="2231935" y="133591"/>
                  </a:lnTo>
                  <a:lnTo>
                    <a:pt x="2233467" y="136740"/>
                  </a:lnTo>
                  <a:lnTo>
                    <a:pt x="2267872" y="116964"/>
                  </a:lnTo>
                  <a:lnTo>
                    <a:pt x="2306165" y="86283"/>
                  </a:lnTo>
                  <a:lnTo>
                    <a:pt x="2308993" y="80267"/>
                  </a:lnTo>
                  <a:lnTo>
                    <a:pt x="2306754" y="78258"/>
                  </a:lnTo>
                  <a:lnTo>
                    <a:pt x="2304751" y="75108"/>
                  </a:lnTo>
                  <a:close/>
                </a:path>
                <a:path w="2401570" h="476250">
                  <a:moveTo>
                    <a:pt x="2393592" y="0"/>
                  </a:moveTo>
                  <a:lnTo>
                    <a:pt x="2390646" y="2009"/>
                  </a:lnTo>
                  <a:lnTo>
                    <a:pt x="2344341" y="40127"/>
                  </a:lnTo>
                  <a:lnTo>
                    <a:pt x="2342102" y="42430"/>
                  </a:lnTo>
                  <a:lnTo>
                    <a:pt x="2341513" y="45862"/>
                  </a:lnTo>
                  <a:lnTo>
                    <a:pt x="2343516" y="48165"/>
                  </a:lnTo>
                  <a:lnTo>
                    <a:pt x="2345873" y="51020"/>
                  </a:lnTo>
                  <a:lnTo>
                    <a:pt x="2349525" y="51020"/>
                  </a:lnTo>
                  <a:lnTo>
                    <a:pt x="2351528" y="48729"/>
                  </a:lnTo>
                  <a:lnTo>
                    <a:pt x="2398658" y="11468"/>
                  </a:lnTo>
                  <a:lnTo>
                    <a:pt x="2401015" y="9459"/>
                  </a:lnTo>
                  <a:lnTo>
                    <a:pt x="2401015" y="5734"/>
                  </a:lnTo>
                  <a:lnTo>
                    <a:pt x="2399248" y="2867"/>
                  </a:lnTo>
                  <a:lnTo>
                    <a:pt x="2397245" y="575"/>
                  </a:lnTo>
                  <a:lnTo>
                    <a:pt x="239359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0" name="object 3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691883" y="2826920"/>
              <a:ext cx="91097" cy="74536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804855" y="2910913"/>
              <a:ext cx="94253" cy="70527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924143" y="2986305"/>
              <a:ext cx="95984" cy="65943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3053906" y="3058694"/>
              <a:ext cx="1593215" cy="200660"/>
            </a:xfrm>
            <a:custGeom>
              <a:avLst/>
              <a:gdLst/>
              <a:ahLst/>
              <a:cxnLst/>
              <a:rect l="l" t="t" r="r" b="b"/>
              <a:pathLst>
                <a:path w="1593214" h="200660">
                  <a:moveTo>
                    <a:pt x="9779" y="1433"/>
                  </a:moveTo>
                  <a:lnTo>
                    <a:pt x="75891" y="34393"/>
                  </a:lnTo>
                  <a:lnTo>
                    <a:pt x="83078" y="37260"/>
                  </a:lnTo>
                  <a:lnTo>
                    <a:pt x="86260" y="38988"/>
                  </a:lnTo>
                  <a:lnTo>
                    <a:pt x="87674" y="41855"/>
                  </a:lnTo>
                  <a:lnTo>
                    <a:pt x="86260" y="44722"/>
                  </a:lnTo>
                  <a:lnTo>
                    <a:pt x="85317" y="47589"/>
                  </a:lnTo>
                  <a:lnTo>
                    <a:pt x="81664" y="49022"/>
                  </a:lnTo>
                  <a:lnTo>
                    <a:pt x="78719" y="48447"/>
                  </a:lnTo>
                  <a:lnTo>
                    <a:pt x="70707" y="45580"/>
                  </a:lnTo>
                  <a:lnTo>
                    <a:pt x="3735" y="12608"/>
                  </a:lnTo>
                  <a:lnTo>
                    <a:pt x="860" y="11174"/>
                  </a:lnTo>
                  <a:lnTo>
                    <a:pt x="0" y="7449"/>
                  </a:lnTo>
                  <a:lnTo>
                    <a:pt x="1732" y="4582"/>
                  </a:lnTo>
                  <a:lnTo>
                    <a:pt x="3169" y="1433"/>
                  </a:lnTo>
                  <a:lnTo>
                    <a:pt x="6610" y="0"/>
                  </a:lnTo>
                  <a:lnTo>
                    <a:pt x="9779" y="1433"/>
                  </a:lnTo>
                  <a:close/>
                </a:path>
                <a:path w="1593214" h="200660">
                  <a:moveTo>
                    <a:pt x="137396" y="58482"/>
                  </a:moveTo>
                  <a:lnTo>
                    <a:pt x="214690" y="87999"/>
                  </a:lnTo>
                  <a:lnTo>
                    <a:pt x="217635" y="89432"/>
                  </a:lnTo>
                  <a:lnTo>
                    <a:pt x="219049" y="92875"/>
                  </a:lnTo>
                  <a:lnTo>
                    <a:pt x="217635" y="96024"/>
                  </a:lnTo>
                  <a:lnTo>
                    <a:pt x="216104" y="98891"/>
                  </a:lnTo>
                  <a:lnTo>
                    <a:pt x="213276" y="100325"/>
                  </a:lnTo>
                  <a:lnTo>
                    <a:pt x="210094" y="98891"/>
                  </a:lnTo>
                  <a:lnTo>
                    <a:pt x="133036" y="69656"/>
                  </a:lnTo>
                  <a:lnTo>
                    <a:pt x="130209" y="68223"/>
                  </a:lnTo>
                  <a:lnTo>
                    <a:pt x="128795" y="65074"/>
                  </a:lnTo>
                  <a:lnTo>
                    <a:pt x="130209" y="61631"/>
                  </a:lnTo>
                  <a:lnTo>
                    <a:pt x="130798" y="58482"/>
                  </a:lnTo>
                  <a:lnTo>
                    <a:pt x="134568" y="57048"/>
                  </a:lnTo>
                  <a:lnTo>
                    <a:pt x="137396" y="58482"/>
                  </a:lnTo>
                  <a:close/>
                </a:path>
                <a:path w="1593214" h="200660">
                  <a:moveTo>
                    <a:pt x="269596" y="105490"/>
                  </a:moveTo>
                  <a:lnTo>
                    <a:pt x="349246" y="128137"/>
                  </a:lnTo>
                  <a:lnTo>
                    <a:pt x="352074" y="129571"/>
                  </a:lnTo>
                  <a:lnTo>
                    <a:pt x="353606" y="132437"/>
                  </a:lnTo>
                  <a:lnTo>
                    <a:pt x="352663" y="135304"/>
                  </a:lnTo>
                  <a:lnTo>
                    <a:pt x="352074" y="138456"/>
                  </a:lnTo>
                  <a:lnTo>
                    <a:pt x="349246" y="140463"/>
                  </a:lnTo>
                  <a:lnTo>
                    <a:pt x="345476" y="139890"/>
                  </a:lnTo>
                  <a:lnTo>
                    <a:pt x="266769" y="116383"/>
                  </a:lnTo>
                  <a:lnTo>
                    <a:pt x="262998" y="115523"/>
                  </a:lnTo>
                  <a:lnTo>
                    <a:pt x="261584" y="112657"/>
                  </a:lnTo>
                  <a:lnTo>
                    <a:pt x="262409" y="109790"/>
                  </a:lnTo>
                  <a:lnTo>
                    <a:pt x="262998" y="106064"/>
                  </a:lnTo>
                  <a:lnTo>
                    <a:pt x="266769" y="104630"/>
                  </a:lnTo>
                  <a:lnTo>
                    <a:pt x="269596" y="105490"/>
                  </a:lnTo>
                  <a:close/>
                </a:path>
                <a:path w="1593214" h="200660">
                  <a:moveTo>
                    <a:pt x="405567" y="142757"/>
                  </a:moveTo>
                  <a:lnTo>
                    <a:pt x="485806" y="158811"/>
                  </a:lnTo>
                  <a:lnTo>
                    <a:pt x="489459" y="159671"/>
                  </a:lnTo>
                  <a:lnTo>
                    <a:pt x="491580" y="162537"/>
                  </a:lnTo>
                  <a:lnTo>
                    <a:pt x="490991" y="165404"/>
                  </a:lnTo>
                  <a:lnTo>
                    <a:pt x="490048" y="168271"/>
                  </a:lnTo>
                  <a:lnTo>
                    <a:pt x="487220" y="170563"/>
                  </a:lnTo>
                  <a:lnTo>
                    <a:pt x="483450" y="169703"/>
                  </a:lnTo>
                  <a:lnTo>
                    <a:pt x="402739" y="153650"/>
                  </a:lnTo>
                  <a:lnTo>
                    <a:pt x="399794" y="153077"/>
                  </a:lnTo>
                  <a:lnTo>
                    <a:pt x="397555" y="149924"/>
                  </a:lnTo>
                  <a:lnTo>
                    <a:pt x="398380" y="147057"/>
                  </a:lnTo>
                  <a:lnTo>
                    <a:pt x="398969" y="144191"/>
                  </a:lnTo>
                  <a:lnTo>
                    <a:pt x="402150" y="141897"/>
                  </a:lnTo>
                  <a:lnTo>
                    <a:pt x="405567" y="142757"/>
                  </a:lnTo>
                  <a:close/>
                </a:path>
                <a:path w="1593214" h="200660">
                  <a:moveTo>
                    <a:pt x="542952" y="169703"/>
                  </a:moveTo>
                  <a:lnTo>
                    <a:pt x="625430" y="178590"/>
                  </a:lnTo>
                  <a:lnTo>
                    <a:pt x="628375" y="178590"/>
                  </a:lnTo>
                  <a:lnTo>
                    <a:pt x="630378" y="181457"/>
                  </a:lnTo>
                  <a:lnTo>
                    <a:pt x="630378" y="185183"/>
                  </a:lnTo>
                  <a:lnTo>
                    <a:pt x="629789" y="188050"/>
                  </a:lnTo>
                  <a:lnTo>
                    <a:pt x="626962" y="190344"/>
                  </a:lnTo>
                  <a:lnTo>
                    <a:pt x="623780" y="190344"/>
                  </a:lnTo>
                  <a:lnTo>
                    <a:pt x="542363" y="180884"/>
                  </a:lnTo>
                  <a:lnTo>
                    <a:pt x="538710" y="180884"/>
                  </a:lnTo>
                  <a:lnTo>
                    <a:pt x="536354" y="177730"/>
                  </a:lnTo>
                  <a:lnTo>
                    <a:pt x="536354" y="174864"/>
                  </a:lnTo>
                  <a:lnTo>
                    <a:pt x="537178" y="171137"/>
                  </a:lnTo>
                  <a:lnTo>
                    <a:pt x="540124" y="169130"/>
                  </a:lnTo>
                  <a:lnTo>
                    <a:pt x="542952" y="169703"/>
                  </a:lnTo>
                  <a:close/>
                </a:path>
                <a:path w="1593214" h="200660">
                  <a:moveTo>
                    <a:pt x="683282" y="185183"/>
                  </a:moveTo>
                  <a:lnTo>
                    <a:pt x="695065" y="186617"/>
                  </a:lnTo>
                  <a:lnTo>
                    <a:pt x="764935" y="187190"/>
                  </a:lnTo>
                  <a:lnTo>
                    <a:pt x="768588" y="187190"/>
                  </a:lnTo>
                  <a:lnTo>
                    <a:pt x="770944" y="190344"/>
                  </a:lnTo>
                  <a:lnTo>
                    <a:pt x="770944" y="193210"/>
                  </a:lnTo>
                  <a:lnTo>
                    <a:pt x="770944" y="196937"/>
                  </a:lnTo>
                  <a:lnTo>
                    <a:pt x="767763" y="198943"/>
                  </a:lnTo>
                  <a:lnTo>
                    <a:pt x="764935" y="198943"/>
                  </a:lnTo>
                  <a:lnTo>
                    <a:pt x="694476" y="197511"/>
                  </a:lnTo>
                  <a:lnTo>
                    <a:pt x="681868" y="196937"/>
                  </a:lnTo>
                  <a:lnTo>
                    <a:pt x="678923" y="196077"/>
                  </a:lnTo>
                  <a:lnTo>
                    <a:pt x="676684" y="193210"/>
                  </a:lnTo>
                  <a:lnTo>
                    <a:pt x="676684" y="190344"/>
                  </a:lnTo>
                  <a:lnTo>
                    <a:pt x="677509" y="186617"/>
                  </a:lnTo>
                  <a:lnTo>
                    <a:pt x="680337" y="184323"/>
                  </a:lnTo>
                  <a:lnTo>
                    <a:pt x="683282" y="185183"/>
                  </a:lnTo>
                  <a:close/>
                </a:path>
                <a:path w="1593214" h="200660">
                  <a:moveTo>
                    <a:pt x="823848" y="188911"/>
                  </a:moveTo>
                  <a:lnTo>
                    <a:pt x="854601" y="188911"/>
                  </a:lnTo>
                  <a:lnTo>
                    <a:pt x="905148" y="185757"/>
                  </a:lnTo>
                  <a:lnTo>
                    <a:pt x="908918" y="185757"/>
                  </a:lnTo>
                  <a:lnTo>
                    <a:pt x="911746" y="188050"/>
                  </a:lnTo>
                  <a:lnTo>
                    <a:pt x="911746" y="190917"/>
                  </a:lnTo>
                  <a:lnTo>
                    <a:pt x="911746" y="194644"/>
                  </a:lnTo>
                  <a:lnTo>
                    <a:pt x="909743" y="197511"/>
                  </a:lnTo>
                  <a:lnTo>
                    <a:pt x="905973" y="197511"/>
                  </a:lnTo>
                  <a:lnTo>
                    <a:pt x="853658" y="200377"/>
                  </a:lnTo>
                  <a:lnTo>
                    <a:pt x="823848" y="200377"/>
                  </a:lnTo>
                  <a:lnTo>
                    <a:pt x="820667" y="200377"/>
                  </a:lnTo>
                  <a:lnTo>
                    <a:pt x="817721" y="197511"/>
                  </a:lnTo>
                  <a:lnTo>
                    <a:pt x="817721" y="194644"/>
                  </a:lnTo>
                  <a:lnTo>
                    <a:pt x="817721" y="190917"/>
                  </a:lnTo>
                  <a:lnTo>
                    <a:pt x="820667" y="188911"/>
                  </a:lnTo>
                  <a:lnTo>
                    <a:pt x="823848" y="188911"/>
                  </a:lnTo>
                  <a:close/>
                </a:path>
                <a:path w="1593214" h="200660">
                  <a:moveTo>
                    <a:pt x="964061" y="182317"/>
                  </a:moveTo>
                  <a:lnTo>
                    <a:pt x="1012605" y="178590"/>
                  </a:lnTo>
                  <a:lnTo>
                    <a:pt x="1045714" y="174291"/>
                  </a:lnTo>
                  <a:lnTo>
                    <a:pt x="1048542" y="173430"/>
                  </a:lnTo>
                  <a:lnTo>
                    <a:pt x="1051487" y="175724"/>
                  </a:lnTo>
                  <a:lnTo>
                    <a:pt x="1052312" y="178590"/>
                  </a:lnTo>
                  <a:lnTo>
                    <a:pt x="1052901" y="182317"/>
                  </a:lnTo>
                  <a:lnTo>
                    <a:pt x="1050663" y="185183"/>
                  </a:lnTo>
                  <a:lnTo>
                    <a:pt x="1047128" y="185757"/>
                  </a:lnTo>
                  <a:lnTo>
                    <a:pt x="1013194" y="190344"/>
                  </a:lnTo>
                  <a:lnTo>
                    <a:pt x="964650" y="193783"/>
                  </a:lnTo>
                  <a:lnTo>
                    <a:pt x="961822" y="193783"/>
                  </a:lnTo>
                  <a:lnTo>
                    <a:pt x="958876" y="191776"/>
                  </a:lnTo>
                  <a:lnTo>
                    <a:pt x="958876" y="188050"/>
                  </a:lnTo>
                  <a:lnTo>
                    <a:pt x="958052" y="185183"/>
                  </a:lnTo>
                  <a:lnTo>
                    <a:pt x="961233" y="182317"/>
                  </a:lnTo>
                  <a:lnTo>
                    <a:pt x="964061" y="182317"/>
                  </a:lnTo>
                  <a:close/>
                </a:path>
                <a:path w="1593214" h="200660">
                  <a:moveTo>
                    <a:pt x="1103448" y="165404"/>
                  </a:moveTo>
                  <a:lnTo>
                    <a:pt x="1169902" y="155943"/>
                  </a:lnTo>
                  <a:lnTo>
                    <a:pt x="1184512" y="152217"/>
                  </a:lnTo>
                  <a:lnTo>
                    <a:pt x="1187458" y="151357"/>
                  </a:lnTo>
                  <a:lnTo>
                    <a:pt x="1190286" y="153077"/>
                  </a:lnTo>
                  <a:lnTo>
                    <a:pt x="1191111" y="156517"/>
                  </a:lnTo>
                  <a:lnTo>
                    <a:pt x="1191700" y="159671"/>
                  </a:lnTo>
                  <a:lnTo>
                    <a:pt x="1190286" y="162537"/>
                  </a:lnTo>
                  <a:lnTo>
                    <a:pt x="1187458" y="163110"/>
                  </a:lnTo>
                  <a:lnTo>
                    <a:pt x="1171905" y="166837"/>
                  </a:lnTo>
                  <a:lnTo>
                    <a:pt x="1105216" y="177157"/>
                  </a:lnTo>
                  <a:lnTo>
                    <a:pt x="1102035" y="177157"/>
                  </a:lnTo>
                  <a:lnTo>
                    <a:pt x="1099207" y="174864"/>
                  </a:lnTo>
                  <a:lnTo>
                    <a:pt x="1098618" y="171997"/>
                  </a:lnTo>
                  <a:lnTo>
                    <a:pt x="1098618" y="169130"/>
                  </a:lnTo>
                  <a:lnTo>
                    <a:pt x="1100621" y="166264"/>
                  </a:lnTo>
                  <a:lnTo>
                    <a:pt x="1103448" y="165404"/>
                  </a:lnTo>
                  <a:close/>
                </a:path>
                <a:path w="1593214" h="200660">
                  <a:moveTo>
                    <a:pt x="1240833" y="138456"/>
                  </a:moveTo>
                  <a:lnTo>
                    <a:pt x="1321072" y="118677"/>
                  </a:lnTo>
                  <a:lnTo>
                    <a:pt x="1324843" y="117817"/>
                  </a:lnTo>
                  <a:lnTo>
                    <a:pt x="1327671" y="120110"/>
                  </a:lnTo>
                  <a:lnTo>
                    <a:pt x="1328613" y="122976"/>
                  </a:lnTo>
                  <a:lnTo>
                    <a:pt x="1329085" y="125843"/>
                  </a:lnTo>
                  <a:lnTo>
                    <a:pt x="1326846" y="128711"/>
                  </a:lnTo>
                  <a:lnTo>
                    <a:pt x="1324018" y="130143"/>
                  </a:lnTo>
                  <a:lnTo>
                    <a:pt x="1244014" y="149350"/>
                  </a:lnTo>
                  <a:lnTo>
                    <a:pt x="1240833" y="149924"/>
                  </a:lnTo>
                  <a:lnTo>
                    <a:pt x="1238005" y="148490"/>
                  </a:lnTo>
                  <a:lnTo>
                    <a:pt x="1237416" y="145051"/>
                  </a:lnTo>
                  <a:lnTo>
                    <a:pt x="1236591" y="141897"/>
                  </a:lnTo>
                  <a:lnTo>
                    <a:pt x="1238005" y="139030"/>
                  </a:lnTo>
                  <a:lnTo>
                    <a:pt x="1240833" y="138456"/>
                  </a:lnTo>
                  <a:close/>
                </a:path>
                <a:path w="1593214" h="200660">
                  <a:moveTo>
                    <a:pt x="1376804" y="100325"/>
                  </a:moveTo>
                  <a:lnTo>
                    <a:pt x="1454804" y="73957"/>
                  </a:lnTo>
                  <a:lnTo>
                    <a:pt x="1457632" y="73099"/>
                  </a:lnTo>
                  <a:lnTo>
                    <a:pt x="1460814" y="74815"/>
                  </a:lnTo>
                  <a:lnTo>
                    <a:pt x="1462227" y="77682"/>
                  </a:lnTo>
                  <a:lnTo>
                    <a:pt x="1462817" y="81407"/>
                  </a:lnTo>
                  <a:lnTo>
                    <a:pt x="1461403" y="84274"/>
                  </a:lnTo>
                  <a:lnTo>
                    <a:pt x="1458457" y="85707"/>
                  </a:lnTo>
                  <a:lnTo>
                    <a:pt x="1380574" y="111224"/>
                  </a:lnTo>
                  <a:lnTo>
                    <a:pt x="1376804" y="112657"/>
                  </a:lnTo>
                  <a:lnTo>
                    <a:pt x="1373976" y="110650"/>
                  </a:lnTo>
                  <a:lnTo>
                    <a:pt x="1372562" y="107496"/>
                  </a:lnTo>
                  <a:lnTo>
                    <a:pt x="1371620" y="104630"/>
                  </a:lnTo>
                  <a:lnTo>
                    <a:pt x="1373151" y="101763"/>
                  </a:lnTo>
                  <a:lnTo>
                    <a:pt x="1376804" y="100325"/>
                  </a:lnTo>
                  <a:close/>
                </a:path>
                <a:path w="1593214" h="200660">
                  <a:moveTo>
                    <a:pt x="1508533" y="52747"/>
                  </a:moveTo>
                  <a:lnTo>
                    <a:pt x="1584059" y="19776"/>
                  </a:lnTo>
                  <a:lnTo>
                    <a:pt x="1587005" y="19200"/>
                  </a:lnTo>
                  <a:lnTo>
                    <a:pt x="1590657" y="19776"/>
                  </a:lnTo>
                  <a:lnTo>
                    <a:pt x="1591600" y="22643"/>
                  </a:lnTo>
                  <a:lnTo>
                    <a:pt x="1593014" y="26368"/>
                  </a:lnTo>
                  <a:lnTo>
                    <a:pt x="1591600" y="29235"/>
                  </a:lnTo>
                  <a:lnTo>
                    <a:pt x="1588419" y="30962"/>
                  </a:lnTo>
                  <a:lnTo>
                    <a:pt x="1513717" y="63640"/>
                  </a:lnTo>
                  <a:lnTo>
                    <a:pt x="1510536" y="65074"/>
                  </a:lnTo>
                  <a:lnTo>
                    <a:pt x="1507119" y="63640"/>
                  </a:lnTo>
                  <a:lnTo>
                    <a:pt x="1505587" y="60773"/>
                  </a:lnTo>
                  <a:lnTo>
                    <a:pt x="1503938" y="57906"/>
                  </a:lnTo>
                  <a:lnTo>
                    <a:pt x="1505587" y="54181"/>
                  </a:lnTo>
                  <a:lnTo>
                    <a:pt x="1508533" y="52747"/>
                  </a:lnTo>
                  <a:close/>
                </a:path>
              </a:pathLst>
            </a:custGeom>
            <a:ln w="1176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4" name="object 34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681218" y="3007515"/>
              <a:ext cx="97185" cy="64509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4804934" y="2934414"/>
              <a:ext cx="93063" cy="69669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4922405" y="2852430"/>
              <a:ext cx="90237" cy="73972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5039280" y="2783204"/>
              <a:ext cx="59690" cy="51435"/>
            </a:xfrm>
            <a:custGeom>
              <a:avLst/>
              <a:gdLst/>
              <a:ahLst/>
              <a:cxnLst/>
              <a:rect l="l" t="t" r="r" b="b"/>
              <a:pathLst>
                <a:path w="59689" h="51435">
                  <a:moveTo>
                    <a:pt x="2827" y="40127"/>
                  </a:moveTo>
                  <a:lnTo>
                    <a:pt x="49133" y="2009"/>
                  </a:lnTo>
                  <a:lnTo>
                    <a:pt x="52078" y="0"/>
                  </a:lnTo>
                  <a:lnTo>
                    <a:pt x="55731" y="575"/>
                  </a:lnTo>
                  <a:lnTo>
                    <a:pt x="57734" y="2867"/>
                  </a:lnTo>
                  <a:lnTo>
                    <a:pt x="59501" y="5734"/>
                  </a:lnTo>
                  <a:lnTo>
                    <a:pt x="59501" y="9459"/>
                  </a:lnTo>
                  <a:lnTo>
                    <a:pt x="57145" y="11468"/>
                  </a:lnTo>
                  <a:lnTo>
                    <a:pt x="10015" y="48729"/>
                  </a:lnTo>
                  <a:lnTo>
                    <a:pt x="8012" y="51020"/>
                  </a:lnTo>
                  <a:lnTo>
                    <a:pt x="4359" y="51020"/>
                  </a:lnTo>
                  <a:lnTo>
                    <a:pt x="2003" y="48165"/>
                  </a:lnTo>
                  <a:lnTo>
                    <a:pt x="0" y="45862"/>
                  </a:lnTo>
                  <a:lnTo>
                    <a:pt x="589" y="42430"/>
                  </a:lnTo>
                  <a:lnTo>
                    <a:pt x="2827" y="40127"/>
                  </a:lnTo>
                  <a:close/>
                </a:path>
              </a:pathLst>
            </a:custGeom>
            <a:ln w="117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8" name="object 38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2666014" y="997743"/>
              <a:ext cx="2633764" cy="511384"/>
            </a:xfrm>
            <a:prstGeom prst="rect">
              <a:avLst/>
            </a:prstGeom>
          </p:spPr>
        </p:pic>
      </p:grpSp>
      <p:sp>
        <p:nvSpPr>
          <p:cNvPr id="39" name="object 39"/>
          <p:cNvSpPr txBox="1"/>
          <p:nvPr/>
        </p:nvSpPr>
        <p:spPr>
          <a:xfrm>
            <a:off x="2538762" y="936704"/>
            <a:ext cx="455930" cy="20827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 spc="-20">
                <a:latin typeface="Arial MT"/>
                <a:cs typeface="Arial MT"/>
              </a:rPr>
              <a:t>Target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5230653" y="936704"/>
            <a:ext cx="435609" cy="20827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 spc="15">
                <a:latin typeface="Arial MT"/>
                <a:cs typeface="Arial MT"/>
              </a:rPr>
              <a:t>M</a:t>
            </a:r>
            <a:r>
              <a:rPr dirty="0" sz="1200" spc="-25">
                <a:latin typeface="Arial MT"/>
                <a:cs typeface="Arial MT"/>
              </a:rPr>
              <a:t>ode</a:t>
            </a:r>
            <a:r>
              <a:rPr dirty="0" sz="1200">
                <a:latin typeface="Arial MT"/>
                <a:cs typeface="Arial MT"/>
              </a:rPr>
              <a:t>l</a:t>
            </a:r>
            <a:endParaRPr sz="1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30604" y="887983"/>
            <a:ext cx="5629910" cy="876300"/>
          </a:xfrm>
          <a:prstGeom prst="rect">
            <a:avLst/>
          </a:prstGeom>
        </p:spPr>
        <p:txBody>
          <a:bodyPr wrap="square" lIns="0" tIns="7620" rIns="0" bIns="0" rtlCol="0" vert="horz">
            <a:spAutoFit/>
          </a:bodyPr>
          <a:lstStyle/>
          <a:p>
            <a:pPr marL="240665" marR="222885" indent="-228600">
              <a:lnSpc>
                <a:spcPct val="102600"/>
              </a:lnSpc>
              <a:spcBef>
                <a:spcPts val="60"/>
              </a:spcBef>
              <a:buFont typeface="Microsoft Sans Serif"/>
              <a:buChar char=""/>
              <a:tabLst>
                <a:tab pos="240665" algn="l"/>
                <a:tab pos="241300" algn="l"/>
              </a:tabLst>
            </a:pPr>
            <a:r>
              <a:rPr dirty="0" sz="1200" spc="-5" b="1">
                <a:latin typeface="Times New Roman"/>
                <a:cs typeface="Times New Roman"/>
              </a:rPr>
              <a:t>Static</a:t>
            </a:r>
            <a:r>
              <a:rPr dirty="0" sz="1200" spc="10" b="1">
                <a:latin typeface="Times New Roman"/>
                <a:cs typeface="Times New Roman"/>
              </a:rPr>
              <a:t> </a:t>
            </a:r>
            <a:r>
              <a:rPr dirty="0" sz="1200" spc="-5" b="1">
                <a:latin typeface="Times New Roman"/>
                <a:cs typeface="Times New Roman"/>
              </a:rPr>
              <a:t>model</a:t>
            </a:r>
            <a:r>
              <a:rPr dirty="0" sz="1200" spc="10" b="1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examples</a:t>
            </a:r>
            <a:r>
              <a:rPr dirty="0" sz="1200" spc="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include </a:t>
            </a:r>
            <a:r>
              <a:rPr dirty="0" sz="1200" spc="-5">
                <a:latin typeface="Times New Roman"/>
                <a:cs typeface="Times New Roman"/>
              </a:rPr>
              <a:t>object</a:t>
            </a:r>
            <a:r>
              <a:rPr dirty="0" sz="1200" spc="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class</a:t>
            </a:r>
            <a:r>
              <a:rPr dirty="0" sz="1200" spc="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models,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component</a:t>
            </a:r>
            <a:r>
              <a:rPr dirty="0" sz="1200" spc="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and</a:t>
            </a:r>
            <a:r>
              <a:rPr dirty="0" sz="1200" spc="1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deployment </a:t>
            </a:r>
            <a:r>
              <a:rPr dirty="0" sz="1200" spc="-28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diagrams, </a:t>
            </a:r>
            <a:r>
              <a:rPr dirty="0" sz="1200">
                <a:latin typeface="Times New Roman"/>
                <a:cs typeface="Times New Roman"/>
              </a:rPr>
              <a:t>and data</a:t>
            </a:r>
            <a:r>
              <a:rPr dirty="0" sz="1200" spc="-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structure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diagrams.</a:t>
            </a:r>
            <a:endParaRPr sz="1200">
              <a:latin typeface="Times New Roman"/>
              <a:cs typeface="Times New Roman"/>
            </a:endParaRPr>
          </a:p>
          <a:p>
            <a:pPr marL="240665" marR="5080" indent="-228600">
              <a:lnSpc>
                <a:spcPct val="102499"/>
              </a:lnSpc>
              <a:spcBef>
                <a:spcPts val="830"/>
              </a:spcBef>
              <a:buFont typeface="Microsoft Sans Serif"/>
              <a:buChar char=""/>
              <a:tabLst>
                <a:tab pos="240665" algn="l"/>
                <a:tab pos="241300" algn="l"/>
              </a:tabLst>
            </a:pPr>
            <a:r>
              <a:rPr dirty="0" sz="1200" spc="-5" b="1">
                <a:latin typeface="Times New Roman"/>
                <a:cs typeface="Times New Roman"/>
              </a:rPr>
              <a:t>Dynamic</a:t>
            </a:r>
            <a:r>
              <a:rPr dirty="0" sz="1200" spc="10" b="1">
                <a:latin typeface="Times New Roman"/>
                <a:cs typeface="Times New Roman"/>
              </a:rPr>
              <a:t> </a:t>
            </a:r>
            <a:r>
              <a:rPr dirty="0" sz="1200" spc="-5" b="1">
                <a:latin typeface="Times New Roman"/>
                <a:cs typeface="Times New Roman"/>
              </a:rPr>
              <a:t>model</a:t>
            </a:r>
            <a:r>
              <a:rPr dirty="0" sz="1200" spc="15" b="1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examples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include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use</a:t>
            </a:r>
            <a:r>
              <a:rPr dirty="0" sz="1200">
                <a:latin typeface="Times New Roman"/>
                <a:cs typeface="Times New Roman"/>
              </a:rPr>
              <a:t> case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descriptions,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interaction</a:t>
            </a:r>
            <a:r>
              <a:rPr dirty="0" sz="1200" spc="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diagrams,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state </a:t>
            </a:r>
            <a:r>
              <a:rPr dirty="0" sz="1200" spc="-28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diagrams.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2004" y="3593719"/>
            <a:ext cx="5922645" cy="31864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 b="1">
                <a:latin typeface="Times New Roman"/>
                <a:cs typeface="Times New Roman"/>
              </a:rPr>
              <a:t>Introduction </a:t>
            </a:r>
            <a:r>
              <a:rPr dirty="0" sz="1200" b="1">
                <a:latin typeface="Times New Roman"/>
                <a:cs typeface="Times New Roman"/>
              </a:rPr>
              <a:t>to</a:t>
            </a:r>
            <a:r>
              <a:rPr dirty="0" sz="1200" spc="-5" b="1">
                <a:latin typeface="Times New Roman"/>
                <a:cs typeface="Times New Roman"/>
              </a:rPr>
              <a:t> the</a:t>
            </a:r>
            <a:r>
              <a:rPr dirty="0" sz="1200" spc="-10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Discipline</a:t>
            </a:r>
            <a:r>
              <a:rPr dirty="0" sz="1200" spc="-10" b="1">
                <a:latin typeface="Times New Roman"/>
                <a:cs typeface="Times New Roman"/>
              </a:rPr>
              <a:t> of</a:t>
            </a:r>
            <a:r>
              <a:rPr dirty="0" sz="1200" b="1">
                <a:latin typeface="Times New Roman"/>
                <a:cs typeface="Times New Roman"/>
              </a:rPr>
              <a:t> Design: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200" spc="-5" b="1">
                <a:latin typeface="Times New Roman"/>
                <a:cs typeface="Times New Roman"/>
              </a:rPr>
              <a:t>Varieties</a:t>
            </a:r>
            <a:r>
              <a:rPr dirty="0" sz="1200" spc="-15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of</a:t>
            </a:r>
            <a:r>
              <a:rPr dirty="0" sz="1200" spc="-10" b="1">
                <a:latin typeface="Times New Roman"/>
                <a:cs typeface="Times New Roman"/>
              </a:rPr>
              <a:t> </a:t>
            </a:r>
            <a:r>
              <a:rPr dirty="0" sz="1200" spc="-5" b="1">
                <a:latin typeface="Times New Roman"/>
                <a:cs typeface="Times New Roman"/>
              </a:rPr>
              <a:t>Design:</a:t>
            </a:r>
            <a:endParaRPr sz="1200">
              <a:latin typeface="Times New Roman"/>
              <a:cs typeface="Times New Roman"/>
            </a:endParaRPr>
          </a:p>
          <a:p>
            <a:pPr marL="469265" marR="86360" indent="-228600">
              <a:lnSpc>
                <a:spcPct val="102499"/>
              </a:lnSpc>
              <a:spcBef>
                <a:spcPts val="800"/>
              </a:spcBef>
              <a:buFont typeface="Microsoft Sans Serif"/>
              <a:buChar char=""/>
              <a:tabLst>
                <a:tab pos="469265" algn="l"/>
                <a:tab pos="469900" algn="l"/>
              </a:tabLst>
            </a:pPr>
            <a:r>
              <a:rPr dirty="0" sz="1200" spc="-5" b="1">
                <a:latin typeface="Times New Roman"/>
                <a:cs typeface="Times New Roman"/>
              </a:rPr>
              <a:t>Product</a:t>
            </a:r>
            <a:r>
              <a:rPr dirty="0" sz="1200" spc="5" b="1">
                <a:latin typeface="Times New Roman"/>
                <a:cs typeface="Times New Roman"/>
              </a:rPr>
              <a:t> </a:t>
            </a:r>
            <a:r>
              <a:rPr dirty="0" sz="1200" spc="-5" b="1">
                <a:latin typeface="Times New Roman"/>
                <a:cs typeface="Times New Roman"/>
              </a:rPr>
              <a:t>design</a:t>
            </a:r>
            <a:r>
              <a:rPr dirty="0" sz="1200" spc="10" b="1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is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discipline that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arose </a:t>
            </a:r>
            <a:r>
              <a:rPr dirty="0" sz="1200">
                <a:latin typeface="Times New Roman"/>
                <a:cs typeface="Times New Roman"/>
              </a:rPr>
              <a:t>during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</a:t>
            </a:r>
            <a:r>
              <a:rPr dirty="0" sz="1200" spc="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Industrial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Revolution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is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now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an </a:t>
            </a:r>
            <a:r>
              <a:rPr dirty="0" sz="1200" spc="-28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established</a:t>
            </a:r>
            <a:r>
              <a:rPr dirty="0" sz="1200" spc="1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ﬁeld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whose practitioners</a:t>
            </a:r>
            <a:r>
              <a:rPr dirty="0" sz="1200">
                <a:latin typeface="Times New Roman"/>
                <a:cs typeface="Times New Roman"/>
              </a:rPr>
              <a:t> specify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products.</a:t>
            </a:r>
            <a:endParaRPr sz="1200">
              <a:latin typeface="Times New Roman"/>
              <a:cs typeface="Times New Roman"/>
            </a:endParaRPr>
          </a:p>
          <a:p>
            <a:pPr marL="469265" marR="370840" indent="-228600">
              <a:lnSpc>
                <a:spcPct val="103299"/>
              </a:lnSpc>
              <a:spcBef>
                <a:spcPts val="805"/>
              </a:spcBef>
              <a:buFont typeface="Microsoft Sans Serif"/>
              <a:buChar char=""/>
              <a:tabLst>
                <a:tab pos="469265" algn="l"/>
                <a:tab pos="469900" algn="l"/>
              </a:tabLst>
            </a:pPr>
            <a:r>
              <a:rPr dirty="0" sz="1200">
                <a:latin typeface="Times New Roman"/>
                <a:cs typeface="Times New Roman"/>
              </a:rPr>
              <a:t>The major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issues</a:t>
            </a:r>
            <a:r>
              <a:rPr dirty="0" sz="1200" spc="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in</a:t>
            </a:r>
            <a:r>
              <a:rPr dirty="0" sz="1200" spc="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product</a:t>
            </a:r>
            <a:r>
              <a:rPr dirty="0" sz="1200" spc="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design</a:t>
            </a:r>
            <a:r>
              <a:rPr dirty="0" sz="1200" spc="2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are</a:t>
            </a:r>
            <a:r>
              <a:rPr dirty="0" sz="1200" spc="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aesthetics,</a:t>
            </a:r>
            <a:r>
              <a:rPr dirty="0" sz="1200" spc="2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product</a:t>
            </a:r>
            <a:r>
              <a:rPr dirty="0" sz="1200" spc="1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features</a:t>
            </a:r>
            <a:r>
              <a:rPr dirty="0" sz="1200" spc="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and</a:t>
            </a:r>
            <a:r>
              <a:rPr dirty="0" sz="1200" spc="2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capabilities, </a:t>
            </a:r>
            <a:r>
              <a:rPr dirty="0" sz="1200" spc="-28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usability,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manageability,</a:t>
            </a:r>
            <a:r>
              <a:rPr dirty="0" sz="1200" spc="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manufacturability,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and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operability.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buFont typeface="Microsoft Sans Serif"/>
              <a:buChar char=""/>
            </a:pPr>
            <a:endParaRPr sz="1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buFont typeface="Microsoft Sans Serif"/>
              <a:buChar char=""/>
            </a:pPr>
            <a:endParaRPr sz="1400">
              <a:latin typeface="Times New Roman"/>
              <a:cs typeface="Times New Roman"/>
            </a:endParaRPr>
          </a:p>
          <a:p>
            <a:pPr marL="469265" marR="34290" indent="-228600">
              <a:lnSpc>
                <a:spcPct val="102899"/>
              </a:lnSpc>
              <a:buFont typeface="Microsoft Sans Serif"/>
              <a:buChar char=""/>
              <a:tabLst>
                <a:tab pos="469265" algn="l"/>
                <a:tab pos="469900" algn="l"/>
              </a:tabLst>
            </a:pPr>
            <a:r>
              <a:rPr dirty="0" sz="1200" spc="-5" b="1">
                <a:latin typeface="Times New Roman"/>
                <a:cs typeface="Times New Roman"/>
              </a:rPr>
              <a:t>Engineering</a:t>
            </a:r>
            <a:r>
              <a:rPr dirty="0" sz="1200" spc="10" b="1">
                <a:latin typeface="Times New Roman"/>
                <a:cs typeface="Times New Roman"/>
              </a:rPr>
              <a:t> </a:t>
            </a:r>
            <a:r>
              <a:rPr dirty="0" sz="1200" spc="-5" b="1">
                <a:latin typeface="Times New Roman"/>
                <a:cs typeface="Times New Roman"/>
              </a:rPr>
              <a:t>design</a:t>
            </a:r>
            <a:r>
              <a:rPr dirty="0" sz="1200" spc="15" b="1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is</a:t>
            </a:r>
            <a:r>
              <a:rPr dirty="0" sz="1200" spc="1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the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activity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 spc="5">
                <a:latin typeface="Times New Roman"/>
                <a:cs typeface="Times New Roman"/>
              </a:rPr>
              <a:t>of</a:t>
            </a:r>
            <a:r>
              <a:rPr dirty="0" sz="1200" spc="1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specifying </a:t>
            </a:r>
            <a:r>
              <a:rPr dirty="0" sz="1200">
                <a:latin typeface="Times New Roman"/>
                <a:cs typeface="Times New Roman"/>
              </a:rPr>
              <a:t>the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technical</a:t>
            </a:r>
            <a:r>
              <a:rPr dirty="0" sz="1200" spc="1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mechanisms</a:t>
            </a:r>
            <a:r>
              <a:rPr dirty="0" sz="1200" spc="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workings </a:t>
            </a:r>
            <a:r>
              <a:rPr dirty="0" sz="1200" spc="-28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of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 product.</a:t>
            </a:r>
            <a:r>
              <a:rPr dirty="0" sz="1200" spc="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Engineers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apply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mathematical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scientiﬁc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principles</a:t>
            </a:r>
            <a:r>
              <a:rPr dirty="0" sz="1200" spc="2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and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techniques</a:t>
            </a:r>
            <a:r>
              <a:rPr dirty="0" sz="1200" spc="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to 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work</a:t>
            </a:r>
            <a:r>
              <a:rPr dirty="0" sz="1200">
                <a:latin typeface="Times New Roman"/>
                <a:cs typeface="Times New Roman"/>
              </a:rPr>
              <a:t> out the</a:t>
            </a:r>
            <a:r>
              <a:rPr dirty="0" sz="1200" spc="-5">
                <a:latin typeface="Times New Roman"/>
                <a:cs typeface="Times New Roman"/>
              </a:rPr>
              <a:t> technical</a:t>
            </a:r>
            <a:r>
              <a:rPr dirty="0" sz="1200">
                <a:latin typeface="Times New Roman"/>
                <a:cs typeface="Times New Roman"/>
              </a:rPr>
              <a:t> details of </a:t>
            </a:r>
            <a:r>
              <a:rPr dirty="0" sz="1200" spc="-5">
                <a:latin typeface="Times New Roman"/>
                <a:cs typeface="Times New Roman"/>
              </a:rPr>
              <a:t>complex</a:t>
            </a:r>
            <a:r>
              <a:rPr dirty="0" sz="1200" spc="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products.</a:t>
            </a:r>
            <a:endParaRPr sz="1200">
              <a:latin typeface="Times New Roman"/>
              <a:cs typeface="Times New Roman"/>
            </a:endParaRPr>
          </a:p>
          <a:p>
            <a:pPr marL="469265" marR="5080" indent="-228600">
              <a:lnSpc>
                <a:spcPct val="102499"/>
              </a:lnSpc>
              <a:spcBef>
                <a:spcPts val="830"/>
              </a:spcBef>
              <a:buFont typeface="Microsoft Sans Serif"/>
              <a:buChar char=""/>
              <a:tabLst>
                <a:tab pos="469265" algn="l"/>
                <a:tab pos="469900" algn="l"/>
              </a:tabLst>
            </a:pPr>
            <a:r>
              <a:rPr dirty="0" sz="1200" spc="-5">
                <a:latin typeface="Times New Roman"/>
                <a:cs typeface="Times New Roman"/>
              </a:rPr>
              <a:t>Product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designers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and</a:t>
            </a:r>
            <a:r>
              <a:rPr dirty="0" sz="1200" spc="2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engineers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often</a:t>
            </a:r>
            <a:r>
              <a:rPr dirty="0" sz="1200" spc="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work</a:t>
            </a:r>
            <a:r>
              <a:rPr dirty="0" sz="1200" spc="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together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in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design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teams</a:t>
            </a:r>
            <a:r>
              <a:rPr dirty="0" sz="1200" spc="30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to</a:t>
            </a:r>
            <a:r>
              <a:rPr dirty="0" sz="1200" spc="5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specify</a:t>
            </a:r>
            <a:r>
              <a:rPr dirty="0" sz="1200" spc="5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large</a:t>
            </a:r>
            <a:r>
              <a:rPr dirty="0" sz="1200" spc="5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and </a:t>
            </a:r>
            <a:r>
              <a:rPr dirty="0" sz="1200" spc="-285" i="1">
                <a:latin typeface="Times New Roman"/>
                <a:cs typeface="Times New Roman"/>
              </a:rPr>
              <a:t> </a:t>
            </a:r>
            <a:r>
              <a:rPr dirty="0" sz="1200" spc="-5" i="1">
                <a:latin typeface="Times New Roman"/>
                <a:cs typeface="Times New Roman"/>
              </a:rPr>
              <a:t>complex</a:t>
            </a:r>
            <a:r>
              <a:rPr dirty="0" sz="1200" spc="-10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products.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30604" y="7447026"/>
            <a:ext cx="5332730" cy="15589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78435">
              <a:lnSpc>
                <a:spcPct val="100000"/>
              </a:lnSpc>
              <a:spcBef>
                <a:spcPts val="100"/>
              </a:spcBef>
            </a:pPr>
            <a:r>
              <a:rPr dirty="0" sz="1200" spc="-5" b="1">
                <a:latin typeface="Times New Roman"/>
                <a:cs typeface="Times New Roman"/>
              </a:rPr>
              <a:t>Product</a:t>
            </a:r>
            <a:r>
              <a:rPr dirty="0" sz="1200" b="1">
                <a:latin typeface="Times New Roman"/>
                <a:cs typeface="Times New Roman"/>
              </a:rPr>
              <a:t> </a:t>
            </a:r>
            <a:r>
              <a:rPr dirty="0" sz="1200" spc="-5" b="1">
                <a:latin typeface="Times New Roman"/>
                <a:cs typeface="Times New Roman"/>
              </a:rPr>
              <a:t>Designer vs.</a:t>
            </a:r>
            <a:r>
              <a:rPr dirty="0" sz="1200" b="1">
                <a:latin typeface="Times New Roman"/>
                <a:cs typeface="Times New Roman"/>
              </a:rPr>
              <a:t> Engineering</a:t>
            </a:r>
            <a:r>
              <a:rPr dirty="0" sz="1200" spc="-5" b="1">
                <a:latin typeface="Times New Roman"/>
                <a:cs typeface="Times New Roman"/>
              </a:rPr>
              <a:t> Designer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350">
              <a:latin typeface="Times New Roman"/>
              <a:cs typeface="Times New Roman"/>
            </a:endParaRPr>
          </a:p>
          <a:p>
            <a:pPr marL="240665" marR="15875" indent="-228600">
              <a:lnSpc>
                <a:spcPct val="102499"/>
              </a:lnSpc>
              <a:buAutoNum type="arabicParenR"/>
              <a:tabLst>
                <a:tab pos="241300" algn="l"/>
              </a:tabLst>
            </a:pPr>
            <a:r>
              <a:rPr dirty="0" sz="1200" spc="-5">
                <a:latin typeface="Times New Roman"/>
                <a:cs typeface="Times New Roman"/>
              </a:rPr>
              <a:t>Product</a:t>
            </a:r>
            <a:r>
              <a:rPr dirty="0" sz="1200" spc="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designers</a:t>
            </a:r>
            <a:r>
              <a:rPr dirty="0" sz="1200" spc="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are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concerned</a:t>
            </a:r>
            <a:r>
              <a:rPr dirty="0" sz="1200" spc="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with</a:t>
            </a:r>
            <a:r>
              <a:rPr dirty="0" sz="1200" spc="1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styling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and</a:t>
            </a:r>
            <a:r>
              <a:rPr dirty="0" sz="1200" spc="2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aesthetics,</a:t>
            </a:r>
            <a:r>
              <a:rPr dirty="0" sz="1200" spc="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function</a:t>
            </a:r>
            <a:r>
              <a:rPr dirty="0" sz="1200" spc="15">
                <a:latin typeface="Times New Roman"/>
                <a:cs typeface="Times New Roman"/>
              </a:rPr>
              <a:t> </a:t>
            </a:r>
            <a:r>
              <a:rPr dirty="0" sz="1200" spc="5">
                <a:latin typeface="Times New Roman"/>
                <a:cs typeface="Times New Roman"/>
              </a:rPr>
              <a:t>and</a:t>
            </a:r>
            <a:r>
              <a:rPr dirty="0" sz="1200" spc="1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usability, </a:t>
            </a:r>
            <a:r>
              <a:rPr dirty="0" sz="1200" spc="-28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manufacturability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and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manageability.</a:t>
            </a:r>
            <a:endParaRPr sz="1200">
              <a:latin typeface="Times New Roman"/>
              <a:cs typeface="Times New Roman"/>
            </a:endParaRPr>
          </a:p>
          <a:p>
            <a:pPr marL="240665" indent="-228600">
              <a:lnSpc>
                <a:spcPct val="100000"/>
              </a:lnSpc>
              <a:spcBef>
                <a:spcPts val="855"/>
              </a:spcBef>
              <a:buAutoNum type="arabicParenR"/>
              <a:tabLst>
                <a:tab pos="241300" algn="l"/>
              </a:tabLst>
            </a:pPr>
            <a:r>
              <a:rPr dirty="0" sz="1200" spc="-5">
                <a:latin typeface="Times New Roman"/>
                <a:cs typeface="Times New Roman"/>
              </a:rPr>
              <a:t>Industrial</a:t>
            </a:r>
            <a:r>
              <a:rPr dirty="0" sz="1200" spc="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designers,</a:t>
            </a:r>
            <a:r>
              <a:rPr dirty="0" sz="1200" spc="1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(building)</a:t>
            </a:r>
            <a:r>
              <a:rPr dirty="0" sz="1200" spc="1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architects,</a:t>
            </a:r>
            <a:r>
              <a:rPr dirty="0" sz="1200" spc="1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interior</a:t>
            </a:r>
            <a:r>
              <a:rPr dirty="0" sz="1200" spc="2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designers,</a:t>
            </a:r>
            <a:r>
              <a:rPr dirty="0" sz="1200" spc="2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graphic</a:t>
            </a:r>
            <a:r>
              <a:rPr dirty="0" sz="1200" spc="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designers,</a:t>
            </a:r>
            <a:r>
              <a:rPr dirty="0" sz="1200" spc="1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etc.</a:t>
            </a:r>
            <a:endParaRPr sz="1200">
              <a:latin typeface="Times New Roman"/>
              <a:cs typeface="Times New Roman"/>
            </a:endParaRPr>
          </a:p>
          <a:p>
            <a:pPr marL="240665" indent="-228600">
              <a:lnSpc>
                <a:spcPct val="100000"/>
              </a:lnSpc>
              <a:spcBef>
                <a:spcPts val="850"/>
              </a:spcBef>
              <a:buAutoNum type="arabicParenR"/>
              <a:tabLst>
                <a:tab pos="241300" algn="l"/>
              </a:tabLst>
            </a:pPr>
            <a:r>
              <a:rPr dirty="0" sz="1200" spc="-5">
                <a:latin typeface="Times New Roman"/>
                <a:cs typeface="Times New Roman"/>
              </a:rPr>
              <a:t>Engineering designers</a:t>
            </a:r>
            <a:r>
              <a:rPr dirty="0" sz="1200" spc="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are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concerned</a:t>
            </a:r>
            <a:r>
              <a:rPr dirty="0" sz="1200" spc="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with</a:t>
            </a:r>
            <a:r>
              <a:rPr dirty="0" sz="1200" spc="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technical</a:t>
            </a:r>
            <a:r>
              <a:rPr dirty="0" sz="1200" spc="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mechanisms</a:t>
            </a:r>
            <a:r>
              <a:rPr dirty="0" sz="1200" spc="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and</a:t>
            </a:r>
            <a:r>
              <a:rPr dirty="0" sz="1200" spc="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workings.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30604" y="886459"/>
            <a:ext cx="5584190" cy="6889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0665" indent="-228600">
              <a:lnSpc>
                <a:spcPct val="100000"/>
              </a:lnSpc>
              <a:spcBef>
                <a:spcPts val="100"/>
              </a:spcBef>
              <a:buAutoNum type="arabicParenR" startAt="4"/>
              <a:tabLst>
                <a:tab pos="241300" algn="l"/>
              </a:tabLst>
            </a:pPr>
            <a:r>
              <a:rPr dirty="0" sz="1200" spc="-5">
                <a:latin typeface="Times New Roman"/>
                <a:cs typeface="Times New Roman"/>
              </a:rPr>
              <a:t>Structural,</a:t>
            </a:r>
            <a:r>
              <a:rPr dirty="0" sz="1200" spc="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mechanical,</a:t>
            </a:r>
            <a:r>
              <a:rPr dirty="0" sz="1200" spc="1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chemical,</a:t>
            </a:r>
            <a:r>
              <a:rPr dirty="0" sz="1200" spc="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electrical</a:t>
            </a:r>
            <a:r>
              <a:rPr dirty="0" sz="1200" spc="1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engineers</a:t>
            </a:r>
            <a:endParaRPr sz="1200">
              <a:latin typeface="Times New Roman"/>
              <a:cs typeface="Times New Roman"/>
            </a:endParaRPr>
          </a:p>
          <a:p>
            <a:pPr marL="240665" marR="5080" indent="-228600">
              <a:lnSpc>
                <a:spcPct val="102499"/>
              </a:lnSpc>
              <a:spcBef>
                <a:spcPts val="830"/>
              </a:spcBef>
              <a:buAutoNum type="arabicParenR" startAt="4"/>
              <a:tabLst>
                <a:tab pos="241300" algn="l"/>
              </a:tabLst>
            </a:pPr>
            <a:r>
              <a:rPr dirty="0" sz="1200" spc="-5">
                <a:latin typeface="Times New Roman"/>
                <a:cs typeface="Times New Roman"/>
              </a:rPr>
              <a:t>Product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designers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handle</a:t>
            </a:r>
            <a:r>
              <a:rPr dirty="0" sz="1200" spc="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“externals”</a:t>
            </a:r>
            <a:r>
              <a:rPr dirty="0" sz="1200" spc="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of product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design</a:t>
            </a:r>
            <a:r>
              <a:rPr dirty="0" sz="1200" spc="1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while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engineers</a:t>
            </a:r>
            <a:r>
              <a:rPr dirty="0" sz="1200" spc="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take</a:t>
            </a:r>
            <a:r>
              <a:rPr dirty="0" sz="1200" spc="-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care</a:t>
            </a:r>
            <a:r>
              <a:rPr dirty="0" sz="1200" spc="-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of </a:t>
            </a:r>
            <a:r>
              <a:rPr dirty="0" sz="1200" spc="-28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</a:t>
            </a:r>
            <a:r>
              <a:rPr dirty="0" sz="1200" spc="-5">
                <a:latin typeface="Times New Roman"/>
                <a:cs typeface="Times New Roman"/>
              </a:rPr>
              <a:t> “internal”</a:t>
            </a:r>
            <a:r>
              <a:rPr dirty="0" sz="1200">
                <a:latin typeface="Times New Roman"/>
                <a:cs typeface="Times New Roman"/>
              </a:rPr>
              <a:t> technical </a:t>
            </a:r>
            <a:r>
              <a:rPr dirty="0" sz="1200" spc="-5">
                <a:latin typeface="Times New Roman"/>
                <a:cs typeface="Times New Roman"/>
              </a:rPr>
              <a:t>details.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2004" y="3589147"/>
            <a:ext cx="5836285" cy="981075"/>
          </a:xfrm>
          <a:prstGeom prst="rect">
            <a:avLst/>
          </a:prstGeom>
        </p:spPr>
        <p:txBody>
          <a:bodyPr wrap="square" lIns="0" tIns="119380" rIns="0" bIns="0" rtlCol="0" vert="horz">
            <a:spAutoFit/>
          </a:bodyPr>
          <a:lstStyle/>
          <a:p>
            <a:pPr algn="just" marL="12700">
              <a:lnSpc>
                <a:spcPct val="100000"/>
              </a:lnSpc>
              <a:spcBef>
                <a:spcPts val="940"/>
              </a:spcBef>
            </a:pPr>
            <a:r>
              <a:rPr dirty="0" sz="1200" spc="-5" b="1">
                <a:latin typeface="Times New Roman"/>
                <a:cs typeface="Times New Roman"/>
              </a:rPr>
              <a:t>Design</a:t>
            </a:r>
            <a:r>
              <a:rPr dirty="0" sz="1200" spc="-25" b="1">
                <a:latin typeface="Times New Roman"/>
                <a:cs typeface="Times New Roman"/>
              </a:rPr>
              <a:t> </a:t>
            </a:r>
            <a:r>
              <a:rPr dirty="0" sz="1200" spc="-5" b="1">
                <a:latin typeface="Times New Roman"/>
                <a:cs typeface="Times New Roman"/>
              </a:rPr>
              <a:t>Teams:</a:t>
            </a:r>
            <a:endParaRPr sz="1200">
              <a:latin typeface="Times New Roman"/>
              <a:cs typeface="Times New Roman"/>
            </a:endParaRPr>
          </a:p>
          <a:p>
            <a:pPr algn="just" marL="12700" marR="5080">
              <a:lnSpc>
                <a:spcPct val="102899"/>
              </a:lnSpc>
              <a:spcBef>
                <a:spcPts val="795"/>
              </a:spcBef>
            </a:pPr>
            <a:r>
              <a:rPr dirty="0" sz="1200">
                <a:latin typeface="Times New Roman"/>
                <a:cs typeface="Times New Roman"/>
              </a:rPr>
              <a:t>The </a:t>
            </a:r>
            <a:r>
              <a:rPr dirty="0" sz="1200" spc="-5">
                <a:latin typeface="Times New Roman"/>
                <a:cs typeface="Times New Roman"/>
              </a:rPr>
              <a:t>talents </a:t>
            </a:r>
            <a:r>
              <a:rPr dirty="0" sz="1200">
                <a:latin typeface="Times New Roman"/>
                <a:cs typeface="Times New Roman"/>
              </a:rPr>
              <a:t>and </a:t>
            </a:r>
            <a:r>
              <a:rPr dirty="0" sz="1200" spc="-5">
                <a:latin typeface="Times New Roman"/>
                <a:cs typeface="Times New Roman"/>
              </a:rPr>
              <a:t>skills </a:t>
            </a:r>
            <a:r>
              <a:rPr dirty="0" sz="1200">
                <a:latin typeface="Times New Roman"/>
                <a:cs typeface="Times New Roman"/>
              </a:rPr>
              <a:t>of both </a:t>
            </a:r>
            <a:r>
              <a:rPr dirty="0" sz="1200" spc="-5">
                <a:latin typeface="Times New Roman"/>
                <a:cs typeface="Times New Roman"/>
              </a:rPr>
              <a:t>product designers </a:t>
            </a:r>
            <a:r>
              <a:rPr dirty="0" sz="1200">
                <a:latin typeface="Times New Roman"/>
                <a:cs typeface="Times New Roman"/>
              </a:rPr>
              <a:t>and </a:t>
            </a:r>
            <a:r>
              <a:rPr dirty="0" sz="1200" spc="-5">
                <a:latin typeface="Times New Roman"/>
                <a:cs typeface="Times New Roman"/>
              </a:rPr>
              <a:t>engineers are needed </a:t>
            </a:r>
            <a:r>
              <a:rPr dirty="0" sz="1200" spc="5">
                <a:latin typeface="Times New Roman"/>
                <a:cs typeface="Times New Roman"/>
              </a:rPr>
              <a:t>to </a:t>
            </a:r>
            <a:r>
              <a:rPr dirty="0" sz="1200" spc="-5">
                <a:latin typeface="Times New Roman"/>
                <a:cs typeface="Times New Roman"/>
              </a:rPr>
              <a:t>design such things. </a:t>
            </a:r>
            <a:r>
              <a:rPr dirty="0" sz="1200" spc="-28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Table </a:t>
            </a:r>
            <a:r>
              <a:rPr dirty="0" sz="1200">
                <a:latin typeface="Times New Roman"/>
                <a:cs typeface="Times New Roman"/>
              </a:rPr>
              <a:t>1 </a:t>
            </a:r>
            <a:r>
              <a:rPr dirty="0" sz="1200" spc="-5">
                <a:latin typeface="Times New Roman"/>
                <a:cs typeface="Times New Roman"/>
              </a:rPr>
              <a:t>illustrates </a:t>
            </a:r>
            <a:r>
              <a:rPr dirty="0" sz="1200">
                <a:latin typeface="Times New Roman"/>
                <a:cs typeface="Times New Roman"/>
              </a:rPr>
              <a:t>the complementary </a:t>
            </a:r>
            <a:r>
              <a:rPr dirty="0" sz="1200" spc="-5">
                <a:latin typeface="Times New Roman"/>
                <a:cs typeface="Times New Roman"/>
              </a:rPr>
              <a:t>responsibilities </a:t>
            </a:r>
            <a:r>
              <a:rPr dirty="0" sz="1200">
                <a:latin typeface="Times New Roman"/>
                <a:cs typeface="Times New Roman"/>
              </a:rPr>
              <a:t>of </a:t>
            </a:r>
            <a:r>
              <a:rPr dirty="0" sz="1200" spc="-5">
                <a:latin typeface="Times New Roman"/>
                <a:cs typeface="Times New Roman"/>
              </a:rPr>
              <a:t>product </a:t>
            </a:r>
            <a:r>
              <a:rPr dirty="0" sz="1200">
                <a:latin typeface="Times New Roman"/>
                <a:cs typeface="Times New Roman"/>
              </a:rPr>
              <a:t>and </a:t>
            </a:r>
            <a:r>
              <a:rPr dirty="0" sz="1200" spc="-5">
                <a:latin typeface="Times New Roman"/>
                <a:cs typeface="Times New Roman"/>
              </a:rPr>
              <a:t>engineering designers for 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several </a:t>
            </a:r>
            <a:r>
              <a:rPr dirty="0" sz="1200">
                <a:latin typeface="Times New Roman"/>
                <a:cs typeface="Times New Roman"/>
              </a:rPr>
              <a:t>products.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2004" y="8297417"/>
            <a:ext cx="4995545" cy="502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14755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Times New Roman"/>
                <a:cs typeface="Times New Roman"/>
              </a:rPr>
              <a:t>Table </a:t>
            </a:r>
            <a:r>
              <a:rPr dirty="0" sz="1200">
                <a:latin typeface="Times New Roman"/>
                <a:cs typeface="Times New Roman"/>
              </a:rPr>
              <a:t>1:</a:t>
            </a:r>
            <a:r>
              <a:rPr dirty="0" sz="1200" spc="-5">
                <a:latin typeface="Times New Roman"/>
                <a:cs typeface="Times New Roman"/>
              </a:rPr>
              <a:t> Product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-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Engineering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Designers’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Responsibilities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75"/>
              </a:spcBef>
            </a:pPr>
            <a:r>
              <a:rPr dirty="0" sz="1200" spc="-5" b="1">
                <a:latin typeface="Times New Roman"/>
                <a:cs typeface="Times New Roman"/>
              </a:rPr>
              <a:t>Software</a:t>
            </a:r>
            <a:r>
              <a:rPr dirty="0" sz="1200" spc="-40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design:</a:t>
            </a:r>
            <a:endParaRPr sz="120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8742" y="5080083"/>
            <a:ext cx="5720607" cy="311903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887983"/>
            <a:ext cx="5748020" cy="396240"/>
          </a:xfrm>
          <a:prstGeom prst="rect">
            <a:avLst/>
          </a:prstGeom>
        </p:spPr>
        <p:txBody>
          <a:bodyPr wrap="square" lIns="0" tIns="7620" rIns="0" bIns="0" rtlCol="0" vert="horz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60"/>
              </a:spcBef>
            </a:pPr>
            <a:r>
              <a:rPr dirty="0" sz="1200">
                <a:latin typeface="Times New Roman"/>
                <a:cs typeface="Times New Roman"/>
              </a:rPr>
              <a:t>The</a:t>
            </a:r>
            <a:r>
              <a:rPr dirty="0" sz="1200" spc="1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ﬁeld</a:t>
            </a:r>
            <a:r>
              <a:rPr dirty="0" sz="1200" spc="5">
                <a:latin typeface="Times New Roman"/>
                <a:cs typeface="Times New Roman"/>
              </a:rPr>
              <a:t> of</a:t>
            </a:r>
            <a:r>
              <a:rPr dirty="0" sz="1200" spc="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software design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can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be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divided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into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two</a:t>
            </a:r>
            <a:r>
              <a:rPr dirty="0" sz="1200" spc="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sub-ﬁelds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that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each</a:t>
            </a:r>
            <a:r>
              <a:rPr dirty="0" sz="1200" spc="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demand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considerable </a:t>
            </a:r>
            <a:r>
              <a:rPr dirty="0" sz="1200" spc="-28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skill and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expertise: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software </a:t>
            </a:r>
            <a:r>
              <a:rPr dirty="0" sz="1200">
                <a:latin typeface="Times New Roman"/>
                <a:cs typeface="Times New Roman"/>
              </a:rPr>
              <a:t>product </a:t>
            </a:r>
            <a:r>
              <a:rPr dirty="0" sz="1200" spc="-5">
                <a:latin typeface="Times New Roman"/>
                <a:cs typeface="Times New Roman"/>
              </a:rPr>
              <a:t>design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and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software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engineering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 spc="5">
                <a:latin typeface="Times New Roman"/>
                <a:cs typeface="Times New Roman"/>
              </a:rPr>
              <a:t>design.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2004" y="3916807"/>
            <a:ext cx="5874385" cy="2813050"/>
          </a:xfrm>
          <a:prstGeom prst="rect">
            <a:avLst/>
          </a:prstGeom>
        </p:spPr>
        <p:txBody>
          <a:bodyPr wrap="square" lIns="0" tIns="1193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40"/>
              </a:spcBef>
            </a:pPr>
            <a:r>
              <a:rPr dirty="0" sz="1200" spc="-5" b="1">
                <a:latin typeface="Times New Roman"/>
                <a:cs typeface="Times New Roman"/>
              </a:rPr>
              <a:t>Software</a:t>
            </a:r>
            <a:r>
              <a:rPr dirty="0" sz="1200" spc="-20" b="1">
                <a:latin typeface="Times New Roman"/>
                <a:cs typeface="Times New Roman"/>
              </a:rPr>
              <a:t> </a:t>
            </a:r>
            <a:r>
              <a:rPr dirty="0" sz="1200" spc="-5" b="1">
                <a:latin typeface="Times New Roman"/>
                <a:cs typeface="Times New Roman"/>
              </a:rPr>
              <a:t>Product</a:t>
            </a:r>
            <a:r>
              <a:rPr dirty="0" sz="1200" spc="-15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Design:</a:t>
            </a:r>
            <a:endParaRPr sz="1200">
              <a:latin typeface="Times New Roman"/>
              <a:cs typeface="Times New Roman"/>
            </a:endParaRPr>
          </a:p>
          <a:p>
            <a:pPr marL="469265" marR="586105" indent="-228600">
              <a:lnSpc>
                <a:spcPct val="102499"/>
              </a:lnSpc>
              <a:spcBef>
                <a:spcPts val="800"/>
              </a:spcBef>
              <a:buFont typeface="Microsoft Sans Serif"/>
              <a:buChar char=""/>
              <a:tabLst>
                <a:tab pos="469265" algn="l"/>
                <a:tab pos="469900" algn="l"/>
              </a:tabLst>
            </a:pPr>
            <a:r>
              <a:rPr dirty="0" sz="1200" spc="-5">
                <a:latin typeface="Times New Roman"/>
                <a:cs typeface="Times New Roman"/>
              </a:rPr>
              <a:t>Software </a:t>
            </a:r>
            <a:r>
              <a:rPr dirty="0" sz="1200">
                <a:latin typeface="Times New Roman"/>
                <a:cs typeface="Times New Roman"/>
              </a:rPr>
              <a:t>product </a:t>
            </a:r>
            <a:r>
              <a:rPr dirty="0" sz="1200" spc="-5">
                <a:latin typeface="Times New Roman"/>
                <a:cs typeface="Times New Roman"/>
              </a:rPr>
              <a:t>design is </a:t>
            </a:r>
            <a:r>
              <a:rPr dirty="0" sz="1200">
                <a:latin typeface="Times New Roman"/>
                <a:cs typeface="Times New Roman"/>
              </a:rPr>
              <a:t>the activity of specifying software product </a:t>
            </a:r>
            <a:r>
              <a:rPr dirty="0" sz="1200" spc="-5">
                <a:latin typeface="Times New Roman"/>
                <a:cs typeface="Times New Roman"/>
              </a:rPr>
              <a:t>features, </a:t>
            </a:r>
            <a:r>
              <a:rPr dirty="0" sz="1200" spc="-28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capabilities,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and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interfaces</a:t>
            </a:r>
            <a:r>
              <a:rPr dirty="0" sz="1200">
                <a:latin typeface="Times New Roman"/>
                <a:cs typeface="Times New Roman"/>
              </a:rPr>
              <a:t> to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satisfy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client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needs</a:t>
            </a:r>
            <a:r>
              <a:rPr dirty="0" sz="1200" spc="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and</a:t>
            </a:r>
            <a:r>
              <a:rPr dirty="0" sz="1200" spc="2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desires.</a:t>
            </a:r>
            <a:endParaRPr sz="1200">
              <a:latin typeface="Times New Roman"/>
              <a:cs typeface="Times New Roman"/>
            </a:endParaRPr>
          </a:p>
          <a:p>
            <a:pPr marL="469265" marR="357505" indent="-228600">
              <a:lnSpc>
                <a:spcPct val="102499"/>
              </a:lnSpc>
              <a:spcBef>
                <a:spcPts val="830"/>
              </a:spcBef>
              <a:buFont typeface="Microsoft Sans Serif"/>
              <a:buChar char=""/>
              <a:tabLst>
                <a:tab pos="469265" algn="l"/>
                <a:tab pos="469900" algn="l"/>
              </a:tabLst>
            </a:pPr>
            <a:r>
              <a:rPr dirty="0" sz="1200" spc="-5">
                <a:latin typeface="Times New Roman"/>
                <a:cs typeface="Times New Roman"/>
              </a:rPr>
              <a:t>Requires</a:t>
            </a:r>
            <a:r>
              <a:rPr dirty="0" sz="1200" spc="1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skills</a:t>
            </a:r>
            <a:r>
              <a:rPr dirty="0" sz="1200" spc="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in</a:t>
            </a:r>
            <a:r>
              <a:rPr dirty="0" sz="1200" spc="1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user</a:t>
            </a:r>
            <a:r>
              <a:rPr dirty="0" sz="1200" spc="1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interface</a:t>
            </a:r>
            <a:r>
              <a:rPr dirty="0" sz="1200" spc="2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and</a:t>
            </a:r>
            <a:r>
              <a:rPr dirty="0" sz="1200" spc="1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interaction</a:t>
            </a:r>
            <a:r>
              <a:rPr dirty="0" sz="1200" spc="1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design,</a:t>
            </a:r>
            <a:r>
              <a:rPr dirty="0" sz="1200" spc="1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communications,</a:t>
            </a:r>
            <a:r>
              <a:rPr dirty="0" sz="1200" spc="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industrial </a:t>
            </a:r>
            <a:r>
              <a:rPr dirty="0" sz="1200" spc="-28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design, </a:t>
            </a:r>
            <a:r>
              <a:rPr dirty="0" sz="1200">
                <a:latin typeface="Times New Roman"/>
                <a:cs typeface="Times New Roman"/>
              </a:rPr>
              <a:t>and </a:t>
            </a:r>
            <a:r>
              <a:rPr dirty="0" sz="1200" spc="-5">
                <a:latin typeface="Times New Roman"/>
                <a:cs typeface="Times New Roman"/>
              </a:rPr>
              <a:t>marketing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buFont typeface="Microsoft Sans Serif"/>
              <a:buChar char=""/>
            </a:pPr>
            <a:endParaRPr sz="1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Microsoft Sans Serif"/>
              <a:buChar char=""/>
            </a:pPr>
            <a:endParaRPr sz="14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200" spc="-5" b="1">
                <a:latin typeface="Times New Roman"/>
                <a:cs typeface="Times New Roman"/>
              </a:rPr>
              <a:t>Software</a:t>
            </a:r>
            <a:r>
              <a:rPr dirty="0" sz="1200" spc="-15" b="1">
                <a:latin typeface="Times New Roman"/>
                <a:cs typeface="Times New Roman"/>
              </a:rPr>
              <a:t> </a:t>
            </a:r>
            <a:r>
              <a:rPr dirty="0" sz="1200" spc="-5" b="1">
                <a:latin typeface="Times New Roman"/>
                <a:cs typeface="Times New Roman"/>
              </a:rPr>
              <a:t>Engineering </a:t>
            </a:r>
            <a:r>
              <a:rPr dirty="0" sz="1200" b="1">
                <a:latin typeface="Times New Roman"/>
                <a:cs typeface="Times New Roman"/>
              </a:rPr>
              <a:t>Design:</a:t>
            </a:r>
            <a:endParaRPr sz="1200">
              <a:latin typeface="Times New Roman"/>
              <a:cs typeface="Times New Roman"/>
            </a:endParaRPr>
          </a:p>
          <a:p>
            <a:pPr marL="469265" marR="5080" indent="-228600">
              <a:lnSpc>
                <a:spcPct val="102499"/>
              </a:lnSpc>
              <a:spcBef>
                <a:spcPts val="790"/>
              </a:spcBef>
              <a:buFont typeface="Microsoft Sans Serif"/>
              <a:buChar char=""/>
              <a:tabLst>
                <a:tab pos="469265" algn="l"/>
                <a:tab pos="469900" algn="l"/>
              </a:tabLst>
            </a:pPr>
            <a:r>
              <a:rPr dirty="0" sz="1200" spc="-5">
                <a:latin typeface="Times New Roman"/>
                <a:cs typeface="Times New Roman"/>
              </a:rPr>
              <a:t>Software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engineering design</a:t>
            </a:r>
            <a:r>
              <a:rPr dirty="0" sz="1200" spc="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is</a:t>
            </a:r>
            <a:r>
              <a:rPr dirty="0" sz="1200" spc="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activity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of</a:t>
            </a:r>
            <a:r>
              <a:rPr dirty="0" sz="1200" spc="1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specifying programs</a:t>
            </a:r>
            <a:r>
              <a:rPr dirty="0" sz="1200" spc="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sub-systems,</a:t>
            </a:r>
            <a:r>
              <a:rPr dirty="0" sz="1200" spc="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 </a:t>
            </a:r>
            <a:r>
              <a:rPr dirty="0" sz="1200" spc="-28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their</a:t>
            </a:r>
            <a:r>
              <a:rPr dirty="0" sz="1200" spc="-5">
                <a:latin typeface="Times New Roman"/>
                <a:cs typeface="Times New Roman"/>
              </a:rPr>
              <a:t> constituent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parts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workings,</a:t>
            </a:r>
            <a:r>
              <a:rPr dirty="0" sz="1200">
                <a:latin typeface="Times New Roman"/>
                <a:cs typeface="Times New Roman"/>
              </a:rPr>
              <a:t> to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meet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software </a:t>
            </a:r>
            <a:r>
              <a:rPr dirty="0" sz="1200">
                <a:latin typeface="Times New Roman"/>
                <a:cs typeface="Times New Roman"/>
              </a:rPr>
              <a:t>product </a:t>
            </a:r>
            <a:r>
              <a:rPr dirty="0" sz="1200" spc="-5">
                <a:latin typeface="Times New Roman"/>
                <a:cs typeface="Times New Roman"/>
              </a:rPr>
              <a:t>specifications.</a:t>
            </a:r>
            <a:endParaRPr sz="1200">
              <a:latin typeface="Times New Roman"/>
              <a:cs typeface="Times New Roman"/>
            </a:endParaRPr>
          </a:p>
          <a:p>
            <a:pPr marL="469265" marR="71120" indent="-228600">
              <a:lnSpc>
                <a:spcPct val="102499"/>
              </a:lnSpc>
              <a:spcBef>
                <a:spcPts val="830"/>
              </a:spcBef>
              <a:buFont typeface="Microsoft Sans Serif"/>
              <a:buChar char=""/>
              <a:tabLst>
                <a:tab pos="469265" algn="l"/>
                <a:tab pos="469900" algn="l"/>
              </a:tabLst>
            </a:pPr>
            <a:r>
              <a:rPr dirty="0" sz="1200" spc="-5">
                <a:latin typeface="Times New Roman"/>
                <a:cs typeface="Times New Roman"/>
              </a:rPr>
              <a:t>Requires</a:t>
            </a:r>
            <a:r>
              <a:rPr dirty="0" sz="1200" spc="1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skills</a:t>
            </a:r>
            <a:r>
              <a:rPr dirty="0" sz="1200" spc="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in</a:t>
            </a:r>
            <a:r>
              <a:rPr dirty="0" sz="1200" spc="1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programming,</a:t>
            </a:r>
            <a:r>
              <a:rPr dirty="0" sz="1200" spc="2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algorithms,</a:t>
            </a:r>
            <a:r>
              <a:rPr dirty="0" sz="1200" spc="2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data</a:t>
            </a:r>
            <a:r>
              <a:rPr dirty="0" sz="1200" spc="2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structures,</a:t>
            </a:r>
            <a:r>
              <a:rPr dirty="0" sz="1200" spc="2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software</a:t>
            </a:r>
            <a:r>
              <a:rPr dirty="0" sz="1200" spc="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design</a:t>
            </a:r>
            <a:r>
              <a:rPr dirty="0" sz="1200" spc="1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principles, </a:t>
            </a:r>
            <a:r>
              <a:rPr dirty="0" sz="1200" spc="-28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practices,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processes,</a:t>
            </a:r>
            <a:r>
              <a:rPr dirty="0" sz="1200">
                <a:latin typeface="Times New Roman"/>
                <a:cs typeface="Times New Roman"/>
              </a:rPr>
              <a:t> techniques, </a:t>
            </a:r>
            <a:r>
              <a:rPr dirty="0" sz="1200" spc="-5">
                <a:latin typeface="Times New Roman"/>
                <a:cs typeface="Times New Roman"/>
              </a:rPr>
              <a:t>architectures,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and</a:t>
            </a:r>
            <a:r>
              <a:rPr dirty="0" sz="1200" spc="3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patterns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96416" y="7422768"/>
            <a:ext cx="5981065" cy="18415"/>
          </a:xfrm>
          <a:custGeom>
            <a:avLst/>
            <a:gdLst/>
            <a:ahLst/>
            <a:cxnLst/>
            <a:rect l="l" t="t" r="r" b="b"/>
            <a:pathLst>
              <a:path w="5981065" h="18415">
                <a:moveTo>
                  <a:pt x="5981065" y="0"/>
                </a:moveTo>
                <a:lnTo>
                  <a:pt x="0" y="0"/>
                </a:lnTo>
                <a:lnTo>
                  <a:pt x="0" y="18287"/>
                </a:lnTo>
                <a:lnTo>
                  <a:pt x="5981065" y="18287"/>
                </a:lnTo>
                <a:lnTo>
                  <a:pt x="598106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896416" y="7656321"/>
            <a:ext cx="5981065" cy="18415"/>
          </a:xfrm>
          <a:custGeom>
            <a:avLst/>
            <a:gdLst/>
            <a:ahLst/>
            <a:cxnLst/>
            <a:rect l="l" t="t" r="r" b="b"/>
            <a:pathLst>
              <a:path w="5981065" h="18415">
                <a:moveTo>
                  <a:pt x="5981065" y="0"/>
                </a:moveTo>
                <a:lnTo>
                  <a:pt x="0" y="0"/>
                </a:lnTo>
                <a:lnTo>
                  <a:pt x="0" y="18287"/>
                </a:lnTo>
                <a:lnTo>
                  <a:pt x="5981065" y="18287"/>
                </a:lnTo>
                <a:lnTo>
                  <a:pt x="598106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3069463" y="8039861"/>
            <a:ext cx="163322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Times New Roman"/>
                <a:cs typeface="Times New Roman"/>
              </a:rPr>
              <a:t>(WEEK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1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COMPLETED)</a:t>
            </a:r>
            <a:endParaRPr sz="1200">
              <a:latin typeface="Times New Roman"/>
              <a:cs typeface="Times New Roman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89446" y="1792935"/>
            <a:ext cx="4728365" cy="193305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3797934"/>
            <a:ext cx="5688965" cy="18516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28067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latin typeface="Times New Roman"/>
                <a:cs typeface="Times New Roman"/>
              </a:rPr>
              <a:t>WEEK</a:t>
            </a:r>
            <a:r>
              <a:rPr dirty="0" sz="1200" spc="-50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#2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200" spc="-5" b="1">
                <a:latin typeface="Times New Roman"/>
                <a:cs typeface="Times New Roman"/>
              </a:rPr>
              <a:t>Software</a:t>
            </a:r>
            <a:r>
              <a:rPr dirty="0" sz="1200" spc="-10" b="1">
                <a:latin typeface="Times New Roman"/>
                <a:cs typeface="Times New Roman"/>
              </a:rPr>
              <a:t> </a:t>
            </a:r>
            <a:r>
              <a:rPr dirty="0" sz="1200" spc="-5" b="1">
                <a:latin typeface="Times New Roman"/>
                <a:cs typeface="Times New Roman"/>
              </a:rPr>
              <a:t>Design</a:t>
            </a:r>
            <a:r>
              <a:rPr dirty="0" sz="1200" spc="5" b="1">
                <a:latin typeface="Times New Roman"/>
                <a:cs typeface="Times New Roman"/>
              </a:rPr>
              <a:t> </a:t>
            </a:r>
            <a:r>
              <a:rPr dirty="0" sz="1200" spc="-5" b="1">
                <a:latin typeface="Times New Roman"/>
                <a:cs typeface="Times New Roman"/>
              </a:rPr>
              <a:t>in</a:t>
            </a:r>
            <a:r>
              <a:rPr dirty="0" sz="1200" spc="5" b="1">
                <a:latin typeface="Times New Roman"/>
                <a:cs typeface="Times New Roman"/>
              </a:rPr>
              <a:t> </a:t>
            </a:r>
            <a:r>
              <a:rPr dirty="0" sz="1200" spc="-5" b="1">
                <a:latin typeface="Times New Roman"/>
                <a:cs typeface="Times New Roman"/>
              </a:rPr>
              <a:t>the</a:t>
            </a:r>
            <a:r>
              <a:rPr dirty="0" sz="1200" b="1">
                <a:latin typeface="Times New Roman"/>
                <a:cs typeface="Times New Roman"/>
              </a:rPr>
              <a:t> Life</a:t>
            </a:r>
            <a:r>
              <a:rPr dirty="0" sz="1200" spc="-5" b="1">
                <a:latin typeface="Times New Roman"/>
                <a:cs typeface="Times New Roman"/>
              </a:rPr>
              <a:t> Cycle:</a:t>
            </a:r>
            <a:endParaRPr sz="1200">
              <a:latin typeface="Times New Roman"/>
              <a:cs typeface="Times New Roman"/>
            </a:endParaRPr>
          </a:p>
          <a:p>
            <a:pPr marL="469265" marR="5080">
              <a:lnSpc>
                <a:spcPct val="102499"/>
              </a:lnSpc>
              <a:spcBef>
                <a:spcPts val="805"/>
              </a:spcBef>
            </a:pPr>
            <a:r>
              <a:rPr dirty="0" sz="1200">
                <a:latin typeface="Times New Roman"/>
                <a:cs typeface="Times New Roman"/>
              </a:rPr>
              <a:t>The </a:t>
            </a:r>
            <a:r>
              <a:rPr dirty="0" sz="1200" spc="-5">
                <a:latin typeface="Times New Roman"/>
                <a:cs typeface="Times New Roman"/>
              </a:rPr>
              <a:t>software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life </a:t>
            </a:r>
            <a:r>
              <a:rPr dirty="0" sz="1200" spc="-5">
                <a:latin typeface="Times New Roman"/>
                <a:cs typeface="Times New Roman"/>
              </a:rPr>
              <a:t>cycle</a:t>
            </a:r>
            <a:r>
              <a:rPr dirty="0" sz="1200" spc="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is</a:t>
            </a:r>
            <a:r>
              <a:rPr dirty="0" sz="1200" spc="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</a:t>
            </a:r>
            <a:r>
              <a:rPr dirty="0" sz="1200" spc="1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sequence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of</a:t>
            </a:r>
            <a:r>
              <a:rPr dirty="0" sz="1200" spc="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activities</a:t>
            </a:r>
            <a:r>
              <a:rPr dirty="0" sz="1200" spc="1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through</a:t>
            </a:r>
            <a:r>
              <a:rPr dirty="0" sz="1200" spc="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which</a:t>
            </a:r>
            <a:r>
              <a:rPr dirty="0" sz="1200" spc="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software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product </a:t>
            </a:r>
            <a:r>
              <a:rPr dirty="0" sz="1200" spc="-28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passes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from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initial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conception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through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retirement</a:t>
            </a:r>
            <a:r>
              <a:rPr dirty="0" sz="1200" spc="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from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service.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4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200" spc="-5" b="1">
                <a:latin typeface="Times New Roman"/>
                <a:cs typeface="Times New Roman"/>
              </a:rPr>
              <a:t>Waterfall </a:t>
            </a:r>
            <a:r>
              <a:rPr dirty="0" sz="1200" b="1">
                <a:latin typeface="Times New Roman"/>
                <a:cs typeface="Times New Roman"/>
              </a:rPr>
              <a:t>Life</a:t>
            </a:r>
            <a:r>
              <a:rPr dirty="0" sz="1200" spc="-10" b="1">
                <a:latin typeface="Times New Roman"/>
                <a:cs typeface="Times New Roman"/>
              </a:rPr>
              <a:t> </a:t>
            </a:r>
            <a:r>
              <a:rPr dirty="0" sz="1200" spc="-5" b="1">
                <a:latin typeface="Times New Roman"/>
                <a:cs typeface="Times New Roman"/>
              </a:rPr>
              <a:t>Cycle Model: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102989" y="1179321"/>
            <a:ext cx="2752090" cy="584835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700" marR="5080">
              <a:lnSpc>
                <a:spcPct val="102899"/>
              </a:lnSpc>
              <a:spcBef>
                <a:spcPts val="55"/>
              </a:spcBef>
            </a:pPr>
            <a:r>
              <a:rPr dirty="0" sz="1200">
                <a:latin typeface="Times New Roman"/>
                <a:cs typeface="Times New Roman"/>
              </a:rPr>
              <a:t>The </a:t>
            </a:r>
            <a:r>
              <a:rPr dirty="0" sz="1200" spc="-5">
                <a:latin typeface="Times New Roman"/>
                <a:cs typeface="Times New Roman"/>
              </a:rPr>
              <a:t>waterfall </a:t>
            </a:r>
            <a:r>
              <a:rPr dirty="0" sz="1200">
                <a:latin typeface="Times New Roman"/>
                <a:cs typeface="Times New Roman"/>
              </a:rPr>
              <a:t>model </a:t>
            </a:r>
            <a:r>
              <a:rPr dirty="0" sz="1200" spc="-5">
                <a:latin typeface="Times New Roman"/>
                <a:cs typeface="Times New Roman"/>
              </a:rPr>
              <a:t>captures </a:t>
            </a:r>
            <a:r>
              <a:rPr dirty="0" sz="1200">
                <a:latin typeface="Times New Roman"/>
                <a:cs typeface="Times New Roman"/>
              </a:rPr>
              <a:t>the </a:t>
            </a:r>
            <a:r>
              <a:rPr dirty="0" sz="1200" spc="-5">
                <a:latin typeface="Times New Roman"/>
                <a:cs typeface="Times New Roman"/>
              </a:rPr>
              <a:t>logical, </a:t>
            </a:r>
            <a:r>
              <a:rPr dirty="0" sz="1200">
                <a:latin typeface="Times New Roman"/>
                <a:cs typeface="Times New Roman"/>
              </a:rPr>
              <a:t>but </a:t>
            </a:r>
            <a:r>
              <a:rPr dirty="0" sz="1200" spc="-28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not the </a:t>
            </a:r>
            <a:r>
              <a:rPr dirty="0" sz="1200" spc="-5">
                <a:latin typeface="Times New Roman"/>
                <a:cs typeface="Times New Roman"/>
              </a:rPr>
              <a:t>temporal, </a:t>
            </a:r>
            <a:r>
              <a:rPr dirty="0" sz="1200">
                <a:latin typeface="Times New Roman"/>
                <a:cs typeface="Times New Roman"/>
              </a:rPr>
              <a:t>relationships </a:t>
            </a:r>
            <a:r>
              <a:rPr dirty="0" sz="1200" spc="-5">
                <a:latin typeface="Times New Roman"/>
                <a:cs typeface="Times New Roman"/>
              </a:rPr>
              <a:t>between 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software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development</a:t>
            </a:r>
            <a:r>
              <a:rPr dirty="0" sz="1200">
                <a:latin typeface="Times New Roman"/>
                <a:cs typeface="Times New Roman"/>
              </a:rPr>
              <a:t> activities.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2004" y="7093077"/>
            <a:ext cx="5781675" cy="15576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 b="1">
                <a:latin typeface="Times New Roman"/>
                <a:cs typeface="Times New Roman"/>
              </a:rPr>
              <a:t>Requirements</a:t>
            </a:r>
            <a:r>
              <a:rPr dirty="0" sz="1200" spc="-15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Speciﬁcation</a:t>
            </a:r>
            <a:r>
              <a:rPr dirty="0" sz="1200" spc="-5" b="1">
                <a:latin typeface="Times New Roman"/>
                <a:cs typeface="Times New Roman"/>
              </a:rPr>
              <a:t> Activity: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350">
              <a:latin typeface="Times New Roman"/>
              <a:cs typeface="Times New Roman"/>
            </a:endParaRPr>
          </a:p>
          <a:p>
            <a:pPr marL="469265" marR="5080" indent="-228600">
              <a:lnSpc>
                <a:spcPct val="102499"/>
              </a:lnSpc>
              <a:buAutoNum type="arabicParenR"/>
              <a:tabLst>
                <a:tab pos="469900" algn="l"/>
              </a:tabLst>
            </a:pPr>
            <a:r>
              <a:rPr dirty="0" sz="1200">
                <a:latin typeface="Times New Roman"/>
                <a:cs typeface="Times New Roman"/>
              </a:rPr>
              <a:t>The</a:t>
            </a:r>
            <a:r>
              <a:rPr dirty="0" sz="1200" spc="-5">
                <a:latin typeface="Times New Roman"/>
                <a:cs typeface="Times New Roman"/>
              </a:rPr>
              <a:t> goal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of</a:t>
            </a:r>
            <a:r>
              <a:rPr dirty="0" sz="1200" spc="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 </a:t>
            </a:r>
            <a:r>
              <a:rPr dirty="0" sz="1200" spc="-5">
                <a:latin typeface="Times New Roman"/>
                <a:cs typeface="Times New Roman"/>
              </a:rPr>
              <a:t>requirements</a:t>
            </a:r>
            <a:r>
              <a:rPr dirty="0" sz="1200" spc="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speciﬁcation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activity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is</a:t>
            </a:r>
            <a:r>
              <a:rPr dirty="0" sz="1200" spc="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to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specify </a:t>
            </a:r>
            <a:r>
              <a:rPr dirty="0" sz="1200">
                <a:latin typeface="Times New Roman"/>
                <a:cs typeface="Times New Roman"/>
              </a:rPr>
              <a:t>a </a:t>
            </a:r>
            <a:r>
              <a:rPr dirty="0" sz="1200" spc="-5">
                <a:latin typeface="Times New Roman"/>
                <a:cs typeface="Times New Roman"/>
              </a:rPr>
              <a:t>product</a:t>
            </a:r>
            <a:r>
              <a:rPr dirty="0" sz="1200" spc="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satisfying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 </a:t>
            </a:r>
            <a:r>
              <a:rPr dirty="0" sz="1200" spc="-28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needs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and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desires</a:t>
            </a:r>
            <a:r>
              <a:rPr dirty="0" sz="1200">
                <a:latin typeface="Times New Roman"/>
                <a:cs typeface="Times New Roman"/>
              </a:rPr>
              <a:t> of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clients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 </a:t>
            </a:r>
            <a:r>
              <a:rPr dirty="0" sz="1200" spc="-5">
                <a:latin typeface="Times New Roman"/>
                <a:cs typeface="Times New Roman"/>
              </a:rPr>
              <a:t>other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interested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parties.</a:t>
            </a:r>
            <a:endParaRPr sz="12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875"/>
              </a:spcBef>
              <a:buFont typeface="Times New Roman"/>
              <a:buAutoNum type="arabicParenR"/>
              <a:tabLst>
                <a:tab pos="469900" algn="l"/>
              </a:tabLst>
            </a:pPr>
            <a:r>
              <a:rPr dirty="0" sz="1200" spc="-5" b="1">
                <a:latin typeface="Times New Roman"/>
                <a:cs typeface="Times New Roman"/>
              </a:rPr>
              <a:t>Speciﬁcations</a:t>
            </a:r>
            <a:r>
              <a:rPr dirty="0" sz="1200" spc="5" b="1">
                <a:latin typeface="Times New Roman"/>
                <a:cs typeface="Times New Roman"/>
              </a:rPr>
              <a:t> </a:t>
            </a:r>
            <a:r>
              <a:rPr dirty="0" sz="1200" spc="-5" b="1">
                <a:latin typeface="Times New Roman"/>
                <a:cs typeface="Times New Roman"/>
              </a:rPr>
              <a:t>are</a:t>
            </a:r>
            <a:r>
              <a:rPr dirty="0" sz="1200" spc="15" b="1">
                <a:latin typeface="Times New Roman"/>
                <a:cs typeface="Times New Roman"/>
              </a:rPr>
              <a:t> </a:t>
            </a:r>
            <a:r>
              <a:rPr dirty="0" sz="1200" spc="-5" b="1">
                <a:latin typeface="Times New Roman"/>
                <a:cs typeface="Times New Roman"/>
              </a:rPr>
              <a:t>recorded</a:t>
            </a:r>
            <a:r>
              <a:rPr dirty="0" sz="1200" spc="10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in</a:t>
            </a:r>
            <a:r>
              <a:rPr dirty="0" sz="1200" spc="15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a</a:t>
            </a:r>
            <a:r>
              <a:rPr dirty="0" sz="1200" spc="10" b="1">
                <a:latin typeface="Times New Roman"/>
                <a:cs typeface="Times New Roman"/>
              </a:rPr>
              <a:t> </a:t>
            </a:r>
            <a:r>
              <a:rPr dirty="0" sz="1200" spc="-5" b="1">
                <a:latin typeface="Times New Roman"/>
                <a:cs typeface="Times New Roman"/>
              </a:rPr>
              <a:t>software</a:t>
            </a:r>
            <a:r>
              <a:rPr dirty="0" sz="1200" spc="5" b="1">
                <a:latin typeface="Times New Roman"/>
                <a:cs typeface="Times New Roman"/>
              </a:rPr>
              <a:t> </a:t>
            </a:r>
            <a:r>
              <a:rPr dirty="0" sz="1200" spc="-5" b="1">
                <a:latin typeface="Times New Roman"/>
                <a:cs typeface="Times New Roman"/>
              </a:rPr>
              <a:t>requirements</a:t>
            </a:r>
            <a:r>
              <a:rPr dirty="0" sz="1200" spc="10" b="1">
                <a:latin typeface="Times New Roman"/>
                <a:cs typeface="Times New Roman"/>
              </a:rPr>
              <a:t> </a:t>
            </a:r>
            <a:r>
              <a:rPr dirty="0" sz="1200" spc="-5" b="1">
                <a:latin typeface="Times New Roman"/>
                <a:cs typeface="Times New Roman"/>
              </a:rPr>
              <a:t>speciﬁcation</a:t>
            </a:r>
            <a:r>
              <a:rPr dirty="0" sz="1200" spc="15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(SRS).</a:t>
            </a:r>
            <a:endParaRPr sz="12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815"/>
              </a:spcBef>
              <a:buAutoNum type="arabicParenR"/>
              <a:tabLst>
                <a:tab pos="469900" algn="l"/>
              </a:tabLst>
            </a:pPr>
            <a:r>
              <a:rPr dirty="0" sz="1200">
                <a:latin typeface="Times New Roman"/>
                <a:cs typeface="Times New Roman"/>
              </a:rPr>
              <a:t>We </a:t>
            </a:r>
            <a:r>
              <a:rPr dirty="0" sz="1200" spc="-5">
                <a:latin typeface="Times New Roman"/>
                <a:cs typeface="Times New Roman"/>
              </a:rPr>
              <a:t>assume</a:t>
            </a:r>
            <a:r>
              <a:rPr dirty="0" sz="1200">
                <a:latin typeface="Times New Roman"/>
                <a:cs typeface="Times New Roman"/>
              </a:rPr>
              <a:t> that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every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SRS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includes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 </a:t>
            </a:r>
            <a:r>
              <a:rPr dirty="0" sz="1200" spc="-5">
                <a:latin typeface="Times New Roman"/>
                <a:cs typeface="Times New Roman"/>
              </a:rPr>
              <a:t>user</a:t>
            </a:r>
            <a:r>
              <a:rPr dirty="0" sz="1200" spc="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interface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design.</a:t>
            </a:r>
            <a:endParaRPr sz="12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6082" y="933450"/>
            <a:ext cx="2623634" cy="43053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30604" y="887983"/>
            <a:ext cx="5554980" cy="58547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algn="just" marL="240665" marR="5080" indent="-228600">
              <a:lnSpc>
                <a:spcPct val="103000"/>
              </a:lnSpc>
              <a:spcBef>
                <a:spcPts val="55"/>
              </a:spcBef>
            </a:pPr>
            <a:r>
              <a:rPr dirty="0" sz="1200">
                <a:latin typeface="Times New Roman"/>
                <a:cs typeface="Times New Roman"/>
              </a:rPr>
              <a:t>4)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Factors </a:t>
            </a:r>
            <a:r>
              <a:rPr dirty="0" sz="1200">
                <a:latin typeface="Times New Roman"/>
                <a:cs typeface="Times New Roman"/>
              </a:rPr>
              <a:t>that limit the </a:t>
            </a:r>
            <a:r>
              <a:rPr dirty="0" sz="1200" spc="-10">
                <a:latin typeface="Times New Roman"/>
                <a:cs typeface="Times New Roman"/>
              </a:rPr>
              <a:t>range </a:t>
            </a:r>
            <a:r>
              <a:rPr dirty="0" sz="1200" spc="5">
                <a:latin typeface="Times New Roman"/>
                <a:cs typeface="Times New Roman"/>
              </a:rPr>
              <a:t>of </a:t>
            </a:r>
            <a:r>
              <a:rPr dirty="0" sz="1200" spc="-5">
                <a:latin typeface="Times New Roman"/>
                <a:cs typeface="Times New Roman"/>
              </a:rPr>
              <a:t>design </a:t>
            </a:r>
            <a:r>
              <a:rPr dirty="0" sz="1200">
                <a:latin typeface="Times New Roman"/>
                <a:cs typeface="Times New Roman"/>
              </a:rPr>
              <a:t>solutions, such </a:t>
            </a:r>
            <a:r>
              <a:rPr dirty="0" sz="1200" spc="-10">
                <a:latin typeface="Times New Roman"/>
                <a:cs typeface="Times New Roman"/>
              </a:rPr>
              <a:t>as </a:t>
            </a:r>
            <a:r>
              <a:rPr dirty="0" sz="1200" spc="-5">
                <a:latin typeface="Times New Roman"/>
                <a:cs typeface="Times New Roman"/>
              </a:rPr>
              <a:t>cost, time, </a:t>
            </a:r>
            <a:r>
              <a:rPr dirty="0" sz="1200">
                <a:latin typeface="Times New Roman"/>
                <a:cs typeface="Times New Roman"/>
              </a:rPr>
              <a:t>size, </a:t>
            </a:r>
            <a:r>
              <a:rPr dirty="0" sz="1200" spc="-5">
                <a:latin typeface="Times New Roman"/>
                <a:cs typeface="Times New Roman"/>
              </a:rPr>
              <a:t>user capability, 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and required technology, are called design </a:t>
            </a:r>
            <a:r>
              <a:rPr dirty="0" sz="1200" b="1">
                <a:latin typeface="Times New Roman"/>
                <a:cs typeface="Times New Roman"/>
              </a:rPr>
              <a:t>constraints. </a:t>
            </a:r>
            <a:r>
              <a:rPr dirty="0" sz="1200" spc="-5" b="1">
                <a:latin typeface="Times New Roman"/>
                <a:cs typeface="Times New Roman"/>
              </a:rPr>
              <a:t>Design </a:t>
            </a:r>
            <a:r>
              <a:rPr dirty="0" sz="1200" spc="-5">
                <a:latin typeface="Times New Roman"/>
                <a:cs typeface="Times New Roman"/>
              </a:rPr>
              <a:t>constraints are </a:t>
            </a:r>
            <a:r>
              <a:rPr dirty="0" sz="1200">
                <a:latin typeface="Times New Roman"/>
                <a:cs typeface="Times New Roman"/>
              </a:rPr>
              <a:t>usually 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given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as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part</a:t>
            </a:r>
            <a:r>
              <a:rPr dirty="0" sz="1200">
                <a:latin typeface="Times New Roman"/>
                <a:cs typeface="Times New Roman"/>
              </a:rPr>
              <a:t> of</a:t>
            </a:r>
            <a:r>
              <a:rPr dirty="0" sz="1200" spc="-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 problem specification.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2004" y="2139442"/>
            <a:ext cx="5948045" cy="20237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 b="1">
                <a:latin typeface="Times New Roman"/>
                <a:cs typeface="Times New Roman"/>
              </a:rPr>
              <a:t>Design</a:t>
            </a:r>
            <a:r>
              <a:rPr dirty="0" sz="1200" spc="-20" b="1">
                <a:latin typeface="Times New Roman"/>
                <a:cs typeface="Times New Roman"/>
              </a:rPr>
              <a:t> </a:t>
            </a:r>
            <a:r>
              <a:rPr dirty="0" sz="1200" spc="-5" b="1">
                <a:latin typeface="Times New Roman"/>
                <a:cs typeface="Times New Roman"/>
              </a:rPr>
              <a:t>Activity: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350">
              <a:latin typeface="Times New Roman"/>
              <a:cs typeface="Times New Roman"/>
            </a:endParaRPr>
          </a:p>
          <a:p>
            <a:pPr marL="469265" marR="5080" indent="-228600">
              <a:lnSpc>
                <a:spcPct val="103299"/>
              </a:lnSpc>
              <a:buFont typeface="Microsoft Sans Serif"/>
              <a:buChar char=""/>
              <a:tabLst>
                <a:tab pos="469265" algn="l"/>
                <a:tab pos="469900" algn="l"/>
              </a:tabLst>
            </a:pPr>
            <a:r>
              <a:rPr dirty="0" sz="1200" spc="-5">
                <a:latin typeface="Times New Roman"/>
                <a:cs typeface="Times New Roman"/>
              </a:rPr>
              <a:t>During </a:t>
            </a:r>
            <a:r>
              <a:rPr dirty="0" sz="1200">
                <a:latin typeface="Times New Roman"/>
                <a:cs typeface="Times New Roman"/>
              </a:rPr>
              <a:t>the </a:t>
            </a:r>
            <a:r>
              <a:rPr dirty="0" sz="1200" spc="-5">
                <a:latin typeface="Times New Roman"/>
                <a:cs typeface="Times New Roman"/>
              </a:rPr>
              <a:t>design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activity,</a:t>
            </a:r>
            <a:r>
              <a:rPr dirty="0" sz="1200" spc="1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developers</a:t>
            </a:r>
            <a:r>
              <a:rPr dirty="0" sz="1200" spc="2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figure </a:t>
            </a:r>
            <a:r>
              <a:rPr dirty="0" sz="1200">
                <a:latin typeface="Times New Roman"/>
                <a:cs typeface="Times New Roman"/>
              </a:rPr>
              <a:t>out</a:t>
            </a:r>
            <a:r>
              <a:rPr dirty="0" sz="1200" spc="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how</a:t>
            </a:r>
            <a:r>
              <a:rPr dirty="0" sz="1200" spc="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to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build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product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specified</a:t>
            </a:r>
            <a:r>
              <a:rPr dirty="0" sz="1200" spc="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in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 </a:t>
            </a:r>
            <a:r>
              <a:rPr dirty="0" sz="1200" spc="-28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SRS.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This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includes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selecting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an</a:t>
            </a:r>
            <a:r>
              <a:rPr dirty="0" sz="1200" spc="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overall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program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structure,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specifying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major</a:t>
            </a:r>
            <a:r>
              <a:rPr dirty="0" sz="1200" spc="1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parts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and</a:t>
            </a:r>
            <a:endParaRPr sz="1200">
              <a:latin typeface="Times New Roman"/>
              <a:cs typeface="Times New Roman"/>
            </a:endParaRPr>
          </a:p>
          <a:p>
            <a:pPr marL="469265" marR="49530">
              <a:lnSpc>
                <a:spcPct val="102499"/>
              </a:lnSpc>
              <a:spcBef>
                <a:spcPts val="15"/>
              </a:spcBef>
            </a:pPr>
            <a:r>
              <a:rPr dirty="0" sz="1200" spc="-5">
                <a:latin typeface="Times New Roman"/>
                <a:cs typeface="Times New Roman"/>
              </a:rPr>
              <a:t>sub-systems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their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interactions,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then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determining </a:t>
            </a:r>
            <a:r>
              <a:rPr dirty="0" sz="1200">
                <a:latin typeface="Times New Roman"/>
                <a:cs typeface="Times New Roman"/>
              </a:rPr>
              <a:t>how</a:t>
            </a:r>
            <a:r>
              <a:rPr dirty="0" sz="1200" spc="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each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part</a:t>
            </a:r>
            <a:r>
              <a:rPr dirty="0" sz="1200" spc="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or sub-system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will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be </a:t>
            </a:r>
            <a:r>
              <a:rPr dirty="0" sz="1200" spc="-28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built.</a:t>
            </a:r>
            <a:endParaRPr sz="1200">
              <a:latin typeface="Times New Roman"/>
              <a:cs typeface="Times New Roman"/>
            </a:endParaRPr>
          </a:p>
          <a:p>
            <a:pPr marL="469265" marR="43180" indent="-228600">
              <a:lnSpc>
                <a:spcPct val="102899"/>
              </a:lnSpc>
              <a:spcBef>
                <a:spcPts val="825"/>
              </a:spcBef>
              <a:buFont typeface="Microsoft Sans Serif"/>
              <a:buChar char=""/>
              <a:tabLst>
                <a:tab pos="469265" algn="l"/>
                <a:tab pos="469900" algn="l"/>
              </a:tabLst>
            </a:pPr>
            <a:r>
              <a:rPr dirty="0" sz="1200" spc="-5">
                <a:latin typeface="Times New Roman"/>
                <a:cs typeface="Times New Roman"/>
              </a:rPr>
              <a:t>The result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of the</a:t>
            </a:r>
            <a:r>
              <a:rPr dirty="0" sz="1200" spc="-5">
                <a:latin typeface="Times New Roman"/>
                <a:cs typeface="Times New Roman"/>
              </a:rPr>
              <a:t> design</a:t>
            </a:r>
            <a:r>
              <a:rPr dirty="0" sz="1200" spc="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activity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is</a:t>
            </a:r>
            <a:r>
              <a:rPr dirty="0" sz="1200">
                <a:latin typeface="Times New Roman"/>
                <a:cs typeface="Times New Roman"/>
              </a:rPr>
              <a:t> a</a:t>
            </a:r>
            <a:r>
              <a:rPr dirty="0" sz="1200" spc="15">
                <a:latin typeface="Times New Roman"/>
                <a:cs typeface="Times New Roman"/>
              </a:rPr>
              <a:t> </a:t>
            </a:r>
            <a:r>
              <a:rPr dirty="0" sz="1200" spc="-5" b="1">
                <a:latin typeface="Times New Roman"/>
                <a:cs typeface="Times New Roman"/>
              </a:rPr>
              <a:t>design</a:t>
            </a:r>
            <a:r>
              <a:rPr dirty="0" sz="1200" spc="5" b="1">
                <a:latin typeface="Times New Roman"/>
                <a:cs typeface="Times New Roman"/>
              </a:rPr>
              <a:t> </a:t>
            </a:r>
            <a:r>
              <a:rPr dirty="0" sz="1200" spc="-5" b="1">
                <a:latin typeface="Times New Roman"/>
                <a:cs typeface="Times New Roman"/>
              </a:rPr>
              <a:t>document</a:t>
            </a:r>
            <a:r>
              <a:rPr dirty="0" sz="1200" spc="10" b="1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recording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entire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design 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specification.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 design</a:t>
            </a:r>
            <a:r>
              <a:rPr dirty="0" sz="1200" spc="1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document</a:t>
            </a:r>
            <a:r>
              <a:rPr dirty="0" sz="1200" spc="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solves</a:t>
            </a:r>
            <a:r>
              <a:rPr dirty="0" sz="1200" spc="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</a:t>
            </a:r>
            <a:r>
              <a:rPr dirty="0" sz="1200" spc="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(engineering)</a:t>
            </a:r>
            <a:r>
              <a:rPr dirty="0" sz="1200" spc="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design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problem</a:t>
            </a:r>
            <a:r>
              <a:rPr dirty="0" sz="1200" spc="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posed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in</a:t>
            </a:r>
            <a:r>
              <a:rPr dirty="0" sz="1200" spc="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 </a:t>
            </a:r>
            <a:r>
              <a:rPr dirty="0" sz="1200" spc="-28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SRS.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2004" y="4831207"/>
            <a:ext cx="5859780" cy="145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 b="1">
                <a:latin typeface="Times New Roman"/>
                <a:cs typeface="Times New Roman"/>
              </a:rPr>
              <a:t>Implementation</a:t>
            </a:r>
            <a:r>
              <a:rPr dirty="0" sz="1200" spc="-25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Activity: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350">
              <a:latin typeface="Times New Roman"/>
              <a:cs typeface="Times New Roman"/>
            </a:endParaRPr>
          </a:p>
          <a:p>
            <a:pPr marL="469265" marR="5080" indent="-228600">
              <a:lnSpc>
                <a:spcPct val="102899"/>
              </a:lnSpc>
              <a:buFont typeface="Microsoft Sans Serif"/>
              <a:buChar char=""/>
              <a:tabLst>
                <a:tab pos="469265" algn="l"/>
                <a:tab pos="469900" algn="l"/>
              </a:tabLst>
            </a:pPr>
            <a:r>
              <a:rPr dirty="0" sz="1200">
                <a:latin typeface="Times New Roman"/>
                <a:cs typeface="Times New Roman"/>
              </a:rPr>
              <a:t>Code</a:t>
            </a:r>
            <a:r>
              <a:rPr dirty="0" sz="1200" spc="-5">
                <a:latin typeface="Times New Roman"/>
                <a:cs typeface="Times New Roman"/>
              </a:rPr>
              <a:t> is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written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in </a:t>
            </a:r>
            <a:r>
              <a:rPr dirty="0" sz="1200" spc="-5">
                <a:latin typeface="Times New Roman"/>
                <a:cs typeface="Times New Roman"/>
              </a:rPr>
              <a:t>accord</a:t>
            </a:r>
            <a:r>
              <a:rPr dirty="0" sz="1200" spc="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with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</a:t>
            </a:r>
            <a:r>
              <a:rPr dirty="0" sz="1200" spc="-5">
                <a:latin typeface="Times New Roman"/>
                <a:cs typeface="Times New Roman"/>
              </a:rPr>
              <a:t> specifications</a:t>
            </a:r>
            <a:r>
              <a:rPr dirty="0" sz="1200" spc="5">
                <a:latin typeface="Times New Roman"/>
                <a:cs typeface="Times New Roman"/>
              </a:rPr>
              <a:t> in </a:t>
            </a:r>
            <a:r>
              <a:rPr dirty="0" sz="1200">
                <a:latin typeface="Times New Roman"/>
                <a:cs typeface="Times New Roman"/>
              </a:rPr>
              <a:t>the </a:t>
            </a:r>
            <a:r>
              <a:rPr dirty="0" sz="1200" spc="-5">
                <a:latin typeface="Times New Roman"/>
                <a:cs typeface="Times New Roman"/>
              </a:rPr>
              <a:t>design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document.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 </a:t>
            </a:r>
            <a:r>
              <a:rPr dirty="0" sz="1200" spc="-5">
                <a:latin typeface="Times New Roman"/>
                <a:cs typeface="Times New Roman"/>
              </a:rPr>
              <a:t>product</a:t>
            </a:r>
            <a:r>
              <a:rPr dirty="0" sz="1200">
                <a:latin typeface="Times New Roman"/>
                <a:cs typeface="Times New Roman"/>
              </a:rPr>
              <a:t> of </a:t>
            </a:r>
            <a:r>
              <a:rPr dirty="0" sz="1200" spc="-28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implementation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activity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is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more</a:t>
            </a:r>
            <a:r>
              <a:rPr dirty="0" sz="1200" spc="-5">
                <a:latin typeface="Times New Roman"/>
                <a:cs typeface="Times New Roman"/>
              </a:rPr>
              <a:t> </a:t>
            </a:r>
            <a:r>
              <a:rPr dirty="0" sz="1200" spc="5">
                <a:latin typeface="Times New Roman"/>
                <a:cs typeface="Times New Roman"/>
              </a:rPr>
              <a:t>or </a:t>
            </a:r>
            <a:r>
              <a:rPr dirty="0" sz="1200" spc="-5">
                <a:latin typeface="Times New Roman"/>
                <a:cs typeface="Times New Roman"/>
              </a:rPr>
              <a:t>less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finished,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working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program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satisfying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 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SRS.</a:t>
            </a:r>
            <a:endParaRPr sz="12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855"/>
              </a:spcBef>
              <a:buFont typeface="Microsoft Sans Serif"/>
              <a:buChar char=""/>
              <a:tabLst>
                <a:tab pos="469265" algn="l"/>
                <a:tab pos="469900" algn="l"/>
              </a:tabLst>
            </a:pPr>
            <a:r>
              <a:rPr dirty="0" sz="1200" spc="-5">
                <a:latin typeface="Times New Roman"/>
                <a:cs typeface="Times New Roman"/>
              </a:rPr>
              <a:t>Programming </a:t>
            </a:r>
            <a:r>
              <a:rPr dirty="0" sz="1200">
                <a:latin typeface="Times New Roman"/>
                <a:cs typeface="Times New Roman"/>
              </a:rPr>
              <a:t>essentially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includes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some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engineering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design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work.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02004" y="7430261"/>
            <a:ext cx="5757545" cy="1270635"/>
          </a:xfrm>
          <a:prstGeom prst="rect">
            <a:avLst/>
          </a:prstGeom>
        </p:spPr>
        <p:txBody>
          <a:bodyPr wrap="square" lIns="0" tIns="1174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25"/>
              </a:spcBef>
            </a:pPr>
            <a:r>
              <a:rPr dirty="0" sz="1200" spc="-5" b="1">
                <a:latin typeface="Times New Roman"/>
                <a:cs typeface="Times New Roman"/>
              </a:rPr>
              <a:t>Testing</a:t>
            </a:r>
            <a:r>
              <a:rPr dirty="0" sz="1200" spc="-20" b="1">
                <a:latin typeface="Times New Roman"/>
                <a:cs typeface="Times New Roman"/>
              </a:rPr>
              <a:t> </a:t>
            </a:r>
            <a:r>
              <a:rPr dirty="0" sz="1200" spc="-5" b="1">
                <a:latin typeface="Times New Roman"/>
                <a:cs typeface="Times New Roman"/>
              </a:rPr>
              <a:t>Activity:</a:t>
            </a:r>
            <a:endParaRPr sz="12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830"/>
              </a:spcBef>
              <a:buFont typeface="Microsoft Sans Serif"/>
              <a:buChar char=""/>
              <a:tabLst>
                <a:tab pos="469265" algn="l"/>
                <a:tab pos="469900" algn="l"/>
              </a:tabLst>
            </a:pPr>
            <a:r>
              <a:rPr dirty="0" sz="1200" spc="-5">
                <a:latin typeface="Times New Roman"/>
                <a:cs typeface="Times New Roman"/>
              </a:rPr>
              <a:t>Programs are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run during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 </a:t>
            </a:r>
            <a:r>
              <a:rPr dirty="0" sz="1200" spc="-5">
                <a:latin typeface="Times New Roman"/>
                <a:cs typeface="Times New Roman"/>
              </a:rPr>
              <a:t>testing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activity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to</a:t>
            </a:r>
            <a:r>
              <a:rPr dirty="0" sz="1200" spc="1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ﬁnd</a:t>
            </a:r>
            <a:r>
              <a:rPr dirty="0" sz="1200" spc="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bugs.</a:t>
            </a:r>
            <a:endParaRPr sz="1200">
              <a:latin typeface="Times New Roman"/>
              <a:cs typeface="Times New Roman"/>
            </a:endParaRPr>
          </a:p>
          <a:p>
            <a:pPr marL="469265" marR="5080" indent="-228600">
              <a:lnSpc>
                <a:spcPct val="103299"/>
              </a:lnSpc>
              <a:spcBef>
                <a:spcPts val="805"/>
              </a:spcBef>
              <a:buFont typeface="Microsoft Sans Serif"/>
              <a:buChar char=""/>
              <a:tabLst>
                <a:tab pos="469265" algn="l"/>
                <a:tab pos="469900" algn="l"/>
              </a:tabLst>
            </a:pPr>
            <a:r>
              <a:rPr dirty="0" sz="1200" spc="-5">
                <a:latin typeface="Times New Roman"/>
                <a:cs typeface="Times New Roman"/>
              </a:rPr>
              <a:t>Testing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is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usually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done</a:t>
            </a:r>
            <a:r>
              <a:rPr dirty="0" sz="1200" spc="-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bottom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up,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with </a:t>
            </a:r>
            <a:r>
              <a:rPr dirty="0" sz="1200" spc="-5">
                <a:latin typeface="Times New Roman"/>
                <a:cs typeface="Times New Roman"/>
              </a:rPr>
              <a:t>small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parts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or </a:t>
            </a:r>
            <a:r>
              <a:rPr dirty="0" sz="1200" spc="-5">
                <a:latin typeface="Times New Roman"/>
                <a:cs typeface="Times New Roman"/>
              </a:rPr>
              <a:t>program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units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tested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alone,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and </a:t>
            </a:r>
            <a:r>
              <a:rPr dirty="0" sz="1200">
                <a:latin typeface="Times New Roman"/>
                <a:cs typeface="Times New Roman"/>
              </a:rPr>
              <a:t> then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integrated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collections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of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program</a:t>
            </a:r>
            <a:r>
              <a:rPr dirty="0" sz="1200" spc="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units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tested</a:t>
            </a:r>
            <a:r>
              <a:rPr dirty="0" sz="1200" spc="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as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separate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sub-systems,</a:t>
            </a:r>
            <a:r>
              <a:rPr dirty="0" sz="1200" spc="2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and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finally </a:t>
            </a:r>
            <a:r>
              <a:rPr dirty="0" sz="1200" spc="-28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 </a:t>
            </a:r>
            <a:r>
              <a:rPr dirty="0" sz="1200" spc="-5">
                <a:latin typeface="Times New Roman"/>
                <a:cs typeface="Times New Roman"/>
              </a:rPr>
              <a:t>entire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program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tested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as</a:t>
            </a:r>
            <a:r>
              <a:rPr dirty="0" sz="1200">
                <a:latin typeface="Times New Roman"/>
                <a:cs typeface="Times New Roman"/>
              </a:rPr>
              <a:t> a</a:t>
            </a:r>
            <a:r>
              <a:rPr dirty="0" sz="1200" spc="-5">
                <a:latin typeface="Times New Roman"/>
                <a:cs typeface="Times New Roman"/>
              </a:rPr>
              <a:t> whole.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7578090"/>
            <a:ext cx="5608955" cy="1496060"/>
          </a:xfrm>
          <a:prstGeom prst="rect">
            <a:avLst/>
          </a:prstGeom>
        </p:spPr>
        <p:txBody>
          <a:bodyPr wrap="square" lIns="0" tIns="1174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25"/>
              </a:spcBef>
            </a:pPr>
            <a:r>
              <a:rPr dirty="0" sz="1200" b="1">
                <a:latin typeface="Times New Roman"/>
                <a:cs typeface="Times New Roman"/>
              </a:rPr>
              <a:t>“What”</a:t>
            </a:r>
            <a:r>
              <a:rPr dirty="0" sz="1200" spc="-30" b="1">
                <a:latin typeface="Times New Roman"/>
                <a:cs typeface="Times New Roman"/>
              </a:rPr>
              <a:t> </a:t>
            </a:r>
            <a:r>
              <a:rPr dirty="0" sz="1200" spc="-5" b="1">
                <a:latin typeface="Times New Roman"/>
                <a:cs typeface="Times New Roman"/>
              </a:rPr>
              <a:t>Versus</a:t>
            </a:r>
            <a:r>
              <a:rPr dirty="0" sz="1200" spc="-30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“How”:</a:t>
            </a:r>
            <a:endParaRPr sz="12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830"/>
              </a:spcBef>
              <a:buFont typeface="Microsoft Sans Serif"/>
              <a:buChar char=""/>
              <a:tabLst>
                <a:tab pos="469265" algn="l"/>
                <a:tab pos="469900" algn="l"/>
              </a:tabLst>
            </a:pPr>
            <a:r>
              <a:rPr dirty="0" sz="1200" spc="-5">
                <a:latin typeface="Times New Roman"/>
                <a:cs typeface="Times New Roman"/>
              </a:rPr>
              <a:t>Traditional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way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to</a:t>
            </a:r>
            <a:r>
              <a:rPr dirty="0" sz="1200" spc="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make</a:t>
            </a:r>
            <a:r>
              <a:rPr dirty="0" sz="1200" spc="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distinction</a:t>
            </a:r>
            <a:r>
              <a:rPr dirty="0" sz="1200" spc="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between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requirements</a:t>
            </a:r>
            <a:r>
              <a:rPr dirty="0" sz="1200" spc="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and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design</a:t>
            </a:r>
            <a:r>
              <a:rPr dirty="0" sz="1200" spc="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activities</a:t>
            </a:r>
            <a:endParaRPr sz="12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850"/>
              </a:spcBef>
              <a:buFont typeface="Microsoft Sans Serif"/>
              <a:buChar char=""/>
              <a:tabLst>
                <a:tab pos="469265" algn="l"/>
                <a:tab pos="469900" algn="l"/>
              </a:tabLst>
            </a:pPr>
            <a:r>
              <a:rPr dirty="0" sz="1200" spc="-5">
                <a:latin typeface="Times New Roman"/>
                <a:cs typeface="Times New Roman"/>
              </a:rPr>
              <a:t>Not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adequate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because</a:t>
            </a:r>
            <a:endParaRPr sz="1200">
              <a:latin typeface="Times New Roman"/>
              <a:cs typeface="Times New Roman"/>
            </a:endParaRPr>
          </a:p>
          <a:p>
            <a:pPr lvl="1" marL="926465" indent="-229235">
              <a:lnSpc>
                <a:spcPct val="100000"/>
              </a:lnSpc>
              <a:spcBef>
                <a:spcPts val="940"/>
              </a:spcBef>
              <a:buFont typeface="Verdana"/>
              <a:buChar char="◦"/>
              <a:tabLst>
                <a:tab pos="926465" algn="l"/>
                <a:tab pos="927100" algn="l"/>
              </a:tabLst>
            </a:pPr>
            <a:r>
              <a:rPr dirty="0" sz="1200">
                <a:latin typeface="Times New Roman"/>
                <a:cs typeface="Times New Roman"/>
              </a:rPr>
              <a:t>Many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“what”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specifications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turn </a:t>
            </a:r>
            <a:r>
              <a:rPr dirty="0" sz="1200" spc="-5">
                <a:latin typeface="Times New Roman"/>
                <a:cs typeface="Times New Roman"/>
              </a:rPr>
              <a:t>out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to be</a:t>
            </a:r>
            <a:r>
              <a:rPr dirty="0" sz="1200" spc="-5">
                <a:latin typeface="Times New Roman"/>
                <a:cs typeface="Times New Roman"/>
              </a:rPr>
              <a:t> design</a:t>
            </a:r>
            <a:r>
              <a:rPr dirty="0" sz="1200" spc="1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decisions</a:t>
            </a:r>
            <a:endParaRPr sz="1200">
              <a:latin typeface="Times New Roman"/>
              <a:cs typeface="Times New Roman"/>
            </a:endParaRPr>
          </a:p>
          <a:p>
            <a:pPr lvl="1" marL="926465" indent="-229235">
              <a:lnSpc>
                <a:spcPct val="100000"/>
              </a:lnSpc>
              <a:spcBef>
                <a:spcPts val="935"/>
              </a:spcBef>
              <a:buFont typeface="Verdana"/>
              <a:buChar char="◦"/>
              <a:tabLst>
                <a:tab pos="926465" algn="l"/>
                <a:tab pos="927100" algn="l"/>
              </a:tabLst>
            </a:pPr>
            <a:r>
              <a:rPr dirty="0" sz="1200">
                <a:latin typeface="Times New Roman"/>
                <a:cs typeface="Times New Roman"/>
              </a:rPr>
              <a:t>Many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“how”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specifications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turn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out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to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be </a:t>
            </a:r>
            <a:r>
              <a:rPr dirty="0" sz="1200" spc="-5">
                <a:latin typeface="Times New Roman"/>
                <a:cs typeface="Times New Roman"/>
              </a:rPr>
              <a:t>client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or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customer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needs</a:t>
            </a:r>
            <a:r>
              <a:rPr dirty="0" sz="1200" spc="5">
                <a:latin typeface="Times New Roman"/>
                <a:cs typeface="Times New Roman"/>
              </a:rPr>
              <a:t> or </a:t>
            </a:r>
            <a:r>
              <a:rPr dirty="0" sz="1200" spc="-5">
                <a:latin typeface="Times New Roman"/>
                <a:cs typeface="Times New Roman"/>
              </a:rPr>
              <a:t>desires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4331641" y="4951464"/>
            <a:ext cx="225425" cy="695960"/>
          </a:xfrm>
          <a:custGeom>
            <a:avLst/>
            <a:gdLst/>
            <a:ahLst/>
            <a:cxnLst/>
            <a:rect l="l" t="t" r="r" b="b"/>
            <a:pathLst>
              <a:path w="225425" h="695960">
                <a:moveTo>
                  <a:pt x="0" y="0"/>
                </a:moveTo>
                <a:lnTo>
                  <a:pt x="43750" y="5027"/>
                </a:lnTo>
                <a:lnTo>
                  <a:pt x="79498" y="18734"/>
                </a:lnTo>
                <a:lnTo>
                  <a:pt x="103609" y="39054"/>
                </a:lnTo>
                <a:lnTo>
                  <a:pt x="112453" y="63925"/>
                </a:lnTo>
                <a:lnTo>
                  <a:pt x="112453" y="284030"/>
                </a:lnTo>
                <a:lnTo>
                  <a:pt x="121303" y="308839"/>
                </a:lnTo>
                <a:lnTo>
                  <a:pt x="145456" y="329128"/>
                </a:lnTo>
                <a:lnTo>
                  <a:pt x="181315" y="342823"/>
                </a:lnTo>
                <a:lnTo>
                  <a:pt x="225283" y="347849"/>
                </a:lnTo>
                <a:lnTo>
                  <a:pt x="181315" y="352892"/>
                </a:lnTo>
                <a:lnTo>
                  <a:pt x="145456" y="366623"/>
                </a:lnTo>
                <a:lnTo>
                  <a:pt x="121303" y="386949"/>
                </a:lnTo>
                <a:lnTo>
                  <a:pt x="112453" y="411775"/>
                </a:lnTo>
                <a:lnTo>
                  <a:pt x="112453" y="631880"/>
                </a:lnTo>
                <a:lnTo>
                  <a:pt x="103609" y="656751"/>
                </a:lnTo>
                <a:lnTo>
                  <a:pt x="79498" y="677072"/>
                </a:lnTo>
                <a:lnTo>
                  <a:pt x="43750" y="690778"/>
                </a:lnTo>
                <a:lnTo>
                  <a:pt x="0" y="695806"/>
                </a:lnTo>
              </a:path>
            </a:pathLst>
          </a:custGeom>
          <a:ln w="1671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4638250" y="5197268"/>
            <a:ext cx="2060575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00" spc="405">
                <a:latin typeface="Arial MT"/>
                <a:cs typeface="Arial MT"/>
              </a:rPr>
              <a:t>Engineering</a:t>
            </a:r>
            <a:r>
              <a:rPr dirty="0" sz="1000" spc="135">
                <a:latin typeface="Arial MT"/>
                <a:cs typeface="Arial MT"/>
              </a:rPr>
              <a:t> </a:t>
            </a:r>
            <a:r>
              <a:rPr dirty="0" sz="1000" spc="430">
                <a:latin typeface="Arial MT"/>
                <a:cs typeface="Arial MT"/>
              </a:rPr>
              <a:t>Design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331641" y="6678964"/>
            <a:ext cx="168910" cy="512445"/>
          </a:xfrm>
          <a:custGeom>
            <a:avLst/>
            <a:gdLst/>
            <a:ahLst/>
            <a:cxnLst/>
            <a:rect l="l" t="t" r="r" b="b"/>
            <a:pathLst>
              <a:path w="168910" h="512445">
                <a:moveTo>
                  <a:pt x="0" y="0"/>
                </a:moveTo>
                <a:lnTo>
                  <a:pt x="32946" y="3756"/>
                </a:lnTo>
                <a:lnTo>
                  <a:pt x="59776" y="14014"/>
                </a:lnTo>
                <a:lnTo>
                  <a:pt x="77826" y="29259"/>
                </a:lnTo>
                <a:lnTo>
                  <a:pt x="84434" y="47976"/>
                </a:lnTo>
                <a:lnTo>
                  <a:pt x="84434" y="208111"/>
                </a:lnTo>
                <a:lnTo>
                  <a:pt x="91042" y="226829"/>
                </a:lnTo>
                <a:lnTo>
                  <a:pt x="109092" y="242078"/>
                </a:lnTo>
                <a:lnTo>
                  <a:pt x="135921" y="252340"/>
                </a:lnTo>
                <a:lnTo>
                  <a:pt x="168868" y="256098"/>
                </a:lnTo>
                <a:lnTo>
                  <a:pt x="135921" y="259818"/>
                </a:lnTo>
                <a:lnTo>
                  <a:pt x="109092" y="270017"/>
                </a:lnTo>
                <a:lnTo>
                  <a:pt x="91042" y="285254"/>
                </a:lnTo>
                <a:lnTo>
                  <a:pt x="84434" y="304085"/>
                </a:lnTo>
                <a:lnTo>
                  <a:pt x="84434" y="463942"/>
                </a:lnTo>
                <a:lnTo>
                  <a:pt x="77826" y="482664"/>
                </a:lnTo>
                <a:lnTo>
                  <a:pt x="59776" y="497913"/>
                </a:lnTo>
                <a:lnTo>
                  <a:pt x="32946" y="508172"/>
                </a:lnTo>
                <a:lnTo>
                  <a:pt x="0" y="511929"/>
                </a:lnTo>
              </a:path>
            </a:pathLst>
          </a:custGeom>
          <a:ln w="1669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4581835" y="6754156"/>
            <a:ext cx="2322830" cy="339725"/>
          </a:xfrm>
          <a:prstGeom prst="rect">
            <a:avLst/>
          </a:prstGeom>
        </p:spPr>
        <p:txBody>
          <a:bodyPr wrap="square" lIns="0" tIns="5715" rIns="0" bIns="0" rtlCol="0" vert="horz">
            <a:spAutoFit/>
          </a:bodyPr>
          <a:lstStyle/>
          <a:p>
            <a:pPr marL="12700" marR="5080">
              <a:lnSpc>
                <a:spcPct val="105100"/>
              </a:lnSpc>
              <a:spcBef>
                <a:spcPts val="45"/>
              </a:spcBef>
            </a:pPr>
            <a:r>
              <a:rPr dirty="0" sz="1000" spc="395">
                <a:latin typeface="Arial MT"/>
                <a:cs typeface="Arial MT"/>
              </a:rPr>
              <a:t>Product</a:t>
            </a:r>
            <a:r>
              <a:rPr dirty="0" sz="1000" spc="90">
                <a:latin typeface="Arial MT"/>
                <a:cs typeface="Arial MT"/>
              </a:rPr>
              <a:t> </a:t>
            </a:r>
            <a:r>
              <a:rPr dirty="0" sz="1000" spc="440">
                <a:latin typeface="Arial MT"/>
                <a:cs typeface="Arial MT"/>
              </a:rPr>
              <a:t>Redesign</a:t>
            </a:r>
            <a:r>
              <a:rPr dirty="0" sz="1000" spc="175">
                <a:latin typeface="Arial MT"/>
                <a:cs typeface="Arial MT"/>
              </a:rPr>
              <a:t> </a:t>
            </a:r>
            <a:r>
              <a:rPr dirty="0" sz="1000" spc="455">
                <a:latin typeface="Arial MT"/>
                <a:cs typeface="Arial MT"/>
              </a:rPr>
              <a:t>and </a:t>
            </a:r>
            <a:r>
              <a:rPr dirty="0" sz="1000" spc="-260">
                <a:latin typeface="Arial MT"/>
                <a:cs typeface="Arial MT"/>
              </a:rPr>
              <a:t> </a:t>
            </a:r>
            <a:r>
              <a:rPr dirty="0" sz="1000" spc="405">
                <a:latin typeface="Arial MT"/>
                <a:cs typeface="Arial MT"/>
              </a:rPr>
              <a:t>Engineering</a:t>
            </a:r>
            <a:r>
              <a:rPr dirty="0" sz="1000" spc="125">
                <a:latin typeface="Arial MT"/>
                <a:cs typeface="Arial MT"/>
              </a:rPr>
              <a:t> </a:t>
            </a:r>
            <a:r>
              <a:rPr dirty="0" sz="1000" spc="440">
                <a:latin typeface="Arial MT"/>
                <a:cs typeface="Arial MT"/>
              </a:rPr>
              <a:t>Redesign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331641" y="4303655"/>
            <a:ext cx="225425" cy="575945"/>
          </a:xfrm>
          <a:custGeom>
            <a:avLst/>
            <a:gdLst/>
            <a:ahLst/>
            <a:cxnLst/>
            <a:rect l="l" t="t" r="r" b="b"/>
            <a:pathLst>
              <a:path w="225425" h="575945">
                <a:moveTo>
                  <a:pt x="0" y="0"/>
                </a:moveTo>
                <a:lnTo>
                  <a:pt x="43750" y="5027"/>
                </a:lnTo>
                <a:lnTo>
                  <a:pt x="79498" y="18734"/>
                </a:lnTo>
                <a:lnTo>
                  <a:pt x="103609" y="39054"/>
                </a:lnTo>
                <a:lnTo>
                  <a:pt x="112453" y="63925"/>
                </a:lnTo>
                <a:lnTo>
                  <a:pt x="112453" y="224060"/>
                </a:lnTo>
                <a:lnTo>
                  <a:pt x="121303" y="248869"/>
                </a:lnTo>
                <a:lnTo>
                  <a:pt x="145456" y="269158"/>
                </a:lnTo>
                <a:lnTo>
                  <a:pt x="181315" y="282853"/>
                </a:lnTo>
                <a:lnTo>
                  <a:pt x="225283" y="287879"/>
                </a:lnTo>
                <a:lnTo>
                  <a:pt x="181315" y="292921"/>
                </a:lnTo>
                <a:lnTo>
                  <a:pt x="145456" y="306653"/>
                </a:lnTo>
                <a:lnTo>
                  <a:pt x="121303" y="326979"/>
                </a:lnTo>
                <a:lnTo>
                  <a:pt x="112453" y="351804"/>
                </a:lnTo>
                <a:lnTo>
                  <a:pt x="112453" y="511939"/>
                </a:lnTo>
                <a:lnTo>
                  <a:pt x="103609" y="536765"/>
                </a:lnTo>
                <a:lnTo>
                  <a:pt x="79498" y="557091"/>
                </a:lnTo>
                <a:lnTo>
                  <a:pt x="43750" y="570822"/>
                </a:lnTo>
                <a:lnTo>
                  <a:pt x="0" y="575865"/>
                </a:lnTo>
              </a:path>
            </a:pathLst>
          </a:custGeom>
          <a:ln w="1643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4638250" y="4493551"/>
            <a:ext cx="1593850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00" spc="395">
                <a:latin typeface="Arial MT"/>
                <a:cs typeface="Arial MT"/>
              </a:rPr>
              <a:t>Product</a:t>
            </a:r>
            <a:r>
              <a:rPr dirty="0" sz="1000" spc="60">
                <a:latin typeface="Arial MT"/>
                <a:cs typeface="Arial MT"/>
              </a:rPr>
              <a:t> </a:t>
            </a:r>
            <a:r>
              <a:rPr dirty="0" sz="1000" spc="430">
                <a:latin typeface="Arial MT"/>
                <a:cs typeface="Arial MT"/>
              </a:rPr>
              <a:t>Design</a:t>
            </a:r>
            <a:endParaRPr sz="1000">
              <a:latin typeface="Arial MT"/>
              <a:cs typeface="Arial MT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500026" y="4032886"/>
            <a:ext cx="1927225" cy="3444875"/>
            <a:chOff x="1500026" y="4032886"/>
            <a:chExt cx="1927225" cy="3444875"/>
          </a:xfrm>
        </p:grpSpPr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343945" y="4032886"/>
              <a:ext cx="238918" cy="141737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2463629" y="4103648"/>
              <a:ext cx="0" cy="256540"/>
            </a:xfrm>
            <a:custGeom>
              <a:avLst/>
              <a:gdLst/>
              <a:ahLst/>
              <a:cxnLst/>
              <a:rect l="l" t="t" r="r" b="b"/>
              <a:pathLst>
                <a:path w="0" h="256539">
                  <a:moveTo>
                    <a:pt x="0" y="0"/>
                  </a:moveTo>
                  <a:lnTo>
                    <a:pt x="0" y="256023"/>
                  </a:lnTo>
                </a:path>
              </a:pathLst>
            </a:custGeom>
            <a:ln w="174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75594" y="4260796"/>
              <a:ext cx="175618" cy="105710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2382429" y="4807471"/>
              <a:ext cx="162560" cy="200660"/>
            </a:xfrm>
            <a:custGeom>
              <a:avLst/>
              <a:gdLst/>
              <a:ahLst/>
              <a:cxnLst/>
              <a:rect l="l" t="t" r="r" b="b"/>
              <a:pathLst>
                <a:path w="162560" h="200660">
                  <a:moveTo>
                    <a:pt x="81199" y="0"/>
                  </a:moveTo>
                  <a:lnTo>
                    <a:pt x="81199" y="200115"/>
                  </a:lnTo>
                </a:path>
                <a:path w="162560" h="200660">
                  <a:moveTo>
                    <a:pt x="0" y="107968"/>
                  </a:moveTo>
                  <a:lnTo>
                    <a:pt x="34559" y="126545"/>
                  </a:lnTo>
                  <a:lnTo>
                    <a:pt x="60041" y="148750"/>
                  </a:lnTo>
                  <a:lnTo>
                    <a:pt x="75803" y="173600"/>
                  </a:lnTo>
                  <a:lnTo>
                    <a:pt x="81199" y="200115"/>
                  </a:lnTo>
                  <a:lnTo>
                    <a:pt x="86719" y="173600"/>
                  </a:lnTo>
                  <a:lnTo>
                    <a:pt x="102647" y="148750"/>
                  </a:lnTo>
                  <a:lnTo>
                    <a:pt x="128038" y="126545"/>
                  </a:lnTo>
                  <a:lnTo>
                    <a:pt x="161948" y="107968"/>
                  </a:lnTo>
                </a:path>
              </a:pathLst>
            </a:custGeom>
            <a:ln w="1367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1505741" y="4359671"/>
              <a:ext cx="1915795" cy="448309"/>
            </a:xfrm>
            <a:custGeom>
              <a:avLst/>
              <a:gdLst/>
              <a:ahLst/>
              <a:cxnLst/>
              <a:rect l="l" t="t" r="r" b="b"/>
              <a:pathLst>
                <a:path w="1915795" h="448310">
                  <a:moveTo>
                    <a:pt x="1690079" y="0"/>
                  </a:moveTo>
                  <a:lnTo>
                    <a:pt x="225246" y="0"/>
                  </a:lnTo>
                  <a:lnTo>
                    <a:pt x="165394" y="4563"/>
                  </a:lnTo>
                  <a:lnTo>
                    <a:pt x="111595" y="17444"/>
                  </a:lnTo>
                  <a:lnTo>
                    <a:pt x="66003" y="37428"/>
                  </a:lnTo>
                  <a:lnTo>
                    <a:pt x="30770" y="63300"/>
                  </a:lnTo>
                  <a:lnTo>
                    <a:pt x="0" y="127851"/>
                  </a:lnTo>
                  <a:lnTo>
                    <a:pt x="0" y="319735"/>
                  </a:lnTo>
                  <a:lnTo>
                    <a:pt x="30770" y="384389"/>
                  </a:lnTo>
                  <a:lnTo>
                    <a:pt x="66003" y="410305"/>
                  </a:lnTo>
                  <a:lnTo>
                    <a:pt x="111595" y="430324"/>
                  </a:lnTo>
                  <a:lnTo>
                    <a:pt x="165394" y="443228"/>
                  </a:lnTo>
                  <a:lnTo>
                    <a:pt x="225246" y="447800"/>
                  </a:lnTo>
                  <a:lnTo>
                    <a:pt x="1690079" y="447800"/>
                  </a:lnTo>
                  <a:lnTo>
                    <a:pt x="1749926" y="443228"/>
                  </a:lnTo>
                  <a:lnTo>
                    <a:pt x="1803730" y="430324"/>
                  </a:lnTo>
                  <a:lnTo>
                    <a:pt x="1849333" y="410305"/>
                  </a:lnTo>
                  <a:lnTo>
                    <a:pt x="1884578" y="384389"/>
                  </a:lnTo>
                  <a:lnTo>
                    <a:pt x="1907307" y="353793"/>
                  </a:lnTo>
                  <a:lnTo>
                    <a:pt x="1915362" y="319735"/>
                  </a:lnTo>
                  <a:lnTo>
                    <a:pt x="1915362" y="127851"/>
                  </a:lnTo>
                  <a:lnTo>
                    <a:pt x="1884578" y="63300"/>
                  </a:lnTo>
                  <a:lnTo>
                    <a:pt x="1849333" y="37428"/>
                  </a:lnTo>
                  <a:lnTo>
                    <a:pt x="1803730" y="17444"/>
                  </a:lnTo>
                  <a:lnTo>
                    <a:pt x="1749926" y="4563"/>
                  </a:lnTo>
                  <a:lnTo>
                    <a:pt x="1690079" y="0"/>
                  </a:lnTo>
                  <a:close/>
                </a:path>
              </a:pathLst>
            </a:custGeom>
            <a:solidFill>
              <a:srgbClr val="FDEEB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1505741" y="4359671"/>
              <a:ext cx="1915795" cy="2375535"/>
            </a:xfrm>
            <a:custGeom>
              <a:avLst/>
              <a:gdLst/>
              <a:ahLst/>
              <a:cxnLst/>
              <a:rect l="l" t="t" r="r" b="b"/>
              <a:pathLst>
                <a:path w="1915795" h="2375534">
                  <a:moveTo>
                    <a:pt x="1690079" y="447800"/>
                  </a:moveTo>
                  <a:lnTo>
                    <a:pt x="1749926" y="443228"/>
                  </a:lnTo>
                  <a:lnTo>
                    <a:pt x="1803730" y="430324"/>
                  </a:lnTo>
                  <a:lnTo>
                    <a:pt x="1849333" y="410305"/>
                  </a:lnTo>
                  <a:lnTo>
                    <a:pt x="1884578" y="384389"/>
                  </a:lnTo>
                  <a:lnTo>
                    <a:pt x="1907307" y="353793"/>
                  </a:lnTo>
                  <a:lnTo>
                    <a:pt x="1915362" y="319735"/>
                  </a:lnTo>
                  <a:lnTo>
                    <a:pt x="1915362" y="127851"/>
                  </a:lnTo>
                  <a:lnTo>
                    <a:pt x="1884578" y="63300"/>
                  </a:lnTo>
                  <a:lnTo>
                    <a:pt x="1849333" y="37428"/>
                  </a:lnTo>
                  <a:lnTo>
                    <a:pt x="1803730" y="17444"/>
                  </a:lnTo>
                  <a:lnTo>
                    <a:pt x="1749926" y="4563"/>
                  </a:lnTo>
                  <a:lnTo>
                    <a:pt x="1690079" y="0"/>
                  </a:lnTo>
                  <a:lnTo>
                    <a:pt x="225246" y="0"/>
                  </a:lnTo>
                  <a:lnTo>
                    <a:pt x="165394" y="4563"/>
                  </a:lnTo>
                  <a:lnTo>
                    <a:pt x="111595" y="17444"/>
                  </a:lnTo>
                  <a:lnTo>
                    <a:pt x="66003" y="37428"/>
                  </a:lnTo>
                  <a:lnTo>
                    <a:pt x="30770" y="63300"/>
                  </a:lnTo>
                  <a:lnTo>
                    <a:pt x="0" y="127851"/>
                  </a:lnTo>
                  <a:lnTo>
                    <a:pt x="0" y="319735"/>
                  </a:lnTo>
                  <a:lnTo>
                    <a:pt x="8051" y="353793"/>
                  </a:lnTo>
                  <a:lnTo>
                    <a:pt x="30770" y="384389"/>
                  </a:lnTo>
                  <a:lnTo>
                    <a:pt x="66003" y="410305"/>
                  </a:lnTo>
                  <a:lnTo>
                    <a:pt x="111595" y="430324"/>
                  </a:lnTo>
                  <a:lnTo>
                    <a:pt x="165394" y="443228"/>
                  </a:lnTo>
                  <a:lnTo>
                    <a:pt x="225246" y="447800"/>
                  </a:lnTo>
                  <a:lnTo>
                    <a:pt x="1690079" y="447800"/>
                  </a:lnTo>
                  <a:close/>
                </a:path>
                <a:path w="1915795" h="2375534">
                  <a:moveTo>
                    <a:pt x="957888" y="1031790"/>
                  </a:moveTo>
                  <a:lnTo>
                    <a:pt x="957888" y="1223673"/>
                  </a:lnTo>
                </a:path>
                <a:path w="1915795" h="2375534">
                  <a:moveTo>
                    <a:pt x="876688" y="1131633"/>
                  </a:moveTo>
                  <a:lnTo>
                    <a:pt x="911248" y="1150209"/>
                  </a:lnTo>
                  <a:lnTo>
                    <a:pt x="936730" y="1172402"/>
                  </a:lnTo>
                  <a:lnTo>
                    <a:pt x="952491" y="1197221"/>
                  </a:lnTo>
                  <a:lnTo>
                    <a:pt x="957888" y="1223673"/>
                  </a:lnTo>
                  <a:lnTo>
                    <a:pt x="963407" y="1197221"/>
                  </a:lnTo>
                  <a:lnTo>
                    <a:pt x="979335" y="1172402"/>
                  </a:lnTo>
                  <a:lnTo>
                    <a:pt x="1004726" y="1150209"/>
                  </a:lnTo>
                  <a:lnTo>
                    <a:pt x="1038636" y="1131633"/>
                  </a:lnTo>
                </a:path>
                <a:path w="1915795" h="2375534">
                  <a:moveTo>
                    <a:pt x="957888" y="1606265"/>
                  </a:moveTo>
                  <a:lnTo>
                    <a:pt x="957888" y="1799539"/>
                  </a:lnTo>
                </a:path>
                <a:path w="1915795" h="2375534">
                  <a:moveTo>
                    <a:pt x="876688" y="1707499"/>
                  </a:moveTo>
                  <a:lnTo>
                    <a:pt x="911248" y="1726149"/>
                  </a:lnTo>
                  <a:lnTo>
                    <a:pt x="936730" y="1748307"/>
                  </a:lnTo>
                  <a:lnTo>
                    <a:pt x="952491" y="1773071"/>
                  </a:lnTo>
                  <a:lnTo>
                    <a:pt x="957888" y="1799539"/>
                  </a:lnTo>
                  <a:lnTo>
                    <a:pt x="963407" y="1773071"/>
                  </a:lnTo>
                  <a:lnTo>
                    <a:pt x="979335" y="1748307"/>
                  </a:lnTo>
                  <a:lnTo>
                    <a:pt x="1004726" y="1726149"/>
                  </a:lnTo>
                  <a:lnTo>
                    <a:pt x="1038636" y="1707499"/>
                  </a:lnTo>
                </a:path>
                <a:path w="1915795" h="2375534">
                  <a:moveTo>
                    <a:pt x="957888" y="2182633"/>
                  </a:moveTo>
                  <a:lnTo>
                    <a:pt x="957888" y="2375361"/>
                  </a:lnTo>
                </a:path>
                <a:path w="1915795" h="2375534">
                  <a:moveTo>
                    <a:pt x="876688" y="2283300"/>
                  </a:moveTo>
                  <a:lnTo>
                    <a:pt x="911248" y="2301976"/>
                  </a:lnTo>
                  <a:lnTo>
                    <a:pt x="936730" y="2324147"/>
                  </a:lnTo>
                  <a:lnTo>
                    <a:pt x="952491" y="2348910"/>
                  </a:lnTo>
                  <a:lnTo>
                    <a:pt x="957888" y="2375361"/>
                  </a:lnTo>
                  <a:lnTo>
                    <a:pt x="963407" y="2348910"/>
                  </a:lnTo>
                  <a:lnTo>
                    <a:pt x="979335" y="2324147"/>
                  </a:lnTo>
                  <a:lnTo>
                    <a:pt x="1004726" y="2301976"/>
                  </a:lnTo>
                  <a:lnTo>
                    <a:pt x="1038636" y="2283300"/>
                  </a:lnTo>
                </a:path>
              </a:pathLst>
            </a:custGeom>
            <a:ln w="1367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2322780" y="7310866"/>
              <a:ext cx="281940" cy="160020"/>
            </a:xfrm>
            <a:custGeom>
              <a:avLst/>
              <a:gdLst/>
              <a:ahLst/>
              <a:cxnLst/>
              <a:rect l="l" t="t" r="r" b="b"/>
              <a:pathLst>
                <a:path w="281939" h="160020">
                  <a:moveTo>
                    <a:pt x="140849" y="0"/>
                  </a:moveTo>
                  <a:lnTo>
                    <a:pt x="86132" y="6310"/>
                  </a:lnTo>
                  <a:lnTo>
                    <a:pt x="41349" y="23500"/>
                  </a:lnTo>
                  <a:lnTo>
                    <a:pt x="11104" y="48953"/>
                  </a:lnTo>
                  <a:lnTo>
                    <a:pt x="0" y="80056"/>
                  </a:lnTo>
                  <a:lnTo>
                    <a:pt x="11104" y="111012"/>
                  </a:lnTo>
                  <a:lnTo>
                    <a:pt x="41349" y="136393"/>
                  </a:lnTo>
                  <a:lnTo>
                    <a:pt x="86132" y="153559"/>
                  </a:lnTo>
                  <a:lnTo>
                    <a:pt x="140849" y="159867"/>
                  </a:lnTo>
                  <a:lnTo>
                    <a:pt x="195364" y="153559"/>
                  </a:lnTo>
                  <a:lnTo>
                    <a:pt x="240163" y="136393"/>
                  </a:lnTo>
                  <a:lnTo>
                    <a:pt x="270512" y="111012"/>
                  </a:lnTo>
                  <a:lnTo>
                    <a:pt x="281679" y="80056"/>
                  </a:lnTo>
                  <a:lnTo>
                    <a:pt x="270512" y="48953"/>
                  </a:lnTo>
                  <a:lnTo>
                    <a:pt x="240163" y="23500"/>
                  </a:lnTo>
                  <a:lnTo>
                    <a:pt x="195364" y="6310"/>
                  </a:lnTo>
                  <a:lnTo>
                    <a:pt x="140849" y="0"/>
                  </a:lnTo>
                  <a:close/>
                </a:path>
              </a:pathLst>
            </a:custGeom>
            <a:solidFill>
              <a:srgbClr val="FDEEB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2322780" y="7310866"/>
              <a:ext cx="281940" cy="160020"/>
            </a:xfrm>
            <a:custGeom>
              <a:avLst/>
              <a:gdLst/>
              <a:ahLst/>
              <a:cxnLst/>
              <a:rect l="l" t="t" r="r" b="b"/>
              <a:pathLst>
                <a:path w="281939" h="160020">
                  <a:moveTo>
                    <a:pt x="281679" y="80056"/>
                  </a:moveTo>
                  <a:lnTo>
                    <a:pt x="270512" y="48953"/>
                  </a:lnTo>
                  <a:lnTo>
                    <a:pt x="240163" y="23500"/>
                  </a:lnTo>
                  <a:lnTo>
                    <a:pt x="195364" y="6310"/>
                  </a:lnTo>
                  <a:lnTo>
                    <a:pt x="140849" y="0"/>
                  </a:lnTo>
                  <a:lnTo>
                    <a:pt x="86132" y="6310"/>
                  </a:lnTo>
                  <a:lnTo>
                    <a:pt x="41349" y="23500"/>
                  </a:lnTo>
                  <a:lnTo>
                    <a:pt x="11104" y="48953"/>
                  </a:lnTo>
                  <a:lnTo>
                    <a:pt x="0" y="80056"/>
                  </a:lnTo>
                  <a:lnTo>
                    <a:pt x="11104" y="111012"/>
                  </a:lnTo>
                  <a:lnTo>
                    <a:pt x="41349" y="136393"/>
                  </a:lnTo>
                  <a:lnTo>
                    <a:pt x="86132" y="153559"/>
                  </a:lnTo>
                  <a:lnTo>
                    <a:pt x="140849" y="159867"/>
                  </a:lnTo>
                  <a:lnTo>
                    <a:pt x="195364" y="153559"/>
                  </a:lnTo>
                  <a:lnTo>
                    <a:pt x="240163" y="136393"/>
                  </a:lnTo>
                  <a:lnTo>
                    <a:pt x="270512" y="111012"/>
                  </a:lnTo>
                  <a:lnTo>
                    <a:pt x="281679" y="80056"/>
                  </a:lnTo>
                </a:path>
              </a:pathLst>
            </a:custGeom>
            <a:ln w="1174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8" name="object 1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386143" y="7343925"/>
              <a:ext cx="154502" cy="93739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2382429" y="7118918"/>
              <a:ext cx="162560" cy="192405"/>
            </a:xfrm>
            <a:custGeom>
              <a:avLst/>
              <a:gdLst/>
              <a:ahLst/>
              <a:cxnLst/>
              <a:rect l="l" t="t" r="r" b="b"/>
              <a:pathLst>
                <a:path w="162560" h="192404">
                  <a:moveTo>
                    <a:pt x="81199" y="0"/>
                  </a:moveTo>
                  <a:lnTo>
                    <a:pt x="81199" y="191948"/>
                  </a:lnTo>
                </a:path>
                <a:path w="162560" h="192404">
                  <a:moveTo>
                    <a:pt x="0" y="99886"/>
                  </a:moveTo>
                  <a:lnTo>
                    <a:pt x="34559" y="118558"/>
                  </a:lnTo>
                  <a:lnTo>
                    <a:pt x="60041" y="140729"/>
                  </a:lnTo>
                  <a:lnTo>
                    <a:pt x="75803" y="165495"/>
                  </a:lnTo>
                  <a:lnTo>
                    <a:pt x="81199" y="191948"/>
                  </a:lnTo>
                  <a:lnTo>
                    <a:pt x="86719" y="165495"/>
                  </a:lnTo>
                  <a:lnTo>
                    <a:pt x="102647" y="140729"/>
                  </a:lnTo>
                  <a:lnTo>
                    <a:pt x="128038" y="118558"/>
                  </a:lnTo>
                  <a:lnTo>
                    <a:pt x="161948" y="99886"/>
                  </a:lnTo>
                </a:path>
              </a:pathLst>
            </a:custGeom>
            <a:ln w="1367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/>
          <p:cNvSpPr txBox="1"/>
          <p:nvPr/>
        </p:nvSpPr>
        <p:spPr>
          <a:xfrm>
            <a:off x="1746739" y="4408031"/>
            <a:ext cx="1467485" cy="328930"/>
          </a:xfrm>
          <a:prstGeom prst="rect">
            <a:avLst/>
          </a:prstGeom>
        </p:spPr>
        <p:txBody>
          <a:bodyPr wrap="square" lIns="0" tIns="20955" rIns="0" bIns="0" rtlCol="0" vert="horz">
            <a:spAutoFit/>
          </a:bodyPr>
          <a:lstStyle/>
          <a:p>
            <a:pPr marL="68580" marR="5080" indent="-56515">
              <a:lnSpc>
                <a:spcPts val="1180"/>
              </a:lnSpc>
              <a:spcBef>
                <a:spcPts val="165"/>
              </a:spcBef>
            </a:pPr>
            <a:r>
              <a:rPr dirty="0" sz="1000" spc="600">
                <a:latin typeface="Arial MT"/>
                <a:cs typeface="Arial MT"/>
              </a:rPr>
              <a:t>R</a:t>
            </a:r>
            <a:r>
              <a:rPr dirty="0" sz="1000" spc="470">
                <a:latin typeface="Arial MT"/>
                <a:cs typeface="Arial MT"/>
              </a:rPr>
              <a:t>equ</a:t>
            </a:r>
            <a:r>
              <a:rPr dirty="0" sz="1000" spc="215">
                <a:latin typeface="Arial MT"/>
                <a:cs typeface="Arial MT"/>
              </a:rPr>
              <a:t>i</a:t>
            </a:r>
            <a:r>
              <a:rPr dirty="0" sz="1000" spc="254">
                <a:latin typeface="Arial MT"/>
                <a:cs typeface="Arial MT"/>
              </a:rPr>
              <a:t>r</a:t>
            </a:r>
            <a:r>
              <a:rPr dirty="0" sz="1000" spc="475">
                <a:latin typeface="Arial MT"/>
                <a:cs typeface="Arial MT"/>
              </a:rPr>
              <a:t>e</a:t>
            </a:r>
            <a:r>
              <a:rPr dirty="0" sz="1000" spc="640">
                <a:latin typeface="Arial MT"/>
                <a:cs typeface="Arial MT"/>
              </a:rPr>
              <a:t>m</a:t>
            </a:r>
            <a:r>
              <a:rPr dirty="0" sz="1000" spc="470">
                <a:latin typeface="Arial MT"/>
                <a:cs typeface="Arial MT"/>
              </a:rPr>
              <a:t>e</a:t>
            </a:r>
            <a:r>
              <a:rPr dirty="0" sz="1000" spc="470">
                <a:latin typeface="Arial MT"/>
                <a:cs typeface="Arial MT"/>
              </a:rPr>
              <a:t>n</a:t>
            </a:r>
            <a:r>
              <a:rPr dirty="0" sz="1000" spc="165">
                <a:latin typeface="Arial MT"/>
                <a:cs typeface="Arial MT"/>
              </a:rPr>
              <a:t>t</a:t>
            </a:r>
            <a:r>
              <a:rPr dirty="0" sz="1000" spc="270">
                <a:latin typeface="Arial MT"/>
                <a:cs typeface="Arial MT"/>
              </a:rPr>
              <a:t>s  </a:t>
            </a:r>
            <a:r>
              <a:rPr dirty="0" sz="1000" spc="350">
                <a:latin typeface="Arial MT"/>
                <a:cs typeface="Arial MT"/>
              </a:rPr>
              <a:t>Specification</a:t>
            </a:r>
            <a:endParaRPr sz="1000">
              <a:latin typeface="Arial MT"/>
              <a:cs typeface="Arial MT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1725272" y="5001871"/>
            <a:ext cx="1476375" cy="395605"/>
            <a:chOff x="1725272" y="5001871"/>
            <a:chExt cx="1476375" cy="395605"/>
          </a:xfrm>
        </p:grpSpPr>
        <p:sp>
          <p:nvSpPr>
            <p:cNvPr id="22" name="object 22"/>
            <p:cNvSpPr/>
            <p:nvPr/>
          </p:nvSpPr>
          <p:spPr>
            <a:xfrm>
              <a:off x="1730987" y="5007586"/>
              <a:ext cx="1464945" cy="384175"/>
            </a:xfrm>
            <a:custGeom>
              <a:avLst/>
              <a:gdLst/>
              <a:ahLst/>
              <a:cxnLst/>
              <a:rect l="l" t="t" r="r" b="b"/>
              <a:pathLst>
                <a:path w="1464945" h="384175">
                  <a:moveTo>
                    <a:pt x="1239549" y="0"/>
                  </a:moveTo>
                  <a:lnTo>
                    <a:pt x="225716" y="0"/>
                  </a:lnTo>
                  <a:lnTo>
                    <a:pt x="165666" y="4555"/>
                  </a:lnTo>
                  <a:lnTo>
                    <a:pt x="111735" y="17416"/>
                  </a:lnTo>
                  <a:lnTo>
                    <a:pt x="66061" y="37374"/>
                  </a:lnTo>
                  <a:lnTo>
                    <a:pt x="30787" y="63220"/>
                  </a:lnTo>
                  <a:lnTo>
                    <a:pt x="0" y="127744"/>
                  </a:lnTo>
                  <a:lnTo>
                    <a:pt x="0" y="255809"/>
                  </a:lnTo>
                  <a:lnTo>
                    <a:pt x="30787" y="320416"/>
                  </a:lnTo>
                  <a:lnTo>
                    <a:pt x="66061" y="346339"/>
                  </a:lnTo>
                  <a:lnTo>
                    <a:pt x="111735" y="366374"/>
                  </a:lnTo>
                  <a:lnTo>
                    <a:pt x="165666" y="379295"/>
                  </a:lnTo>
                  <a:lnTo>
                    <a:pt x="225716" y="383874"/>
                  </a:lnTo>
                  <a:lnTo>
                    <a:pt x="1239549" y="383874"/>
                  </a:lnTo>
                  <a:lnTo>
                    <a:pt x="1299397" y="379295"/>
                  </a:lnTo>
                  <a:lnTo>
                    <a:pt x="1353201" y="366374"/>
                  </a:lnTo>
                  <a:lnTo>
                    <a:pt x="1398804" y="346339"/>
                  </a:lnTo>
                  <a:lnTo>
                    <a:pt x="1434048" y="320416"/>
                  </a:lnTo>
                  <a:lnTo>
                    <a:pt x="1456777" y="289830"/>
                  </a:lnTo>
                  <a:lnTo>
                    <a:pt x="1464833" y="255809"/>
                  </a:lnTo>
                  <a:lnTo>
                    <a:pt x="1464833" y="127744"/>
                  </a:lnTo>
                  <a:lnTo>
                    <a:pt x="1434048" y="63220"/>
                  </a:lnTo>
                  <a:lnTo>
                    <a:pt x="1398804" y="37374"/>
                  </a:lnTo>
                  <a:lnTo>
                    <a:pt x="1353201" y="17416"/>
                  </a:lnTo>
                  <a:lnTo>
                    <a:pt x="1299397" y="4555"/>
                  </a:lnTo>
                  <a:lnTo>
                    <a:pt x="1239549" y="0"/>
                  </a:lnTo>
                  <a:close/>
                </a:path>
              </a:pathLst>
            </a:custGeom>
            <a:solidFill>
              <a:srgbClr val="FDEEB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1730987" y="5007586"/>
              <a:ext cx="1464945" cy="384175"/>
            </a:xfrm>
            <a:custGeom>
              <a:avLst/>
              <a:gdLst/>
              <a:ahLst/>
              <a:cxnLst/>
              <a:rect l="l" t="t" r="r" b="b"/>
              <a:pathLst>
                <a:path w="1464945" h="384175">
                  <a:moveTo>
                    <a:pt x="1239549" y="383874"/>
                  </a:moveTo>
                  <a:lnTo>
                    <a:pt x="1299397" y="379295"/>
                  </a:lnTo>
                  <a:lnTo>
                    <a:pt x="1353201" y="366374"/>
                  </a:lnTo>
                  <a:lnTo>
                    <a:pt x="1398804" y="346339"/>
                  </a:lnTo>
                  <a:lnTo>
                    <a:pt x="1434048" y="320416"/>
                  </a:lnTo>
                  <a:lnTo>
                    <a:pt x="1456777" y="289830"/>
                  </a:lnTo>
                  <a:lnTo>
                    <a:pt x="1464833" y="255809"/>
                  </a:lnTo>
                  <a:lnTo>
                    <a:pt x="1464833" y="127744"/>
                  </a:lnTo>
                  <a:lnTo>
                    <a:pt x="1456777" y="93747"/>
                  </a:lnTo>
                  <a:lnTo>
                    <a:pt x="1398804" y="37374"/>
                  </a:lnTo>
                  <a:lnTo>
                    <a:pt x="1353201" y="17416"/>
                  </a:lnTo>
                  <a:lnTo>
                    <a:pt x="1299397" y="4555"/>
                  </a:lnTo>
                  <a:lnTo>
                    <a:pt x="1239549" y="0"/>
                  </a:lnTo>
                  <a:lnTo>
                    <a:pt x="225716" y="0"/>
                  </a:lnTo>
                  <a:lnTo>
                    <a:pt x="165666" y="4555"/>
                  </a:lnTo>
                  <a:lnTo>
                    <a:pt x="111735" y="17416"/>
                  </a:lnTo>
                  <a:lnTo>
                    <a:pt x="66061" y="37374"/>
                  </a:lnTo>
                  <a:lnTo>
                    <a:pt x="30787" y="63220"/>
                  </a:lnTo>
                  <a:lnTo>
                    <a:pt x="0" y="127744"/>
                  </a:lnTo>
                  <a:lnTo>
                    <a:pt x="0" y="255809"/>
                  </a:lnTo>
                  <a:lnTo>
                    <a:pt x="8053" y="289830"/>
                  </a:lnTo>
                  <a:lnTo>
                    <a:pt x="30787" y="320416"/>
                  </a:lnTo>
                  <a:lnTo>
                    <a:pt x="66061" y="346339"/>
                  </a:lnTo>
                  <a:lnTo>
                    <a:pt x="111735" y="366374"/>
                  </a:lnTo>
                  <a:lnTo>
                    <a:pt x="165666" y="379295"/>
                  </a:lnTo>
                  <a:lnTo>
                    <a:pt x="225716" y="383874"/>
                  </a:lnTo>
                  <a:lnTo>
                    <a:pt x="1239549" y="383874"/>
                  </a:lnTo>
                  <a:close/>
                </a:path>
              </a:pathLst>
            </a:custGeom>
            <a:ln w="1039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" name="object 24"/>
          <p:cNvSpPr txBox="1"/>
          <p:nvPr/>
        </p:nvSpPr>
        <p:spPr>
          <a:xfrm>
            <a:off x="2103188" y="5101272"/>
            <a:ext cx="750570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00" spc="600">
                <a:latin typeface="Arial MT"/>
                <a:cs typeface="Arial MT"/>
              </a:rPr>
              <a:t>D</a:t>
            </a:r>
            <a:r>
              <a:rPr dirty="0" sz="1000" spc="470">
                <a:latin typeface="Arial MT"/>
                <a:cs typeface="Arial MT"/>
              </a:rPr>
              <a:t>e</a:t>
            </a:r>
            <a:r>
              <a:rPr dirty="0" sz="1000" spc="385">
                <a:latin typeface="Arial MT"/>
                <a:cs typeface="Arial MT"/>
              </a:rPr>
              <a:t>s</a:t>
            </a:r>
            <a:r>
              <a:rPr dirty="0" sz="1000" spc="220">
                <a:latin typeface="Arial MT"/>
                <a:cs typeface="Arial MT"/>
              </a:rPr>
              <a:t>i</a:t>
            </a:r>
            <a:r>
              <a:rPr dirty="0" sz="1000" spc="470">
                <a:latin typeface="Arial MT"/>
                <a:cs typeface="Arial MT"/>
              </a:rPr>
              <a:t>g</a:t>
            </a:r>
            <a:r>
              <a:rPr dirty="0" sz="1000" spc="430">
                <a:latin typeface="Arial MT"/>
                <a:cs typeface="Arial MT"/>
              </a:rPr>
              <a:t>n</a:t>
            </a:r>
            <a:endParaRPr sz="1000">
              <a:latin typeface="Arial MT"/>
              <a:cs typeface="Arial MT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1491167" y="5577947"/>
            <a:ext cx="1945005" cy="393700"/>
            <a:chOff x="1491167" y="5577947"/>
            <a:chExt cx="1945005" cy="393700"/>
          </a:xfrm>
        </p:grpSpPr>
        <p:sp>
          <p:nvSpPr>
            <p:cNvPr id="26" name="object 26"/>
            <p:cNvSpPr/>
            <p:nvPr/>
          </p:nvSpPr>
          <p:spPr>
            <a:xfrm>
              <a:off x="1496564" y="5583345"/>
              <a:ext cx="1934210" cy="382905"/>
            </a:xfrm>
            <a:custGeom>
              <a:avLst/>
              <a:gdLst/>
              <a:ahLst/>
              <a:cxnLst/>
              <a:rect l="l" t="t" r="r" b="b"/>
              <a:pathLst>
                <a:path w="1934210" h="382904">
                  <a:moveTo>
                    <a:pt x="1708470" y="0"/>
                  </a:moveTo>
                  <a:lnTo>
                    <a:pt x="225246" y="0"/>
                  </a:lnTo>
                  <a:lnTo>
                    <a:pt x="165394" y="4578"/>
                  </a:lnTo>
                  <a:lnTo>
                    <a:pt x="111595" y="17491"/>
                  </a:lnTo>
                  <a:lnTo>
                    <a:pt x="66003" y="37508"/>
                  </a:lnTo>
                  <a:lnTo>
                    <a:pt x="30770" y="63395"/>
                  </a:lnTo>
                  <a:lnTo>
                    <a:pt x="0" y="127851"/>
                  </a:lnTo>
                  <a:lnTo>
                    <a:pt x="0" y="254526"/>
                  </a:lnTo>
                  <a:lnTo>
                    <a:pt x="30770" y="319133"/>
                  </a:lnTo>
                  <a:lnTo>
                    <a:pt x="66003" y="345056"/>
                  </a:lnTo>
                  <a:lnTo>
                    <a:pt x="111595" y="365092"/>
                  </a:lnTo>
                  <a:lnTo>
                    <a:pt x="165394" y="378012"/>
                  </a:lnTo>
                  <a:lnTo>
                    <a:pt x="225246" y="382591"/>
                  </a:lnTo>
                  <a:lnTo>
                    <a:pt x="1708470" y="382591"/>
                  </a:lnTo>
                  <a:lnTo>
                    <a:pt x="1768318" y="378012"/>
                  </a:lnTo>
                  <a:lnTo>
                    <a:pt x="1822122" y="365092"/>
                  </a:lnTo>
                  <a:lnTo>
                    <a:pt x="1867725" y="345056"/>
                  </a:lnTo>
                  <a:lnTo>
                    <a:pt x="1902969" y="319133"/>
                  </a:lnTo>
                  <a:lnTo>
                    <a:pt x="1925698" y="288547"/>
                  </a:lnTo>
                  <a:lnTo>
                    <a:pt x="1933754" y="254526"/>
                  </a:lnTo>
                  <a:lnTo>
                    <a:pt x="1933754" y="127851"/>
                  </a:lnTo>
                  <a:lnTo>
                    <a:pt x="1902969" y="63395"/>
                  </a:lnTo>
                  <a:lnTo>
                    <a:pt x="1867725" y="37508"/>
                  </a:lnTo>
                  <a:lnTo>
                    <a:pt x="1822122" y="17491"/>
                  </a:lnTo>
                  <a:lnTo>
                    <a:pt x="1768318" y="4578"/>
                  </a:lnTo>
                  <a:lnTo>
                    <a:pt x="1708470" y="0"/>
                  </a:lnTo>
                  <a:close/>
                </a:path>
              </a:pathLst>
            </a:custGeom>
            <a:solidFill>
              <a:srgbClr val="FDEEB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1496564" y="5583345"/>
              <a:ext cx="1934210" cy="382905"/>
            </a:xfrm>
            <a:custGeom>
              <a:avLst/>
              <a:gdLst/>
              <a:ahLst/>
              <a:cxnLst/>
              <a:rect l="l" t="t" r="r" b="b"/>
              <a:pathLst>
                <a:path w="1934210" h="382904">
                  <a:moveTo>
                    <a:pt x="1708470" y="382591"/>
                  </a:moveTo>
                  <a:lnTo>
                    <a:pt x="1768318" y="378012"/>
                  </a:lnTo>
                  <a:lnTo>
                    <a:pt x="1822122" y="365092"/>
                  </a:lnTo>
                  <a:lnTo>
                    <a:pt x="1867725" y="345056"/>
                  </a:lnTo>
                  <a:lnTo>
                    <a:pt x="1902969" y="319133"/>
                  </a:lnTo>
                  <a:lnTo>
                    <a:pt x="1925698" y="288547"/>
                  </a:lnTo>
                  <a:lnTo>
                    <a:pt x="1933754" y="254526"/>
                  </a:lnTo>
                  <a:lnTo>
                    <a:pt x="1933754" y="127851"/>
                  </a:lnTo>
                  <a:lnTo>
                    <a:pt x="1925698" y="93920"/>
                  </a:lnTo>
                  <a:lnTo>
                    <a:pt x="1867725" y="37508"/>
                  </a:lnTo>
                  <a:lnTo>
                    <a:pt x="1822122" y="17491"/>
                  </a:lnTo>
                  <a:lnTo>
                    <a:pt x="1768318" y="4578"/>
                  </a:lnTo>
                  <a:lnTo>
                    <a:pt x="1708470" y="0"/>
                  </a:lnTo>
                  <a:lnTo>
                    <a:pt x="225246" y="0"/>
                  </a:lnTo>
                  <a:lnTo>
                    <a:pt x="165394" y="4578"/>
                  </a:lnTo>
                  <a:lnTo>
                    <a:pt x="111595" y="17491"/>
                  </a:lnTo>
                  <a:lnTo>
                    <a:pt x="66003" y="37508"/>
                  </a:lnTo>
                  <a:lnTo>
                    <a:pt x="30770" y="63395"/>
                  </a:lnTo>
                  <a:lnTo>
                    <a:pt x="0" y="127851"/>
                  </a:lnTo>
                  <a:lnTo>
                    <a:pt x="0" y="254526"/>
                  </a:lnTo>
                  <a:lnTo>
                    <a:pt x="8051" y="288547"/>
                  </a:lnTo>
                  <a:lnTo>
                    <a:pt x="30770" y="319133"/>
                  </a:lnTo>
                  <a:lnTo>
                    <a:pt x="66003" y="345056"/>
                  </a:lnTo>
                  <a:lnTo>
                    <a:pt x="111595" y="365092"/>
                  </a:lnTo>
                  <a:lnTo>
                    <a:pt x="165394" y="378012"/>
                  </a:lnTo>
                  <a:lnTo>
                    <a:pt x="225246" y="382591"/>
                  </a:lnTo>
                  <a:lnTo>
                    <a:pt x="1708470" y="382591"/>
                  </a:lnTo>
                  <a:close/>
                </a:path>
              </a:pathLst>
            </a:custGeom>
            <a:ln w="1019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8" name="object 28"/>
          <p:cNvSpPr txBox="1"/>
          <p:nvPr/>
        </p:nvSpPr>
        <p:spPr>
          <a:xfrm>
            <a:off x="1671500" y="5677030"/>
            <a:ext cx="1593850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00" spc="390">
                <a:latin typeface="Arial MT"/>
                <a:cs typeface="Arial MT"/>
              </a:rPr>
              <a:t>Implementation</a:t>
            </a:r>
            <a:endParaRPr sz="1000">
              <a:latin typeface="Arial MT"/>
              <a:cs typeface="Arial MT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1725272" y="6153495"/>
            <a:ext cx="1476375" cy="394970"/>
            <a:chOff x="1725272" y="6153495"/>
            <a:chExt cx="1476375" cy="394970"/>
          </a:xfrm>
        </p:grpSpPr>
        <p:sp>
          <p:nvSpPr>
            <p:cNvPr id="30" name="object 30"/>
            <p:cNvSpPr/>
            <p:nvPr/>
          </p:nvSpPr>
          <p:spPr>
            <a:xfrm>
              <a:off x="1730987" y="6159210"/>
              <a:ext cx="1464945" cy="383540"/>
            </a:xfrm>
            <a:custGeom>
              <a:avLst/>
              <a:gdLst/>
              <a:ahLst/>
              <a:cxnLst/>
              <a:rect l="l" t="t" r="r" b="b"/>
              <a:pathLst>
                <a:path w="1464945" h="383540">
                  <a:moveTo>
                    <a:pt x="1239549" y="0"/>
                  </a:moveTo>
                  <a:lnTo>
                    <a:pt x="225716" y="0"/>
                  </a:lnTo>
                  <a:lnTo>
                    <a:pt x="165666" y="4579"/>
                  </a:lnTo>
                  <a:lnTo>
                    <a:pt x="111735" y="17499"/>
                  </a:lnTo>
                  <a:lnTo>
                    <a:pt x="66061" y="37534"/>
                  </a:lnTo>
                  <a:lnTo>
                    <a:pt x="30787" y="63458"/>
                  </a:lnTo>
                  <a:lnTo>
                    <a:pt x="8053" y="94043"/>
                  </a:lnTo>
                  <a:lnTo>
                    <a:pt x="0" y="128065"/>
                  </a:lnTo>
                  <a:lnTo>
                    <a:pt x="0" y="255275"/>
                  </a:lnTo>
                  <a:lnTo>
                    <a:pt x="30787" y="319817"/>
                  </a:lnTo>
                  <a:lnTo>
                    <a:pt x="66061" y="345682"/>
                  </a:lnTo>
                  <a:lnTo>
                    <a:pt x="111735" y="365658"/>
                  </a:lnTo>
                  <a:lnTo>
                    <a:pt x="165666" y="378533"/>
                  </a:lnTo>
                  <a:lnTo>
                    <a:pt x="225716" y="383094"/>
                  </a:lnTo>
                  <a:lnTo>
                    <a:pt x="1239549" y="383094"/>
                  </a:lnTo>
                  <a:lnTo>
                    <a:pt x="1299397" y="378533"/>
                  </a:lnTo>
                  <a:lnTo>
                    <a:pt x="1353201" y="365658"/>
                  </a:lnTo>
                  <a:lnTo>
                    <a:pt x="1398804" y="345682"/>
                  </a:lnTo>
                  <a:lnTo>
                    <a:pt x="1434048" y="319817"/>
                  </a:lnTo>
                  <a:lnTo>
                    <a:pt x="1464833" y="255275"/>
                  </a:lnTo>
                  <a:lnTo>
                    <a:pt x="1464833" y="128065"/>
                  </a:lnTo>
                  <a:lnTo>
                    <a:pt x="1434048" y="63458"/>
                  </a:lnTo>
                  <a:lnTo>
                    <a:pt x="1398804" y="37534"/>
                  </a:lnTo>
                  <a:lnTo>
                    <a:pt x="1353201" y="17499"/>
                  </a:lnTo>
                  <a:lnTo>
                    <a:pt x="1299397" y="4579"/>
                  </a:lnTo>
                  <a:lnTo>
                    <a:pt x="1239549" y="0"/>
                  </a:lnTo>
                  <a:close/>
                </a:path>
              </a:pathLst>
            </a:custGeom>
            <a:solidFill>
              <a:srgbClr val="FDEEB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1730987" y="6159210"/>
              <a:ext cx="1464945" cy="383540"/>
            </a:xfrm>
            <a:custGeom>
              <a:avLst/>
              <a:gdLst/>
              <a:ahLst/>
              <a:cxnLst/>
              <a:rect l="l" t="t" r="r" b="b"/>
              <a:pathLst>
                <a:path w="1464945" h="383540">
                  <a:moveTo>
                    <a:pt x="1239549" y="383094"/>
                  </a:moveTo>
                  <a:lnTo>
                    <a:pt x="1299397" y="378533"/>
                  </a:lnTo>
                  <a:lnTo>
                    <a:pt x="1353201" y="365658"/>
                  </a:lnTo>
                  <a:lnTo>
                    <a:pt x="1398804" y="345682"/>
                  </a:lnTo>
                  <a:lnTo>
                    <a:pt x="1434048" y="319817"/>
                  </a:lnTo>
                  <a:lnTo>
                    <a:pt x="1464833" y="255275"/>
                  </a:lnTo>
                  <a:lnTo>
                    <a:pt x="1464833" y="128065"/>
                  </a:lnTo>
                  <a:lnTo>
                    <a:pt x="1456777" y="94043"/>
                  </a:lnTo>
                  <a:lnTo>
                    <a:pt x="1434048" y="63458"/>
                  </a:lnTo>
                  <a:lnTo>
                    <a:pt x="1398804" y="37534"/>
                  </a:lnTo>
                  <a:lnTo>
                    <a:pt x="1353201" y="17499"/>
                  </a:lnTo>
                  <a:lnTo>
                    <a:pt x="1299397" y="4579"/>
                  </a:lnTo>
                  <a:lnTo>
                    <a:pt x="1239549" y="0"/>
                  </a:lnTo>
                  <a:lnTo>
                    <a:pt x="225716" y="0"/>
                  </a:lnTo>
                  <a:lnTo>
                    <a:pt x="165666" y="4579"/>
                  </a:lnTo>
                  <a:lnTo>
                    <a:pt x="111735" y="17499"/>
                  </a:lnTo>
                  <a:lnTo>
                    <a:pt x="66061" y="37534"/>
                  </a:lnTo>
                  <a:lnTo>
                    <a:pt x="30787" y="63458"/>
                  </a:lnTo>
                  <a:lnTo>
                    <a:pt x="8053" y="94043"/>
                  </a:lnTo>
                  <a:lnTo>
                    <a:pt x="0" y="128065"/>
                  </a:lnTo>
                  <a:lnTo>
                    <a:pt x="0" y="255275"/>
                  </a:lnTo>
                  <a:lnTo>
                    <a:pt x="8053" y="289277"/>
                  </a:lnTo>
                  <a:lnTo>
                    <a:pt x="66061" y="345682"/>
                  </a:lnTo>
                  <a:lnTo>
                    <a:pt x="111735" y="365658"/>
                  </a:lnTo>
                  <a:lnTo>
                    <a:pt x="165666" y="378533"/>
                  </a:lnTo>
                  <a:lnTo>
                    <a:pt x="225716" y="383094"/>
                  </a:lnTo>
                  <a:lnTo>
                    <a:pt x="1239549" y="383094"/>
                  </a:lnTo>
                  <a:close/>
                </a:path>
              </a:pathLst>
            </a:custGeom>
            <a:ln w="103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2" name="object 32"/>
          <p:cNvSpPr txBox="1"/>
          <p:nvPr/>
        </p:nvSpPr>
        <p:spPr>
          <a:xfrm>
            <a:off x="2084383" y="6252896"/>
            <a:ext cx="769620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00" spc="415">
                <a:latin typeface="Arial MT"/>
                <a:cs typeface="Arial MT"/>
              </a:rPr>
              <a:t>T</a:t>
            </a:r>
            <a:r>
              <a:rPr dirty="0" sz="1000" spc="470">
                <a:latin typeface="Arial MT"/>
                <a:cs typeface="Arial MT"/>
              </a:rPr>
              <a:t>e</a:t>
            </a:r>
            <a:r>
              <a:rPr dirty="0" sz="1000" spc="385">
                <a:latin typeface="Arial MT"/>
                <a:cs typeface="Arial MT"/>
              </a:rPr>
              <a:t>s</a:t>
            </a:r>
            <a:r>
              <a:rPr dirty="0" sz="1000" spc="165">
                <a:latin typeface="Arial MT"/>
                <a:cs typeface="Arial MT"/>
              </a:rPr>
              <a:t>t</a:t>
            </a:r>
            <a:r>
              <a:rPr dirty="0" sz="1000" spc="215">
                <a:latin typeface="Arial MT"/>
                <a:cs typeface="Arial MT"/>
              </a:rPr>
              <a:t>i</a:t>
            </a:r>
            <a:r>
              <a:rPr dirty="0" sz="1000" spc="470">
                <a:latin typeface="Arial MT"/>
                <a:cs typeface="Arial MT"/>
              </a:rPr>
              <a:t>n</a:t>
            </a:r>
            <a:r>
              <a:rPr dirty="0" sz="1000" spc="430">
                <a:latin typeface="Arial MT"/>
                <a:cs typeface="Arial MT"/>
              </a:rPr>
              <a:t>g</a:t>
            </a:r>
            <a:endParaRPr sz="1000">
              <a:latin typeface="Arial MT"/>
              <a:cs typeface="Arial MT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1491167" y="6729635"/>
            <a:ext cx="1945005" cy="394970"/>
            <a:chOff x="1491167" y="6729635"/>
            <a:chExt cx="1945005" cy="394970"/>
          </a:xfrm>
        </p:grpSpPr>
        <p:sp>
          <p:nvSpPr>
            <p:cNvPr id="34" name="object 34"/>
            <p:cNvSpPr/>
            <p:nvPr/>
          </p:nvSpPr>
          <p:spPr>
            <a:xfrm>
              <a:off x="1496564" y="6735033"/>
              <a:ext cx="1934210" cy="384175"/>
            </a:xfrm>
            <a:custGeom>
              <a:avLst/>
              <a:gdLst/>
              <a:ahLst/>
              <a:cxnLst/>
              <a:rect l="l" t="t" r="r" b="b"/>
              <a:pathLst>
                <a:path w="1934210" h="384175">
                  <a:moveTo>
                    <a:pt x="1708470" y="0"/>
                  </a:moveTo>
                  <a:lnTo>
                    <a:pt x="225246" y="0"/>
                  </a:lnTo>
                  <a:lnTo>
                    <a:pt x="165394" y="4577"/>
                  </a:lnTo>
                  <a:lnTo>
                    <a:pt x="111595" y="17491"/>
                  </a:lnTo>
                  <a:lnTo>
                    <a:pt x="66003" y="37520"/>
                  </a:lnTo>
                  <a:lnTo>
                    <a:pt x="30770" y="63437"/>
                  </a:lnTo>
                  <a:lnTo>
                    <a:pt x="0" y="128043"/>
                  </a:lnTo>
                  <a:lnTo>
                    <a:pt x="0" y="255830"/>
                  </a:lnTo>
                  <a:lnTo>
                    <a:pt x="30770" y="320444"/>
                  </a:lnTo>
                  <a:lnTo>
                    <a:pt x="66003" y="346363"/>
                  </a:lnTo>
                  <a:lnTo>
                    <a:pt x="111595" y="366393"/>
                  </a:lnTo>
                  <a:lnTo>
                    <a:pt x="165394" y="379308"/>
                  </a:lnTo>
                  <a:lnTo>
                    <a:pt x="225246" y="383885"/>
                  </a:lnTo>
                  <a:lnTo>
                    <a:pt x="1708470" y="383885"/>
                  </a:lnTo>
                  <a:lnTo>
                    <a:pt x="1768318" y="379308"/>
                  </a:lnTo>
                  <a:lnTo>
                    <a:pt x="1822122" y="366393"/>
                  </a:lnTo>
                  <a:lnTo>
                    <a:pt x="1867725" y="346363"/>
                  </a:lnTo>
                  <a:lnTo>
                    <a:pt x="1902969" y="320444"/>
                  </a:lnTo>
                  <a:lnTo>
                    <a:pt x="1925698" y="289858"/>
                  </a:lnTo>
                  <a:lnTo>
                    <a:pt x="1933754" y="255830"/>
                  </a:lnTo>
                  <a:lnTo>
                    <a:pt x="1933754" y="128043"/>
                  </a:lnTo>
                  <a:lnTo>
                    <a:pt x="1902969" y="63437"/>
                  </a:lnTo>
                  <a:lnTo>
                    <a:pt x="1867725" y="37520"/>
                  </a:lnTo>
                  <a:lnTo>
                    <a:pt x="1822122" y="17491"/>
                  </a:lnTo>
                  <a:lnTo>
                    <a:pt x="1768318" y="4577"/>
                  </a:lnTo>
                  <a:lnTo>
                    <a:pt x="1708470" y="0"/>
                  </a:lnTo>
                  <a:close/>
                </a:path>
              </a:pathLst>
            </a:custGeom>
            <a:solidFill>
              <a:srgbClr val="FDEEB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1496564" y="6735033"/>
              <a:ext cx="1934210" cy="384175"/>
            </a:xfrm>
            <a:custGeom>
              <a:avLst/>
              <a:gdLst/>
              <a:ahLst/>
              <a:cxnLst/>
              <a:rect l="l" t="t" r="r" b="b"/>
              <a:pathLst>
                <a:path w="1934210" h="384175">
                  <a:moveTo>
                    <a:pt x="1708470" y="383885"/>
                  </a:moveTo>
                  <a:lnTo>
                    <a:pt x="1768318" y="379308"/>
                  </a:lnTo>
                  <a:lnTo>
                    <a:pt x="1822122" y="366393"/>
                  </a:lnTo>
                  <a:lnTo>
                    <a:pt x="1867725" y="346363"/>
                  </a:lnTo>
                  <a:lnTo>
                    <a:pt x="1902969" y="320444"/>
                  </a:lnTo>
                  <a:lnTo>
                    <a:pt x="1925698" y="289858"/>
                  </a:lnTo>
                  <a:lnTo>
                    <a:pt x="1933754" y="255830"/>
                  </a:lnTo>
                  <a:lnTo>
                    <a:pt x="1933754" y="128043"/>
                  </a:lnTo>
                  <a:lnTo>
                    <a:pt x="1902969" y="63437"/>
                  </a:lnTo>
                  <a:lnTo>
                    <a:pt x="1867725" y="37520"/>
                  </a:lnTo>
                  <a:lnTo>
                    <a:pt x="1822122" y="17491"/>
                  </a:lnTo>
                  <a:lnTo>
                    <a:pt x="1768318" y="4577"/>
                  </a:lnTo>
                  <a:lnTo>
                    <a:pt x="1708470" y="0"/>
                  </a:lnTo>
                  <a:lnTo>
                    <a:pt x="225246" y="0"/>
                  </a:lnTo>
                  <a:lnTo>
                    <a:pt x="165394" y="4577"/>
                  </a:lnTo>
                  <a:lnTo>
                    <a:pt x="111595" y="17491"/>
                  </a:lnTo>
                  <a:lnTo>
                    <a:pt x="66003" y="37520"/>
                  </a:lnTo>
                  <a:lnTo>
                    <a:pt x="30770" y="63437"/>
                  </a:lnTo>
                  <a:lnTo>
                    <a:pt x="0" y="128043"/>
                  </a:lnTo>
                  <a:lnTo>
                    <a:pt x="0" y="255830"/>
                  </a:lnTo>
                  <a:lnTo>
                    <a:pt x="8051" y="289858"/>
                  </a:lnTo>
                  <a:lnTo>
                    <a:pt x="30770" y="320444"/>
                  </a:lnTo>
                  <a:lnTo>
                    <a:pt x="66003" y="346363"/>
                  </a:lnTo>
                  <a:lnTo>
                    <a:pt x="111595" y="366393"/>
                  </a:lnTo>
                  <a:lnTo>
                    <a:pt x="165394" y="379308"/>
                  </a:lnTo>
                  <a:lnTo>
                    <a:pt x="225246" y="383885"/>
                  </a:lnTo>
                  <a:lnTo>
                    <a:pt x="1708470" y="383885"/>
                  </a:lnTo>
                  <a:close/>
                </a:path>
              </a:pathLst>
            </a:custGeom>
            <a:ln w="101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6" name="object 36"/>
          <p:cNvSpPr txBox="1"/>
          <p:nvPr/>
        </p:nvSpPr>
        <p:spPr>
          <a:xfrm>
            <a:off x="1803154" y="6828997"/>
            <a:ext cx="1349375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00" spc="420">
                <a:latin typeface="Arial MT"/>
                <a:cs typeface="Arial MT"/>
              </a:rPr>
              <a:t>Maintenance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952017" y="3727790"/>
            <a:ext cx="3154680" cy="3839210"/>
          </a:xfrm>
          <a:custGeom>
            <a:avLst/>
            <a:gdLst/>
            <a:ahLst/>
            <a:cxnLst/>
            <a:rect l="l" t="t" r="r" b="b"/>
            <a:pathLst>
              <a:path w="3154679" h="3839209">
                <a:moveTo>
                  <a:pt x="2929244" y="3838910"/>
                </a:moveTo>
                <a:lnTo>
                  <a:pt x="2989078" y="3834353"/>
                </a:lnTo>
                <a:lnTo>
                  <a:pt x="3042847" y="3821485"/>
                </a:lnTo>
                <a:lnTo>
                  <a:pt x="3088405" y="3801519"/>
                </a:lnTo>
                <a:lnTo>
                  <a:pt x="3123604" y="3775662"/>
                </a:lnTo>
                <a:lnTo>
                  <a:pt x="3154340" y="3711119"/>
                </a:lnTo>
                <a:lnTo>
                  <a:pt x="3154340" y="127851"/>
                </a:lnTo>
                <a:lnTo>
                  <a:pt x="3123604" y="63395"/>
                </a:lnTo>
                <a:lnTo>
                  <a:pt x="3088405" y="37508"/>
                </a:lnTo>
                <a:lnTo>
                  <a:pt x="3042847" y="17491"/>
                </a:lnTo>
                <a:lnTo>
                  <a:pt x="2989078" y="4578"/>
                </a:lnTo>
                <a:lnTo>
                  <a:pt x="2929244" y="0"/>
                </a:lnTo>
                <a:lnTo>
                  <a:pt x="225257" y="0"/>
                </a:lnTo>
                <a:lnTo>
                  <a:pt x="165401" y="4578"/>
                </a:lnTo>
                <a:lnTo>
                  <a:pt x="111599" y="17491"/>
                </a:lnTo>
                <a:lnTo>
                  <a:pt x="66005" y="37508"/>
                </a:lnTo>
                <a:lnTo>
                  <a:pt x="30771" y="63395"/>
                </a:lnTo>
                <a:lnTo>
                  <a:pt x="0" y="127851"/>
                </a:lnTo>
                <a:lnTo>
                  <a:pt x="0" y="3711119"/>
                </a:lnTo>
                <a:lnTo>
                  <a:pt x="8051" y="3745126"/>
                </a:lnTo>
                <a:lnTo>
                  <a:pt x="66005" y="3801519"/>
                </a:lnTo>
                <a:lnTo>
                  <a:pt x="111599" y="3821485"/>
                </a:lnTo>
                <a:lnTo>
                  <a:pt x="165401" y="3834353"/>
                </a:lnTo>
                <a:lnTo>
                  <a:pt x="225257" y="3838910"/>
                </a:lnTo>
                <a:lnTo>
                  <a:pt x="2929244" y="3838910"/>
                </a:lnTo>
                <a:close/>
              </a:path>
            </a:pathLst>
          </a:custGeom>
          <a:ln w="14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 txBox="1"/>
          <p:nvPr/>
        </p:nvSpPr>
        <p:spPr>
          <a:xfrm>
            <a:off x="902004" y="784097"/>
            <a:ext cx="5859780" cy="3152775"/>
          </a:xfrm>
          <a:prstGeom prst="rect">
            <a:avLst/>
          </a:prstGeom>
        </p:spPr>
        <p:txBody>
          <a:bodyPr wrap="square" lIns="0" tIns="1181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30"/>
              </a:spcBef>
            </a:pPr>
            <a:r>
              <a:rPr dirty="0" sz="1200" spc="-5" b="1">
                <a:latin typeface="Times New Roman"/>
                <a:cs typeface="Times New Roman"/>
              </a:rPr>
              <a:t>Maintenance</a:t>
            </a:r>
            <a:r>
              <a:rPr dirty="0" sz="1200" spc="-35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Activity:</a:t>
            </a:r>
            <a:endParaRPr sz="12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830"/>
              </a:spcBef>
              <a:buFont typeface="Microsoft Sans Serif"/>
              <a:buChar char=""/>
              <a:tabLst>
                <a:tab pos="469265" algn="l"/>
                <a:tab pos="469900" algn="l"/>
              </a:tabLst>
            </a:pPr>
            <a:r>
              <a:rPr dirty="0" sz="1200" spc="-5">
                <a:latin typeface="Times New Roman"/>
                <a:cs typeface="Times New Roman"/>
              </a:rPr>
              <a:t>Maintenance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activity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occurs </a:t>
            </a:r>
            <a:r>
              <a:rPr dirty="0" sz="1200" spc="-5">
                <a:latin typeface="Times New Roman"/>
                <a:cs typeface="Times New Roman"/>
              </a:rPr>
              <a:t>after</a:t>
            </a:r>
            <a:r>
              <a:rPr dirty="0" sz="1200" spc="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 </a:t>
            </a:r>
            <a:r>
              <a:rPr dirty="0" sz="1200" spc="-5">
                <a:latin typeface="Times New Roman"/>
                <a:cs typeface="Times New Roman"/>
              </a:rPr>
              <a:t>product</a:t>
            </a:r>
            <a:r>
              <a:rPr dirty="0" sz="1200">
                <a:latin typeface="Times New Roman"/>
                <a:cs typeface="Times New Roman"/>
              </a:rPr>
              <a:t> has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been </a:t>
            </a:r>
            <a:r>
              <a:rPr dirty="0" sz="1200" spc="-5">
                <a:latin typeface="Times New Roman"/>
                <a:cs typeface="Times New Roman"/>
              </a:rPr>
              <a:t>deployed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to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clients.</a:t>
            </a:r>
            <a:endParaRPr sz="1200">
              <a:latin typeface="Times New Roman"/>
              <a:cs typeface="Times New Roman"/>
            </a:endParaRPr>
          </a:p>
          <a:p>
            <a:pPr marL="469265" marR="470534" indent="-228600">
              <a:lnSpc>
                <a:spcPct val="102499"/>
              </a:lnSpc>
              <a:spcBef>
                <a:spcPts val="825"/>
              </a:spcBef>
              <a:buFont typeface="Microsoft Sans Serif"/>
              <a:buChar char=""/>
              <a:tabLst>
                <a:tab pos="469265" algn="l"/>
                <a:tab pos="469900" algn="l"/>
              </a:tabLst>
            </a:pPr>
            <a:r>
              <a:rPr dirty="0" sz="1200" spc="-5">
                <a:latin typeface="Times New Roman"/>
                <a:cs typeface="Times New Roman"/>
              </a:rPr>
              <a:t>After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deployment</a:t>
            </a:r>
            <a:r>
              <a:rPr dirty="0" sz="1200" spc="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to</a:t>
            </a:r>
            <a:r>
              <a:rPr dirty="0" sz="1200" spc="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clients,</a:t>
            </a:r>
            <a:r>
              <a:rPr dirty="0" sz="1200" spc="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products</a:t>
            </a:r>
            <a:r>
              <a:rPr dirty="0" sz="1200" spc="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are</a:t>
            </a:r>
            <a:r>
              <a:rPr dirty="0" sz="1200" spc="1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corrected,</a:t>
            </a:r>
            <a:r>
              <a:rPr dirty="0" sz="1200" spc="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ported,</a:t>
            </a:r>
            <a:r>
              <a:rPr dirty="0" sz="1200" spc="1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and</a:t>
            </a:r>
            <a:r>
              <a:rPr dirty="0" sz="1200" spc="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enhanced</a:t>
            </a:r>
            <a:r>
              <a:rPr dirty="0" sz="1200" spc="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during </a:t>
            </a:r>
            <a:r>
              <a:rPr dirty="0" sz="1200" spc="-28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maintenance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activities.</a:t>
            </a:r>
            <a:endParaRPr sz="1200">
              <a:latin typeface="Times New Roman"/>
              <a:cs typeface="Times New Roman"/>
            </a:endParaRPr>
          </a:p>
          <a:p>
            <a:pPr marL="469265" marR="5080" indent="-228600">
              <a:lnSpc>
                <a:spcPct val="103299"/>
              </a:lnSpc>
              <a:spcBef>
                <a:spcPts val="805"/>
              </a:spcBef>
              <a:buFont typeface="Microsoft Sans Serif"/>
              <a:buChar char=""/>
              <a:tabLst>
                <a:tab pos="507365" algn="l"/>
                <a:tab pos="508000" algn="l"/>
              </a:tabLst>
            </a:pPr>
            <a:r>
              <a:rPr dirty="0"/>
              <a:t>	</a:t>
            </a:r>
            <a:r>
              <a:rPr dirty="0" sz="1200" spc="-5">
                <a:latin typeface="Times New Roman"/>
                <a:cs typeface="Times New Roman"/>
              </a:rPr>
              <a:t>Product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design</a:t>
            </a:r>
            <a:r>
              <a:rPr dirty="0" sz="1200" spc="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occurs</a:t>
            </a:r>
            <a:r>
              <a:rPr dirty="0" sz="1200" spc="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during</a:t>
            </a:r>
            <a:r>
              <a:rPr dirty="0" sz="1200" spc="-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</a:t>
            </a:r>
            <a:r>
              <a:rPr dirty="0" sz="1200" spc="1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requirements</a:t>
            </a:r>
            <a:r>
              <a:rPr dirty="0" sz="1200" spc="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speciﬁcation</a:t>
            </a:r>
            <a:r>
              <a:rPr dirty="0" sz="1200" spc="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and</a:t>
            </a:r>
            <a:r>
              <a:rPr dirty="0" sz="1200" spc="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maintenance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activities, </a:t>
            </a:r>
            <a:r>
              <a:rPr dirty="0" sz="1200" spc="-28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and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engineering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design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occurs during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design,</a:t>
            </a:r>
            <a:r>
              <a:rPr dirty="0" sz="1200">
                <a:latin typeface="Times New Roman"/>
                <a:cs typeface="Times New Roman"/>
              </a:rPr>
              <a:t> implementation, </a:t>
            </a:r>
            <a:r>
              <a:rPr dirty="0" sz="1200" spc="-5">
                <a:latin typeface="Times New Roman"/>
                <a:cs typeface="Times New Roman"/>
              </a:rPr>
              <a:t>and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maintenance 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activities.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200" spc="-5" b="1">
                <a:latin typeface="Times New Roman"/>
                <a:cs typeface="Times New Roman"/>
              </a:rPr>
              <a:t>Design</a:t>
            </a:r>
            <a:r>
              <a:rPr dirty="0" sz="1200" b="1">
                <a:latin typeface="Times New Roman"/>
                <a:cs typeface="Times New Roman"/>
              </a:rPr>
              <a:t> </a:t>
            </a:r>
            <a:r>
              <a:rPr dirty="0" sz="1200" spc="-5" b="1">
                <a:latin typeface="Times New Roman"/>
                <a:cs typeface="Times New Roman"/>
              </a:rPr>
              <a:t>across the </a:t>
            </a:r>
            <a:r>
              <a:rPr dirty="0" sz="1200" b="1">
                <a:latin typeface="Times New Roman"/>
                <a:cs typeface="Times New Roman"/>
              </a:rPr>
              <a:t>Life</a:t>
            </a:r>
            <a:r>
              <a:rPr dirty="0" sz="1200" spc="-10" b="1">
                <a:latin typeface="Times New Roman"/>
                <a:cs typeface="Times New Roman"/>
              </a:rPr>
              <a:t> </a:t>
            </a:r>
            <a:r>
              <a:rPr dirty="0" sz="1200" spc="-5" b="1">
                <a:latin typeface="Times New Roman"/>
                <a:cs typeface="Times New Roman"/>
              </a:rPr>
              <a:t>Cycle:</a:t>
            </a:r>
            <a:endParaRPr sz="1200">
              <a:latin typeface="Times New Roman"/>
              <a:cs typeface="Times New Roman"/>
            </a:endParaRPr>
          </a:p>
          <a:p>
            <a:pPr marL="12700" marR="45085">
              <a:lnSpc>
                <a:spcPct val="102499"/>
              </a:lnSpc>
              <a:spcBef>
                <a:spcPts val="810"/>
              </a:spcBef>
            </a:pPr>
            <a:r>
              <a:rPr dirty="0" sz="1200" spc="-5">
                <a:latin typeface="Times New Roman"/>
                <a:cs typeface="Times New Roman"/>
              </a:rPr>
              <a:t>Design</a:t>
            </a:r>
            <a:r>
              <a:rPr dirty="0" sz="1200" spc="1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across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</a:t>
            </a:r>
            <a:r>
              <a:rPr dirty="0" sz="1200" spc="2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Life </a:t>
            </a:r>
            <a:r>
              <a:rPr dirty="0" sz="1200">
                <a:latin typeface="Times New Roman"/>
                <a:cs typeface="Times New Roman"/>
              </a:rPr>
              <a:t>Cycle </a:t>
            </a:r>
            <a:r>
              <a:rPr dirty="0" sz="1200" spc="-5">
                <a:latin typeface="Times New Roman"/>
                <a:cs typeface="Times New Roman"/>
              </a:rPr>
              <a:t>Figure</a:t>
            </a:r>
            <a:r>
              <a:rPr dirty="0" sz="1200">
                <a:latin typeface="Times New Roman"/>
                <a:cs typeface="Times New Roman"/>
              </a:rPr>
              <a:t> illustrates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how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software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design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activities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are spread</a:t>
            </a:r>
            <a:r>
              <a:rPr dirty="0" sz="1200" spc="1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across </a:t>
            </a:r>
            <a:r>
              <a:rPr dirty="0" sz="1200" spc="-28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</a:t>
            </a:r>
            <a:r>
              <a:rPr dirty="0" sz="1200" spc="-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life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cycle.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250">
              <a:latin typeface="Times New Roman"/>
              <a:cs typeface="Times New Roman"/>
            </a:endParaRPr>
          </a:p>
          <a:p>
            <a:pPr marL="143510">
              <a:lnSpc>
                <a:spcPct val="100000"/>
              </a:lnSpc>
            </a:pPr>
            <a:r>
              <a:rPr dirty="0" sz="1000" spc="380">
                <a:latin typeface="Arial MT"/>
                <a:cs typeface="Arial MT"/>
              </a:rPr>
              <a:t>Software</a:t>
            </a:r>
            <a:r>
              <a:rPr dirty="0" sz="1000" spc="200">
                <a:latin typeface="Arial MT"/>
                <a:cs typeface="Arial MT"/>
              </a:rPr>
              <a:t> </a:t>
            </a:r>
            <a:r>
              <a:rPr dirty="0" sz="1000" spc="395">
                <a:latin typeface="Arial MT"/>
                <a:cs typeface="Arial MT"/>
              </a:rPr>
              <a:t>Product</a:t>
            </a:r>
            <a:r>
              <a:rPr dirty="0" sz="1000" spc="110">
                <a:latin typeface="Arial MT"/>
                <a:cs typeface="Arial MT"/>
              </a:rPr>
              <a:t> </a:t>
            </a:r>
            <a:r>
              <a:rPr dirty="0" sz="1000" spc="320">
                <a:latin typeface="Arial MT"/>
                <a:cs typeface="Arial MT"/>
              </a:rPr>
              <a:t>Life</a:t>
            </a:r>
            <a:r>
              <a:rPr dirty="0" sz="1000" spc="200">
                <a:latin typeface="Arial MT"/>
                <a:cs typeface="Arial MT"/>
              </a:rPr>
              <a:t> </a:t>
            </a:r>
            <a:r>
              <a:rPr dirty="0" sz="1000" spc="405">
                <a:latin typeface="Arial MT"/>
                <a:cs typeface="Arial MT"/>
              </a:rPr>
              <a:t>Cycle</a:t>
            </a:r>
            <a:endParaRPr sz="1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30604" y="887983"/>
            <a:ext cx="5541645" cy="396240"/>
          </a:xfrm>
          <a:prstGeom prst="rect">
            <a:avLst/>
          </a:prstGeom>
        </p:spPr>
        <p:txBody>
          <a:bodyPr wrap="square" lIns="0" tIns="7620" rIns="0" bIns="0" rtlCol="0" vert="horz">
            <a:spAutoFit/>
          </a:bodyPr>
          <a:lstStyle/>
          <a:p>
            <a:pPr marL="240665" marR="5080" indent="-228600">
              <a:lnSpc>
                <a:spcPct val="102600"/>
              </a:lnSpc>
              <a:spcBef>
                <a:spcPts val="60"/>
              </a:spcBef>
              <a:buFont typeface="Microsoft Sans Serif"/>
              <a:buChar char=""/>
              <a:tabLst>
                <a:tab pos="240665" algn="l"/>
                <a:tab pos="241300" algn="l"/>
              </a:tabLst>
            </a:pPr>
            <a:r>
              <a:rPr dirty="0" sz="1200" spc="-5">
                <a:latin typeface="Times New Roman"/>
                <a:cs typeface="Times New Roman"/>
              </a:rPr>
              <a:t>Distinguish</a:t>
            </a:r>
            <a:r>
              <a:rPr dirty="0" sz="1200" spc="1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requirements</a:t>
            </a:r>
            <a:r>
              <a:rPr dirty="0" sz="1200" spc="1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from</a:t>
            </a:r>
            <a:r>
              <a:rPr dirty="0" sz="1200" spc="1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design</a:t>
            </a:r>
            <a:r>
              <a:rPr dirty="0" sz="1200" spc="1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based</a:t>
            </a:r>
            <a:r>
              <a:rPr dirty="0" sz="1200" spc="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on</a:t>
            </a:r>
            <a:r>
              <a:rPr dirty="0" sz="1200" spc="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problem</a:t>
            </a:r>
            <a:r>
              <a:rPr dirty="0" sz="1200" spc="1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solving:</a:t>
            </a:r>
            <a:r>
              <a:rPr dirty="0" sz="1200" spc="2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requirements</a:t>
            </a:r>
            <a:r>
              <a:rPr dirty="0" sz="1200" spc="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activity </a:t>
            </a:r>
            <a:r>
              <a:rPr dirty="0" sz="1200" spc="-28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formulates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problem </a:t>
            </a:r>
            <a:r>
              <a:rPr dirty="0" sz="1200" spc="-5">
                <a:latin typeface="Times New Roman"/>
                <a:cs typeface="Times New Roman"/>
              </a:rPr>
              <a:t>solved</a:t>
            </a:r>
            <a:r>
              <a:rPr dirty="0" sz="1200">
                <a:latin typeface="Times New Roman"/>
                <a:cs typeface="Times New Roman"/>
              </a:rPr>
              <a:t> in </a:t>
            </a:r>
            <a:r>
              <a:rPr dirty="0" sz="1200" spc="-5">
                <a:latin typeface="Times New Roman"/>
                <a:cs typeface="Times New Roman"/>
              </a:rPr>
              <a:t>design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2004" y="1843786"/>
            <a:ext cx="5875655" cy="1755775"/>
          </a:xfrm>
          <a:prstGeom prst="rect">
            <a:avLst/>
          </a:prstGeom>
        </p:spPr>
        <p:txBody>
          <a:bodyPr wrap="square" lIns="0" tIns="1193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40"/>
              </a:spcBef>
            </a:pPr>
            <a:r>
              <a:rPr dirty="0" sz="1200" spc="-5" b="1">
                <a:latin typeface="Times New Roman"/>
                <a:cs typeface="Times New Roman"/>
              </a:rPr>
              <a:t>Design</a:t>
            </a:r>
            <a:r>
              <a:rPr dirty="0" sz="1200" spc="-10" b="1">
                <a:latin typeface="Times New Roman"/>
                <a:cs typeface="Times New Roman"/>
              </a:rPr>
              <a:t> </a:t>
            </a:r>
            <a:r>
              <a:rPr dirty="0" sz="1200" spc="-5" b="1">
                <a:latin typeface="Times New Roman"/>
                <a:cs typeface="Times New Roman"/>
              </a:rPr>
              <a:t>Problems</a:t>
            </a:r>
            <a:r>
              <a:rPr dirty="0" sz="1200" spc="-10" b="1">
                <a:latin typeface="Times New Roman"/>
                <a:cs typeface="Times New Roman"/>
              </a:rPr>
              <a:t> </a:t>
            </a:r>
            <a:r>
              <a:rPr dirty="0" sz="1200" spc="-5" b="1">
                <a:latin typeface="Times New Roman"/>
                <a:cs typeface="Times New Roman"/>
              </a:rPr>
              <a:t>and</a:t>
            </a:r>
            <a:r>
              <a:rPr dirty="0" sz="1200" spc="-10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Solutions:</a:t>
            </a:r>
            <a:endParaRPr sz="1200">
              <a:latin typeface="Times New Roman"/>
              <a:cs typeface="Times New Roman"/>
            </a:endParaRPr>
          </a:p>
          <a:p>
            <a:pPr marL="469265">
              <a:lnSpc>
                <a:spcPct val="100000"/>
              </a:lnSpc>
              <a:spcBef>
                <a:spcPts val="840"/>
              </a:spcBef>
            </a:pPr>
            <a:r>
              <a:rPr dirty="0" sz="1200" spc="-5">
                <a:latin typeface="Times New Roman"/>
                <a:cs typeface="Times New Roman"/>
              </a:rPr>
              <a:t>Problems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solutions</a:t>
            </a:r>
            <a:r>
              <a:rPr dirty="0" sz="1200" spc="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demarcate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various</a:t>
            </a:r>
            <a:r>
              <a:rPr dirty="0" sz="1200" spc="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software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design</a:t>
            </a:r>
            <a:r>
              <a:rPr dirty="0" sz="1200" spc="2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activities.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Product</a:t>
            </a:r>
            <a:r>
              <a:rPr dirty="0" sz="1200" spc="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design</a:t>
            </a:r>
            <a:endParaRPr sz="1200">
              <a:latin typeface="Times New Roman"/>
              <a:cs typeface="Times New Roman"/>
            </a:endParaRPr>
          </a:p>
          <a:p>
            <a:pPr marL="469265" marR="5080">
              <a:lnSpc>
                <a:spcPct val="102899"/>
              </a:lnSpc>
              <a:spcBef>
                <a:spcPts val="5"/>
              </a:spcBef>
            </a:pPr>
            <a:r>
              <a:rPr dirty="0" sz="1200" spc="-5">
                <a:latin typeface="Times New Roman"/>
                <a:cs typeface="Times New Roman"/>
              </a:rPr>
              <a:t>tackles</a:t>
            </a:r>
            <a:r>
              <a:rPr dirty="0" sz="1200">
                <a:latin typeface="Times New Roman"/>
                <a:cs typeface="Times New Roman"/>
              </a:rPr>
              <a:t> a</a:t>
            </a:r>
            <a:r>
              <a:rPr dirty="0" sz="1200" spc="-5">
                <a:latin typeface="Times New Roman"/>
                <a:cs typeface="Times New Roman"/>
              </a:rPr>
              <a:t> client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problem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produces</a:t>
            </a:r>
            <a:r>
              <a:rPr dirty="0" sz="1200">
                <a:latin typeface="Times New Roman"/>
                <a:cs typeface="Times New Roman"/>
              </a:rPr>
              <a:t> a product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speciﬁcation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as</a:t>
            </a:r>
            <a:r>
              <a:rPr dirty="0" sz="1200">
                <a:latin typeface="Times New Roman"/>
                <a:cs typeface="Times New Roman"/>
              </a:rPr>
              <a:t> a </a:t>
            </a:r>
            <a:r>
              <a:rPr dirty="0" sz="1200" spc="-5">
                <a:latin typeface="Times New Roman"/>
                <a:cs typeface="Times New Roman"/>
              </a:rPr>
              <a:t>solution.</a:t>
            </a:r>
            <a:r>
              <a:rPr dirty="0" sz="1200" spc="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This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solution </a:t>
            </a:r>
            <a:r>
              <a:rPr dirty="0" sz="1200" spc="-28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presents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 </a:t>
            </a:r>
            <a:r>
              <a:rPr dirty="0" sz="1200" spc="-5">
                <a:latin typeface="Times New Roman"/>
                <a:cs typeface="Times New Roman"/>
              </a:rPr>
              <a:t>problem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to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engineering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designers,</a:t>
            </a:r>
            <a:r>
              <a:rPr dirty="0" sz="1200" spc="10">
                <a:latin typeface="Times New Roman"/>
                <a:cs typeface="Times New Roman"/>
              </a:rPr>
              <a:t> </a:t>
            </a:r>
            <a:r>
              <a:rPr dirty="0" sz="1200" spc="5">
                <a:latin typeface="Times New Roman"/>
                <a:cs typeface="Times New Roman"/>
              </a:rPr>
              <a:t>who </a:t>
            </a:r>
            <a:r>
              <a:rPr dirty="0" sz="1200" spc="-5">
                <a:latin typeface="Times New Roman"/>
                <a:cs typeface="Times New Roman"/>
              </a:rPr>
              <a:t>produce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 design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document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as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their 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solution.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4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200" spc="-5" b="1">
                <a:latin typeface="Times New Roman"/>
                <a:cs typeface="Times New Roman"/>
              </a:rPr>
              <a:t>Design</a:t>
            </a:r>
            <a:r>
              <a:rPr dirty="0" sz="1200" spc="-10" b="1">
                <a:latin typeface="Times New Roman"/>
                <a:cs typeface="Times New Roman"/>
              </a:rPr>
              <a:t> </a:t>
            </a:r>
            <a:r>
              <a:rPr dirty="0" sz="1200" spc="-5" b="1">
                <a:latin typeface="Times New Roman"/>
                <a:cs typeface="Times New Roman"/>
              </a:rPr>
              <a:t>Problems</a:t>
            </a:r>
            <a:r>
              <a:rPr dirty="0" sz="1200" spc="-10" b="1">
                <a:latin typeface="Times New Roman"/>
                <a:cs typeface="Times New Roman"/>
              </a:rPr>
              <a:t> </a:t>
            </a:r>
            <a:r>
              <a:rPr dirty="0" sz="1200" spc="-5" b="1">
                <a:latin typeface="Times New Roman"/>
                <a:cs typeface="Times New Roman"/>
              </a:rPr>
              <a:t>and</a:t>
            </a:r>
            <a:r>
              <a:rPr dirty="0" sz="1200" spc="-10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Solutions: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2004" y="7576566"/>
            <a:ext cx="5906770" cy="1171575"/>
          </a:xfrm>
          <a:prstGeom prst="rect">
            <a:avLst/>
          </a:prstGeom>
        </p:spPr>
        <p:txBody>
          <a:bodyPr wrap="square" lIns="0" tIns="1193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40"/>
              </a:spcBef>
            </a:pPr>
            <a:r>
              <a:rPr dirty="0" sz="1200" spc="-5" b="1">
                <a:latin typeface="Times New Roman"/>
                <a:cs typeface="Times New Roman"/>
              </a:rPr>
              <a:t>“Design”</a:t>
            </a:r>
            <a:r>
              <a:rPr dirty="0" sz="1200" spc="-15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as</a:t>
            </a:r>
            <a:r>
              <a:rPr dirty="0" sz="1200" spc="-10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a</a:t>
            </a:r>
            <a:r>
              <a:rPr dirty="0" sz="1200" spc="-10" b="1">
                <a:latin typeface="Times New Roman"/>
                <a:cs typeface="Times New Roman"/>
              </a:rPr>
              <a:t> </a:t>
            </a:r>
            <a:r>
              <a:rPr dirty="0" sz="1200" spc="-5" b="1">
                <a:latin typeface="Times New Roman"/>
                <a:cs typeface="Times New Roman"/>
              </a:rPr>
              <a:t>Verb</a:t>
            </a:r>
            <a:r>
              <a:rPr dirty="0" sz="1200" spc="-10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and</a:t>
            </a:r>
            <a:r>
              <a:rPr dirty="0" sz="1200" spc="-10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a</a:t>
            </a:r>
            <a:r>
              <a:rPr dirty="0" sz="1200" spc="-15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Noun:</a:t>
            </a:r>
            <a:endParaRPr sz="1200">
              <a:latin typeface="Times New Roman"/>
              <a:cs typeface="Times New Roman"/>
            </a:endParaRPr>
          </a:p>
          <a:p>
            <a:pPr marL="469265" marR="5080" indent="-228600">
              <a:lnSpc>
                <a:spcPct val="103299"/>
              </a:lnSpc>
              <a:spcBef>
                <a:spcPts val="790"/>
              </a:spcBef>
              <a:buFont typeface="Microsoft Sans Serif"/>
              <a:buChar char=""/>
              <a:tabLst>
                <a:tab pos="469265" algn="l"/>
                <a:tab pos="469900" algn="l"/>
              </a:tabLst>
            </a:pPr>
            <a:r>
              <a:rPr dirty="0" sz="1200">
                <a:latin typeface="Times New Roman"/>
                <a:cs typeface="Times New Roman"/>
              </a:rPr>
              <a:t>This</a:t>
            </a:r>
            <a:r>
              <a:rPr dirty="0" sz="1200" spc="-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activity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is </a:t>
            </a:r>
            <a:r>
              <a:rPr dirty="0" sz="1200" spc="-5">
                <a:latin typeface="Times New Roman"/>
                <a:cs typeface="Times New Roman"/>
              </a:rPr>
              <a:t>what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we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refer</a:t>
            </a:r>
            <a:r>
              <a:rPr dirty="0" sz="1200">
                <a:latin typeface="Times New Roman"/>
                <a:cs typeface="Times New Roman"/>
              </a:rPr>
              <a:t> to</a:t>
            </a:r>
            <a:r>
              <a:rPr dirty="0" sz="1200" spc="-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when </a:t>
            </a:r>
            <a:r>
              <a:rPr dirty="0" sz="1200" spc="-5">
                <a:latin typeface="Times New Roman"/>
                <a:cs typeface="Times New Roman"/>
              </a:rPr>
              <a:t>we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use</a:t>
            </a:r>
            <a:r>
              <a:rPr dirty="0" sz="1200" spc="-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word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“design”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as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verb,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as</a:t>
            </a:r>
            <a:r>
              <a:rPr dirty="0" sz="1200">
                <a:latin typeface="Times New Roman"/>
                <a:cs typeface="Times New Roman"/>
              </a:rPr>
              <a:t> in the 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sentence</a:t>
            </a:r>
            <a:r>
              <a:rPr dirty="0" sz="1200" spc="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“Engineers</a:t>
            </a:r>
            <a:r>
              <a:rPr dirty="0" sz="1200" spc="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design</a:t>
            </a:r>
            <a:r>
              <a:rPr dirty="0" sz="1200" spc="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programs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meeting</a:t>
            </a:r>
            <a:r>
              <a:rPr dirty="0" sz="1200" spc="-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requirements</a:t>
            </a:r>
            <a:r>
              <a:rPr dirty="0" sz="1200" spc="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speciﬁcations.”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But</a:t>
            </a:r>
            <a:r>
              <a:rPr dirty="0" sz="1200" spc="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we</a:t>
            </a:r>
            <a:r>
              <a:rPr dirty="0" sz="1200" spc="1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have </a:t>
            </a:r>
            <a:r>
              <a:rPr dirty="0" sz="1200" spc="-28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also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used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“design”</a:t>
            </a:r>
            <a:r>
              <a:rPr dirty="0" sz="1200" spc="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as</a:t>
            </a:r>
            <a:r>
              <a:rPr dirty="0" sz="1200">
                <a:latin typeface="Times New Roman"/>
                <a:cs typeface="Times New Roman"/>
              </a:rPr>
              <a:t> a noun,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as </a:t>
            </a:r>
            <a:r>
              <a:rPr dirty="0" sz="1200">
                <a:latin typeface="Times New Roman"/>
                <a:cs typeface="Times New Roman"/>
              </a:rPr>
              <a:t>in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 </a:t>
            </a:r>
            <a:r>
              <a:rPr dirty="0" sz="1200" spc="-5">
                <a:latin typeface="Times New Roman"/>
                <a:cs typeface="Times New Roman"/>
              </a:rPr>
              <a:t>sentence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“Engineers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develop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 </a:t>
            </a:r>
            <a:r>
              <a:rPr dirty="0" sz="1200" spc="-5">
                <a:latin typeface="Times New Roman"/>
                <a:cs typeface="Times New Roman"/>
              </a:rPr>
              <a:t>design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meeting 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requirements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speciﬁcations.”</a:t>
            </a:r>
            <a:endParaRPr sz="1200">
              <a:latin typeface="Times New Roman"/>
              <a:cs typeface="Times New Roman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097631" y="5468876"/>
            <a:ext cx="3237230" cy="1496695"/>
            <a:chOff x="1097631" y="5468876"/>
            <a:chExt cx="3237230" cy="1496695"/>
          </a:xfrm>
        </p:grpSpPr>
        <p:sp>
          <p:nvSpPr>
            <p:cNvPr id="6" name="object 6"/>
            <p:cNvSpPr/>
            <p:nvPr/>
          </p:nvSpPr>
          <p:spPr>
            <a:xfrm>
              <a:off x="1102711" y="5473956"/>
              <a:ext cx="3227070" cy="1486535"/>
            </a:xfrm>
            <a:custGeom>
              <a:avLst/>
              <a:gdLst/>
              <a:ahLst/>
              <a:cxnLst/>
              <a:rect l="l" t="t" r="r" b="b"/>
              <a:pathLst>
                <a:path w="3227070" h="1486534">
                  <a:moveTo>
                    <a:pt x="3226576" y="0"/>
                  </a:moveTo>
                  <a:lnTo>
                    <a:pt x="0" y="0"/>
                  </a:lnTo>
                  <a:lnTo>
                    <a:pt x="0" y="1486004"/>
                  </a:lnTo>
                  <a:lnTo>
                    <a:pt x="3226576" y="1486004"/>
                  </a:lnTo>
                  <a:lnTo>
                    <a:pt x="3226576" y="0"/>
                  </a:lnTo>
                  <a:close/>
                </a:path>
              </a:pathLst>
            </a:custGeom>
            <a:solidFill>
              <a:srgbClr val="EBE3B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1102711" y="5473956"/>
              <a:ext cx="3227070" cy="1486535"/>
            </a:xfrm>
            <a:custGeom>
              <a:avLst/>
              <a:gdLst/>
              <a:ahLst/>
              <a:cxnLst/>
              <a:rect l="l" t="t" r="r" b="b"/>
              <a:pathLst>
                <a:path w="3227070" h="1486534">
                  <a:moveTo>
                    <a:pt x="0" y="1486004"/>
                  </a:moveTo>
                  <a:lnTo>
                    <a:pt x="3226576" y="1486004"/>
                  </a:lnTo>
                  <a:lnTo>
                    <a:pt x="3226576" y="0"/>
                  </a:lnTo>
                  <a:lnTo>
                    <a:pt x="0" y="0"/>
                  </a:lnTo>
                  <a:lnTo>
                    <a:pt x="0" y="1486004"/>
                  </a:lnTo>
                  <a:close/>
                </a:path>
              </a:pathLst>
            </a:custGeom>
            <a:ln w="96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1197469" y="6034186"/>
            <a:ext cx="942340" cy="332740"/>
          </a:xfrm>
          <a:prstGeom prst="rect">
            <a:avLst/>
          </a:prstGeom>
        </p:spPr>
        <p:txBody>
          <a:bodyPr wrap="square" lIns="0" tIns="8890" rIns="0" bIns="0" rtlCol="0" vert="horz">
            <a:spAutoFit/>
          </a:bodyPr>
          <a:lstStyle/>
          <a:p>
            <a:pPr marL="12700" marR="5080">
              <a:lnSpc>
                <a:spcPct val="102099"/>
              </a:lnSpc>
              <a:spcBef>
                <a:spcPts val="70"/>
              </a:spcBef>
            </a:pPr>
            <a:r>
              <a:rPr dirty="0" sz="1000" spc="280">
                <a:latin typeface="Arial MT"/>
                <a:cs typeface="Arial MT"/>
              </a:rPr>
              <a:t>E</a:t>
            </a:r>
            <a:r>
              <a:rPr dirty="0" sz="1000" spc="180">
                <a:latin typeface="Arial MT"/>
                <a:cs typeface="Arial MT"/>
              </a:rPr>
              <a:t>ng</a:t>
            </a:r>
            <a:r>
              <a:rPr dirty="0" sz="1000" spc="90">
                <a:latin typeface="Arial MT"/>
                <a:cs typeface="Arial MT"/>
              </a:rPr>
              <a:t>i</a:t>
            </a:r>
            <a:r>
              <a:rPr dirty="0" sz="1000" spc="180">
                <a:latin typeface="Arial MT"/>
                <a:cs typeface="Arial MT"/>
              </a:rPr>
              <a:t>nee</a:t>
            </a:r>
            <a:r>
              <a:rPr dirty="0" sz="1000" spc="90">
                <a:latin typeface="Arial MT"/>
                <a:cs typeface="Arial MT"/>
              </a:rPr>
              <a:t>r</a:t>
            </a:r>
            <a:r>
              <a:rPr dirty="0" sz="1000" spc="90">
                <a:latin typeface="Arial MT"/>
                <a:cs typeface="Arial MT"/>
              </a:rPr>
              <a:t>i</a:t>
            </a:r>
            <a:r>
              <a:rPr dirty="0" sz="1000" spc="180">
                <a:latin typeface="Arial MT"/>
                <a:cs typeface="Arial MT"/>
              </a:rPr>
              <a:t>n</a:t>
            </a:r>
            <a:r>
              <a:rPr dirty="0" sz="1000" spc="135">
                <a:latin typeface="Arial MT"/>
                <a:cs typeface="Arial MT"/>
              </a:rPr>
              <a:t>g  </a:t>
            </a:r>
            <a:r>
              <a:rPr dirty="0" sz="1000" spc="204">
                <a:latin typeface="Arial MT"/>
                <a:cs typeface="Arial MT"/>
              </a:rPr>
              <a:t>Design</a:t>
            </a:r>
            <a:endParaRPr sz="1000">
              <a:latin typeface="Arial MT"/>
              <a:cs typeface="Arial MT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077249" y="4070181"/>
            <a:ext cx="3237230" cy="1292860"/>
            <a:chOff x="1077249" y="4070181"/>
            <a:chExt cx="3237230" cy="1292860"/>
          </a:xfrm>
        </p:grpSpPr>
        <p:sp>
          <p:nvSpPr>
            <p:cNvPr id="10" name="object 10"/>
            <p:cNvSpPr/>
            <p:nvPr/>
          </p:nvSpPr>
          <p:spPr>
            <a:xfrm>
              <a:off x="1082329" y="4075261"/>
              <a:ext cx="3227070" cy="1282700"/>
            </a:xfrm>
            <a:custGeom>
              <a:avLst/>
              <a:gdLst/>
              <a:ahLst/>
              <a:cxnLst/>
              <a:rect l="l" t="t" r="r" b="b"/>
              <a:pathLst>
                <a:path w="3227070" h="1282700">
                  <a:moveTo>
                    <a:pt x="3226846" y="0"/>
                  </a:moveTo>
                  <a:lnTo>
                    <a:pt x="0" y="0"/>
                  </a:lnTo>
                  <a:lnTo>
                    <a:pt x="0" y="1282089"/>
                  </a:lnTo>
                  <a:lnTo>
                    <a:pt x="3226846" y="1282089"/>
                  </a:lnTo>
                  <a:lnTo>
                    <a:pt x="3226846" y="0"/>
                  </a:lnTo>
                  <a:close/>
                </a:path>
              </a:pathLst>
            </a:custGeom>
            <a:solidFill>
              <a:srgbClr val="EBE3B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1082329" y="4075261"/>
              <a:ext cx="3227070" cy="1282700"/>
            </a:xfrm>
            <a:custGeom>
              <a:avLst/>
              <a:gdLst/>
              <a:ahLst/>
              <a:cxnLst/>
              <a:rect l="l" t="t" r="r" b="b"/>
              <a:pathLst>
                <a:path w="3227070" h="1282700">
                  <a:moveTo>
                    <a:pt x="0" y="1282089"/>
                  </a:moveTo>
                  <a:lnTo>
                    <a:pt x="3226846" y="1282089"/>
                  </a:lnTo>
                  <a:lnTo>
                    <a:pt x="3226846" y="0"/>
                  </a:lnTo>
                  <a:lnTo>
                    <a:pt x="0" y="0"/>
                  </a:lnTo>
                  <a:lnTo>
                    <a:pt x="0" y="1282089"/>
                  </a:lnTo>
                  <a:close/>
                </a:path>
              </a:pathLst>
            </a:custGeom>
            <a:ln w="94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/>
          <p:cNvSpPr txBox="1"/>
          <p:nvPr/>
        </p:nvSpPr>
        <p:spPr>
          <a:xfrm>
            <a:off x="1250915" y="4538448"/>
            <a:ext cx="624840" cy="332740"/>
          </a:xfrm>
          <a:prstGeom prst="rect">
            <a:avLst/>
          </a:prstGeom>
        </p:spPr>
        <p:txBody>
          <a:bodyPr wrap="square" lIns="0" tIns="8890" rIns="0" bIns="0" rtlCol="0" vert="horz">
            <a:spAutoFit/>
          </a:bodyPr>
          <a:lstStyle/>
          <a:p>
            <a:pPr marL="12700" marR="5080">
              <a:lnSpc>
                <a:spcPct val="102099"/>
              </a:lnSpc>
              <a:spcBef>
                <a:spcPts val="70"/>
              </a:spcBef>
            </a:pPr>
            <a:r>
              <a:rPr dirty="0" sz="1000" spc="280">
                <a:latin typeface="Arial MT"/>
                <a:cs typeface="Arial MT"/>
              </a:rPr>
              <a:t>P</a:t>
            </a:r>
            <a:r>
              <a:rPr dirty="0" sz="1000" spc="90">
                <a:latin typeface="Arial MT"/>
                <a:cs typeface="Arial MT"/>
              </a:rPr>
              <a:t>r</a:t>
            </a:r>
            <a:r>
              <a:rPr dirty="0" sz="1000" spc="180">
                <a:latin typeface="Arial MT"/>
                <a:cs typeface="Arial MT"/>
              </a:rPr>
              <a:t>odu</a:t>
            </a:r>
            <a:r>
              <a:rPr dirty="0" sz="1000" spc="235">
                <a:latin typeface="Arial MT"/>
                <a:cs typeface="Arial MT"/>
              </a:rPr>
              <a:t>c</a:t>
            </a:r>
            <a:r>
              <a:rPr dirty="0" sz="1000" spc="100">
                <a:latin typeface="Arial MT"/>
                <a:cs typeface="Arial MT"/>
              </a:rPr>
              <a:t>t  </a:t>
            </a:r>
            <a:r>
              <a:rPr dirty="0" sz="1000" spc="204">
                <a:latin typeface="Arial MT"/>
                <a:cs typeface="Arial MT"/>
              </a:rPr>
              <a:t>Design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4813315" y="4308474"/>
            <a:ext cx="1855470" cy="1195070"/>
          </a:xfrm>
          <a:custGeom>
            <a:avLst/>
            <a:gdLst/>
            <a:ahLst/>
            <a:cxnLst/>
            <a:rect l="l" t="t" r="r" b="b"/>
            <a:pathLst>
              <a:path w="1855470" h="1195070">
                <a:moveTo>
                  <a:pt x="0" y="1194682"/>
                </a:moveTo>
                <a:lnTo>
                  <a:pt x="1855093" y="1194682"/>
                </a:lnTo>
                <a:lnTo>
                  <a:pt x="1855093" y="0"/>
                </a:lnTo>
                <a:lnTo>
                  <a:pt x="0" y="0"/>
                </a:lnTo>
                <a:lnTo>
                  <a:pt x="0" y="1194682"/>
                </a:lnTo>
                <a:close/>
              </a:path>
            </a:pathLst>
          </a:custGeom>
          <a:ln w="1003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5230744" y="5286463"/>
            <a:ext cx="1033780" cy="16573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900" spc="155">
                <a:latin typeface="Arial MT"/>
                <a:cs typeface="Arial MT"/>
              </a:rPr>
              <a:t>Solution:</a:t>
            </a:r>
            <a:r>
              <a:rPr dirty="0" sz="900" spc="65">
                <a:latin typeface="Arial MT"/>
                <a:cs typeface="Arial MT"/>
              </a:rPr>
              <a:t> </a:t>
            </a:r>
            <a:r>
              <a:rPr dirty="0" sz="900" spc="260">
                <a:latin typeface="Arial MT"/>
                <a:cs typeface="Arial MT"/>
              </a:rPr>
              <a:t>SRS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813315" y="3842330"/>
            <a:ext cx="1694180" cy="349885"/>
          </a:xfrm>
          <a:prstGeom prst="rect">
            <a:avLst/>
          </a:prstGeom>
          <a:ln w="9284">
            <a:solidFill>
              <a:srgbClr val="000000"/>
            </a:solidFill>
          </a:ln>
        </p:spPr>
        <p:txBody>
          <a:bodyPr wrap="square" lIns="0" tIns="12700" rIns="0" bIns="0" rtlCol="0" vert="horz">
            <a:spAutoFit/>
          </a:bodyPr>
          <a:lstStyle/>
          <a:p>
            <a:pPr marL="120650" marR="100965" indent="120650">
              <a:lnSpc>
                <a:spcPct val="106300"/>
              </a:lnSpc>
              <a:spcBef>
                <a:spcPts val="100"/>
              </a:spcBef>
            </a:pPr>
            <a:r>
              <a:rPr dirty="0" sz="900" spc="185">
                <a:latin typeface="Arial MT"/>
                <a:cs typeface="Arial MT"/>
              </a:rPr>
              <a:t>Problem: </a:t>
            </a:r>
            <a:r>
              <a:rPr dirty="0" sz="900" spc="180">
                <a:latin typeface="Arial MT"/>
                <a:cs typeface="Arial MT"/>
              </a:rPr>
              <a:t>Needs, </a:t>
            </a:r>
            <a:r>
              <a:rPr dirty="0" sz="900" spc="185">
                <a:latin typeface="Arial MT"/>
                <a:cs typeface="Arial MT"/>
              </a:rPr>
              <a:t> </a:t>
            </a:r>
            <a:r>
              <a:rPr dirty="0" sz="900" spc="170">
                <a:latin typeface="Arial MT"/>
                <a:cs typeface="Arial MT"/>
              </a:rPr>
              <a:t>Desires,</a:t>
            </a:r>
            <a:r>
              <a:rPr dirty="0" sz="900" spc="-40">
                <a:latin typeface="Arial MT"/>
                <a:cs typeface="Arial MT"/>
              </a:rPr>
              <a:t> </a:t>
            </a:r>
            <a:r>
              <a:rPr dirty="0" sz="900" spc="180">
                <a:latin typeface="Arial MT"/>
                <a:cs typeface="Arial MT"/>
              </a:rPr>
              <a:t>Constraints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974697" y="4425071"/>
            <a:ext cx="1532890" cy="349885"/>
          </a:xfrm>
          <a:prstGeom prst="rect">
            <a:avLst/>
          </a:prstGeom>
          <a:ln w="9337">
            <a:solidFill>
              <a:srgbClr val="000000"/>
            </a:solidFill>
          </a:ln>
        </p:spPr>
        <p:txBody>
          <a:bodyPr wrap="square" lIns="0" tIns="12700" rIns="0" bIns="0" rtlCol="0" vert="horz">
            <a:spAutoFit/>
          </a:bodyPr>
          <a:lstStyle/>
          <a:p>
            <a:pPr marL="187325" marR="100965" indent="-80645">
              <a:lnSpc>
                <a:spcPct val="106300"/>
              </a:lnSpc>
              <a:spcBef>
                <a:spcPts val="100"/>
              </a:spcBef>
            </a:pPr>
            <a:r>
              <a:rPr dirty="0" sz="900" spc="165">
                <a:latin typeface="Arial MT"/>
                <a:cs typeface="Arial MT"/>
              </a:rPr>
              <a:t>Solution: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 spc="185">
                <a:latin typeface="Arial MT"/>
                <a:cs typeface="Arial MT"/>
              </a:rPr>
              <a:t>Features </a:t>
            </a:r>
            <a:r>
              <a:rPr dirty="0" sz="900" spc="-235">
                <a:latin typeface="Arial MT"/>
                <a:cs typeface="Arial MT"/>
              </a:rPr>
              <a:t> </a:t>
            </a:r>
            <a:r>
              <a:rPr dirty="0" sz="900" spc="225">
                <a:latin typeface="Arial MT"/>
                <a:cs typeface="Arial MT"/>
              </a:rPr>
              <a:t>and</a:t>
            </a:r>
            <a:r>
              <a:rPr dirty="0" sz="900" spc="70">
                <a:latin typeface="Arial MT"/>
                <a:cs typeface="Arial MT"/>
              </a:rPr>
              <a:t> </a:t>
            </a:r>
            <a:r>
              <a:rPr dirty="0" sz="900" spc="180">
                <a:latin typeface="Arial MT"/>
                <a:cs typeface="Arial MT"/>
              </a:rPr>
              <a:t>Capabilities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974697" y="4861956"/>
            <a:ext cx="1532890" cy="349885"/>
          </a:xfrm>
          <a:prstGeom prst="rect">
            <a:avLst/>
          </a:prstGeom>
          <a:ln w="9337">
            <a:solidFill>
              <a:srgbClr val="000000"/>
            </a:solidFill>
          </a:ln>
        </p:spPr>
        <p:txBody>
          <a:bodyPr wrap="square" lIns="0" tIns="12700" rIns="0" bIns="0" rtlCol="0" vert="horz">
            <a:spAutoFit/>
          </a:bodyPr>
          <a:lstStyle/>
          <a:p>
            <a:pPr marL="349250" marR="329565" indent="107314">
              <a:lnSpc>
                <a:spcPct val="106300"/>
              </a:lnSpc>
              <a:spcBef>
                <a:spcPts val="100"/>
              </a:spcBef>
            </a:pPr>
            <a:r>
              <a:rPr dirty="0" sz="900" spc="155">
                <a:latin typeface="Arial MT"/>
                <a:cs typeface="Arial MT"/>
              </a:rPr>
              <a:t>Solution: </a:t>
            </a:r>
            <a:r>
              <a:rPr dirty="0" sz="900" spc="160">
                <a:latin typeface="Arial MT"/>
                <a:cs typeface="Arial MT"/>
              </a:rPr>
              <a:t> </a:t>
            </a:r>
            <a:r>
              <a:rPr dirty="0" sz="900" spc="65">
                <a:latin typeface="Arial MT"/>
                <a:cs typeface="Arial MT"/>
              </a:rPr>
              <a:t>I</a:t>
            </a:r>
            <a:r>
              <a:rPr dirty="0" sz="900" spc="235">
                <a:latin typeface="Arial MT"/>
                <a:cs typeface="Arial MT"/>
              </a:rPr>
              <a:t>n</a:t>
            </a:r>
            <a:r>
              <a:rPr dirty="0" sz="900" spc="65">
                <a:latin typeface="Arial MT"/>
                <a:cs typeface="Arial MT"/>
              </a:rPr>
              <a:t>t</a:t>
            </a:r>
            <a:r>
              <a:rPr dirty="0" sz="900" spc="235">
                <a:latin typeface="Arial MT"/>
                <a:cs typeface="Arial MT"/>
              </a:rPr>
              <a:t>e</a:t>
            </a:r>
            <a:r>
              <a:rPr dirty="0" sz="900" spc="120">
                <a:latin typeface="Arial MT"/>
                <a:cs typeface="Arial MT"/>
              </a:rPr>
              <a:t>r</a:t>
            </a:r>
            <a:r>
              <a:rPr dirty="0" sz="900" spc="235">
                <a:latin typeface="Arial MT"/>
                <a:cs typeface="Arial MT"/>
              </a:rPr>
              <a:t>a</a:t>
            </a:r>
            <a:r>
              <a:rPr dirty="0" sz="900" spc="185">
                <a:latin typeface="Arial MT"/>
                <a:cs typeface="Arial MT"/>
              </a:rPr>
              <a:t>c</a:t>
            </a:r>
            <a:r>
              <a:rPr dirty="0" sz="900" spc="60">
                <a:latin typeface="Arial MT"/>
                <a:cs typeface="Arial MT"/>
              </a:rPr>
              <a:t>t</a:t>
            </a:r>
            <a:r>
              <a:rPr dirty="0" sz="900" spc="114">
                <a:latin typeface="Arial MT"/>
                <a:cs typeface="Arial MT"/>
              </a:rPr>
              <a:t>i</a:t>
            </a:r>
            <a:r>
              <a:rPr dirty="0" sz="900" spc="235">
                <a:latin typeface="Arial MT"/>
                <a:cs typeface="Arial MT"/>
              </a:rPr>
              <a:t>on</a:t>
            </a:r>
            <a:r>
              <a:rPr dirty="0" sz="900" spc="185">
                <a:latin typeface="Arial MT"/>
                <a:cs typeface="Arial MT"/>
              </a:rPr>
              <a:t>s</a:t>
            </a:r>
            <a:endParaRPr sz="900">
              <a:latin typeface="Arial MT"/>
              <a:cs typeface="Arial MT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3815018" y="4012389"/>
            <a:ext cx="2859405" cy="2982595"/>
            <a:chOff x="3815018" y="4012389"/>
            <a:chExt cx="2859405" cy="2982595"/>
          </a:xfrm>
        </p:grpSpPr>
        <p:sp>
          <p:nvSpPr>
            <p:cNvPr id="19" name="object 19"/>
            <p:cNvSpPr/>
            <p:nvPr/>
          </p:nvSpPr>
          <p:spPr>
            <a:xfrm>
              <a:off x="3821848" y="4017152"/>
              <a:ext cx="991869" cy="269240"/>
            </a:xfrm>
            <a:custGeom>
              <a:avLst/>
              <a:gdLst/>
              <a:ahLst/>
              <a:cxnLst/>
              <a:rect l="l" t="t" r="r" b="b"/>
              <a:pathLst>
                <a:path w="991870" h="269239">
                  <a:moveTo>
                    <a:pt x="991466" y="0"/>
                  </a:moveTo>
                  <a:lnTo>
                    <a:pt x="0" y="268740"/>
                  </a:lnTo>
                </a:path>
              </a:pathLst>
            </a:custGeom>
            <a:ln w="92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0" name="object 2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816612" y="4212036"/>
              <a:ext cx="139659" cy="89604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3843536" y="5299144"/>
              <a:ext cx="970280" cy="391160"/>
            </a:xfrm>
            <a:custGeom>
              <a:avLst/>
              <a:gdLst/>
              <a:ahLst/>
              <a:cxnLst/>
              <a:rect l="l" t="t" r="r" b="b"/>
              <a:pathLst>
                <a:path w="970279" h="391160">
                  <a:moveTo>
                    <a:pt x="969778" y="0"/>
                  </a:moveTo>
                  <a:lnTo>
                    <a:pt x="0" y="390895"/>
                  </a:lnTo>
                </a:path>
              </a:pathLst>
            </a:custGeom>
            <a:ln w="950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2" name="object 2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838318" y="5607147"/>
              <a:ext cx="139893" cy="88110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3825081" y="4483287"/>
              <a:ext cx="1149985" cy="0"/>
            </a:xfrm>
            <a:custGeom>
              <a:avLst/>
              <a:gdLst/>
              <a:ahLst/>
              <a:cxnLst/>
              <a:rect l="l" t="t" r="r" b="b"/>
              <a:pathLst>
                <a:path w="1149985" h="0">
                  <a:moveTo>
                    <a:pt x="0" y="0"/>
                  </a:moveTo>
                  <a:lnTo>
                    <a:pt x="1149616" y="0"/>
                  </a:lnTo>
                </a:path>
              </a:pathLst>
            </a:custGeom>
            <a:ln w="902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4" name="object 2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853334" y="4436055"/>
              <a:ext cx="126741" cy="94560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3820231" y="4599893"/>
              <a:ext cx="1155065" cy="351155"/>
            </a:xfrm>
            <a:custGeom>
              <a:avLst/>
              <a:gdLst/>
              <a:ahLst/>
              <a:cxnLst/>
              <a:rect l="l" t="t" r="r" b="b"/>
              <a:pathLst>
                <a:path w="1155064" h="351154">
                  <a:moveTo>
                    <a:pt x="1154465" y="0"/>
                  </a:moveTo>
                  <a:lnTo>
                    <a:pt x="0" y="350890"/>
                  </a:lnTo>
                </a:path>
              </a:pathLst>
            </a:custGeom>
            <a:ln w="931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6" name="object 2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815018" y="4873932"/>
              <a:ext cx="140556" cy="88002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3825081" y="5037022"/>
              <a:ext cx="1149985" cy="0"/>
            </a:xfrm>
            <a:custGeom>
              <a:avLst/>
              <a:gdLst/>
              <a:ahLst/>
              <a:cxnLst/>
              <a:rect l="l" t="t" r="r" b="b"/>
              <a:pathLst>
                <a:path w="1149985" h="0">
                  <a:moveTo>
                    <a:pt x="0" y="0"/>
                  </a:moveTo>
                  <a:lnTo>
                    <a:pt x="1149616" y="0"/>
                  </a:lnTo>
                </a:path>
              </a:pathLst>
            </a:custGeom>
            <a:ln w="902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8" name="object 2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853334" y="4989596"/>
              <a:ext cx="126741" cy="94560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4813314" y="5648672"/>
              <a:ext cx="1855470" cy="1340485"/>
            </a:xfrm>
            <a:custGeom>
              <a:avLst/>
              <a:gdLst/>
              <a:ahLst/>
              <a:cxnLst/>
              <a:rect l="l" t="t" r="r" b="b"/>
              <a:pathLst>
                <a:path w="1855470" h="1340484">
                  <a:moveTo>
                    <a:pt x="0" y="1340489"/>
                  </a:moveTo>
                  <a:lnTo>
                    <a:pt x="1855093" y="1340489"/>
                  </a:lnTo>
                  <a:lnTo>
                    <a:pt x="1855093" y="0"/>
                  </a:lnTo>
                  <a:lnTo>
                    <a:pt x="0" y="0"/>
                  </a:lnTo>
                  <a:lnTo>
                    <a:pt x="0" y="1340489"/>
                  </a:lnTo>
                  <a:close/>
                </a:path>
              </a:pathLst>
            </a:custGeom>
            <a:ln w="1021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0" name="object 30"/>
          <p:cNvSpPr txBox="1"/>
          <p:nvPr/>
        </p:nvSpPr>
        <p:spPr>
          <a:xfrm>
            <a:off x="5136851" y="6636423"/>
            <a:ext cx="1216025" cy="30162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240665" marR="5080" indent="-228600">
              <a:lnSpc>
                <a:spcPct val="100000"/>
              </a:lnSpc>
              <a:spcBef>
                <a:spcPts val="114"/>
              </a:spcBef>
            </a:pPr>
            <a:r>
              <a:rPr dirty="0" sz="900" spc="165">
                <a:latin typeface="Arial MT"/>
                <a:cs typeface="Arial MT"/>
              </a:rPr>
              <a:t>Solution:</a:t>
            </a:r>
            <a:r>
              <a:rPr dirty="0" sz="900" spc="-35">
                <a:latin typeface="Arial MT"/>
                <a:cs typeface="Arial MT"/>
              </a:rPr>
              <a:t> </a:t>
            </a:r>
            <a:r>
              <a:rPr dirty="0" sz="900" spc="210">
                <a:latin typeface="Arial MT"/>
                <a:cs typeface="Arial MT"/>
              </a:rPr>
              <a:t>Design </a:t>
            </a:r>
            <a:r>
              <a:rPr dirty="0" sz="900" spc="-235">
                <a:latin typeface="Arial MT"/>
                <a:cs typeface="Arial MT"/>
              </a:rPr>
              <a:t> </a:t>
            </a:r>
            <a:r>
              <a:rPr dirty="0" sz="900" spc="225">
                <a:latin typeface="Arial MT"/>
                <a:cs typeface="Arial MT"/>
              </a:rPr>
              <a:t>Document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4974697" y="5765317"/>
            <a:ext cx="1532890" cy="349885"/>
          </a:xfrm>
          <a:prstGeom prst="rect">
            <a:avLst/>
          </a:prstGeom>
          <a:ln w="9337">
            <a:solidFill>
              <a:srgbClr val="000000"/>
            </a:solidFill>
          </a:ln>
        </p:spPr>
        <p:txBody>
          <a:bodyPr wrap="square" lIns="0" tIns="13335" rIns="0" bIns="0" rtlCol="0" vert="horz">
            <a:spAutoFit/>
          </a:bodyPr>
          <a:lstStyle/>
          <a:p>
            <a:pPr marL="295275" marR="234315" indent="-53975">
              <a:lnSpc>
                <a:spcPct val="106200"/>
              </a:lnSpc>
              <a:spcBef>
                <a:spcPts val="105"/>
              </a:spcBef>
            </a:pPr>
            <a:r>
              <a:rPr dirty="0" sz="900" spc="155">
                <a:latin typeface="Arial MT"/>
                <a:cs typeface="Arial MT"/>
              </a:rPr>
              <a:t>Solution: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 spc="160">
                <a:latin typeface="Arial MT"/>
                <a:cs typeface="Arial MT"/>
              </a:rPr>
              <a:t>High- </a:t>
            </a:r>
            <a:r>
              <a:rPr dirty="0" sz="900" spc="-235">
                <a:latin typeface="Arial MT"/>
                <a:cs typeface="Arial MT"/>
              </a:rPr>
              <a:t> </a:t>
            </a:r>
            <a:r>
              <a:rPr dirty="0" sz="900" spc="195">
                <a:latin typeface="Arial MT"/>
                <a:cs typeface="Arial MT"/>
              </a:rPr>
              <a:t>Level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 spc="210">
                <a:latin typeface="Arial MT"/>
                <a:cs typeface="Arial MT"/>
              </a:rPr>
              <a:t>Design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4974697" y="6202495"/>
            <a:ext cx="1532890" cy="349885"/>
          </a:xfrm>
          <a:prstGeom prst="rect">
            <a:avLst/>
          </a:prstGeom>
          <a:ln w="9337">
            <a:solidFill>
              <a:srgbClr val="000000"/>
            </a:solidFill>
          </a:ln>
        </p:spPr>
        <p:txBody>
          <a:bodyPr wrap="square" lIns="0" tIns="12700" rIns="0" bIns="0" rtlCol="0" vert="horz">
            <a:spAutoFit/>
          </a:bodyPr>
          <a:lstStyle/>
          <a:p>
            <a:pPr marL="295275" marR="247650" indent="-40640">
              <a:lnSpc>
                <a:spcPct val="106200"/>
              </a:lnSpc>
              <a:spcBef>
                <a:spcPts val="100"/>
              </a:spcBef>
            </a:pPr>
            <a:r>
              <a:rPr dirty="0" sz="900" spc="155">
                <a:latin typeface="Arial MT"/>
                <a:cs typeface="Arial MT"/>
              </a:rPr>
              <a:t>Solution:</a:t>
            </a:r>
            <a:r>
              <a:rPr dirty="0" sz="900" spc="60">
                <a:latin typeface="Arial MT"/>
                <a:cs typeface="Arial MT"/>
              </a:rPr>
              <a:t> </a:t>
            </a:r>
            <a:r>
              <a:rPr dirty="0" sz="900" spc="195">
                <a:latin typeface="Arial MT"/>
                <a:cs typeface="Arial MT"/>
              </a:rPr>
              <a:t>Low- </a:t>
            </a:r>
            <a:r>
              <a:rPr dirty="0" sz="900" spc="-235">
                <a:latin typeface="Arial MT"/>
                <a:cs typeface="Arial MT"/>
              </a:rPr>
              <a:t> </a:t>
            </a:r>
            <a:r>
              <a:rPr dirty="0" sz="900" spc="195">
                <a:latin typeface="Arial MT"/>
                <a:cs typeface="Arial MT"/>
              </a:rPr>
              <a:t>Level</a:t>
            </a:r>
            <a:r>
              <a:rPr dirty="0" sz="900" spc="40">
                <a:latin typeface="Arial MT"/>
                <a:cs typeface="Arial MT"/>
              </a:rPr>
              <a:t> </a:t>
            </a:r>
            <a:r>
              <a:rPr dirty="0" sz="900" spc="210">
                <a:latin typeface="Arial MT"/>
                <a:cs typeface="Arial MT"/>
              </a:rPr>
              <a:t>Design</a:t>
            </a:r>
            <a:endParaRPr sz="900">
              <a:latin typeface="Arial MT"/>
              <a:cs typeface="Arial MT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3839816" y="5789716"/>
            <a:ext cx="1140460" cy="1513840"/>
            <a:chOff x="3839816" y="5789716"/>
            <a:chExt cx="1140460" cy="1513840"/>
          </a:xfrm>
        </p:grpSpPr>
        <p:sp>
          <p:nvSpPr>
            <p:cNvPr id="34" name="object 34"/>
            <p:cNvSpPr/>
            <p:nvPr/>
          </p:nvSpPr>
          <p:spPr>
            <a:xfrm>
              <a:off x="3845153" y="6814397"/>
              <a:ext cx="968375" cy="63500"/>
            </a:xfrm>
            <a:custGeom>
              <a:avLst/>
              <a:gdLst/>
              <a:ahLst/>
              <a:cxnLst/>
              <a:rect l="l" t="t" r="r" b="b"/>
              <a:pathLst>
                <a:path w="968375" h="63500">
                  <a:moveTo>
                    <a:pt x="968161" y="0"/>
                  </a:moveTo>
                  <a:lnTo>
                    <a:pt x="0" y="63160"/>
                  </a:lnTo>
                </a:path>
              </a:pathLst>
            </a:custGeom>
            <a:ln w="903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5" name="object 3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839816" y="6823066"/>
              <a:ext cx="131913" cy="94255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3845153" y="5794478"/>
              <a:ext cx="1129665" cy="87630"/>
            </a:xfrm>
            <a:custGeom>
              <a:avLst/>
              <a:gdLst/>
              <a:ahLst/>
              <a:cxnLst/>
              <a:rect l="l" t="t" r="r" b="b"/>
              <a:pathLst>
                <a:path w="1129664" h="87629">
                  <a:moveTo>
                    <a:pt x="0" y="0"/>
                  </a:moveTo>
                  <a:lnTo>
                    <a:pt x="1129544" y="87406"/>
                  </a:lnTo>
                </a:path>
              </a:pathLst>
            </a:custGeom>
            <a:ln w="90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7" name="object 3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847457" y="5826235"/>
              <a:ext cx="132567" cy="93778"/>
            </a:xfrm>
            <a:prstGeom prst="rect">
              <a:avLst/>
            </a:prstGeom>
          </p:spPr>
        </p:pic>
        <p:sp>
          <p:nvSpPr>
            <p:cNvPr id="38" name="object 38"/>
            <p:cNvSpPr/>
            <p:nvPr/>
          </p:nvSpPr>
          <p:spPr>
            <a:xfrm>
              <a:off x="3845153" y="5998491"/>
              <a:ext cx="1129665" cy="287020"/>
            </a:xfrm>
            <a:custGeom>
              <a:avLst/>
              <a:gdLst/>
              <a:ahLst/>
              <a:cxnLst/>
              <a:rect l="l" t="t" r="r" b="b"/>
              <a:pathLst>
                <a:path w="1129664" h="287020">
                  <a:moveTo>
                    <a:pt x="1129544" y="0"/>
                  </a:moveTo>
                  <a:lnTo>
                    <a:pt x="0" y="286649"/>
                  </a:lnTo>
                </a:path>
              </a:pathLst>
            </a:custGeom>
            <a:ln w="92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9" name="object 3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839910" y="6212446"/>
              <a:ext cx="139268" cy="90007"/>
            </a:xfrm>
            <a:prstGeom prst="rect">
              <a:avLst/>
            </a:prstGeom>
          </p:spPr>
        </p:pic>
        <p:sp>
          <p:nvSpPr>
            <p:cNvPr id="40" name="object 40"/>
            <p:cNvSpPr/>
            <p:nvPr/>
          </p:nvSpPr>
          <p:spPr>
            <a:xfrm>
              <a:off x="3845153" y="6377220"/>
              <a:ext cx="1129665" cy="0"/>
            </a:xfrm>
            <a:custGeom>
              <a:avLst/>
              <a:gdLst/>
              <a:ahLst/>
              <a:cxnLst/>
              <a:rect l="l" t="t" r="r" b="b"/>
              <a:pathLst>
                <a:path w="1129664" h="0">
                  <a:moveTo>
                    <a:pt x="0" y="0"/>
                  </a:moveTo>
                  <a:lnTo>
                    <a:pt x="1129544" y="0"/>
                  </a:lnTo>
                </a:path>
              </a:pathLst>
            </a:custGeom>
            <a:ln w="902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1" name="object 4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853334" y="6330085"/>
              <a:ext cx="126741" cy="94560"/>
            </a:xfrm>
            <a:prstGeom prst="rect">
              <a:avLst/>
            </a:prstGeom>
          </p:spPr>
        </p:pic>
        <p:sp>
          <p:nvSpPr>
            <p:cNvPr id="42" name="object 42"/>
            <p:cNvSpPr/>
            <p:nvPr/>
          </p:nvSpPr>
          <p:spPr>
            <a:xfrm>
              <a:off x="3845153" y="7047338"/>
              <a:ext cx="1129665" cy="233679"/>
            </a:xfrm>
            <a:custGeom>
              <a:avLst/>
              <a:gdLst/>
              <a:ahLst/>
              <a:cxnLst/>
              <a:rect l="l" t="t" r="r" b="b"/>
              <a:pathLst>
                <a:path w="1129664" h="233679">
                  <a:moveTo>
                    <a:pt x="0" y="0"/>
                  </a:moveTo>
                  <a:lnTo>
                    <a:pt x="1129544" y="233184"/>
                  </a:lnTo>
                </a:path>
              </a:pathLst>
            </a:custGeom>
            <a:ln w="916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3" name="object 4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841595" y="7212100"/>
              <a:ext cx="138363" cy="91262"/>
            </a:xfrm>
            <a:prstGeom prst="rect">
              <a:avLst/>
            </a:prstGeom>
          </p:spPr>
        </p:pic>
      </p:grpSp>
      <p:sp>
        <p:nvSpPr>
          <p:cNvPr id="44" name="object 44"/>
          <p:cNvSpPr txBox="1"/>
          <p:nvPr/>
        </p:nvSpPr>
        <p:spPr>
          <a:xfrm>
            <a:off x="4974697" y="7134968"/>
            <a:ext cx="1532890" cy="291465"/>
          </a:xfrm>
          <a:prstGeom prst="rect">
            <a:avLst/>
          </a:prstGeom>
          <a:ln w="9247">
            <a:solidFill>
              <a:srgbClr val="000000"/>
            </a:solidFill>
          </a:ln>
        </p:spPr>
        <p:txBody>
          <a:bodyPr wrap="square" lIns="0" tIns="69850" rIns="0" bIns="0" rtlCol="0" vert="horz">
            <a:spAutoFit/>
          </a:bodyPr>
          <a:lstStyle/>
          <a:p>
            <a:pPr marL="241300">
              <a:lnSpc>
                <a:spcPct val="100000"/>
              </a:lnSpc>
              <a:spcBef>
                <a:spcPts val="550"/>
              </a:spcBef>
            </a:pPr>
            <a:r>
              <a:rPr dirty="0" sz="900" spc="155">
                <a:latin typeface="Arial MT"/>
                <a:cs typeface="Arial MT"/>
              </a:rPr>
              <a:t>Solution:</a:t>
            </a:r>
            <a:r>
              <a:rPr dirty="0" sz="900" spc="90">
                <a:latin typeface="Arial MT"/>
                <a:cs typeface="Arial MT"/>
              </a:rPr>
              <a:t> </a:t>
            </a:r>
            <a:r>
              <a:rPr dirty="0" sz="900" spc="240">
                <a:latin typeface="Arial MT"/>
                <a:cs typeface="Arial MT"/>
              </a:rPr>
              <a:t>Code</a:t>
            </a:r>
            <a:endParaRPr sz="900">
              <a:latin typeface="Arial MT"/>
              <a:cs typeface="Arial MT"/>
            </a:endParaRPr>
          </a:p>
        </p:txBody>
      </p:sp>
      <p:grpSp>
        <p:nvGrpSpPr>
          <p:cNvPr id="45" name="object 45"/>
          <p:cNvGrpSpPr/>
          <p:nvPr/>
        </p:nvGrpSpPr>
        <p:grpSpPr>
          <a:xfrm>
            <a:off x="2207084" y="4189538"/>
            <a:ext cx="1623060" cy="417830"/>
            <a:chOff x="2207084" y="4189538"/>
            <a:chExt cx="1623060" cy="417830"/>
          </a:xfrm>
        </p:grpSpPr>
        <p:sp>
          <p:nvSpPr>
            <p:cNvPr id="46" name="object 46"/>
            <p:cNvSpPr/>
            <p:nvPr/>
          </p:nvSpPr>
          <p:spPr>
            <a:xfrm>
              <a:off x="2211846" y="4194300"/>
              <a:ext cx="1613535" cy="408305"/>
            </a:xfrm>
            <a:custGeom>
              <a:avLst/>
              <a:gdLst/>
              <a:ahLst/>
              <a:cxnLst/>
              <a:rect l="l" t="t" r="r" b="b"/>
              <a:pathLst>
                <a:path w="1613535" h="408304">
                  <a:moveTo>
                    <a:pt x="1451851" y="0"/>
                  </a:moveTo>
                  <a:lnTo>
                    <a:pt x="161328" y="0"/>
                  </a:lnTo>
                  <a:lnTo>
                    <a:pt x="110357" y="5940"/>
                  </a:lnTo>
                  <a:lnTo>
                    <a:pt x="66074" y="22481"/>
                  </a:lnTo>
                  <a:lnTo>
                    <a:pt x="31143" y="47703"/>
                  </a:lnTo>
                  <a:lnTo>
                    <a:pt x="8230" y="79686"/>
                  </a:lnTo>
                  <a:lnTo>
                    <a:pt x="0" y="116509"/>
                  </a:lnTo>
                  <a:lnTo>
                    <a:pt x="0" y="291321"/>
                  </a:lnTo>
                  <a:lnTo>
                    <a:pt x="31143" y="360161"/>
                  </a:lnTo>
                  <a:lnTo>
                    <a:pt x="66074" y="385412"/>
                  </a:lnTo>
                  <a:lnTo>
                    <a:pt x="110357" y="401977"/>
                  </a:lnTo>
                  <a:lnTo>
                    <a:pt x="161328" y="407928"/>
                  </a:lnTo>
                  <a:lnTo>
                    <a:pt x="1451851" y="407928"/>
                  </a:lnTo>
                  <a:lnTo>
                    <a:pt x="1502828" y="401977"/>
                  </a:lnTo>
                  <a:lnTo>
                    <a:pt x="1547125" y="385412"/>
                  </a:lnTo>
                  <a:lnTo>
                    <a:pt x="1582072" y="360161"/>
                  </a:lnTo>
                  <a:lnTo>
                    <a:pt x="1604998" y="328154"/>
                  </a:lnTo>
                  <a:lnTo>
                    <a:pt x="1613234" y="291321"/>
                  </a:lnTo>
                  <a:lnTo>
                    <a:pt x="1613234" y="116509"/>
                  </a:lnTo>
                  <a:lnTo>
                    <a:pt x="1582072" y="47703"/>
                  </a:lnTo>
                  <a:lnTo>
                    <a:pt x="1547125" y="22481"/>
                  </a:lnTo>
                  <a:lnTo>
                    <a:pt x="1502828" y="5940"/>
                  </a:lnTo>
                  <a:lnTo>
                    <a:pt x="1451851" y="0"/>
                  </a:lnTo>
                  <a:close/>
                </a:path>
              </a:pathLst>
            </a:custGeom>
            <a:solidFill>
              <a:srgbClr val="FDEEB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/>
            <p:cNvSpPr/>
            <p:nvPr/>
          </p:nvSpPr>
          <p:spPr>
            <a:xfrm>
              <a:off x="2211846" y="4194300"/>
              <a:ext cx="1613535" cy="408305"/>
            </a:xfrm>
            <a:custGeom>
              <a:avLst/>
              <a:gdLst/>
              <a:ahLst/>
              <a:cxnLst/>
              <a:rect l="l" t="t" r="r" b="b"/>
              <a:pathLst>
                <a:path w="1613535" h="408304">
                  <a:moveTo>
                    <a:pt x="1451851" y="407928"/>
                  </a:moveTo>
                  <a:lnTo>
                    <a:pt x="1502828" y="401977"/>
                  </a:lnTo>
                  <a:lnTo>
                    <a:pt x="1547125" y="385412"/>
                  </a:lnTo>
                  <a:lnTo>
                    <a:pt x="1582072" y="360161"/>
                  </a:lnTo>
                  <a:lnTo>
                    <a:pt x="1604998" y="328154"/>
                  </a:lnTo>
                  <a:lnTo>
                    <a:pt x="1613234" y="291321"/>
                  </a:lnTo>
                  <a:lnTo>
                    <a:pt x="1613234" y="116509"/>
                  </a:lnTo>
                  <a:lnTo>
                    <a:pt x="1582072" y="47703"/>
                  </a:lnTo>
                  <a:lnTo>
                    <a:pt x="1547125" y="22481"/>
                  </a:lnTo>
                  <a:lnTo>
                    <a:pt x="1502828" y="5940"/>
                  </a:lnTo>
                  <a:lnTo>
                    <a:pt x="1451851" y="0"/>
                  </a:lnTo>
                  <a:lnTo>
                    <a:pt x="161328" y="0"/>
                  </a:lnTo>
                  <a:lnTo>
                    <a:pt x="110357" y="5940"/>
                  </a:lnTo>
                  <a:lnTo>
                    <a:pt x="66074" y="22481"/>
                  </a:lnTo>
                  <a:lnTo>
                    <a:pt x="31143" y="47703"/>
                  </a:lnTo>
                  <a:lnTo>
                    <a:pt x="8230" y="79686"/>
                  </a:lnTo>
                  <a:lnTo>
                    <a:pt x="0" y="116509"/>
                  </a:lnTo>
                  <a:lnTo>
                    <a:pt x="0" y="291321"/>
                  </a:lnTo>
                  <a:lnTo>
                    <a:pt x="8230" y="328154"/>
                  </a:lnTo>
                  <a:lnTo>
                    <a:pt x="31143" y="360161"/>
                  </a:lnTo>
                  <a:lnTo>
                    <a:pt x="66074" y="385412"/>
                  </a:lnTo>
                  <a:lnTo>
                    <a:pt x="110357" y="401977"/>
                  </a:lnTo>
                  <a:lnTo>
                    <a:pt x="161328" y="407928"/>
                  </a:lnTo>
                  <a:lnTo>
                    <a:pt x="1451851" y="407928"/>
                  </a:lnTo>
                  <a:close/>
                </a:path>
              </a:pathLst>
            </a:custGeom>
            <a:ln w="923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8" name="object 48"/>
          <p:cNvSpPr txBox="1"/>
          <p:nvPr/>
        </p:nvSpPr>
        <p:spPr>
          <a:xfrm>
            <a:off x="2407489" y="4237393"/>
            <a:ext cx="1246505" cy="30162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39370" marR="5080" indent="-27305">
              <a:lnSpc>
                <a:spcPct val="100000"/>
              </a:lnSpc>
              <a:spcBef>
                <a:spcPts val="114"/>
              </a:spcBef>
            </a:pPr>
            <a:r>
              <a:rPr dirty="0" sz="900" spc="210">
                <a:latin typeface="Arial MT"/>
                <a:cs typeface="Arial MT"/>
              </a:rPr>
              <a:t>Design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 spc="185">
                <a:latin typeface="Arial MT"/>
                <a:cs typeface="Arial MT"/>
              </a:rPr>
              <a:t>Features </a:t>
            </a:r>
            <a:r>
              <a:rPr dirty="0" sz="900" spc="-235">
                <a:latin typeface="Arial MT"/>
                <a:cs typeface="Arial MT"/>
              </a:rPr>
              <a:t> </a:t>
            </a:r>
            <a:r>
              <a:rPr dirty="0" sz="900" spc="225">
                <a:latin typeface="Arial MT"/>
                <a:cs typeface="Arial MT"/>
              </a:rPr>
              <a:t>and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 spc="180">
                <a:latin typeface="Arial MT"/>
                <a:cs typeface="Arial MT"/>
              </a:rPr>
              <a:t>Capabilities</a:t>
            </a:r>
            <a:endParaRPr sz="900">
              <a:latin typeface="Arial MT"/>
              <a:cs typeface="Arial MT"/>
            </a:endParaRPr>
          </a:p>
        </p:txBody>
      </p:sp>
      <p:grpSp>
        <p:nvGrpSpPr>
          <p:cNvPr id="49" name="object 49"/>
          <p:cNvGrpSpPr/>
          <p:nvPr/>
        </p:nvGrpSpPr>
        <p:grpSpPr>
          <a:xfrm>
            <a:off x="2207084" y="4828247"/>
            <a:ext cx="1623060" cy="417830"/>
            <a:chOff x="2207084" y="4828247"/>
            <a:chExt cx="1623060" cy="417830"/>
          </a:xfrm>
        </p:grpSpPr>
        <p:sp>
          <p:nvSpPr>
            <p:cNvPr id="50" name="object 50"/>
            <p:cNvSpPr/>
            <p:nvPr/>
          </p:nvSpPr>
          <p:spPr>
            <a:xfrm>
              <a:off x="2211846" y="4833009"/>
              <a:ext cx="1613535" cy="408305"/>
            </a:xfrm>
            <a:custGeom>
              <a:avLst/>
              <a:gdLst/>
              <a:ahLst/>
              <a:cxnLst/>
              <a:rect l="l" t="t" r="r" b="b"/>
              <a:pathLst>
                <a:path w="1613535" h="408304">
                  <a:moveTo>
                    <a:pt x="1451851" y="0"/>
                  </a:moveTo>
                  <a:lnTo>
                    <a:pt x="161328" y="0"/>
                  </a:lnTo>
                  <a:lnTo>
                    <a:pt x="110357" y="5950"/>
                  </a:lnTo>
                  <a:lnTo>
                    <a:pt x="66074" y="22516"/>
                  </a:lnTo>
                  <a:lnTo>
                    <a:pt x="31143" y="47767"/>
                  </a:lnTo>
                  <a:lnTo>
                    <a:pt x="8230" y="79773"/>
                  </a:lnTo>
                  <a:lnTo>
                    <a:pt x="0" y="116606"/>
                  </a:lnTo>
                  <a:lnTo>
                    <a:pt x="0" y="291419"/>
                  </a:lnTo>
                  <a:lnTo>
                    <a:pt x="31143" y="360258"/>
                  </a:lnTo>
                  <a:lnTo>
                    <a:pt x="66074" y="385509"/>
                  </a:lnTo>
                  <a:lnTo>
                    <a:pt x="110357" y="402075"/>
                  </a:lnTo>
                  <a:lnTo>
                    <a:pt x="161328" y="408025"/>
                  </a:lnTo>
                  <a:lnTo>
                    <a:pt x="1451851" y="408025"/>
                  </a:lnTo>
                  <a:lnTo>
                    <a:pt x="1502828" y="402075"/>
                  </a:lnTo>
                  <a:lnTo>
                    <a:pt x="1547125" y="385509"/>
                  </a:lnTo>
                  <a:lnTo>
                    <a:pt x="1582072" y="360258"/>
                  </a:lnTo>
                  <a:lnTo>
                    <a:pt x="1604998" y="328252"/>
                  </a:lnTo>
                  <a:lnTo>
                    <a:pt x="1613234" y="291419"/>
                  </a:lnTo>
                  <a:lnTo>
                    <a:pt x="1613234" y="116606"/>
                  </a:lnTo>
                  <a:lnTo>
                    <a:pt x="1582072" y="47767"/>
                  </a:lnTo>
                  <a:lnTo>
                    <a:pt x="1547125" y="22516"/>
                  </a:lnTo>
                  <a:lnTo>
                    <a:pt x="1502828" y="5950"/>
                  </a:lnTo>
                  <a:lnTo>
                    <a:pt x="1451851" y="0"/>
                  </a:lnTo>
                  <a:close/>
                </a:path>
              </a:pathLst>
            </a:custGeom>
            <a:solidFill>
              <a:srgbClr val="FDEEB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/>
            <p:cNvSpPr/>
            <p:nvPr/>
          </p:nvSpPr>
          <p:spPr>
            <a:xfrm>
              <a:off x="2211846" y="4833009"/>
              <a:ext cx="1613535" cy="408305"/>
            </a:xfrm>
            <a:custGeom>
              <a:avLst/>
              <a:gdLst/>
              <a:ahLst/>
              <a:cxnLst/>
              <a:rect l="l" t="t" r="r" b="b"/>
              <a:pathLst>
                <a:path w="1613535" h="408304">
                  <a:moveTo>
                    <a:pt x="1451851" y="408025"/>
                  </a:moveTo>
                  <a:lnTo>
                    <a:pt x="1502828" y="402075"/>
                  </a:lnTo>
                  <a:lnTo>
                    <a:pt x="1547125" y="385509"/>
                  </a:lnTo>
                  <a:lnTo>
                    <a:pt x="1582072" y="360258"/>
                  </a:lnTo>
                  <a:lnTo>
                    <a:pt x="1604998" y="328252"/>
                  </a:lnTo>
                  <a:lnTo>
                    <a:pt x="1613234" y="291419"/>
                  </a:lnTo>
                  <a:lnTo>
                    <a:pt x="1613234" y="116606"/>
                  </a:lnTo>
                  <a:lnTo>
                    <a:pt x="1604998" y="79773"/>
                  </a:lnTo>
                  <a:lnTo>
                    <a:pt x="1582072" y="47767"/>
                  </a:lnTo>
                  <a:lnTo>
                    <a:pt x="1547125" y="22516"/>
                  </a:lnTo>
                  <a:lnTo>
                    <a:pt x="1502828" y="5950"/>
                  </a:lnTo>
                  <a:lnTo>
                    <a:pt x="1451851" y="0"/>
                  </a:lnTo>
                  <a:lnTo>
                    <a:pt x="161328" y="0"/>
                  </a:lnTo>
                  <a:lnTo>
                    <a:pt x="110357" y="5950"/>
                  </a:lnTo>
                  <a:lnTo>
                    <a:pt x="66074" y="22516"/>
                  </a:lnTo>
                  <a:lnTo>
                    <a:pt x="31143" y="47767"/>
                  </a:lnTo>
                  <a:lnTo>
                    <a:pt x="8230" y="79773"/>
                  </a:lnTo>
                  <a:lnTo>
                    <a:pt x="0" y="116606"/>
                  </a:lnTo>
                  <a:lnTo>
                    <a:pt x="0" y="291419"/>
                  </a:lnTo>
                  <a:lnTo>
                    <a:pt x="8230" y="328252"/>
                  </a:lnTo>
                  <a:lnTo>
                    <a:pt x="31143" y="360258"/>
                  </a:lnTo>
                  <a:lnTo>
                    <a:pt x="66074" y="385509"/>
                  </a:lnTo>
                  <a:lnTo>
                    <a:pt x="110357" y="402075"/>
                  </a:lnTo>
                  <a:lnTo>
                    <a:pt x="161328" y="408025"/>
                  </a:lnTo>
                  <a:lnTo>
                    <a:pt x="1451851" y="408025"/>
                  </a:lnTo>
                  <a:close/>
                </a:path>
              </a:pathLst>
            </a:custGeom>
            <a:ln w="923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2" name="object 52"/>
          <p:cNvSpPr txBox="1"/>
          <p:nvPr/>
        </p:nvSpPr>
        <p:spPr>
          <a:xfrm>
            <a:off x="2313462" y="4946474"/>
            <a:ext cx="1434465" cy="16573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900" spc="210">
                <a:latin typeface="Arial MT"/>
                <a:cs typeface="Arial MT"/>
              </a:rPr>
              <a:t>Design</a:t>
            </a:r>
            <a:r>
              <a:rPr dirty="0" sz="900" spc="40">
                <a:latin typeface="Arial MT"/>
                <a:cs typeface="Arial MT"/>
              </a:rPr>
              <a:t> </a:t>
            </a:r>
            <a:r>
              <a:rPr dirty="0" sz="900" spc="165">
                <a:latin typeface="Arial MT"/>
                <a:cs typeface="Arial MT"/>
              </a:rPr>
              <a:t>Interactions</a:t>
            </a:r>
            <a:endParaRPr sz="900">
              <a:latin typeface="Arial MT"/>
              <a:cs typeface="Arial MT"/>
            </a:endParaRPr>
          </a:p>
        </p:txBody>
      </p:sp>
      <p:grpSp>
        <p:nvGrpSpPr>
          <p:cNvPr id="53" name="object 53"/>
          <p:cNvGrpSpPr/>
          <p:nvPr/>
        </p:nvGrpSpPr>
        <p:grpSpPr>
          <a:xfrm>
            <a:off x="2227129" y="5585800"/>
            <a:ext cx="1623060" cy="417830"/>
            <a:chOff x="2227129" y="5585800"/>
            <a:chExt cx="1623060" cy="417830"/>
          </a:xfrm>
        </p:grpSpPr>
        <p:sp>
          <p:nvSpPr>
            <p:cNvPr id="54" name="object 54"/>
            <p:cNvSpPr/>
            <p:nvPr/>
          </p:nvSpPr>
          <p:spPr>
            <a:xfrm>
              <a:off x="2231891" y="5590563"/>
              <a:ext cx="1613535" cy="408305"/>
            </a:xfrm>
            <a:custGeom>
              <a:avLst/>
              <a:gdLst/>
              <a:ahLst/>
              <a:cxnLst/>
              <a:rect l="l" t="t" r="r" b="b"/>
              <a:pathLst>
                <a:path w="1613535" h="408304">
                  <a:moveTo>
                    <a:pt x="1451878" y="0"/>
                  </a:moveTo>
                  <a:lnTo>
                    <a:pt x="161355" y="0"/>
                  </a:lnTo>
                  <a:lnTo>
                    <a:pt x="110382" y="5940"/>
                  </a:lnTo>
                  <a:lnTo>
                    <a:pt x="66091" y="22481"/>
                  </a:lnTo>
                  <a:lnTo>
                    <a:pt x="31152" y="47703"/>
                  </a:lnTo>
                  <a:lnTo>
                    <a:pt x="8232" y="79686"/>
                  </a:lnTo>
                  <a:lnTo>
                    <a:pt x="0" y="116509"/>
                  </a:lnTo>
                  <a:lnTo>
                    <a:pt x="0" y="291321"/>
                  </a:lnTo>
                  <a:lnTo>
                    <a:pt x="31152" y="360161"/>
                  </a:lnTo>
                  <a:lnTo>
                    <a:pt x="66091" y="385412"/>
                  </a:lnTo>
                  <a:lnTo>
                    <a:pt x="110382" y="401977"/>
                  </a:lnTo>
                  <a:lnTo>
                    <a:pt x="161355" y="407928"/>
                  </a:lnTo>
                  <a:lnTo>
                    <a:pt x="1451878" y="407928"/>
                  </a:lnTo>
                  <a:lnTo>
                    <a:pt x="1502855" y="401977"/>
                  </a:lnTo>
                  <a:lnTo>
                    <a:pt x="1547152" y="385412"/>
                  </a:lnTo>
                  <a:lnTo>
                    <a:pt x="1582099" y="360161"/>
                  </a:lnTo>
                  <a:lnTo>
                    <a:pt x="1605025" y="328154"/>
                  </a:lnTo>
                  <a:lnTo>
                    <a:pt x="1613261" y="291321"/>
                  </a:lnTo>
                  <a:lnTo>
                    <a:pt x="1613261" y="116509"/>
                  </a:lnTo>
                  <a:lnTo>
                    <a:pt x="1582099" y="47703"/>
                  </a:lnTo>
                  <a:lnTo>
                    <a:pt x="1547152" y="22481"/>
                  </a:lnTo>
                  <a:lnTo>
                    <a:pt x="1502855" y="5940"/>
                  </a:lnTo>
                  <a:lnTo>
                    <a:pt x="1451878" y="0"/>
                  </a:lnTo>
                  <a:close/>
                </a:path>
              </a:pathLst>
            </a:custGeom>
            <a:solidFill>
              <a:srgbClr val="FDEEB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/>
            <p:cNvSpPr/>
            <p:nvPr/>
          </p:nvSpPr>
          <p:spPr>
            <a:xfrm>
              <a:off x="2231891" y="5590563"/>
              <a:ext cx="1613535" cy="408305"/>
            </a:xfrm>
            <a:custGeom>
              <a:avLst/>
              <a:gdLst/>
              <a:ahLst/>
              <a:cxnLst/>
              <a:rect l="l" t="t" r="r" b="b"/>
              <a:pathLst>
                <a:path w="1613535" h="408304">
                  <a:moveTo>
                    <a:pt x="1451878" y="407928"/>
                  </a:moveTo>
                  <a:lnTo>
                    <a:pt x="1502855" y="401977"/>
                  </a:lnTo>
                  <a:lnTo>
                    <a:pt x="1547152" y="385412"/>
                  </a:lnTo>
                  <a:lnTo>
                    <a:pt x="1582099" y="360161"/>
                  </a:lnTo>
                  <a:lnTo>
                    <a:pt x="1605025" y="328154"/>
                  </a:lnTo>
                  <a:lnTo>
                    <a:pt x="1613261" y="291321"/>
                  </a:lnTo>
                  <a:lnTo>
                    <a:pt x="1613261" y="116509"/>
                  </a:lnTo>
                  <a:lnTo>
                    <a:pt x="1605025" y="79686"/>
                  </a:lnTo>
                  <a:lnTo>
                    <a:pt x="1582099" y="47703"/>
                  </a:lnTo>
                  <a:lnTo>
                    <a:pt x="1547152" y="22481"/>
                  </a:lnTo>
                  <a:lnTo>
                    <a:pt x="1502855" y="5940"/>
                  </a:lnTo>
                  <a:lnTo>
                    <a:pt x="1451878" y="0"/>
                  </a:lnTo>
                  <a:lnTo>
                    <a:pt x="161355" y="0"/>
                  </a:lnTo>
                  <a:lnTo>
                    <a:pt x="110382" y="5940"/>
                  </a:lnTo>
                  <a:lnTo>
                    <a:pt x="66091" y="22481"/>
                  </a:lnTo>
                  <a:lnTo>
                    <a:pt x="31152" y="47703"/>
                  </a:lnTo>
                  <a:lnTo>
                    <a:pt x="8232" y="79686"/>
                  </a:lnTo>
                  <a:lnTo>
                    <a:pt x="0" y="116509"/>
                  </a:lnTo>
                  <a:lnTo>
                    <a:pt x="0" y="291321"/>
                  </a:lnTo>
                  <a:lnTo>
                    <a:pt x="31152" y="360161"/>
                  </a:lnTo>
                  <a:lnTo>
                    <a:pt x="66091" y="385412"/>
                  </a:lnTo>
                  <a:lnTo>
                    <a:pt x="110382" y="401977"/>
                  </a:lnTo>
                  <a:lnTo>
                    <a:pt x="161355" y="407928"/>
                  </a:lnTo>
                  <a:lnTo>
                    <a:pt x="1451878" y="407928"/>
                  </a:lnTo>
                  <a:close/>
                </a:path>
              </a:pathLst>
            </a:custGeom>
            <a:ln w="923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6" name="object 56"/>
          <p:cNvSpPr txBox="1"/>
          <p:nvPr/>
        </p:nvSpPr>
        <p:spPr>
          <a:xfrm>
            <a:off x="2380547" y="5626258"/>
            <a:ext cx="1337310" cy="311150"/>
          </a:xfrm>
          <a:prstGeom prst="rect">
            <a:avLst/>
          </a:prstGeom>
        </p:spPr>
        <p:txBody>
          <a:bodyPr wrap="square" lIns="0" tIns="6350" rIns="0" bIns="0" rtlCol="0" vert="horz">
            <a:spAutoFit/>
          </a:bodyPr>
          <a:lstStyle/>
          <a:p>
            <a:pPr marL="401955" marR="5080" indent="-389890">
              <a:lnSpc>
                <a:spcPct val="106300"/>
              </a:lnSpc>
              <a:spcBef>
                <a:spcPts val="50"/>
              </a:spcBef>
            </a:pPr>
            <a:r>
              <a:rPr dirty="0" sz="900" spc="190">
                <a:latin typeface="Arial MT"/>
                <a:cs typeface="Arial MT"/>
              </a:rPr>
              <a:t>Create</a:t>
            </a:r>
            <a:r>
              <a:rPr dirty="0" sz="900" spc="65">
                <a:latin typeface="Arial MT"/>
                <a:cs typeface="Arial MT"/>
              </a:rPr>
              <a:t> </a:t>
            </a:r>
            <a:r>
              <a:rPr dirty="0" sz="900" spc="175">
                <a:latin typeface="Arial MT"/>
                <a:cs typeface="Arial MT"/>
              </a:rPr>
              <a:t>High-Level </a:t>
            </a:r>
            <a:r>
              <a:rPr dirty="0" sz="900" spc="-235">
                <a:latin typeface="Arial MT"/>
                <a:cs typeface="Arial MT"/>
              </a:rPr>
              <a:t> </a:t>
            </a:r>
            <a:r>
              <a:rPr dirty="0" sz="900" spc="210">
                <a:latin typeface="Arial MT"/>
                <a:cs typeface="Arial MT"/>
              </a:rPr>
              <a:t>Design</a:t>
            </a:r>
            <a:endParaRPr sz="900">
              <a:latin typeface="Arial MT"/>
              <a:cs typeface="Arial MT"/>
            </a:endParaRPr>
          </a:p>
        </p:txBody>
      </p:sp>
      <p:grpSp>
        <p:nvGrpSpPr>
          <p:cNvPr id="57" name="object 57"/>
          <p:cNvGrpSpPr/>
          <p:nvPr/>
        </p:nvGrpSpPr>
        <p:grpSpPr>
          <a:xfrm>
            <a:off x="2227129" y="6168444"/>
            <a:ext cx="1623060" cy="417830"/>
            <a:chOff x="2227129" y="6168444"/>
            <a:chExt cx="1623060" cy="417830"/>
          </a:xfrm>
        </p:grpSpPr>
        <p:sp>
          <p:nvSpPr>
            <p:cNvPr id="58" name="object 58"/>
            <p:cNvSpPr/>
            <p:nvPr/>
          </p:nvSpPr>
          <p:spPr>
            <a:xfrm>
              <a:off x="2231891" y="6173207"/>
              <a:ext cx="1613535" cy="408305"/>
            </a:xfrm>
            <a:custGeom>
              <a:avLst/>
              <a:gdLst/>
              <a:ahLst/>
              <a:cxnLst/>
              <a:rect l="l" t="t" r="r" b="b"/>
              <a:pathLst>
                <a:path w="1613535" h="408304">
                  <a:moveTo>
                    <a:pt x="1451878" y="0"/>
                  </a:moveTo>
                  <a:lnTo>
                    <a:pt x="161355" y="0"/>
                  </a:lnTo>
                  <a:lnTo>
                    <a:pt x="110382" y="5950"/>
                  </a:lnTo>
                  <a:lnTo>
                    <a:pt x="66091" y="22516"/>
                  </a:lnTo>
                  <a:lnTo>
                    <a:pt x="31152" y="47767"/>
                  </a:lnTo>
                  <a:lnTo>
                    <a:pt x="8232" y="79773"/>
                  </a:lnTo>
                  <a:lnTo>
                    <a:pt x="0" y="116606"/>
                  </a:lnTo>
                  <a:lnTo>
                    <a:pt x="0" y="291419"/>
                  </a:lnTo>
                  <a:lnTo>
                    <a:pt x="31152" y="360258"/>
                  </a:lnTo>
                  <a:lnTo>
                    <a:pt x="66091" y="385509"/>
                  </a:lnTo>
                  <a:lnTo>
                    <a:pt x="110382" y="402075"/>
                  </a:lnTo>
                  <a:lnTo>
                    <a:pt x="161355" y="408025"/>
                  </a:lnTo>
                  <a:lnTo>
                    <a:pt x="1451878" y="408025"/>
                  </a:lnTo>
                  <a:lnTo>
                    <a:pt x="1502855" y="402075"/>
                  </a:lnTo>
                  <a:lnTo>
                    <a:pt x="1547152" y="385509"/>
                  </a:lnTo>
                  <a:lnTo>
                    <a:pt x="1582099" y="360258"/>
                  </a:lnTo>
                  <a:lnTo>
                    <a:pt x="1605025" y="328252"/>
                  </a:lnTo>
                  <a:lnTo>
                    <a:pt x="1613261" y="291419"/>
                  </a:lnTo>
                  <a:lnTo>
                    <a:pt x="1613261" y="116606"/>
                  </a:lnTo>
                  <a:lnTo>
                    <a:pt x="1582099" y="47767"/>
                  </a:lnTo>
                  <a:lnTo>
                    <a:pt x="1547152" y="22516"/>
                  </a:lnTo>
                  <a:lnTo>
                    <a:pt x="1502855" y="5950"/>
                  </a:lnTo>
                  <a:lnTo>
                    <a:pt x="1451878" y="0"/>
                  </a:lnTo>
                  <a:close/>
                </a:path>
              </a:pathLst>
            </a:custGeom>
            <a:solidFill>
              <a:srgbClr val="FDEEB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/>
            <p:cNvSpPr/>
            <p:nvPr/>
          </p:nvSpPr>
          <p:spPr>
            <a:xfrm>
              <a:off x="2231891" y="6173207"/>
              <a:ext cx="1613535" cy="408305"/>
            </a:xfrm>
            <a:custGeom>
              <a:avLst/>
              <a:gdLst/>
              <a:ahLst/>
              <a:cxnLst/>
              <a:rect l="l" t="t" r="r" b="b"/>
              <a:pathLst>
                <a:path w="1613535" h="408304">
                  <a:moveTo>
                    <a:pt x="1451878" y="408025"/>
                  </a:moveTo>
                  <a:lnTo>
                    <a:pt x="1502855" y="402075"/>
                  </a:lnTo>
                  <a:lnTo>
                    <a:pt x="1547152" y="385509"/>
                  </a:lnTo>
                  <a:lnTo>
                    <a:pt x="1582099" y="360258"/>
                  </a:lnTo>
                  <a:lnTo>
                    <a:pt x="1605025" y="328252"/>
                  </a:lnTo>
                  <a:lnTo>
                    <a:pt x="1613261" y="291419"/>
                  </a:lnTo>
                  <a:lnTo>
                    <a:pt x="1613261" y="116606"/>
                  </a:lnTo>
                  <a:lnTo>
                    <a:pt x="1582099" y="47767"/>
                  </a:lnTo>
                  <a:lnTo>
                    <a:pt x="1547152" y="22516"/>
                  </a:lnTo>
                  <a:lnTo>
                    <a:pt x="1502855" y="5950"/>
                  </a:lnTo>
                  <a:lnTo>
                    <a:pt x="1451878" y="0"/>
                  </a:lnTo>
                  <a:lnTo>
                    <a:pt x="161355" y="0"/>
                  </a:lnTo>
                  <a:lnTo>
                    <a:pt x="110382" y="5950"/>
                  </a:lnTo>
                  <a:lnTo>
                    <a:pt x="66091" y="22516"/>
                  </a:lnTo>
                  <a:lnTo>
                    <a:pt x="31152" y="47767"/>
                  </a:lnTo>
                  <a:lnTo>
                    <a:pt x="8232" y="79773"/>
                  </a:lnTo>
                  <a:lnTo>
                    <a:pt x="0" y="116606"/>
                  </a:lnTo>
                  <a:lnTo>
                    <a:pt x="0" y="291419"/>
                  </a:lnTo>
                  <a:lnTo>
                    <a:pt x="31152" y="360258"/>
                  </a:lnTo>
                  <a:lnTo>
                    <a:pt x="66091" y="385509"/>
                  </a:lnTo>
                  <a:lnTo>
                    <a:pt x="110382" y="402075"/>
                  </a:lnTo>
                  <a:lnTo>
                    <a:pt x="161355" y="408025"/>
                  </a:lnTo>
                  <a:lnTo>
                    <a:pt x="1451878" y="408025"/>
                  </a:lnTo>
                  <a:close/>
                </a:path>
              </a:pathLst>
            </a:custGeom>
            <a:ln w="923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0" name="object 60"/>
          <p:cNvSpPr txBox="1"/>
          <p:nvPr/>
        </p:nvSpPr>
        <p:spPr>
          <a:xfrm>
            <a:off x="2394018" y="6209193"/>
            <a:ext cx="1297305" cy="311150"/>
          </a:xfrm>
          <a:prstGeom prst="rect">
            <a:avLst/>
          </a:prstGeom>
        </p:spPr>
        <p:txBody>
          <a:bodyPr wrap="square" lIns="0" tIns="6350" rIns="0" bIns="0" rtlCol="0" vert="horz">
            <a:spAutoFit/>
          </a:bodyPr>
          <a:lstStyle/>
          <a:p>
            <a:pPr marL="388620" marR="5080" indent="-376555">
              <a:lnSpc>
                <a:spcPct val="106200"/>
              </a:lnSpc>
              <a:spcBef>
                <a:spcPts val="50"/>
              </a:spcBef>
            </a:pPr>
            <a:r>
              <a:rPr dirty="0" sz="900" spc="190">
                <a:latin typeface="Arial MT"/>
                <a:cs typeface="Arial MT"/>
              </a:rPr>
              <a:t>Create</a:t>
            </a:r>
            <a:r>
              <a:rPr dirty="0" sz="900" spc="40">
                <a:latin typeface="Arial MT"/>
                <a:cs typeface="Arial MT"/>
              </a:rPr>
              <a:t> </a:t>
            </a:r>
            <a:r>
              <a:rPr dirty="0" sz="900" spc="185">
                <a:latin typeface="Arial MT"/>
                <a:cs typeface="Arial MT"/>
              </a:rPr>
              <a:t>Low-Level </a:t>
            </a:r>
            <a:r>
              <a:rPr dirty="0" sz="900" spc="-235">
                <a:latin typeface="Arial MT"/>
                <a:cs typeface="Arial MT"/>
              </a:rPr>
              <a:t> </a:t>
            </a:r>
            <a:r>
              <a:rPr dirty="0" sz="900" spc="210">
                <a:latin typeface="Arial MT"/>
                <a:cs typeface="Arial MT"/>
              </a:rPr>
              <a:t>Design</a:t>
            </a:r>
            <a:endParaRPr sz="900">
              <a:latin typeface="Arial MT"/>
              <a:cs typeface="Arial MT"/>
            </a:endParaRPr>
          </a:p>
        </p:txBody>
      </p:sp>
      <p:grpSp>
        <p:nvGrpSpPr>
          <p:cNvPr id="61" name="object 61"/>
          <p:cNvGrpSpPr/>
          <p:nvPr/>
        </p:nvGrpSpPr>
        <p:grpSpPr>
          <a:xfrm>
            <a:off x="2227129" y="6751215"/>
            <a:ext cx="1623060" cy="417830"/>
            <a:chOff x="2227129" y="6751215"/>
            <a:chExt cx="1623060" cy="417830"/>
          </a:xfrm>
        </p:grpSpPr>
        <p:sp>
          <p:nvSpPr>
            <p:cNvPr id="62" name="object 62"/>
            <p:cNvSpPr/>
            <p:nvPr/>
          </p:nvSpPr>
          <p:spPr>
            <a:xfrm>
              <a:off x="2231891" y="6755977"/>
              <a:ext cx="1613535" cy="408305"/>
            </a:xfrm>
            <a:custGeom>
              <a:avLst/>
              <a:gdLst/>
              <a:ahLst/>
              <a:cxnLst/>
              <a:rect l="l" t="t" r="r" b="b"/>
              <a:pathLst>
                <a:path w="1613535" h="408304">
                  <a:moveTo>
                    <a:pt x="1451878" y="0"/>
                  </a:moveTo>
                  <a:lnTo>
                    <a:pt x="161355" y="0"/>
                  </a:lnTo>
                  <a:lnTo>
                    <a:pt x="110382" y="5947"/>
                  </a:lnTo>
                  <a:lnTo>
                    <a:pt x="66091" y="22507"/>
                  </a:lnTo>
                  <a:lnTo>
                    <a:pt x="31152" y="47752"/>
                  </a:lnTo>
                  <a:lnTo>
                    <a:pt x="8232" y="79757"/>
                  </a:lnTo>
                  <a:lnTo>
                    <a:pt x="0" y="116596"/>
                  </a:lnTo>
                  <a:lnTo>
                    <a:pt x="0" y="291360"/>
                  </a:lnTo>
                  <a:lnTo>
                    <a:pt x="31152" y="360205"/>
                  </a:lnTo>
                  <a:lnTo>
                    <a:pt x="66091" y="385450"/>
                  </a:lnTo>
                  <a:lnTo>
                    <a:pt x="110382" y="402010"/>
                  </a:lnTo>
                  <a:lnTo>
                    <a:pt x="161355" y="407957"/>
                  </a:lnTo>
                  <a:lnTo>
                    <a:pt x="1451878" y="407957"/>
                  </a:lnTo>
                  <a:lnTo>
                    <a:pt x="1502855" y="402010"/>
                  </a:lnTo>
                  <a:lnTo>
                    <a:pt x="1547152" y="385450"/>
                  </a:lnTo>
                  <a:lnTo>
                    <a:pt x="1582099" y="360205"/>
                  </a:lnTo>
                  <a:lnTo>
                    <a:pt x="1605025" y="328200"/>
                  </a:lnTo>
                  <a:lnTo>
                    <a:pt x="1613261" y="291360"/>
                  </a:lnTo>
                  <a:lnTo>
                    <a:pt x="1613261" y="116596"/>
                  </a:lnTo>
                  <a:lnTo>
                    <a:pt x="1582099" y="47752"/>
                  </a:lnTo>
                  <a:lnTo>
                    <a:pt x="1547152" y="22507"/>
                  </a:lnTo>
                  <a:lnTo>
                    <a:pt x="1502855" y="5947"/>
                  </a:lnTo>
                  <a:lnTo>
                    <a:pt x="1451878" y="0"/>
                  </a:lnTo>
                  <a:close/>
                </a:path>
              </a:pathLst>
            </a:custGeom>
            <a:solidFill>
              <a:srgbClr val="FDEEB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/>
            <p:cNvSpPr/>
            <p:nvPr/>
          </p:nvSpPr>
          <p:spPr>
            <a:xfrm>
              <a:off x="2231891" y="6755977"/>
              <a:ext cx="1613535" cy="408305"/>
            </a:xfrm>
            <a:custGeom>
              <a:avLst/>
              <a:gdLst/>
              <a:ahLst/>
              <a:cxnLst/>
              <a:rect l="l" t="t" r="r" b="b"/>
              <a:pathLst>
                <a:path w="1613535" h="408304">
                  <a:moveTo>
                    <a:pt x="1451878" y="407957"/>
                  </a:moveTo>
                  <a:lnTo>
                    <a:pt x="1502855" y="402010"/>
                  </a:lnTo>
                  <a:lnTo>
                    <a:pt x="1547152" y="385450"/>
                  </a:lnTo>
                  <a:lnTo>
                    <a:pt x="1582099" y="360205"/>
                  </a:lnTo>
                  <a:lnTo>
                    <a:pt x="1605025" y="328200"/>
                  </a:lnTo>
                  <a:lnTo>
                    <a:pt x="1613261" y="291360"/>
                  </a:lnTo>
                  <a:lnTo>
                    <a:pt x="1613261" y="116596"/>
                  </a:lnTo>
                  <a:lnTo>
                    <a:pt x="1582099" y="47752"/>
                  </a:lnTo>
                  <a:lnTo>
                    <a:pt x="1547152" y="22507"/>
                  </a:lnTo>
                  <a:lnTo>
                    <a:pt x="1502855" y="5947"/>
                  </a:lnTo>
                  <a:lnTo>
                    <a:pt x="1451878" y="0"/>
                  </a:lnTo>
                  <a:lnTo>
                    <a:pt x="161355" y="0"/>
                  </a:lnTo>
                  <a:lnTo>
                    <a:pt x="110382" y="5947"/>
                  </a:lnTo>
                  <a:lnTo>
                    <a:pt x="66091" y="22507"/>
                  </a:lnTo>
                  <a:lnTo>
                    <a:pt x="31152" y="47752"/>
                  </a:lnTo>
                  <a:lnTo>
                    <a:pt x="8232" y="79757"/>
                  </a:lnTo>
                  <a:lnTo>
                    <a:pt x="0" y="116596"/>
                  </a:lnTo>
                  <a:lnTo>
                    <a:pt x="0" y="291360"/>
                  </a:lnTo>
                  <a:lnTo>
                    <a:pt x="31152" y="360205"/>
                  </a:lnTo>
                  <a:lnTo>
                    <a:pt x="66091" y="385450"/>
                  </a:lnTo>
                  <a:lnTo>
                    <a:pt x="110382" y="402010"/>
                  </a:lnTo>
                  <a:lnTo>
                    <a:pt x="161355" y="407957"/>
                  </a:lnTo>
                  <a:lnTo>
                    <a:pt x="1451878" y="407957"/>
                  </a:lnTo>
                  <a:close/>
                </a:path>
              </a:pathLst>
            </a:custGeom>
            <a:ln w="923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4" name="object 64"/>
          <p:cNvSpPr txBox="1"/>
          <p:nvPr/>
        </p:nvSpPr>
        <p:spPr>
          <a:xfrm>
            <a:off x="2622487" y="6869617"/>
            <a:ext cx="840105" cy="16573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900" spc="160">
                <a:latin typeface="Arial MT"/>
                <a:cs typeface="Arial MT"/>
              </a:rPr>
              <a:t>Write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 spc="240">
                <a:latin typeface="Arial MT"/>
                <a:cs typeface="Arial MT"/>
              </a:rPr>
              <a:t>Code</a:t>
            </a:r>
            <a:endParaRPr sz="900">
              <a:latin typeface="Arial MT"/>
              <a:cs typeface="Arial MT"/>
            </a:endParaRPr>
          </a:p>
        </p:txBody>
      </p:sp>
      <p:grpSp>
        <p:nvGrpSpPr>
          <p:cNvPr id="65" name="object 65"/>
          <p:cNvGrpSpPr/>
          <p:nvPr/>
        </p:nvGrpSpPr>
        <p:grpSpPr>
          <a:xfrm>
            <a:off x="936056" y="3720442"/>
            <a:ext cx="5899150" cy="3856990"/>
            <a:chOff x="936056" y="3720442"/>
            <a:chExt cx="5899150" cy="3856990"/>
          </a:xfrm>
        </p:grpSpPr>
        <p:pic>
          <p:nvPicPr>
            <p:cNvPr id="66" name="object 6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932369" y="3836963"/>
              <a:ext cx="172135" cy="127164"/>
            </a:xfrm>
            <a:prstGeom prst="rect">
              <a:avLst/>
            </a:prstGeom>
          </p:spPr>
        </p:pic>
        <p:sp>
          <p:nvSpPr>
            <p:cNvPr id="67" name="object 67"/>
            <p:cNvSpPr/>
            <p:nvPr/>
          </p:nvSpPr>
          <p:spPr>
            <a:xfrm>
              <a:off x="3018302" y="3900545"/>
              <a:ext cx="0" cy="291465"/>
            </a:xfrm>
            <a:custGeom>
              <a:avLst/>
              <a:gdLst/>
              <a:ahLst/>
              <a:cxnLst/>
              <a:rect l="l" t="t" r="r" b="b"/>
              <a:pathLst>
                <a:path w="0" h="291464">
                  <a:moveTo>
                    <a:pt x="0" y="0"/>
                  </a:moveTo>
                  <a:lnTo>
                    <a:pt x="0" y="291321"/>
                  </a:lnTo>
                </a:path>
              </a:pathLst>
            </a:custGeom>
            <a:ln w="1248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8" name="object 68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955134" y="4102685"/>
              <a:ext cx="126741" cy="94560"/>
            </a:xfrm>
            <a:prstGeom prst="rect">
              <a:avLst/>
            </a:prstGeom>
          </p:spPr>
        </p:pic>
        <p:pic>
          <p:nvPicPr>
            <p:cNvPr id="69" name="object 69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2932369" y="7163935"/>
              <a:ext cx="212548" cy="296737"/>
            </a:xfrm>
            <a:prstGeom prst="rect">
              <a:avLst/>
            </a:prstGeom>
          </p:spPr>
        </p:pic>
        <p:sp>
          <p:nvSpPr>
            <p:cNvPr id="70" name="object 70"/>
            <p:cNvSpPr/>
            <p:nvPr/>
          </p:nvSpPr>
          <p:spPr>
            <a:xfrm>
              <a:off x="941347" y="3725733"/>
              <a:ext cx="5888990" cy="3846195"/>
            </a:xfrm>
            <a:custGeom>
              <a:avLst/>
              <a:gdLst/>
              <a:ahLst/>
              <a:cxnLst/>
              <a:rect l="l" t="t" r="r" b="b"/>
              <a:pathLst>
                <a:path w="5888990" h="3846195">
                  <a:moveTo>
                    <a:pt x="5727060" y="3846156"/>
                  </a:moveTo>
                  <a:lnTo>
                    <a:pt x="5778037" y="3840208"/>
                  </a:lnTo>
                  <a:lnTo>
                    <a:pt x="5822334" y="3823648"/>
                  </a:lnTo>
                  <a:lnTo>
                    <a:pt x="5857281" y="3798404"/>
                  </a:lnTo>
                  <a:lnTo>
                    <a:pt x="5880207" y="3766400"/>
                  </a:lnTo>
                  <a:lnTo>
                    <a:pt x="5888443" y="3729563"/>
                  </a:lnTo>
                  <a:lnTo>
                    <a:pt x="5888443" y="116606"/>
                  </a:lnTo>
                  <a:lnTo>
                    <a:pt x="5857281" y="47767"/>
                  </a:lnTo>
                  <a:lnTo>
                    <a:pt x="5822334" y="22516"/>
                  </a:lnTo>
                  <a:lnTo>
                    <a:pt x="5778037" y="5950"/>
                  </a:lnTo>
                  <a:lnTo>
                    <a:pt x="5727060" y="0"/>
                  </a:lnTo>
                  <a:lnTo>
                    <a:pt x="161363" y="0"/>
                  </a:lnTo>
                  <a:lnTo>
                    <a:pt x="110381" y="5950"/>
                  </a:lnTo>
                  <a:lnTo>
                    <a:pt x="66088" y="22516"/>
                  </a:lnTo>
                  <a:lnTo>
                    <a:pt x="31149" y="47767"/>
                  </a:lnTo>
                  <a:lnTo>
                    <a:pt x="8231" y="79773"/>
                  </a:lnTo>
                  <a:lnTo>
                    <a:pt x="0" y="116606"/>
                  </a:lnTo>
                  <a:lnTo>
                    <a:pt x="0" y="3729563"/>
                  </a:lnTo>
                  <a:lnTo>
                    <a:pt x="8231" y="3766400"/>
                  </a:lnTo>
                  <a:lnTo>
                    <a:pt x="31149" y="3798404"/>
                  </a:lnTo>
                  <a:lnTo>
                    <a:pt x="66088" y="3823648"/>
                  </a:lnTo>
                  <a:lnTo>
                    <a:pt x="110381" y="3840208"/>
                  </a:lnTo>
                  <a:lnTo>
                    <a:pt x="161363" y="3846156"/>
                  </a:lnTo>
                  <a:lnTo>
                    <a:pt x="5727060" y="3846156"/>
                  </a:lnTo>
                  <a:close/>
                </a:path>
              </a:pathLst>
            </a:custGeom>
            <a:ln w="100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1" name="object 71"/>
          <p:cNvSpPr txBox="1"/>
          <p:nvPr/>
        </p:nvSpPr>
        <p:spPr>
          <a:xfrm>
            <a:off x="1076526" y="3751791"/>
            <a:ext cx="1331595" cy="1771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195">
                <a:latin typeface="Arial MT"/>
                <a:cs typeface="Arial MT"/>
              </a:rPr>
              <a:t>Software</a:t>
            </a:r>
            <a:r>
              <a:rPr dirty="0" sz="1000" spc="50">
                <a:latin typeface="Arial MT"/>
                <a:cs typeface="Arial MT"/>
              </a:rPr>
              <a:t> </a:t>
            </a:r>
            <a:r>
              <a:rPr dirty="0" sz="1000" spc="204">
                <a:latin typeface="Arial MT"/>
                <a:cs typeface="Arial MT"/>
              </a:rPr>
              <a:t>Design</a:t>
            </a:r>
            <a:endParaRPr sz="1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30604" y="887983"/>
            <a:ext cx="5722620" cy="774065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240665" marR="5080" indent="-228600">
              <a:lnSpc>
                <a:spcPct val="103099"/>
              </a:lnSpc>
              <a:spcBef>
                <a:spcPts val="55"/>
              </a:spcBef>
              <a:buFont typeface="Microsoft Sans Serif"/>
              <a:buChar char=""/>
              <a:tabLst>
                <a:tab pos="278765" algn="l"/>
                <a:tab pos="279400" algn="l"/>
              </a:tabLst>
            </a:pPr>
            <a:r>
              <a:rPr dirty="0"/>
              <a:t>	</a:t>
            </a:r>
            <a:r>
              <a:rPr dirty="0" sz="1200" spc="-5">
                <a:latin typeface="Times New Roman"/>
                <a:cs typeface="Times New Roman"/>
              </a:rPr>
              <a:t>Obviously, </a:t>
            </a:r>
            <a:r>
              <a:rPr dirty="0" sz="1200">
                <a:latin typeface="Times New Roman"/>
                <a:cs typeface="Times New Roman"/>
              </a:rPr>
              <a:t>the </a:t>
            </a:r>
            <a:r>
              <a:rPr dirty="0" sz="1200" spc="-5">
                <a:latin typeface="Times New Roman"/>
                <a:cs typeface="Times New Roman"/>
              </a:rPr>
              <a:t>word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“design” </a:t>
            </a:r>
            <a:r>
              <a:rPr dirty="0" sz="1200">
                <a:latin typeface="Times New Roman"/>
                <a:cs typeface="Times New Roman"/>
              </a:rPr>
              <a:t>is both a verb </a:t>
            </a:r>
            <a:r>
              <a:rPr dirty="0" sz="1200" spc="-5">
                <a:latin typeface="Times New Roman"/>
                <a:cs typeface="Times New Roman"/>
              </a:rPr>
              <a:t>and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noun </a:t>
            </a:r>
            <a:r>
              <a:rPr dirty="0" sz="1200" spc="-5">
                <a:latin typeface="Times New Roman"/>
                <a:cs typeface="Times New Roman"/>
              </a:rPr>
              <a:t>and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refers</a:t>
            </a:r>
            <a:r>
              <a:rPr dirty="0" sz="1200">
                <a:latin typeface="Times New Roman"/>
                <a:cs typeface="Times New Roman"/>
              </a:rPr>
              <a:t> to both an activity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and </a:t>
            </a:r>
            <a:r>
              <a:rPr dirty="0" sz="1200" spc="-28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 thing.</a:t>
            </a:r>
            <a:r>
              <a:rPr dirty="0" sz="1200">
                <a:latin typeface="Times New Roman"/>
                <a:cs typeface="Times New Roman"/>
              </a:rPr>
              <a:t> A </a:t>
            </a:r>
            <a:r>
              <a:rPr dirty="0" sz="1200" spc="-5">
                <a:latin typeface="Times New Roman"/>
                <a:cs typeface="Times New Roman"/>
              </a:rPr>
              <a:t>design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speciﬁcation</a:t>
            </a:r>
            <a:r>
              <a:rPr dirty="0" sz="1200">
                <a:latin typeface="Times New Roman"/>
                <a:cs typeface="Times New Roman"/>
              </a:rPr>
              <a:t> is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 output of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</a:t>
            </a:r>
            <a:r>
              <a:rPr dirty="0" sz="1200" spc="-5">
                <a:latin typeface="Times New Roman"/>
                <a:cs typeface="Times New Roman"/>
              </a:rPr>
              <a:t> design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activity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and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should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meet</a:t>
            </a:r>
            <a:r>
              <a:rPr dirty="0" sz="1200">
                <a:latin typeface="Times New Roman"/>
                <a:cs typeface="Times New Roman"/>
              </a:rPr>
              <a:t> the 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goals</a:t>
            </a:r>
            <a:r>
              <a:rPr dirty="0" sz="1200">
                <a:latin typeface="Times New Roman"/>
                <a:cs typeface="Times New Roman"/>
              </a:rPr>
              <a:t> of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</a:t>
            </a:r>
            <a:r>
              <a:rPr dirty="0" sz="1200" spc="-5">
                <a:latin typeface="Times New Roman"/>
                <a:cs typeface="Times New Roman"/>
              </a:rPr>
              <a:t> design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activity—it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should specify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 program </a:t>
            </a:r>
            <a:r>
              <a:rPr dirty="0" sz="1200" spc="-5">
                <a:latin typeface="Times New Roman"/>
                <a:cs typeface="Times New Roman"/>
              </a:rPr>
              <a:t>satisfying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client</a:t>
            </a:r>
            <a:r>
              <a:rPr dirty="0" sz="1200">
                <a:latin typeface="Times New Roman"/>
                <a:cs typeface="Times New Roman"/>
              </a:rPr>
              <a:t> needs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and 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desires,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subject</a:t>
            </a:r>
            <a:r>
              <a:rPr dirty="0" sz="1200">
                <a:latin typeface="Times New Roman"/>
                <a:cs typeface="Times New Roman"/>
              </a:rPr>
              <a:t> to </a:t>
            </a:r>
            <a:r>
              <a:rPr dirty="0" sz="1200" spc="-5">
                <a:latin typeface="Times New Roman"/>
                <a:cs typeface="Times New Roman"/>
              </a:rPr>
              <a:t>constraints.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2004" y="2224786"/>
            <a:ext cx="5944870" cy="789305"/>
          </a:xfrm>
          <a:prstGeom prst="rect">
            <a:avLst/>
          </a:prstGeom>
        </p:spPr>
        <p:txBody>
          <a:bodyPr wrap="square" lIns="0" tIns="1174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25"/>
              </a:spcBef>
            </a:pPr>
            <a:r>
              <a:rPr dirty="0" sz="1200" spc="-5" b="1">
                <a:latin typeface="Times New Roman"/>
                <a:cs typeface="Times New Roman"/>
              </a:rPr>
              <a:t>Software</a:t>
            </a:r>
            <a:r>
              <a:rPr dirty="0" sz="1200" spc="-10" b="1">
                <a:latin typeface="Times New Roman"/>
                <a:cs typeface="Times New Roman"/>
              </a:rPr>
              <a:t> </a:t>
            </a:r>
            <a:r>
              <a:rPr dirty="0" sz="1200" spc="-5" b="1">
                <a:latin typeface="Times New Roman"/>
                <a:cs typeface="Times New Roman"/>
              </a:rPr>
              <a:t>Engineering</a:t>
            </a:r>
            <a:r>
              <a:rPr dirty="0" sz="1200" b="1">
                <a:latin typeface="Times New Roman"/>
                <a:cs typeface="Times New Roman"/>
              </a:rPr>
              <a:t> </a:t>
            </a:r>
            <a:r>
              <a:rPr dirty="0" sz="1200" spc="-5" b="1">
                <a:latin typeface="Times New Roman"/>
                <a:cs typeface="Times New Roman"/>
              </a:rPr>
              <a:t>Design</a:t>
            </a:r>
            <a:r>
              <a:rPr dirty="0" sz="1200" spc="5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Methods:</a:t>
            </a:r>
            <a:endParaRPr sz="1200">
              <a:latin typeface="Times New Roman"/>
              <a:cs typeface="Times New Roman"/>
            </a:endParaRPr>
          </a:p>
          <a:p>
            <a:pPr marL="469265" marR="5080" indent="-228600">
              <a:lnSpc>
                <a:spcPct val="102499"/>
              </a:lnSpc>
              <a:spcBef>
                <a:spcPts val="795"/>
              </a:spcBef>
              <a:buFont typeface="Microsoft Sans Serif"/>
              <a:buChar char=""/>
              <a:tabLst>
                <a:tab pos="469265" algn="l"/>
                <a:tab pos="469900" algn="l"/>
              </a:tabLst>
            </a:pPr>
            <a:r>
              <a:rPr dirty="0" sz="1200" spc="-5">
                <a:latin typeface="Times New Roman"/>
                <a:cs typeface="Times New Roman"/>
              </a:rPr>
              <a:t>A </a:t>
            </a:r>
            <a:r>
              <a:rPr dirty="0" sz="1200" b="1">
                <a:latin typeface="Times New Roman"/>
                <a:cs typeface="Times New Roman"/>
              </a:rPr>
              <a:t>software </a:t>
            </a:r>
            <a:r>
              <a:rPr dirty="0" sz="1200" spc="-5" b="1">
                <a:latin typeface="Times New Roman"/>
                <a:cs typeface="Times New Roman"/>
              </a:rPr>
              <a:t>design</a:t>
            </a:r>
            <a:r>
              <a:rPr dirty="0" sz="1200" spc="5" b="1">
                <a:latin typeface="Times New Roman"/>
                <a:cs typeface="Times New Roman"/>
              </a:rPr>
              <a:t> </a:t>
            </a:r>
            <a:r>
              <a:rPr dirty="0" sz="1200" spc="-5" b="1">
                <a:latin typeface="Times New Roman"/>
                <a:cs typeface="Times New Roman"/>
              </a:rPr>
              <a:t>method</a:t>
            </a:r>
            <a:r>
              <a:rPr dirty="0" sz="1200" spc="15" b="1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is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 orderly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procedure for </a:t>
            </a:r>
            <a:r>
              <a:rPr dirty="0" sz="1200" spc="-5">
                <a:latin typeface="Times New Roman"/>
                <a:cs typeface="Times New Roman"/>
              </a:rPr>
              <a:t>generating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 precise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and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complete </a:t>
            </a:r>
            <a:r>
              <a:rPr dirty="0" sz="1200" spc="-28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software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design</a:t>
            </a:r>
            <a:r>
              <a:rPr dirty="0" sz="1200">
                <a:latin typeface="Times New Roman"/>
                <a:cs typeface="Times New Roman"/>
              </a:rPr>
              <a:t> solution</a:t>
            </a:r>
            <a:r>
              <a:rPr dirty="0" sz="1200" spc="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that </a:t>
            </a:r>
            <a:r>
              <a:rPr dirty="0" sz="1200" spc="-5">
                <a:latin typeface="Times New Roman"/>
                <a:cs typeface="Times New Roman"/>
              </a:rPr>
              <a:t>meets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client’s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needs</a:t>
            </a:r>
            <a:r>
              <a:rPr dirty="0" sz="1200" spc="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and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constraints.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2004" y="3866515"/>
            <a:ext cx="5952490" cy="2142490"/>
          </a:xfrm>
          <a:prstGeom prst="rect">
            <a:avLst/>
          </a:prstGeom>
        </p:spPr>
        <p:txBody>
          <a:bodyPr wrap="square" lIns="0" tIns="1174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25"/>
              </a:spcBef>
            </a:pPr>
            <a:r>
              <a:rPr dirty="0" sz="1200" spc="-5" b="1">
                <a:latin typeface="Times New Roman"/>
                <a:cs typeface="Times New Roman"/>
              </a:rPr>
              <a:t>Design Method Components: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30"/>
              </a:spcBef>
            </a:pPr>
            <a:r>
              <a:rPr dirty="0" sz="1200" spc="-5">
                <a:latin typeface="Times New Roman"/>
                <a:cs typeface="Times New Roman"/>
              </a:rPr>
              <a:t>A method</a:t>
            </a:r>
            <a:r>
              <a:rPr dirty="0" sz="1200">
                <a:latin typeface="Times New Roman"/>
                <a:cs typeface="Times New Roman"/>
              </a:rPr>
              <a:t> typically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specifies the </a:t>
            </a:r>
            <a:r>
              <a:rPr dirty="0" sz="1200" spc="-5">
                <a:latin typeface="Times New Roman"/>
                <a:cs typeface="Times New Roman"/>
              </a:rPr>
              <a:t>following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items:</a:t>
            </a:r>
            <a:endParaRPr sz="1200">
              <a:latin typeface="Times New Roman"/>
              <a:cs typeface="Times New Roman"/>
            </a:endParaRPr>
          </a:p>
          <a:p>
            <a:pPr marL="469265" marR="141605" indent="-228600">
              <a:lnSpc>
                <a:spcPct val="102499"/>
              </a:lnSpc>
              <a:spcBef>
                <a:spcPts val="825"/>
              </a:spcBef>
              <a:buFont typeface="Microsoft Sans Serif"/>
              <a:buChar char=""/>
              <a:tabLst>
                <a:tab pos="469265" algn="l"/>
                <a:tab pos="469900" algn="l"/>
              </a:tabLst>
            </a:pPr>
            <a:r>
              <a:rPr dirty="0" sz="1200" spc="-5" b="1" i="1">
                <a:latin typeface="Times New Roman"/>
                <a:cs typeface="Times New Roman"/>
              </a:rPr>
              <a:t>Design</a:t>
            </a:r>
            <a:r>
              <a:rPr dirty="0" sz="1200" spc="10" b="1" i="1">
                <a:latin typeface="Times New Roman"/>
                <a:cs typeface="Times New Roman"/>
              </a:rPr>
              <a:t> </a:t>
            </a:r>
            <a:r>
              <a:rPr dirty="0" sz="1200" spc="-5" b="1" i="1">
                <a:latin typeface="Times New Roman"/>
                <a:cs typeface="Times New Roman"/>
              </a:rPr>
              <a:t>Process</a:t>
            </a:r>
            <a:r>
              <a:rPr dirty="0" sz="1200" spc="20" b="1" i="1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—A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collection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of </a:t>
            </a:r>
            <a:r>
              <a:rPr dirty="0" sz="1200" spc="-5">
                <a:latin typeface="Times New Roman"/>
                <a:cs typeface="Times New Roman"/>
              </a:rPr>
              <a:t>related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tasks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that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transforms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set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of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inputs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into</a:t>
            </a:r>
            <a:r>
              <a:rPr dirty="0" sz="1200" spc="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set </a:t>
            </a:r>
            <a:r>
              <a:rPr dirty="0" sz="1200" spc="-28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of</a:t>
            </a:r>
            <a:r>
              <a:rPr dirty="0" sz="1200" spc="-5">
                <a:latin typeface="Times New Roman"/>
                <a:cs typeface="Times New Roman"/>
              </a:rPr>
              <a:t> outputs</a:t>
            </a:r>
            <a:endParaRPr sz="12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855"/>
              </a:spcBef>
              <a:buFont typeface="Microsoft Sans Serif"/>
              <a:buChar char=""/>
              <a:tabLst>
                <a:tab pos="469265" algn="l"/>
                <a:tab pos="469900" algn="l"/>
              </a:tabLst>
            </a:pPr>
            <a:r>
              <a:rPr dirty="0" sz="1200" spc="-5" b="1" i="1">
                <a:latin typeface="Times New Roman"/>
                <a:cs typeface="Times New Roman"/>
              </a:rPr>
              <a:t>Design</a:t>
            </a:r>
            <a:r>
              <a:rPr dirty="0" sz="1200" spc="5" b="1" i="1">
                <a:latin typeface="Times New Roman"/>
                <a:cs typeface="Times New Roman"/>
              </a:rPr>
              <a:t> </a:t>
            </a:r>
            <a:r>
              <a:rPr dirty="0" sz="1200" b="1" i="1">
                <a:latin typeface="Times New Roman"/>
                <a:cs typeface="Times New Roman"/>
              </a:rPr>
              <a:t>Notations</a:t>
            </a:r>
            <a:r>
              <a:rPr dirty="0" sz="1200" spc="10" b="1" i="1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—A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symbolic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representational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system</a:t>
            </a:r>
            <a:endParaRPr sz="12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855"/>
              </a:spcBef>
              <a:buFont typeface="Microsoft Sans Serif"/>
              <a:buChar char=""/>
              <a:tabLst>
                <a:tab pos="469265" algn="l"/>
                <a:tab pos="469900" algn="l"/>
              </a:tabLst>
            </a:pPr>
            <a:r>
              <a:rPr dirty="0" sz="1200" spc="-5" b="1" i="1">
                <a:latin typeface="Times New Roman"/>
                <a:cs typeface="Times New Roman"/>
              </a:rPr>
              <a:t>Design</a:t>
            </a:r>
            <a:r>
              <a:rPr dirty="0" sz="1200" spc="10" b="1" i="1">
                <a:latin typeface="Times New Roman"/>
                <a:cs typeface="Times New Roman"/>
              </a:rPr>
              <a:t> </a:t>
            </a:r>
            <a:r>
              <a:rPr dirty="0" sz="1200" spc="-5" b="1" i="1">
                <a:latin typeface="Times New Roman"/>
                <a:cs typeface="Times New Roman"/>
              </a:rPr>
              <a:t>Heuristics</a:t>
            </a:r>
            <a:r>
              <a:rPr dirty="0" sz="1200" spc="10" b="1" i="1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—Rules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providing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guidance,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but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no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guarantee,</a:t>
            </a:r>
            <a:r>
              <a:rPr dirty="0" sz="1200" spc="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for</a:t>
            </a:r>
            <a:r>
              <a:rPr dirty="0" sz="1200" spc="-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achieving</a:t>
            </a:r>
            <a:r>
              <a:rPr dirty="0" sz="1200" spc="-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some </a:t>
            </a:r>
            <a:r>
              <a:rPr dirty="0" sz="1200" spc="-5">
                <a:latin typeface="Times New Roman"/>
                <a:cs typeface="Times New Roman"/>
              </a:rPr>
              <a:t>end</a:t>
            </a:r>
            <a:endParaRPr sz="1200">
              <a:latin typeface="Times New Roman"/>
              <a:cs typeface="Times New Roman"/>
            </a:endParaRPr>
          </a:p>
          <a:p>
            <a:pPr marL="469265" marR="238760" indent="-228600">
              <a:lnSpc>
                <a:spcPct val="102499"/>
              </a:lnSpc>
              <a:spcBef>
                <a:spcPts val="815"/>
              </a:spcBef>
              <a:buFont typeface="Microsoft Sans Serif"/>
              <a:buChar char=""/>
              <a:tabLst>
                <a:tab pos="469265" algn="l"/>
                <a:tab pos="469900" algn="l"/>
              </a:tabLst>
            </a:pPr>
            <a:r>
              <a:rPr dirty="0" sz="1200" spc="-5">
                <a:latin typeface="Times New Roman"/>
                <a:cs typeface="Times New Roman"/>
              </a:rPr>
              <a:t>Design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methods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also</a:t>
            </a:r>
            <a:r>
              <a:rPr dirty="0" sz="1200" spc="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use</a:t>
            </a:r>
            <a:r>
              <a:rPr dirty="0" sz="1200" spc="15">
                <a:latin typeface="Times New Roman"/>
                <a:cs typeface="Times New Roman"/>
              </a:rPr>
              <a:t> </a:t>
            </a:r>
            <a:r>
              <a:rPr dirty="0" sz="1200" spc="-5" b="1">
                <a:latin typeface="Times New Roman"/>
                <a:cs typeface="Times New Roman"/>
              </a:rPr>
              <a:t>design</a:t>
            </a:r>
            <a:r>
              <a:rPr dirty="0" sz="1200" spc="15" b="1">
                <a:latin typeface="Times New Roman"/>
                <a:cs typeface="Times New Roman"/>
              </a:rPr>
              <a:t> </a:t>
            </a:r>
            <a:r>
              <a:rPr dirty="0" sz="1200" spc="-5" b="1">
                <a:latin typeface="Times New Roman"/>
                <a:cs typeface="Times New Roman"/>
              </a:rPr>
              <a:t>principles</a:t>
            </a:r>
            <a:r>
              <a:rPr dirty="0" sz="1200" spc="5" b="1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stating </a:t>
            </a:r>
            <a:r>
              <a:rPr dirty="0" sz="1200" spc="-5">
                <a:latin typeface="Times New Roman"/>
                <a:cs typeface="Times New Roman"/>
              </a:rPr>
              <a:t>characteristics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of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design</a:t>
            </a:r>
            <a:r>
              <a:rPr dirty="0" sz="1200" spc="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that</a:t>
            </a:r>
            <a:r>
              <a:rPr dirty="0" sz="1200" spc="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make </a:t>
            </a:r>
            <a:r>
              <a:rPr dirty="0" sz="1200" spc="-28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them </a:t>
            </a:r>
            <a:r>
              <a:rPr dirty="0" sz="1200">
                <a:latin typeface="Times New Roman"/>
                <a:cs typeface="Times New Roman"/>
              </a:rPr>
              <a:t>better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or </a:t>
            </a:r>
            <a:r>
              <a:rPr dirty="0" sz="1200" spc="-5">
                <a:latin typeface="Times New Roman"/>
                <a:cs typeface="Times New Roman"/>
              </a:rPr>
              <a:t>worse.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02004" y="7727442"/>
            <a:ext cx="5907405" cy="981075"/>
          </a:xfrm>
          <a:prstGeom prst="rect">
            <a:avLst/>
          </a:prstGeom>
        </p:spPr>
        <p:txBody>
          <a:bodyPr wrap="square" lIns="0" tIns="1193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40"/>
              </a:spcBef>
            </a:pPr>
            <a:r>
              <a:rPr dirty="0" sz="1200" spc="-5" b="1">
                <a:latin typeface="Times New Roman"/>
                <a:cs typeface="Times New Roman"/>
              </a:rPr>
              <a:t>History</a:t>
            </a:r>
            <a:r>
              <a:rPr dirty="0" sz="1200" b="1">
                <a:latin typeface="Times New Roman"/>
                <a:cs typeface="Times New Roman"/>
              </a:rPr>
              <a:t> of</a:t>
            </a:r>
            <a:r>
              <a:rPr dirty="0" sz="1200" spc="10" b="1">
                <a:latin typeface="Times New Roman"/>
                <a:cs typeface="Times New Roman"/>
              </a:rPr>
              <a:t> </a:t>
            </a:r>
            <a:r>
              <a:rPr dirty="0" sz="1200" spc="-5" b="1">
                <a:latin typeface="Times New Roman"/>
                <a:cs typeface="Times New Roman"/>
              </a:rPr>
              <a:t>Software</a:t>
            </a:r>
            <a:r>
              <a:rPr dirty="0" sz="1200" b="1">
                <a:latin typeface="Times New Roman"/>
                <a:cs typeface="Times New Roman"/>
              </a:rPr>
              <a:t> </a:t>
            </a:r>
            <a:r>
              <a:rPr dirty="0" sz="1200" spc="-5" b="1">
                <a:latin typeface="Times New Roman"/>
                <a:cs typeface="Times New Roman"/>
              </a:rPr>
              <a:t>Engineering</a:t>
            </a:r>
            <a:r>
              <a:rPr dirty="0" sz="1200" spc="5" b="1">
                <a:latin typeface="Times New Roman"/>
                <a:cs typeface="Times New Roman"/>
              </a:rPr>
              <a:t> </a:t>
            </a:r>
            <a:r>
              <a:rPr dirty="0" sz="1200" spc="-5" b="1">
                <a:latin typeface="Times New Roman"/>
                <a:cs typeface="Times New Roman"/>
              </a:rPr>
              <a:t>Design</a:t>
            </a:r>
            <a:r>
              <a:rPr dirty="0" sz="1200" spc="10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Methods:</a:t>
            </a:r>
            <a:endParaRPr sz="1200">
              <a:latin typeface="Times New Roman"/>
              <a:cs typeface="Times New Roman"/>
            </a:endParaRPr>
          </a:p>
          <a:p>
            <a:pPr marL="469265" marR="5080" indent="-228600">
              <a:lnSpc>
                <a:spcPct val="102899"/>
              </a:lnSpc>
              <a:spcBef>
                <a:spcPts val="795"/>
              </a:spcBef>
              <a:buFont typeface="Microsoft Sans Serif"/>
              <a:buChar char=""/>
              <a:tabLst>
                <a:tab pos="469265" algn="l"/>
                <a:tab pos="469900" algn="l"/>
              </a:tabLst>
            </a:pPr>
            <a:r>
              <a:rPr dirty="0" sz="1200">
                <a:latin typeface="Times New Roman"/>
                <a:cs typeface="Times New Roman"/>
              </a:rPr>
              <a:t>The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ﬁrst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design</a:t>
            </a:r>
            <a:r>
              <a:rPr dirty="0" sz="1200">
                <a:latin typeface="Times New Roman"/>
                <a:cs typeface="Times New Roman"/>
              </a:rPr>
              <a:t> method</a:t>
            </a:r>
            <a:r>
              <a:rPr dirty="0" sz="1200" spc="1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was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spc="-5" b="1">
                <a:latin typeface="Times New Roman"/>
                <a:cs typeface="Times New Roman"/>
              </a:rPr>
              <a:t>stepwise</a:t>
            </a:r>
            <a:r>
              <a:rPr dirty="0" sz="1200" spc="5" b="1">
                <a:latin typeface="Times New Roman"/>
                <a:cs typeface="Times New Roman"/>
              </a:rPr>
              <a:t> </a:t>
            </a:r>
            <a:r>
              <a:rPr dirty="0" sz="1200" spc="-5" b="1">
                <a:latin typeface="Times New Roman"/>
                <a:cs typeface="Times New Roman"/>
              </a:rPr>
              <a:t>reﬁnement</a:t>
            </a:r>
            <a:r>
              <a:rPr dirty="0" sz="1200" spc="-5">
                <a:latin typeface="Times New Roman"/>
                <a:cs typeface="Times New Roman"/>
              </a:rPr>
              <a:t>,</a:t>
            </a:r>
            <a:r>
              <a:rPr dirty="0" sz="1200">
                <a:latin typeface="Times New Roman"/>
                <a:cs typeface="Times New Roman"/>
              </a:rPr>
              <a:t> a </a:t>
            </a:r>
            <a:r>
              <a:rPr dirty="0" sz="1200" spc="-5">
                <a:latin typeface="Times New Roman"/>
                <a:cs typeface="Times New Roman"/>
              </a:rPr>
              <a:t>top-down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technique</a:t>
            </a:r>
            <a:r>
              <a:rPr dirty="0" sz="1200" spc="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for 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decomposing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procedures</a:t>
            </a:r>
            <a:r>
              <a:rPr dirty="0" sz="1200" spc="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into</a:t>
            </a:r>
            <a:r>
              <a:rPr dirty="0" sz="1200" spc="2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simpler</a:t>
            </a:r>
            <a:r>
              <a:rPr dirty="0" sz="1200" spc="1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procedures</a:t>
            </a:r>
            <a:r>
              <a:rPr dirty="0" sz="1200" spc="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until</a:t>
            </a:r>
            <a:r>
              <a:rPr dirty="0" sz="1200" spc="2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programming-level</a:t>
            </a:r>
            <a:r>
              <a:rPr dirty="0" sz="1200" spc="2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operations</a:t>
            </a:r>
            <a:r>
              <a:rPr dirty="0" sz="1200" spc="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are </a:t>
            </a:r>
            <a:r>
              <a:rPr dirty="0" sz="1200" spc="-28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reached</a:t>
            </a:r>
            <a:r>
              <a:rPr dirty="0" sz="1200" spc="-5" b="1">
                <a:latin typeface="Times New Roman"/>
                <a:cs typeface="Times New Roman"/>
              </a:rPr>
              <a:t>.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887983"/>
            <a:ext cx="5946140" cy="3857625"/>
          </a:xfrm>
          <a:prstGeom prst="rect">
            <a:avLst/>
          </a:prstGeom>
        </p:spPr>
        <p:txBody>
          <a:bodyPr wrap="square" lIns="0" tIns="7620" rIns="0" bIns="0" rtlCol="0" vert="horz">
            <a:spAutoFit/>
          </a:bodyPr>
          <a:lstStyle/>
          <a:p>
            <a:pPr marL="469265" marR="78105" indent="-228600">
              <a:lnSpc>
                <a:spcPct val="102600"/>
              </a:lnSpc>
              <a:spcBef>
                <a:spcPts val="60"/>
              </a:spcBef>
              <a:buFont typeface="Microsoft Sans Serif"/>
              <a:buChar char=""/>
              <a:tabLst>
                <a:tab pos="469265" algn="l"/>
                <a:tab pos="469900" algn="l"/>
              </a:tabLst>
            </a:pPr>
            <a:r>
              <a:rPr dirty="0" sz="1200">
                <a:latin typeface="Times New Roman"/>
                <a:cs typeface="Times New Roman"/>
              </a:rPr>
              <a:t>The </a:t>
            </a:r>
            <a:r>
              <a:rPr dirty="0" sz="1200" spc="-5">
                <a:latin typeface="Times New Roman"/>
                <a:cs typeface="Times New Roman"/>
              </a:rPr>
              <a:t>dominant design </a:t>
            </a:r>
            <a:r>
              <a:rPr dirty="0" sz="1200">
                <a:latin typeface="Times New Roman"/>
                <a:cs typeface="Times New Roman"/>
              </a:rPr>
              <a:t>methods </a:t>
            </a:r>
            <a:r>
              <a:rPr dirty="0" sz="1200" spc="-5">
                <a:latin typeface="Times New Roman"/>
                <a:cs typeface="Times New Roman"/>
              </a:rPr>
              <a:t>from </a:t>
            </a:r>
            <a:r>
              <a:rPr dirty="0" sz="1200">
                <a:latin typeface="Times New Roman"/>
                <a:cs typeface="Times New Roman"/>
              </a:rPr>
              <a:t>the mid-1970s </a:t>
            </a:r>
            <a:r>
              <a:rPr dirty="0" sz="1200" spc="-5">
                <a:latin typeface="Times New Roman"/>
                <a:cs typeface="Times New Roman"/>
              </a:rPr>
              <a:t>through </a:t>
            </a:r>
            <a:r>
              <a:rPr dirty="0" sz="1200">
                <a:latin typeface="Times New Roman"/>
                <a:cs typeface="Times New Roman"/>
              </a:rPr>
              <a:t>the early 1990s </a:t>
            </a:r>
            <a:r>
              <a:rPr dirty="0" sz="1200" spc="-5">
                <a:latin typeface="Times New Roman"/>
                <a:cs typeface="Times New Roman"/>
              </a:rPr>
              <a:t>were </a:t>
            </a:r>
            <a:r>
              <a:rPr dirty="0" sz="1200">
                <a:latin typeface="Times New Roman"/>
                <a:cs typeface="Times New Roman"/>
              </a:rPr>
              <a:t>various </a:t>
            </a:r>
            <a:r>
              <a:rPr dirty="0" sz="1200" spc="-28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versions</a:t>
            </a:r>
            <a:r>
              <a:rPr dirty="0" sz="1200">
                <a:latin typeface="Times New Roman"/>
                <a:cs typeface="Times New Roman"/>
              </a:rPr>
              <a:t> of</a:t>
            </a:r>
            <a:r>
              <a:rPr dirty="0" sz="1200" spc="-5">
                <a:latin typeface="Times New Roman"/>
                <a:cs typeface="Times New Roman"/>
              </a:rPr>
              <a:t> </a:t>
            </a:r>
            <a:r>
              <a:rPr dirty="0" sz="1200" spc="-5" b="1">
                <a:latin typeface="Times New Roman"/>
                <a:cs typeface="Times New Roman"/>
              </a:rPr>
              <a:t>structured</a:t>
            </a:r>
            <a:r>
              <a:rPr dirty="0" sz="1200" b="1">
                <a:latin typeface="Times New Roman"/>
                <a:cs typeface="Times New Roman"/>
              </a:rPr>
              <a:t> </a:t>
            </a:r>
            <a:r>
              <a:rPr dirty="0" sz="1200" spc="-5" b="1">
                <a:latin typeface="Times New Roman"/>
                <a:cs typeface="Times New Roman"/>
              </a:rPr>
              <a:t>design.</a:t>
            </a:r>
            <a:endParaRPr sz="1200">
              <a:latin typeface="Times New Roman"/>
              <a:cs typeface="Times New Roman"/>
            </a:endParaRPr>
          </a:p>
          <a:p>
            <a:pPr marL="469265" marR="241935" indent="-228600">
              <a:lnSpc>
                <a:spcPct val="102499"/>
              </a:lnSpc>
              <a:spcBef>
                <a:spcPts val="830"/>
              </a:spcBef>
              <a:buFont typeface="Microsoft Sans Serif"/>
              <a:buChar char=""/>
              <a:tabLst>
                <a:tab pos="469265" algn="l"/>
                <a:tab pos="469900" algn="l"/>
              </a:tabLst>
            </a:pPr>
            <a:r>
              <a:rPr dirty="0" sz="1200" spc="-5">
                <a:latin typeface="Times New Roman"/>
                <a:cs typeface="Times New Roman"/>
              </a:rPr>
              <a:t>Structured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design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methods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focus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on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procedural</a:t>
            </a:r>
            <a:r>
              <a:rPr dirty="0" sz="1200" spc="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composition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but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include</a:t>
            </a:r>
            <a:r>
              <a:rPr dirty="0" sz="1200" spc="-5">
                <a:latin typeface="Times New Roman"/>
                <a:cs typeface="Times New Roman"/>
              </a:rPr>
              <a:t> other sorts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of </a:t>
            </a:r>
            <a:r>
              <a:rPr dirty="0" sz="1200" spc="-28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models as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well.</a:t>
            </a:r>
            <a:endParaRPr sz="1200">
              <a:latin typeface="Times New Roman"/>
              <a:cs typeface="Times New Roman"/>
            </a:endParaRPr>
          </a:p>
          <a:p>
            <a:pPr marL="469265" marR="269240" indent="-228600">
              <a:lnSpc>
                <a:spcPct val="102499"/>
              </a:lnSpc>
              <a:spcBef>
                <a:spcPts val="825"/>
              </a:spcBef>
              <a:buFont typeface="Microsoft Sans Serif"/>
              <a:buChar char=""/>
              <a:tabLst>
                <a:tab pos="469265" algn="l"/>
                <a:tab pos="469900" algn="l"/>
              </a:tabLst>
            </a:pPr>
            <a:r>
              <a:rPr dirty="0" sz="1200" spc="-5">
                <a:latin typeface="Times New Roman"/>
                <a:cs typeface="Times New Roman"/>
              </a:rPr>
              <a:t>Object-oriented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design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methods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emerged</a:t>
            </a:r>
            <a:r>
              <a:rPr dirty="0" sz="1200" spc="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in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 1990s</a:t>
            </a:r>
            <a:r>
              <a:rPr dirty="0" sz="1200" spc="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in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response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to</a:t>
            </a:r>
            <a:r>
              <a:rPr dirty="0" sz="1200" spc="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shortcomings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of </a:t>
            </a:r>
            <a:r>
              <a:rPr dirty="0" sz="1200" spc="-28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structured design</a:t>
            </a:r>
            <a:r>
              <a:rPr dirty="0" sz="1200">
                <a:latin typeface="Times New Roman"/>
                <a:cs typeface="Times New Roman"/>
              </a:rPr>
              <a:t> methods.</a:t>
            </a:r>
            <a:endParaRPr sz="1200">
              <a:latin typeface="Times New Roman"/>
              <a:cs typeface="Times New Roman"/>
            </a:endParaRPr>
          </a:p>
          <a:p>
            <a:pPr marL="469265" marR="5080" indent="-228600">
              <a:lnSpc>
                <a:spcPct val="102499"/>
              </a:lnSpc>
              <a:spcBef>
                <a:spcPts val="830"/>
              </a:spcBef>
              <a:buFont typeface="Microsoft Sans Serif"/>
              <a:buChar char=""/>
              <a:tabLst>
                <a:tab pos="469265" algn="l"/>
                <a:tab pos="469900" algn="l"/>
              </a:tabLst>
            </a:pPr>
            <a:r>
              <a:rPr dirty="0" sz="1200" spc="-5">
                <a:latin typeface="Times New Roman"/>
                <a:cs typeface="Times New Roman"/>
              </a:rPr>
              <a:t>Object-oriented</a:t>
            </a:r>
            <a:r>
              <a:rPr dirty="0" sz="1200" spc="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methods</a:t>
            </a:r>
            <a:r>
              <a:rPr dirty="0" sz="1200" spc="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promote</a:t>
            </a:r>
            <a:r>
              <a:rPr dirty="0" sz="1200" spc="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thinking</a:t>
            </a:r>
            <a:r>
              <a:rPr dirty="0" sz="1200" spc="-5">
                <a:latin typeface="Times New Roman"/>
                <a:cs typeface="Times New Roman"/>
              </a:rPr>
              <a:t> about</a:t>
            </a:r>
            <a:r>
              <a:rPr dirty="0" sz="1200" spc="1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programs</a:t>
            </a:r>
            <a:r>
              <a:rPr dirty="0" sz="1200" spc="1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as</a:t>
            </a:r>
            <a:r>
              <a:rPr dirty="0" sz="1200" spc="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collections</a:t>
            </a:r>
            <a:r>
              <a:rPr dirty="0" sz="1200" spc="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of</a:t>
            </a:r>
            <a:r>
              <a:rPr dirty="0" sz="1200" spc="2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collaborating </a:t>
            </a:r>
            <a:r>
              <a:rPr dirty="0" sz="1200" spc="-28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objects rather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than in terms of </a:t>
            </a:r>
            <a:r>
              <a:rPr dirty="0" sz="1200" spc="-5">
                <a:latin typeface="Times New Roman"/>
                <a:cs typeface="Times New Roman"/>
              </a:rPr>
              <a:t>procedural</a:t>
            </a:r>
            <a:r>
              <a:rPr dirty="0" sz="1200">
                <a:latin typeface="Times New Roman"/>
                <a:cs typeface="Times New Roman"/>
              </a:rPr>
              <a:t> decomposition.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buFont typeface="Microsoft Sans Serif"/>
              <a:buChar char=""/>
            </a:pPr>
            <a:endParaRPr sz="1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5"/>
              </a:spcBef>
              <a:buFont typeface="Microsoft Sans Serif"/>
              <a:buChar char=""/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200" spc="-5" b="1">
                <a:latin typeface="Times New Roman"/>
                <a:cs typeface="Times New Roman"/>
              </a:rPr>
              <a:t>Method</a:t>
            </a:r>
            <a:r>
              <a:rPr dirty="0" sz="1200" spc="-20" b="1">
                <a:latin typeface="Times New Roman"/>
                <a:cs typeface="Times New Roman"/>
              </a:rPr>
              <a:t> </a:t>
            </a:r>
            <a:r>
              <a:rPr dirty="0" sz="1200" spc="-5" b="1">
                <a:latin typeface="Times New Roman"/>
                <a:cs typeface="Times New Roman"/>
              </a:rPr>
              <a:t>Neutrality:</a:t>
            </a:r>
            <a:endParaRPr sz="12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825"/>
              </a:spcBef>
              <a:buFont typeface="Microsoft Sans Serif"/>
              <a:buChar char=""/>
              <a:tabLst>
                <a:tab pos="469265" algn="l"/>
                <a:tab pos="469900" algn="l"/>
              </a:tabLst>
            </a:pPr>
            <a:r>
              <a:rPr dirty="0" sz="1200">
                <a:latin typeface="Times New Roman"/>
                <a:cs typeface="Times New Roman"/>
              </a:rPr>
              <a:t>Strongly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emphasizes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object-oriented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notations,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heuristics,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and</a:t>
            </a:r>
            <a:r>
              <a:rPr dirty="0" sz="1200">
                <a:latin typeface="Times New Roman"/>
                <a:cs typeface="Times New Roman"/>
              </a:rPr>
              <a:t> models.</a:t>
            </a:r>
            <a:endParaRPr sz="1200">
              <a:latin typeface="Times New Roman"/>
              <a:cs typeface="Times New Roman"/>
            </a:endParaRPr>
          </a:p>
          <a:p>
            <a:pPr marL="469265" marR="189865" indent="-228600">
              <a:lnSpc>
                <a:spcPct val="102499"/>
              </a:lnSpc>
              <a:spcBef>
                <a:spcPts val="830"/>
              </a:spcBef>
              <a:buFont typeface="Microsoft Sans Serif"/>
              <a:buChar char=""/>
              <a:tabLst>
                <a:tab pos="469265" algn="l"/>
                <a:tab pos="469900" algn="l"/>
              </a:tabLst>
            </a:pPr>
            <a:r>
              <a:rPr dirty="0" sz="1200" spc="-5">
                <a:latin typeface="Times New Roman"/>
                <a:cs typeface="Times New Roman"/>
              </a:rPr>
              <a:t>Most</a:t>
            </a:r>
            <a:r>
              <a:rPr dirty="0" sz="1200">
                <a:latin typeface="Times New Roman"/>
                <a:cs typeface="Times New Roman"/>
              </a:rPr>
              <a:t> of the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notations </a:t>
            </a:r>
            <a:r>
              <a:rPr dirty="0" sz="1200" spc="-5">
                <a:latin typeface="Times New Roman"/>
                <a:cs typeface="Times New Roman"/>
              </a:rPr>
              <a:t>used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in this </a:t>
            </a:r>
            <a:r>
              <a:rPr dirty="0" sz="1200" spc="-5">
                <a:latin typeface="Times New Roman"/>
                <a:cs typeface="Times New Roman"/>
              </a:rPr>
              <a:t>course are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UML notations, but some</a:t>
            </a:r>
            <a:r>
              <a:rPr dirty="0" sz="1200" spc="-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other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important </a:t>
            </a:r>
            <a:r>
              <a:rPr dirty="0" sz="1200" spc="-28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notations</a:t>
            </a:r>
            <a:r>
              <a:rPr dirty="0" sz="1200" spc="-5">
                <a:latin typeface="Times New Roman"/>
                <a:cs typeface="Times New Roman"/>
              </a:rPr>
              <a:t> are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included</a:t>
            </a:r>
            <a:r>
              <a:rPr dirty="0" sz="1200" spc="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as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well.</a:t>
            </a:r>
            <a:endParaRPr sz="1200">
              <a:latin typeface="Times New Roman"/>
              <a:cs typeface="Times New Roman"/>
            </a:endParaRPr>
          </a:p>
          <a:p>
            <a:pPr marL="469265" marR="256540" indent="-228600">
              <a:lnSpc>
                <a:spcPct val="102899"/>
              </a:lnSpc>
              <a:spcBef>
                <a:spcPts val="825"/>
              </a:spcBef>
              <a:buFont typeface="Microsoft Sans Serif"/>
              <a:buChar char=""/>
              <a:tabLst>
                <a:tab pos="469265" algn="l"/>
                <a:tab pos="469900" algn="l"/>
              </a:tabLst>
            </a:pPr>
            <a:r>
              <a:rPr dirty="0" sz="1200" spc="-5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design</a:t>
            </a:r>
            <a:r>
              <a:rPr dirty="0" sz="1200">
                <a:latin typeface="Times New Roman"/>
                <a:cs typeface="Times New Roman"/>
              </a:rPr>
              <a:t> task </a:t>
            </a:r>
            <a:r>
              <a:rPr dirty="0" sz="1200" spc="-5">
                <a:latin typeface="Times New Roman"/>
                <a:cs typeface="Times New Roman"/>
              </a:rPr>
              <a:t>is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small job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done in the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design</a:t>
            </a:r>
            <a:r>
              <a:rPr dirty="0" sz="1200">
                <a:latin typeface="Times New Roman"/>
                <a:cs typeface="Times New Roman"/>
              </a:rPr>
              <a:t> process, </a:t>
            </a:r>
            <a:r>
              <a:rPr dirty="0" sz="1200" spc="-5">
                <a:latin typeface="Times New Roman"/>
                <a:cs typeface="Times New Roman"/>
              </a:rPr>
              <a:t>such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as</a:t>
            </a:r>
            <a:r>
              <a:rPr dirty="0" sz="1200" spc="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choosing classes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or 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operations,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or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checking </a:t>
            </a:r>
            <a:r>
              <a:rPr dirty="0" sz="1200" spc="-5">
                <a:latin typeface="Times New Roman"/>
                <a:cs typeface="Times New Roman"/>
              </a:rPr>
              <a:t>whether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model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is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complete.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Notation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task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heuristics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are </a:t>
            </a:r>
            <a:r>
              <a:rPr dirty="0" sz="1200" spc="-28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discussed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throughout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</a:t>
            </a:r>
            <a:r>
              <a:rPr dirty="0" sz="1200" spc="1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course when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notations</a:t>
            </a:r>
            <a:r>
              <a:rPr dirty="0" sz="1200" spc="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design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tasks</a:t>
            </a:r>
            <a:r>
              <a:rPr dirty="0" sz="1200" spc="2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are introduced.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896416" y="6019165"/>
            <a:ext cx="5981065" cy="18415"/>
          </a:xfrm>
          <a:custGeom>
            <a:avLst/>
            <a:gdLst/>
            <a:ahLst/>
            <a:cxnLst/>
            <a:rect l="l" t="t" r="r" b="b"/>
            <a:pathLst>
              <a:path w="5981065" h="18414">
                <a:moveTo>
                  <a:pt x="5981065" y="0"/>
                </a:moveTo>
                <a:lnTo>
                  <a:pt x="0" y="0"/>
                </a:lnTo>
                <a:lnTo>
                  <a:pt x="0" y="18287"/>
                </a:lnTo>
                <a:lnTo>
                  <a:pt x="5981065" y="18287"/>
                </a:lnTo>
                <a:lnTo>
                  <a:pt x="598106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896416" y="6252336"/>
            <a:ext cx="5981065" cy="18415"/>
          </a:xfrm>
          <a:custGeom>
            <a:avLst/>
            <a:gdLst/>
            <a:ahLst/>
            <a:cxnLst/>
            <a:rect l="l" t="t" r="r" b="b"/>
            <a:pathLst>
              <a:path w="5981065" h="18414">
                <a:moveTo>
                  <a:pt x="5981065" y="0"/>
                </a:moveTo>
                <a:lnTo>
                  <a:pt x="0" y="0"/>
                </a:lnTo>
                <a:lnTo>
                  <a:pt x="0" y="18287"/>
                </a:lnTo>
                <a:lnTo>
                  <a:pt x="5981065" y="18287"/>
                </a:lnTo>
                <a:lnTo>
                  <a:pt x="598106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3017647" y="6638925"/>
            <a:ext cx="173545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latin typeface="Times New Roman"/>
                <a:cs typeface="Times New Roman"/>
              </a:rPr>
              <a:t>(WEEK</a:t>
            </a:r>
            <a:r>
              <a:rPr dirty="0" sz="1200" spc="-35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2</a:t>
            </a:r>
            <a:r>
              <a:rPr dirty="0" sz="1200" spc="-30" b="1">
                <a:latin typeface="Times New Roman"/>
                <a:cs typeface="Times New Roman"/>
              </a:rPr>
              <a:t> </a:t>
            </a:r>
            <a:r>
              <a:rPr dirty="0" sz="1200" spc="-5" b="1">
                <a:latin typeface="Times New Roman"/>
                <a:cs typeface="Times New Roman"/>
              </a:rPr>
              <a:t>COMPLETED)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02004" y="7986521"/>
            <a:ext cx="3329940" cy="604520"/>
          </a:xfrm>
          <a:prstGeom prst="rect">
            <a:avLst/>
          </a:prstGeom>
        </p:spPr>
        <p:txBody>
          <a:bodyPr wrap="square" lIns="0" tIns="119380" rIns="0" bIns="0" rtlCol="0" vert="horz">
            <a:spAutoFit/>
          </a:bodyPr>
          <a:lstStyle/>
          <a:p>
            <a:pPr algn="r" marR="5080">
              <a:lnSpc>
                <a:spcPct val="100000"/>
              </a:lnSpc>
              <a:spcBef>
                <a:spcPts val="940"/>
              </a:spcBef>
            </a:pPr>
            <a:r>
              <a:rPr dirty="0" sz="1200" b="1">
                <a:latin typeface="Times New Roman"/>
                <a:cs typeface="Times New Roman"/>
              </a:rPr>
              <a:t>WEEK</a:t>
            </a:r>
            <a:r>
              <a:rPr dirty="0" sz="1200" spc="-55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#3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dirty="0" sz="1200" spc="-5" b="1">
                <a:latin typeface="Times New Roman"/>
                <a:cs typeface="Times New Roman"/>
              </a:rPr>
              <a:t>Modeling</a:t>
            </a:r>
            <a:r>
              <a:rPr dirty="0" sz="1200" spc="5" b="1">
                <a:latin typeface="Times New Roman"/>
                <a:cs typeface="Times New Roman"/>
              </a:rPr>
              <a:t> </a:t>
            </a:r>
            <a:r>
              <a:rPr dirty="0" sz="1200" spc="-5" b="1">
                <a:latin typeface="Times New Roman"/>
                <a:cs typeface="Times New Roman"/>
              </a:rPr>
              <a:t>processes</a:t>
            </a:r>
            <a:r>
              <a:rPr dirty="0" sz="1200" spc="5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with</a:t>
            </a:r>
            <a:r>
              <a:rPr dirty="0" sz="1200" spc="5" b="1">
                <a:latin typeface="Times New Roman"/>
                <a:cs typeface="Times New Roman"/>
              </a:rPr>
              <a:t> </a:t>
            </a:r>
            <a:r>
              <a:rPr dirty="0" sz="1200" spc="-5" b="1">
                <a:latin typeface="Times New Roman"/>
                <a:cs typeface="Times New Roman"/>
              </a:rPr>
              <a:t>Activity</a:t>
            </a:r>
            <a:r>
              <a:rPr dirty="0" sz="1200" spc="5" b="1">
                <a:latin typeface="Times New Roman"/>
                <a:cs typeface="Times New Roman"/>
              </a:rPr>
              <a:t> </a:t>
            </a:r>
            <a:r>
              <a:rPr dirty="0" sz="1200" spc="-5" b="1">
                <a:latin typeface="Times New Roman"/>
                <a:cs typeface="Times New Roman"/>
              </a:rPr>
              <a:t>diagram: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784097"/>
            <a:ext cx="4406900" cy="1183005"/>
          </a:xfrm>
          <a:prstGeom prst="rect">
            <a:avLst/>
          </a:prstGeom>
        </p:spPr>
        <p:txBody>
          <a:bodyPr wrap="square" lIns="0" tIns="1181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30"/>
              </a:spcBef>
            </a:pPr>
            <a:r>
              <a:rPr dirty="0" sz="1200" spc="-5" b="1">
                <a:latin typeface="Times New Roman"/>
                <a:cs typeface="Times New Roman"/>
              </a:rPr>
              <a:t>Modeling:</a:t>
            </a:r>
            <a:endParaRPr sz="12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830"/>
              </a:spcBef>
              <a:buFont typeface="Microsoft Sans Serif"/>
              <a:buChar char=""/>
              <a:tabLst>
                <a:tab pos="469265" algn="l"/>
                <a:tab pos="469900" algn="l"/>
              </a:tabLst>
            </a:pPr>
            <a:r>
              <a:rPr dirty="0" sz="1200" spc="-5">
                <a:latin typeface="Times New Roman"/>
                <a:cs typeface="Times New Roman"/>
              </a:rPr>
              <a:t>A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picture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is </a:t>
            </a:r>
            <a:r>
              <a:rPr dirty="0" sz="1200">
                <a:latin typeface="Times New Roman"/>
                <a:cs typeface="Times New Roman"/>
              </a:rPr>
              <a:t>worth</a:t>
            </a:r>
            <a:r>
              <a:rPr dirty="0" sz="1200" spc="-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1000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words.</a:t>
            </a:r>
            <a:endParaRPr sz="12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850"/>
              </a:spcBef>
              <a:buFont typeface="Microsoft Sans Serif"/>
              <a:buChar char=""/>
              <a:tabLst>
                <a:tab pos="469265" algn="l"/>
                <a:tab pos="469900" algn="l"/>
              </a:tabLst>
            </a:pPr>
            <a:r>
              <a:rPr dirty="0" sz="1200" spc="-5">
                <a:latin typeface="Times New Roman"/>
                <a:cs typeface="Times New Roman"/>
              </a:rPr>
              <a:t>A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model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is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representation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of </a:t>
            </a:r>
            <a:r>
              <a:rPr dirty="0" sz="1200" spc="-5">
                <a:latin typeface="Times New Roman"/>
                <a:cs typeface="Times New Roman"/>
              </a:rPr>
              <a:t>reality,</a:t>
            </a:r>
            <a:r>
              <a:rPr dirty="0" sz="1200" spc="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like a model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car,</a:t>
            </a:r>
            <a:r>
              <a:rPr dirty="0" sz="1200" spc="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airplane.</a:t>
            </a:r>
            <a:endParaRPr sz="12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840"/>
              </a:spcBef>
              <a:buFont typeface="Microsoft Sans Serif"/>
              <a:buChar char=""/>
              <a:tabLst>
                <a:tab pos="469265" algn="l"/>
                <a:tab pos="469900" algn="l"/>
              </a:tabLst>
            </a:pPr>
            <a:r>
              <a:rPr dirty="0" sz="1200" spc="-5">
                <a:latin typeface="Times New Roman"/>
                <a:cs typeface="Times New Roman"/>
              </a:rPr>
              <a:t>Most</a:t>
            </a:r>
            <a:r>
              <a:rPr dirty="0" sz="1200">
                <a:latin typeface="Times New Roman"/>
                <a:cs typeface="Times New Roman"/>
              </a:rPr>
              <a:t> models </a:t>
            </a:r>
            <a:r>
              <a:rPr dirty="0" sz="1200" spc="-5">
                <a:latin typeface="Times New Roman"/>
                <a:cs typeface="Times New Roman"/>
              </a:rPr>
              <a:t>have </a:t>
            </a:r>
            <a:r>
              <a:rPr dirty="0" sz="1200">
                <a:latin typeface="Times New Roman"/>
                <a:cs typeface="Times New Roman"/>
              </a:rPr>
              <a:t>both </a:t>
            </a:r>
            <a:r>
              <a:rPr dirty="0" sz="1200" spc="-5">
                <a:latin typeface="Times New Roman"/>
                <a:cs typeface="Times New Roman"/>
              </a:rPr>
              <a:t>diagrams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 textual </a:t>
            </a:r>
            <a:r>
              <a:rPr dirty="0" sz="1200" spc="-5">
                <a:latin typeface="Times New Roman"/>
                <a:cs typeface="Times New Roman"/>
              </a:rPr>
              <a:t>components.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2004" y="8352332"/>
            <a:ext cx="3363595" cy="601980"/>
          </a:xfrm>
          <a:prstGeom prst="rect">
            <a:avLst/>
          </a:prstGeom>
        </p:spPr>
        <p:txBody>
          <a:bodyPr wrap="square" lIns="0" tIns="1174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25"/>
              </a:spcBef>
            </a:pPr>
            <a:r>
              <a:rPr dirty="0" sz="1200" spc="-5" b="1">
                <a:latin typeface="Times New Roman"/>
                <a:cs typeface="Times New Roman"/>
              </a:rPr>
              <a:t>What</a:t>
            </a:r>
            <a:r>
              <a:rPr dirty="0" sz="1200" spc="-20" b="1">
                <a:latin typeface="Times New Roman"/>
                <a:cs typeface="Times New Roman"/>
              </a:rPr>
              <a:t> </a:t>
            </a:r>
            <a:r>
              <a:rPr dirty="0" sz="1200" spc="-5" b="1">
                <a:latin typeface="Times New Roman"/>
                <a:cs typeface="Times New Roman"/>
              </a:rPr>
              <a:t>is</a:t>
            </a:r>
            <a:r>
              <a:rPr dirty="0" sz="1200" spc="-20" b="1">
                <a:latin typeface="Times New Roman"/>
                <a:cs typeface="Times New Roman"/>
              </a:rPr>
              <a:t> </a:t>
            </a:r>
            <a:r>
              <a:rPr dirty="0" sz="1200" spc="-5" b="1">
                <a:latin typeface="Times New Roman"/>
                <a:cs typeface="Times New Roman"/>
              </a:rPr>
              <a:t>UML?</a:t>
            </a:r>
            <a:endParaRPr sz="12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830"/>
              </a:spcBef>
              <a:buFont typeface="Microsoft Sans Serif"/>
              <a:buChar char=""/>
              <a:tabLst>
                <a:tab pos="469265" algn="l"/>
                <a:tab pos="469900" algn="l"/>
              </a:tabLst>
            </a:pPr>
            <a:r>
              <a:rPr dirty="0" sz="1200">
                <a:latin typeface="Times New Roman"/>
                <a:cs typeface="Times New Roman"/>
              </a:rPr>
              <a:t>UML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stands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for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“Unified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Modeling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Language”</a:t>
            </a:r>
            <a:endParaRPr sz="12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22729" y="2463378"/>
            <a:ext cx="5135270" cy="386274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887983"/>
            <a:ext cx="5951855" cy="2228215"/>
          </a:xfrm>
          <a:prstGeom prst="rect">
            <a:avLst/>
          </a:prstGeom>
        </p:spPr>
        <p:txBody>
          <a:bodyPr wrap="square" lIns="0" tIns="7620" rIns="0" bIns="0" rtlCol="0" vert="horz">
            <a:spAutoFit/>
          </a:bodyPr>
          <a:lstStyle/>
          <a:p>
            <a:pPr marL="469265" marR="5080" indent="-228600">
              <a:lnSpc>
                <a:spcPct val="102600"/>
              </a:lnSpc>
              <a:spcBef>
                <a:spcPts val="60"/>
              </a:spcBef>
              <a:buFont typeface="Microsoft Sans Serif"/>
              <a:buChar char=""/>
              <a:tabLst>
                <a:tab pos="469265" algn="l"/>
                <a:tab pos="469900" algn="l"/>
              </a:tabLst>
            </a:pPr>
            <a:r>
              <a:rPr dirty="0" sz="1200" spc="-10">
                <a:latin typeface="Times New Roman"/>
                <a:cs typeface="Times New Roman"/>
              </a:rPr>
              <a:t>It</a:t>
            </a:r>
            <a:r>
              <a:rPr dirty="0" sz="1200" spc="1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is</a:t>
            </a:r>
            <a:r>
              <a:rPr dirty="0" sz="1200" spc="2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an</a:t>
            </a:r>
            <a:r>
              <a:rPr dirty="0" sz="1200" spc="2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industry-standard</a:t>
            </a:r>
            <a:r>
              <a:rPr dirty="0" sz="1200" spc="3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graphical</a:t>
            </a:r>
            <a:r>
              <a:rPr dirty="0" sz="1200" spc="1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language</a:t>
            </a:r>
            <a:r>
              <a:rPr dirty="0" sz="1200" spc="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for</a:t>
            </a:r>
            <a:r>
              <a:rPr dirty="0" sz="1200" spc="2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specifying,</a:t>
            </a:r>
            <a:r>
              <a:rPr dirty="0" sz="1200" spc="2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visualizing,</a:t>
            </a:r>
            <a:r>
              <a:rPr dirty="0" sz="1200" spc="1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constructing,</a:t>
            </a:r>
            <a:r>
              <a:rPr dirty="0" sz="1200" spc="2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and </a:t>
            </a:r>
            <a:r>
              <a:rPr dirty="0" sz="1200" spc="-28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documenting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artifacts</a:t>
            </a:r>
            <a:r>
              <a:rPr dirty="0" sz="1200">
                <a:latin typeface="Times New Roman"/>
                <a:cs typeface="Times New Roman"/>
              </a:rPr>
              <a:t> of </a:t>
            </a:r>
            <a:r>
              <a:rPr dirty="0" sz="1200" spc="-5">
                <a:latin typeface="Times New Roman"/>
                <a:cs typeface="Times New Roman"/>
              </a:rPr>
              <a:t>software systems.</a:t>
            </a:r>
            <a:endParaRPr sz="1200">
              <a:latin typeface="Times New Roman"/>
              <a:cs typeface="Times New Roman"/>
            </a:endParaRPr>
          </a:p>
          <a:p>
            <a:pPr marL="469265" marR="383540" indent="-228600">
              <a:lnSpc>
                <a:spcPct val="102499"/>
              </a:lnSpc>
              <a:spcBef>
                <a:spcPts val="830"/>
              </a:spcBef>
              <a:buFont typeface="Microsoft Sans Serif"/>
              <a:buChar char=""/>
              <a:tabLst>
                <a:tab pos="469265" algn="l"/>
                <a:tab pos="469900" algn="l"/>
              </a:tabLst>
            </a:pPr>
            <a:r>
              <a:rPr dirty="0" sz="1200">
                <a:latin typeface="Times New Roman"/>
                <a:cs typeface="Times New Roman"/>
              </a:rPr>
              <a:t>The</a:t>
            </a:r>
            <a:r>
              <a:rPr dirty="0" sz="1200" spc="-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UML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uses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mostly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graphical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notations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to</a:t>
            </a:r>
            <a:r>
              <a:rPr dirty="0" sz="1200" spc="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express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 </a:t>
            </a:r>
            <a:r>
              <a:rPr dirty="0" sz="1200" spc="-5">
                <a:latin typeface="Times New Roman"/>
                <a:cs typeface="Times New Roman"/>
              </a:rPr>
              <a:t>OO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analysis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and</a:t>
            </a:r>
            <a:r>
              <a:rPr dirty="0" sz="1200" spc="2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design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of </a:t>
            </a:r>
            <a:r>
              <a:rPr dirty="0" sz="1200" spc="-28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software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projects.</a:t>
            </a:r>
            <a:endParaRPr sz="12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850"/>
              </a:spcBef>
              <a:buFont typeface="Microsoft Sans Serif"/>
              <a:buChar char=""/>
              <a:tabLst>
                <a:tab pos="469265" algn="l"/>
                <a:tab pos="469900" algn="l"/>
              </a:tabLst>
            </a:pPr>
            <a:r>
              <a:rPr dirty="0" sz="1200" spc="-5">
                <a:latin typeface="Times New Roman"/>
                <a:cs typeface="Times New Roman"/>
              </a:rPr>
              <a:t>Simplifies </a:t>
            </a:r>
            <a:r>
              <a:rPr dirty="0" sz="1200">
                <a:latin typeface="Times New Roman"/>
                <a:cs typeface="Times New Roman"/>
              </a:rPr>
              <a:t>the</a:t>
            </a:r>
            <a:r>
              <a:rPr dirty="0" sz="1200" spc="-5">
                <a:latin typeface="Times New Roman"/>
                <a:cs typeface="Times New Roman"/>
              </a:rPr>
              <a:t> complex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process </a:t>
            </a:r>
            <a:r>
              <a:rPr dirty="0" sz="1200">
                <a:latin typeface="Times New Roman"/>
                <a:cs typeface="Times New Roman"/>
              </a:rPr>
              <a:t>of</a:t>
            </a:r>
            <a:r>
              <a:rPr dirty="0" sz="1200" spc="-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software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design.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200" spc="-5" b="1">
                <a:latin typeface="Times New Roman"/>
                <a:cs typeface="Times New Roman"/>
              </a:rPr>
              <a:t>Process:</a:t>
            </a:r>
            <a:endParaRPr sz="1200">
              <a:latin typeface="Times New Roman"/>
              <a:cs typeface="Times New Roman"/>
            </a:endParaRPr>
          </a:p>
          <a:p>
            <a:pPr marL="12700" marR="426720" indent="456565">
              <a:lnSpc>
                <a:spcPct val="102499"/>
              </a:lnSpc>
              <a:spcBef>
                <a:spcPts val="805"/>
              </a:spcBef>
            </a:pPr>
            <a:r>
              <a:rPr dirty="0" sz="1200" spc="-5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process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is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collection</a:t>
            </a:r>
            <a:r>
              <a:rPr dirty="0" sz="1200" spc="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of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related</a:t>
            </a:r>
            <a:r>
              <a:rPr dirty="0" sz="1200">
                <a:latin typeface="Times New Roman"/>
                <a:cs typeface="Times New Roman"/>
              </a:rPr>
              <a:t> tasks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that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transforms</a:t>
            </a:r>
            <a:r>
              <a:rPr dirty="0" sz="1200">
                <a:latin typeface="Times New Roman"/>
                <a:cs typeface="Times New Roman"/>
              </a:rPr>
              <a:t> a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set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of inputs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into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 set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of </a:t>
            </a:r>
            <a:r>
              <a:rPr dirty="0" sz="1200" spc="-28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outputs.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2004" y="8227364"/>
            <a:ext cx="5936615" cy="792480"/>
          </a:xfrm>
          <a:prstGeom prst="rect">
            <a:avLst/>
          </a:prstGeom>
        </p:spPr>
        <p:txBody>
          <a:bodyPr wrap="square" lIns="0" tIns="1193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40"/>
              </a:spcBef>
            </a:pPr>
            <a:r>
              <a:rPr dirty="0" sz="1200" spc="-5" b="1">
                <a:latin typeface="Times New Roman"/>
                <a:cs typeface="Times New Roman"/>
              </a:rPr>
              <a:t>Design</a:t>
            </a:r>
            <a:r>
              <a:rPr dirty="0" sz="1200" spc="-20" b="1">
                <a:latin typeface="Times New Roman"/>
                <a:cs typeface="Times New Roman"/>
              </a:rPr>
              <a:t> </a:t>
            </a:r>
            <a:r>
              <a:rPr dirty="0" sz="1200" spc="-5" b="1">
                <a:latin typeface="Times New Roman"/>
                <a:cs typeface="Times New Roman"/>
              </a:rPr>
              <a:t>Process:</a:t>
            </a:r>
            <a:endParaRPr sz="1200">
              <a:latin typeface="Times New Roman"/>
              <a:cs typeface="Times New Roman"/>
            </a:endParaRPr>
          </a:p>
          <a:p>
            <a:pPr marL="469265" marR="5080" indent="-228600">
              <a:lnSpc>
                <a:spcPct val="102499"/>
              </a:lnSpc>
              <a:spcBef>
                <a:spcPts val="800"/>
              </a:spcBef>
              <a:buFont typeface="Microsoft Sans Serif"/>
              <a:buChar char=""/>
              <a:tabLst>
                <a:tab pos="469265" algn="l"/>
                <a:tab pos="469900" algn="l"/>
              </a:tabLst>
            </a:pPr>
            <a:r>
              <a:rPr dirty="0" sz="1200" spc="-5">
                <a:latin typeface="Times New Roman"/>
                <a:cs typeface="Times New Roman"/>
              </a:rPr>
              <a:t>A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design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process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is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</a:t>
            </a:r>
            <a:r>
              <a:rPr dirty="0" sz="1200" spc="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core</a:t>
            </a:r>
            <a:r>
              <a:rPr dirty="0" sz="1200" spc="-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of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any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design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endeavor,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so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it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is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essential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that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designers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adopt </a:t>
            </a:r>
            <a:r>
              <a:rPr dirty="0" sz="1200" spc="-28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an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efficient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and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effective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process.</a:t>
            </a:r>
            <a:endParaRPr sz="12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18796" y="3897236"/>
            <a:ext cx="5280919" cy="3190692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30604" y="886459"/>
            <a:ext cx="3780790" cy="4997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0665" indent="-228600">
              <a:lnSpc>
                <a:spcPct val="100000"/>
              </a:lnSpc>
              <a:spcBef>
                <a:spcPts val="100"/>
              </a:spcBef>
              <a:buFont typeface="Microsoft Sans Serif"/>
              <a:buChar char=""/>
              <a:tabLst>
                <a:tab pos="240665" algn="l"/>
                <a:tab pos="241300" algn="l"/>
              </a:tabLst>
            </a:pPr>
            <a:r>
              <a:rPr dirty="0" sz="1200">
                <a:latin typeface="Times New Roman"/>
                <a:cs typeface="Times New Roman"/>
              </a:rPr>
              <a:t>We</a:t>
            </a:r>
            <a:r>
              <a:rPr dirty="0" sz="1200" spc="-5">
                <a:latin typeface="Times New Roman"/>
                <a:cs typeface="Times New Roman"/>
              </a:rPr>
              <a:t> need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process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description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notations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for</a:t>
            </a:r>
            <a:r>
              <a:rPr dirty="0" sz="1200" spc="-5">
                <a:latin typeface="Times New Roman"/>
                <a:cs typeface="Times New Roman"/>
              </a:rPr>
              <a:t> design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process.</a:t>
            </a:r>
            <a:endParaRPr sz="1200">
              <a:latin typeface="Times New Roman"/>
              <a:cs typeface="Times New Roman"/>
            </a:endParaRPr>
          </a:p>
          <a:p>
            <a:pPr marL="240665" indent="-228600">
              <a:lnSpc>
                <a:spcPct val="100000"/>
              </a:lnSpc>
              <a:spcBef>
                <a:spcPts val="855"/>
              </a:spcBef>
              <a:buFont typeface="Microsoft Sans Serif"/>
              <a:buChar char=""/>
              <a:tabLst>
                <a:tab pos="240665" algn="l"/>
                <a:tab pos="241300" algn="l"/>
              </a:tabLst>
            </a:pPr>
            <a:r>
              <a:rPr dirty="0" sz="1200">
                <a:latin typeface="Times New Roman"/>
                <a:cs typeface="Times New Roman"/>
              </a:rPr>
              <a:t>We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will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use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UML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Activity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diagram.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2004" y="4748910"/>
            <a:ext cx="5501005" cy="601980"/>
          </a:xfrm>
          <a:prstGeom prst="rect">
            <a:avLst/>
          </a:prstGeom>
        </p:spPr>
        <p:txBody>
          <a:bodyPr wrap="square" lIns="0" tIns="1174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25"/>
              </a:spcBef>
            </a:pPr>
            <a:r>
              <a:rPr dirty="0" sz="1200" spc="-5" b="1">
                <a:latin typeface="Times New Roman"/>
                <a:cs typeface="Times New Roman"/>
              </a:rPr>
              <a:t>Activity</a:t>
            </a:r>
            <a:r>
              <a:rPr dirty="0" sz="1200" spc="-20" b="1">
                <a:latin typeface="Times New Roman"/>
                <a:cs typeface="Times New Roman"/>
              </a:rPr>
              <a:t> </a:t>
            </a:r>
            <a:r>
              <a:rPr dirty="0" sz="1200" spc="-5" b="1">
                <a:latin typeface="Times New Roman"/>
                <a:cs typeface="Times New Roman"/>
              </a:rPr>
              <a:t>diagram:</a:t>
            </a:r>
            <a:endParaRPr sz="1200">
              <a:latin typeface="Times New Roman"/>
              <a:cs typeface="Times New Roman"/>
            </a:endParaRPr>
          </a:p>
          <a:p>
            <a:pPr marL="469265">
              <a:lnSpc>
                <a:spcPct val="100000"/>
              </a:lnSpc>
              <a:spcBef>
                <a:spcPts val="830"/>
              </a:spcBef>
            </a:pPr>
            <a:r>
              <a:rPr dirty="0" sz="1200" spc="-5">
                <a:latin typeface="Times New Roman"/>
                <a:cs typeface="Times New Roman"/>
              </a:rPr>
              <a:t>An</a:t>
            </a:r>
            <a:r>
              <a:rPr dirty="0" sz="1200">
                <a:latin typeface="Times New Roman"/>
                <a:cs typeface="Times New Roman"/>
              </a:rPr>
              <a:t> activity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diagram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shows </a:t>
            </a:r>
            <a:r>
              <a:rPr dirty="0" sz="1200" spc="-5">
                <a:latin typeface="Times New Roman"/>
                <a:cs typeface="Times New Roman"/>
              </a:rPr>
              <a:t>actions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and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 </a:t>
            </a:r>
            <a:r>
              <a:rPr dirty="0" sz="1200" spc="-5">
                <a:latin typeface="Times New Roman"/>
                <a:cs typeface="Times New Roman"/>
              </a:rPr>
              <a:t>flow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5">
                <a:latin typeface="Times New Roman"/>
                <a:cs typeface="Times New Roman"/>
              </a:rPr>
              <a:t>of </a:t>
            </a:r>
            <a:r>
              <a:rPr dirty="0" sz="1200" spc="-5">
                <a:latin typeface="Times New Roman"/>
                <a:cs typeface="Times New Roman"/>
              </a:rPr>
              <a:t>control</a:t>
            </a:r>
            <a:r>
              <a:rPr dirty="0" sz="1200">
                <a:latin typeface="Times New Roman"/>
                <a:cs typeface="Times New Roman"/>
              </a:rPr>
              <a:t> and</a:t>
            </a:r>
            <a:r>
              <a:rPr dirty="0" sz="1200" spc="-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data between them.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2004" y="8349233"/>
            <a:ext cx="4956175" cy="7861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 b="1">
                <a:latin typeface="Times New Roman"/>
                <a:cs typeface="Times New Roman"/>
              </a:rPr>
              <a:t>Activity,</a:t>
            </a:r>
            <a:r>
              <a:rPr dirty="0" sz="1200" spc="-10" b="1">
                <a:latin typeface="Times New Roman"/>
                <a:cs typeface="Times New Roman"/>
              </a:rPr>
              <a:t> </a:t>
            </a:r>
            <a:r>
              <a:rPr dirty="0" sz="1200" spc="-5" b="1">
                <a:latin typeface="Times New Roman"/>
                <a:cs typeface="Times New Roman"/>
              </a:rPr>
              <a:t>action and </a:t>
            </a:r>
            <a:r>
              <a:rPr dirty="0" sz="1200" b="1">
                <a:latin typeface="Times New Roman"/>
                <a:cs typeface="Times New Roman"/>
              </a:rPr>
              <a:t>execution: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buFont typeface="Microsoft Sans Serif"/>
              <a:buChar char=""/>
              <a:tabLst>
                <a:tab pos="469265" algn="l"/>
                <a:tab pos="469900" algn="l"/>
              </a:tabLst>
            </a:pPr>
            <a:r>
              <a:rPr dirty="0" sz="1200" spc="-5">
                <a:latin typeface="Times New Roman"/>
                <a:cs typeface="Times New Roman"/>
              </a:rPr>
              <a:t>An </a:t>
            </a:r>
            <a:r>
              <a:rPr dirty="0" sz="1200" spc="-5" b="1">
                <a:latin typeface="Times New Roman"/>
                <a:cs typeface="Times New Roman"/>
              </a:rPr>
              <a:t>activity</a:t>
            </a:r>
            <a:r>
              <a:rPr dirty="0" sz="1200" b="1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is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non-atomic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task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or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procedure </a:t>
            </a:r>
            <a:r>
              <a:rPr dirty="0" sz="1200">
                <a:latin typeface="Times New Roman"/>
                <a:cs typeface="Times New Roman"/>
              </a:rPr>
              <a:t>decomposable into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actions.</a:t>
            </a:r>
            <a:endParaRPr sz="120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63055" y="2460462"/>
            <a:ext cx="3683496" cy="1650956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93241" y="5776642"/>
            <a:ext cx="1968186" cy="2144987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30604" y="897128"/>
            <a:ext cx="5259070" cy="20072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697865" indent="-229235">
              <a:lnSpc>
                <a:spcPct val="100000"/>
              </a:lnSpc>
              <a:spcBef>
                <a:spcPts val="100"/>
              </a:spcBef>
              <a:buFont typeface="Verdana"/>
              <a:buChar char="◦"/>
              <a:tabLst>
                <a:tab pos="697865" algn="l"/>
                <a:tab pos="698500" algn="l"/>
              </a:tabLst>
            </a:pPr>
            <a:r>
              <a:rPr dirty="0" sz="1200">
                <a:latin typeface="Times New Roman"/>
                <a:cs typeface="Times New Roman"/>
              </a:rPr>
              <a:t>Shipping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product</a:t>
            </a:r>
            <a:endParaRPr sz="1200">
              <a:latin typeface="Times New Roman"/>
              <a:cs typeface="Times New Roman"/>
            </a:endParaRPr>
          </a:p>
          <a:p>
            <a:pPr marL="697865" indent="-229235">
              <a:lnSpc>
                <a:spcPct val="100000"/>
              </a:lnSpc>
              <a:spcBef>
                <a:spcPts val="935"/>
              </a:spcBef>
              <a:buFont typeface="Verdana"/>
              <a:buChar char="◦"/>
              <a:tabLst>
                <a:tab pos="697865" algn="l"/>
                <a:tab pos="698500" algn="l"/>
              </a:tabLst>
            </a:pPr>
            <a:r>
              <a:rPr dirty="0" sz="1200">
                <a:latin typeface="Times New Roman"/>
                <a:cs typeface="Times New Roman"/>
              </a:rPr>
              <a:t>Wash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clothes</a:t>
            </a:r>
            <a:endParaRPr sz="1200">
              <a:latin typeface="Times New Roman"/>
              <a:cs typeface="Times New Roman"/>
            </a:endParaRPr>
          </a:p>
          <a:p>
            <a:pPr marL="697865" indent="-229235">
              <a:lnSpc>
                <a:spcPct val="100000"/>
              </a:lnSpc>
              <a:spcBef>
                <a:spcPts val="935"/>
              </a:spcBef>
              <a:buFont typeface="Verdana"/>
              <a:buChar char="◦"/>
              <a:tabLst>
                <a:tab pos="697865" algn="l"/>
                <a:tab pos="698500" algn="l"/>
              </a:tabLst>
            </a:pPr>
            <a:r>
              <a:rPr dirty="0" sz="1200">
                <a:latin typeface="Times New Roman"/>
                <a:cs typeface="Times New Roman"/>
              </a:rPr>
              <a:t>…</a:t>
            </a:r>
            <a:endParaRPr sz="1200">
              <a:latin typeface="Times New Roman"/>
              <a:cs typeface="Times New Roman"/>
            </a:endParaRPr>
          </a:p>
          <a:p>
            <a:pPr marL="240665" indent="-228600">
              <a:lnSpc>
                <a:spcPct val="100000"/>
              </a:lnSpc>
              <a:spcBef>
                <a:spcPts val="855"/>
              </a:spcBef>
              <a:buFont typeface="Microsoft Sans Serif"/>
              <a:buChar char=""/>
              <a:tabLst>
                <a:tab pos="240665" algn="l"/>
                <a:tab pos="241300" algn="l"/>
              </a:tabLst>
            </a:pPr>
            <a:r>
              <a:rPr dirty="0" sz="1200" spc="-5">
                <a:latin typeface="Times New Roman"/>
                <a:cs typeface="Times New Roman"/>
              </a:rPr>
              <a:t>An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 b="1">
                <a:latin typeface="Times New Roman"/>
                <a:cs typeface="Times New Roman"/>
              </a:rPr>
              <a:t>action</a:t>
            </a:r>
            <a:r>
              <a:rPr dirty="0" sz="1200" spc="5" b="1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is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task</a:t>
            </a:r>
            <a:r>
              <a:rPr dirty="0" sz="1200" spc="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or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procedure </a:t>
            </a:r>
            <a:r>
              <a:rPr dirty="0" sz="1200">
                <a:latin typeface="Times New Roman"/>
                <a:cs typeface="Times New Roman"/>
              </a:rPr>
              <a:t>that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cannot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be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broken</a:t>
            </a:r>
            <a:r>
              <a:rPr dirty="0" sz="1200" spc="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into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parts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(i.e.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it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is</a:t>
            </a:r>
            <a:r>
              <a:rPr dirty="0" sz="1200" spc="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atomic).</a:t>
            </a:r>
            <a:endParaRPr sz="1200">
              <a:latin typeface="Times New Roman"/>
              <a:cs typeface="Times New Roman"/>
            </a:endParaRPr>
          </a:p>
          <a:p>
            <a:pPr lvl="1" marL="697865" indent="-229235">
              <a:lnSpc>
                <a:spcPct val="100000"/>
              </a:lnSpc>
              <a:spcBef>
                <a:spcPts val="935"/>
              </a:spcBef>
              <a:buFont typeface="Verdana"/>
              <a:buChar char="◦"/>
              <a:tabLst>
                <a:tab pos="697865" algn="l"/>
                <a:tab pos="698500" algn="l"/>
              </a:tabLst>
            </a:pPr>
            <a:r>
              <a:rPr dirty="0" sz="1200" spc="-5">
                <a:latin typeface="Times New Roman"/>
                <a:cs typeface="Times New Roman"/>
              </a:rPr>
              <a:t>Check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products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in</a:t>
            </a:r>
            <a:r>
              <a:rPr dirty="0" sz="1200" spc="-5">
                <a:latin typeface="Times New Roman"/>
                <a:cs typeface="Times New Roman"/>
              </a:rPr>
              <a:t> stock</a:t>
            </a:r>
            <a:endParaRPr sz="1200">
              <a:latin typeface="Times New Roman"/>
              <a:cs typeface="Times New Roman"/>
            </a:endParaRPr>
          </a:p>
          <a:p>
            <a:pPr lvl="1" marL="697865" indent="-229235">
              <a:lnSpc>
                <a:spcPct val="100000"/>
              </a:lnSpc>
              <a:spcBef>
                <a:spcPts val="935"/>
              </a:spcBef>
              <a:buFont typeface="Verdana"/>
              <a:buChar char="◦"/>
              <a:tabLst>
                <a:tab pos="697865" algn="l"/>
                <a:tab pos="698500" algn="l"/>
              </a:tabLst>
            </a:pPr>
            <a:r>
              <a:rPr dirty="0" sz="1200" spc="-5">
                <a:latin typeface="Times New Roman"/>
                <a:cs typeface="Times New Roman"/>
              </a:rPr>
              <a:t>Check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dead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level</a:t>
            </a:r>
            <a:endParaRPr sz="1200">
              <a:latin typeface="Times New Roman"/>
              <a:cs typeface="Times New Roman"/>
            </a:endParaRPr>
          </a:p>
          <a:p>
            <a:pPr lvl="1" marL="697865" indent="-229235">
              <a:lnSpc>
                <a:spcPct val="100000"/>
              </a:lnSpc>
              <a:spcBef>
                <a:spcPts val="925"/>
              </a:spcBef>
              <a:buFont typeface="Verdana"/>
              <a:buChar char="◦"/>
              <a:tabLst>
                <a:tab pos="697865" algn="l"/>
                <a:tab pos="698500" algn="l"/>
              </a:tabLst>
            </a:pPr>
            <a:r>
              <a:rPr dirty="0" sz="1200" spc="-5">
                <a:latin typeface="Times New Roman"/>
                <a:cs typeface="Times New Roman"/>
              </a:rPr>
              <a:t>Package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product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30604" y="3572383"/>
            <a:ext cx="5516880" cy="15786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0665" indent="-228600">
              <a:lnSpc>
                <a:spcPct val="100000"/>
              </a:lnSpc>
              <a:spcBef>
                <a:spcPts val="100"/>
              </a:spcBef>
              <a:buFont typeface="Microsoft Sans Serif"/>
              <a:buChar char=""/>
              <a:tabLst>
                <a:tab pos="240665" algn="l"/>
                <a:tab pos="241300" algn="l"/>
              </a:tabLst>
            </a:pPr>
            <a:r>
              <a:rPr dirty="0" sz="1200" spc="-5" b="1">
                <a:latin typeface="Times New Roman"/>
                <a:cs typeface="Times New Roman"/>
              </a:rPr>
              <a:t>Activity</a:t>
            </a:r>
            <a:r>
              <a:rPr dirty="0" sz="1200" spc="5" b="1">
                <a:latin typeface="Times New Roman"/>
                <a:cs typeface="Times New Roman"/>
              </a:rPr>
              <a:t> </a:t>
            </a:r>
            <a:r>
              <a:rPr dirty="0" sz="1200" spc="-5" b="1">
                <a:latin typeface="Times New Roman"/>
                <a:cs typeface="Times New Roman"/>
              </a:rPr>
              <a:t>diagrams</a:t>
            </a:r>
            <a:r>
              <a:rPr dirty="0" sz="1200" spc="15" b="1">
                <a:latin typeface="Times New Roman"/>
                <a:cs typeface="Times New Roman"/>
              </a:rPr>
              <a:t> </a:t>
            </a:r>
            <a:r>
              <a:rPr dirty="0" sz="1200" spc="-5" b="1">
                <a:latin typeface="Times New Roman"/>
                <a:cs typeface="Times New Roman"/>
              </a:rPr>
              <a:t>model</a:t>
            </a:r>
            <a:r>
              <a:rPr dirty="0" sz="1200" spc="10" b="1">
                <a:latin typeface="Times New Roman"/>
                <a:cs typeface="Times New Roman"/>
              </a:rPr>
              <a:t> </a:t>
            </a:r>
            <a:r>
              <a:rPr dirty="0" sz="1200" spc="-5" b="1">
                <a:latin typeface="Times New Roman"/>
                <a:cs typeface="Times New Roman"/>
              </a:rPr>
              <a:t>processes</a:t>
            </a:r>
            <a:r>
              <a:rPr dirty="0" sz="1200" spc="5" b="1">
                <a:latin typeface="Times New Roman"/>
                <a:cs typeface="Times New Roman"/>
              </a:rPr>
              <a:t> </a:t>
            </a:r>
            <a:r>
              <a:rPr dirty="0" sz="1200" spc="-5" b="1">
                <a:latin typeface="Times New Roman"/>
                <a:cs typeface="Times New Roman"/>
              </a:rPr>
              <a:t>as</a:t>
            </a:r>
            <a:r>
              <a:rPr dirty="0" sz="1200" spc="5" b="1">
                <a:latin typeface="Times New Roman"/>
                <a:cs typeface="Times New Roman"/>
              </a:rPr>
              <a:t> </a:t>
            </a:r>
            <a:r>
              <a:rPr dirty="0" sz="1200" spc="-5" b="1">
                <a:latin typeface="Times New Roman"/>
                <a:cs typeface="Times New Roman"/>
              </a:rPr>
              <a:t>an</a:t>
            </a:r>
            <a:r>
              <a:rPr dirty="0" sz="1200" spc="25" b="1">
                <a:latin typeface="Times New Roman"/>
                <a:cs typeface="Times New Roman"/>
              </a:rPr>
              <a:t> </a:t>
            </a:r>
            <a:r>
              <a:rPr dirty="0" sz="1200" spc="-5" b="1" i="1">
                <a:latin typeface="Times New Roman"/>
                <a:cs typeface="Times New Roman"/>
              </a:rPr>
              <a:t>activity</a:t>
            </a:r>
            <a:r>
              <a:rPr dirty="0" sz="1200" spc="10" b="1" i="1">
                <a:latin typeface="Times New Roman"/>
                <a:cs typeface="Times New Roman"/>
              </a:rPr>
              <a:t> </a:t>
            </a:r>
            <a:r>
              <a:rPr dirty="0" sz="1200" b="1" i="1">
                <a:latin typeface="Times New Roman"/>
                <a:cs typeface="Times New Roman"/>
              </a:rPr>
              <a:t>graph</a:t>
            </a:r>
            <a:r>
              <a:rPr dirty="0" sz="1200" b="1">
                <a:latin typeface="Times New Roman"/>
                <a:cs typeface="Times New Roman"/>
              </a:rPr>
              <a:t>.</a:t>
            </a:r>
            <a:endParaRPr sz="1200">
              <a:latin typeface="Times New Roman"/>
              <a:cs typeface="Times New Roman"/>
            </a:endParaRPr>
          </a:p>
          <a:p>
            <a:pPr lvl="1" marL="697865" indent="-229235">
              <a:lnSpc>
                <a:spcPct val="100000"/>
              </a:lnSpc>
              <a:spcBef>
                <a:spcPts val="910"/>
              </a:spcBef>
              <a:buFont typeface="Verdana"/>
              <a:buChar char="◦"/>
              <a:tabLst>
                <a:tab pos="697865" algn="l"/>
                <a:tab pos="698500" algn="l"/>
              </a:tabLst>
            </a:pPr>
            <a:r>
              <a:rPr dirty="0" sz="1200" spc="-5" i="1">
                <a:latin typeface="Times New Roman"/>
                <a:cs typeface="Times New Roman"/>
              </a:rPr>
              <a:t>Activity</a:t>
            </a:r>
            <a:r>
              <a:rPr dirty="0" sz="1200" i="1">
                <a:latin typeface="Times New Roman"/>
                <a:cs typeface="Times New Roman"/>
              </a:rPr>
              <a:t> </a:t>
            </a:r>
            <a:r>
              <a:rPr dirty="0" sz="1200" spc="-5" i="1">
                <a:latin typeface="Times New Roman"/>
                <a:cs typeface="Times New Roman"/>
              </a:rPr>
              <a:t>nodes</a:t>
            </a:r>
            <a:r>
              <a:rPr dirty="0" sz="1200" spc="5" i="1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represent</a:t>
            </a:r>
            <a:r>
              <a:rPr dirty="0" sz="1200" spc="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actions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or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objects</a:t>
            </a:r>
            <a:endParaRPr sz="1200">
              <a:latin typeface="Times New Roman"/>
              <a:cs typeface="Times New Roman"/>
            </a:endParaRPr>
          </a:p>
          <a:p>
            <a:pPr marL="1155065" marR="5080" indent="-228600">
              <a:lnSpc>
                <a:spcPct val="102499"/>
              </a:lnSpc>
              <a:spcBef>
                <a:spcPts val="830"/>
              </a:spcBef>
              <a:tabLst>
                <a:tab pos="1155065" algn="l"/>
              </a:tabLst>
            </a:pPr>
            <a:r>
              <a:rPr dirty="0" sz="1200" spc="-225">
                <a:latin typeface="Microsoft Sans Serif"/>
                <a:cs typeface="Microsoft Sans Serif"/>
              </a:rPr>
              <a:t>🞄	</a:t>
            </a:r>
            <a:r>
              <a:rPr dirty="0" sz="1200" spc="-5">
                <a:latin typeface="Times New Roman"/>
                <a:cs typeface="Times New Roman"/>
              </a:rPr>
              <a:t>Rounded rectangle </a:t>
            </a:r>
            <a:r>
              <a:rPr dirty="0" sz="1200">
                <a:latin typeface="Times New Roman"/>
                <a:cs typeface="Times New Roman"/>
              </a:rPr>
              <a:t>containing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arbitrary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text naming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or describing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some </a:t>
            </a:r>
            <a:r>
              <a:rPr dirty="0" sz="1200" spc="-28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action.</a:t>
            </a:r>
            <a:endParaRPr sz="1200">
              <a:latin typeface="Times New Roman"/>
              <a:cs typeface="Times New Roman"/>
            </a:endParaRPr>
          </a:p>
          <a:p>
            <a:pPr lvl="1" marL="697865" indent="-229235">
              <a:lnSpc>
                <a:spcPct val="100000"/>
              </a:lnSpc>
              <a:spcBef>
                <a:spcPts val="925"/>
              </a:spcBef>
              <a:buFont typeface="Verdana"/>
              <a:buChar char="◦"/>
              <a:tabLst>
                <a:tab pos="697865" algn="l"/>
                <a:tab pos="698500" algn="l"/>
              </a:tabLst>
            </a:pPr>
            <a:r>
              <a:rPr dirty="0" sz="1200" spc="-5" i="1">
                <a:latin typeface="Times New Roman"/>
                <a:cs typeface="Times New Roman"/>
              </a:rPr>
              <a:t>Activity edges</a:t>
            </a:r>
            <a:r>
              <a:rPr dirty="0" sz="1200" spc="5" i="1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represent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control or </a:t>
            </a:r>
            <a:r>
              <a:rPr dirty="0" sz="1200" spc="-5">
                <a:latin typeface="Times New Roman"/>
                <a:cs typeface="Times New Roman"/>
              </a:rPr>
              <a:t>data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flows.</a:t>
            </a:r>
            <a:endParaRPr sz="1200">
              <a:latin typeface="Times New Roman"/>
              <a:cs typeface="Times New Roman"/>
            </a:endParaRPr>
          </a:p>
          <a:p>
            <a:pPr algn="ctr" marR="58419">
              <a:lnSpc>
                <a:spcPct val="100000"/>
              </a:lnSpc>
              <a:spcBef>
                <a:spcPts val="850"/>
              </a:spcBef>
              <a:tabLst>
                <a:tab pos="227965" algn="l"/>
              </a:tabLst>
            </a:pPr>
            <a:r>
              <a:rPr dirty="0" sz="1200" spc="-225">
                <a:latin typeface="Microsoft Sans Serif"/>
                <a:cs typeface="Microsoft Sans Serif"/>
              </a:rPr>
              <a:t>🞄	</a:t>
            </a:r>
            <a:r>
              <a:rPr dirty="0" sz="1200" spc="-5">
                <a:latin typeface="Times New Roman"/>
                <a:cs typeface="Times New Roman"/>
              </a:rPr>
              <a:t>Represented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10">
                <a:latin typeface="Times New Roman"/>
                <a:cs typeface="Times New Roman"/>
              </a:rPr>
              <a:t>by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solid arrows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with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unfilled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arrow</a:t>
            </a:r>
            <a:r>
              <a:rPr dirty="0" sz="1200" spc="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heads.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2004" y="8177021"/>
            <a:ext cx="3778250" cy="4997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202815">
              <a:lnSpc>
                <a:spcPct val="100000"/>
              </a:lnSpc>
              <a:spcBef>
                <a:spcPts val="100"/>
              </a:spcBef>
            </a:pPr>
            <a:r>
              <a:rPr dirty="0" sz="1200" spc="-5" b="1">
                <a:latin typeface="Times New Roman"/>
                <a:cs typeface="Times New Roman"/>
              </a:rPr>
              <a:t>ACTIVITY</a:t>
            </a:r>
            <a:r>
              <a:rPr dirty="0" sz="1200" spc="-50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DIAGRAM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50"/>
              </a:spcBef>
            </a:pPr>
            <a:r>
              <a:rPr dirty="0" sz="1200" spc="-5" b="1">
                <a:latin typeface="Times New Roman"/>
                <a:cs typeface="Times New Roman"/>
              </a:rPr>
              <a:t>Activity</a:t>
            </a:r>
            <a:r>
              <a:rPr dirty="0" sz="1200" spc="-20" b="1">
                <a:latin typeface="Times New Roman"/>
                <a:cs typeface="Times New Roman"/>
              </a:rPr>
              <a:t> </a:t>
            </a:r>
            <a:r>
              <a:rPr dirty="0" sz="1200" spc="-5" b="1">
                <a:latin typeface="Times New Roman"/>
                <a:cs typeface="Times New Roman"/>
              </a:rPr>
              <a:t>graph</a:t>
            </a:r>
            <a:r>
              <a:rPr dirty="0" sz="1200" spc="-15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elements:</a:t>
            </a:r>
            <a:endParaRPr sz="120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996" y="5385713"/>
            <a:ext cx="1909603" cy="2315687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5727572"/>
            <a:ext cx="5842000" cy="2331720"/>
          </a:xfrm>
          <a:prstGeom prst="rect">
            <a:avLst/>
          </a:prstGeom>
        </p:spPr>
        <p:txBody>
          <a:bodyPr wrap="square" lIns="0" tIns="1174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25"/>
              </a:spcBef>
            </a:pPr>
            <a:r>
              <a:rPr dirty="0" sz="1200" spc="-5" b="1">
                <a:latin typeface="Times New Roman"/>
                <a:cs typeface="Times New Roman"/>
              </a:rPr>
              <a:t>Activity</a:t>
            </a:r>
            <a:r>
              <a:rPr dirty="0" sz="1200" spc="-20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diagram</a:t>
            </a:r>
            <a:r>
              <a:rPr dirty="0" sz="1200" spc="-30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execution:</a:t>
            </a:r>
            <a:endParaRPr sz="12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830"/>
              </a:spcBef>
              <a:buFont typeface="Microsoft Sans Serif"/>
              <a:buChar char=""/>
              <a:tabLst>
                <a:tab pos="469265" algn="l"/>
                <a:tab pos="469900" algn="l"/>
              </a:tabLst>
            </a:pPr>
            <a:r>
              <a:rPr dirty="0" sz="1200" spc="-5">
                <a:latin typeface="Times New Roman"/>
                <a:cs typeface="Times New Roman"/>
              </a:rPr>
              <a:t>Execution is modeled </a:t>
            </a:r>
            <a:r>
              <a:rPr dirty="0" sz="1200" spc="5">
                <a:latin typeface="Times New Roman"/>
                <a:cs typeface="Times New Roman"/>
              </a:rPr>
              <a:t>by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tokens.</a:t>
            </a:r>
            <a:endParaRPr sz="1200">
              <a:latin typeface="Times New Roman"/>
              <a:cs typeface="Times New Roman"/>
            </a:endParaRPr>
          </a:p>
          <a:p>
            <a:pPr marL="469265" marR="36195" indent="-228600">
              <a:lnSpc>
                <a:spcPct val="103299"/>
              </a:lnSpc>
              <a:spcBef>
                <a:spcPts val="805"/>
              </a:spcBef>
              <a:buFont typeface="Microsoft Sans Serif"/>
              <a:buChar char=""/>
              <a:tabLst>
                <a:tab pos="469265" algn="l"/>
                <a:tab pos="469900" algn="l"/>
              </a:tabLst>
            </a:pPr>
            <a:r>
              <a:rPr dirty="0" sz="1200">
                <a:latin typeface="Times New Roman"/>
                <a:cs typeface="Times New Roman"/>
              </a:rPr>
              <a:t>When </a:t>
            </a:r>
            <a:r>
              <a:rPr dirty="0" sz="1200" spc="-5">
                <a:latin typeface="Times New Roman"/>
                <a:cs typeface="Times New Roman"/>
              </a:rPr>
              <a:t>there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is</a:t>
            </a:r>
            <a:r>
              <a:rPr dirty="0" sz="1200">
                <a:latin typeface="Times New Roman"/>
                <a:cs typeface="Times New Roman"/>
              </a:rPr>
              <a:t> a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token</a:t>
            </a:r>
            <a:r>
              <a:rPr dirty="0" sz="1200">
                <a:latin typeface="Times New Roman"/>
                <a:cs typeface="Times New Roman"/>
              </a:rPr>
              <a:t> on</a:t>
            </a:r>
            <a:r>
              <a:rPr dirty="0" sz="1200" spc="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every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incoming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edge</a:t>
            </a:r>
            <a:r>
              <a:rPr dirty="0" sz="1200" spc="-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of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action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node,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it </a:t>
            </a:r>
            <a:r>
              <a:rPr dirty="0" sz="1200" spc="-5">
                <a:latin typeface="Times New Roman"/>
                <a:cs typeface="Times New Roman"/>
              </a:rPr>
              <a:t>consumes</a:t>
            </a:r>
            <a:r>
              <a:rPr dirty="0" sz="1200" spc="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them </a:t>
            </a:r>
            <a:r>
              <a:rPr dirty="0" sz="1200" spc="-5">
                <a:latin typeface="Times New Roman"/>
                <a:cs typeface="Times New Roman"/>
              </a:rPr>
              <a:t>and </a:t>
            </a:r>
            <a:r>
              <a:rPr dirty="0" sz="1200" spc="-28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begins execution.</a:t>
            </a:r>
            <a:endParaRPr sz="1200">
              <a:latin typeface="Times New Roman"/>
              <a:cs typeface="Times New Roman"/>
            </a:endParaRPr>
          </a:p>
          <a:p>
            <a:pPr marL="469265" marR="168910" indent="-228600">
              <a:lnSpc>
                <a:spcPct val="102499"/>
              </a:lnSpc>
              <a:spcBef>
                <a:spcPts val="815"/>
              </a:spcBef>
              <a:buFont typeface="Microsoft Sans Serif"/>
              <a:buChar char=""/>
              <a:tabLst>
                <a:tab pos="469265" algn="l"/>
                <a:tab pos="469900" algn="l"/>
              </a:tabLst>
            </a:pPr>
            <a:r>
              <a:rPr dirty="0" sz="1200">
                <a:latin typeface="Times New Roman"/>
                <a:cs typeface="Times New Roman"/>
              </a:rPr>
              <a:t>When </a:t>
            </a:r>
            <a:r>
              <a:rPr dirty="0" sz="1200" spc="-5">
                <a:latin typeface="Times New Roman"/>
                <a:cs typeface="Times New Roman"/>
              </a:rPr>
              <a:t>an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action</a:t>
            </a:r>
            <a:r>
              <a:rPr dirty="0" sz="1200">
                <a:latin typeface="Times New Roman"/>
                <a:cs typeface="Times New Roman"/>
              </a:rPr>
              <a:t> node completes </a:t>
            </a:r>
            <a:r>
              <a:rPr dirty="0" sz="1200" spc="-5">
                <a:latin typeface="Times New Roman"/>
                <a:cs typeface="Times New Roman"/>
              </a:rPr>
              <a:t>execution,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it </a:t>
            </a:r>
            <a:r>
              <a:rPr dirty="0" sz="1200" spc="-5">
                <a:latin typeface="Times New Roman"/>
                <a:cs typeface="Times New Roman"/>
              </a:rPr>
              <a:t>produces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tokens on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each</a:t>
            </a:r>
            <a:r>
              <a:rPr dirty="0" sz="1200">
                <a:latin typeface="Times New Roman"/>
                <a:cs typeface="Times New Roman"/>
              </a:rPr>
              <a:t> of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its </a:t>
            </a:r>
            <a:r>
              <a:rPr dirty="0" sz="1200" spc="-5">
                <a:latin typeface="Times New Roman"/>
                <a:cs typeface="Times New Roman"/>
              </a:rPr>
              <a:t>outgoing </a:t>
            </a:r>
            <a:r>
              <a:rPr dirty="0" sz="1200" spc="-28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edges.</a:t>
            </a:r>
            <a:endParaRPr sz="12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855"/>
              </a:spcBef>
              <a:buFont typeface="Microsoft Sans Serif"/>
              <a:buChar char=""/>
              <a:tabLst>
                <a:tab pos="469265" algn="l"/>
                <a:tab pos="469900" algn="l"/>
              </a:tabLst>
            </a:pPr>
            <a:r>
              <a:rPr dirty="0" sz="1200" spc="-5">
                <a:latin typeface="Times New Roman"/>
                <a:cs typeface="Times New Roman"/>
              </a:rPr>
              <a:t>An</a:t>
            </a:r>
            <a:r>
              <a:rPr dirty="0" sz="1200">
                <a:latin typeface="Times New Roman"/>
                <a:cs typeface="Times New Roman"/>
              </a:rPr>
              <a:t> initial node </a:t>
            </a:r>
            <a:r>
              <a:rPr dirty="0" sz="1200" spc="-5">
                <a:latin typeface="Times New Roman"/>
                <a:cs typeface="Times New Roman"/>
              </a:rPr>
              <a:t>produces</a:t>
            </a:r>
            <a:r>
              <a:rPr dirty="0" sz="1200" spc="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 token on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each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outgoing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edge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when</a:t>
            </a:r>
            <a:r>
              <a:rPr dirty="0" sz="1200" spc="1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an</a:t>
            </a:r>
            <a:r>
              <a:rPr dirty="0" sz="1200">
                <a:latin typeface="Times New Roman"/>
                <a:cs typeface="Times New Roman"/>
              </a:rPr>
              <a:t> activity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begins.</a:t>
            </a:r>
            <a:endParaRPr sz="1200">
              <a:latin typeface="Times New Roman"/>
              <a:cs typeface="Times New Roman"/>
            </a:endParaRPr>
          </a:p>
          <a:p>
            <a:pPr marL="469265" marR="5080" indent="-228600">
              <a:lnSpc>
                <a:spcPct val="102499"/>
              </a:lnSpc>
              <a:spcBef>
                <a:spcPts val="830"/>
              </a:spcBef>
              <a:buFont typeface="Microsoft Sans Serif"/>
              <a:buChar char=""/>
              <a:tabLst>
                <a:tab pos="469265" algn="l"/>
                <a:tab pos="469900" algn="l"/>
              </a:tabLst>
            </a:pPr>
            <a:r>
              <a:rPr dirty="0" sz="1200" spc="-5">
                <a:latin typeface="Times New Roman"/>
                <a:cs typeface="Times New Roman"/>
              </a:rPr>
              <a:t>An </a:t>
            </a:r>
            <a:r>
              <a:rPr dirty="0" sz="1200">
                <a:latin typeface="Times New Roman"/>
                <a:cs typeface="Times New Roman"/>
              </a:rPr>
              <a:t>activity final node </a:t>
            </a:r>
            <a:r>
              <a:rPr dirty="0" sz="1200" spc="-5">
                <a:latin typeface="Times New Roman"/>
                <a:cs typeface="Times New Roman"/>
              </a:rPr>
              <a:t>consumes </a:t>
            </a:r>
            <a:r>
              <a:rPr dirty="0" sz="1200">
                <a:latin typeface="Times New Roman"/>
                <a:cs typeface="Times New Roman"/>
              </a:rPr>
              <a:t>a token </a:t>
            </a:r>
            <a:r>
              <a:rPr dirty="0" sz="1200" spc="-5">
                <a:latin typeface="Times New Roman"/>
                <a:cs typeface="Times New Roman"/>
              </a:rPr>
              <a:t>available </a:t>
            </a:r>
            <a:r>
              <a:rPr dirty="0" sz="1200">
                <a:latin typeface="Times New Roman"/>
                <a:cs typeface="Times New Roman"/>
              </a:rPr>
              <a:t>on any incoming </a:t>
            </a:r>
            <a:r>
              <a:rPr dirty="0" sz="1200" spc="-5">
                <a:latin typeface="Times New Roman"/>
                <a:cs typeface="Times New Roman"/>
              </a:rPr>
              <a:t>edge </a:t>
            </a:r>
            <a:r>
              <a:rPr dirty="0" sz="1200">
                <a:latin typeface="Times New Roman"/>
                <a:cs typeface="Times New Roman"/>
              </a:rPr>
              <a:t>and </a:t>
            </a:r>
            <a:r>
              <a:rPr dirty="0" sz="1200" spc="-5">
                <a:latin typeface="Times New Roman"/>
                <a:cs typeface="Times New Roman"/>
              </a:rPr>
              <a:t>terminates </a:t>
            </a:r>
            <a:r>
              <a:rPr dirty="0" sz="1200" spc="-28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</a:t>
            </a:r>
            <a:r>
              <a:rPr dirty="0" sz="1200" spc="-5">
                <a:latin typeface="Times New Roman"/>
                <a:cs typeface="Times New Roman"/>
              </a:rPr>
              <a:t> activity.</a:t>
            </a:r>
            <a:endParaRPr sz="1200">
              <a:latin typeface="Times New Roman"/>
              <a:cs typeface="Times New Roman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2353040" y="1557908"/>
            <a:ext cx="2797175" cy="3686175"/>
            <a:chOff x="2353040" y="1557908"/>
            <a:chExt cx="2797175" cy="368617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353040" y="1557908"/>
              <a:ext cx="2466633" cy="3686174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3619118" y="1642871"/>
              <a:ext cx="1524635" cy="3487420"/>
            </a:xfrm>
            <a:custGeom>
              <a:avLst/>
              <a:gdLst/>
              <a:ahLst/>
              <a:cxnLst/>
              <a:rect l="l" t="t" r="r" b="b"/>
              <a:pathLst>
                <a:path w="1524635" h="3487420">
                  <a:moveTo>
                    <a:pt x="1439036" y="0"/>
                  </a:moveTo>
                  <a:lnTo>
                    <a:pt x="1439036" y="342900"/>
                  </a:lnTo>
                </a:path>
                <a:path w="1524635" h="3487420">
                  <a:moveTo>
                    <a:pt x="1439036" y="114300"/>
                  </a:moveTo>
                  <a:lnTo>
                    <a:pt x="761" y="123825"/>
                  </a:lnTo>
                </a:path>
                <a:path w="1524635" h="3487420">
                  <a:moveTo>
                    <a:pt x="1400936" y="609600"/>
                  </a:moveTo>
                  <a:lnTo>
                    <a:pt x="1400936" y="952500"/>
                  </a:lnTo>
                </a:path>
                <a:path w="1524635" h="3487420">
                  <a:moveTo>
                    <a:pt x="1400936" y="723900"/>
                  </a:moveTo>
                  <a:lnTo>
                    <a:pt x="400811" y="723900"/>
                  </a:lnTo>
                </a:path>
                <a:path w="1524635" h="3487420">
                  <a:moveTo>
                    <a:pt x="1524380" y="1514855"/>
                  </a:moveTo>
                  <a:lnTo>
                    <a:pt x="1524380" y="1857755"/>
                  </a:lnTo>
                </a:path>
                <a:path w="1524635" h="3487420">
                  <a:moveTo>
                    <a:pt x="1524380" y="1629155"/>
                  </a:moveTo>
                  <a:lnTo>
                    <a:pt x="1191005" y="1638680"/>
                  </a:lnTo>
                </a:path>
                <a:path w="1524635" h="3487420">
                  <a:moveTo>
                    <a:pt x="1419225" y="2229612"/>
                  </a:moveTo>
                  <a:lnTo>
                    <a:pt x="1419225" y="2572512"/>
                  </a:lnTo>
                </a:path>
                <a:path w="1524635" h="3487420">
                  <a:moveTo>
                    <a:pt x="1419225" y="2343912"/>
                  </a:moveTo>
                  <a:lnTo>
                    <a:pt x="0" y="2339086"/>
                  </a:lnTo>
                </a:path>
                <a:path w="1524635" h="3487420">
                  <a:moveTo>
                    <a:pt x="1439036" y="3144012"/>
                  </a:moveTo>
                  <a:lnTo>
                    <a:pt x="1439036" y="3486912"/>
                  </a:lnTo>
                </a:path>
                <a:path w="1524635" h="3487420">
                  <a:moveTo>
                    <a:pt x="1439036" y="3258312"/>
                  </a:moveTo>
                  <a:lnTo>
                    <a:pt x="86486" y="3296412"/>
                  </a:lnTo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/>
          <p:nvPr/>
        </p:nvSpPr>
        <p:spPr>
          <a:xfrm>
            <a:off x="7744206" y="1999488"/>
            <a:ext cx="28575" cy="12700"/>
          </a:xfrm>
          <a:custGeom>
            <a:avLst/>
            <a:gdLst/>
            <a:ahLst/>
            <a:cxnLst/>
            <a:rect l="l" t="t" r="r" b="b"/>
            <a:pathLst>
              <a:path w="28575" h="12700">
                <a:moveTo>
                  <a:pt x="0" y="12192"/>
                </a:moveTo>
                <a:lnTo>
                  <a:pt x="28194" y="12192"/>
                </a:lnTo>
                <a:lnTo>
                  <a:pt x="28194" y="0"/>
                </a:lnTo>
                <a:lnTo>
                  <a:pt x="0" y="0"/>
                </a:lnTo>
                <a:lnTo>
                  <a:pt x="0" y="1219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7677531" y="6484570"/>
            <a:ext cx="95250" cy="635"/>
          </a:xfrm>
          <a:custGeom>
            <a:avLst/>
            <a:gdLst/>
            <a:ahLst/>
            <a:cxnLst/>
            <a:rect l="l" t="t" r="r" b="b"/>
            <a:pathLst>
              <a:path w="95250" h="635">
                <a:moveTo>
                  <a:pt x="-6096" y="88"/>
                </a:moveTo>
                <a:lnTo>
                  <a:pt x="100965" y="88"/>
                </a:lnTo>
              </a:path>
            </a:pathLst>
          </a:custGeom>
          <a:ln w="1236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7744206" y="8295131"/>
            <a:ext cx="28575" cy="12700"/>
          </a:xfrm>
          <a:custGeom>
            <a:avLst/>
            <a:gdLst/>
            <a:ahLst/>
            <a:cxnLst/>
            <a:rect l="l" t="t" r="r" b="b"/>
            <a:pathLst>
              <a:path w="28575" h="12700">
                <a:moveTo>
                  <a:pt x="0" y="12192"/>
                </a:moveTo>
                <a:lnTo>
                  <a:pt x="28194" y="12192"/>
                </a:lnTo>
                <a:lnTo>
                  <a:pt x="28194" y="0"/>
                </a:lnTo>
                <a:lnTo>
                  <a:pt x="0" y="0"/>
                </a:lnTo>
                <a:lnTo>
                  <a:pt x="0" y="1219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5181980" y="1683766"/>
            <a:ext cx="2038350" cy="34740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</a:pPr>
            <a:r>
              <a:rPr dirty="0" sz="2000" spc="-5">
                <a:latin typeface="Tahoma"/>
                <a:cs typeface="Tahoma"/>
              </a:rPr>
              <a:t>initial</a:t>
            </a:r>
            <a:r>
              <a:rPr dirty="0" sz="2000" spc="-3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node</a:t>
            </a:r>
            <a:endParaRPr sz="20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9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dirty="0" sz="2000">
                <a:latin typeface="Tahoma"/>
                <a:cs typeface="Tahoma"/>
              </a:rPr>
              <a:t>action</a:t>
            </a:r>
            <a:r>
              <a:rPr dirty="0" sz="2000" spc="-40">
                <a:latin typeface="Tahoma"/>
                <a:cs typeface="Tahoma"/>
              </a:rPr>
              <a:t> </a:t>
            </a:r>
            <a:r>
              <a:rPr dirty="0" sz="2000" spc="-5">
                <a:latin typeface="Tahoma"/>
                <a:cs typeface="Tahoma"/>
              </a:rPr>
              <a:t>node</a:t>
            </a:r>
            <a:endParaRPr sz="2000">
              <a:latin typeface="Tahoma"/>
              <a:cs typeface="Tahoma"/>
            </a:endParaRPr>
          </a:p>
          <a:p>
            <a:pPr marL="30480" marR="238125" indent="104775">
              <a:lnSpc>
                <a:spcPct val="234500"/>
              </a:lnSpc>
              <a:spcBef>
                <a:spcPts val="1490"/>
              </a:spcBef>
            </a:pPr>
            <a:r>
              <a:rPr dirty="0" sz="2000" spc="-5">
                <a:latin typeface="Tahoma"/>
                <a:cs typeface="Tahoma"/>
              </a:rPr>
              <a:t>activity</a:t>
            </a:r>
            <a:r>
              <a:rPr dirty="0" sz="2000" spc="-75">
                <a:latin typeface="Tahoma"/>
                <a:cs typeface="Tahoma"/>
              </a:rPr>
              <a:t> </a:t>
            </a:r>
            <a:r>
              <a:rPr dirty="0" sz="2000" spc="-5">
                <a:latin typeface="Tahoma"/>
                <a:cs typeface="Tahoma"/>
              </a:rPr>
              <a:t>symbol </a:t>
            </a:r>
            <a:r>
              <a:rPr dirty="0" sz="2000" spc="-610">
                <a:latin typeface="Tahoma"/>
                <a:cs typeface="Tahoma"/>
              </a:rPr>
              <a:t> </a:t>
            </a:r>
            <a:r>
              <a:rPr dirty="0" sz="2000" spc="-5">
                <a:latin typeface="Tahoma"/>
                <a:cs typeface="Tahoma"/>
              </a:rPr>
              <a:t>activity</a:t>
            </a:r>
            <a:r>
              <a:rPr dirty="0" sz="2000" spc="-15">
                <a:latin typeface="Tahoma"/>
                <a:cs typeface="Tahoma"/>
              </a:rPr>
              <a:t> </a:t>
            </a:r>
            <a:r>
              <a:rPr dirty="0" sz="2000" spc="-5">
                <a:latin typeface="Tahoma"/>
                <a:cs typeface="Tahoma"/>
              </a:rPr>
              <a:t>edge</a:t>
            </a:r>
            <a:endParaRPr sz="20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2400">
              <a:latin typeface="Tahoma"/>
              <a:cs typeface="Tahoma"/>
            </a:endParaRPr>
          </a:p>
          <a:p>
            <a:pPr marL="50800">
              <a:lnSpc>
                <a:spcPct val="100000"/>
              </a:lnSpc>
              <a:spcBef>
                <a:spcPts val="1905"/>
              </a:spcBef>
            </a:pPr>
            <a:r>
              <a:rPr dirty="0" sz="2000" spc="-5">
                <a:latin typeface="Tahoma"/>
                <a:cs typeface="Tahoma"/>
              </a:rPr>
              <a:t>activity</a:t>
            </a:r>
            <a:r>
              <a:rPr dirty="0" sz="2000" spc="-25">
                <a:latin typeface="Tahoma"/>
                <a:cs typeface="Tahoma"/>
              </a:rPr>
              <a:t> </a:t>
            </a:r>
            <a:r>
              <a:rPr dirty="0" sz="2000" spc="-5">
                <a:latin typeface="Tahoma"/>
                <a:cs typeface="Tahoma"/>
              </a:rPr>
              <a:t>final</a:t>
            </a:r>
            <a:r>
              <a:rPr dirty="0" sz="2000" spc="-3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node</a:t>
            </a:r>
            <a:endParaRPr sz="20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5299328"/>
            <a:ext cx="117348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 b="1">
                <a:latin typeface="Times New Roman"/>
                <a:cs typeface="Times New Roman"/>
              </a:rPr>
              <a:t>Branching</a:t>
            </a:r>
            <a:r>
              <a:rPr dirty="0" sz="1200" spc="-35" b="1">
                <a:latin typeface="Times New Roman"/>
                <a:cs typeface="Times New Roman"/>
              </a:rPr>
              <a:t> </a:t>
            </a:r>
            <a:r>
              <a:rPr dirty="0" sz="1200" spc="-5" b="1">
                <a:latin typeface="Times New Roman"/>
                <a:cs typeface="Times New Roman"/>
              </a:rPr>
              <a:t>nodes:</a:t>
            </a:r>
            <a:endParaRPr sz="12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94269" y="984260"/>
            <a:ext cx="2583860" cy="3862302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2197607" y="5646885"/>
            <a:ext cx="3202305" cy="2995295"/>
            <a:chOff x="2197607" y="5646885"/>
            <a:chExt cx="3202305" cy="2995295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89413" y="5646885"/>
              <a:ext cx="2177324" cy="2995285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4376927" y="7202042"/>
              <a:ext cx="1009650" cy="371475"/>
            </a:xfrm>
            <a:custGeom>
              <a:avLst/>
              <a:gdLst/>
              <a:ahLst/>
              <a:cxnLst/>
              <a:rect l="l" t="t" r="r" b="b"/>
              <a:pathLst>
                <a:path w="1009650" h="371475">
                  <a:moveTo>
                    <a:pt x="1009650" y="28574"/>
                  </a:moveTo>
                  <a:lnTo>
                    <a:pt x="1009650" y="371474"/>
                  </a:lnTo>
                </a:path>
                <a:path w="1009650" h="371475">
                  <a:moveTo>
                    <a:pt x="1009650" y="142874"/>
                  </a:moveTo>
                  <a:lnTo>
                    <a:pt x="0" y="0"/>
                  </a:lnTo>
                </a:path>
              </a:pathLst>
            </a:custGeom>
            <a:ln w="259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4068317" y="7415022"/>
              <a:ext cx="1309370" cy="128270"/>
            </a:xfrm>
            <a:custGeom>
              <a:avLst/>
              <a:gdLst/>
              <a:ahLst/>
              <a:cxnLst/>
              <a:rect l="l" t="t" r="r" b="b"/>
              <a:pathLst>
                <a:path w="1309370" h="128270">
                  <a:moveTo>
                    <a:pt x="1309370" y="0"/>
                  </a:moveTo>
                  <a:lnTo>
                    <a:pt x="0" y="128269"/>
                  </a:lnTo>
                </a:path>
              </a:pathLst>
            </a:custGeom>
            <a:ln w="289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2210561" y="6240017"/>
              <a:ext cx="1543050" cy="1533525"/>
            </a:xfrm>
            <a:custGeom>
              <a:avLst/>
              <a:gdLst/>
              <a:ahLst/>
              <a:cxnLst/>
              <a:rect l="l" t="t" r="r" b="b"/>
              <a:pathLst>
                <a:path w="1543050" h="1533525">
                  <a:moveTo>
                    <a:pt x="0" y="961644"/>
                  </a:moveTo>
                  <a:lnTo>
                    <a:pt x="0" y="1533144"/>
                  </a:lnTo>
                </a:path>
                <a:path w="1543050" h="1533525">
                  <a:moveTo>
                    <a:pt x="0" y="1075944"/>
                  </a:moveTo>
                  <a:lnTo>
                    <a:pt x="1533525" y="1056894"/>
                  </a:lnTo>
                </a:path>
                <a:path w="1543050" h="1533525">
                  <a:moveTo>
                    <a:pt x="0" y="0"/>
                  </a:moveTo>
                  <a:lnTo>
                    <a:pt x="0" y="571500"/>
                  </a:lnTo>
                </a:path>
                <a:path w="1543050" h="1533525">
                  <a:moveTo>
                    <a:pt x="0" y="114300"/>
                  </a:moveTo>
                  <a:lnTo>
                    <a:pt x="1543050" y="0"/>
                  </a:lnTo>
                </a:path>
              </a:pathLst>
            </a:custGeom>
            <a:ln w="259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5555360" y="7276338"/>
            <a:ext cx="65595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latin typeface="Tahoma"/>
                <a:cs typeface="Tahoma"/>
              </a:rPr>
              <a:t>G</a:t>
            </a:r>
            <a:r>
              <a:rPr dirty="0" sz="1600" spc="-5">
                <a:latin typeface="Tahoma"/>
                <a:cs typeface="Tahoma"/>
              </a:rPr>
              <a:t>ua</a:t>
            </a:r>
            <a:r>
              <a:rPr dirty="0" sz="1600" spc="-20">
                <a:latin typeface="Tahoma"/>
                <a:cs typeface="Tahoma"/>
              </a:rPr>
              <a:t>r</a:t>
            </a:r>
            <a:r>
              <a:rPr dirty="0" sz="1600" spc="-5">
                <a:latin typeface="Tahoma"/>
                <a:cs typeface="Tahoma"/>
              </a:rPr>
              <a:t>ds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272286" y="7247381"/>
            <a:ext cx="769620" cy="5143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r" marR="508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latin typeface="Tahoma"/>
                <a:cs typeface="Tahoma"/>
              </a:rPr>
              <a:t>De</a:t>
            </a:r>
            <a:r>
              <a:rPr dirty="0" sz="1600">
                <a:latin typeface="Tahoma"/>
                <a:cs typeface="Tahoma"/>
              </a:rPr>
              <a:t>c</a:t>
            </a:r>
            <a:r>
              <a:rPr dirty="0" sz="1600" spc="-10">
                <a:latin typeface="Tahoma"/>
                <a:cs typeface="Tahoma"/>
              </a:rPr>
              <a:t>i</a:t>
            </a:r>
            <a:r>
              <a:rPr dirty="0" sz="1600">
                <a:latin typeface="Tahoma"/>
                <a:cs typeface="Tahoma"/>
              </a:rPr>
              <a:t>s</a:t>
            </a:r>
            <a:r>
              <a:rPr dirty="0" sz="1600" spc="-10">
                <a:latin typeface="Tahoma"/>
                <a:cs typeface="Tahoma"/>
              </a:rPr>
              <a:t>i</a:t>
            </a:r>
            <a:r>
              <a:rPr dirty="0" sz="1600" spc="-5">
                <a:latin typeface="Tahoma"/>
                <a:cs typeface="Tahoma"/>
              </a:rPr>
              <a:t>on</a:t>
            </a:r>
            <a:endParaRPr sz="1600">
              <a:latin typeface="Tahoma"/>
              <a:cs typeface="Tahoma"/>
            </a:endParaRPr>
          </a:p>
          <a:p>
            <a:pPr algn="r" marR="6985">
              <a:lnSpc>
                <a:spcPct val="100000"/>
              </a:lnSpc>
              <a:spcBef>
                <a:spcPts val="10"/>
              </a:spcBef>
            </a:pPr>
            <a:r>
              <a:rPr dirty="0" sz="1600" spc="-5">
                <a:latin typeface="Tahoma"/>
                <a:cs typeface="Tahoma"/>
              </a:rPr>
              <a:t>node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462786" y="6285357"/>
            <a:ext cx="579120" cy="514350"/>
          </a:xfrm>
          <a:prstGeom prst="rect">
            <a:avLst/>
          </a:prstGeom>
        </p:spPr>
        <p:txBody>
          <a:bodyPr wrap="square" lIns="0" tIns="10795" rIns="0" bIns="0" rtlCol="0" vert="horz">
            <a:spAutoFit/>
          </a:bodyPr>
          <a:lstStyle/>
          <a:p>
            <a:pPr marL="121920" marR="5080" indent="-109855">
              <a:lnSpc>
                <a:spcPct val="100600"/>
              </a:lnSpc>
              <a:spcBef>
                <a:spcPts val="85"/>
              </a:spcBef>
            </a:pPr>
            <a:r>
              <a:rPr dirty="0" sz="1600" spc="-15">
                <a:latin typeface="Tahoma"/>
                <a:cs typeface="Tahoma"/>
              </a:rPr>
              <a:t>M</a:t>
            </a:r>
            <a:r>
              <a:rPr dirty="0" sz="1600" spc="-10">
                <a:latin typeface="Tahoma"/>
                <a:cs typeface="Tahoma"/>
              </a:rPr>
              <a:t>e</a:t>
            </a:r>
            <a:r>
              <a:rPr dirty="0" sz="1600" spc="-20">
                <a:latin typeface="Tahoma"/>
                <a:cs typeface="Tahoma"/>
              </a:rPr>
              <a:t>r</a:t>
            </a:r>
            <a:r>
              <a:rPr dirty="0" sz="1600">
                <a:latin typeface="Tahoma"/>
                <a:cs typeface="Tahoma"/>
              </a:rPr>
              <a:t>g</a:t>
            </a:r>
            <a:r>
              <a:rPr dirty="0" sz="1600" spc="-5">
                <a:latin typeface="Tahoma"/>
                <a:cs typeface="Tahoma"/>
              </a:rPr>
              <a:t>e  n</a:t>
            </a:r>
            <a:r>
              <a:rPr dirty="0" sz="1600" spc="-10">
                <a:latin typeface="Tahoma"/>
                <a:cs typeface="Tahoma"/>
              </a:rPr>
              <a:t>o</a:t>
            </a:r>
            <a:r>
              <a:rPr dirty="0" sz="1600" spc="-5">
                <a:latin typeface="Tahoma"/>
                <a:cs typeface="Tahoma"/>
              </a:rPr>
              <a:t>de</a:t>
            </a:r>
            <a:endParaRPr sz="16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782573"/>
            <a:ext cx="5908675" cy="2625090"/>
          </a:xfrm>
          <a:prstGeom prst="rect">
            <a:avLst/>
          </a:prstGeom>
        </p:spPr>
        <p:txBody>
          <a:bodyPr wrap="square" lIns="0" tIns="1193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40"/>
              </a:spcBef>
            </a:pPr>
            <a:r>
              <a:rPr dirty="0" sz="1200" spc="-5" b="1">
                <a:latin typeface="Times New Roman"/>
                <a:cs typeface="Times New Roman"/>
              </a:rPr>
              <a:t>Branching</a:t>
            </a:r>
            <a:r>
              <a:rPr dirty="0" sz="1200" spc="-10" b="1">
                <a:latin typeface="Times New Roman"/>
                <a:cs typeface="Times New Roman"/>
              </a:rPr>
              <a:t> </a:t>
            </a:r>
            <a:r>
              <a:rPr dirty="0" sz="1200" spc="-5" b="1">
                <a:latin typeface="Times New Roman"/>
                <a:cs typeface="Times New Roman"/>
              </a:rPr>
              <a:t>execution:</a:t>
            </a:r>
            <a:endParaRPr sz="1200">
              <a:latin typeface="Times New Roman"/>
              <a:cs typeface="Times New Roman"/>
            </a:endParaRPr>
          </a:p>
          <a:p>
            <a:pPr marL="469265" marR="100330" indent="-228600">
              <a:lnSpc>
                <a:spcPct val="102499"/>
              </a:lnSpc>
              <a:spcBef>
                <a:spcPts val="805"/>
              </a:spcBef>
              <a:buFont typeface="Microsoft Sans Serif"/>
              <a:buChar char=""/>
              <a:tabLst>
                <a:tab pos="469265" algn="l"/>
                <a:tab pos="469900" algn="l"/>
              </a:tabLst>
            </a:pPr>
            <a:r>
              <a:rPr dirty="0" sz="1200" spc="-10">
                <a:latin typeface="Times New Roman"/>
                <a:cs typeface="Times New Roman"/>
              </a:rPr>
              <a:t>If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 token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is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made</a:t>
            </a:r>
            <a:r>
              <a:rPr dirty="0" sz="1200" spc="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available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on the incoming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edge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of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 decision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node,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 token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is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made </a:t>
            </a:r>
            <a:r>
              <a:rPr dirty="0" sz="1200" spc="-28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available</a:t>
            </a:r>
            <a:r>
              <a:rPr dirty="0" sz="1200">
                <a:latin typeface="Times New Roman"/>
                <a:cs typeface="Times New Roman"/>
              </a:rPr>
              <a:t> on the</a:t>
            </a:r>
            <a:r>
              <a:rPr dirty="0" sz="1200" spc="-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outgoing </a:t>
            </a:r>
            <a:r>
              <a:rPr dirty="0" sz="1200" spc="-5">
                <a:latin typeface="Times New Roman"/>
                <a:cs typeface="Times New Roman"/>
              </a:rPr>
              <a:t>edge whose guard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is</a:t>
            </a:r>
            <a:r>
              <a:rPr dirty="0" sz="1200">
                <a:latin typeface="Times New Roman"/>
                <a:cs typeface="Times New Roman"/>
              </a:rPr>
              <a:t> true.</a:t>
            </a:r>
            <a:endParaRPr sz="1200">
              <a:latin typeface="Times New Roman"/>
              <a:cs typeface="Times New Roman"/>
            </a:endParaRPr>
          </a:p>
          <a:p>
            <a:pPr marL="469265" marR="76835" indent="-228600">
              <a:lnSpc>
                <a:spcPct val="102499"/>
              </a:lnSpc>
              <a:spcBef>
                <a:spcPts val="830"/>
              </a:spcBef>
              <a:buFont typeface="Microsoft Sans Serif"/>
              <a:buChar char=""/>
              <a:tabLst>
                <a:tab pos="469265" algn="l"/>
                <a:tab pos="469900" algn="l"/>
              </a:tabLst>
            </a:pPr>
            <a:r>
              <a:rPr dirty="0" sz="1200" spc="-10">
                <a:latin typeface="Times New Roman"/>
                <a:cs typeface="Times New Roman"/>
              </a:rPr>
              <a:t>If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 token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is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available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on</a:t>
            </a:r>
            <a:r>
              <a:rPr dirty="0" sz="1200" spc="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any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incoming </a:t>
            </a:r>
            <a:r>
              <a:rPr dirty="0" sz="1200" spc="-5">
                <a:latin typeface="Times New Roman"/>
                <a:cs typeface="Times New Roman"/>
              </a:rPr>
              <a:t>edge</a:t>
            </a:r>
            <a:r>
              <a:rPr dirty="0" sz="1200">
                <a:latin typeface="Times New Roman"/>
                <a:cs typeface="Times New Roman"/>
              </a:rPr>
              <a:t> of</a:t>
            </a:r>
            <a:r>
              <a:rPr dirty="0" sz="1200" spc="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merge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node,</a:t>
            </a:r>
            <a:r>
              <a:rPr dirty="0" sz="1200">
                <a:latin typeface="Times New Roman"/>
                <a:cs typeface="Times New Roman"/>
              </a:rPr>
              <a:t> it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is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made</a:t>
            </a:r>
            <a:r>
              <a:rPr dirty="0" sz="1200" spc="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available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on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its </a:t>
            </a:r>
            <a:r>
              <a:rPr dirty="0" sz="1200" spc="-28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outgoing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edge.</a:t>
            </a:r>
            <a:endParaRPr sz="12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840"/>
              </a:spcBef>
              <a:buFont typeface="Microsoft Sans Serif"/>
              <a:buChar char=""/>
              <a:tabLst>
                <a:tab pos="469265" algn="l"/>
                <a:tab pos="469900" algn="l"/>
              </a:tabLst>
            </a:pPr>
            <a:r>
              <a:rPr dirty="0" sz="1200" spc="-5">
                <a:latin typeface="Times New Roman"/>
                <a:cs typeface="Times New Roman"/>
              </a:rPr>
              <a:t>Guards </a:t>
            </a:r>
            <a:r>
              <a:rPr dirty="0" sz="1200">
                <a:latin typeface="Times New Roman"/>
                <a:cs typeface="Times New Roman"/>
              </a:rPr>
              <a:t>must</a:t>
            </a:r>
            <a:r>
              <a:rPr dirty="0" sz="1200" spc="-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be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mutually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exclusive.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4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200" spc="-5" b="1">
                <a:latin typeface="Times New Roman"/>
                <a:cs typeface="Times New Roman"/>
              </a:rPr>
              <a:t>Deadlocks:</a:t>
            </a:r>
            <a:endParaRPr sz="1200">
              <a:latin typeface="Times New Roman"/>
              <a:cs typeface="Times New Roman"/>
            </a:endParaRPr>
          </a:p>
          <a:p>
            <a:pPr marL="469265" marR="5080">
              <a:lnSpc>
                <a:spcPct val="102699"/>
              </a:lnSpc>
              <a:spcBef>
                <a:spcPts val="800"/>
              </a:spcBef>
            </a:pPr>
            <a:r>
              <a:rPr dirty="0" sz="1200">
                <a:latin typeface="Times New Roman"/>
                <a:cs typeface="Times New Roman"/>
              </a:rPr>
              <a:t>Run </a:t>
            </a:r>
            <a:r>
              <a:rPr dirty="0" sz="1200" spc="-5">
                <a:latin typeface="Times New Roman"/>
                <a:cs typeface="Times New Roman"/>
              </a:rPr>
              <a:t>Drier </a:t>
            </a:r>
            <a:r>
              <a:rPr dirty="0" sz="1200">
                <a:latin typeface="Times New Roman"/>
                <a:cs typeface="Times New Roman"/>
              </a:rPr>
              <a:t>cannot </a:t>
            </a:r>
            <a:r>
              <a:rPr dirty="0" sz="1200" spc="-5">
                <a:latin typeface="Times New Roman"/>
                <a:cs typeface="Times New Roman"/>
              </a:rPr>
              <a:t>execute: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when</a:t>
            </a:r>
            <a:r>
              <a:rPr dirty="0" sz="1200">
                <a:latin typeface="Times New Roman"/>
                <a:cs typeface="Times New Roman"/>
              </a:rPr>
              <a:t> the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activity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begins,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there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is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 </a:t>
            </a:r>
            <a:r>
              <a:rPr dirty="0" sz="1200" spc="-5">
                <a:latin typeface="Times New Roman"/>
                <a:cs typeface="Times New Roman"/>
              </a:rPr>
              <a:t>token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on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edge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from</a:t>
            </a:r>
            <a:r>
              <a:rPr dirty="0" sz="1200">
                <a:latin typeface="Times New Roman"/>
                <a:cs typeface="Times New Roman"/>
              </a:rPr>
              <a:t> the </a:t>
            </a:r>
            <a:r>
              <a:rPr dirty="0" sz="1200" spc="-28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initial </a:t>
            </a:r>
            <a:r>
              <a:rPr dirty="0" sz="1200">
                <a:latin typeface="Times New Roman"/>
                <a:cs typeface="Times New Roman"/>
              </a:rPr>
              <a:t>node but not on </a:t>
            </a:r>
            <a:r>
              <a:rPr dirty="0" sz="1200" spc="-5">
                <a:latin typeface="Times New Roman"/>
                <a:cs typeface="Times New Roman"/>
              </a:rPr>
              <a:t>the </a:t>
            </a:r>
            <a:r>
              <a:rPr dirty="0" sz="1200">
                <a:latin typeface="Times New Roman"/>
                <a:cs typeface="Times New Roman"/>
              </a:rPr>
              <a:t>other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incoming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edge.</a:t>
            </a:r>
            <a:endParaRPr sz="1200">
              <a:latin typeface="Times New Roman"/>
              <a:cs typeface="Times New Roman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37160" y="3848104"/>
            <a:ext cx="5085080" cy="5588635"/>
            <a:chOff x="137160" y="3848104"/>
            <a:chExt cx="5085080" cy="558863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24237" y="3848104"/>
              <a:ext cx="2197586" cy="2625535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43256" y="4751578"/>
              <a:ext cx="4448810" cy="4679315"/>
            </a:xfrm>
            <a:custGeom>
              <a:avLst/>
              <a:gdLst/>
              <a:ahLst/>
              <a:cxnLst/>
              <a:rect l="l" t="t" r="r" b="b"/>
              <a:pathLst>
                <a:path w="4448810" h="4679315">
                  <a:moveTo>
                    <a:pt x="3562604" y="0"/>
                  </a:moveTo>
                  <a:lnTo>
                    <a:pt x="2594991" y="1830577"/>
                  </a:lnTo>
                  <a:lnTo>
                    <a:pt x="0" y="1830577"/>
                  </a:lnTo>
                  <a:lnTo>
                    <a:pt x="0" y="4678934"/>
                  </a:lnTo>
                  <a:lnTo>
                    <a:pt x="4448556" y="4678934"/>
                  </a:lnTo>
                  <a:lnTo>
                    <a:pt x="4448556" y="1830577"/>
                  </a:lnTo>
                  <a:lnTo>
                    <a:pt x="3707130" y="1830577"/>
                  </a:lnTo>
                  <a:lnTo>
                    <a:pt x="3562604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143256" y="4751578"/>
              <a:ext cx="4448810" cy="4679315"/>
            </a:xfrm>
            <a:custGeom>
              <a:avLst/>
              <a:gdLst/>
              <a:ahLst/>
              <a:cxnLst/>
              <a:rect l="l" t="t" r="r" b="b"/>
              <a:pathLst>
                <a:path w="4448810" h="4679315">
                  <a:moveTo>
                    <a:pt x="0" y="1830577"/>
                  </a:moveTo>
                  <a:lnTo>
                    <a:pt x="2594991" y="1830577"/>
                  </a:lnTo>
                  <a:lnTo>
                    <a:pt x="3562604" y="0"/>
                  </a:lnTo>
                  <a:lnTo>
                    <a:pt x="3707130" y="1830577"/>
                  </a:lnTo>
                  <a:lnTo>
                    <a:pt x="4448556" y="1830577"/>
                  </a:lnTo>
                  <a:lnTo>
                    <a:pt x="4448556" y="2305304"/>
                  </a:lnTo>
                  <a:lnTo>
                    <a:pt x="4448556" y="3017393"/>
                  </a:lnTo>
                  <a:lnTo>
                    <a:pt x="4448556" y="4678934"/>
                  </a:lnTo>
                  <a:lnTo>
                    <a:pt x="3707130" y="4678934"/>
                  </a:lnTo>
                  <a:lnTo>
                    <a:pt x="2594991" y="4678934"/>
                  </a:lnTo>
                  <a:lnTo>
                    <a:pt x="0" y="4678934"/>
                  </a:lnTo>
                  <a:lnTo>
                    <a:pt x="0" y="3017393"/>
                  </a:lnTo>
                  <a:lnTo>
                    <a:pt x="0" y="2305304"/>
                  </a:lnTo>
                  <a:lnTo>
                    <a:pt x="0" y="1830577"/>
                  </a:lnTo>
                  <a:close/>
                </a:path>
              </a:pathLst>
            </a:custGeom>
            <a:ln w="12192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/>
          <p:nvPr/>
        </p:nvSpPr>
        <p:spPr>
          <a:xfrm>
            <a:off x="228091" y="7107173"/>
            <a:ext cx="4008120" cy="1755139"/>
          </a:xfrm>
          <a:prstGeom prst="rect">
            <a:avLst/>
          </a:prstGeom>
        </p:spPr>
        <p:txBody>
          <a:bodyPr wrap="square" lIns="0" tIns="4445" rIns="0" bIns="0" rtlCol="0" vert="horz">
            <a:spAutoFit/>
          </a:bodyPr>
          <a:lstStyle/>
          <a:p>
            <a:pPr marL="12700" marR="187960">
              <a:lnSpc>
                <a:spcPct val="101800"/>
              </a:lnSpc>
              <a:spcBef>
                <a:spcPts val="35"/>
              </a:spcBef>
            </a:pPr>
            <a:r>
              <a:rPr dirty="0" sz="2800" spc="-5">
                <a:solidFill>
                  <a:srgbClr val="FFFFFF"/>
                </a:solidFill>
                <a:latin typeface="Calibri"/>
                <a:cs typeface="Calibri"/>
              </a:rPr>
              <a:t>When</a:t>
            </a:r>
            <a:r>
              <a:rPr dirty="0" sz="2800" spc="-10">
                <a:solidFill>
                  <a:srgbClr val="FFFFFF"/>
                </a:solidFill>
                <a:latin typeface="Calibri"/>
                <a:cs typeface="Calibri"/>
              </a:rPr>
              <a:t> there</a:t>
            </a:r>
            <a:r>
              <a:rPr dirty="0" sz="2800" spc="-5">
                <a:solidFill>
                  <a:srgbClr val="FFFFFF"/>
                </a:solidFill>
                <a:latin typeface="Calibri"/>
                <a:cs typeface="Calibri"/>
              </a:rPr>
              <a:t> is a</a:t>
            </a:r>
            <a:r>
              <a:rPr dirty="0" sz="2800" spc="-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 spc="-30">
                <a:solidFill>
                  <a:srgbClr val="FFFFFF"/>
                </a:solidFill>
                <a:latin typeface="Calibri"/>
                <a:cs typeface="Calibri"/>
              </a:rPr>
              <a:t>token</a:t>
            </a:r>
            <a:r>
              <a:rPr dirty="0" sz="2800" spc="-10">
                <a:solidFill>
                  <a:srgbClr val="FFFFFF"/>
                </a:solidFill>
                <a:latin typeface="Calibri"/>
                <a:cs typeface="Calibri"/>
              </a:rPr>
              <a:t> on </a:t>
            </a:r>
            <a:r>
              <a:rPr dirty="0" sz="2800" spc="-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FFFFFF"/>
                </a:solidFill>
                <a:latin typeface="Calibri"/>
                <a:cs typeface="Calibri"/>
              </a:rPr>
              <a:t>every </a:t>
            </a:r>
            <a:r>
              <a:rPr dirty="0" sz="2800" spc="-5">
                <a:solidFill>
                  <a:srgbClr val="FFFFFF"/>
                </a:solidFill>
                <a:latin typeface="Calibri"/>
                <a:cs typeface="Calibri"/>
              </a:rPr>
              <a:t>incoming </a:t>
            </a:r>
            <a:r>
              <a:rPr dirty="0" sz="2800" spc="-10">
                <a:solidFill>
                  <a:srgbClr val="FFFFFF"/>
                </a:solidFill>
                <a:latin typeface="Calibri"/>
                <a:cs typeface="Calibri"/>
              </a:rPr>
              <a:t>edge </a:t>
            </a:r>
            <a:r>
              <a:rPr dirty="0" sz="2800" spc="-5">
                <a:solidFill>
                  <a:srgbClr val="FFFFFF"/>
                </a:solidFill>
                <a:latin typeface="Calibri"/>
                <a:cs typeface="Calibri"/>
              </a:rPr>
              <a:t>of an </a:t>
            </a:r>
            <a:r>
              <a:rPr dirty="0" sz="2800" spc="-6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 spc="-5">
                <a:solidFill>
                  <a:srgbClr val="FFFFFF"/>
                </a:solidFill>
                <a:latin typeface="Calibri"/>
                <a:cs typeface="Calibri"/>
              </a:rPr>
              <a:t>action</a:t>
            </a:r>
            <a:r>
              <a:rPr dirty="0" sz="28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 spc="-5">
                <a:solidFill>
                  <a:srgbClr val="FFFFFF"/>
                </a:solidFill>
                <a:latin typeface="Calibri"/>
                <a:cs typeface="Calibri"/>
              </a:rPr>
              <a:t>node,</a:t>
            </a:r>
            <a:r>
              <a:rPr dirty="0" sz="2800" spc="-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 spc="-5">
                <a:solidFill>
                  <a:srgbClr val="FFFFFF"/>
                </a:solidFill>
                <a:latin typeface="Calibri"/>
                <a:cs typeface="Calibri"/>
              </a:rPr>
              <a:t>it</a:t>
            </a:r>
            <a:r>
              <a:rPr dirty="0" sz="2800" spc="-10">
                <a:solidFill>
                  <a:srgbClr val="FFFFFF"/>
                </a:solidFill>
                <a:latin typeface="Calibri"/>
                <a:cs typeface="Calibri"/>
              </a:rPr>
              <a:t> consumes</a:t>
            </a:r>
            <a:endParaRPr sz="2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 sz="2800" spc="-5">
                <a:solidFill>
                  <a:srgbClr val="FFFFFF"/>
                </a:solidFill>
                <a:latin typeface="Calibri"/>
                <a:cs typeface="Calibri"/>
              </a:rPr>
              <a:t>them</a:t>
            </a:r>
            <a:r>
              <a:rPr dirty="0" sz="2800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 spc="-5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dirty="0" sz="2800" spc="-10">
                <a:solidFill>
                  <a:srgbClr val="FFFFFF"/>
                </a:solidFill>
                <a:latin typeface="Calibri"/>
                <a:cs typeface="Calibri"/>
              </a:rPr>
              <a:t> begins</a:t>
            </a:r>
            <a:r>
              <a:rPr dirty="0" sz="2800" spc="-15">
                <a:solidFill>
                  <a:srgbClr val="FFFFFF"/>
                </a:solidFill>
                <a:latin typeface="Calibri"/>
                <a:cs typeface="Calibri"/>
              </a:rPr>
              <a:t> execution.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5404485"/>
            <a:ext cx="5883910" cy="1563370"/>
          </a:xfrm>
          <a:prstGeom prst="rect">
            <a:avLst/>
          </a:prstGeom>
        </p:spPr>
        <p:txBody>
          <a:bodyPr wrap="square" lIns="0" tIns="1193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40"/>
              </a:spcBef>
            </a:pPr>
            <a:r>
              <a:rPr dirty="0" sz="1200" spc="-5" b="1">
                <a:latin typeface="Times New Roman"/>
                <a:cs typeface="Times New Roman"/>
              </a:rPr>
              <a:t>Forks</a:t>
            </a:r>
            <a:r>
              <a:rPr dirty="0" sz="1200" spc="-20" b="1">
                <a:latin typeface="Times New Roman"/>
                <a:cs typeface="Times New Roman"/>
              </a:rPr>
              <a:t> </a:t>
            </a:r>
            <a:r>
              <a:rPr dirty="0" sz="1200" spc="-5" b="1">
                <a:latin typeface="Times New Roman"/>
                <a:cs typeface="Times New Roman"/>
              </a:rPr>
              <a:t>and</a:t>
            </a:r>
            <a:r>
              <a:rPr dirty="0" sz="1200" spc="-20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joins</a:t>
            </a:r>
            <a:r>
              <a:rPr dirty="0" sz="1200" spc="-15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execution:</a:t>
            </a:r>
            <a:endParaRPr sz="1200">
              <a:latin typeface="Times New Roman"/>
              <a:cs typeface="Times New Roman"/>
            </a:endParaRPr>
          </a:p>
          <a:p>
            <a:pPr marL="469265" marR="5080" indent="-228600">
              <a:lnSpc>
                <a:spcPct val="102499"/>
              </a:lnSpc>
              <a:spcBef>
                <a:spcPts val="800"/>
              </a:spcBef>
              <a:buFont typeface="Microsoft Sans Serif"/>
              <a:buChar char=""/>
              <a:tabLst>
                <a:tab pos="469265" algn="l"/>
                <a:tab pos="469900" algn="l"/>
              </a:tabLst>
            </a:pPr>
            <a:r>
              <a:rPr dirty="0" sz="1200" spc="-5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token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available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on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</a:t>
            </a:r>
            <a:r>
              <a:rPr dirty="0" sz="1200" spc="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incoming</a:t>
            </a:r>
            <a:r>
              <a:rPr dirty="0" sz="1200" spc="-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edge of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fork</a:t>
            </a:r>
            <a:r>
              <a:rPr dirty="0" sz="1200" spc="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node </a:t>
            </a:r>
            <a:r>
              <a:rPr dirty="0" sz="1200" spc="-5">
                <a:latin typeface="Times New Roman"/>
                <a:cs typeface="Times New Roman"/>
              </a:rPr>
              <a:t>is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reproduced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and</a:t>
            </a:r>
            <a:r>
              <a:rPr dirty="0" sz="1200" spc="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made</a:t>
            </a:r>
            <a:r>
              <a:rPr dirty="0" sz="1200" spc="-5">
                <a:latin typeface="Times New Roman"/>
                <a:cs typeface="Times New Roman"/>
              </a:rPr>
              <a:t> available </a:t>
            </a:r>
            <a:r>
              <a:rPr dirty="0" sz="1200" spc="-28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on</a:t>
            </a:r>
            <a:r>
              <a:rPr dirty="0" sz="1200" spc="-5">
                <a:latin typeface="Times New Roman"/>
                <a:cs typeface="Times New Roman"/>
              </a:rPr>
              <a:t> all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its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outgoing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edges.</a:t>
            </a:r>
            <a:endParaRPr sz="1200">
              <a:latin typeface="Times New Roman"/>
              <a:cs typeface="Times New Roman"/>
            </a:endParaRPr>
          </a:p>
          <a:p>
            <a:pPr marL="469265" marR="379730" indent="-228600">
              <a:lnSpc>
                <a:spcPct val="102499"/>
              </a:lnSpc>
              <a:spcBef>
                <a:spcPts val="830"/>
              </a:spcBef>
              <a:buFont typeface="Microsoft Sans Serif"/>
              <a:buChar char=""/>
              <a:tabLst>
                <a:tab pos="469265" algn="l"/>
                <a:tab pos="469900" algn="l"/>
              </a:tabLst>
            </a:pPr>
            <a:r>
              <a:rPr dirty="0" sz="1200">
                <a:latin typeface="Times New Roman"/>
                <a:cs typeface="Times New Roman"/>
              </a:rPr>
              <a:t>When</a:t>
            </a:r>
            <a:r>
              <a:rPr dirty="0" sz="1200" spc="-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tokens </a:t>
            </a:r>
            <a:r>
              <a:rPr dirty="0" sz="1200" spc="-5">
                <a:latin typeface="Times New Roman"/>
                <a:cs typeface="Times New Roman"/>
              </a:rPr>
              <a:t>are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available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on every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incoming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edge</a:t>
            </a:r>
            <a:r>
              <a:rPr dirty="0" sz="1200" spc="-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of a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join </a:t>
            </a:r>
            <a:r>
              <a:rPr dirty="0" sz="1200" spc="-5">
                <a:latin typeface="Times New Roman"/>
                <a:cs typeface="Times New Roman"/>
              </a:rPr>
              <a:t>node,</a:t>
            </a:r>
            <a:r>
              <a:rPr dirty="0" sz="1200">
                <a:latin typeface="Times New Roman"/>
                <a:cs typeface="Times New Roman"/>
              </a:rPr>
              <a:t> a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token </a:t>
            </a:r>
            <a:r>
              <a:rPr dirty="0" sz="1200" spc="-5">
                <a:latin typeface="Times New Roman"/>
                <a:cs typeface="Times New Roman"/>
              </a:rPr>
              <a:t>is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made </a:t>
            </a:r>
            <a:r>
              <a:rPr dirty="0" sz="1200" spc="-28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available </a:t>
            </a:r>
            <a:r>
              <a:rPr dirty="0" sz="1200">
                <a:latin typeface="Times New Roman"/>
                <a:cs typeface="Times New Roman"/>
              </a:rPr>
              <a:t>on </a:t>
            </a:r>
            <a:r>
              <a:rPr dirty="0" sz="1200" spc="-5">
                <a:latin typeface="Times New Roman"/>
                <a:cs typeface="Times New Roman"/>
              </a:rPr>
              <a:t>its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outgoing edge.</a:t>
            </a:r>
            <a:endParaRPr sz="12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850"/>
              </a:spcBef>
              <a:buFont typeface="Microsoft Sans Serif"/>
              <a:buChar char=""/>
              <a:tabLst>
                <a:tab pos="469265" algn="l"/>
                <a:tab pos="469900" algn="l"/>
              </a:tabLst>
            </a:pPr>
            <a:r>
              <a:rPr dirty="0" sz="1200">
                <a:latin typeface="Times New Roman"/>
                <a:cs typeface="Times New Roman"/>
              </a:rPr>
              <a:t>Concurrency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can </a:t>
            </a:r>
            <a:r>
              <a:rPr dirty="0" sz="1200" spc="5">
                <a:latin typeface="Times New Roman"/>
                <a:cs typeface="Times New Roman"/>
              </a:rPr>
              <a:t>be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modeled </a:t>
            </a:r>
            <a:r>
              <a:rPr dirty="0" sz="1200">
                <a:latin typeface="Times New Roman"/>
                <a:cs typeface="Times New Roman"/>
              </a:rPr>
              <a:t>without</a:t>
            </a:r>
            <a:r>
              <a:rPr dirty="0" sz="1200" spc="-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these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nodes.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451364" y="1729425"/>
            <a:ext cx="855344" cy="429259"/>
          </a:xfrm>
          <a:custGeom>
            <a:avLst/>
            <a:gdLst/>
            <a:ahLst/>
            <a:cxnLst/>
            <a:rect l="l" t="t" r="r" b="b"/>
            <a:pathLst>
              <a:path w="855345" h="429260">
                <a:moveTo>
                  <a:pt x="712816" y="428804"/>
                </a:moveTo>
                <a:lnTo>
                  <a:pt x="757863" y="421523"/>
                </a:lnTo>
                <a:lnTo>
                  <a:pt x="796977" y="401245"/>
                </a:lnTo>
                <a:lnTo>
                  <a:pt x="827814" y="370319"/>
                </a:lnTo>
                <a:lnTo>
                  <a:pt x="848035" y="331095"/>
                </a:lnTo>
                <a:lnTo>
                  <a:pt x="855295" y="285919"/>
                </a:lnTo>
                <a:lnTo>
                  <a:pt x="855295" y="142884"/>
                </a:lnTo>
                <a:lnTo>
                  <a:pt x="848035" y="97709"/>
                </a:lnTo>
                <a:lnTo>
                  <a:pt x="827814" y="58484"/>
                </a:lnTo>
                <a:lnTo>
                  <a:pt x="796977" y="27558"/>
                </a:lnTo>
                <a:lnTo>
                  <a:pt x="757863" y="7281"/>
                </a:lnTo>
                <a:lnTo>
                  <a:pt x="712816" y="0"/>
                </a:lnTo>
                <a:lnTo>
                  <a:pt x="142554" y="0"/>
                </a:lnTo>
                <a:lnTo>
                  <a:pt x="97493" y="7281"/>
                </a:lnTo>
                <a:lnTo>
                  <a:pt x="58360" y="27558"/>
                </a:lnTo>
                <a:lnTo>
                  <a:pt x="27502" y="58484"/>
                </a:lnTo>
                <a:lnTo>
                  <a:pt x="7266" y="97709"/>
                </a:lnTo>
                <a:lnTo>
                  <a:pt x="0" y="142884"/>
                </a:lnTo>
                <a:lnTo>
                  <a:pt x="0" y="285919"/>
                </a:lnTo>
                <a:lnTo>
                  <a:pt x="7266" y="331095"/>
                </a:lnTo>
                <a:lnTo>
                  <a:pt x="27502" y="370319"/>
                </a:lnTo>
                <a:lnTo>
                  <a:pt x="58360" y="401245"/>
                </a:lnTo>
                <a:lnTo>
                  <a:pt x="97493" y="421523"/>
                </a:lnTo>
                <a:lnTo>
                  <a:pt x="142554" y="428804"/>
                </a:lnTo>
                <a:lnTo>
                  <a:pt x="712816" y="428804"/>
                </a:lnTo>
                <a:close/>
              </a:path>
            </a:pathLst>
          </a:custGeom>
          <a:ln w="1143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3624650" y="1745318"/>
            <a:ext cx="509270" cy="36893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 indent="110489">
              <a:lnSpc>
                <a:spcPct val="102299"/>
              </a:lnSpc>
              <a:spcBef>
                <a:spcPts val="95"/>
              </a:spcBef>
            </a:pPr>
            <a:r>
              <a:rPr dirty="0" sz="1100" spc="10">
                <a:latin typeface="Arial MT"/>
                <a:cs typeface="Arial MT"/>
              </a:rPr>
              <a:t>Sort </a:t>
            </a:r>
            <a:r>
              <a:rPr dirty="0" sz="1100" spc="15">
                <a:latin typeface="Arial MT"/>
                <a:cs typeface="Arial MT"/>
              </a:rPr>
              <a:t> </a:t>
            </a:r>
            <a:r>
              <a:rPr dirty="0" sz="1100" spc="15">
                <a:latin typeface="Arial MT"/>
                <a:cs typeface="Arial MT"/>
              </a:rPr>
              <a:t>C</a:t>
            </a:r>
            <a:r>
              <a:rPr dirty="0" sz="1100">
                <a:latin typeface="Arial MT"/>
                <a:cs typeface="Arial MT"/>
              </a:rPr>
              <a:t>l</a:t>
            </a:r>
            <a:r>
              <a:rPr dirty="0" sz="1100" spc="10">
                <a:latin typeface="Arial MT"/>
                <a:cs typeface="Arial MT"/>
              </a:rPr>
              <a:t>o</a:t>
            </a:r>
            <a:r>
              <a:rPr dirty="0" sz="1100">
                <a:latin typeface="Arial MT"/>
                <a:cs typeface="Arial MT"/>
              </a:rPr>
              <a:t>t</a:t>
            </a:r>
            <a:r>
              <a:rPr dirty="0" sz="1100" spc="10">
                <a:latin typeface="Arial MT"/>
                <a:cs typeface="Arial MT"/>
              </a:rPr>
              <a:t>he</a:t>
            </a:r>
            <a:r>
              <a:rPr dirty="0" sz="1100" spc="10">
                <a:latin typeface="Arial MT"/>
                <a:cs typeface="Arial MT"/>
              </a:rPr>
              <a:t>s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738593" y="2587184"/>
            <a:ext cx="855344" cy="429259"/>
          </a:xfrm>
          <a:custGeom>
            <a:avLst/>
            <a:gdLst/>
            <a:ahLst/>
            <a:cxnLst/>
            <a:rect l="l" t="t" r="r" b="b"/>
            <a:pathLst>
              <a:path w="855345" h="429260">
                <a:moveTo>
                  <a:pt x="712771" y="428804"/>
                </a:moveTo>
                <a:lnTo>
                  <a:pt x="757826" y="421523"/>
                </a:lnTo>
                <a:lnTo>
                  <a:pt x="796958" y="401245"/>
                </a:lnTo>
                <a:lnTo>
                  <a:pt x="827818" y="370319"/>
                </a:lnTo>
                <a:lnTo>
                  <a:pt x="848057" y="331095"/>
                </a:lnTo>
                <a:lnTo>
                  <a:pt x="855325" y="285919"/>
                </a:lnTo>
                <a:lnTo>
                  <a:pt x="855325" y="142884"/>
                </a:lnTo>
                <a:lnTo>
                  <a:pt x="848057" y="97709"/>
                </a:lnTo>
                <a:lnTo>
                  <a:pt x="827818" y="58484"/>
                </a:lnTo>
                <a:lnTo>
                  <a:pt x="796958" y="27558"/>
                </a:lnTo>
                <a:lnTo>
                  <a:pt x="757826" y="7281"/>
                </a:lnTo>
                <a:lnTo>
                  <a:pt x="712771" y="0"/>
                </a:lnTo>
                <a:lnTo>
                  <a:pt x="142554" y="0"/>
                </a:lnTo>
                <a:lnTo>
                  <a:pt x="97493" y="7281"/>
                </a:lnTo>
                <a:lnTo>
                  <a:pt x="58360" y="27558"/>
                </a:lnTo>
                <a:lnTo>
                  <a:pt x="27502" y="58484"/>
                </a:lnTo>
                <a:lnTo>
                  <a:pt x="7266" y="97709"/>
                </a:lnTo>
                <a:lnTo>
                  <a:pt x="0" y="142884"/>
                </a:lnTo>
                <a:lnTo>
                  <a:pt x="0" y="285919"/>
                </a:lnTo>
                <a:lnTo>
                  <a:pt x="7266" y="331095"/>
                </a:lnTo>
                <a:lnTo>
                  <a:pt x="27502" y="370319"/>
                </a:lnTo>
                <a:lnTo>
                  <a:pt x="58360" y="401245"/>
                </a:lnTo>
                <a:lnTo>
                  <a:pt x="97493" y="421523"/>
                </a:lnTo>
                <a:lnTo>
                  <a:pt x="142554" y="428804"/>
                </a:lnTo>
                <a:lnTo>
                  <a:pt x="712771" y="428804"/>
                </a:lnTo>
                <a:close/>
              </a:path>
            </a:pathLst>
          </a:custGeom>
          <a:ln w="1143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2935721" y="2603076"/>
            <a:ext cx="461645" cy="36893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 indent="35560">
              <a:lnSpc>
                <a:spcPct val="102299"/>
              </a:lnSpc>
              <a:spcBef>
                <a:spcPts val="95"/>
              </a:spcBef>
            </a:pPr>
            <a:r>
              <a:rPr dirty="0" sz="1100" spc="10">
                <a:latin typeface="Arial MT"/>
                <a:cs typeface="Arial MT"/>
              </a:rPr>
              <a:t>Wash </a:t>
            </a:r>
            <a:r>
              <a:rPr dirty="0" sz="1100" spc="-295">
                <a:latin typeface="Arial MT"/>
                <a:cs typeface="Arial MT"/>
              </a:rPr>
              <a:t> </a:t>
            </a:r>
            <a:r>
              <a:rPr dirty="0" sz="1100" spc="15">
                <a:latin typeface="Arial MT"/>
                <a:cs typeface="Arial MT"/>
              </a:rPr>
              <a:t>W</a:t>
            </a:r>
            <a:r>
              <a:rPr dirty="0" sz="1100" spc="10">
                <a:latin typeface="Arial MT"/>
                <a:cs typeface="Arial MT"/>
              </a:rPr>
              <a:t>h</a:t>
            </a:r>
            <a:r>
              <a:rPr dirty="0" sz="1100">
                <a:latin typeface="Arial MT"/>
                <a:cs typeface="Arial MT"/>
              </a:rPr>
              <a:t>i</a:t>
            </a:r>
            <a:r>
              <a:rPr dirty="0" sz="1100">
                <a:latin typeface="Arial MT"/>
                <a:cs typeface="Arial MT"/>
              </a:rPr>
              <a:t>t</a:t>
            </a:r>
            <a:r>
              <a:rPr dirty="0" sz="1100" spc="10">
                <a:latin typeface="Arial MT"/>
                <a:cs typeface="Arial MT"/>
              </a:rPr>
              <a:t>e</a:t>
            </a:r>
            <a:r>
              <a:rPr dirty="0" sz="1100" spc="10">
                <a:latin typeface="Arial MT"/>
                <a:cs typeface="Arial MT"/>
              </a:rPr>
              <a:t>s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164180" y="2587184"/>
            <a:ext cx="855344" cy="429259"/>
          </a:xfrm>
          <a:custGeom>
            <a:avLst/>
            <a:gdLst/>
            <a:ahLst/>
            <a:cxnLst/>
            <a:rect l="l" t="t" r="r" b="b"/>
            <a:pathLst>
              <a:path w="855345" h="429260">
                <a:moveTo>
                  <a:pt x="712696" y="428804"/>
                </a:moveTo>
                <a:lnTo>
                  <a:pt x="757759" y="421523"/>
                </a:lnTo>
                <a:lnTo>
                  <a:pt x="796910" y="401245"/>
                </a:lnTo>
                <a:lnTo>
                  <a:pt x="827792" y="370319"/>
                </a:lnTo>
                <a:lnTo>
                  <a:pt x="848049" y="331095"/>
                </a:lnTo>
                <a:lnTo>
                  <a:pt x="855325" y="285919"/>
                </a:lnTo>
                <a:lnTo>
                  <a:pt x="855325" y="142884"/>
                </a:lnTo>
                <a:lnTo>
                  <a:pt x="848049" y="97709"/>
                </a:lnTo>
                <a:lnTo>
                  <a:pt x="827792" y="58484"/>
                </a:lnTo>
                <a:lnTo>
                  <a:pt x="796910" y="27558"/>
                </a:lnTo>
                <a:lnTo>
                  <a:pt x="757759" y="7281"/>
                </a:lnTo>
                <a:lnTo>
                  <a:pt x="712696" y="0"/>
                </a:lnTo>
                <a:lnTo>
                  <a:pt x="142479" y="0"/>
                </a:lnTo>
                <a:lnTo>
                  <a:pt x="97431" y="7281"/>
                </a:lnTo>
                <a:lnTo>
                  <a:pt x="58318" y="27558"/>
                </a:lnTo>
                <a:lnTo>
                  <a:pt x="27480" y="58484"/>
                </a:lnTo>
                <a:lnTo>
                  <a:pt x="7260" y="97709"/>
                </a:lnTo>
                <a:lnTo>
                  <a:pt x="0" y="142884"/>
                </a:lnTo>
                <a:lnTo>
                  <a:pt x="0" y="285919"/>
                </a:lnTo>
                <a:lnTo>
                  <a:pt x="7260" y="331095"/>
                </a:lnTo>
                <a:lnTo>
                  <a:pt x="27480" y="370319"/>
                </a:lnTo>
                <a:lnTo>
                  <a:pt x="58318" y="401245"/>
                </a:lnTo>
                <a:lnTo>
                  <a:pt x="97431" y="421523"/>
                </a:lnTo>
                <a:lnTo>
                  <a:pt x="142479" y="428804"/>
                </a:lnTo>
                <a:lnTo>
                  <a:pt x="712696" y="428804"/>
                </a:lnTo>
                <a:close/>
              </a:path>
            </a:pathLst>
          </a:custGeom>
          <a:ln w="1143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4393036" y="2603076"/>
            <a:ext cx="398145" cy="36893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 indent="3810">
              <a:lnSpc>
                <a:spcPct val="102299"/>
              </a:lnSpc>
              <a:spcBef>
                <a:spcPts val="95"/>
              </a:spcBef>
            </a:pPr>
            <a:r>
              <a:rPr dirty="0" sz="1100" spc="15">
                <a:latin typeface="Arial MT"/>
                <a:cs typeface="Arial MT"/>
              </a:rPr>
              <a:t>W</a:t>
            </a:r>
            <a:r>
              <a:rPr dirty="0" sz="1100" spc="10">
                <a:latin typeface="Arial MT"/>
                <a:cs typeface="Arial MT"/>
              </a:rPr>
              <a:t>a</a:t>
            </a:r>
            <a:r>
              <a:rPr dirty="0" sz="1100" spc="10">
                <a:latin typeface="Arial MT"/>
                <a:cs typeface="Arial MT"/>
              </a:rPr>
              <a:t>s</a:t>
            </a:r>
            <a:r>
              <a:rPr dirty="0" sz="1100" spc="10">
                <a:latin typeface="Arial MT"/>
                <a:cs typeface="Arial MT"/>
              </a:rPr>
              <a:t>h  Da</a:t>
            </a:r>
            <a:r>
              <a:rPr dirty="0" sz="1100" spc="10">
                <a:latin typeface="Arial MT"/>
                <a:cs typeface="Arial MT"/>
              </a:rPr>
              <a:t>rks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451364" y="3444942"/>
            <a:ext cx="855344" cy="429259"/>
          </a:xfrm>
          <a:custGeom>
            <a:avLst/>
            <a:gdLst/>
            <a:ahLst/>
            <a:cxnLst/>
            <a:rect l="l" t="t" r="r" b="b"/>
            <a:pathLst>
              <a:path w="855345" h="429260">
                <a:moveTo>
                  <a:pt x="712816" y="428864"/>
                </a:moveTo>
                <a:lnTo>
                  <a:pt x="757863" y="421576"/>
                </a:lnTo>
                <a:lnTo>
                  <a:pt x="796977" y="401283"/>
                </a:lnTo>
                <a:lnTo>
                  <a:pt x="827814" y="370337"/>
                </a:lnTo>
                <a:lnTo>
                  <a:pt x="848035" y="331093"/>
                </a:lnTo>
                <a:lnTo>
                  <a:pt x="855295" y="285904"/>
                </a:lnTo>
                <a:lnTo>
                  <a:pt x="855295" y="142884"/>
                </a:lnTo>
                <a:lnTo>
                  <a:pt x="848035" y="97709"/>
                </a:lnTo>
                <a:lnTo>
                  <a:pt x="827814" y="58484"/>
                </a:lnTo>
                <a:lnTo>
                  <a:pt x="796977" y="27558"/>
                </a:lnTo>
                <a:lnTo>
                  <a:pt x="757863" y="7281"/>
                </a:lnTo>
                <a:lnTo>
                  <a:pt x="712816" y="0"/>
                </a:lnTo>
                <a:lnTo>
                  <a:pt x="142554" y="0"/>
                </a:lnTo>
                <a:lnTo>
                  <a:pt x="97493" y="7281"/>
                </a:lnTo>
                <a:lnTo>
                  <a:pt x="58360" y="27558"/>
                </a:lnTo>
                <a:lnTo>
                  <a:pt x="27502" y="58484"/>
                </a:lnTo>
                <a:lnTo>
                  <a:pt x="7266" y="97709"/>
                </a:lnTo>
                <a:lnTo>
                  <a:pt x="0" y="142884"/>
                </a:lnTo>
                <a:lnTo>
                  <a:pt x="0" y="285904"/>
                </a:lnTo>
                <a:lnTo>
                  <a:pt x="7266" y="331093"/>
                </a:lnTo>
                <a:lnTo>
                  <a:pt x="27502" y="370337"/>
                </a:lnTo>
                <a:lnTo>
                  <a:pt x="58360" y="401283"/>
                </a:lnTo>
                <a:lnTo>
                  <a:pt x="97493" y="421576"/>
                </a:lnTo>
                <a:lnTo>
                  <a:pt x="142554" y="428864"/>
                </a:lnTo>
                <a:lnTo>
                  <a:pt x="712816" y="428864"/>
                </a:lnTo>
                <a:close/>
              </a:path>
            </a:pathLst>
          </a:custGeom>
          <a:ln w="1143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3624650" y="3460834"/>
            <a:ext cx="509270" cy="36893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 indent="130810">
              <a:lnSpc>
                <a:spcPct val="102299"/>
              </a:lnSpc>
              <a:spcBef>
                <a:spcPts val="95"/>
              </a:spcBef>
            </a:pPr>
            <a:r>
              <a:rPr dirty="0" sz="1100" spc="10">
                <a:latin typeface="Arial MT"/>
                <a:cs typeface="Arial MT"/>
              </a:rPr>
              <a:t>Dry </a:t>
            </a:r>
            <a:r>
              <a:rPr dirty="0" sz="1100" spc="15">
                <a:latin typeface="Arial MT"/>
                <a:cs typeface="Arial MT"/>
              </a:rPr>
              <a:t> </a:t>
            </a:r>
            <a:r>
              <a:rPr dirty="0" sz="1100" spc="15">
                <a:latin typeface="Arial MT"/>
                <a:cs typeface="Arial MT"/>
              </a:rPr>
              <a:t>C</a:t>
            </a:r>
            <a:r>
              <a:rPr dirty="0" sz="1100">
                <a:latin typeface="Arial MT"/>
                <a:cs typeface="Arial MT"/>
              </a:rPr>
              <a:t>l</a:t>
            </a:r>
            <a:r>
              <a:rPr dirty="0" sz="1100" spc="10">
                <a:latin typeface="Arial MT"/>
                <a:cs typeface="Arial MT"/>
              </a:rPr>
              <a:t>o</a:t>
            </a:r>
            <a:r>
              <a:rPr dirty="0" sz="1100">
                <a:latin typeface="Arial MT"/>
                <a:cs typeface="Arial MT"/>
              </a:rPr>
              <a:t>t</a:t>
            </a:r>
            <a:r>
              <a:rPr dirty="0" sz="1100" spc="10">
                <a:latin typeface="Arial MT"/>
                <a:cs typeface="Arial MT"/>
              </a:rPr>
              <a:t>he</a:t>
            </a:r>
            <a:r>
              <a:rPr dirty="0" sz="1100" spc="10">
                <a:latin typeface="Arial MT"/>
                <a:cs typeface="Arial MT"/>
              </a:rPr>
              <a:t>s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3109221" y="1366353"/>
            <a:ext cx="1539875" cy="3156585"/>
            <a:chOff x="3109221" y="1366353"/>
            <a:chExt cx="1539875" cy="3156585"/>
          </a:xfrm>
        </p:grpSpPr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802032" y="1366353"/>
              <a:ext cx="153974" cy="368782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3114936" y="2372707"/>
              <a:ext cx="1528445" cy="2145030"/>
            </a:xfrm>
            <a:custGeom>
              <a:avLst/>
              <a:gdLst/>
              <a:ahLst/>
              <a:cxnLst/>
              <a:rect l="l" t="t" r="r" b="b"/>
              <a:pathLst>
                <a:path w="1528445" h="2145029">
                  <a:moveTo>
                    <a:pt x="51319" y="0"/>
                  </a:moveTo>
                  <a:lnTo>
                    <a:pt x="51319" y="214477"/>
                  </a:lnTo>
                </a:path>
                <a:path w="1528445" h="2145029">
                  <a:moveTo>
                    <a:pt x="0" y="111516"/>
                  </a:moveTo>
                  <a:lnTo>
                    <a:pt x="21644" y="132162"/>
                  </a:lnTo>
                  <a:lnTo>
                    <a:pt x="37771" y="156918"/>
                  </a:lnTo>
                  <a:lnTo>
                    <a:pt x="47842" y="184712"/>
                  </a:lnTo>
                  <a:lnTo>
                    <a:pt x="51319" y="214477"/>
                  </a:lnTo>
                  <a:lnTo>
                    <a:pt x="54794" y="184712"/>
                  </a:lnTo>
                  <a:lnTo>
                    <a:pt x="64862" y="156918"/>
                  </a:lnTo>
                  <a:lnTo>
                    <a:pt x="80988" y="132162"/>
                  </a:lnTo>
                  <a:lnTo>
                    <a:pt x="102639" y="111516"/>
                  </a:lnTo>
                </a:path>
                <a:path w="1528445" h="2145029">
                  <a:moveTo>
                    <a:pt x="51319" y="643281"/>
                  </a:moveTo>
                  <a:lnTo>
                    <a:pt x="51319" y="857758"/>
                  </a:lnTo>
                </a:path>
                <a:path w="1528445" h="2145029">
                  <a:moveTo>
                    <a:pt x="0" y="754797"/>
                  </a:moveTo>
                  <a:lnTo>
                    <a:pt x="21644" y="775444"/>
                  </a:lnTo>
                  <a:lnTo>
                    <a:pt x="37771" y="800199"/>
                  </a:lnTo>
                  <a:lnTo>
                    <a:pt x="47842" y="827993"/>
                  </a:lnTo>
                  <a:lnTo>
                    <a:pt x="51319" y="857758"/>
                  </a:lnTo>
                  <a:lnTo>
                    <a:pt x="54794" y="827993"/>
                  </a:lnTo>
                  <a:lnTo>
                    <a:pt x="64862" y="800199"/>
                  </a:lnTo>
                  <a:lnTo>
                    <a:pt x="80988" y="775444"/>
                  </a:lnTo>
                  <a:lnTo>
                    <a:pt x="102639" y="754797"/>
                  </a:lnTo>
                </a:path>
                <a:path w="1528445" h="2145029">
                  <a:moveTo>
                    <a:pt x="1476831" y="0"/>
                  </a:moveTo>
                  <a:lnTo>
                    <a:pt x="1476831" y="214477"/>
                  </a:lnTo>
                </a:path>
                <a:path w="1528445" h="2145029">
                  <a:moveTo>
                    <a:pt x="1425497" y="111516"/>
                  </a:moveTo>
                  <a:lnTo>
                    <a:pt x="1447156" y="132162"/>
                  </a:lnTo>
                  <a:lnTo>
                    <a:pt x="1463287" y="156918"/>
                  </a:lnTo>
                  <a:lnTo>
                    <a:pt x="1473356" y="184712"/>
                  </a:lnTo>
                  <a:lnTo>
                    <a:pt x="1476831" y="214477"/>
                  </a:lnTo>
                  <a:lnTo>
                    <a:pt x="1480306" y="184712"/>
                  </a:lnTo>
                  <a:lnTo>
                    <a:pt x="1490376" y="156918"/>
                  </a:lnTo>
                  <a:lnTo>
                    <a:pt x="1506507" y="132162"/>
                  </a:lnTo>
                  <a:lnTo>
                    <a:pt x="1528166" y="111516"/>
                  </a:lnTo>
                </a:path>
                <a:path w="1528445" h="2145029">
                  <a:moveTo>
                    <a:pt x="1476831" y="643281"/>
                  </a:moveTo>
                  <a:lnTo>
                    <a:pt x="1476831" y="857758"/>
                  </a:lnTo>
                </a:path>
                <a:path w="1528445" h="2145029">
                  <a:moveTo>
                    <a:pt x="1425497" y="754797"/>
                  </a:moveTo>
                  <a:lnTo>
                    <a:pt x="1447156" y="775444"/>
                  </a:lnTo>
                  <a:lnTo>
                    <a:pt x="1463287" y="800199"/>
                  </a:lnTo>
                  <a:lnTo>
                    <a:pt x="1473356" y="827993"/>
                  </a:lnTo>
                  <a:lnTo>
                    <a:pt x="1476831" y="857758"/>
                  </a:lnTo>
                  <a:lnTo>
                    <a:pt x="1480306" y="827993"/>
                  </a:lnTo>
                  <a:lnTo>
                    <a:pt x="1490376" y="800199"/>
                  </a:lnTo>
                  <a:lnTo>
                    <a:pt x="1506507" y="775444"/>
                  </a:lnTo>
                  <a:lnTo>
                    <a:pt x="1528166" y="754797"/>
                  </a:lnTo>
                </a:path>
                <a:path w="1528445" h="2145029">
                  <a:moveTo>
                    <a:pt x="1049244" y="2144426"/>
                  </a:moveTo>
                  <a:lnTo>
                    <a:pt x="1094291" y="2137137"/>
                  </a:lnTo>
                  <a:lnTo>
                    <a:pt x="1133405" y="2116841"/>
                  </a:lnTo>
                  <a:lnTo>
                    <a:pt x="1164242" y="2085893"/>
                  </a:lnTo>
                  <a:lnTo>
                    <a:pt x="1184463" y="2046649"/>
                  </a:lnTo>
                  <a:lnTo>
                    <a:pt x="1191723" y="2001466"/>
                  </a:lnTo>
                  <a:lnTo>
                    <a:pt x="1191723" y="1858506"/>
                  </a:lnTo>
                  <a:lnTo>
                    <a:pt x="1184463" y="1813317"/>
                  </a:lnTo>
                  <a:lnTo>
                    <a:pt x="1164242" y="1774073"/>
                  </a:lnTo>
                  <a:lnTo>
                    <a:pt x="1133405" y="1743127"/>
                  </a:lnTo>
                  <a:lnTo>
                    <a:pt x="1094291" y="1722834"/>
                  </a:lnTo>
                  <a:lnTo>
                    <a:pt x="1049244" y="1715547"/>
                  </a:lnTo>
                  <a:lnTo>
                    <a:pt x="478982" y="1715547"/>
                  </a:lnTo>
                  <a:lnTo>
                    <a:pt x="433921" y="1722834"/>
                  </a:lnTo>
                  <a:lnTo>
                    <a:pt x="394788" y="1743127"/>
                  </a:lnTo>
                  <a:lnTo>
                    <a:pt x="363930" y="1774073"/>
                  </a:lnTo>
                  <a:lnTo>
                    <a:pt x="343694" y="1813317"/>
                  </a:lnTo>
                  <a:lnTo>
                    <a:pt x="336427" y="1858506"/>
                  </a:lnTo>
                  <a:lnTo>
                    <a:pt x="336427" y="2001466"/>
                  </a:lnTo>
                  <a:lnTo>
                    <a:pt x="343694" y="2046649"/>
                  </a:lnTo>
                  <a:lnTo>
                    <a:pt x="363930" y="2085893"/>
                  </a:lnTo>
                  <a:lnTo>
                    <a:pt x="394788" y="2116841"/>
                  </a:lnTo>
                  <a:lnTo>
                    <a:pt x="433921" y="2137137"/>
                  </a:lnTo>
                  <a:lnTo>
                    <a:pt x="478982" y="2144426"/>
                  </a:lnTo>
                  <a:lnTo>
                    <a:pt x="1049244" y="2144426"/>
                  </a:lnTo>
                  <a:close/>
                </a:path>
              </a:pathLst>
            </a:custGeom>
            <a:ln w="1142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/>
          <p:nvPr/>
        </p:nvSpPr>
        <p:spPr>
          <a:xfrm>
            <a:off x="3624650" y="4104145"/>
            <a:ext cx="509270" cy="36893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 indent="102870">
              <a:lnSpc>
                <a:spcPct val="102299"/>
              </a:lnSpc>
              <a:spcBef>
                <a:spcPts val="95"/>
              </a:spcBef>
            </a:pPr>
            <a:r>
              <a:rPr dirty="0" sz="1100" spc="5">
                <a:latin typeface="Arial MT"/>
                <a:cs typeface="Arial MT"/>
              </a:rPr>
              <a:t>Fold </a:t>
            </a:r>
            <a:r>
              <a:rPr dirty="0" sz="1100" spc="10">
                <a:latin typeface="Arial MT"/>
                <a:cs typeface="Arial MT"/>
              </a:rPr>
              <a:t> </a:t>
            </a:r>
            <a:r>
              <a:rPr dirty="0" sz="1100" spc="15">
                <a:latin typeface="Arial MT"/>
                <a:cs typeface="Arial MT"/>
              </a:rPr>
              <a:t>C</a:t>
            </a:r>
            <a:r>
              <a:rPr dirty="0" sz="1100">
                <a:latin typeface="Arial MT"/>
                <a:cs typeface="Arial MT"/>
              </a:rPr>
              <a:t>l</a:t>
            </a:r>
            <a:r>
              <a:rPr dirty="0" sz="1100" spc="10">
                <a:latin typeface="Arial MT"/>
                <a:cs typeface="Arial MT"/>
              </a:rPr>
              <a:t>o</a:t>
            </a:r>
            <a:r>
              <a:rPr dirty="0" sz="1100">
                <a:latin typeface="Arial MT"/>
                <a:cs typeface="Arial MT"/>
              </a:rPr>
              <a:t>t</a:t>
            </a:r>
            <a:r>
              <a:rPr dirty="0" sz="1100" spc="10">
                <a:latin typeface="Arial MT"/>
                <a:cs typeface="Arial MT"/>
              </a:rPr>
              <a:t>he</a:t>
            </a:r>
            <a:r>
              <a:rPr dirty="0" sz="1100" spc="10">
                <a:latin typeface="Arial MT"/>
                <a:cs typeface="Arial MT"/>
              </a:rPr>
              <a:t>s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2590318" y="1223314"/>
            <a:ext cx="2577465" cy="3871595"/>
            <a:chOff x="2590318" y="1223314"/>
            <a:chExt cx="2577465" cy="3871595"/>
          </a:xfrm>
        </p:grpSpPr>
        <p:sp>
          <p:nvSpPr>
            <p:cNvPr id="16" name="object 16"/>
            <p:cNvSpPr/>
            <p:nvPr/>
          </p:nvSpPr>
          <p:spPr>
            <a:xfrm>
              <a:off x="3827707" y="3873806"/>
              <a:ext cx="102870" cy="214629"/>
            </a:xfrm>
            <a:custGeom>
              <a:avLst/>
              <a:gdLst/>
              <a:ahLst/>
              <a:cxnLst/>
              <a:rect l="l" t="t" r="r" b="b"/>
              <a:pathLst>
                <a:path w="102870" h="214629">
                  <a:moveTo>
                    <a:pt x="51319" y="0"/>
                  </a:moveTo>
                  <a:lnTo>
                    <a:pt x="51319" y="214447"/>
                  </a:lnTo>
                </a:path>
                <a:path w="102870" h="214629">
                  <a:moveTo>
                    <a:pt x="0" y="111516"/>
                  </a:moveTo>
                  <a:lnTo>
                    <a:pt x="21644" y="132153"/>
                  </a:lnTo>
                  <a:lnTo>
                    <a:pt x="37771" y="156903"/>
                  </a:lnTo>
                  <a:lnTo>
                    <a:pt x="47842" y="184691"/>
                  </a:lnTo>
                  <a:lnTo>
                    <a:pt x="51319" y="214447"/>
                  </a:lnTo>
                  <a:lnTo>
                    <a:pt x="54794" y="184691"/>
                  </a:lnTo>
                  <a:lnTo>
                    <a:pt x="64862" y="156903"/>
                  </a:lnTo>
                  <a:lnTo>
                    <a:pt x="80988" y="132153"/>
                  </a:lnTo>
                  <a:lnTo>
                    <a:pt x="102639" y="111516"/>
                  </a:lnTo>
                </a:path>
              </a:pathLst>
            </a:custGeom>
            <a:ln w="1142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7" name="object 1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767130" y="4517133"/>
              <a:ext cx="224511" cy="434589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2596033" y="1229029"/>
              <a:ext cx="2566035" cy="3860165"/>
            </a:xfrm>
            <a:custGeom>
              <a:avLst/>
              <a:gdLst/>
              <a:ahLst/>
              <a:cxnLst/>
              <a:rect l="l" t="t" r="r" b="b"/>
              <a:pathLst>
                <a:path w="2566035" h="3860165">
                  <a:moveTo>
                    <a:pt x="2423472" y="3859937"/>
                  </a:moveTo>
                  <a:lnTo>
                    <a:pt x="2468520" y="3852649"/>
                  </a:lnTo>
                  <a:lnTo>
                    <a:pt x="2507633" y="3832354"/>
                  </a:lnTo>
                  <a:lnTo>
                    <a:pt x="2538471" y="3801408"/>
                  </a:lnTo>
                  <a:lnTo>
                    <a:pt x="2558691" y="3762166"/>
                  </a:lnTo>
                  <a:lnTo>
                    <a:pt x="2565952" y="3716983"/>
                  </a:lnTo>
                  <a:lnTo>
                    <a:pt x="2565952" y="143034"/>
                  </a:lnTo>
                  <a:lnTo>
                    <a:pt x="2558691" y="97843"/>
                  </a:lnTo>
                  <a:lnTo>
                    <a:pt x="2538471" y="58581"/>
                  </a:lnTo>
                  <a:lnTo>
                    <a:pt x="2507633" y="27611"/>
                  </a:lnTo>
                  <a:lnTo>
                    <a:pt x="2468520" y="7296"/>
                  </a:lnTo>
                  <a:lnTo>
                    <a:pt x="2423472" y="0"/>
                  </a:lnTo>
                  <a:lnTo>
                    <a:pt x="142560" y="0"/>
                  </a:lnTo>
                  <a:lnTo>
                    <a:pt x="97499" y="7296"/>
                  </a:lnTo>
                  <a:lnTo>
                    <a:pt x="58365" y="27611"/>
                  </a:lnTo>
                  <a:lnTo>
                    <a:pt x="27505" y="58581"/>
                  </a:lnTo>
                  <a:lnTo>
                    <a:pt x="7268" y="97843"/>
                  </a:lnTo>
                  <a:lnTo>
                    <a:pt x="0" y="143034"/>
                  </a:lnTo>
                  <a:lnTo>
                    <a:pt x="0" y="3716983"/>
                  </a:lnTo>
                  <a:lnTo>
                    <a:pt x="7268" y="3762166"/>
                  </a:lnTo>
                  <a:lnTo>
                    <a:pt x="27505" y="3801408"/>
                  </a:lnTo>
                  <a:lnTo>
                    <a:pt x="58365" y="3832354"/>
                  </a:lnTo>
                  <a:lnTo>
                    <a:pt x="97499" y="3852649"/>
                  </a:lnTo>
                  <a:lnTo>
                    <a:pt x="142560" y="3859937"/>
                  </a:lnTo>
                  <a:lnTo>
                    <a:pt x="2423472" y="3859937"/>
                  </a:lnTo>
                </a:path>
              </a:pathLst>
            </a:custGeom>
            <a:ln w="1141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/>
          <p:cNvSpPr txBox="1"/>
          <p:nvPr/>
        </p:nvSpPr>
        <p:spPr>
          <a:xfrm>
            <a:off x="902004" y="889507"/>
            <a:ext cx="2602230" cy="6051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 b="1">
                <a:latin typeface="Times New Roman"/>
                <a:cs typeface="Times New Roman"/>
              </a:rPr>
              <a:t>Forks</a:t>
            </a:r>
            <a:r>
              <a:rPr dirty="0" sz="1200" spc="-25" b="1">
                <a:latin typeface="Times New Roman"/>
                <a:cs typeface="Times New Roman"/>
              </a:rPr>
              <a:t> </a:t>
            </a:r>
            <a:r>
              <a:rPr dirty="0" sz="1200" spc="-5" b="1">
                <a:latin typeface="Times New Roman"/>
                <a:cs typeface="Times New Roman"/>
              </a:rPr>
              <a:t>and</a:t>
            </a:r>
            <a:r>
              <a:rPr dirty="0" sz="1200" spc="-25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joins: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550">
              <a:latin typeface="Times New Roman"/>
              <a:cs typeface="Times New Roman"/>
            </a:endParaRPr>
          </a:p>
          <a:p>
            <a:pPr algn="r" marR="5080">
              <a:lnSpc>
                <a:spcPct val="100000"/>
              </a:lnSpc>
              <a:spcBef>
                <a:spcPts val="5"/>
              </a:spcBef>
            </a:pPr>
            <a:r>
              <a:rPr dirty="0" sz="1100" spc="10">
                <a:latin typeface="Arial MT"/>
                <a:cs typeface="Arial MT"/>
              </a:rPr>
              <a:t>Do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 spc="10">
                <a:latin typeface="Arial MT"/>
                <a:cs typeface="Arial MT"/>
              </a:rPr>
              <a:t>Laundry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3006595" y="1695450"/>
            <a:ext cx="2426970" cy="2420620"/>
            <a:chOff x="3006595" y="1695450"/>
            <a:chExt cx="2426970" cy="2420620"/>
          </a:xfrm>
        </p:grpSpPr>
        <p:sp>
          <p:nvSpPr>
            <p:cNvPr id="21" name="object 21"/>
            <p:cNvSpPr/>
            <p:nvPr/>
          </p:nvSpPr>
          <p:spPr>
            <a:xfrm>
              <a:off x="3827707" y="2158229"/>
              <a:ext cx="102870" cy="1287145"/>
            </a:xfrm>
            <a:custGeom>
              <a:avLst/>
              <a:gdLst/>
              <a:ahLst/>
              <a:cxnLst/>
              <a:rect l="l" t="t" r="r" b="b"/>
              <a:pathLst>
                <a:path w="102870" h="1287145">
                  <a:moveTo>
                    <a:pt x="51319" y="1072235"/>
                  </a:moveTo>
                  <a:lnTo>
                    <a:pt x="51319" y="1286712"/>
                  </a:lnTo>
                </a:path>
                <a:path w="102870" h="1287145">
                  <a:moveTo>
                    <a:pt x="0" y="1183751"/>
                  </a:moveTo>
                  <a:lnTo>
                    <a:pt x="21644" y="1204398"/>
                  </a:lnTo>
                  <a:lnTo>
                    <a:pt x="37771" y="1229153"/>
                  </a:lnTo>
                  <a:lnTo>
                    <a:pt x="47842" y="1256948"/>
                  </a:lnTo>
                  <a:lnTo>
                    <a:pt x="51319" y="1286712"/>
                  </a:lnTo>
                  <a:lnTo>
                    <a:pt x="54794" y="1256948"/>
                  </a:lnTo>
                  <a:lnTo>
                    <a:pt x="64862" y="1229153"/>
                  </a:lnTo>
                  <a:lnTo>
                    <a:pt x="80988" y="1204398"/>
                  </a:lnTo>
                  <a:lnTo>
                    <a:pt x="102639" y="1183751"/>
                  </a:lnTo>
                </a:path>
                <a:path w="102870" h="1287145">
                  <a:moveTo>
                    <a:pt x="51319" y="0"/>
                  </a:moveTo>
                  <a:lnTo>
                    <a:pt x="51319" y="214477"/>
                  </a:lnTo>
                </a:path>
                <a:path w="102870" h="1287145">
                  <a:moveTo>
                    <a:pt x="0" y="111516"/>
                  </a:moveTo>
                  <a:lnTo>
                    <a:pt x="21644" y="132162"/>
                  </a:lnTo>
                  <a:lnTo>
                    <a:pt x="37771" y="156918"/>
                  </a:lnTo>
                  <a:lnTo>
                    <a:pt x="47842" y="184712"/>
                  </a:lnTo>
                  <a:lnTo>
                    <a:pt x="51319" y="214477"/>
                  </a:lnTo>
                  <a:lnTo>
                    <a:pt x="54794" y="184712"/>
                  </a:lnTo>
                  <a:lnTo>
                    <a:pt x="64862" y="156918"/>
                  </a:lnTo>
                  <a:lnTo>
                    <a:pt x="80988" y="132162"/>
                  </a:lnTo>
                  <a:lnTo>
                    <a:pt x="102639" y="111516"/>
                  </a:lnTo>
                </a:path>
              </a:pathLst>
            </a:custGeom>
            <a:ln w="1142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3006585" y="2355506"/>
              <a:ext cx="1744980" cy="892175"/>
            </a:xfrm>
            <a:custGeom>
              <a:avLst/>
              <a:gdLst/>
              <a:ahLst/>
              <a:cxnLst/>
              <a:rect l="l" t="t" r="r" b="b"/>
              <a:pathLst>
                <a:path w="1744979" h="892175">
                  <a:moveTo>
                    <a:pt x="1744929" y="857770"/>
                  </a:moveTo>
                  <a:lnTo>
                    <a:pt x="0" y="857770"/>
                  </a:lnTo>
                  <a:lnTo>
                    <a:pt x="0" y="892073"/>
                  </a:lnTo>
                  <a:lnTo>
                    <a:pt x="1744929" y="892073"/>
                  </a:lnTo>
                  <a:lnTo>
                    <a:pt x="1744929" y="857770"/>
                  </a:lnTo>
                  <a:close/>
                </a:path>
                <a:path w="1744979" h="892175">
                  <a:moveTo>
                    <a:pt x="1744929" y="0"/>
                  </a:moveTo>
                  <a:lnTo>
                    <a:pt x="0" y="0"/>
                  </a:lnTo>
                  <a:lnTo>
                    <a:pt x="0" y="34315"/>
                  </a:lnTo>
                  <a:lnTo>
                    <a:pt x="1744929" y="34315"/>
                  </a:lnTo>
                  <a:lnTo>
                    <a:pt x="174492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3990085" y="1695450"/>
              <a:ext cx="1430020" cy="2420620"/>
            </a:xfrm>
            <a:custGeom>
              <a:avLst/>
              <a:gdLst/>
              <a:ahLst/>
              <a:cxnLst/>
              <a:rect l="l" t="t" r="r" b="b"/>
              <a:pathLst>
                <a:path w="1430020" h="2420620">
                  <a:moveTo>
                    <a:pt x="1391792" y="1943100"/>
                  </a:moveTo>
                  <a:lnTo>
                    <a:pt x="1391792" y="2420112"/>
                  </a:lnTo>
                </a:path>
                <a:path w="1430020" h="2420620">
                  <a:moveTo>
                    <a:pt x="1391792" y="2102104"/>
                  </a:moveTo>
                  <a:lnTo>
                    <a:pt x="0" y="1525651"/>
                  </a:lnTo>
                </a:path>
                <a:path w="1430020" h="2420620">
                  <a:moveTo>
                    <a:pt x="1430019" y="0"/>
                  </a:moveTo>
                  <a:lnTo>
                    <a:pt x="1430019" y="381000"/>
                  </a:lnTo>
                </a:path>
                <a:path w="1430020" h="2420620">
                  <a:moveTo>
                    <a:pt x="1430019" y="127000"/>
                  </a:moveTo>
                  <a:lnTo>
                    <a:pt x="87502" y="698500"/>
                  </a:lnTo>
                </a:path>
              </a:pathLst>
            </a:custGeom>
            <a:ln w="25908">
              <a:solidFill>
                <a:srgbClr val="50172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24" name="object 2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05331" y="7525260"/>
            <a:ext cx="5761737" cy="1386969"/>
          </a:xfrm>
          <a:prstGeom prst="rect">
            <a:avLst/>
          </a:prstGeom>
        </p:spPr>
      </p:pic>
      <p:sp>
        <p:nvSpPr>
          <p:cNvPr id="25" name="object 25"/>
          <p:cNvSpPr txBox="1"/>
          <p:nvPr/>
        </p:nvSpPr>
        <p:spPr>
          <a:xfrm>
            <a:off x="5588889" y="3709542"/>
            <a:ext cx="1103630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>
                <a:latin typeface="Tahoma"/>
                <a:cs typeface="Tahoma"/>
              </a:rPr>
              <a:t>Join</a:t>
            </a:r>
            <a:r>
              <a:rPr dirty="0" sz="2000" spc="-70">
                <a:latin typeface="Tahoma"/>
                <a:cs typeface="Tahoma"/>
              </a:rPr>
              <a:t> </a:t>
            </a:r>
            <a:r>
              <a:rPr dirty="0" sz="2000" spc="-5">
                <a:latin typeface="Tahoma"/>
                <a:cs typeface="Tahoma"/>
              </a:rPr>
              <a:t>node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627370" y="1741677"/>
            <a:ext cx="114363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15">
                <a:latin typeface="Tahoma"/>
                <a:cs typeface="Tahoma"/>
              </a:rPr>
              <a:t>Fork</a:t>
            </a:r>
            <a:r>
              <a:rPr dirty="0" sz="2000" spc="-6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node</a:t>
            </a:r>
            <a:endParaRPr sz="20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784097"/>
            <a:ext cx="4212590" cy="893444"/>
          </a:xfrm>
          <a:prstGeom prst="rect">
            <a:avLst/>
          </a:prstGeom>
        </p:spPr>
        <p:txBody>
          <a:bodyPr wrap="square" lIns="0" tIns="1181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30"/>
              </a:spcBef>
            </a:pPr>
            <a:r>
              <a:rPr dirty="0" sz="1200" spc="-5" b="1">
                <a:latin typeface="Times New Roman"/>
                <a:cs typeface="Times New Roman"/>
              </a:rPr>
              <a:t>Object</a:t>
            </a:r>
            <a:r>
              <a:rPr dirty="0" sz="1200" spc="-30" b="1">
                <a:latin typeface="Times New Roman"/>
                <a:cs typeface="Times New Roman"/>
              </a:rPr>
              <a:t> </a:t>
            </a:r>
            <a:r>
              <a:rPr dirty="0" sz="1200" spc="-5" b="1">
                <a:latin typeface="Times New Roman"/>
                <a:cs typeface="Times New Roman"/>
              </a:rPr>
              <a:t>Nodes:</a:t>
            </a:r>
            <a:endParaRPr sz="1200">
              <a:latin typeface="Times New Roman"/>
              <a:cs typeface="Times New Roman"/>
            </a:endParaRPr>
          </a:p>
          <a:p>
            <a:pPr marL="469265">
              <a:lnSpc>
                <a:spcPct val="100000"/>
              </a:lnSpc>
              <a:spcBef>
                <a:spcPts val="830"/>
              </a:spcBef>
            </a:pPr>
            <a:r>
              <a:rPr dirty="0" sz="1200" spc="-5">
                <a:latin typeface="Times New Roman"/>
                <a:cs typeface="Times New Roman"/>
              </a:rPr>
              <a:t>Data and </a:t>
            </a:r>
            <a:r>
              <a:rPr dirty="0" sz="1200">
                <a:latin typeface="Times New Roman"/>
                <a:cs typeface="Times New Roman"/>
              </a:rPr>
              <a:t>objects are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shown </a:t>
            </a:r>
            <a:r>
              <a:rPr dirty="0" sz="1200" spc="-10">
                <a:latin typeface="Times New Roman"/>
                <a:cs typeface="Times New Roman"/>
              </a:rPr>
              <a:t>as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object </a:t>
            </a:r>
            <a:r>
              <a:rPr dirty="0" sz="1200">
                <a:latin typeface="Times New Roman"/>
                <a:cs typeface="Times New Roman"/>
              </a:rPr>
              <a:t>nodes.</a:t>
            </a:r>
            <a:endParaRPr sz="1200">
              <a:latin typeface="Times New Roman"/>
              <a:cs typeface="Times New Roman"/>
            </a:endParaRPr>
          </a:p>
          <a:p>
            <a:pPr marL="469265">
              <a:lnSpc>
                <a:spcPct val="100000"/>
              </a:lnSpc>
              <a:spcBef>
                <a:spcPts val="850"/>
              </a:spcBef>
            </a:pPr>
            <a:r>
              <a:rPr dirty="0" sz="1200">
                <a:latin typeface="Times New Roman"/>
                <a:cs typeface="Times New Roman"/>
              </a:rPr>
              <a:t>Any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flow</a:t>
            </a:r>
            <a:r>
              <a:rPr dirty="0" sz="1200" spc="-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that </a:t>
            </a:r>
            <a:r>
              <a:rPr dirty="0" sz="1200" spc="-5">
                <a:latin typeface="Times New Roman"/>
                <a:cs typeface="Times New Roman"/>
              </a:rPr>
              <a:t>begins</a:t>
            </a:r>
            <a:r>
              <a:rPr dirty="0" sz="1200">
                <a:latin typeface="Times New Roman"/>
                <a:cs typeface="Times New Roman"/>
              </a:rPr>
              <a:t> or ends </a:t>
            </a:r>
            <a:r>
              <a:rPr dirty="0" sz="1200" spc="-5">
                <a:latin typeface="Times New Roman"/>
                <a:cs typeface="Times New Roman"/>
              </a:rPr>
              <a:t>at</a:t>
            </a:r>
            <a:r>
              <a:rPr dirty="0" sz="1200">
                <a:latin typeface="Times New Roman"/>
                <a:cs typeface="Times New Roman"/>
              </a:rPr>
              <a:t> an </a:t>
            </a:r>
            <a:r>
              <a:rPr dirty="0" sz="1200" spc="-5">
                <a:latin typeface="Times New Roman"/>
                <a:cs typeface="Times New Roman"/>
              </a:rPr>
              <a:t>object</a:t>
            </a:r>
            <a:r>
              <a:rPr dirty="0" sz="1200">
                <a:latin typeface="Times New Roman"/>
                <a:cs typeface="Times New Roman"/>
              </a:rPr>
              <a:t> node </a:t>
            </a:r>
            <a:r>
              <a:rPr dirty="0" sz="1200" spc="-5">
                <a:latin typeface="Times New Roman"/>
                <a:cs typeface="Times New Roman"/>
              </a:rPr>
              <a:t>is</a:t>
            </a:r>
            <a:r>
              <a:rPr dirty="0" sz="1200">
                <a:latin typeface="Times New Roman"/>
                <a:cs typeface="Times New Roman"/>
              </a:rPr>
              <a:t> a </a:t>
            </a:r>
            <a:r>
              <a:rPr dirty="0" sz="1200" spc="-5">
                <a:latin typeface="Times New Roman"/>
                <a:cs typeface="Times New Roman"/>
              </a:rPr>
              <a:t>data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flow.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2004" y="5418201"/>
            <a:ext cx="95123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 b="1">
                <a:latin typeface="Times New Roman"/>
                <a:cs typeface="Times New Roman"/>
              </a:rPr>
              <a:t>Object</a:t>
            </a:r>
            <a:r>
              <a:rPr dirty="0" sz="1200" spc="-50" b="1">
                <a:latin typeface="Times New Roman"/>
                <a:cs typeface="Times New Roman"/>
              </a:rPr>
              <a:t> </a:t>
            </a:r>
            <a:r>
              <a:rPr dirty="0" sz="1200" spc="-5" b="1">
                <a:latin typeface="Times New Roman"/>
                <a:cs typeface="Times New Roman"/>
              </a:rPr>
              <a:t>Nodes: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232944" y="2922095"/>
            <a:ext cx="1329690" cy="608965"/>
          </a:xfrm>
          <a:custGeom>
            <a:avLst/>
            <a:gdLst/>
            <a:ahLst/>
            <a:cxnLst/>
            <a:rect l="l" t="t" r="r" b="b"/>
            <a:pathLst>
              <a:path w="1329689" h="608964">
                <a:moveTo>
                  <a:pt x="0" y="608514"/>
                </a:moveTo>
                <a:lnTo>
                  <a:pt x="1329653" y="608514"/>
                </a:lnTo>
                <a:lnTo>
                  <a:pt x="1329653" y="0"/>
                </a:lnTo>
                <a:lnTo>
                  <a:pt x="0" y="0"/>
                </a:lnTo>
                <a:lnTo>
                  <a:pt x="0" y="608514"/>
                </a:lnTo>
              </a:path>
            </a:pathLst>
          </a:custGeom>
          <a:ln w="1625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4430255" y="2949964"/>
            <a:ext cx="935355" cy="5124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 indent="10795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latin typeface="Arial MT"/>
                <a:cs typeface="Arial MT"/>
              </a:rPr>
              <a:t>Destroyer </a:t>
            </a:r>
            <a:r>
              <a:rPr dirty="0" sz="1600" spc="-430">
                <a:latin typeface="Arial MT"/>
                <a:cs typeface="Arial MT"/>
              </a:rPr>
              <a:t> </a:t>
            </a:r>
            <a:r>
              <a:rPr dirty="0" sz="1600" spc="-5">
                <a:latin typeface="Arial MT"/>
                <a:cs typeface="Arial MT"/>
              </a:rPr>
              <a:t>[</a:t>
            </a:r>
            <a:r>
              <a:rPr dirty="0" sz="1600" spc="5">
                <a:latin typeface="Arial MT"/>
                <a:cs typeface="Arial MT"/>
              </a:rPr>
              <a:t>c</a:t>
            </a:r>
            <a:r>
              <a:rPr dirty="0" sz="1600" spc="5">
                <a:latin typeface="Arial MT"/>
                <a:cs typeface="Arial MT"/>
              </a:rPr>
              <a:t>ap</a:t>
            </a:r>
            <a:r>
              <a:rPr dirty="0" sz="1600" spc="-5">
                <a:latin typeface="Arial MT"/>
                <a:cs typeface="Arial MT"/>
              </a:rPr>
              <a:t>t</a:t>
            </a:r>
            <a:r>
              <a:rPr dirty="0" sz="1600" spc="5">
                <a:latin typeface="Arial MT"/>
                <a:cs typeface="Arial MT"/>
              </a:rPr>
              <a:t>u</a:t>
            </a:r>
            <a:r>
              <a:rPr dirty="0" sz="1600">
                <a:latin typeface="Arial MT"/>
                <a:cs typeface="Arial MT"/>
              </a:rPr>
              <a:t>r</a:t>
            </a:r>
            <a:r>
              <a:rPr dirty="0" sz="1600" spc="5">
                <a:latin typeface="Arial MT"/>
                <a:cs typeface="Arial MT"/>
              </a:rPr>
              <a:t>ed</a:t>
            </a:r>
            <a:r>
              <a:rPr dirty="0" sz="1600">
                <a:latin typeface="Arial MT"/>
                <a:cs typeface="Arial MT"/>
              </a:rPr>
              <a:t>]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340600" y="2212141"/>
            <a:ext cx="1022985" cy="405765"/>
          </a:xfrm>
          <a:prstGeom prst="rect">
            <a:avLst/>
          </a:prstGeom>
          <a:ln w="16246">
            <a:solidFill>
              <a:srgbClr val="000000"/>
            </a:solidFill>
          </a:ln>
        </p:spPr>
        <p:txBody>
          <a:bodyPr wrap="square" lIns="0" tIns="60325" rIns="0" bIns="0" rtlCol="0" vert="horz">
            <a:spAutoFit/>
          </a:bodyPr>
          <a:lstStyle/>
          <a:p>
            <a:pPr marL="181610">
              <a:lnSpc>
                <a:spcPct val="100000"/>
              </a:lnSpc>
              <a:spcBef>
                <a:spcPts val="475"/>
              </a:spcBef>
            </a:pPr>
            <a:r>
              <a:rPr dirty="0" sz="1600">
                <a:latin typeface="Arial MT"/>
                <a:cs typeface="Arial MT"/>
              </a:rPr>
              <a:t>Cruiser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187166" y="3023505"/>
            <a:ext cx="1330325" cy="405765"/>
          </a:xfrm>
          <a:prstGeom prst="rect">
            <a:avLst/>
          </a:prstGeom>
          <a:ln w="16239">
            <a:solidFill>
              <a:srgbClr val="000000"/>
            </a:solidFill>
          </a:ln>
        </p:spPr>
        <p:txBody>
          <a:bodyPr wrap="square" lIns="0" tIns="60325" rIns="0" bIns="0" rtlCol="0" vert="horz">
            <a:spAutoFit/>
          </a:bodyPr>
          <a:lstStyle/>
          <a:p>
            <a:pPr marL="141605">
              <a:lnSpc>
                <a:spcPct val="100000"/>
              </a:lnSpc>
              <a:spcBef>
                <a:spcPts val="475"/>
              </a:spcBef>
            </a:pPr>
            <a:r>
              <a:rPr dirty="0" sz="1600">
                <a:latin typeface="Arial MT"/>
                <a:cs typeface="Arial MT"/>
              </a:rPr>
              <a:t>Battlegroup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284083" y="2110731"/>
            <a:ext cx="1227455" cy="608965"/>
          </a:xfrm>
          <a:prstGeom prst="rect">
            <a:avLst/>
          </a:prstGeom>
          <a:ln w="16255">
            <a:solidFill>
              <a:srgbClr val="000000"/>
            </a:solidFill>
          </a:ln>
        </p:spPr>
        <p:txBody>
          <a:bodyPr wrap="square" lIns="0" tIns="40005" rIns="0" bIns="0" rtlCol="0" vert="horz">
            <a:spAutoFit/>
          </a:bodyPr>
          <a:lstStyle/>
          <a:p>
            <a:pPr marL="130175" marR="122555" indent="33655">
              <a:lnSpc>
                <a:spcPct val="100000"/>
              </a:lnSpc>
              <a:spcBef>
                <a:spcPts val="315"/>
              </a:spcBef>
            </a:pPr>
            <a:r>
              <a:rPr dirty="0" sz="1600">
                <a:latin typeface="Arial MT"/>
                <a:cs typeface="Arial MT"/>
              </a:rPr>
              <a:t>Battleship </a:t>
            </a:r>
            <a:r>
              <a:rPr dirty="0" sz="1600" spc="-430">
                <a:latin typeface="Arial MT"/>
                <a:cs typeface="Arial MT"/>
              </a:rPr>
              <a:t> </a:t>
            </a:r>
            <a:r>
              <a:rPr dirty="0" sz="1600" spc="-5">
                <a:latin typeface="Arial MT"/>
                <a:cs typeface="Arial MT"/>
              </a:rPr>
              <a:t>[</a:t>
            </a:r>
            <a:r>
              <a:rPr dirty="0" sz="1600" spc="5">
                <a:latin typeface="Arial MT"/>
                <a:cs typeface="Arial MT"/>
              </a:rPr>
              <a:t>da</a:t>
            </a:r>
            <a:r>
              <a:rPr dirty="0" sz="1600" spc="5">
                <a:latin typeface="Arial MT"/>
                <a:cs typeface="Arial MT"/>
              </a:rPr>
              <a:t>m</a:t>
            </a:r>
            <a:r>
              <a:rPr dirty="0" sz="1600" spc="5">
                <a:latin typeface="Arial MT"/>
                <a:cs typeface="Arial MT"/>
              </a:rPr>
              <a:t>aged</a:t>
            </a:r>
            <a:r>
              <a:rPr dirty="0" sz="1600">
                <a:latin typeface="Arial MT"/>
                <a:cs typeface="Arial MT"/>
              </a:rPr>
              <a:t>]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353303" y="2923794"/>
            <a:ext cx="877569" cy="1001394"/>
          </a:xfrm>
          <a:custGeom>
            <a:avLst/>
            <a:gdLst/>
            <a:ahLst/>
            <a:cxnLst/>
            <a:rect l="l" t="t" r="r" b="b"/>
            <a:pathLst>
              <a:path w="877570" h="1001395">
                <a:moveTo>
                  <a:pt x="877570" y="0"/>
                </a:moveTo>
                <a:lnTo>
                  <a:pt x="877570" y="1001267"/>
                </a:lnTo>
              </a:path>
              <a:path w="877570" h="1001395">
                <a:moveTo>
                  <a:pt x="877570" y="124078"/>
                </a:moveTo>
                <a:lnTo>
                  <a:pt x="0" y="461899"/>
                </a:lnTo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6398514" y="2970402"/>
            <a:ext cx="755015" cy="94361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00499"/>
              </a:lnSpc>
              <a:spcBef>
                <a:spcPts val="90"/>
              </a:spcBef>
            </a:pPr>
            <a:r>
              <a:rPr dirty="0" sz="2000" spc="-5">
                <a:latin typeface="Tahoma"/>
                <a:cs typeface="Tahoma"/>
              </a:rPr>
              <a:t>O</a:t>
            </a:r>
            <a:r>
              <a:rPr dirty="0" sz="2000">
                <a:latin typeface="Tahoma"/>
                <a:cs typeface="Tahoma"/>
              </a:rPr>
              <a:t>bject  </a:t>
            </a:r>
            <a:r>
              <a:rPr dirty="0" sz="2000">
                <a:latin typeface="Tahoma"/>
                <a:cs typeface="Tahoma"/>
              </a:rPr>
              <a:t>node </a:t>
            </a:r>
            <a:r>
              <a:rPr dirty="0" sz="2000" spc="5">
                <a:latin typeface="Tahoma"/>
                <a:cs typeface="Tahoma"/>
              </a:rPr>
              <a:t> </a:t>
            </a:r>
            <a:r>
              <a:rPr dirty="0" sz="2000" spc="-5">
                <a:latin typeface="Tahoma"/>
                <a:cs typeface="Tahoma"/>
              </a:rPr>
              <a:t>state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429129" y="3427984"/>
            <a:ext cx="791845" cy="1006475"/>
          </a:xfrm>
          <a:custGeom>
            <a:avLst/>
            <a:gdLst/>
            <a:ahLst/>
            <a:cxnLst/>
            <a:rect l="l" t="t" r="r" b="b"/>
            <a:pathLst>
              <a:path w="791844" h="1006475">
                <a:moveTo>
                  <a:pt x="791844" y="622046"/>
                </a:moveTo>
                <a:lnTo>
                  <a:pt x="791844" y="1006094"/>
                </a:lnTo>
              </a:path>
              <a:path w="791844" h="1006475">
                <a:moveTo>
                  <a:pt x="791844" y="736346"/>
                </a:moveTo>
                <a:lnTo>
                  <a:pt x="0" y="0"/>
                </a:lnTo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3426078" y="4095114"/>
            <a:ext cx="1388745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>
                <a:latin typeface="Tahoma"/>
                <a:cs typeface="Tahoma"/>
              </a:rPr>
              <a:t>Object</a:t>
            </a:r>
            <a:r>
              <a:rPr dirty="0" sz="2000" spc="-65">
                <a:latin typeface="Tahoma"/>
                <a:cs typeface="Tahoma"/>
              </a:rPr>
              <a:t> </a:t>
            </a:r>
            <a:r>
              <a:rPr dirty="0" sz="2000" spc="-5">
                <a:latin typeface="Tahoma"/>
                <a:cs typeface="Tahoma"/>
              </a:rPr>
              <a:t>node</a:t>
            </a:r>
            <a:endParaRPr sz="2000">
              <a:latin typeface="Tahoma"/>
              <a:cs typeface="Tahoma"/>
            </a:endParaRPr>
          </a:p>
        </p:txBody>
      </p:sp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7004" y="6046019"/>
            <a:ext cx="2988436" cy="3585936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280240" y="6066933"/>
            <a:ext cx="3212418" cy="3561564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784097"/>
            <a:ext cx="5921375" cy="3789045"/>
          </a:xfrm>
          <a:prstGeom prst="rect">
            <a:avLst/>
          </a:prstGeom>
        </p:spPr>
        <p:txBody>
          <a:bodyPr wrap="square" lIns="0" tIns="1181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30"/>
              </a:spcBef>
            </a:pPr>
            <a:r>
              <a:rPr dirty="0" sz="1200" spc="-5" b="1">
                <a:latin typeface="Times New Roman"/>
                <a:cs typeface="Times New Roman"/>
              </a:rPr>
              <a:t>Control</a:t>
            </a:r>
            <a:r>
              <a:rPr dirty="0" sz="1200" spc="-10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and</a:t>
            </a:r>
            <a:r>
              <a:rPr dirty="0" sz="1200" spc="-5" b="1">
                <a:latin typeface="Times New Roman"/>
                <a:cs typeface="Times New Roman"/>
              </a:rPr>
              <a:t> Data</a:t>
            </a:r>
            <a:r>
              <a:rPr dirty="0" sz="1200" spc="-10" b="1">
                <a:latin typeface="Times New Roman"/>
                <a:cs typeface="Times New Roman"/>
              </a:rPr>
              <a:t> </a:t>
            </a:r>
            <a:r>
              <a:rPr dirty="0" sz="1200" spc="-5" b="1">
                <a:latin typeface="Times New Roman"/>
                <a:cs typeface="Times New Roman"/>
              </a:rPr>
              <a:t>Flows:</a:t>
            </a:r>
            <a:endParaRPr sz="12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830"/>
              </a:spcBef>
              <a:buFont typeface="Microsoft Sans Serif"/>
              <a:buChar char=""/>
              <a:tabLst>
                <a:tab pos="469265" algn="l"/>
                <a:tab pos="469900" algn="l"/>
              </a:tabLst>
            </a:pPr>
            <a:r>
              <a:rPr dirty="0" sz="1200">
                <a:latin typeface="Times New Roman"/>
                <a:cs typeface="Times New Roman"/>
              </a:rPr>
              <a:t>Control </a:t>
            </a:r>
            <a:r>
              <a:rPr dirty="0" sz="1200" spc="-5">
                <a:latin typeface="Times New Roman"/>
                <a:cs typeface="Times New Roman"/>
              </a:rPr>
              <a:t>tokens</a:t>
            </a:r>
            <a:r>
              <a:rPr dirty="0" sz="1200">
                <a:latin typeface="Times New Roman"/>
                <a:cs typeface="Times New Roman"/>
              </a:rPr>
              <a:t> do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not </a:t>
            </a:r>
            <a:r>
              <a:rPr dirty="0" sz="1200" spc="-5">
                <a:latin typeface="Times New Roman"/>
                <a:cs typeface="Times New Roman"/>
              </a:rPr>
              <a:t>contain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data,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data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tokens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do.</a:t>
            </a:r>
            <a:endParaRPr sz="12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850"/>
              </a:spcBef>
              <a:buFont typeface="Microsoft Sans Serif"/>
              <a:buChar char=""/>
              <a:tabLst>
                <a:tab pos="469265" algn="l"/>
                <a:tab pos="469900" algn="l"/>
              </a:tabLst>
            </a:pPr>
            <a:r>
              <a:rPr dirty="0" sz="1200" spc="-5">
                <a:latin typeface="Times New Roman"/>
                <a:cs typeface="Times New Roman"/>
              </a:rPr>
              <a:t>A control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flow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is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an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activity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edge,</a:t>
            </a:r>
            <a:r>
              <a:rPr dirty="0" sz="1200" spc="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conduit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for</a:t>
            </a:r>
            <a:r>
              <a:rPr dirty="0" sz="1200" spc="-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control </a:t>
            </a:r>
            <a:r>
              <a:rPr dirty="0" sz="1200" spc="-5">
                <a:latin typeface="Times New Roman"/>
                <a:cs typeface="Times New Roman"/>
              </a:rPr>
              <a:t>tokens.</a:t>
            </a:r>
            <a:endParaRPr sz="12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840"/>
              </a:spcBef>
              <a:buFont typeface="Microsoft Sans Serif"/>
              <a:buChar char=""/>
              <a:tabLst>
                <a:tab pos="469265" algn="l"/>
                <a:tab pos="469900" algn="l"/>
              </a:tabLst>
            </a:pPr>
            <a:r>
              <a:rPr dirty="0" sz="1200" spc="-5">
                <a:latin typeface="Times New Roman"/>
                <a:cs typeface="Times New Roman"/>
              </a:rPr>
              <a:t>A data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flow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is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an</a:t>
            </a:r>
            <a:r>
              <a:rPr dirty="0" sz="1200" spc="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activity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edge,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conduit</a:t>
            </a:r>
            <a:r>
              <a:rPr dirty="0" sz="1200">
                <a:latin typeface="Times New Roman"/>
                <a:cs typeface="Times New Roman"/>
              </a:rPr>
              <a:t> for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data tokens.</a:t>
            </a:r>
            <a:endParaRPr sz="1200">
              <a:latin typeface="Times New Roman"/>
              <a:cs typeface="Times New Roman"/>
            </a:endParaRPr>
          </a:p>
          <a:p>
            <a:pPr marL="469265" marR="34925" indent="-228600">
              <a:lnSpc>
                <a:spcPct val="102499"/>
              </a:lnSpc>
              <a:spcBef>
                <a:spcPts val="830"/>
              </a:spcBef>
              <a:buFont typeface="Microsoft Sans Serif"/>
              <a:buChar char=""/>
              <a:tabLst>
                <a:tab pos="469265" algn="l"/>
                <a:tab pos="469900" algn="l"/>
              </a:tabLst>
            </a:pPr>
            <a:r>
              <a:rPr dirty="0" sz="1200" spc="-5">
                <a:latin typeface="Times New Roman"/>
                <a:cs typeface="Times New Roman"/>
              </a:rPr>
              <a:t>Rules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for</a:t>
            </a:r>
            <a:r>
              <a:rPr dirty="0" sz="1200" spc="-5">
                <a:latin typeface="Times New Roman"/>
                <a:cs typeface="Times New Roman"/>
              </a:rPr>
              <a:t> token-based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execution</a:t>
            </a:r>
            <a:r>
              <a:rPr dirty="0" sz="1200" spc="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apply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just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as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well</a:t>
            </a:r>
            <a:r>
              <a:rPr dirty="0" sz="1200" spc="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to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data </a:t>
            </a:r>
            <a:r>
              <a:rPr dirty="0" sz="1200" spc="-5">
                <a:latin typeface="Times New Roman"/>
                <a:cs typeface="Times New Roman"/>
              </a:rPr>
              <a:t>flows</a:t>
            </a:r>
            <a:r>
              <a:rPr dirty="0" sz="1200" spc="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as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to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control</a:t>
            </a:r>
            <a:r>
              <a:rPr dirty="0" sz="1200" spc="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flows,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with </a:t>
            </a:r>
            <a:r>
              <a:rPr dirty="0" sz="1200" spc="-28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 </a:t>
            </a:r>
            <a:r>
              <a:rPr dirty="0" sz="1200" spc="-5">
                <a:latin typeface="Times New Roman"/>
                <a:cs typeface="Times New Roman"/>
              </a:rPr>
              <a:t>addition</a:t>
            </a:r>
            <a:r>
              <a:rPr dirty="0" sz="1200">
                <a:latin typeface="Times New Roman"/>
                <a:cs typeface="Times New Roman"/>
              </a:rPr>
              <a:t> of a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mechanism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for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adding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and</a:t>
            </a:r>
            <a:r>
              <a:rPr dirty="0" sz="1200">
                <a:latin typeface="Times New Roman"/>
                <a:cs typeface="Times New Roman"/>
              </a:rPr>
              <a:t> removing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data</a:t>
            </a:r>
            <a:r>
              <a:rPr dirty="0" sz="1200" spc="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from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tokens.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buFont typeface="Microsoft Sans Serif"/>
              <a:buChar char=""/>
            </a:pPr>
            <a:endParaRPr sz="1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Microsoft Sans Serif"/>
              <a:buChar char=""/>
            </a:pPr>
            <a:endParaRPr sz="14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200" spc="-5" b="1">
                <a:latin typeface="Times New Roman"/>
                <a:cs typeface="Times New Roman"/>
              </a:rPr>
              <a:t>Activity</a:t>
            </a:r>
            <a:r>
              <a:rPr dirty="0" sz="1200" spc="-10" b="1">
                <a:latin typeface="Times New Roman"/>
                <a:cs typeface="Times New Roman"/>
              </a:rPr>
              <a:t> </a:t>
            </a:r>
            <a:r>
              <a:rPr dirty="0" sz="1200" spc="-5" b="1">
                <a:latin typeface="Times New Roman"/>
                <a:cs typeface="Times New Roman"/>
              </a:rPr>
              <a:t>parameters:</a:t>
            </a:r>
            <a:endParaRPr sz="1200">
              <a:latin typeface="Times New Roman"/>
              <a:cs typeface="Times New Roman"/>
            </a:endParaRPr>
          </a:p>
          <a:p>
            <a:pPr marL="469265" marR="8255" indent="-228600">
              <a:lnSpc>
                <a:spcPct val="103299"/>
              </a:lnSpc>
              <a:spcBef>
                <a:spcPts val="785"/>
              </a:spcBef>
              <a:buFont typeface="Microsoft Sans Serif"/>
              <a:buChar char=""/>
              <a:tabLst>
                <a:tab pos="469265" algn="l"/>
                <a:tab pos="469900" algn="l"/>
              </a:tabLst>
            </a:pPr>
            <a:r>
              <a:rPr dirty="0" sz="1200" spc="-5">
                <a:latin typeface="Times New Roman"/>
                <a:cs typeface="Times New Roman"/>
              </a:rPr>
              <a:t>An</a:t>
            </a:r>
            <a:r>
              <a:rPr dirty="0" sz="1200">
                <a:latin typeface="Times New Roman"/>
                <a:cs typeface="Times New Roman"/>
              </a:rPr>
              <a:t> activity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parameter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is</a:t>
            </a:r>
            <a:r>
              <a:rPr dirty="0" sz="1200" spc="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an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object</a:t>
            </a:r>
            <a:r>
              <a:rPr dirty="0" sz="1200">
                <a:latin typeface="Times New Roman"/>
                <a:cs typeface="Times New Roman"/>
              </a:rPr>
              <a:t> node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placed</a:t>
            </a:r>
            <a:r>
              <a:rPr dirty="0" sz="1200">
                <a:latin typeface="Times New Roman"/>
                <a:cs typeface="Times New Roman"/>
              </a:rPr>
              <a:t> on</a:t>
            </a:r>
            <a:r>
              <a:rPr dirty="0" sz="1200" spc="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 </a:t>
            </a:r>
            <a:r>
              <a:rPr dirty="0" sz="1200" spc="-5">
                <a:latin typeface="Times New Roman"/>
                <a:cs typeface="Times New Roman"/>
              </a:rPr>
              <a:t>boundaries</a:t>
            </a:r>
            <a:r>
              <a:rPr dirty="0" sz="1200">
                <a:latin typeface="Times New Roman"/>
                <a:cs typeface="Times New Roman"/>
              </a:rPr>
              <a:t> of</a:t>
            </a:r>
            <a:r>
              <a:rPr dirty="0" sz="1200" spc="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an</a:t>
            </a:r>
            <a:r>
              <a:rPr dirty="0" sz="1200">
                <a:latin typeface="Times New Roman"/>
                <a:cs typeface="Times New Roman"/>
              </a:rPr>
              <a:t> activity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symbol</a:t>
            </a:r>
            <a:r>
              <a:rPr dirty="0" sz="1200">
                <a:latin typeface="Times New Roman"/>
                <a:cs typeface="Times New Roman"/>
              </a:rPr>
              <a:t> to </a:t>
            </a:r>
            <a:r>
              <a:rPr dirty="0" sz="1200" spc="-28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represent data</a:t>
            </a:r>
            <a:r>
              <a:rPr dirty="0" sz="1200">
                <a:latin typeface="Times New Roman"/>
                <a:cs typeface="Times New Roman"/>
              </a:rPr>
              <a:t> or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object inputs or </a:t>
            </a:r>
            <a:r>
              <a:rPr dirty="0" sz="1200" spc="-5">
                <a:latin typeface="Times New Roman"/>
                <a:cs typeface="Times New Roman"/>
              </a:rPr>
              <a:t>outputs.</a:t>
            </a:r>
            <a:endParaRPr sz="1200">
              <a:latin typeface="Times New Roman"/>
              <a:cs typeface="Times New Roman"/>
            </a:endParaRPr>
          </a:p>
          <a:p>
            <a:pPr marL="469265" marR="5080" indent="-228600">
              <a:lnSpc>
                <a:spcPct val="102499"/>
              </a:lnSpc>
              <a:spcBef>
                <a:spcPts val="815"/>
              </a:spcBef>
              <a:buFont typeface="Microsoft Sans Serif"/>
              <a:buChar char=""/>
              <a:tabLst>
                <a:tab pos="469265" algn="l"/>
                <a:tab pos="469900" algn="l"/>
              </a:tabLst>
            </a:pPr>
            <a:r>
              <a:rPr dirty="0" sz="1200" spc="-5">
                <a:latin typeface="Times New Roman"/>
                <a:cs typeface="Times New Roman"/>
              </a:rPr>
              <a:t>Input </a:t>
            </a:r>
            <a:r>
              <a:rPr dirty="0" sz="1200">
                <a:latin typeface="Times New Roman"/>
                <a:cs typeface="Times New Roman"/>
              </a:rPr>
              <a:t>activity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parameters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have </a:t>
            </a:r>
            <a:r>
              <a:rPr dirty="0" sz="1200" spc="5">
                <a:latin typeface="Times New Roman"/>
                <a:cs typeface="Times New Roman"/>
              </a:rPr>
              <a:t>only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outgoing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arrows,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and</a:t>
            </a:r>
            <a:r>
              <a:rPr dirty="0" sz="1200">
                <a:latin typeface="Times New Roman"/>
                <a:cs typeface="Times New Roman"/>
              </a:rPr>
              <a:t> output activity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parameters</a:t>
            </a:r>
            <a:r>
              <a:rPr dirty="0" sz="1200" spc="-5">
                <a:latin typeface="Times New Roman"/>
                <a:cs typeface="Times New Roman"/>
              </a:rPr>
              <a:t> have </a:t>
            </a:r>
            <a:r>
              <a:rPr dirty="0" sz="1200" spc="-28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only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incoming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arrows.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4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200" spc="-5" b="1">
                <a:latin typeface="Times New Roman"/>
                <a:cs typeface="Times New Roman"/>
              </a:rPr>
              <a:t>Activity</a:t>
            </a:r>
            <a:r>
              <a:rPr dirty="0" sz="1200" spc="-10" b="1">
                <a:latin typeface="Times New Roman"/>
                <a:cs typeface="Times New Roman"/>
              </a:rPr>
              <a:t> </a:t>
            </a:r>
            <a:r>
              <a:rPr dirty="0" sz="1200" spc="-5" b="1">
                <a:latin typeface="Times New Roman"/>
                <a:cs typeface="Times New Roman"/>
              </a:rPr>
              <a:t>parameters</a:t>
            </a:r>
            <a:r>
              <a:rPr dirty="0" sz="1200" spc="-10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(Example):</a:t>
            </a:r>
            <a:endParaRPr sz="12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14251" y="5059567"/>
            <a:ext cx="3322419" cy="3721834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889507"/>
            <a:ext cx="184594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 b="1">
                <a:latin typeface="Times New Roman"/>
                <a:cs typeface="Times New Roman"/>
              </a:rPr>
              <a:t>Activity </a:t>
            </a:r>
            <a:r>
              <a:rPr dirty="0" sz="1200" b="1">
                <a:latin typeface="Times New Roman"/>
                <a:cs typeface="Times New Roman"/>
              </a:rPr>
              <a:t>diagram</a:t>
            </a:r>
            <a:r>
              <a:rPr dirty="0" sz="1200" spc="-25" b="1">
                <a:latin typeface="Times New Roman"/>
                <a:cs typeface="Times New Roman"/>
              </a:rPr>
              <a:t> </a:t>
            </a:r>
            <a:r>
              <a:rPr dirty="0" sz="1200" spc="-5" b="1">
                <a:latin typeface="Times New Roman"/>
                <a:cs typeface="Times New Roman"/>
              </a:rPr>
              <a:t>heuristics: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359153" y="1468882"/>
            <a:ext cx="2982595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>
                <a:latin typeface="Calibri"/>
                <a:cs typeface="Calibri"/>
              </a:rPr>
              <a:t>Name </a:t>
            </a:r>
            <a:r>
              <a:rPr dirty="0" sz="1100" spc="-5">
                <a:latin typeface="Calibri"/>
                <a:cs typeface="Calibri"/>
              </a:rPr>
              <a:t>activities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action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nodes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with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verb</a:t>
            </a:r>
            <a:r>
              <a:rPr dirty="0" sz="1100" spc="-5">
                <a:latin typeface="Calibri"/>
                <a:cs typeface="Calibri"/>
              </a:rPr>
              <a:t> phrases.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59153" y="1755394"/>
            <a:ext cx="275717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>
                <a:latin typeface="Calibri"/>
                <a:cs typeface="Calibri"/>
              </a:rPr>
              <a:t>Name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object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nodes</a:t>
            </a:r>
            <a:r>
              <a:rPr dirty="0" sz="1100">
                <a:latin typeface="Calibri"/>
                <a:cs typeface="Calibri"/>
              </a:rPr>
              <a:t> and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pins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with</a:t>
            </a:r>
            <a:r>
              <a:rPr dirty="0" sz="1100" spc="-5">
                <a:latin typeface="Calibri"/>
                <a:cs typeface="Calibri"/>
              </a:rPr>
              <a:t> noun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phrases.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59153" y="2040382"/>
            <a:ext cx="4411345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">
                <a:latin typeface="Calibri"/>
                <a:cs typeface="Calibri"/>
              </a:rPr>
              <a:t>Don’t</a:t>
            </a:r>
            <a:r>
              <a:rPr dirty="0" sz="110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use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both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control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data </a:t>
            </a:r>
            <a:r>
              <a:rPr dirty="0" sz="1100" spc="-5">
                <a:latin typeface="Calibri"/>
                <a:cs typeface="Calibri"/>
              </a:rPr>
              <a:t>flows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when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 </a:t>
            </a:r>
            <a:r>
              <a:rPr dirty="0" sz="1100" spc="-5">
                <a:latin typeface="Calibri"/>
                <a:cs typeface="Calibri"/>
              </a:rPr>
              <a:t>data</a:t>
            </a:r>
            <a:r>
              <a:rPr dirty="0" sz="110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flow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alone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can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do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the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job.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59153" y="2325370"/>
            <a:ext cx="467106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>
                <a:latin typeface="Calibri"/>
                <a:cs typeface="Calibri"/>
              </a:rPr>
              <a:t>Make</a:t>
            </a:r>
            <a:r>
              <a:rPr dirty="0" sz="1100" spc="-5">
                <a:latin typeface="Calibri"/>
                <a:cs typeface="Calibri"/>
              </a:rPr>
              <a:t> sure </a:t>
            </a:r>
            <a:r>
              <a:rPr dirty="0" sz="1100">
                <a:latin typeface="Calibri"/>
                <a:cs typeface="Calibri"/>
              </a:rPr>
              <a:t>that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all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flows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entering</a:t>
            </a:r>
            <a:r>
              <a:rPr dirty="0" sz="1100">
                <a:latin typeface="Calibri"/>
                <a:cs typeface="Calibri"/>
              </a:rPr>
              <a:t> an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action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node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can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provide </a:t>
            </a:r>
            <a:r>
              <a:rPr dirty="0" sz="1100">
                <a:latin typeface="Calibri"/>
                <a:cs typeface="Calibri"/>
              </a:rPr>
              <a:t>tokens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concurrently.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30604" y="1183894"/>
            <a:ext cx="4171950" cy="16217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0665" indent="-228600">
              <a:lnSpc>
                <a:spcPct val="100000"/>
              </a:lnSpc>
              <a:spcBef>
                <a:spcPts val="100"/>
              </a:spcBef>
              <a:buFont typeface="Microsoft Sans Serif"/>
              <a:buChar char=""/>
              <a:tabLst>
                <a:tab pos="240665" algn="l"/>
                <a:tab pos="241300" algn="l"/>
              </a:tabLst>
            </a:pPr>
            <a:r>
              <a:rPr dirty="0" sz="1100">
                <a:latin typeface="Calibri"/>
                <a:cs typeface="Calibri"/>
              </a:rPr>
              <a:t>Model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flow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control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objects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down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page </a:t>
            </a:r>
            <a:r>
              <a:rPr dirty="0" sz="1100">
                <a:latin typeface="Calibri"/>
                <a:cs typeface="Calibri"/>
              </a:rPr>
              <a:t>and </a:t>
            </a:r>
            <a:r>
              <a:rPr dirty="0" sz="1100" spc="-5">
                <a:latin typeface="Calibri"/>
                <a:cs typeface="Calibri"/>
              </a:rPr>
              <a:t>from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left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to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right.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25"/>
              </a:spcBef>
            </a:pPr>
            <a:r>
              <a:rPr dirty="0" sz="1100" spc="-155">
                <a:latin typeface="Microsoft Sans Serif"/>
                <a:cs typeface="Microsoft Sans Serif"/>
              </a:rPr>
              <a:t>🞂</a:t>
            </a:r>
            <a:endParaRPr sz="11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935"/>
              </a:spcBef>
            </a:pPr>
            <a:r>
              <a:rPr dirty="0" sz="1100" spc="-155">
                <a:latin typeface="Microsoft Sans Serif"/>
                <a:cs typeface="Microsoft Sans Serif"/>
              </a:rPr>
              <a:t>🞂</a:t>
            </a:r>
            <a:endParaRPr sz="11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925"/>
              </a:spcBef>
            </a:pPr>
            <a:r>
              <a:rPr dirty="0" sz="1100" spc="-155">
                <a:latin typeface="Microsoft Sans Serif"/>
                <a:cs typeface="Microsoft Sans Serif"/>
              </a:rPr>
              <a:t>🞂</a:t>
            </a:r>
            <a:endParaRPr sz="11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925"/>
              </a:spcBef>
            </a:pPr>
            <a:r>
              <a:rPr dirty="0" sz="1100" spc="-155">
                <a:latin typeface="Microsoft Sans Serif"/>
                <a:cs typeface="Microsoft Sans Serif"/>
              </a:rPr>
              <a:t>🞂</a:t>
            </a:r>
            <a:endParaRPr sz="11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935"/>
              </a:spcBef>
            </a:pPr>
            <a:r>
              <a:rPr dirty="0" sz="1100" spc="-155">
                <a:latin typeface="Microsoft Sans Serif"/>
                <a:cs typeface="Microsoft Sans Serif"/>
              </a:rPr>
              <a:t>🞂</a:t>
            </a:r>
            <a:endParaRPr sz="1100">
              <a:latin typeface="Microsoft Sans Serif"/>
              <a:cs typeface="Microsoft Sans Serif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59153" y="2611882"/>
            <a:ext cx="2117725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>
                <a:latin typeface="Calibri"/>
                <a:cs typeface="Calibri"/>
              </a:rPr>
              <a:t>Use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the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[else]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guard </a:t>
            </a:r>
            <a:r>
              <a:rPr dirty="0" sz="1100">
                <a:latin typeface="Calibri"/>
                <a:cs typeface="Calibri"/>
              </a:rPr>
              <a:t>at</a:t>
            </a:r>
            <a:r>
              <a:rPr dirty="0" sz="1100" spc="-5">
                <a:latin typeface="Calibri"/>
                <a:cs typeface="Calibri"/>
              </a:rPr>
              <a:t> every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branch.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896416" y="3490595"/>
            <a:ext cx="5981065" cy="18415"/>
          </a:xfrm>
          <a:custGeom>
            <a:avLst/>
            <a:gdLst/>
            <a:ahLst/>
            <a:cxnLst/>
            <a:rect l="l" t="t" r="r" b="b"/>
            <a:pathLst>
              <a:path w="5981065" h="18414">
                <a:moveTo>
                  <a:pt x="5981065" y="0"/>
                </a:moveTo>
                <a:lnTo>
                  <a:pt x="0" y="0"/>
                </a:lnTo>
                <a:lnTo>
                  <a:pt x="0" y="18288"/>
                </a:lnTo>
                <a:lnTo>
                  <a:pt x="5981065" y="18288"/>
                </a:lnTo>
                <a:lnTo>
                  <a:pt x="598106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896416" y="3719195"/>
            <a:ext cx="5981065" cy="18415"/>
          </a:xfrm>
          <a:custGeom>
            <a:avLst/>
            <a:gdLst/>
            <a:ahLst/>
            <a:cxnLst/>
            <a:rect l="l" t="t" r="r" b="b"/>
            <a:pathLst>
              <a:path w="5981065" h="18414">
                <a:moveTo>
                  <a:pt x="5981065" y="0"/>
                </a:moveTo>
                <a:lnTo>
                  <a:pt x="0" y="0"/>
                </a:lnTo>
                <a:lnTo>
                  <a:pt x="0" y="18287"/>
                </a:lnTo>
                <a:lnTo>
                  <a:pt x="5981065" y="18287"/>
                </a:lnTo>
                <a:lnTo>
                  <a:pt x="598106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3235579" y="4104258"/>
            <a:ext cx="1303655" cy="1936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 b="1">
                <a:latin typeface="Calibri"/>
                <a:cs typeface="Calibri"/>
              </a:rPr>
              <a:t>(WEEK</a:t>
            </a:r>
            <a:r>
              <a:rPr dirty="0" sz="1100" spc="-40" b="1">
                <a:latin typeface="Calibri"/>
                <a:cs typeface="Calibri"/>
              </a:rPr>
              <a:t> </a:t>
            </a:r>
            <a:r>
              <a:rPr dirty="0" sz="1100" b="1">
                <a:latin typeface="Calibri"/>
                <a:cs typeface="Calibri"/>
              </a:rPr>
              <a:t>3</a:t>
            </a:r>
            <a:r>
              <a:rPr dirty="0" sz="1100" spc="-25" b="1">
                <a:latin typeface="Calibri"/>
                <a:cs typeface="Calibri"/>
              </a:rPr>
              <a:t> </a:t>
            </a:r>
            <a:r>
              <a:rPr dirty="0" sz="1100" spc="-5" b="1">
                <a:latin typeface="Calibri"/>
                <a:cs typeface="Calibri"/>
              </a:rPr>
              <a:t>COMPLETED)</a:t>
            </a:r>
            <a:endParaRPr sz="1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551046" y="1177798"/>
            <a:ext cx="67310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b="1">
                <a:latin typeface="Calibri"/>
                <a:cs typeface="Calibri"/>
              </a:rPr>
              <a:t>(WEAK</a:t>
            </a:r>
            <a:r>
              <a:rPr dirty="0" sz="1100" spc="-50" b="1">
                <a:latin typeface="Calibri"/>
                <a:cs typeface="Calibri"/>
              </a:rPr>
              <a:t> </a:t>
            </a:r>
            <a:r>
              <a:rPr dirty="0" sz="1100" b="1">
                <a:latin typeface="Calibri"/>
                <a:cs typeface="Calibri"/>
              </a:rPr>
              <a:t>#</a:t>
            </a:r>
            <a:r>
              <a:rPr dirty="0" sz="1100" spc="-35" b="1">
                <a:latin typeface="Calibri"/>
                <a:cs typeface="Calibri"/>
              </a:rPr>
              <a:t> </a:t>
            </a:r>
            <a:r>
              <a:rPr dirty="0" sz="1100" spc="-5" b="1">
                <a:latin typeface="Calibri"/>
                <a:cs typeface="Calibri"/>
              </a:rPr>
              <a:t>4)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891154" y="1779777"/>
            <a:ext cx="199136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" b="1">
                <a:latin typeface="Times New Roman"/>
                <a:cs typeface="Times New Roman"/>
              </a:rPr>
              <a:t>Software</a:t>
            </a:r>
            <a:r>
              <a:rPr dirty="0" sz="1400" spc="-15" b="1">
                <a:latin typeface="Times New Roman"/>
                <a:cs typeface="Times New Roman"/>
              </a:rPr>
              <a:t> </a:t>
            </a:r>
            <a:r>
              <a:rPr dirty="0" sz="1400" spc="-5" b="1">
                <a:latin typeface="Times New Roman"/>
                <a:cs typeface="Times New Roman"/>
              </a:rPr>
              <a:t>design</a:t>
            </a:r>
            <a:r>
              <a:rPr dirty="0" sz="1400" spc="-10" b="1">
                <a:latin typeface="Times New Roman"/>
                <a:cs typeface="Times New Roman"/>
              </a:rPr>
              <a:t> </a:t>
            </a:r>
            <a:r>
              <a:rPr dirty="0" sz="1400" spc="-5" b="1">
                <a:latin typeface="Times New Roman"/>
                <a:cs typeface="Times New Roman"/>
              </a:rPr>
              <a:t>processes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2004" y="2965449"/>
            <a:ext cx="3376929" cy="10661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10" b="1">
                <a:latin typeface="Calibri"/>
                <a:cs typeface="Calibri"/>
              </a:rPr>
              <a:t>So</a:t>
            </a:r>
            <a:r>
              <a:rPr dirty="0" sz="1100" spc="-5" b="1">
                <a:latin typeface="Calibri"/>
                <a:cs typeface="Calibri"/>
              </a:rPr>
              <a:t>ft</a:t>
            </a:r>
            <a:r>
              <a:rPr dirty="0" sz="1100" b="1">
                <a:latin typeface="Calibri"/>
                <a:cs typeface="Calibri"/>
              </a:rPr>
              <a:t>w</a:t>
            </a:r>
            <a:r>
              <a:rPr dirty="0" sz="1100" spc="-10" b="1">
                <a:latin typeface="Calibri"/>
                <a:cs typeface="Calibri"/>
              </a:rPr>
              <a:t>a</a:t>
            </a:r>
            <a:r>
              <a:rPr dirty="0" sz="1100" b="1">
                <a:latin typeface="Calibri"/>
                <a:cs typeface="Calibri"/>
              </a:rPr>
              <a:t>re</a:t>
            </a:r>
            <a:r>
              <a:rPr dirty="0" sz="1100" spc="-5" b="1">
                <a:latin typeface="Calibri"/>
                <a:cs typeface="Calibri"/>
              </a:rPr>
              <a:t> </a:t>
            </a:r>
            <a:r>
              <a:rPr dirty="0" sz="1100" b="1">
                <a:latin typeface="Calibri"/>
                <a:cs typeface="Calibri"/>
              </a:rPr>
              <a:t>d</a:t>
            </a:r>
            <a:r>
              <a:rPr dirty="0" sz="1100" spc="-10" b="1">
                <a:latin typeface="Calibri"/>
                <a:cs typeface="Calibri"/>
              </a:rPr>
              <a:t>e</a:t>
            </a:r>
            <a:r>
              <a:rPr dirty="0" sz="1100" b="1">
                <a:latin typeface="Calibri"/>
                <a:cs typeface="Calibri"/>
              </a:rPr>
              <a:t>s</a:t>
            </a:r>
            <a:r>
              <a:rPr dirty="0" sz="1100" spc="-10" b="1">
                <a:latin typeface="Calibri"/>
                <a:cs typeface="Calibri"/>
              </a:rPr>
              <a:t>i</a:t>
            </a:r>
            <a:r>
              <a:rPr dirty="0" sz="1100" b="1">
                <a:latin typeface="Calibri"/>
                <a:cs typeface="Calibri"/>
              </a:rPr>
              <a:t>gn:</a:t>
            </a:r>
            <a:endParaRPr sz="1100">
              <a:latin typeface="Calibri"/>
              <a:cs typeface="Calibri"/>
            </a:endParaRPr>
          </a:p>
          <a:p>
            <a:pPr marL="469265" indent="-228600">
              <a:lnSpc>
                <a:spcPct val="100000"/>
              </a:lnSpc>
              <a:spcBef>
                <a:spcPts val="930"/>
              </a:spcBef>
              <a:buFont typeface="Microsoft Sans Serif"/>
              <a:buChar char=""/>
              <a:tabLst>
                <a:tab pos="469265" algn="l"/>
                <a:tab pos="469900" algn="l"/>
              </a:tabLst>
            </a:pPr>
            <a:r>
              <a:rPr dirty="0" sz="1100" spc="-5">
                <a:latin typeface="Calibri"/>
                <a:cs typeface="Calibri"/>
              </a:rPr>
              <a:t>Software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design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consists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-5">
                <a:latin typeface="Calibri"/>
                <a:cs typeface="Calibri"/>
              </a:rPr>
              <a:t> two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different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activities.</a:t>
            </a:r>
            <a:endParaRPr sz="1100">
              <a:latin typeface="Calibri"/>
              <a:cs typeface="Calibri"/>
            </a:endParaRPr>
          </a:p>
          <a:p>
            <a:pPr lvl="1" marL="926465" indent="-229235">
              <a:lnSpc>
                <a:spcPct val="100000"/>
              </a:lnSpc>
              <a:spcBef>
                <a:spcPts val="994"/>
              </a:spcBef>
              <a:buFont typeface="Verdana"/>
              <a:buChar char="◦"/>
              <a:tabLst>
                <a:tab pos="926465" algn="l"/>
                <a:tab pos="927100" algn="l"/>
              </a:tabLst>
            </a:pPr>
            <a:r>
              <a:rPr dirty="0" sz="1100" spc="-5">
                <a:latin typeface="Calibri"/>
                <a:cs typeface="Calibri"/>
              </a:rPr>
              <a:t>Software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product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design</a:t>
            </a:r>
            <a:endParaRPr sz="1100">
              <a:latin typeface="Calibri"/>
              <a:cs typeface="Calibri"/>
            </a:endParaRPr>
          </a:p>
          <a:p>
            <a:pPr lvl="1" marL="926465" indent="-229235">
              <a:lnSpc>
                <a:spcPct val="100000"/>
              </a:lnSpc>
              <a:spcBef>
                <a:spcPts val="985"/>
              </a:spcBef>
              <a:buFont typeface="Verdana"/>
              <a:buChar char="◦"/>
              <a:tabLst>
                <a:tab pos="926465" algn="l"/>
                <a:tab pos="927100" algn="l"/>
              </a:tabLst>
            </a:pPr>
            <a:r>
              <a:rPr dirty="0" sz="1100" spc="-5">
                <a:latin typeface="Calibri"/>
                <a:cs typeface="Calibri"/>
              </a:rPr>
              <a:t>Software engineering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design</a:t>
            </a:r>
            <a:endParaRPr sz="11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78460" y="4462372"/>
            <a:ext cx="2199424" cy="2086767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892556"/>
            <a:ext cx="141478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" b="1">
                <a:latin typeface="Calibri"/>
                <a:cs typeface="Calibri"/>
              </a:rPr>
              <a:t>Analysis</a:t>
            </a:r>
            <a:r>
              <a:rPr dirty="0" sz="1100" spc="-20" b="1">
                <a:latin typeface="Calibri"/>
                <a:cs typeface="Calibri"/>
              </a:rPr>
              <a:t> </a:t>
            </a:r>
            <a:r>
              <a:rPr dirty="0" sz="1100" spc="-5" b="1">
                <a:latin typeface="Calibri"/>
                <a:cs typeface="Calibri"/>
              </a:rPr>
              <a:t>and</a:t>
            </a:r>
            <a:r>
              <a:rPr dirty="0" sz="1100" spc="-15" b="1">
                <a:latin typeface="Calibri"/>
                <a:cs typeface="Calibri"/>
              </a:rPr>
              <a:t> </a:t>
            </a:r>
            <a:r>
              <a:rPr dirty="0" sz="1100" spc="-5" b="1">
                <a:latin typeface="Calibri"/>
                <a:cs typeface="Calibri"/>
              </a:rPr>
              <a:t>resolution: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359153" y="1464310"/>
            <a:ext cx="439039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>
                <a:latin typeface="Calibri"/>
                <a:cs typeface="Calibri"/>
              </a:rPr>
              <a:t>If design is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problem solving,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then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this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activity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must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be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 </a:t>
            </a:r>
            <a:r>
              <a:rPr dirty="0" sz="1100" spc="-5">
                <a:latin typeface="Calibri"/>
                <a:cs typeface="Calibri"/>
              </a:rPr>
              <a:t>first </a:t>
            </a:r>
            <a:r>
              <a:rPr dirty="0" sz="1100">
                <a:latin typeface="Calibri"/>
                <a:cs typeface="Calibri"/>
              </a:rPr>
              <a:t>step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design.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59153" y="1749298"/>
            <a:ext cx="536956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" i="1">
                <a:latin typeface="Calibri"/>
                <a:cs typeface="Calibri"/>
              </a:rPr>
              <a:t>Analysis</a:t>
            </a:r>
            <a:r>
              <a:rPr dirty="0" sz="1100" spc="10" i="1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is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 </a:t>
            </a:r>
            <a:r>
              <a:rPr dirty="0" sz="1100" spc="-5">
                <a:latin typeface="Calibri"/>
                <a:cs typeface="Calibri"/>
              </a:rPr>
              <a:t>activity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breaking</a:t>
            </a:r>
            <a:r>
              <a:rPr dirty="0" sz="110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down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design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problem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for</a:t>
            </a:r>
            <a:r>
              <a:rPr dirty="0" sz="1100">
                <a:latin typeface="Calibri"/>
                <a:cs typeface="Calibri"/>
              </a:rPr>
              <a:t> the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purpose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understanding</a:t>
            </a:r>
            <a:r>
              <a:rPr dirty="0" sz="1100">
                <a:latin typeface="Calibri"/>
                <a:cs typeface="Calibri"/>
              </a:rPr>
              <a:t> it.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59153" y="2035810"/>
            <a:ext cx="2978785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">
                <a:latin typeface="Calibri"/>
                <a:cs typeface="Calibri"/>
              </a:rPr>
              <a:t>Once</a:t>
            </a:r>
            <a:r>
              <a:rPr dirty="0" sz="110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problem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is </a:t>
            </a:r>
            <a:r>
              <a:rPr dirty="0" sz="1100" spc="-5">
                <a:latin typeface="Calibri"/>
                <a:cs typeface="Calibri"/>
              </a:rPr>
              <a:t>understood,</a:t>
            </a:r>
            <a:r>
              <a:rPr dirty="0" sz="110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next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step </a:t>
            </a:r>
            <a:r>
              <a:rPr dirty="0" sz="1100">
                <a:latin typeface="Calibri"/>
                <a:cs typeface="Calibri"/>
              </a:rPr>
              <a:t>is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to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solve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it.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30604" y="1177798"/>
            <a:ext cx="4719955" cy="1336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0665" indent="-228600">
              <a:lnSpc>
                <a:spcPct val="100000"/>
              </a:lnSpc>
              <a:spcBef>
                <a:spcPts val="100"/>
              </a:spcBef>
              <a:buFont typeface="Microsoft Sans Serif"/>
              <a:buChar char=""/>
              <a:tabLst>
                <a:tab pos="240665" algn="l"/>
                <a:tab pos="241300" algn="l"/>
              </a:tabLst>
            </a:pPr>
            <a:r>
              <a:rPr dirty="0" sz="1100" spc="-5">
                <a:latin typeface="Calibri"/>
                <a:cs typeface="Calibri"/>
              </a:rPr>
              <a:t>The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first </a:t>
            </a:r>
            <a:r>
              <a:rPr dirty="0" sz="1100">
                <a:latin typeface="Calibri"/>
                <a:cs typeface="Calibri"/>
              </a:rPr>
              <a:t>step of </a:t>
            </a:r>
            <a:r>
              <a:rPr dirty="0" sz="1100" spc="-5">
                <a:latin typeface="Calibri"/>
                <a:cs typeface="Calibri"/>
              </a:rPr>
              <a:t>“problem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solving”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must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always be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to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understand</a:t>
            </a:r>
            <a:r>
              <a:rPr dirty="0" sz="1100" spc="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problem.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40"/>
              </a:spcBef>
            </a:pPr>
            <a:r>
              <a:rPr dirty="0" sz="1100" spc="-155">
                <a:latin typeface="Microsoft Sans Serif"/>
                <a:cs typeface="Microsoft Sans Serif"/>
              </a:rPr>
              <a:t>🞂</a:t>
            </a:r>
            <a:endParaRPr sz="11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919"/>
              </a:spcBef>
            </a:pPr>
            <a:r>
              <a:rPr dirty="0" sz="1100" spc="-155">
                <a:latin typeface="Microsoft Sans Serif"/>
                <a:cs typeface="Microsoft Sans Serif"/>
              </a:rPr>
              <a:t>🞂</a:t>
            </a:r>
            <a:endParaRPr sz="11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940"/>
              </a:spcBef>
            </a:pPr>
            <a:r>
              <a:rPr dirty="0" sz="1100" spc="-155">
                <a:latin typeface="Microsoft Sans Serif"/>
                <a:cs typeface="Microsoft Sans Serif"/>
              </a:rPr>
              <a:t>🞂</a:t>
            </a:r>
            <a:endParaRPr sz="11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919"/>
              </a:spcBef>
            </a:pPr>
            <a:r>
              <a:rPr dirty="0" sz="1100" spc="-155">
                <a:latin typeface="Microsoft Sans Serif"/>
                <a:cs typeface="Microsoft Sans Serif"/>
              </a:rPr>
              <a:t>🞂</a:t>
            </a:r>
            <a:endParaRPr sz="1100">
              <a:latin typeface="Microsoft Sans Serif"/>
              <a:cs typeface="Microsoft Sans Serif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59153" y="2304644"/>
            <a:ext cx="5313045" cy="3943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0000"/>
              </a:lnSpc>
              <a:spcBef>
                <a:spcPts val="100"/>
              </a:spcBef>
            </a:pPr>
            <a:r>
              <a:rPr dirty="0" sz="1100" spc="-5">
                <a:latin typeface="Calibri"/>
                <a:cs typeface="Calibri"/>
              </a:rPr>
              <a:t>Unfortunately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activity</a:t>
            </a:r>
            <a:r>
              <a:rPr dirty="0" sz="1100">
                <a:latin typeface="Calibri"/>
                <a:cs typeface="Calibri"/>
              </a:rPr>
              <a:t> of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solving a</a:t>
            </a:r>
            <a:r>
              <a:rPr dirty="0" sz="1100" spc="-5">
                <a:latin typeface="Calibri"/>
                <a:cs typeface="Calibri"/>
              </a:rPr>
              <a:t> design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problem does not</a:t>
            </a:r>
            <a:r>
              <a:rPr dirty="0" sz="1100" spc="-5">
                <a:latin typeface="Calibri"/>
                <a:cs typeface="Calibri"/>
              </a:rPr>
              <a:t> have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good, widely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accepted </a:t>
            </a:r>
            <a:r>
              <a:rPr dirty="0" sz="1100" spc="-229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name.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59153" y="3077083"/>
            <a:ext cx="4130675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>
                <a:latin typeface="Calibri"/>
                <a:cs typeface="Calibri"/>
              </a:rPr>
              <a:t>In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traditional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way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-5">
                <a:latin typeface="Calibri"/>
                <a:cs typeface="Calibri"/>
              </a:rPr>
              <a:t> speaking,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design consists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of</a:t>
            </a:r>
            <a:r>
              <a:rPr dirty="0" sz="110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the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following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steps: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59153" y="3362071"/>
            <a:ext cx="222504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" i="1">
                <a:latin typeface="Calibri"/>
                <a:cs typeface="Calibri"/>
              </a:rPr>
              <a:t>Analysis</a:t>
            </a:r>
            <a:r>
              <a:rPr dirty="0" sz="1100" spc="-5">
                <a:latin typeface="Calibri"/>
                <a:cs typeface="Calibri"/>
              </a:rPr>
              <a:t>—Understanding</a:t>
            </a:r>
            <a:r>
              <a:rPr dirty="0" sz="110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the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problem.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359153" y="3648582"/>
            <a:ext cx="1732914" cy="1936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 i="1">
                <a:latin typeface="Calibri"/>
                <a:cs typeface="Calibri"/>
              </a:rPr>
              <a:t>Design</a:t>
            </a:r>
            <a:r>
              <a:rPr dirty="0" sz="1100" spc="-25" i="1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—solving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problem.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130604" y="2790189"/>
            <a:ext cx="4461510" cy="13373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0665" indent="-228600">
              <a:lnSpc>
                <a:spcPct val="100000"/>
              </a:lnSpc>
              <a:spcBef>
                <a:spcPts val="100"/>
              </a:spcBef>
              <a:buFont typeface="Microsoft Sans Serif"/>
              <a:buChar char=""/>
              <a:tabLst>
                <a:tab pos="240665" algn="l"/>
                <a:tab pos="241300" algn="l"/>
              </a:tabLst>
            </a:pPr>
            <a:r>
              <a:rPr dirty="0" sz="1100" spc="-5">
                <a:latin typeface="Calibri"/>
                <a:cs typeface="Calibri"/>
              </a:rPr>
              <a:t>Traditionally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this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activity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has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been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called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design,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but</a:t>
            </a:r>
            <a:r>
              <a:rPr dirty="0" sz="110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this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is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very</a:t>
            </a:r>
            <a:r>
              <a:rPr dirty="0" sz="110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confusing.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40"/>
              </a:spcBef>
            </a:pPr>
            <a:r>
              <a:rPr dirty="0" sz="1100" spc="-155">
                <a:latin typeface="Microsoft Sans Serif"/>
                <a:cs typeface="Microsoft Sans Serif"/>
              </a:rPr>
              <a:t>🞂</a:t>
            </a:r>
            <a:endParaRPr sz="11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925"/>
              </a:spcBef>
            </a:pPr>
            <a:r>
              <a:rPr dirty="0" sz="1100" spc="-155">
                <a:latin typeface="Microsoft Sans Serif"/>
                <a:cs typeface="Microsoft Sans Serif"/>
              </a:rPr>
              <a:t>🞂</a:t>
            </a:r>
            <a:endParaRPr sz="11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935"/>
              </a:spcBef>
            </a:pPr>
            <a:r>
              <a:rPr dirty="0" sz="1100" spc="-155">
                <a:latin typeface="Microsoft Sans Serif"/>
                <a:cs typeface="Microsoft Sans Serif"/>
              </a:rPr>
              <a:t>🞂</a:t>
            </a:r>
            <a:endParaRPr sz="11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925"/>
              </a:spcBef>
            </a:pPr>
            <a:r>
              <a:rPr dirty="0" sz="1100" spc="-155">
                <a:latin typeface="Microsoft Sans Serif"/>
                <a:cs typeface="Microsoft Sans Serif"/>
              </a:rPr>
              <a:t>🞂</a:t>
            </a:r>
            <a:endParaRPr sz="1100">
              <a:latin typeface="Microsoft Sans Serif"/>
              <a:cs typeface="Microsoft Sans Serif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359153" y="3933570"/>
            <a:ext cx="4561205" cy="1936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>
                <a:latin typeface="Calibri"/>
                <a:cs typeface="Calibri"/>
              </a:rPr>
              <a:t>In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our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context, </a:t>
            </a:r>
            <a:r>
              <a:rPr dirty="0" sz="1100">
                <a:latin typeface="Calibri"/>
                <a:cs typeface="Calibri"/>
              </a:rPr>
              <a:t>we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refer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to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activity </a:t>
            </a:r>
            <a:r>
              <a:rPr dirty="0" sz="1100">
                <a:latin typeface="Calibri"/>
                <a:cs typeface="Calibri"/>
              </a:rPr>
              <a:t>of solving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</a:t>
            </a:r>
            <a:r>
              <a:rPr dirty="0" sz="1100" spc="-5">
                <a:latin typeface="Calibri"/>
                <a:cs typeface="Calibri"/>
              </a:rPr>
              <a:t> design</a:t>
            </a:r>
            <a:r>
              <a:rPr dirty="0" sz="110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problem </a:t>
            </a:r>
            <a:r>
              <a:rPr dirty="0" sz="1100">
                <a:latin typeface="Calibri"/>
                <a:cs typeface="Calibri"/>
              </a:rPr>
              <a:t>as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i="1">
                <a:latin typeface="Calibri"/>
                <a:cs typeface="Calibri"/>
              </a:rPr>
              <a:t>resolution</a:t>
            </a:r>
            <a:r>
              <a:rPr dirty="0" sz="1100">
                <a:latin typeface="Calibri"/>
                <a:cs typeface="Calibri"/>
              </a:rPr>
              <a:t>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02004" y="4505070"/>
            <a:ext cx="4405630" cy="135064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469265" indent="-228600">
              <a:lnSpc>
                <a:spcPct val="100000"/>
              </a:lnSpc>
              <a:spcBef>
                <a:spcPts val="105"/>
              </a:spcBef>
              <a:buFont typeface="Microsoft Sans Serif"/>
              <a:buChar char=""/>
              <a:tabLst>
                <a:tab pos="469265" algn="l"/>
                <a:tab pos="469900" algn="l"/>
              </a:tabLst>
            </a:pPr>
            <a:r>
              <a:rPr dirty="0" sz="1100" spc="-5">
                <a:latin typeface="Calibri"/>
                <a:cs typeface="Calibri"/>
              </a:rPr>
              <a:t>The </a:t>
            </a:r>
            <a:r>
              <a:rPr dirty="0" sz="1100">
                <a:latin typeface="Calibri"/>
                <a:cs typeface="Calibri"/>
              </a:rPr>
              <a:t>terms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used</a:t>
            </a:r>
            <a:r>
              <a:rPr dirty="0" sz="1100">
                <a:latin typeface="Calibri"/>
                <a:cs typeface="Calibri"/>
              </a:rPr>
              <a:t> in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our </a:t>
            </a:r>
            <a:r>
              <a:rPr dirty="0" sz="1100" spc="-5">
                <a:latin typeface="Calibri"/>
                <a:cs typeface="Calibri"/>
              </a:rPr>
              <a:t>context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will</a:t>
            </a:r>
            <a:r>
              <a:rPr dirty="0" sz="1100" spc="-5">
                <a:latin typeface="Calibri"/>
                <a:cs typeface="Calibri"/>
              </a:rPr>
              <a:t> be:</a:t>
            </a:r>
            <a:endParaRPr sz="1100">
              <a:latin typeface="Calibri"/>
              <a:cs typeface="Calibri"/>
            </a:endParaRPr>
          </a:p>
          <a:p>
            <a:pPr lvl="1" marL="926465" indent="-229235">
              <a:lnSpc>
                <a:spcPct val="100000"/>
              </a:lnSpc>
              <a:spcBef>
                <a:spcPts val="980"/>
              </a:spcBef>
              <a:buFont typeface="Verdana"/>
              <a:buChar char="◦"/>
              <a:tabLst>
                <a:tab pos="926465" algn="l"/>
                <a:tab pos="927100" algn="l"/>
              </a:tabLst>
            </a:pPr>
            <a:r>
              <a:rPr dirty="0" sz="1100" spc="-5" b="1">
                <a:latin typeface="Calibri"/>
                <a:cs typeface="Calibri"/>
              </a:rPr>
              <a:t>Analysis</a:t>
            </a:r>
            <a:r>
              <a:rPr dirty="0" sz="1100" spc="5" b="1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is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breaking</a:t>
            </a:r>
            <a:r>
              <a:rPr dirty="0" sz="110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down </a:t>
            </a:r>
            <a:r>
              <a:rPr dirty="0" sz="1100">
                <a:latin typeface="Calibri"/>
                <a:cs typeface="Calibri"/>
              </a:rPr>
              <a:t>a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design</a:t>
            </a:r>
            <a:r>
              <a:rPr dirty="0" sz="110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problem</a:t>
            </a:r>
            <a:r>
              <a:rPr dirty="0" sz="1100">
                <a:latin typeface="Calibri"/>
                <a:cs typeface="Calibri"/>
              </a:rPr>
              <a:t> to </a:t>
            </a:r>
            <a:r>
              <a:rPr dirty="0" sz="1100" spc="-5">
                <a:latin typeface="Calibri"/>
                <a:cs typeface="Calibri"/>
              </a:rPr>
              <a:t>understand</a:t>
            </a:r>
            <a:r>
              <a:rPr dirty="0" sz="1100">
                <a:latin typeface="Calibri"/>
                <a:cs typeface="Calibri"/>
              </a:rPr>
              <a:t> it.</a:t>
            </a:r>
            <a:endParaRPr sz="1100">
              <a:latin typeface="Calibri"/>
              <a:cs typeface="Calibri"/>
            </a:endParaRPr>
          </a:p>
          <a:p>
            <a:pPr lvl="1" marL="926465" indent="-229235">
              <a:lnSpc>
                <a:spcPct val="100000"/>
              </a:lnSpc>
              <a:spcBef>
                <a:spcPts val="1000"/>
              </a:spcBef>
              <a:buFont typeface="Verdana"/>
              <a:buChar char="◦"/>
              <a:tabLst>
                <a:tab pos="926465" algn="l"/>
                <a:tab pos="927100" algn="l"/>
              </a:tabLst>
            </a:pPr>
            <a:r>
              <a:rPr dirty="0" sz="1100" b="1">
                <a:latin typeface="Calibri"/>
                <a:cs typeface="Calibri"/>
              </a:rPr>
              <a:t>Resolution</a:t>
            </a:r>
            <a:r>
              <a:rPr dirty="0" sz="1100" spc="-5" b="1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is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solving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</a:t>
            </a:r>
            <a:r>
              <a:rPr dirty="0" sz="1100" spc="-5">
                <a:latin typeface="Calibri"/>
                <a:cs typeface="Calibri"/>
              </a:rPr>
              <a:t> design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problem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1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100" spc="-5" b="1">
                <a:latin typeface="Calibri"/>
                <a:cs typeface="Calibri"/>
              </a:rPr>
              <a:t>Analysis</a:t>
            </a:r>
            <a:r>
              <a:rPr dirty="0" sz="1100" spc="-15" b="1">
                <a:latin typeface="Calibri"/>
                <a:cs typeface="Calibri"/>
              </a:rPr>
              <a:t> </a:t>
            </a:r>
            <a:r>
              <a:rPr dirty="0" sz="1100" spc="-5" b="1">
                <a:latin typeface="Calibri"/>
                <a:cs typeface="Calibri"/>
              </a:rPr>
              <a:t>and Resolution</a:t>
            </a:r>
            <a:r>
              <a:rPr dirty="0" sz="1100" spc="-10" b="1">
                <a:latin typeface="Calibri"/>
                <a:cs typeface="Calibri"/>
              </a:rPr>
              <a:t> </a:t>
            </a:r>
            <a:r>
              <a:rPr dirty="0" sz="1100" b="1">
                <a:latin typeface="Calibri"/>
                <a:cs typeface="Calibri"/>
              </a:rPr>
              <a:t>in</a:t>
            </a:r>
            <a:r>
              <a:rPr dirty="0" sz="1100" spc="-15" b="1">
                <a:latin typeface="Calibri"/>
                <a:cs typeface="Calibri"/>
              </a:rPr>
              <a:t> </a:t>
            </a:r>
            <a:r>
              <a:rPr dirty="0" sz="1100" spc="-5" b="1">
                <a:latin typeface="Calibri"/>
                <a:cs typeface="Calibri"/>
              </a:rPr>
              <a:t>Software </a:t>
            </a:r>
            <a:r>
              <a:rPr dirty="0" sz="1100" b="1">
                <a:latin typeface="Calibri"/>
                <a:cs typeface="Calibri"/>
              </a:rPr>
              <a:t>Design: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3294341" y="6740937"/>
            <a:ext cx="1129665" cy="282575"/>
          </a:xfrm>
          <a:custGeom>
            <a:avLst/>
            <a:gdLst/>
            <a:ahLst/>
            <a:cxnLst/>
            <a:rect l="l" t="t" r="r" b="b"/>
            <a:pathLst>
              <a:path w="1129664" h="282575">
                <a:moveTo>
                  <a:pt x="1035124" y="282495"/>
                </a:moveTo>
                <a:lnTo>
                  <a:pt x="1071742" y="275101"/>
                </a:lnTo>
                <a:lnTo>
                  <a:pt x="1101636" y="254933"/>
                </a:lnTo>
                <a:lnTo>
                  <a:pt x="1121786" y="225013"/>
                </a:lnTo>
                <a:lnTo>
                  <a:pt x="1129174" y="188363"/>
                </a:lnTo>
                <a:lnTo>
                  <a:pt x="1129174" y="94132"/>
                </a:lnTo>
                <a:lnTo>
                  <a:pt x="1121786" y="57482"/>
                </a:lnTo>
                <a:lnTo>
                  <a:pt x="1101636" y="27562"/>
                </a:lnTo>
                <a:lnTo>
                  <a:pt x="1071742" y="7394"/>
                </a:lnTo>
                <a:lnTo>
                  <a:pt x="1035124" y="0"/>
                </a:lnTo>
                <a:lnTo>
                  <a:pt x="94129" y="0"/>
                </a:lnTo>
                <a:lnTo>
                  <a:pt x="57498" y="7394"/>
                </a:lnTo>
                <a:lnTo>
                  <a:pt x="27577" y="27562"/>
                </a:lnTo>
                <a:lnTo>
                  <a:pt x="7400" y="57482"/>
                </a:lnTo>
                <a:lnTo>
                  <a:pt x="0" y="94132"/>
                </a:lnTo>
                <a:lnTo>
                  <a:pt x="0" y="188363"/>
                </a:lnTo>
                <a:lnTo>
                  <a:pt x="7400" y="225013"/>
                </a:lnTo>
                <a:lnTo>
                  <a:pt x="27577" y="254933"/>
                </a:lnTo>
                <a:lnTo>
                  <a:pt x="57498" y="275101"/>
                </a:lnTo>
                <a:lnTo>
                  <a:pt x="94129" y="282495"/>
                </a:lnTo>
                <a:lnTo>
                  <a:pt x="1035124" y="282495"/>
                </a:lnTo>
                <a:close/>
              </a:path>
            </a:pathLst>
          </a:custGeom>
          <a:ln w="753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3336253" y="6803533"/>
            <a:ext cx="1045844" cy="13843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750" spc="-5">
                <a:latin typeface="Arial MT"/>
                <a:cs typeface="Arial MT"/>
              </a:rPr>
              <a:t>Product</a:t>
            </a:r>
            <a:r>
              <a:rPr dirty="0" sz="750" spc="-45">
                <a:latin typeface="Arial MT"/>
                <a:cs typeface="Arial MT"/>
              </a:rPr>
              <a:t> </a:t>
            </a:r>
            <a:r>
              <a:rPr dirty="0" sz="750" spc="-5">
                <a:latin typeface="Arial MT"/>
                <a:cs typeface="Arial MT"/>
              </a:rPr>
              <a:t>Design</a:t>
            </a:r>
            <a:r>
              <a:rPr dirty="0" sz="750" spc="-40">
                <a:latin typeface="Arial MT"/>
                <a:cs typeface="Arial MT"/>
              </a:rPr>
              <a:t> </a:t>
            </a:r>
            <a:r>
              <a:rPr dirty="0" sz="750" spc="-5">
                <a:latin typeface="Arial MT"/>
                <a:cs typeface="Arial MT"/>
              </a:rPr>
              <a:t>Analysis</a:t>
            </a:r>
            <a:endParaRPr sz="750">
              <a:latin typeface="Arial MT"/>
              <a:cs typeface="Arial MT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3247286" y="7164730"/>
            <a:ext cx="1223645" cy="282575"/>
          </a:xfrm>
          <a:custGeom>
            <a:avLst/>
            <a:gdLst/>
            <a:ahLst/>
            <a:cxnLst/>
            <a:rect l="l" t="t" r="r" b="b"/>
            <a:pathLst>
              <a:path w="1223645" h="282575">
                <a:moveTo>
                  <a:pt x="1129204" y="282495"/>
                </a:moveTo>
                <a:lnTo>
                  <a:pt x="1165822" y="275101"/>
                </a:lnTo>
                <a:lnTo>
                  <a:pt x="1195716" y="254933"/>
                </a:lnTo>
                <a:lnTo>
                  <a:pt x="1215866" y="225013"/>
                </a:lnTo>
                <a:lnTo>
                  <a:pt x="1223254" y="188363"/>
                </a:lnTo>
                <a:lnTo>
                  <a:pt x="1223254" y="94132"/>
                </a:lnTo>
                <a:lnTo>
                  <a:pt x="1215866" y="57482"/>
                </a:lnTo>
                <a:lnTo>
                  <a:pt x="1195716" y="27562"/>
                </a:lnTo>
                <a:lnTo>
                  <a:pt x="1165822" y="7394"/>
                </a:lnTo>
                <a:lnTo>
                  <a:pt x="1129204" y="0"/>
                </a:lnTo>
                <a:lnTo>
                  <a:pt x="94060" y="0"/>
                </a:lnTo>
                <a:lnTo>
                  <a:pt x="57457" y="7394"/>
                </a:lnTo>
                <a:lnTo>
                  <a:pt x="27558" y="27562"/>
                </a:lnTo>
                <a:lnTo>
                  <a:pt x="7394" y="57482"/>
                </a:lnTo>
                <a:lnTo>
                  <a:pt x="0" y="94132"/>
                </a:lnTo>
                <a:lnTo>
                  <a:pt x="0" y="188363"/>
                </a:lnTo>
                <a:lnTo>
                  <a:pt x="7394" y="225013"/>
                </a:lnTo>
                <a:lnTo>
                  <a:pt x="27558" y="254933"/>
                </a:lnTo>
                <a:lnTo>
                  <a:pt x="57457" y="275101"/>
                </a:lnTo>
                <a:lnTo>
                  <a:pt x="94060" y="282495"/>
                </a:lnTo>
                <a:lnTo>
                  <a:pt x="1129204" y="282495"/>
                </a:lnTo>
                <a:close/>
              </a:path>
            </a:pathLst>
          </a:custGeom>
          <a:ln w="753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3289169" y="7227326"/>
            <a:ext cx="1139825" cy="13843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750" spc="-5">
                <a:latin typeface="Arial MT"/>
                <a:cs typeface="Arial MT"/>
              </a:rPr>
              <a:t>Product</a:t>
            </a:r>
            <a:r>
              <a:rPr dirty="0" sz="750" spc="-45">
                <a:latin typeface="Arial MT"/>
                <a:cs typeface="Arial MT"/>
              </a:rPr>
              <a:t> </a:t>
            </a:r>
            <a:r>
              <a:rPr dirty="0" sz="750" spc="-5">
                <a:latin typeface="Arial MT"/>
                <a:cs typeface="Arial MT"/>
              </a:rPr>
              <a:t>Design</a:t>
            </a:r>
            <a:r>
              <a:rPr dirty="0" sz="750" spc="-40">
                <a:latin typeface="Arial MT"/>
                <a:cs typeface="Arial MT"/>
              </a:rPr>
              <a:t> </a:t>
            </a:r>
            <a:r>
              <a:rPr dirty="0" sz="750" spc="-5">
                <a:latin typeface="Arial MT"/>
                <a:cs typeface="Arial MT"/>
              </a:rPr>
              <a:t>Resolution</a:t>
            </a:r>
            <a:endParaRPr sz="750">
              <a:latin typeface="Arial MT"/>
              <a:cs typeface="Arial MT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2588590" y="6269979"/>
            <a:ext cx="2541270" cy="2496185"/>
          </a:xfrm>
          <a:custGeom>
            <a:avLst/>
            <a:gdLst/>
            <a:ahLst/>
            <a:cxnLst/>
            <a:rect l="l" t="t" r="r" b="b"/>
            <a:pathLst>
              <a:path w="2541270" h="2496184">
                <a:moveTo>
                  <a:pt x="1270328" y="753453"/>
                </a:moveTo>
                <a:lnTo>
                  <a:pt x="1270328" y="894751"/>
                </a:lnTo>
              </a:path>
              <a:path w="2541270" h="2496184">
                <a:moveTo>
                  <a:pt x="1236443" y="826920"/>
                </a:moveTo>
                <a:lnTo>
                  <a:pt x="1250740" y="840522"/>
                </a:lnTo>
                <a:lnTo>
                  <a:pt x="1261388" y="856831"/>
                </a:lnTo>
                <a:lnTo>
                  <a:pt x="1268035" y="875142"/>
                </a:lnTo>
                <a:lnTo>
                  <a:pt x="1270328" y="894751"/>
                </a:lnTo>
                <a:lnTo>
                  <a:pt x="1272622" y="875142"/>
                </a:lnTo>
                <a:lnTo>
                  <a:pt x="1279269" y="856831"/>
                </a:lnTo>
                <a:lnTo>
                  <a:pt x="1289917" y="840522"/>
                </a:lnTo>
                <a:lnTo>
                  <a:pt x="1304214" y="826920"/>
                </a:lnTo>
              </a:path>
              <a:path w="2541270" h="2496184">
                <a:moveTo>
                  <a:pt x="2446548" y="2495831"/>
                </a:moveTo>
                <a:lnTo>
                  <a:pt x="2483181" y="2488430"/>
                </a:lnTo>
                <a:lnTo>
                  <a:pt x="2513109" y="2468246"/>
                </a:lnTo>
                <a:lnTo>
                  <a:pt x="2533294" y="2438309"/>
                </a:lnTo>
                <a:lnTo>
                  <a:pt x="2540697" y="2401648"/>
                </a:lnTo>
                <a:lnTo>
                  <a:pt x="2540697" y="94231"/>
                </a:lnTo>
                <a:lnTo>
                  <a:pt x="2533294" y="57565"/>
                </a:lnTo>
                <a:lnTo>
                  <a:pt x="2513109" y="27611"/>
                </a:lnTo>
                <a:lnTo>
                  <a:pt x="2483181" y="7409"/>
                </a:lnTo>
                <a:lnTo>
                  <a:pt x="2446548" y="0"/>
                </a:lnTo>
                <a:lnTo>
                  <a:pt x="94099" y="0"/>
                </a:lnTo>
                <a:lnTo>
                  <a:pt x="57473" y="7409"/>
                </a:lnTo>
                <a:lnTo>
                  <a:pt x="27563" y="27611"/>
                </a:lnTo>
                <a:lnTo>
                  <a:pt x="7395" y="57565"/>
                </a:lnTo>
                <a:lnTo>
                  <a:pt x="0" y="94231"/>
                </a:lnTo>
                <a:lnTo>
                  <a:pt x="0" y="2401648"/>
                </a:lnTo>
                <a:lnTo>
                  <a:pt x="7395" y="2438309"/>
                </a:lnTo>
                <a:lnTo>
                  <a:pt x="27563" y="2468246"/>
                </a:lnTo>
                <a:lnTo>
                  <a:pt x="57473" y="2488430"/>
                </a:lnTo>
                <a:lnTo>
                  <a:pt x="94099" y="2495831"/>
                </a:lnTo>
                <a:lnTo>
                  <a:pt x="2446548" y="2495832"/>
                </a:lnTo>
              </a:path>
            </a:pathLst>
          </a:custGeom>
          <a:ln w="753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2680441" y="6310624"/>
            <a:ext cx="1062355" cy="34099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750" spc="-10">
                <a:latin typeface="Arial MT"/>
                <a:cs typeface="Arial MT"/>
              </a:rPr>
              <a:t>Software</a:t>
            </a:r>
            <a:r>
              <a:rPr dirty="0" sz="750" spc="-35">
                <a:latin typeface="Arial MT"/>
                <a:cs typeface="Arial MT"/>
              </a:rPr>
              <a:t> </a:t>
            </a:r>
            <a:r>
              <a:rPr dirty="0" sz="750" spc="-5">
                <a:latin typeface="Arial MT"/>
                <a:cs typeface="Arial MT"/>
              </a:rPr>
              <a:t>Design</a:t>
            </a:r>
            <a:endParaRPr sz="750">
              <a:latin typeface="Arial MT"/>
              <a:cs typeface="Arial MT"/>
            </a:endParaRPr>
          </a:p>
          <a:p>
            <a:pPr marL="12700" marR="5080">
              <a:lnSpc>
                <a:spcPct val="101400"/>
              </a:lnSpc>
              <a:spcBef>
                <a:spcPts val="5"/>
              </a:spcBef>
            </a:pPr>
            <a:r>
              <a:rPr dirty="0" sz="650">
                <a:latin typeface="Arial MT"/>
                <a:cs typeface="Arial MT"/>
              </a:rPr>
              <a:t>Product Idea : Problem </a:t>
            </a:r>
            <a:r>
              <a:rPr dirty="0" sz="650" spc="5">
                <a:latin typeface="Arial MT"/>
                <a:cs typeface="Arial MT"/>
              </a:rPr>
              <a:t> </a:t>
            </a:r>
            <a:r>
              <a:rPr dirty="0" sz="650">
                <a:latin typeface="Arial MT"/>
                <a:cs typeface="Arial MT"/>
              </a:rPr>
              <a:t>Design</a:t>
            </a:r>
            <a:r>
              <a:rPr dirty="0" sz="650" spc="-5">
                <a:latin typeface="Arial MT"/>
                <a:cs typeface="Arial MT"/>
              </a:rPr>
              <a:t> </a:t>
            </a:r>
            <a:r>
              <a:rPr dirty="0" sz="650">
                <a:latin typeface="Arial MT"/>
                <a:cs typeface="Arial MT"/>
              </a:rPr>
              <a:t>Document :</a:t>
            </a:r>
            <a:r>
              <a:rPr dirty="0" sz="650" spc="-5">
                <a:latin typeface="Arial MT"/>
                <a:cs typeface="Arial MT"/>
              </a:rPr>
              <a:t> </a:t>
            </a:r>
            <a:r>
              <a:rPr dirty="0" sz="650">
                <a:latin typeface="Arial MT"/>
                <a:cs typeface="Arial MT"/>
              </a:rPr>
              <a:t>Solution</a:t>
            </a:r>
            <a:endParaRPr sz="650">
              <a:latin typeface="Arial MT"/>
              <a:cs typeface="Arial MT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3200242" y="7965270"/>
            <a:ext cx="1317625" cy="282575"/>
          </a:xfrm>
          <a:custGeom>
            <a:avLst/>
            <a:gdLst/>
            <a:ahLst/>
            <a:cxnLst/>
            <a:rect l="l" t="t" r="r" b="b"/>
            <a:pathLst>
              <a:path w="1317625" h="282575">
                <a:moveTo>
                  <a:pt x="1223274" y="282545"/>
                </a:moveTo>
                <a:lnTo>
                  <a:pt x="1259907" y="275143"/>
                </a:lnTo>
                <a:lnTo>
                  <a:pt x="1289835" y="254958"/>
                </a:lnTo>
                <a:lnTo>
                  <a:pt x="1310019" y="225021"/>
                </a:lnTo>
                <a:lnTo>
                  <a:pt x="1317423" y="188363"/>
                </a:lnTo>
                <a:lnTo>
                  <a:pt x="1317423" y="94181"/>
                </a:lnTo>
                <a:lnTo>
                  <a:pt x="1310019" y="57519"/>
                </a:lnTo>
                <a:lnTo>
                  <a:pt x="1289835" y="27583"/>
                </a:lnTo>
                <a:lnTo>
                  <a:pt x="1259907" y="7400"/>
                </a:lnTo>
                <a:lnTo>
                  <a:pt x="1223274" y="0"/>
                </a:lnTo>
                <a:lnTo>
                  <a:pt x="94099" y="0"/>
                </a:lnTo>
                <a:lnTo>
                  <a:pt x="57469" y="7400"/>
                </a:lnTo>
                <a:lnTo>
                  <a:pt x="27559" y="27583"/>
                </a:lnTo>
                <a:lnTo>
                  <a:pt x="7394" y="57519"/>
                </a:lnTo>
                <a:lnTo>
                  <a:pt x="0" y="94181"/>
                </a:lnTo>
                <a:lnTo>
                  <a:pt x="0" y="188363"/>
                </a:lnTo>
                <a:lnTo>
                  <a:pt x="7394" y="225021"/>
                </a:lnTo>
                <a:lnTo>
                  <a:pt x="27559" y="254958"/>
                </a:lnTo>
                <a:lnTo>
                  <a:pt x="57469" y="275143"/>
                </a:lnTo>
                <a:lnTo>
                  <a:pt x="94099" y="282545"/>
                </a:lnTo>
                <a:lnTo>
                  <a:pt x="1223274" y="282545"/>
                </a:lnTo>
                <a:close/>
              </a:path>
            </a:pathLst>
          </a:custGeom>
          <a:ln w="753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3247311" y="8027915"/>
            <a:ext cx="1223645" cy="13843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750" spc="-5">
                <a:latin typeface="Arial MT"/>
                <a:cs typeface="Arial MT"/>
              </a:rPr>
              <a:t>Engineering</a:t>
            </a:r>
            <a:r>
              <a:rPr dirty="0" sz="750" spc="-40">
                <a:latin typeface="Arial MT"/>
                <a:cs typeface="Arial MT"/>
              </a:rPr>
              <a:t> </a:t>
            </a:r>
            <a:r>
              <a:rPr dirty="0" sz="750" spc="-5">
                <a:latin typeface="Arial MT"/>
                <a:cs typeface="Arial MT"/>
              </a:rPr>
              <a:t>Design</a:t>
            </a:r>
            <a:r>
              <a:rPr dirty="0" sz="750" spc="-40">
                <a:latin typeface="Arial MT"/>
                <a:cs typeface="Arial MT"/>
              </a:rPr>
              <a:t> </a:t>
            </a:r>
            <a:r>
              <a:rPr dirty="0" sz="750" spc="-5">
                <a:latin typeface="Arial MT"/>
                <a:cs typeface="Arial MT"/>
              </a:rPr>
              <a:t>Analysis</a:t>
            </a:r>
            <a:endParaRPr sz="750">
              <a:latin typeface="Arial MT"/>
              <a:cs typeface="Arial MT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3153187" y="7447226"/>
            <a:ext cx="1411605" cy="1224915"/>
          </a:xfrm>
          <a:custGeom>
            <a:avLst/>
            <a:gdLst/>
            <a:ahLst/>
            <a:cxnLst/>
            <a:rect l="l" t="t" r="r" b="b"/>
            <a:pathLst>
              <a:path w="1411604" h="1224915">
                <a:moveTo>
                  <a:pt x="705731" y="0"/>
                </a:moveTo>
                <a:lnTo>
                  <a:pt x="705731" y="141297"/>
                </a:lnTo>
              </a:path>
              <a:path w="1411604" h="1224915">
                <a:moveTo>
                  <a:pt x="671846" y="73466"/>
                </a:moveTo>
                <a:lnTo>
                  <a:pt x="686143" y="87068"/>
                </a:lnTo>
                <a:lnTo>
                  <a:pt x="696791" y="103377"/>
                </a:lnTo>
                <a:lnTo>
                  <a:pt x="703437" y="121688"/>
                </a:lnTo>
                <a:lnTo>
                  <a:pt x="705731" y="141297"/>
                </a:lnTo>
                <a:lnTo>
                  <a:pt x="708025" y="121688"/>
                </a:lnTo>
                <a:lnTo>
                  <a:pt x="714672" y="103377"/>
                </a:lnTo>
                <a:lnTo>
                  <a:pt x="725320" y="87068"/>
                </a:lnTo>
                <a:lnTo>
                  <a:pt x="739617" y="73466"/>
                </a:lnTo>
              </a:path>
              <a:path w="1411604" h="1224915">
                <a:moveTo>
                  <a:pt x="1317354" y="1224402"/>
                </a:moveTo>
                <a:lnTo>
                  <a:pt x="1353987" y="1217001"/>
                </a:lnTo>
                <a:lnTo>
                  <a:pt x="1383915" y="1196818"/>
                </a:lnTo>
                <a:lnTo>
                  <a:pt x="1404099" y="1166882"/>
                </a:lnTo>
                <a:lnTo>
                  <a:pt x="1411503" y="1130220"/>
                </a:lnTo>
                <a:lnTo>
                  <a:pt x="1411503" y="1036038"/>
                </a:lnTo>
                <a:lnTo>
                  <a:pt x="1404099" y="999380"/>
                </a:lnTo>
                <a:lnTo>
                  <a:pt x="1383915" y="969443"/>
                </a:lnTo>
                <a:lnTo>
                  <a:pt x="1353987" y="949258"/>
                </a:lnTo>
                <a:lnTo>
                  <a:pt x="1317354" y="941856"/>
                </a:lnTo>
                <a:lnTo>
                  <a:pt x="94099" y="941856"/>
                </a:lnTo>
                <a:lnTo>
                  <a:pt x="57473" y="949258"/>
                </a:lnTo>
                <a:lnTo>
                  <a:pt x="27563" y="969443"/>
                </a:lnTo>
                <a:lnTo>
                  <a:pt x="7395" y="999380"/>
                </a:lnTo>
                <a:lnTo>
                  <a:pt x="0" y="1036038"/>
                </a:lnTo>
                <a:lnTo>
                  <a:pt x="0" y="1130220"/>
                </a:lnTo>
                <a:lnTo>
                  <a:pt x="7395" y="1166882"/>
                </a:lnTo>
                <a:lnTo>
                  <a:pt x="27563" y="1196818"/>
                </a:lnTo>
                <a:lnTo>
                  <a:pt x="57473" y="1217001"/>
                </a:lnTo>
                <a:lnTo>
                  <a:pt x="94099" y="1224402"/>
                </a:lnTo>
                <a:lnTo>
                  <a:pt x="1317354" y="1224402"/>
                </a:lnTo>
                <a:close/>
              </a:path>
            </a:pathLst>
          </a:custGeom>
          <a:ln w="753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3200197" y="8451728"/>
            <a:ext cx="1317625" cy="13843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750" spc="-5">
                <a:latin typeface="Arial MT"/>
                <a:cs typeface="Arial MT"/>
              </a:rPr>
              <a:t>Engineering</a:t>
            </a:r>
            <a:r>
              <a:rPr dirty="0" sz="750" spc="-45">
                <a:latin typeface="Arial MT"/>
                <a:cs typeface="Arial MT"/>
              </a:rPr>
              <a:t> </a:t>
            </a:r>
            <a:r>
              <a:rPr dirty="0" sz="750" spc="-5">
                <a:latin typeface="Arial MT"/>
                <a:cs typeface="Arial MT"/>
              </a:rPr>
              <a:t>Design</a:t>
            </a:r>
            <a:r>
              <a:rPr dirty="0" sz="750" spc="-40">
                <a:latin typeface="Arial MT"/>
                <a:cs typeface="Arial MT"/>
              </a:rPr>
              <a:t> </a:t>
            </a:r>
            <a:r>
              <a:rPr dirty="0" sz="750" spc="-5">
                <a:latin typeface="Arial MT"/>
                <a:cs typeface="Arial MT"/>
              </a:rPr>
              <a:t>Resolution</a:t>
            </a:r>
            <a:endParaRPr sz="750">
              <a:latin typeface="Arial MT"/>
              <a:cs typeface="Arial MT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2349532" y="6737077"/>
            <a:ext cx="1547495" cy="1656080"/>
            <a:chOff x="2349532" y="6737077"/>
            <a:chExt cx="1547495" cy="1656080"/>
          </a:xfrm>
        </p:grpSpPr>
        <p:sp>
          <p:nvSpPr>
            <p:cNvPr id="25" name="object 25"/>
            <p:cNvSpPr/>
            <p:nvPr/>
          </p:nvSpPr>
          <p:spPr>
            <a:xfrm>
              <a:off x="3825033" y="8247815"/>
              <a:ext cx="67945" cy="141605"/>
            </a:xfrm>
            <a:custGeom>
              <a:avLst/>
              <a:gdLst/>
              <a:ahLst/>
              <a:cxnLst/>
              <a:rect l="l" t="t" r="r" b="b"/>
              <a:pathLst>
                <a:path w="67945" h="141604">
                  <a:moveTo>
                    <a:pt x="33885" y="0"/>
                  </a:moveTo>
                  <a:lnTo>
                    <a:pt x="33885" y="141267"/>
                  </a:lnTo>
                </a:path>
                <a:path w="67945" h="141604">
                  <a:moveTo>
                    <a:pt x="0" y="73456"/>
                  </a:moveTo>
                  <a:lnTo>
                    <a:pt x="14297" y="87054"/>
                  </a:lnTo>
                  <a:lnTo>
                    <a:pt x="24945" y="103361"/>
                  </a:lnTo>
                  <a:lnTo>
                    <a:pt x="31591" y="121668"/>
                  </a:lnTo>
                  <a:lnTo>
                    <a:pt x="33885" y="141267"/>
                  </a:lnTo>
                  <a:lnTo>
                    <a:pt x="36179" y="121668"/>
                  </a:lnTo>
                  <a:lnTo>
                    <a:pt x="42826" y="103361"/>
                  </a:lnTo>
                  <a:lnTo>
                    <a:pt x="53474" y="87054"/>
                  </a:lnTo>
                  <a:lnTo>
                    <a:pt x="67771" y="73456"/>
                  </a:lnTo>
                </a:path>
              </a:pathLst>
            </a:custGeom>
            <a:ln w="753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2353342" y="6740887"/>
              <a:ext cx="470534" cy="282575"/>
            </a:xfrm>
            <a:custGeom>
              <a:avLst/>
              <a:gdLst/>
              <a:ahLst/>
              <a:cxnLst/>
              <a:rect l="l" t="t" r="r" b="b"/>
              <a:pathLst>
                <a:path w="470535" h="282575">
                  <a:moveTo>
                    <a:pt x="470497" y="0"/>
                  </a:moveTo>
                  <a:lnTo>
                    <a:pt x="0" y="0"/>
                  </a:lnTo>
                  <a:lnTo>
                    <a:pt x="0" y="282545"/>
                  </a:lnTo>
                  <a:lnTo>
                    <a:pt x="470497" y="282545"/>
                  </a:lnTo>
                  <a:lnTo>
                    <a:pt x="47049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2353342" y="6740887"/>
              <a:ext cx="470534" cy="282575"/>
            </a:xfrm>
            <a:custGeom>
              <a:avLst/>
              <a:gdLst/>
              <a:ahLst/>
              <a:cxnLst/>
              <a:rect l="l" t="t" r="r" b="b"/>
              <a:pathLst>
                <a:path w="470535" h="282575">
                  <a:moveTo>
                    <a:pt x="0" y="282545"/>
                  </a:moveTo>
                  <a:lnTo>
                    <a:pt x="470497" y="282545"/>
                  </a:lnTo>
                  <a:lnTo>
                    <a:pt x="470497" y="0"/>
                  </a:lnTo>
                  <a:lnTo>
                    <a:pt x="0" y="0"/>
                  </a:lnTo>
                  <a:lnTo>
                    <a:pt x="0" y="282545"/>
                  </a:lnTo>
                  <a:close/>
                </a:path>
              </a:pathLst>
            </a:custGeom>
            <a:ln w="75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8" name="object 28"/>
          <p:cNvSpPr txBox="1"/>
          <p:nvPr/>
        </p:nvSpPr>
        <p:spPr>
          <a:xfrm>
            <a:off x="2353342" y="6740887"/>
            <a:ext cx="470534" cy="282575"/>
          </a:xfrm>
          <a:prstGeom prst="rect">
            <a:avLst/>
          </a:prstGeom>
          <a:ln w="7532">
            <a:solidFill>
              <a:srgbClr val="000000"/>
            </a:solidFill>
          </a:ln>
        </p:spPr>
        <p:txBody>
          <a:bodyPr wrap="square" lIns="0" tIns="22225" rIns="0" bIns="0" rtlCol="0" vert="horz">
            <a:spAutoFit/>
          </a:bodyPr>
          <a:lstStyle/>
          <a:p>
            <a:pPr marL="143510" marR="65405" indent="-71120">
              <a:lnSpc>
                <a:spcPts val="890"/>
              </a:lnSpc>
              <a:spcBef>
                <a:spcPts val="175"/>
              </a:spcBef>
            </a:pPr>
            <a:r>
              <a:rPr dirty="0" sz="750" spc="-5">
                <a:latin typeface="Arial MT"/>
                <a:cs typeface="Arial MT"/>
              </a:rPr>
              <a:t>Pr</a:t>
            </a:r>
            <a:r>
              <a:rPr dirty="0" sz="750" spc="-10">
                <a:latin typeface="Arial MT"/>
                <a:cs typeface="Arial MT"/>
              </a:rPr>
              <a:t>odu</a:t>
            </a:r>
            <a:r>
              <a:rPr dirty="0" sz="750" spc="-5">
                <a:latin typeface="Arial MT"/>
                <a:cs typeface="Arial MT"/>
              </a:rPr>
              <a:t>c</a:t>
            </a:r>
            <a:r>
              <a:rPr dirty="0" sz="750" spc="-5">
                <a:latin typeface="Arial MT"/>
                <a:cs typeface="Arial MT"/>
              </a:rPr>
              <a:t>t  </a:t>
            </a:r>
            <a:r>
              <a:rPr dirty="0" sz="750" spc="-10">
                <a:latin typeface="Arial MT"/>
                <a:cs typeface="Arial MT"/>
              </a:rPr>
              <a:t>Idea</a:t>
            </a:r>
            <a:endParaRPr sz="750">
              <a:latin typeface="Arial MT"/>
              <a:cs typeface="Arial MT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3623694" y="7588543"/>
            <a:ext cx="470534" cy="235585"/>
          </a:xfrm>
          <a:prstGeom prst="rect">
            <a:avLst/>
          </a:prstGeom>
          <a:ln w="7533">
            <a:solidFill>
              <a:srgbClr val="000000"/>
            </a:solidFill>
          </a:ln>
        </p:spPr>
        <p:txBody>
          <a:bodyPr wrap="square" lIns="0" tIns="50800" rIns="0" bIns="0" rtlCol="0" vert="horz">
            <a:spAutoFit/>
          </a:bodyPr>
          <a:lstStyle/>
          <a:p>
            <a:pPr marL="138430">
              <a:lnSpc>
                <a:spcPct val="100000"/>
              </a:lnSpc>
              <a:spcBef>
                <a:spcPts val="400"/>
              </a:spcBef>
            </a:pPr>
            <a:r>
              <a:rPr dirty="0" sz="750" spc="-10">
                <a:latin typeface="Arial MT"/>
                <a:cs typeface="Arial MT"/>
              </a:rPr>
              <a:t>SRS</a:t>
            </a:r>
            <a:endParaRPr sz="750">
              <a:latin typeface="Arial MT"/>
              <a:cs typeface="Arial MT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3821223" y="7820182"/>
            <a:ext cx="1594485" cy="855344"/>
            <a:chOff x="3821223" y="7820182"/>
            <a:chExt cx="1594485" cy="855344"/>
          </a:xfrm>
        </p:grpSpPr>
        <p:sp>
          <p:nvSpPr>
            <p:cNvPr id="31" name="object 31"/>
            <p:cNvSpPr/>
            <p:nvPr/>
          </p:nvSpPr>
          <p:spPr>
            <a:xfrm>
              <a:off x="3825033" y="7823992"/>
              <a:ext cx="67945" cy="141605"/>
            </a:xfrm>
            <a:custGeom>
              <a:avLst/>
              <a:gdLst/>
              <a:ahLst/>
              <a:cxnLst/>
              <a:rect l="l" t="t" r="r" b="b"/>
              <a:pathLst>
                <a:path w="67945" h="141604">
                  <a:moveTo>
                    <a:pt x="33885" y="0"/>
                  </a:moveTo>
                  <a:lnTo>
                    <a:pt x="33885" y="141277"/>
                  </a:lnTo>
                </a:path>
                <a:path w="67945" h="141604">
                  <a:moveTo>
                    <a:pt x="0" y="73466"/>
                  </a:moveTo>
                  <a:lnTo>
                    <a:pt x="14297" y="87062"/>
                  </a:lnTo>
                  <a:lnTo>
                    <a:pt x="24945" y="103367"/>
                  </a:lnTo>
                  <a:lnTo>
                    <a:pt x="31591" y="121674"/>
                  </a:lnTo>
                  <a:lnTo>
                    <a:pt x="33885" y="141277"/>
                  </a:lnTo>
                  <a:lnTo>
                    <a:pt x="36179" y="121674"/>
                  </a:lnTo>
                  <a:lnTo>
                    <a:pt x="42826" y="103367"/>
                  </a:lnTo>
                  <a:lnTo>
                    <a:pt x="53474" y="87062"/>
                  </a:lnTo>
                  <a:lnTo>
                    <a:pt x="67771" y="73466"/>
                  </a:lnTo>
                </a:path>
              </a:pathLst>
            </a:custGeom>
            <a:ln w="753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4846939" y="8389082"/>
              <a:ext cx="565150" cy="282575"/>
            </a:xfrm>
            <a:custGeom>
              <a:avLst/>
              <a:gdLst/>
              <a:ahLst/>
              <a:cxnLst/>
              <a:rect l="l" t="t" r="r" b="b"/>
              <a:pathLst>
                <a:path w="565150" h="282575">
                  <a:moveTo>
                    <a:pt x="564597" y="0"/>
                  </a:moveTo>
                  <a:lnTo>
                    <a:pt x="0" y="0"/>
                  </a:lnTo>
                  <a:lnTo>
                    <a:pt x="0" y="282545"/>
                  </a:lnTo>
                  <a:lnTo>
                    <a:pt x="564597" y="282545"/>
                  </a:lnTo>
                  <a:lnTo>
                    <a:pt x="56459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4846939" y="8389082"/>
              <a:ext cx="565150" cy="282575"/>
            </a:xfrm>
            <a:custGeom>
              <a:avLst/>
              <a:gdLst/>
              <a:ahLst/>
              <a:cxnLst/>
              <a:rect l="l" t="t" r="r" b="b"/>
              <a:pathLst>
                <a:path w="565150" h="282575">
                  <a:moveTo>
                    <a:pt x="0" y="282545"/>
                  </a:moveTo>
                  <a:lnTo>
                    <a:pt x="564597" y="282545"/>
                  </a:lnTo>
                  <a:lnTo>
                    <a:pt x="564597" y="0"/>
                  </a:lnTo>
                  <a:lnTo>
                    <a:pt x="0" y="0"/>
                  </a:lnTo>
                  <a:lnTo>
                    <a:pt x="0" y="282545"/>
                  </a:lnTo>
                  <a:close/>
                </a:path>
              </a:pathLst>
            </a:custGeom>
            <a:ln w="753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4" name="object 34"/>
          <p:cNvSpPr txBox="1"/>
          <p:nvPr/>
        </p:nvSpPr>
        <p:spPr>
          <a:xfrm>
            <a:off x="4846939" y="8389083"/>
            <a:ext cx="565150" cy="282575"/>
          </a:xfrm>
          <a:prstGeom prst="rect">
            <a:avLst/>
          </a:prstGeom>
          <a:ln w="7533">
            <a:solidFill>
              <a:srgbClr val="000000"/>
            </a:solidFill>
          </a:ln>
        </p:spPr>
        <p:txBody>
          <a:bodyPr wrap="square" lIns="0" tIns="22225" rIns="0" bIns="0" rtlCol="0" vert="horz">
            <a:spAutoFit/>
          </a:bodyPr>
          <a:lstStyle/>
          <a:p>
            <a:pPr marL="67310" marR="59690" indent="67945">
              <a:lnSpc>
                <a:spcPts val="890"/>
              </a:lnSpc>
              <a:spcBef>
                <a:spcPts val="175"/>
              </a:spcBef>
            </a:pPr>
            <a:r>
              <a:rPr dirty="0" sz="750" spc="-5">
                <a:latin typeface="Arial MT"/>
                <a:cs typeface="Arial MT"/>
              </a:rPr>
              <a:t>Design </a:t>
            </a:r>
            <a:r>
              <a:rPr dirty="0" sz="750">
                <a:latin typeface="Arial MT"/>
                <a:cs typeface="Arial MT"/>
              </a:rPr>
              <a:t> </a:t>
            </a:r>
            <a:r>
              <a:rPr dirty="0" sz="750" spc="-10">
                <a:latin typeface="Arial MT"/>
                <a:cs typeface="Arial MT"/>
              </a:rPr>
              <a:t>Do</a:t>
            </a:r>
            <a:r>
              <a:rPr dirty="0" sz="750" spc="-5">
                <a:latin typeface="Arial MT"/>
                <a:cs typeface="Arial MT"/>
              </a:rPr>
              <a:t>c</a:t>
            </a:r>
            <a:r>
              <a:rPr dirty="0" sz="750" spc="-10">
                <a:latin typeface="Arial MT"/>
                <a:cs typeface="Arial MT"/>
              </a:rPr>
              <a:t>u</a:t>
            </a:r>
            <a:r>
              <a:rPr dirty="0" sz="750" spc="-10">
                <a:latin typeface="Arial MT"/>
                <a:cs typeface="Arial MT"/>
              </a:rPr>
              <a:t>m</a:t>
            </a:r>
            <a:r>
              <a:rPr dirty="0" sz="750" spc="-10">
                <a:latin typeface="Arial MT"/>
                <a:cs typeface="Arial MT"/>
              </a:rPr>
              <a:t>en</a:t>
            </a:r>
            <a:r>
              <a:rPr dirty="0" sz="750" spc="-5">
                <a:latin typeface="Arial MT"/>
                <a:cs typeface="Arial MT"/>
              </a:rPr>
              <a:t>t</a:t>
            </a:r>
            <a:endParaRPr sz="750">
              <a:latin typeface="Arial MT"/>
              <a:cs typeface="Arial MT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2823843" y="6844553"/>
            <a:ext cx="2026920" cy="1724025"/>
            <a:chOff x="2823843" y="6844553"/>
            <a:chExt cx="2026920" cy="1724025"/>
          </a:xfrm>
        </p:grpSpPr>
        <p:sp>
          <p:nvSpPr>
            <p:cNvPr id="36" name="object 36"/>
            <p:cNvSpPr/>
            <p:nvPr/>
          </p:nvSpPr>
          <p:spPr>
            <a:xfrm>
              <a:off x="2823843" y="6882135"/>
              <a:ext cx="470534" cy="0"/>
            </a:xfrm>
            <a:custGeom>
              <a:avLst/>
              <a:gdLst/>
              <a:ahLst/>
              <a:cxnLst/>
              <a:rect l="l" t="t" r="r" b="b"/>
              <a:pathLst>
                <a:path w="470535" h="0">
                  <a:moveTo>
                    <a:pt x="0" y="0"/>
                  </a:moveTo>
                  <a:lnTo>
                    <a:pt x="470497" y="0"/>
                  </a:lnTo>
                </a:path>
              </a:pathLst>
            </a:custGeom>
            <a:ln w="753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7" name="object 3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22824" y="6844553"/>
              <a:ext cx="75282" cy="75262"/>
            </a:xfrm>
            <a:prstGeom prst="rect">
              <a:avLst/>
            </a:prstGeom>
          </p:spPr>
        </p:pic>
        <p:sp>
          <p:nvSpPr>
            <p:cNvPr id="38" name="object 38"/>
            <p:cNvSpPr/>
            <p:nvPr/>
          </p:nvSpPr>
          <p:spPr>
            <a:xfrm>
              <a:off x="4564690" y="8530360"/>
              <a:ext cx="282575" cy="0"/>
            </a:xfrm>
            <a:custGeom>
              <a:avLst/>
              <a:gdLst/>
              <a:ahLst/>
              <a:cxnLst/>
              <a:rect l="l" t="t" r="r" b="b"/>
              <a:pathLst>
                <a:path w="282575" h="0">
                  <a:moveTo>
                    <a:pt x="0" y="0"/>
                  </a:moveTo>
                  <a:lnTo>
                    <a:pt x="282249" y="0"/>
                  </a:lnTo>
                </a:path>
              </a:pathLst>
            </a:custGeom>
            <a:ln w="753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9" name="object 3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775501" y="8492689"/>
              <a:ext cx="75203" cy="75342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892556"/>
            <a:ext cx="207518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b="1">
                <a:latin typeface="Calibri"/>
                <a:cs typeface="Calibri"/>
              </a:rPr>
              <a:t>A </a:t>
            </a:r>
            <a:r>
              <a:rPr dirty="0" sz="1100" spc="-5" b="1">
                <a:latin typeface="Calibri"/>
                <a:cs typeface="Calibri"/>
              </a:rPr>
              <a:t>generic</a:t>
            </a:r>
            <a:r>
              <a:rPr dirty="0" sz="1100" spc="-15" b="1">
                <a:latin typeface="Calibri"/>
                <a:cs typeface="Calibri"/>
              </a:rPr>
              <a:t> </a:t>
            </a:r>
            <a:r>
              <a:rPr dirty="0" sz="1100" spc="-5" b="1">
                <a:latin typeface="Calibri"/>
                <a:cs typeface="Calibri"/>
              </a:rPr>
              <a:t>problem</a:t>
            </a:r>
            <a:r>
              <a:rPr dirty="0" sz="1100" spc="-15" b="1">
                <a:latin typeface="Calibri"/>
                <a:cs typeface="Calibri"/>
              </a:rPr>
              <a:t> </a:t>
            </a:r>
            <a:r>
              <a:rPr dirty="0" sz="1100" spc="-5" b="1">
                <a:latin typeface="Calibri"/>
                <a:cs typeface="Calibri"/>
              </a:rPr>
              <a:t>solving</a:t>
            </a:r>
            <a:r>
              <a:rPr dirty="0" sz="1100" spc="-15" b="1">
                <a:latin typeface="Calibri"/>
                <a:cs typeface="Calibri"/>
              </a:rPr>
              <a:t> </a:t>
            </a:r>
            <a:r>
              <a:rPr dirty="0" sz="1100" b="1">
                <a:latin typeface="Calibri"/>
                <a:cs typeface="Calibri"/>
              </a:rPr>
              <a:t>strategy: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359153" y="1464310"/>
            <a:ext cx="1697355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>
                <a:latin typeface="Calibri"/>
                <a:cs typeface="Calibri"/>
              </a:rPr>
              <a:t>Generate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candidate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solutions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59153" y="1749298"/>
            <a:ext cx="1059815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">
                <a:latin typeface="Calibri"/>
                <a:cs typeface="Calibri"/>
              </a:rPr>
              <a:t>E</a:t>
            </a:r>
            <a:r>
              <a:rPr dirty="0" sz="1100" spc="5">
                <a:latin typeface="Calibri"/>
                <a:cs typeface="Calibri"/>
              </a:rPr>
              <a:t>v</a:t>
            </a:r>
            <a:r>
              <a:rPr dirty="0" sz="1100">
                <a:latin typeface="Calibri"/>
                <a:cs typeface="Calibri"/>
              </a:rPr>
              <a:t>al</a:t>
            </a:r>
            <a:r>
              <a:rPr dirty="0" sz="1100" spc="-10">
                <a:latin typeface="Calibri"/>
                <a:cs typeface="Calibri"/>
              </a:rPr>
              <a:t>u</a:t>
            </a:r>
            <a:r>
              <a:rPr dirty="0" sz="1100">
                <a:latin typeface="Calibri"/>
                <a:cs typeface="Calibri"/>
              </a:rPr>
              <a:t>ate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s</a:t>
            </a:r>
            <a:r>
              <a:rPr dirty="0" sz="1100" spc="5">
                <a:latin typeface="Calibri"/>
                <a:cs typeface="Calibri"/>
              </a:rPr>
              <a:t>o</a:t>
            </a:r>
            <a:r>
              <a:rPr dirty="0" sz="1100">
                <a:latin typeface="Calibri"/>
                <a:cs typeface="Calibri"/>
              </a:rPr>
              <a:t>l</a:t>
            </a:r>
            <a:r>
              <a:rPr dirty="0" sz="1100" spc="-5">
                <a:latin typeface="Calibri"/>
                <a:cs typeface="Calibri"/>
              </a:rPr>
              <a:t>u</a:t>
            </a:r>
            <a:r>
              <a:rPr dirty="0" sz="1100">
                <a:latin typeface="Calibri"/>
                <a:cs typeface="Calibri"/>
              </a:rPr>
              <a:t>ti</a:t>
            </a:r>
            <a:r>
              <a:rPr dirty="0" sz="1100" spc="5">
                <a:latin typeface="Calibri"/>
                <a:cs typeface="Calibri"/>
              </a:rPr>
              <a:t>o</a:t>
            </a:r>
            <a:r>
              <a:rPr dirty="0" sz="1100" spc="-5">
                <a:latin typeface="Calibri"/>
                <a:cs typeface="Calibri"/>
              </a:rPr>
              <a:t>n</a:t>
            </a:r>
            <a:r>
              <a:rPr dirty="0" sz="1100">
                <a:latin typeface="Calibri"/>
                <a:cs typeface="Calibri"/>
              </a:rPr>
              <a:t>s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59153" y="2035810"/>
            <a:ext cx="127381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">
                <a:latin typeface="Calibri"/>
                <a:cs typeface="Calibri"/>
              </a:rPr>
              <a:t>Select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best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solution(s)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59153" y="2320798"/>
            <a:ext cx="1875155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>
                <a:latin typeface="Calibri"/>
                <a:cs typeface="Calibri"/>
              </a:rPr>
              <a:t>Iterate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if </a:t>
            </a:r>
            <a:r>
              <a:rPr dirty="0" sz="1100" spc="-5">
                <a:latin typeface="Calibri"/>
                <a:cs typeface="Calibri"/>
              </a:rPr>
              <a:t>no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solution </a:t>
            </a:r>
            <a:r>
              <a:rPr dirty="0" sz="1100">
                <a:latin typeface="Calibri"/>
                <a:cs typeface="Calibri"/>
              </a:rPr>
              <a:t>is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adequate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30604" y="1177798"/>
            <a:ext cx="1659889" cy="16236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0665" indent="-228600">
              <a:lnSpc>
                <a:spcPct val="100000"/>
              </a:lnSpc>
              <a:spcBef>
                <a:spcPts val="100"/>
              </a:spcBef>
              <a:buFont typeface="Microsoft Sans Serif"/>
              <a:buChar char=""/>
              <a:tabLst>
                <a:tab pos="240665" algn="l"/>
                <a:tab pos="241300" algn="l"/>
              </a:tabLst>
            </a:pPr>
            <a:r>
              <a:rPr dirty="0" sz="1100">
                <a:latin typeface="Calibri"/>
                <a:cs typeface="Calibri"/>
              </a:rPr>
              <a:t>Understand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4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problem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40"/>
              </a:spcBef>
            </a:pPr>
            <a:r>
              <a:rPr dirty="0" sz="1100" spc="-155">
                <a:latin typeface="Microsoft Sans Serif"/>
                <a:cs typeface="Microsoft Sans Serif"/>
              </a:rPr>
              <a:t>🞂</a:t>
            </a:r>
            <a:endParaRPr sz="11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919"/>
              </a:spcBef>
            </a:pPr>
            <a:r>
              <a:rPr dirty="0" sz="1100" spc="-155">
                <a:latin typeface="Microsoft Sans Serif"/>
                <a:cs typeface="Microsoft Sans Serif"/>
              </a:rPr>
              <a:t>🞂</a:t>
            </a:r>
            <a:endParaRPr sz="11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940"/>
              </a:spcBef>
            </a:pPr>
            <a:r>
              <a:rPr dirty="0" sz="1100" spc="-155">
                <a:latin typeface="Microsoft Sans Serif"/>
                <a:cs typeface="Microsoft Sans Serif"/>
              </a:rPr>
              <a:t>🞂</a:t>
            </a:r>
            <a:endParaRPr sz="11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919"/>
              </a:spcBef>
            </a:pPr>
            <a:r>
              <a:rPr dirty="0" sz="1100" spc="-155">
                <a:latin typeface="Microsoft Sans Serif"/>
                <a:cs typeface="Microsoft Sans Serif"/>
              </a:rPr>
              <a:t>🞂</a:t>
            </a:r>
            <a:endParaRPr sz="11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940"/>
              </a:spcBef>
            </a:pPr>
            <a:r>
              <a:rPr dirty="0" sz="1100" spc="-155">
                <a:latin typeface="Microsoft Sans Serif"/>
                <a:cs typeface="Microsoft Sans Serif"/>
              </a:rPr>
              <a:t>🞂</a:t>
            </a:r>
            <a:endParaRPr sz="1100">
              <a:latin typeface="Microsoft Sans Serif"/>
              <a:cs typeface="Microsoft Sans Serif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59153" y="2607310"/>
            <a:ext cx="368935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">
                <a:latin typeface="Calibri"/>
                <a:cs typeface="Calibri"/>
              </a:rPr>
              <a:t>Ensure</a:t>
            </a:r>
            <a:r>
              <a:rPr dirty="0" sz="1100">
                <a:latin typeface="Calibri"/>
                <a:cs typeface="Calibri"/>
              </a:rPr>
              <a:t> the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solution </a:t>
            </a:r>
            <a:r>
              <a:rPr dirty="0" sz="1100">
                <a:latin typeface="Calibri"/>
                <a:cs typeface="Calibri"/>
              </a:rPr>
              <a:t>is</a:t>
            </a:r>
            <a:r>
              <a:rPr dirty="0" sz="1100" spc="-5">
                <a:latin typeface="Calibri"/>
                <a:cs typeface="Calibri"/>
              </a:rPr>
              <a:t> complete, </a:t>
            </a:r>
            <a:r>
              <a:rPr dirty="0" sz="1100">
                <a:latin typeface="Calibri"/>
                <a:cs typeface="Calibri"/>
              </a:rPr>
              <a:t>well-documented,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and</a:t>
            </a:r>
            <a:r>
              <a:rPr dirty="0" sz="110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deliver</a:t>
            </a:r>
            <a:r>
              <a:rPr dirty="0" sz="110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it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02004" y="3464178"/>
            <a:ext cx="1486535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b="1">
                <a:latin typeface="Calibri"/>
                <a:cs typeface="Calibri"/>
              </a:rPr>
              <a:t>A </a:t>
            </a:r>
            <a:r>
              <a:rPr dirty="0" sz="1100" spc="-5" b="1">
                <a:latin typeface="Calibri"/>
                <a:cs typeface="Calibri"/>
              </a:rPr>
              <a:t>generic</a:t>
            </a:r>
            <a:r>
              <a:rPr dirty="0" sz="1100" spc="-15" b="1">
                <a:latin typeface="Calibri"/>
                <a:cs typeface="Calibri"/>
              </a:rPr>
              <a:t> </a:t>
            </a:r>
            <a:r>
              <a:rPr dirty="0" sz="1100" spc="-5" b="1">
                <a:latin typeface="Calibri"/>
                <a:cs typeface="Calibri"/>
              </a:rPr>
              <a:t>design</a:t>
            </a:r>
            <a:r>
              <a:rPr dirty="0" sz="1100" spc="-10" b="1">
                <a:latin typeface="Calibri"/>
                <a:cs typeface="Calibri"/>
              </a:rPr>
              <a:t> </a:t>
            </a:r>
            <a:r>
              <a:rPr dirty="0" sz="1100" spc="-5" b="1">
                <a:latin typeface="Calibri"/>
                <a:cs typeface="Calibri"/>
              </a:rPr>
              <a:t>process: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359153" y="4035678"/>
            <a:ext cx="2252980" cy="1936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 spc="-5">
                <a:latin typeface="Calibri"/>
                <a:cs typeface="Calibri"/>
              </a:rPr>
              <a:t>Generate/Improve</a:t>
            </a:r>
            <a:r>
              <a:rPr dirty="0" sz="110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Candidate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Solutions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359153" y="4320666"/>
            <a:ext cx="1675764" cy="1936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>
                <a:latin typeface="Calibri"/>
                <a:cs typeface="Calibri"/>
              </a:rPr>
              <a:t>Evaluate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Candidate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Solutions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359153" y="4605654"/>
            <a:ext cx="922019" cy="1936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 spc="-5">
                <a:latin typeface="Calibri"/>
                <a:cs typeface="Calibri"/>
              </a:rPr>
              <a:t>Select</a:t>
            </a:r>
            <a:r>
              <a:rPr dirty="0" sz="1100" spc="-4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Solutions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359153" y="4892166"/>
            <a:ext cx="410845" cy="1936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>
                <a:latin typeface="Calibri"/>
                <a:cs typeface="Calibri"/>
              </a:rPr>
              <a:t>Iterate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130604" y="3749166"/>
            <a:ext cx="1429385" cy="162242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40665" indent="-228600">
              <a:lnSpc>
                <a:spcPct val="100000"/>
              </a:lnSpc>
              <a:spcBef>
                <a:spcPts val="105"/>
              </a:spcBef>
              <a:buFont typeface="Microsoft Sans Serif"/>
              <a:buChar char=""/>
              <a:tabLst>
                <a:tab pos="240665" algn="l"/>
                <a:tab pos="241300" algn="l"/>
              </a:tabLst>
            </a:pPr>
            <a:r>
              <a:rPr dirty="0" sz="1100">
                <a:latin typeface="Calibri"/>
                <a:cs typeface="Calibri"/>
              </a:rPr>
              <a:t>Analyze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4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Problem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35"/>
              </a:spcBef>
            </a:pPr>
            <a:r>
              <a:rPr dirty="0" sz="1100" spc="-155">
                <a:latin typeface="Microsoft Sans Serif"/>
                <a:cs typeface="Microsoft Sans Serif"/>
              </a:rPr>
              <a:t>🞂</a:t>
            </a:r>
            <a:endParaRPr sz="11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925"/>
              </a:spcBef>
            </a:pPr>
            <a:r>
              <a:rPr dirty="0" sz="1100" spc="-155">
                <a:latin typeface="Microsoft Sans Serif"/>
                <a:cs typeface="Microsoft Sans Serif"/>
              </a:rPr>
              <a:t>🞂</a:t>
            </a:r>
            <a:endParaRPr sz="11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919"/>
              </a:spcBef>
            </a:pPr>
            <a:r>
              <a:rPr dirty="0" sz="1100" spc="-155">
                <a:latin typeface="Microsoft Sans Serif"/>
                <a:cs typeface="Microsoft Sans Serif"/>
              </a:rPr>
              <a:t>🞂</a:t>
            </a:r>
            <a:endParaRPr sz="11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940"/>
              </a:spcBef>
            </a:pPr>
            <a:r>
              <a:rPr dirty="0" sz="1100" spc="-155">
                <a:latin typeface="Microsoft Sans Serif"/>
                <a:cs typeface="Microsoft Sans Serif"/>
              </a:rPr>
              <a:t>🞂</a:t>
            </a:r>
            <a:endParaRPr sz="11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925"/>
              </a:spcBef>
            </a:pPr>
            <a:r>
              <a:rPr dirty="0" sz="1100" spc="-155">
                <a:latin typeface="Microsoft Sans Serif"/>
                <a:cs typeface="Microsoft Sans Serif"/>
              </a:rPr>
              <a:t>🞂</a:t>
            </a:r>
            <a:endParaRPr sz="1100">
              <a:latin typeface="Microsoft Sans Serif"/>
              <a:cs typeface="Microsoft Sans Serif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359153" y="5177408"/>
            <a:ext cx="1086485" cy="1936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 spc="-5">
                <a:latin typeface="Calibri"/>
                <a:cs typeface="Calibri"/>
              </a:rPr>
              <a:t>Finalize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Design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902004" y="5748908"/>
            <a:ext cx="1393190" cy="1936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 spc="-5" b="1">
                <a:latin typeface="Calibri"/>
                <a:cs typeface="Calibri"/>
              </a:rPr>
              <a:t>Generic design</a:t>
            </a:r>
            <a:r>
              <a:rPr dirty="0" sz="1100" spc="-10" b="1">
                <a:latin typeface="Calibri"/>
                <a:cs typeface="Calibri"/>
              </a:rPr>
              <a:t> </a:t>
            </a:r>
            <a:r>
              <a:rPr dirty="0" sz="1100" spc="-5" b="1">
                <a:latin typeface="Calibri"/>
                <a:cs typeface="Calibri"/>
              </a:rPr>
              <a:t>process: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3611518" y="7246025"/>
            <a:ext cx="654685" cy="281305"/>
          </a:xfrm>
          <a:custGeom>
            <a:avLst/>
            <a:gdLst/>
            <a:ahLst/>
            <a:cxnLst/>
            <a:rect l="l" t="t" r="r" b="b"/>
            <a:pathLst>
              <a:path w="654685" h="281304">
                <a:moveTo>
                  <a:pt x="560781" y="280769"/>
                </a:moveTo>
                <a:lnTo>
                  <a:pt x="597168" y="273420"/>
                </a:lnTo>
                <a:lnTo>
                  <a:pt x="626895" y="253375"/>
                </a:lnTo>
                <a:lnTo>
                  <a:pt x="646944" y="223638"/>
                </a:lnTo>
                <a:lnTo>
                  <a:pt x="654298" y="187212"/>
                </a:lnTo>
                <a:lnTo>
                  <a:pt x="654298" y="93557"/>
                </a:lnTo>
                <a:lnTo>
                  <a:pt x="646944" y="57131"/>
                </a:lnTo>
                <a:lnTo>
                  <a:pt x="626895" y="27393"/>
                </a:lnTo>
                <a:lnTo>
                  <a:pt x="597168" y="7349"/>
                </a:lnTo>
                <a:lnTo>
                  <a:pt x="560781" y="0"/>
                </a:lnTo>
                <a:lnTo>
                  <a:pt x="93488" y="0"/>
                </a:lnTo>
                <a:lnTo>
                  <a:pt x="57104" y="7349"/>
                </a:lnTo>
                <a:lnTo>
                  <a:pt x="27387" y="27393"/>
                </a:lnTo>
                <a:lnTo>
                  <a:pt x="7348" y="57131"/>
                </a:lnTo>
                <a:lnTo>
                  <a:pt x="0" y="93557"/>
                </a:lnTo>
                <a:lnTo>
                  <a:pt x="0" y="187212"/>
                </a:lnTo>
                <a:lnTo>
                  <a:pt x="7348" y="223638"/>
                </a:lnTo>
                <a:lnTo>
                  <a:pt x="27387" y="253375"/>
                </a:lnTo>
                <a:lnTo>
                  <a:pt x="57104" y="273420"/>
                </a:lnTo>
                <a:lnTo>
                  <a:pt x="93488" y="280769"/>
                </a:lnTo>
                <a:lnTo>
                  <a:pt x="560781" y="280769"/>
                </a:lnTo>
                <a:close/>
              </a:path>
            </a:pathLst>
          </a:custGeom>
          <a:ln w="748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3681708" y="7252046"/>
            <a:ext cx="514350" cy="25019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82550" marR="5080" indent="-70485">
              <a:lnSpc>
                <a:spcPct val="105300"/>
              </a:lnSpc>
              <a:spcBef>
                <a:spcPts val="90"/>
              </a:spcBef>
            </a:pPr>
            <a:r>
              <a:rPr dirty="0" sz="700" spc="20">
                <a:latin typeface="Arial MT"/>
                <a:cs typeface="Arial MT"/>
              </a:rPr>
              <a:t>A</a:t>
            </a:r>
            <a:r>
              <a:rPr dirty="0" sz="700" spc="15">
                <a:latin typeface="Arial MT"/>
                <a:cs typeface="Arial MT"/>
              </a:rPr>
              <a:t>na</a:t>
            </a:r>
            <a:r>
              <a:rPr dirty="0" sz="700" spc="5">
                <a:latin typeface="Arial MT"/>
                <a:cs typeface="Arial MT"/>
              </a:rPr>
              <a:t>l</a:t>
            </a:r>
            <a:r>
              <a:rPr dirty="0" sz="700" spc="15">
                <a:latin typeface="Arial MT"/>
                <a:cs typeface="Arial MT"/>
              </a:rPr>
              <a:t>yz</a:t>
            </a:r>
            <a:r>
              <a:rPr dirty="0" sz="700" spc="15">
                <a:latin typeface="Arial MT"/>
                <a:cs typeface="Arial MT"/>
              </a:rPr>
              <a:t>e</a:t>
            </a:r>
            <a:r>
              <a:rPr dirty="0" sz="700" spc="10">
                <a:latin typeface="Arial MT"/>
                <a:cs typeface="Arial MT"/>
              </a:rPr>
              <a:t> </a:t>
            </a:r>
            <a:r>
              <a:rPr dirty="0" sz="700" spc="5">
                <a:latin typeface="Arial MT"/>
                <a:cs typeface="Arial MT"/>
              </a:rPr>
              <a:t>t</a:t>
            </a:r>
            <a:r>
              <a:rPr dirty="0" sz="700" spc="10">
                <a:latin typeface="Arial MT"/>
                <a:cs typeface="Arial MT"/>
              </a:rPr>
              <a:t>he  </a:t>
            </a:r>
            <a:r>
              <a:rPr dirty="0" sz="700" spc="15">
                <a:latin typeface="Arial MT"/>
                <a:cs typeface="Arial MT"/>
              </a:rPr>
              <a:t>Problem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2863771" y="6356740"/>
            <a:ext cx="2009775" cy="2761615"/>
          </a:xfrm>
          <a:custGeom>
            <a:avLst/>
            <a:gdLst/>
            <a:ahLst/>
            <a:cxnLst/>
            <a:rect l="l" t="t" r="r" b="b"/>
            <a:pathLst>
              <a:path w="2009775" h="2761615">
                <a:moveTo>
                  <a:pt x="1075666" y="773812"/>
                </a:moveTo>
                <a:lnTo>
                  <a:pt x="1074881" y="889284"/>
                </a:lnTo>
              </a:path>
              <a:path w="2009775" h="2761615">
                <a:moveTo>
                  <a:pt x="1041714" y="821672"/>
                </a:moveTo>
                <a:lnTo>
                  <a:pt x="1055824" y="835263"/>
                </a:lnTo>
                <a:lnTo>
                  <a:pt x="1066283" y="851535"/>
                </a:lnTo>
                <a:lnTo>
                  <a:pt x="1072749" y="869778"/>
                </a:lnTo>
                <a:lnTo>
                  <a:pt x="1074881" y="889284"/>
                </a:lnTo>
                <a:lnTo>
                  <a:pt x="1077305" y="869812"/>
                </a:lnTo>
                <a:lnTo>
                  <a:pt x="1084044" y="851658"/>
                </a:lnTo>
                <a:lnTo>
                  <a:pt x="1094739" y="835511"/>
                </a:lnTo>
                <a:lnTo>
                  <a:pt x="1109030" y="822065"/>
                </a:lnTo>
              </a:path>
              <a:path w="2009775" h="2761615">
                <a:moveTo>
                  <a:pt x="1916146" y="2761402"/>
                </a:moveTo>
                <a:lnTo>
                  <a:pt x="1952518" y="2754046"/>
                </a:lnTo>
                <a:lnTo>
                  <a:pt x="1982212" y="2733986"/>
                </a:lnTo>
                <a:lnTo>
                  <a:pt x="2002227" y="2704231"/>
                </a:lnTo>
                <a:lnTo>
                  <a:pt x="2009565" y="2667795"/>
                </a:lnTo>
                <a:lnTo>
                  <a:pt x="2009565" y="93655"/>
                </a:lnTo>
                <a:lnTo>
                  <a:pt x="2002227" y="57214"/>
                </a:lnTo>
                <a:lnTo>
                  <a:pt x="1982212" y="27443"/>
                </a:lnTo>
                <a:lnTo>
                  <a:pt x="1952518" y="7364"/>
                </a:lnTo>
                <a:lnTo>
                  <a:pt x="1916146" y="0"/>
                </a:lnTo>
                <a:lnTo>
                  <a:pt x="93468" y="0"/>
                </a:lnTo>
                <a:lnTo>
                  <a:pt x="57084" y="7364"/>
                </a:lnTo>
                <a:lnTo>
                  <a:pt x="27374" y="27443"/>
                </a:lnTo>
                <a:lnTo>
                  <a:pt x="7344" y="57214"/>
                </a:lnTo>
                <a:lnTo>
                  <a:pt x="0" y="93655"/>
                </a:lnTo>
                <a:lnTo>
                  <a:pt x="0" y="2667795"/>
                </a:lnTo>
                <a:lnTo>
                  <a:pt x="7344" y="2704231"/>
                </a:lnTo>
                <a:lnTo>
                  <a:pt x="27374" y="2733986"/>
                </a:lnTo>
                <a:lnTo>
                  <a:pt x="57084" y="2754046"/>
                </a:lnTo>
                <a:lnTo>
                  <a:pt x="93468" y="2761402"/>
                </a:lnTo>
                <a:lnTo>
                  <a:pt x="1916146" y="2761402"/>
                </a:lnTo>
              </a:path>
            </a:pathLst>
          </a:custGeom>
          <a:ln w="748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2954921" y="6397059"/>
            <a:ext cx="669925" cy="33909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 marR="5080">
              <a:lnSpc>
                <a:spcPct val="101600"/>
              </a:lnSpc>
              <a:spcBef>
                <a:spcPts val="120"/>
              </a:spcBef>
            </a:pPr>
            <a:r>
              <a:rPr dirty="0" sz="700" spc="15">
                <a:latin typeface="Arial MT"/>
                <a:cs typeface="Arial MT"/>
              </a:rPr>
              <a:t>Generic</a:t>
            </a:r>
            <a:r>
              <a:rPr dirty="0" sz="700" spc="-50">
                <a:latin typeface="Arial MT"/>
                <a:cs typeface="Arial MT"/>
              </a:rPr>
              <a:t> </a:t>
            </a:r>
            <a:r>
              <a:rPr dirty="0" sz="700" spc="15">
                <a:latin typeface="Arial MT"/>
                <a:cs typeface="Arial MT"/>
              </a:rPr>
              <a:t>Design </a:t>
            </a:r>
            <a:r>
              <a:rPr dirty="0" sz="700" spc="-185">
                <a:latin typeface="Arial MT"/>
                <a:cs typeface="Arial MT"/>
              </a:rPr>
              <a:t> </a:t>
            </a:r>
            <a:r>
              <a:rPr dirty="0" sz="650">
                <a:latin typeface="Arial MT"/>
                <a:cs typeface="Arial MT"/>
              </a:rPr>
              <a:t>need : Problem </a:t>
            </a:r>
            <a:r>
              <a:rPr dirty="0" sz="650" spc="5">
                <a:latin typeface="Arial MT"/>
                <a:cs typeface="Arial MT"/>
              </a:rPr>
              <a:t> </a:t>
            </a:r>
            <a:r>
              <a:rPr dirty="0" sz="650">
                <a:latin typeface="Arial MT"/>
                <a:cs typeface="Arial MT"/>
              </a:rPr>
              <a:t>design</a:t>
            </a:r>
            <a:r>
              <a:rPr dirty="0" sz="650" spc="-25">
                <a:latin typeface="Arial MT"/>
                <a:cs typeface="Arial MT"/>
              </a:rPr>
              <a:t> </a:t>
            </a:r>
            <a:r>
              <a:rPr dirty="0" sz="650">
                <a:latin typeface="Arial MT"/>
                <a:cs typeface="Arial MT"/>
              </a:rPr>
              <a:t>:</a:t>
            </a:r>
            <a:r>
              <a:rPr dirty="0" sz="650" spc="-25">
                <a:latin typeface="Arial MT"/>
                <a:cs typeface="Arial MT"/>
              </a:rPr>
              <a:t> </a:t>
            </a:r>
            <a:r>
              <a:rPr dirty="0" sz="650">
                <a:latin typeface="Arial MT"/>
                <a:cs typeface="Arial MT"/>
              </a:rPr>
              <a:t>Solution</a:t>
            </a:r>
            <a:endParaRPr sz="650">
              <a:latin typeface="Arial MT"/>
              <a:cs typeface="Arial MT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3611518" y="8088433"/>
            <a:ext cx="654685" cy="281305"/>
          </a:xfrm>
          <a:custGeom>
            <a:avLst/>
            <a:gdLst/>
            <a:ahLst/>
            <a:cxnLst/>
            <a:rect l="l" t="t" r="r" b="b"/>
            <a:pathLst>
              <a:path w="654685" h="281304">
                <a:moveTo>
                  <a:pt x="560781" y="280858"/>
                </a:moveTo>
                <a:lnTo>
                  <a:pt x="597168" y="273502"/>
                </a:lnTo>
                <a:lnTo>
                  <a:pt x="626895" y="253443"/>
                </a:lnTo>
                <a:lnTo>
                  <a:pt x="646944" y="223689"/>
                </a:lnTo>
                <a:lnTo>
                  <a:pt x="654298" y="187252"/>
                </a:lnTo>
                <a:lnTo>
                  <a:pt x="654298" y="93645"/>
                </a:lnTo>
                <a:lnTo>
                  <a:pt x="646944" y="57209"/>
                </a:lnTo>
                <a:lnTo>
                  <a:pt x="626895" y="27441"/>
                </a:lnTo>
                <a:lnTo>
                  <a:pt x="597168" y="7364"/>
                </a:lnTo>
                <a:lnTo>
                  <a:pt x="560781" y="0"/>
                </a:lnTo>
                <a:lnTo>
                  <a:pt x="93488" y="0"/>
                </a:lnTo>
                <a:lnTo>
                  <a:pt x="57104" y="7364"/>
                </a:lnTo>
                <a:lnTo>
                  <a:pt x="27387" y="27441"/>
                </a:lnTo>
                <a:lnTo>
                  <a:pt x="7348" y="57209"/>
                </a:lnTo>
                <a:lnTo>
                  <a:pt x="0" y="93645"/>
                </a:lnTo>
                <a:lnTo>
                  <a:pt x="0" y="187252"/>
                </a:lnTo>
                <a:lnTo>
                  <a:pt x="7348" y="223689"/>
                </a:lnTo>
                <a:lnTo>
                  <a:pt x="27387" y="253443"/>
                </a:lnTo>
                <a:lnTo>
                  <a:pt x="57104" y="273502"/>
                </a:lnTo>
                <a:lnTo>
                  <a:pt x="93488" y="280858"/>
                </a:lnTo>
                <a:lnTo>
                  <a:pt x="560781" y="280858"/>
                </a:lnTo>
                <a:close/>
              </a:path>
            </a:pathLst>
          </a:custGeom>
          <a:ln w="748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3679157" y="8094493"/>
            <a:ext cx="519430" cy="25019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85090" marR="5080" indent="-73025">
              <a:lnSpc>
                <a:spcPct val="105300"/>
              </a:lnSpc>
              <a:spcBef>
                <a:spcPts val="90"/>
              </a:spcBef>
            </a:pPr>
            <a:r>
              <a:rPr dirty="0" sz="700" spc="20">
                <a:latin typeface="Arial MT"/>
                <a:cs typeface="Arial MT"/>
              </a:rPr>
              <a:t>Re</a:t>
            </a:r>
            <a:r>
              <a:rPr dirty="0" sz="700" spc="15">
                <a:latin typeface="Arial MT"/>
                <a:cs typeface="Arial MT"/>
              </a:rPr>
              <a:t>s</a:t>
            </a:r>
            <a:r>
              <a:rPr dirty="0" sz="700" spc="15">
                <a:latin typeface="Arial MT"/>
                <a:cs typeface="Arial MT"/>
              </a:rPr>
              <a:t>o</a:t>
            </a:r>
            <a:r>
              <a:rPr dirty="0" sz="700" spc="5">
                <a:latin typeface="Arial MT"/>
                <a:cs typeface="Arial MT"/>
              </a:rPr>
              <a:t>l</a:t>
            </a:r>
            <a:r>
              <a:rPr dirty="0" sz="700" spc="15">
                <a:latin typeface="Arial MT"/>
                <a:cs typeface="Arial MT"/>
              </a:rPr>
              <a:t>v</a:t>
            </a:r>
            <a:r>
              <a:rPr dirty="0" sz="700" spc="15">
                <a:latin typeface="Arial MT"/>
                <a:cs typeface="Arial MT"/>
              </a:rPr>
              <a:t>e</a:t>
            </a:r>
            <a:r>
              <a:rPr dirty="0" sz="700" spc="10">
                <a:latin typeface="Arial MT"/>
                <a:cs typeface="Arial MT"/>
              </a:rPr>
              <a:t> </a:t>
            </a:r>
            <a:r>
              <a:rPr dirty="0" sz="700" spc="5">
                <a:latin typeface="Arial MT"/>
                <a:cs typeface="Arial MT"/>
              </a:rPr>
              <a:t>t</a:t>
            </a:r>
            <a:r>
              <a:rPr dirty="0" sz="700" spc="10">
                <a:latin typeface="Arial MT"/>
                <a:cs typeface="Arial MT"/>
              </a:rPr>
              <a:t>he  </a:t>
            </a:r>
            <a:r>
              <a:rPr dirty="0" sz="700" spc="15">
                <a:latin typeface="Arial MT"/>
                <a:cs typeface="Arial MT"/>
              </a:rPr>
              <a:t>Problem</a:t>
            </a:r>
            <a:endParaRPr sz="700">
              <a:latin typeface="Arial MT"/>
              <a:cs typeface="Arial MT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2649656" y="6774134"/>
            <a:ext cx="1327150" cy="1809114"/>
            <a:chOff x="2649656" y="6774134"/>
            <a:chExt cx="1327150" cy="1809114"/>
          </a:xfrm>
        </p:grpSpPr>
        <p:sp>
          <p:nvSpPr>
            <p:cNvPr id="24" name="object 24"/>
            <p:cNvSpPr/>
            <p:nvPr/>
          </p:nvSpPr>
          <p:spPr>
            <a:xfrm>
              <a:off x="3904994" y="7526795"/>
              <a:ext cx="67945" cy="1052830"/>
            </a:xfrm>
            <a:custGeom>
              <a:avLst/>
              <a:gdLst/>
              <a:ahLst/>
              <a:cxnLst/>
              <a:rect l="l" t="t" r="r" b="b"/>
              <a:pathLst>
                <a:path w="67945" h="1052829">
                  <a:moveTo>
                    <a:pt x="33658" y="0"/>
                  </a:moveTo>
                  <a:lnTo>
                    <a:pt x="33658" y="140434"/>
                  </a:lnTo>
                </a:path>
                <a:path w="67945" h="1052829">
                  <a:moveTo>
                    <a:pt x="0" y="73017"/>
                  </a:moveTo>
                  <a:lnTo>
                    <a:pt x="14201" y="86536"/>
                  </a:lnTo>
                  <a:lnTo>
                    <a:pt x="24777" y="102745"/>
                  </a:lnTo>
                  <a:lnTo>
                    <a:pt x="31379" y="120945"/>
                  </a:lnTo>
                  <a:lnTo>
                    <a:pt x="33658" y="140434"/>
                  </a:lnTo>
                  <a:lnTo>
                    <a:pt x="35936" y="120945"/>
                  </a:lnTo>
                  <a:lnTo>
                    <a:pt x="42539" y="102745"/>
                  </a:lnTo>
                  <a:lnTo>
                    <a:pt x="53115" y="86536"/>
                  </a:lnTo>
                  <a:lnTo>
                    <a:pt x="67316" y="73017"/>
                  </a:lnTo>
                </a:path>
                <a:path w="67945" h="1052829">
                  <a:moveTo>
                    <a:pt x="33658" y="842496"/>
                  </a:moveTo>
                  <a:lnTo>
                    <a:pt x="34443" y="1052538"/>
                  </a:lnTo>
                </a:path>
                <a:path w="67945" h="1052829">
                  <a:moveTo>
                    <a:pt x="588" y="985269"/>
                  </a:moveTo>
                  <a:lnTo>
                    <a:pt x="14806" y="998725"/>
                  </a:lnTo>
                  <a:lnTo>
                    <a:pt x="25427" y="1014890"/>
                  </a:lnTo>
                  <a:lnTo>
                    <a:pt x="32092" y="1033062"/>
                  </a:lnTo>
                  <a:lnTo>
                    <a:pt x="34443" y="1052538"/>
                  </a:lnTo>
                  <a:lnTo>
                    <a:pt x="36648" y="1033046"/>
                  </a:lnTo>
                  <a:lnTo>
                    <a:pt x="43177" y="1014825"/>
                  </a:lnTo>
                  <a:lnTo>
                    <a:pt x="53679" y="998580"/>
                  </a:lnTo>
                  <a:lnTo>
                    <a:pt x="67807" y="985013"/>
                  </a:lnTo>
                </a:path>
              </a:pathLst>
            </a:custGeom>
            <a:ln w="748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2653466" y="6777944"/>
              <a:ext cx="421005" cy="187325"/>
            </a:xfrm>
            <a:custGeom>
              <a:avLst/>
              <a:gdLst/>
              <a:ahLst/>
              <a:cxnLst/>
              <a:rect l="l" t="t" r="r" b="b"/>
              <a:pathLst>
                <a:path w="421005" h="187325">
                  <a:moveTo>
                    <a:pt x="420602" y="0"/>
                  </a:moveTo>
                  <a:lnTo>
                    <a:pt x="0" y="0"/>
                  </a:lnTo>
                  <a:lnTo>
                    <a:pt x="0" y="187212"/>
                  </a:lnTo>
                  <a:lnTo>
                    <a:pt x="420602" y="187212"/>
                  </a:lnTo>
                  <a:lnTo>
                    <a:pt x="42060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2653466" y="6777944"/>
              <a:ext cx="421005" cy="187325"/>
            </a:xfrm>
            <a:custGeom>
              <a:avLst/>
              <a:gdLst/>
              <a:ahLst/>
              <a:cxnLst/>
              <a:rect l="l" t="t" r="r" b="b"/>
              <a:pathLst>
                <a:path w="421005" h="187325">
                  <a:moveTo>
                    <a:pt x="0" y="187212"/>
                  </a:moveTo>
                  <a:lnTo>
                    <a:pt x="420602" y="187212"/>
                  </a:lnTo>
                  <a:lnTo>
                    <a:pt x="420602" y="0"/>
                  </a:lnTo>
                  <a:lnTo>
                    <a:pt x="0" y="0"/>
                  </a:lnTo>
                  <a:lnTo>
                    <a:pt x="0" y="187212"/>
                  </a:lnTo>
                  <a:close/>
                </a:path>
              </a:pathLst>
            </a:custGeom>
            <a:ln w="74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" name="object 27"/>
          <p:cNvSpPr txBox="1"/>
          <p:nvPr/>
        </p:nvSpPr>
        <p:spPr>
          <a:xfrm>
            <a:off x="2653466" y="6777944"/>
            <a:ext cx="421005" cy="187325"/>
          </a:xfrm>
          <a:prstGeom prst="rect">
            <a:avLst/>
          </a:prstGeom>
          <a:ln w="7486">
            <a:solidFill>
              <a:srgbClr val="000000"/>
            </a:solidFill>
          </a:ln>
        </p:spPr>
        <p:txBody>
          <a:bodyPr wrap="square" lIns="0" tIns="32384" rIns="0" bIns="0" rtlCol="0" vert="horz">
            <a:spAutoFit/>
          </a:bodyPr>
          <a:lstStyle/>
          <a:p>
            <a:pPr marL="106045">
              <a:lnSpc>
                <a:spcPct val="100000"/>
              </a:lnSpc>
              <a:spcBef>
                <a:spcPts val="254"/>
              </a:spcBef>
            </a:pPr>
            <a:r>
              <a:rPr dirty="0" sz="700" spc="15">
                <a:latin typeface="Arial MT"/>
                <a:cs typeface="Arial MT"/>
              </a:rPr>
              <a:t>need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3658297" y="7667278"/>
            <a:ext cx="561340" cy="281305"/>
          </a:xfrm>
          <a:custGeom>
            <a:avLst/>
            <a:gdLst/>
            <a:ahLst/>
            <a:cxnLst/>
            <a:rect l="l" t="t" r="r" b="b"/>
            <a:pathLst>
              <a:path w="561339" h="281304">
                <a:moveTo>
                  <a:pt x="0" y="280819"/>
                </a:moveTo>
                <a:lnTo>
                  <a:pt x="560810" y="280819"/>
                </a:lnTo>
                <a:lnTo>
                  <a:pt x="560810" y="0"/>
                </a:lnTo>
                <a:lnTo>
                  <a:pt x="0" y="0"/>
                </a:lnTo>
                <a:lnTo>
                  <a:pt x="0" y="280819"/>
                </a:lnTo>
                <a:close/>
              </a:path>
            </a:pathLst>
          </a:custGeom>
          <a:ln w="748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 txBox="1"/>
          <p:nvPr/>
        </p:nvSpPr>
        <p:spPr>
          <a:xfrm>
            <a:off x="3658297" y="7667278"/>
            <a:ext cx="561340" cy="281305"/>
          </a:xfrm>
          <a:prstGeom prst="rect">
            <a:avLst/>
          </a:prstGeom>
          <a:ln w="7486">
            <a:solidFill>
              <a:srgbClr val="000000"/>
            </a:solidFill>
          </a:ln>
        </p:spPr>
        <p:txBody>
          <a:bodyPr wrap="square" lIns="0" tIns="17780" rIns="0" bIns="0" rtlCol="0" vert="horz">
            <a:spAutoFit/>
          </a:bodyPr>
          <a:lstStyle/>
          <a:p>
            <a:pPr marL="67310" marR="59690" indent="38735">
              <a:lnSpc>
                <a:spcPct val="105300"/>
              </a:lnSpc>
              <a:spcBef>
                <a:spcPts val="140"/>
              </a:spcBef>
            </a:pPr>
            <a:r>
              <a:rPr dirty="0" sz="700" spc="15">
                <a:latin typeface="Arial MT"/>
                <a:cs typeface="Arial MT"/>
              </a:rPr>
              <a:t>Problem </a:t>
            </a:r>
            <a:r>
              <a:rPr dirty="0" sz="700" spc="20">
                <a:latin typeface="Arial MT"/>
                <a:cs typeface="Arial MT"/>
              </a:rPr>
              <a:t> </a:t>
            </a:r>
            <a:r>
              <a:rPr dirty="0" sz="700" spc="20">
                <a:latin typeface="Arial MT"/>
                <a:cs typeface="Arial MT"/>
              </a:rPr>
              <a:t>S</a:t>
            </a:r>
            <a:r>
              <a:rPr dirty="0" sz="700" spc="5">
                <a:latin typeface="Arial MT"/>
                <a:cs typeface="Arial MT"/>
              </a:rPr>
              <a:t>t</a:t>
            </a:r>
            <a:r>
              <a:rPr dirty="0" sz="700" spc="15">
                <a:latin typeface="Arial MT"/>
                <a:cs typeface="Arial MT"/>
              </a:rPr>
              <a:t>a</a:t>
            </a:r>
            <a:r>
              <a:rPr dirty="0" sz="700" spc="5">
                <a:latin typeface="Arial MT"/>
                <a:cs typeface="Arial MT"/>
              </a:rPr>
              <a:t>t</a:t>
            </a:r>
            <a:r>
              <a:rPr dirty="0" sz="700" spc="15">
                <a:latin typeface="Arial MT"/>
                <a:cs typeface="Arial MT"/>
              </a:rPr>
              <a:t>e</a:t>
            </a:r>
            <a:r>
              <a:rPr dirty="0" sz="700" spc="30">
                <a:latin typeface="Arial MT"/>
                <a:cs typeface="Arial MT"/>
              </a:rPr>
              <a:t>m</a:t>
            </a:r>
            <a:r>
              <a:rPr dirty="0" sz="700" spc="15">
                <a:latin typeface="Arial MT"/>
                <a:cs typeface="Arial MT"/>
              </a:rPr>
              <a:t>en</a:t>
            </a:r>
            <a:r>
              <a:rPr dirty="0" sz="700" spc="10">
                <a:latin typeface="Arial MT"/>
                <a:cs typeface="Arial MT"/>
              </a:rPr>
              <a:t>t</a:t>
            </a:r>
            <a:endParaRPr sz="700">
              <a:latin typeface="Arial MT"/>
              <a:cs typeface="Arial MT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3901184" y="7944287"/>
            <a:ext cx="1209675" cy="382270"/>
            <a:chOff x="3901184" y="7944287"/>
            <a:chExt cx="1209675" cy="382270"/>
          </a:xfrm>
        </p:grpSpPr>
        <p:sp>
          <p:nvSpPr>
            <p:cNvPr id="31" name="object 31"/>
            <p:cNvSpPr/>
            <p:nvPr/>
          </p:nvSpPr>
          <p:spPr>
            <a:xfrm>
              <a:off x="3904994" y="7948097"/>
              <a:ext cx="67945" cy="140335"/>
            </a:xfrm>
            <a:custGeom>
              <a:avLst/>
              <a:gdLst/>
              <a:ahLst/>
              <a:cxnLst/>
              <a:rect l="l" t="t" r="r" b="b"/>
              <a:pathLst>
                <a:path w="67945" h="140334">
                  <a:moveTo>
                    <a:pt x="33658" y="0"/>
                  </a:moveTo>
                  <a:lnTo>
                    <a:pt x="33658" y="140335"/>
                  </a:lnTo>
                </a:path>
                <a:path w="67945" h="140334">
                  <a:moveTo>
                    <a:pt x="0" y="73017"/>
                  </a:moveTo>
                  <a:lnTo>
                    <a:pt x="14201" y="86535"/>
                  </a:lnTo>
                  <a:lnTo>
                    <a:pt x="24777" y="102733"/>
                  </a:lnTo>
                  <a:lnTo>
                    <a:pt x="31379" y="120903"/>
                  </a:lnTo>
                  <a:lnTo>
                    <a:pt x="33658" y="140335"/>
                  </a:lnTo>
                  <a:lnTo>
                    <a:pt x="35936" y="120903"/>
                  </a:lnTo>
                  <a:lnTo>
                    <a:pt x="42539" y="102733"/>
                  </a:lnTo>
                  <a:lnTo>
                    <a:pt x="53115" y="86535"/>
                  </a:lnTo>
                  <a:lnTo>
                    <a:pt x="67316" y="73017"/>
                  </a:lnTo>
                </a:path>
              </a:pathLst>
            </a:custGeom>
            <a:ln w="748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4639690" y="8135280"/>
              <a:ext cx="467359" cy="187325"/>
            </a:xfrm>
            <a:custGeom>
              <a:avLst/>
              <a:gdLst/>
              <a:ahLst/>
              <a:cxnLst/>
              <a:rect l="l" t="t" r="r" b="b"/>
              <a:pathLst>
                <a:path w="467360" h="187325">
                  <a:moveTo>
                    <a:pt x="467342" y="0"/>
                  </a:moveTo>
                  <a:lnTo>
                    <a:pt x="0" y="0"/>
                  </a:lnTo>
                  <a:lnTo>
                    <a:pt x="0" y="187212"/>
                  </a:lnTo>
                  <a:lnTo>
                    <a:pt x="467342" y="187212"/>
                  </a:lnTo>
                  <a:lnTo>
                    <a:pt x="46734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4639690" y="8135280"/>
              <a:ext cx="467359" cy="187325"/>
            </a:xfrm>
            <a:custGeom>
              <a:avLst/>
              <a:gdLst/>
              <a:ahLst/>
              <a:cxnLst/>
              <a:rect l="l" t="t" r="r" b="b"/>
              <a:pathLst>
                <a:path w="467360" h="187325">
                  <a:moveTo>
                    <a:pt x="0" y="187212"/>
                  </a:moveTo>
                  <a:lnTo>
                    <a:pt x="467342" y="187212"/>
                  </a:lnTo>
                  <a:lnTo>
                    <a:pt x="467342" y="0"/>
                  </a:lnTo>
                  <a:lnTo>
                    <a:pt x="0" y="0"/>
                  </a:lnTo>
                  <a:lnTo>
                    <a:pt x="0" y="187212"/>
                  </a:lnTo>
                  <a:close/>
                </a:path>
              </a:pathLst>
            </a:custGeom>
            <a:ln w="74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4" name="object 34"/>
          <p:cNvSpPr txBox="1"/>
          <p:nvPr/>
        </p:nvSpPr>
        <p:spPr>
          <a:xfrm>
            <a:off x="4639690" y="8135280"/>
            <a:ext cx="467359" cy="187325"/>
          </a:xfrm>
          <a:prstGeom prst="rect">
            <a:avLst/>
          </a:prstGeom>
          <a:ln w="7486">
            <a:solidFill>
              <a:srgbClr val="000000"/>
            </a:solidFill>
          </a:ln>
        </p:spPr>
        <p:txBody>
          <a:bodyPr wrap="square" lIns="0" tIns="32384" rIns="0" bIns="0" rtlCol="0" vert="horz">
            <a:spAutoFit/>
          </a:bodyPr>
          <a:lstStyle/>
          <a:p>
            <a:pPr marL="95885">
              <a:lnSpc>
                <a:spcPct val="100000"/>
              </a:lnSpc>
              <a:spcBef>
                <a:spcPts val="254"/>
              </a:spcBef>
            </a:pPr>
            <a:r>
              <a:rPr dirty="0" sz="700" spc="15">
                <a:latin typeface="Arial MT"/>
                <a:cs typeface="Arial MT"/>
              </a:rPr>
              <a:t>design</a:t>
            </a:r>
            <a:endParaRPr sz="700">
              <a:latin typeface="Arial MT"/>
              <a:cs typeface="Arial MT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3093627" y="6984834"/>
            <a:ext cx="1550035" cy="2044064"/>
            <a:chOff x="3093627" y="6984834"/>
            <a:chExt cx="1550035" cy="2044064"/>
          </a:xfrm>
        </p:grpSpPr>
        <p:sp>
          <p:nvSpPr>
            <p:cNvPr id="36" name="object 36"/>
            <p:cNvSpPr/>
            <p:nvPr/>
          </p:nvSpPr>
          <p:spPr>
            <a:xfrm>
              <a:off x="3097437" y="7059598"/>
              <a:ext cx="771525" cy="0"/>
            </a:xfrm>
            <a:custGeom>
              <a:avLst/>
              <a:gdLst/>
              <a:ahLst/>
              <a:cxnLst/>
              <a:rect l="l" t="t" r="r" b="b"/>
              <a:pathLst>
                <a:path w="771525" h="0">
                  <a:moveTo>
                    <a:pt x="0" y="0"/>
                  </a:moveTo>
                  <a:lnTo>
                    <a:pt x="771151" y="0"/>
                  </a:lnTo>
                </a:path>
              </a:pathLst>
            </a:custGeom>
            <a:ln w="748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7" name="object 3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797530" y="7022149"/>
              <a:ext cx="74799" cy="74899"/>
            </a:xfrm>
            <a:prstGeom prst="rect">
              <a:avLst/>
            </a:prstGeom>
          </p:spPr>
        </p:pic>
        <p:sp>
          <p:nvSpPr>
            <p:cNvPr id="38" name="object 38"/>
            <p:cNvSpPr/>
            <p:nvPr/>
          </p:nvSpPr>
          <p:spPr>
            <a:xfrm>
              <a:off x="4265817" y="8228887"/>
              <a:ext cx="374015" cy="0"/>
            </a:xfrm>
            <a:custGeom>
              <a:avLst/>
              <a:gdLst/>
              <a:ahLst/>
              <a:cxnLst/>
              <a:rect l="l" t="t" r="r" b="b"/>
              <a:pathLst>
                <a:path w="374014" h="0">
                  <a:moveTo>
                    <a:pt x="0" y="0"/>
                  </a:moveTo>
                  <a:lnTo>
                    <a:pt x="373873" y="0"/>
                  </a:lnTo>
                </a:path>
              </a:pathLst>
            </a:custGeom>
            <a:ln w="748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9" name="object 3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68632" y="8191447"/>
              <a:ext cx="74799" cy="74879"/>
            </a:xfrm>
            <a:prstGeom prst="rect">
              <a:avLst/>
            </a:prstGeom>
          </p:spPr>
        </p:pic>
        <p:sp>
          <p:nvSpPr>
            <p:cNvPr id="40" name="object 40"/>
            <p:cNvSpPr/>
            <p:nvPr/>
          </p:nvSpPr>
          <p:spPr>
            <a:xfrm>
              <a:off x="3097437" y="6988644"/>
              <a:ext cx="913130" cy="1732914"/>
            </a:xfrm>
            <a:custGeom>
              <a:avLst/>
              <a:gdLst/>
              <a:ahLst/>
              <a:cxnLst/>
              <a:rect l="l" t="t" r="r" b="b"/>
              <a:pathLst>
                <a:path w="913129" h="1732915">
                  <a:moveTo>
                    <a:pt x="771151" y="70954"/>
                  </a:moveTo>
                  <a:lnTo>
                    <a:pt x="842000" y="141908"/>
                  </a:lnTo>
                  <a:lnTo>
                    <a:pt x="912948" y="70954"/>
                  </a:lnTo>
                  <a:lnTo>
                    <a:pt x="842000" y="0"/>
                  </a:lnTo>
                  <a:lnTo>
                    <a:pt x="771151" y="70954"/>
                  </a:lnTo>
                  <a:close/>
                </a:path>
                <a:path w="913129" h="1732915">
                  <a:moveTo>
                    <a:pt x="771151" y="1661682"/>
                  </a:moveTo>
                  <a:lnTo>
                    <a:pt x="842000" y="1732685"/>
                  </a:lnTo>
                  <a:lnTo>
                    <a:pt x="912948" y="1661682"/>
                  </a:lnTo>
                  <a:lnTo>
                    <a:pt x="842000" y="1590688"/>
                  </a:lnTo>
                  <a:lnTo>
                    <a:pt x="771151" y="1661682"/>
                  </a:lnTo>
                  <a:close/>
                </a:path>
                <a:path w="913129" h="1732915">
                  <a:moveTo>
                    <a:pt x="771151" y="1661465"/>
                  </a:moveTo>
                  <a:lnTo>
                    <a:pt x="0" y="1661465"/>
                  </a:lnTo>
                  <a:lnTo>
                    <a:pt x="0" y="70954"/>
                  </a:lnTo>
                </a:path>
              </a:pathLst>
            </a:custGeom>
            <a:ln w="748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1" name="object 4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865043" y="8717591"/>
              <a:ext cx="147219" cy="310686"/>
            </a:xfrm>
            <a:prstGeom prst="rect">
              <a:avLst/>
            </a:prstGeom>
          </p:spPr>
        </p:pic>
      </p:grpSp>
      <p:sp>
        <p:nvSpPr>
          <p:cNvPr id="42" name="object 42"/>
          <p:cNvSpPr txBox="1"/>
          <p:nvPr/>
        </p:nvSpPr>
        <p:spPr>
          <a:xfrm>
            <a:off x="3150778" y="8386722"/>
            <a:ext cx="1064260" cy="44005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404495" indent="137160">
              <a:lnSpc>
                <a:spcPct val="105300"/>
              </a:lnSpc>
              <a:spcBef>
                <a:spcPts val="90"/>
              </a:spcBef>
            </a:pPr>
            <a:r>
              <a:rPr dirty="0" sz="700" spc="15">
                <a:latin typeface="Arial MT"/>
                <a:cs typeface="Arial MT"/>
              </a:rPr>
              <a:t>[problem </a:t>
            </a:r>
            <a:r>
              <a:rPr dirty="0" sz="700" spc="20">
                <a:latin typeface="Arial MT"/>
                <a:cs typeface="Arial MT"/>
              </a:rPr>
              <a:t> </a:t>
            </a:r>
            <a:r>
              <a:rPr dirty="0" sz="700" spc="30">
                <a:latin typeface="Arial MT"/>
                <a:cs typeface="Arial MT"/>
              </a:rPr>
              <a:t>m</a:t>
            </a:r>
            <a:r>
              <a:rPr dirty="0" sz="700" spc="5">
                <a:latin typeface="Arial MT"/>
                <a:cs typeface="Arial MT"/>
              </a:rPr>
              <a:t>i</a:t>
            </a:r>
            <a:r>
              <a:rPr dirty="0" sz="700" spc="15">
                <a:latin typeface="Arial MT"/>
                <a:cs typeface="Arial MT"/>
              </a:rPr>
              <a:t>s</a:t>
            </a:r>
            <a:r>
              <a:rPr dirty="0" sz="700" spc="15">
                <a:latin typeface="Arial MT"/>
                <a:cs typeface="Arial MT"/>
              </a:rPr>
              <a:t>unde</a:t>
            </a:r>
            <a:r>
              <a:rPr dirty="0" sz="700" spc="15">
                <a:latin typeface="Arial MT"/>
                <a:cs typeface="Arial MT"/>
              </a:rPr>
              <a:t>rs</a:t>
            </a:r>
            <a:r>
              <a:rPr dirty="0" sz="700" spc="5">
                <a:latin typeface="Arial MT"/>
                <a:cs typeface="Arial MT"/>
              </a:rPr>
              <a:t>t</a:t>
            </a:r>
            <a:r>
              <a:rPr dirty="0" sz="700" spc="15">
                <a:latin typeface="Arial MT"/>
                <a:cs typeface="Arial MT"/>
              </a:rPr>
              <a:t>ood</a:t>
            </a:r>
            <a:r>
              <a:rPr dirty="0" sz="700" spc="10">
                <a:latin typeface="Arial MT"/>
                <a:cs typeface="Arial MT"/>
              </a:rPr>
              <a:t>]</a:t>
            </a:r>
            <a:endParaRPr sz="700">
              <a:latin typeface="Arial MT"/>
              <a:cs typeface="Arial MT"/>
            </a:endParaRPr>
          </a:p>
          <a:p>
            <a:pPr algn="r" marR="5080">
              <a:lnSpc>
                <a:spcPct val="100000"/>
              </a:lnSpc>
              <a:spcBef>
                <a:spcPts val="655"/>
              </a:spcBef>
            </a:pPr>
            <a:r>
              <a:rPr dirty="0" sz="700" spc="10">
                <a:latin typeface="Arial MT"/>
                <a:cs typeface="Arial MT"/>
              </a:rPr>
              <a:t>[else]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3074072" y="6871599"/>
            <a:ext cx="899794" cy="117475"/>
          </a:xfrm>
          <a:custGeom>
            <a:avLst/>
            <a:gdLst/>
            <a:ahLst/>
            <a:cxnLst/>
            <a:rect l="l" t="t" r="r" b="b"/>
            <a:pathLst>
              <a:path w="899795" h="117475">
                <a:moveTo>
                  <a:pt x="866150" y="0"/>
                </a:moveTo>
                <a:lnTo>
                  <a:pt x="865365" y="117044"/>
                </a:lnTo>
              </a:path>
              <a:path w="899795" h="117475">
                <a:moveTo>
                  <a:pt x="832197" y="49333"/>
                </a:moveTo>
                <a:lnTo>
                  <a:pt x="846308" y="62981"/>
                </a:lnTo>
                <a:lnTo>
                  <a:pt x="856766" y="79282"/>
                </a:lnTo>
                <a:lnTo>
                  <a:pt x="863232" y="97537"/>
                </a:lnTo>
                <a:lnTo>
                  <a:pt x="865365" y="117044"/>
                </a:lnTo>
                <a:lnTo>
                  <a:pt x="867789" y="97572"/>
                </a:lnTo>
                <a:lnTo>
                  <a:pt x="874528" y="79417"/>
                </a:lnTo>
                <a:lnTo>
                  <a:pt x="885222" y="63271"/>
                </a:lnTo>
                <a:lnTo>
                  <a:pt x="899514" y="49825"/>
                </a:lnTo>
              </a:path>
              <a:path w="899795" h="117475">
                <a:moveTo>
                  <a:pt x="0" y="0"/>
                </a:moveTo>
                <a:lnTo>
                  <a:pt x="866150" y="0"/>
                </a:lnTo>
              </a:path>
            </a:pathLst>
          </a:custGeom>
          <a:ln w="748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892556"/>
            <a:ext cx="169672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b="1">
                <a:latin typeface="Calibri"/>
                <a:cs typeface="Calibri"/>
              </a:rPr>
              <a:t>A </a:t>
            </a:r>
            <a:r>
              <a:rPr dirty="0" sz="1100" spc="-5" b="1">
                <a:latin typeface="Calibri"/>
                <a:cs typeface="Calibri"/>
              </a:rPr>
              <a:t>Design</a:t>
            </a:r>
            <a:r>
              <a:rPr dirty="0" sz="1100" spc="-15" b="1">
                <a:latin typeface="Calibri"/>
                <a:cs typeface="Calibri"/>
              </a:rPr>
              <a:t> </a:t>
            </a:r>
            <a:r>
              <a:rPr dirty="0" sz="1100" spc="-5" b="1">
                <a:latin typeface="Calibri"/>
                <a:cs typeface="Calibri"/>
              </a:rPr>
              <a:t>Resolution Process: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2004" y="5529452"/>
            <a:ext cx="5668010" cy="94996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 spc="-5" b="1">
                <a:latin typeface="Calibri"/>
                <a:cs typeface="Calibri"/>
              </a:rPr>
              <a:t>Design</a:t>
            </a:r>
            <a:r>
              <a:rPr dirty="0" sz="1100" spc="-10" b="1">
                <a:latin typeface="Calibri"/>
                <a:cs typeface="Calibri"/>
              </a:rPr>
              <a:t> </a:t>
            </a:r>
            <a:r>
              <a:rPr dirty="0" sz="1100" spc="-5" b="1">
                <a:latin typeface="Calibri"/>
                <a:cs typeface="Calibri"/>
              </a:rPr>
              <a:t>Process</a:t>
            </a:r>
            <a:r>
              <a:rPr dirty="0" sz="1100" spc="-10" b="1">
                <a:latin typeface="Calibri"/>
                <a:cs typeface="Calibri"/>
              </a:rPr>
              <a:t> </a:t>
            </a:r>
            <a:r>
              <a:rPr dirty="0" sz="1100" spc="-5" b="1">
                <a:latin typeface="Calibri"/>
                <a:cs typeface="Calibri"/>
              </a:rPr>
              <a:t>Characteristics:</a:t>
            </a:r>
            <a:endParaRPr sz="1100">
              <a:latin typeface="Calibri"/>
              <a:cs typeface="Calibri"/>
            </a:endParaRPr>
          </a:p>
          <a:p>
            <a:pPr marL="469265" indent="-228600">
              <a:lnSpc>
                <a:spcPct val="100000"/>
              </a:lnSpc>
              <a:spcBef>
                <a:spcPts val="919"/>
              </a:spcBef>
              <a:buFont typeface="Microsoft Sans Serif"/>
              <a:buChar char=""/>
              <a:tabLst>
                <a:tab pos="469265" algn="l"/>
                <a:tab pos="469900" algn="l"/>
              </a:tabLst>
            </a:pPr>
            <a:r>
              <a:rPr dirty="0" sz="1100">
                <a:latin typeface="Calibri"/>
                <a:cs typeface="Calibri"/>
              </a:rPr>
              <a:t>Designers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should </a:t>
            </a:r>
            <a:r>
              <a:rPr dirty="0" sz="1100">
                <a:latin typeface="Calibri"/>
                <a:cs typeface="Calibri"/>
              </a:rPr>
              <a:t>generate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many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candidate </a:t>
            </a:r>
            <a:r>
              <a:rPr dirty="0" sz="1100" spc="-5">
                <a:latin typeface="Calibri"/>
                <a:cs typeface="Calibri"/>
              </a:rPr>
              <a:t>solutions</a:t>
            </a:r>
            <a:r>
              <a:rPr dirty="0" sz="110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during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design </a:t>
            </a:r>
            <a:r>
              <a:rPr dirty="0" sz="1100" spc="-5">
                <a:latin typeface="Calibri"/>
                <a:cs typeface="Calibri"/>
              </a:rPr>
              <a:t>process.</a:t>
            </a:r>
            <a:endParaRPr sz="1100">
              <a:latin typeface="Calibri"/>
              <a:cs typeface="Calibri"/>
            </a:endParaRPr>
          </a:p>
          <a:p>
            <a:pPr marL="469265" marR="5080" indent="-228600">
              <a:lnSpc>
                <a:spcPct val="110000"/>
              </a:lnSpc>
              <a:spcBef>
                <a:spcPts val="805"/>
              </a:spcBef>
              <a:buFont typeface="Microsoft Sans Serif"/>
              <a:buChar char=""/>
              <a:tabLst>
                <a:tab pos="469265" algn="l"/>
                <a:tab pos="469900" algn="l"/>
              </a:tabLst>
            </a:pPr>
            <a:r>
              <a:rPr dirty="0" sz="1100" spc="-5">
                <a:latin typeface="Calibri"/>
                <a:cs typeface="Calibri"/>
              </a:rPr>
              <a:t>The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design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process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is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highly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iterative;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designers</a:t>
            </a:r>
            <a:r>
              <a:rPr dirty="0" sz="110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must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frequently</a:t>
            </a:r>
            <a:r>
              <a:rPr dirty="0" sz="1100" spc="2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reanalyze</a:t>
            </a:r>
            <a:r>
              <a:rPr dirty="0" sz="1100">
                <a:latin typeface="Calibri"/>
                <a:cs typeface="Calibri"/>
              </a:rPr>
              <a:t> the </a:t>
            </a:r>
            <a:r>
              <a:rPr dirty="0" sz="1100" spc="-5">
                <a:latin typeface="Calibri"/>
                <a:cs typeface="Calibri"/>
              </a:rPr>
              <a:t>problem</a:t>
            </a:r>
            <a:r>
              <a:rPr dirty="0" sz="1100" spc="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 </a:t>
            </a:r>
            <a:r>
              <a:rPr dirty="0" sz="1100" spc="-23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must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generate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-5">
                <a:latin typeface="Calibri"/>
                <a:cs typeface="Calibri"/>
              </a:rPr>
              <a:t> improve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solutions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many</a:t>
            </a:r>
            <a:r>
              <a:rPr dirty="0" sz="110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times.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460748" y="2299243"/>
            <a:ext cx="892810" cy="259715"/>
          </a:xfrm>
          <a:custGeom>
            <a:avLst/>
            <a:gdLst/>
            <a:ahLst/>
            <a:cxnLst/>
            <a:rect l="l" t="t" r="r" b="b"/>
            <a:pathLst>
              <a:path w="892810" h="259714">
                <a:moveTo>
                  <a:pt x="793458" y="259122"/>
                </a:moveTo>
                <a:lnTo>
                  <a:pt x="832053" y="252340"/>
                </a:lnTo>
                <a:lnTo>
                  <a:pt x="863561" y="233841"/>
                </a:lnTo>
                <a:lnTo>
                  <a:pt x="884800" y="206396"/>
                </a:lnTo>
                <a:lnTo>
                  <a:pt x="892587" y="172778"/>
                </a:lnTo>
                <a:lnTo>
                  <a:pt x="892587" y="86344"/>
                </a:lnTo>
                <a:lnTo>
                  <a:pt x="884800" y="52726"/>
                </a:lnTo>
                <a:lnTo>
                  <a:pt x="863561" y="25281"/>
                </a:lnTo>
                <a:lnTo>
                  <a:pt x="832053" y="6782"/>
                </a:lnTo>
                <a:lnTo>
                  <a:pt x="793458" y="0"/>
                </a:lnTo>
                <a:lnTo>
                  <a:pt x="99180" y="0"/>
                </a:lnTo>
                <a:lnTo>
                  <a:pt x="60577" y="6782"/>
                </a:lnTo>
                <a:lnTo>
                  <a:pt x="29051" y="25281"/>
                </a:lnTo>
                <a:lnTo>
                  <a:pt x="7794" y="52726"/>
                </a:lnTo>
                <a:lnTo>
                  <a:pt x="0" y="86344"/>
                </a:lnTo>
                <a:lnTo>
                  <a:pt x="0" y="172778"/>
                </a:lnTo>
                <a:lnTo>
                  <a:pt x="7794" y="206396"/>
                </a:lnTo>
                <a:lnTo>
                  <a:pt x="29051" y="233841"/>
                </a:lnTo>
                <a:lnTo>
                  <a:pt x="60577" y="252340"/>
                </a:lnTo>
                <a:lnTo>
                  <a:pt x="99180" y="259122"/>
                </a:lnTo>
                <a:lnTo>
                  <a:pt x="793458" y="259122"/>
                </a:lnTo>
                <a:close/>
              </a:path>
            </a:pathLst>
          </a:custGeom>
          <a:ln w="699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3499810" y="2316322"/>
            <a:ext cx="814705" cy="21018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5080" indent="38735">
              <a:lnSpc>
                <a:spcPct val="100000"/>
              </a:lnSpc>
              <a:spcBef>
                <a:spcPts val="105"/>
              </a:spcBef>
            </a:pPr>
            <a:r>
              <a:rPr dirty="0" sz="600" spc="45">
                <a:latin typeface="Arial MT"/>
                <a:cs typeface="Arial MT"/>
              </a:rPr>
              <a:t>Generate/Improve </a:t>
            </a:r>
            <a:r>
              <a:rPr dirty="0" sz="600" spc="50">
                <a:latin typeface="Arial MT"/>
                <a:cs typeface="Arial MT"/>
              </a:rPr>
              <a:t> </a:t>
            </a:r>
            <a:r>
              <a:rPr dirty="0" sz="600" spc="45">
                <a:latin typeface="Arial MT"/>
                <a:cs typeface="Arial MT"/>
              </a:rPr>
              <a:t>Candidate</a:t>
            </a:r>
            <a:r>
              <a:rPr dirty="0" sz="600" spc="-30">
                <a:latin typeface="Arial MT"/>
                <a:cs typeface="Arial MT"/>
              </a:rPr>
              <a:t> </a:t>
            </a:r>
            <a:r>
              <a:rPr dirty="0" sz="600" spc="40">
                <a:latin typeface="Arial MT"/>
                <a:cs typeface="Arial MT"/>
              </a:rPr>
              <a:t>Solutions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964844" y="1500106"/>
            <a:ext cx="1835150" cy="3628390"/>
          </a:xfrm>
          <a:custGeom>
            <a:avLst/>
            <a:gdLst/>
            <a:ahLst/>
            <a:cxnLst/>
            <a:rect l="l" t="t" r="r" b="b"/>
            <a:pathLst>
              <a:path w="1835150" h="3628390">
                <a:moveTo>
                  <a:pt x="943036" y="692566"/>
                </a:moveTo>
                <a:lnTo>
                  <a:pt x="942203" y="799136"/>
                </a:lnTo>
              </a:path>
              <a:path w="1835150" h="3628390">
                <a:moveTo>
                  <a:pt x="907008" y="736736"/>
                </a:moveTo>
                <a:lnTo>
                  <a:pt x="921981" y="749279"/>
                </a:lnTo>
                <a:lnTo>
                  <a:pt x="933079" y="764297"/>
                </a:lnTo>
                <a:lnTo>
                  <a:pt x="939940" y="781134"/>
                </a:lnTo>
                <a:lnTo>
                  <a:pt x="942203" y="799136"/>
                </a:lnTo>
                <a:lnTo>
                  <a:pt x="944775" y="781165"/>
                </a:lnTo>
                <a:lnTo>
                  <a:pt x="951926" y="764410"/>
                </a:lnTo>
                <a:lnTo>
                  <a:pt x="963274" y="749509"/>
                </a:lnTo>
                <a:lnTo>
                  <a:pt x="978439" y="737099"/>
                </a:lnTo>
              </a:path>
              <a:path w="1835150" h="3628390">
                <a:moveTo>
                  <a:pt x="1735651" y="3628371"/>
                </a:moveTo>
                <a:lnTo>
                  <a:pt x="1774263" y="3621582"/>
                </a:lnTo>
                <a:lnTo>
                  <a:pt x="1805807" y="3603068"/>
                </a:lnTo>
                <a:lnTo>
                  <a:pt x="1827081" y="3575609"/>
                </a:lnTo>
                <a:lnTo>
                  <a:pt x="1834884" y="3541985"/>
                </a:lnTo>
                <a:lnTo>
                  <a:pt x="1834884" y="86434"/>
                </a:lnTo>
                <a:lnTo>
                  <a:pt x="1827081" y="52802"/>
                </a:lnTo>
                <a:lnTo>
                  <a:pt x="1805807" y="25327"/>
                </a:lnTo>
                <a:lnTo>
                  <a:pt x="1774263" y="6796"/>
                </a:lnTo>
                <a:lnTo>
                  <a:pt x="1735651" y="0"/>
                </a:lnTo>
                <a:lnTo>
                  <a:pt x="99180" y="0"/>
                </a:lnTo>
                <a:lnTo>
                  <a:pt x="60577" y="6796"/>
                </a:lnTo>
                <a:lnTo>
                  <a:pt x="29051" y="25327"/>
                </a:lnTo>
                <a:lnTo>
                  <a:pt x="7794" y="52802"/>
                </a:lnTo>
                <a:lnTo>
                  <a:pt x="0" y="86434"/>
                </a:lnTo>
                <a:lnTo>
                  <a:pt x="0" y="3541985"/>
                </a:lnTo>
                <a:lnTo>
                  <a:pt x="7794" y="3575609"/>
                </a:lnTo>
                <a:lnTo>
                  <a:pt x="29051" y="3603068"/>
                </a:lnTo>
                <a:lnTo>
                  <a:pt x="60577" y="3621582"/>
                </a:lnTo>
                <a:lnTo>
                  <a:pt x="99180" y="3628371"/>
                </a:lnTo>
                <a:lnTo>
                  <a:pt x="1735651" y="3628371"/>
                </a:lnTo>
              </a:path>
            </a:pathLst>
          </a:custGeom>
          <a:ln w="742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3062341" y="1536337"/>
            <a:ext cx="1205230" cy="31496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 marR="5080">
              <a:lnSpc>
                <a:spcPct val="101600"/>
              </a:lnSpc>
              <a:spcBef>
                <a:spcPts val="114"/>
              </a:spcBef>
            </a:pPr>
            <a:r>
              <a:rPr dirty="0" sz="650" spc="60">
                <a:latin typeface="Arial MT"/>
                <a:cs typeface="Arial MT"/>
              </a:rPr>
              <a:t>Generic</a:t>
            </a:r>
            <a:r>
              <a:rPr dirty="0" sz="650" spc="15">
                <a:latin typeface="Arial MT"/>
                <a:cs typeface="Arial MT"/>
              </a:rPr>
              <a:t> </a:t>
            </a:r>
            <a:r>
              <a:rPr dirty="0" sz="650" spc="65">
                <a:latin typeface="Arial MT"/>
                <a:cs typeface="Arial MT"/>
              </a:rPr>
              <a:t>Design</a:t>
            </a:r>
            <a:r>
              <a:rPr dirty="0" sz="650" spc="20">
                <a:latin typeface="Arial MT"/>
                <a:cs typeface="Arial MT"/>
              </a:rPr>
              <a:t> </a:t>
            </a:r>
            <a:r>
              <a:rPr dirty="0" sz="650" spc="60">
                <a:latin typeface="Arial MT"/>
                <a:cs typeface="Arial MT"/>
              </a:rPr>
              <a:t>Resolution </a:t>
            </a:r>
            <a:r>
              <a:rPr dirty="0" sz="650" spc="-170">
                <a:latin typeface="Arial MT"/>
                <a:cs typeface="Arial MT"/>
              </a:rPr>
              <a:t> </a:t>
            </a:r>
            <a:r>
              <a:rPr dirty="0" sz="600" spc="45">
                <a:latin typeface="Arial MT"/>
                <a:cs typeface="Arial MT"/>
              </a:rPr>
              <a:t>problem </a:t>
            </a:r>
            <a:r>
              <a:rPr dirty="0" sz="600" spc="25">
                <a:latin typeface="Arial MT"/>
                <a:cs typeface="Arial MT"/>
              </a:rPr>
              <a:t>: </a:t>
            </a:r>
            <a:r>
              <a:rPr dirty="0" sz="600" spc="50">
                <a:latin typeface="Arial MT"/>
                <a:cs typeface="Arial MT"/>
              </a:rPr>
              <a:t>Problem </a:t>
            </a:r>
            <a:r>
              <a:rPr dirty="0" sz="600" spc="45">
                <a:latin typeface="Arial MT"/>
                <a:cs typeface="Arial MT"/>
              </a:rPr>
              <a:t>Statement </a:t>
            </a:r>
            <a:r>
              <a:rPr dirty="0" sz="600" spc="-155">
                <a:latin typeface="Arial MT"/>
                <a:cs typeface="Arial MT"/>
              </a:rPr>
              <a:t> </a:t>
            </a:r>
            <a:r>
              <a:rPr dirty="0" sz="600" spc="45">
                <a:latin typeface="Arial MT"/>
                <a:cs typeface="Arial MT"/>
              </a:rPr>
              <a:t>design</a:t>
            </a:r>
            <a:r>
              <a:rPr dirty="0" sz="600" spc="20">
                <a:latin typeface="Arial MT"/>
                <a:cs typeface="Arial MT"/>
              </a:rPr>
              <a:t> </a:t>
            </a:r>
            <a:r>
              <a:rPr dirty="0" sz="600" spc="25">
                <a:latin typeface="Arial MT"/>
                <a:cs typeface="Arial MT"/>
              </a:rPr>
              <a:t>:</a:t>
            </a:r>
            <a:r>
              <a:rPr dirty="0" sz="600" spc="20">
                <a:latin typeface="Arial MT"/>
                <a:cs typeface="Arial MT"/>
              </a:rPr>
              <a:t> </a:t>
            </a:r>
            <a:r>
              <a:rPr dirty="0" sz="600" spc="40">
                <a:latin typeface="Arial MT"/>
                <a:cs typeface="Arial MT"/>
              </a:rPr>
              <a:t>Solution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2713082" y="1863440"/>
            <a:ext cx="1234440" cy="2668905"/>
            <a:chOff x="2713082" y="1863440"/>
            <a:chExt cx="1234440" cy="2668905"/>
          </a:xfrm>
        </p:grpSpPr>
        <p:sp>
          <p:nvSpPr>
            <p:cNvPr id="9" name="object 9"/>
            <p:cNvSpPr/>
            <p:nvPr/>
          </p:nvSpPr>
          <p:spPr>
            <a:xfrm>
              <a:off x="3871332" y="2558366"/>
              <a:ext cx="71755" cy="108585"/>
            </a:xfrm>
            <a:custGeom>
              <a:avLst/>
              <a:gdLst/>
              <a:ahLst/>
              <a:cxnLst/>
              <a:rect l="l" t="t" r="r" b="b"/>
              <a:pathLst>
                <a:path w="71754" h="108585">
                  <a:moveTo>
                    <a:pt x="35715" y="0"/>
                  </a:moveTo>
                  <a:lnTo>
                    <a:pt x="35715" y="108020"/>
                  </a:lnTo>
                </a:path>
                <a:path w="71754" h="108585">
                  <a:moveTo>
                    <a:pt x="0" y="45802"/>
                  </a:moveTo>
                  <a:lnTo>
                    <a:pt x="15069" y="58278"/>
                  </a:lnTo>
                  <a:lnTo>
                    <a:pt x="26292" y="73238"/>
                  </a:lnTo>
                  <a:lnTo>
                    <a:pt x="33297" y="90034"/>
                  </a:lnTo>
                  <a:lnTo>
                    <a:pt x="35715" y="108020"/>
                  </a:lnTo>
                  <a:lnTo>
                    <a:pt x="38133" y="90034"/>
                  </a:lnTo>
                  <a:lnTo>
                    <a:pt x="45139" y="73238"/>
                  </a:lnTo>
                  <a:lnTo>
                    <a:pt x="56361" y="58278"/>
                  </a:lnTo>
                  <a:lnTo>
                    <a:pt x="71431" y="45802"/>
                  </a:lnTo>
                </a:path>
              </a:pathLst>
            </a:custGeom>
            <a:ln w="74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3907464" y="4394166"/>
              <a:ext cx="0" cy="133985"/>
            </a:xfrm>
            <a:custGeom>
              <a:avLst/>
              <a:gdLst/>
              <a:ahLst/>
              <a:cxnLst/>
              <a:rect l="l" t="t" r="r" b="b"/>
              <a:pathLst>
                <a:path w="0" h="133985">
                  <a:moveTo>
                    <a:pt x="0" y="0"/>
                  </a:moveTo>
                  <a:lnTo>
                    <a:pt x="0" y="133555"/>
                  </a:lnTo>
                </a:path>
              </a:pathLst>
            </a:custGeom>
            <a:ln w="876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3871748" y="4461373"/>
              <a:ext cx="71755" cy="62865"/>
            </a:xfrm>
            <a:custGeom>
              <a:avLst/>
              <a:gdLst/>
              <a:ahLst/>
              <a:cxnLst/>
              <a:rect l="l" t="t" r="r" b="b"/>
              <a:pathLst>
                <a:path w="71754" h="62864">
                  <a:moveTo>
                    <a:pt x="0" y="353"/>
                  </a:moveTo>
                  <a:lnTo>
                    <a:pt x="15163" y="12752"/>
                  </a:lnTo>
                  <a:lnTo>
                    <a:pt x="26500" y="27653"/>
                  </a:lnTo>
                  <a:lnTo>
                    <a:pt x="33620" y="44412"/>
                  </a:lnTo>
                  <a:lnTo>
                    <a:pt x="36132" y="62381"/>
                  </a:lnTo>
                  <a:lnTo>
                    <a:pt x="38455" y="44387"/>
                  </a:lnTo>
                  <a:lnTo>
                    <a:pt x="45347" y="27558"/>
                  </a:lnTo>
                  <a:lnTo>
                    <a:pt x="56456" y="12545"/>
                  </a:lnTo>
                  <a:lnTo>
                    <a:pt x="71431" y="0"/>
                  </a:lnTo>
                </a:path>
              </a:pathLst>
            </a:custGeom>
            <a:ln w="735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2716892" y="1867250"/>
              <a:ext cx="495934" cy="173355"/>
            </a:xfrm>
            <a:custGeom>
              <a:avLst/>
              <a:gdLst/>
              <a:ahLst/>
              <a:cxnLst/>
              <a:rect l="l" t="t" r="r" b="b"/>
              <a:pathLst>
                <a:path w="495935" h="173355">
                  <a:moveTo>
                    <a:pt x="495904" y="0"/>
                  </a:moveTo>
                  <a:lnTo>
                    <a:pt x="0" y="0"/>
                  </a:lnTo>
                  <a:lnTo>
                    <a:pt x="0" y="172778"/>
                  </a:lnTo>
                  <a:lnTo>
                    <a:pt x="495904" y="172778"/>
                  </a:lnTo>
                  <a:lnTo>
                    <a:pt x="49590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2716892" y="1867250"/>
              <a:ext cx="495934" cy="173355"/>
            </a:xfrm>
            <a:custGeom>
              <a:avLst/>
              <a:gdLst/>
              <a:ahLst/>
              <a:cxnLst/>
              <a:rect l="l" t="t" r="r" b="b"/>
              <a:pathLst>
                <a:path w="495935" h="173355">
                  <a:moveTo>
                    <a:pt x="0" y="172778"/>
                  </a:moveTo>
                  <a:lnTo>
                    <a:pt x="495904" y="172778"/>
                  </a:lnTo>
                  <a:lnTo>
                    <a:pt x="495904" y="0"/>
                  </a:lnTo>
                  <a:lnTo>
                    <a:pt x="0" y="0"/>
                  </a:lnTo>
                  <a:lnTo>
                    <a:pt x="0" y="172778"/>
                  </a:lnTo>
                  <a:close/>
                </a:path>
              </a:pathLst>
            </a:custGeom>
            <a:ln w="70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/>
          <p:nvPr/>
        </p:nvSpPr>
        <p:spPr>
          <a:xfrm>
            <a:off x="2716892" y="1867250"/>
            <a:ext cx="495934" cy="173355"/>
          </a:xfrm>
          <a:prstGeom prst="rect">
            <a:avLst/>
          </a:prstGeom>
          <a:ln w="7052">
            <a:solidFill>
              <a:srgbClr val="000000"/>
            </a:solidFill>
          </a:ln>
        </p:spPr>
        <p:txBody>
          <a:bodyPr wrap="square" lIns="0" tIns="33020" rIns="0" bIns="0" rtlCol="0" vert="horz">
            <a:spAutoFit/>
          </a:bodyPr>
          <a:lstStyle/>
          <a:p>
            <a:pPr marL="88265">
              <a:lnSpc>
                <a:spcPct val="100000"/>
              </a:lnSpc>
              <a:spcBef>
                <a:spcPts val="260"/>
              </a:spcBef>
            </a:pPr>
            <a:r>
              <a:rPr dirty="0" sz="600" spc="45">
                <a:latin typeface="Arial MT"/>
                <a:cs typeface="Arial MT"/>
              </a:rPr>
              <a:t>problem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4547887" y="4822304"/>
            <a:ext cx="503555" cy="180975"/>
            <a:chOff x="4547887" y="4822304"/>
            <a:chExt cx="503555" cy="180975"/>
          </a:xfrm>
        </p:grpSpPr>
        <p:sp>
          <p:nvSpPr>
            <p:cNvPr id="16" name="object 16"/>
            <p:cNvSpPr/>
            <p:nvPr/>
          </p:nvSpPr>
          <p:spPr>
            <a:xfrm>
              <a:off x="4551697" y="4826114"/>
              <a:ext cx="495934" cy="173355"/>
            </a:xfrm>
            <a:custGeom>
              <a:avLst/>
              <a:gdLst/>
              <a:ahLst/>
              <a:cxnLst/>
              <a:rect l="l" t="t" r="r" b="b"/>
              <a:pathLst>
                <a:path w="495935" h="173354">
                  <a:moveTo>
                    <a:pt x="495904" y="0"/>
                  </a:moveTo>
                  <a:lnTo>
                    <a:pt x="0" y="0"/>
                  </a:lnTo>
                  <a:lnTo>
                    <a:pt x="0" y="172778"/>
                  </a:lnTo>
                  <a:lnTo>
                    <a:pt x="495904" y="172778"/>
                  </a:lnTo>
                  <a:lnTo>
                    <a:pt x="49590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4551697" y="4826114"/>
              <a:ext cx="495934" cy="173355"/>
            </a:xfrm>
            <a:custGeom>
              <a:avLst/>
              <a:gdLst/>
              <a:ahLst/>
              <a:cxnLst/>
              <a:rect l="l" t="t" r="r" b="b"/>
              <a:pathLst>
                <a:path w="495935" h="173354">
                  <a:moveTo>
                    <a:pt x="0" y="172778"/>
                  </a:moveTo>
                  <a:lnTo>
                    <a:pt x="495904" y="172778"/>
                  </a:lnTo>
                  <a:lnTo>
                    <a:pt x="495904" y="0"/>
                  </a:lnTo>
                  <a:lnTo>
                    <a:pt x="0" y="0"/>
                  </a:lnTo>
                  <a:lnTo>
                    <a:pt x="0" y="172778"/>
                  </a:lnTo>
                  <a:close/>
                </a:path>
              </a:pathLst>
            </a:custGeom>
            <a:ln w="70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/>
          <p:cNvSpPr txBox="1"/>
          <p:nvPr/>
        </p:nvSpPr>
        <p:spPr>
          <a:xfrm>
            <a:off x="4551698" y="4826113"/>
            <a:ext cx="495934" cy="173355"/>
          </a:xfrm>
          <a:prstGeom prst="rect">
            <a:avLst/>
          </a:prstGeom>
          <a:ln w="7052">
            <a:solidFill>
              <a:srgbClr val="000000"/>
            </a:solidFill>
          </a:ln>
        </p:spPr>
        <p:txBody>
          <a:bodyPr wrap="square" lIns="0" tIns="33020" rIns="0" bIns="0" rtlCol="0" vert="horz">
            <a:spAutoFit/>
          </a:bodyPr>
          <a:lstStyle/>
          <a:p>
            <a:pPr marL="117475">
              <a:lnSpc>
                <a:spcPct val="100000"/>
              </a:lnSpc>
              <a:spcBef>
                <a:spcPts val="260"/>
              </a:spcBef>
            </a:pPr>
            <a:r>
              <a:rPr dirty="0" sz="600" spc="45">
                <a:latin typeface="Arial MT"/>
                <a:cs typeface="Arial MT"/>
              </a:rPr>
              <a:t>design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3258259" y="2057805"/>
            <a:ext cx="1297305" cy="2889885"/>
            <a:chOff x="3258259" y="2057805"/>
            <a:chExt cx="1297305" cy="2889885"/>
          </a:xfrm>
        </p:grpSpPr>
        <p:sp>
          <p:nvSpPr>
            <p:cNvPr id="20" name="object 20"/>
            <p:cNvSpPr/>
            <p:nvPr/>
          </p:nvSpPr>
          <p:spPr>
            <a:xfrm>
              <a:off x="3262386" y="2126464"/>
              <a:ext cx="570865" cy="1270"/>
            </a:xfrm>
            <a:custGeom>
              <a:avLst/>
              <a:gdLst/>
              <a:ahLst/>
              <a:cxnLst/>
              <a:rect l="l" t="t" r="r" b="b"/>
              <a:pathLst>
                <a:path w="570864" h="1269">
                  <a:moveTo>
                    <a:pt x="0" y="0"/>
                  </a:moveTo>
                  <a:lnTo>
                    <a:pt x="570314" y="725"/>
                  </a:lnTo>
                </a:path>
              </a:pathLst>
            </a:custGeom>
            <a:ln w="691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1" name="object 2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757454" y="2092278"/>
              <a:ext cx="78957" cy="69640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4204642" y="4912503"/>
              <a:ext cx="347345" cy="0"/>
            </a:xfrm>
            <a:custGeom>
              <a:avLst/>
              <a:gdLst/>
              <a:ahLst/>
              <a:cxnLst/>
              <a:rect l="l" t="t" r="r" b="b"/>
              <a:pathLst>
                <a:path w="347345" h="0">
                  <a:moveTo>
                    <a:pt x="0" y="0"/>
                  </a:moveTo>
                  <a:lnTo>
                    <a:pt x="347055" y="0"/>
                  </a:lnTo>
                </a:path>
              </a:pathLst>
            </a:custGeom>
            <a:ln w="691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3" name="object 2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476659" y="4877691"/>
              <a:ext cx="78750" cy="69623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3262386" y="2061615"/>
              <a:ext cx="721360" cy="2721610"/>
            </a:xfrm>
            <a:custGeom>
              <a:avLst/>
              <a:gdLst/>
              <a:ahLst/>
              <a:cxnLst/>
              <a:rect l="l" t="t" r="r" b="b"/>
              <a:pathLst>
                <a:path w="721360" h="2721610">
                  <a:moveTo>
                    <a:pt x="570314" y="65574"/>
                  </a:moveTo>
                  <a:lnTo>
                    <a:pt x="645493" y="131058"/>
                  </a:lnTo>
                  <a:lnTo>
                    <a:pt x="720777" y="65574"/>
                  </a:lnTo>
                  <a:lnTo>
                    <a:pt x="645493" y="0"/>
                  </a:lnTo>
                  <a:lnTo>
                    <a:pt x="570314" y="65574"/>
                  </a:lnTo>
                  <a:close/>
                </a:path>
                <a:path w="721360" h="2721610">
                  <a:moveTo>
                    <a:pt x="570314" y="2527659"/>
                  </a:moveTo>
                  <a:lnTo>
                    <a:pt x="645493" y="2593188"/>
                  </a:lnTo>
                  <a:lnTo>
                    <a:pt x="720777" y="2527659"/>
                  </a:lnTo>
                  <a:lnTo>
                    <a:pt x="645493" y="2462140"/>
                  </a:lnTo>
                  <a:lnTo>
                    <a:pt x="570314" y="2527659"/>
                  </a:lnTo>
                  <a:close/>
                </a:path>
                <a:path w="721360" h="2721610">
                  <a:moveTo>
                    <a:pt x="570314" y="2526925"/>
                  </a:moveTo>
                  <a:lnTo>
                    <a:pt x="0" y="2526925"/>
                  </a:lnTo>
                  <a:lnTo>
                    <a:pt x="0" y="64848"/>
                  </a:lnTo>
                </a:path>
                <a:path w="721360" h="2721610">
                  <a:moveTo>
                    <a:pt x="645493" y="2593188"/>
                  </a:moveTo>
                  <a:lnTo>
                    <a:pt x="644660" y="2721308"/>
                  </a:lnTo>
                </a:path>
                <a:path w="721360" h="2721610">
                  <a:moveTo>
                    <a:pt x="609361" y="2658926"/>
                  </a:moveTo>
                  <a:lnTo>
                    <a:pt x="624351" y="2671472"/>
                  </a:lnTo>
                  <a:lnTo>
                    <a:pt x="635484" y="2686485"/>
                  </a:lnTo>
                  <a:lnTo>
                    <a:pt x="642381" y="2703314"/>
                  </a:lnTo>
                  <a:lnTo>
                    <a:pt x="644660" y="2721308"/>
                  </a:lnTo>
                  <a:lnTo>
                    <a:pt x="647216" y="2703338"/>
                  </a:lnTo>
                  <a:lnTo>
                    <a:pt x="654331" y="2686580"/>
                  </a:lnTo>
                  <a:lnTo>
                    <a:pt x="665643" y="2671678"/>
                  </a:lnTo>
                  <a:lnTo>
                    <a:pt x="680792" y="2659280"/>
                  </a:lnTo>
                </a:path>
              </a:pathLst>
            </a:custGeom>
            <a:ln w="74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/>
          <p:cNvSpPr txBox="1"/>
          <p:nvPr/>
        </p:nvSpPr>
        <p:spPr>
          <a:xfrm>
            <a:off x="3578249" y="4462699"/>
            <a:ext cx="1123315" cy="2857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600" spc="35">
                <a:latin typeface="Arial MT"/>
                <a:cs typeface="Arial MT"/>
              </a:rPr>
              <a:t>[else]</a:t>
            </a:r>
            <a:endParaRPr sz="600">
              <a:latin typeface="Arial MT"/>
              <a:cs typeface="Arial MT"/>
            </a:endParaRPr>
          </a:p>
          <a:p>
            <a:pPr marL="365125">
              <a:lnSpc>
                <a:spcPct val="100000"/>
              </a:lnSpc>
              <a:spcBef>
                <a:spcPts val="600"/>
              </a:spcBef>
            </a:pPr>
            <a:r>
              <a:rPr dirty="0" sz="600" spc="45">
                <a:latin typeface="Arial MT"/>
                <a:cs typeface="Arial MT"/>
              </a:rPr>
              <a:t>[adequate</a:t>
            </a:r>
            <a:r>
              <a:rPr dirty="0" sz="600" spc="-20">
                <a:latin typeface="Arial MT"/>
                <a:cs typeface="Arial MT"/>
              </a:rPr>
              <a:t> </a:t>
            </a:r>
            <a:r>
              <a:rPr dirty="0" sz="600" spc="35">
                <a:latin typeface="Arial MT"/>
                <a:cs typeface="Arial MT"/>
              </a:rPr>
              <a:t>solution]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3209309" y="1949557"/>
            <a:ext cx="999490" cy="979805"/>
            <a:chOff x="3209309" y="1949557"/>
            <a:chExt cx="999490" cy="979805"/>
          </a:xfrm>
        </p:grpSpPr>
        <p:sp>
          <p:nvSpPr>
            <p:cNvPr id="27" name="object 27"/>
            <p:cNvSpPr/>
            <p:nvPr/>
          </p:nvSpPr>
          <p:spPr>
            <a:xfrm>
              <a:off x="3212801" y="1953685"/>
              <a:ext cx="731520" cy="107950"/>
            </a:xfrm>
            <a:custGeom>
              <a:avLst/>
              <a:gdLst/>
              <a:ahLst/>
              <a:cxnLst/>
              <a:rect l="l" t="t" r="r" b="b"/>
              <a:pathLst>
                <a:path w="731520" h="107950">
                  <a:moveTo>
                    <a:pt x="695912" y="0"/>
                  </a:moveTo>
                  <a:lnTo>
                    <a:pt x="695079" y="107930"/>
                  </a:lnTo>
                </a:path>
                <a:path w="731520" h="107950">
                  <a:moveTo>
                    <a:pt x="659884" y="45530"/>
                  </a:moveTo>
                  <a:lnTo>
                    <a:pt x="674857" y="58124"/>
                  </a:lnTo>
                  <a:lnTo>
                    <a:pt x="685954" y="73158"/>
                  </a:lnTo>
                  <a:lnTo>
                    <a:pt x="692815" y="89979"/>
                  </a:lnTo>
                  <a:lnTo>
                    <a:pt x="695079" y="107930"/>
                  </a:lnTo>
                  <a:lnTo>
                    <a:pt x="697651" y="89998"/>
                  </a:lnTo>
                  <a:lnTo>
                    <a:pt x="704801" y="73249"/>
                  </a:lnTo>
                  <a:lnTo>
                    <a:pt x="716150" y="58353"/>
                  </a:lnTo>
                  <a:lnTo>
                    <a:pt x="731315" y="45983"/>
                  </a:lnTo>
                </a:path>
                <a:path w="731520" h="107950">
                  <a:moveTo>
                    <a:pt x="0" y="0"/>
                  </a:moveTo>
                  <a:lnTo>
                    <a:pt x="695912" y="0"/>
                  </a:lnTo>
                </a:path>
              </a:pathLst>
            </a:custGeom>
            <a:ln w="74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3609525" y="2666341"/>
              <a:ext cx="595630" cy="259715"/>
            </a:xfrm>
            <a:custGeom>
              <a:avLst/>
              <a:gdLst/>
              <a:ahLst/>
              <a:cxnLst/>
              <a:rect l="l" t="t" r="r" b="b"/>
              <a:pathLst>
                <a:path w="595629" h="259714">
                  <a:moveTo>
                    <a:pt x="595085" y="0"/>
                  </a:moveTo>
                  <a:lnTo>
                    <a:pt x="0" y="0"/>
                  </a:lnTo>
                  <a:lnTo>
                    <a:pt x="0" y="259168"/>
                  </a:lnTo>
                  <a:lnTo>
                    <a:pt x="595085" y="259168"/>
                  </a:lnTo>
                  <a:lnTo>
                    <a:pt x="59508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3609525" y="2666341"/>
              <a:ext cx="595630" cy="259715"/>
            </a:xfrm>
            <a:custGeom>
              <a:avLst/>
              <a:gdLst/>
              <a:ahLst/>
              <a:cxnLst/>
              <a:rect l="l" t="t" r="r" b="b"/>
              <a:pathLst>
                <a:path w="595629" h="259714">
                  <a:moveTo>
                    <a:pt x="0" y="259168"/>
                  </a:moveTo>
                  <a:lnTo>
                    <a:pt x="595085" y="259168"/>
                  </a:lnTo>
                  <a:lnTo>
                    <a:pt x="595085" y="0"/>
                  </a:lnTo>
                  <a:lnTo>
                    <a:pt x="0" y="0"/>
                  </a:lnTo>
                  <a:lnTo>
                    <a:pt x="0" y="259168"/>
                  </a:lnTo>
                  <a:close/>
                </a:path>
              </a:pathLst>
            </a:custGeom>
            <a:ln w="70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0" name="object 30"/>
          <p:cNvSpPr txBox="1"/>
          <p:nvPr/>
        </p:nvSpPr>
        <p:spPr>
          <a:xfrm>
            <a:off x="3609525" y="2666341"/>
            <a:ext cx="595630" cy="259715"/>
          </a:xfrm>
          <a:prstGeom prst="rect">
            <a:avLst/>
          </a:prstGeom>
          <a:ln w="7115">
            <a:solidFill>
              <a:srgbClr val="000000"/>
            </a:solidFill>
          </a:ln>
        </p:spPr>
        <p:txBody>
          <a:bodyPr wrap="square" lIns="0" tIns="30480" rIns="0" bIns="0" rtlCol="0" vert="horz">
            <a:spAutoFit/>
          </a:bodyPr>
          <a:lstStyle/>
          <a:p>
            <a:pPr marL="81280" marR="73660" indent="34290">
              <a:lnSpc>
                <a:spcPct val="100000"/>
              </a:lnSpc>
              <a:spcBef>
                <a:spcPts val="240"/>
              </a:spcBef>
            </a:pPr>
            <a:r>
              <a:rPr dirty="0" sz="600" spc="40">
                <a:latin typeface="Arial MT"/>
                <a:cs typeface="Arial MT"/>
              </a:rPr>
              <a:t>Solutions </a:t>
            </a:r>
            <a:r>
              <a:rPr dirty="0" sz="600" spc="45">
                <a:latin typeface="Arial MT"/>
                <a:cs typeface="Arial MT"/>
              </a:rPr>
              <a:t> </a:t>
            </a:r>
            <a:r>
              <a:rPr dirty="0" sz="600" spc="20">
                <a:latin typeface="Arial MT"/>
                <a:cs typeface="Arial MT"/>
              </a:rPr>
              <a:t>[</a:t>
            </a:r>
            <a:r>
              <a:rPr dirty="0" sz="600" spc="45">
                <a:latin typeface="Arial MT"/>
                <a:cs typeface="Arial MT"/>
              </a:rPr>
              <a:t>c</a:t>
            </a:r>
            <a:r>
              <a:rPr dirty="0" sz="600" spc="50">
                <a:latin typeface="Arial MT"/>
                <a:cs typeface="Arial MT"/>
              </a:rPr>
              <a:t>and</a:t>
            </a:r>
            <a:r>
              <a:rPr dirty="0" sz="600" spc="20">
                <a:latin typeface="Arial MT"/>
                <a:cs typeface="Arial MT"/>
              </a:rPr>
              <a:t>i</a:t>
            </a:r>
            <a:r>
              <a:rPr dirty="0" sz="600" spc="50">
                <a:latin typeface="Arial MT"/>
                <a:cs typeface="Arial MT"/>
              </a:rPr>
              <a:t>da</a:t>
            </a:r>
            <a:r>
              <a:rPr dirty="0" sz="600" spc="20">
                <a:latin typeface="Arial MT"/>
                <a:cs typeface="Arial MT"/>
              </a:rPr>
              <a:t>t</a:t>
            </a:r>
            <a:r>
              <a:rPr dirty="0" sz="600" spc="50">
                <a:latin typeface="Arial MT"/>
                <a:cs typeface="Arial MT"/>
              </a:rPr>
              <a:t>e</a:t>
            </a:r>
            <a:r>
              <a:rPr dirty="0" sz="600" spc="25">
                <a:latin typeface="Arial MT"/>
                <a:cs typeface="Arial MT"/>
              </a:rPr>
              <a:t>]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3456938" y="3029720"/>
            <a:ext cx="900430" cy="267335"/>
            <a:chOff x="3456938" y="3029720"/>
            <a:chExt cx="900430" cy="267335"/>
          </a:xfrm>
        </p:grpSpPr>
        <p:sp>
          <p:nvSpPr>
            <p:cNvPr id="32" name="object 32"/>
            <p:cNvSpPr/>
            <p:nvPr/>
          </p:nvSpPr>
          <p:spPr>
            <a:xfrm>
              <a:off x="3460748" y="3033530"/>
              <a:ext cx="892810" cy="259715"/>
            </a:xfrm>
            <a:custGeom>
              <a:avLst/>
              <a:gdLst/>
              <a:ahLst/>
              <a:cxnLst/>
              <a:rect l="l" t="t" r="r" b="b"/>
              <a:pathLst>
                <a:path w="892810" h="259714">
                  <a:moveTo>
                    <a:pt x="793458" y="0"/>
                  </a:moveTo>
                  <a:lnTo>
                    <a:pt x="99180" y="0"/>
                  </a:lnTo>
                  <a:lnTo>
                    <a:pt x="60577" y="6783"/>
                  </a:lnTo>
                  <a:lnTo>
                    <a:pt x="29051" y="25293"/>
                  </a:lnTo>
                  <a:lnTo>
                    <a:pt x="7794" y="52764"/>
                  </a:lnTo>
                  <a:lnTo>
                    <a:pt x="0" y="86434"/>
                  </a:lnTo>
                  <a:lnTo>
                    <a:pt x="0" y="172778"/>
                  </a:lnTo>
                  <a:lnTo>
                    <a:pt x="7794" y="206410"/>
                  </a:lnTo>
                  <a:lnTo>
                    <a:pt x="29051" y="233886"/>
                  </a:lnTo>
                  <a:lnTo>
                    <a:pt x="60577" y="252417"/>
                  </a:lnTo>
                  <a:lnTo>
                    <a:pt x="99180" y="259213"/>
                  </a:lnTo>
                  <a:lnTo>
                    <a:pt x="793458" y="259213"/>
                  </a:lnTo>
                  <a:lnTo>
                    <a:pt x="832053" y="252417"/>
                  </a:lnTo>
                  <a:lnTo>
                    <a:pt x="863561" y="233886"/>
                  </a:lnTo>
                  <a:lnTo>
                    <a:pt x="884800" y="206410"/>
                  </a:lnTo>
                  <a:lnTo>
                    <a:pt x="892587" y="172778"/>
                  </a:lnTo>
                  <a:lnTo>
                    <a:pt x="892587" y="86434"/>
                  </a:lnTo>
                  <a:lnTo>
                    <a:pt x="884800" y="52764"/>
                  </a:lnTo>
                  <a:lnTo>
                    <a:pt x="863561" y="25293"/>
                  </a:lnTo>
                  <a:lnTo>
                    <a:pt x="832053" y="6783"/>
                  </a:lnTo>
                  <a:lnTo>
                    <a:pt x="79345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3460748" y="3033530"/>
              <a:ext cx="892810" cy="259715"/>
            </a:xfrm>
            <a:custGeom>
              <a:avLst/>
              <a:gdLst/>
              <a:ahLst/>
              <a:cxnLst/>
              <a:rect l="l" t="t" r="r" b="b"/>
              <a:pathLst>
                <a:path w="892810" h="259714">
                  <a:moveTo>
                    <a:pt x="793458" y="259213"/>
                  </a:moveTo>
                  <a:lnTo>
                    <a:pt x="832053" y="252417"/>
                  </a:lnTo>
                  <a:lnTo>
                    <a:pt x="863561" y="233886"/>
                  </a:lnTo>
                  <a:lnTo>
                    <a:pt x="884800" y="206410"/>
                  </a:lnTo>
                  <a:lnTo>
                    <a:pt x="892587" y="172778"/>
                  </a:lnTo>
                  <a:lnTo>
                    <a:pt x="892587" y="86434"/>
                  </a:lnTo>
                  <a:lnTo>
                    <a:pt x="884800" y="52764"/>
                  </a:lnTo>
                  <a:lnTo>
                    <a:pt x="863561" y="25293"/>
                  </a:lnTo>
                  <a:lnTo>
                    <a:pt x="832053" y="6783"/>
                  </a:lnTo>
                  <a:lnTo>
                    <a:pt x="793458" y="0"/>
                  </a:lnTo>
                  <a:lnTo>
                    <a:pt x="99180" y="0"/>
                  </a:lnTo>
                  <a:lnTo>
                    <a:pt x="60577" y="6783"/>
                  </a:lnTo>
                  <a:lnTo>
                    <a:pt x="29051" y="25293"/>
                  </a:lnTo>
                  <a:lnTo>
                    <a:pt x="7794" y="52764"/>
                  </a:lnTo>
                  <a:lnTo>
                    <a:pt x="0" y="86434"/>
                  </a:lnTo>
                  <a:lnTo>
                    <a:pt x="0" y="172778"/>
                  </a:lnTo>
                  <a:lnTo>
                    <a:pt x="7794" y="206410"/>
                  </a:lnTo>
                  <a:lnTo>
                    <a:pt x="29051" y="233886"/>
                  </a:lnTo>
                  <a:lnTo>
                    <a:pt x="60577" y="252417"/>
                  </a:lnTo>
                  <a:lnTo>
                    <a:pt x="99180" y="259213"/>
                  </a:lnTo>
                  <a:lnTo>
                    <a:pt x="793458" y="259213"/>
                  </a:lnTo>
                  <a:close/>
                </a:path>
              </a:pathLst>
            </a:custGeom>
            <a:ln w="699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4" name="object 34"/>
          <p:cNvSpPr txBox="1"/>
          <p:nvPr/>
        </p:nvSpPr>
        <p:spPr>
          <a:xfrm>
            <a:off x="3509608" y="3050610"/>
            <a:ext cx="795020" cy="21018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15900" marR="5080" indent="-203835">
              <a:lnSpc>
                <a:spcPct val="100000"/>
              </a:lnSpc>
              <a:spcBef>
                <a:spcPts val="105"/>
              </a:spcBef>
            </a:pPr>
            <a:r>
              <a:rPr dirty="0" sz="600" spc="55">
                <a:latin typeface="Arial MT"/>
                <a:cs typeface="Arial MT"/>
              </a:rPr>
              <a:t>Ev</a:t>
            </a:r>
            <a:r>
              <a:rPr dirty="0" sz="600" spc="50">
                <a:latin typeface="Arial MT"/>
                <a:cs typeface="Arial MT"/>
              </a:rPr>
              <a:t>a</a:t>
            </a:r>
            <a:r>
              <a:rPr dirty="0" sz="600" spc="20">
                <a:latin typeface="Arial MT"/>
                <a:cs typeface="Arial MT"/>
              </a:rPr>
              <a:t>l</a:t>
            </a:r>
            <a:r>
              <a:rPr dirty="0" sz="600" spc="50">
                <a:latin typeface="Arial MT"/>
                <a:cs typeface="Arial MT"/>
              </a:rPr>
              <a:t>ua</a:t>
            </a:r>
            <a:r>
              <a:rPr dirty="0" sz="600" spc="20">
                <a:latin typeface="Arial MT"/>
                <a:cs typeface="Arial MT"/>
              </a:rPr>
              <a:t>t</a:t>
            </a:r>
            <a:r>
              <a:rPr dirty="0" sz="600" spc="50">
                <a:latin typeface="Arial MT"/>
                <a:cs typeface="Arial MT"/>
              </a:rPr>
              <a:t>e</a:t>
            </a:r>
            <a:r>
              <a:rPr dirty="0" sz="600" spc="25">
                <a:latin typeface="Arial MT"/>
                <a:cs typeface="Arial MT"/>
              </a:rPr>
              <a:t> </a:t>
            </a:r>
            <a:r>
              <a:rPr dirty="0" sz="600" spc="55">
                <a:latin typeface="Arial MT"/>
                <a:cs typeface="Arial MT"/>
              </a:rPr>
              <a:t>Cand</a:t>
            </a:r>
            <a:r>
              <a:rPr dirty="0" sz="600" spc="20">
                <a:latin typeface="Arial MT"/>
                <a:cs typeface="Arial MT"/>
              </a:rPr>
              <a:t>i</a:t>
            </a:r>
            <a:r>
              <a:rPr dirty="0" sz="600" spc="50">
                <a:latin typeface="Arial MT"/>
                <a:cs typeface="Arial MT"/>
              </a:rPr>
              <a:t>da</a:t>
            </a:r>
            <a:r>
              <a:rPr dirty="0" sz="600" spc="20">
                <a:latin typeface="Arial MT"/>
                <a:cs typeface="Arial MT"/>
              </a:rPr>
              <a:t>t</a:t>
            </a:r>
            <a:r>
              <a:rPr dirty="0" sz="600" spc="30">
                <a:latin typeface="Arial MT"/>
                <a:cs typeface="Arial MT"/>
              </a:rPr>
              <a:t>e  </a:t>
            </a:r>
            <a:r>
              <a:rPr dirty="0" sz="600" spc="40">
                <a:latin typeface="Arial MT"/>
                <a:cs typeface="Arial MT"/>
              </a:rPr>
              <a:t>Solutions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3605715" y="2921382"/>
            <a:ext cx="603250" cy="742315"/>
            <a:chOff x="3605715" y="2921382"/>
            <a:chExt cx="603250" cy="742315"/>
          </a:xfrm>
        </p:grpSpPr>
        <p:sp>
          <p:nvSpPr>
            <p:cNvPr id="36" name="object 36"/>
            <p:cNvSpPr/>
            <p:nvPr/>
          </p:nvSpPr>
          <p:spPr>
            <a:xfrm>
              <a:off x="3871332" y="2925509"/>
              <a:ext cx="71755" cy="475615"/>
            </a:xfrm>
            <a:custGeom>
              <a:avLst/>
              <a:gdLst/>
              <a:ahLst/>
              <a:cxnLst/>
              <a:rect l="l" t="t" r="r" b="b"/>
              <a:pathLst>
                <a:path w="71754" h="475614">
                  <a:moveTo>
                    <a:pt x="35715" y="0"/>
                  </a:moveTo>
                  <a:lnTo>
                    <a:pt x="35715" y="108020"/>
                  </a:lnTo>
                </a:path>
                <a:path w="71754" h="475614">
                  <a:moveTo>
                    <a:pt x="0" y="45802"/>
                  </a:moveTo>
                  <a:lnTo>
                    <a:pt x="15069" y="58278"/>
                  </a:lnTo>
                  <a:lnTo>
                    <a:pt x="26292" y="73238"/>
                  </a:lnTo>
                  <a:lnTo>
                    <a:pt x="33297" y="90034"/>
                  </a:lnTo>
                  <a:lnTo>
                    <a:pt x="35715" y="108020"/>
                  </a:lnTo>
                  <a:lnTo>
                    <a:pt x="38133" y="90034"/>
                  </a:lnTo>
                  <a:lnTo>
                    <a:pt x="45139" y="73238"/>
                  </a:lnTo>
                  <a:lnTo>
                    <a:pt x="56361" y="58278"/>
                  </a:lnTo>
                  <a:lnTo>
                    <a:pt x="71431" y="45802"/>
                  </a:lnTo>
                </a:path>
                <a:path w="71754" h="475614">
                  <a:moveTo>
                    <a:pt x="35715" y="367234"/>
                  </a:moveTo>
                  <a:lnTo>
                    <a:pt x="35715" y="475164"/>
                  </a:lnTo>
                </a:path>
                <a:path w="71754" h="475614">
                  <a:moveTo>
                    <a:pt x="0" y="412946"/>
                  </a:moveTo>
                  <a:lnTo>
                    <a:pt x="15069" y="425422"/>
                  </a:lnTo>
                  <a:lnTo>
                    <a:pt x="26292" y="440382"/>
                  </a:lnTo>
                  <a:lnTo>
                    <a:pt x="33297" y="457178"/>
                  </a:lnTo>
                  <a:lnTo>
                    <a:pt x="35715" y="475164"/>
                  </a:lnTo>
                  <a:lnTo>
                    <a:pt x="38133" y="457178"/>
                  </a:lnTo>
                  <a:lnTo>
                    <a:pt x="45139" y="440382"/>
                  </a:lnTo>
                  <a:lnTo>
                    <a:pt x="56361" y="425422"/>
                  </a:lnTo>
                  <a:lnTo>
                    <a:pt x="71431" y="412946"/>
                  </a:lnTo>
                </a:path>
              </a:pathLst>
            </a:custGeom>
            <a:ln w="74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3609525" y="3400719"/>
              <a:ext cx="595630" cy="259715"/>
            </a:xfrm>
            <a:custGeom>
              <a:avLst/>
              <a:gdLst/>
              <a:ahLst/>
              <a:cxnLst/>
              <a:rect l="l" t="t" r="r" b="b"/>
              <a:pathLst>
                <a:path w="595629" h="259714">
                  <a:moveTo>
                    <a:pt x="595085" y="0"/>
                  </a:moveTo>
                  <a:lnTo>
                    <a:pt x="0" y="0"/>
                  </a:lnTo>
                  <a:lnTo>
                    <a:pt x="0" y="259168"/>
                  </a:lnTo>
                  <a:lnTo>
                    <a:pt x="595085" y="259168"/>
                  </a:lnTo>
                  <a:lnTo>
                    <a:pt x="59508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/>
            <p:cNvSpPr/>
            <p:nvPr/>
          </p:nvSpPr>
          <p:spPr>
            <a:xfrm>
              <a:off x="3609525" y="3400719"/>
              <a:ext cx="595630" cy="259715"/>
            </a:xfrm>
            <a:custGeom>
              <a:avLst/>
              <a:gdLst/>
              <a:ahLst/>
              <a:cxnLst/>
              <a:rect l="l" t="t" r="r" b="b"/>
              <a:pathLst>
                <a:path w="595629" h="259714">
                  <a:moveTo>
                    <a:pt x="0" y="259168"/>
                  </a:moveTo>
                  <a:lnTo>
                    <a:pt x="595085" y="259168"/>
                  </a:lnTo>
                  <a:lnTo>
                    <a:pt x="595085" y="0"/>
                  </a:lnTo>
                  <a:lnTo>
                    <a:pt x="0" y="0"/>
                  </a:lnTo>
                  <a:lnTo>
                    <a:pt x="0" y="259168"/>
                  </a:lnTo>
                  <a:close/>
                </a:path>
              </a:pathLst>
            </a:custGeom>
            <a:ln w="70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9" name="object 39"/>
          <p:cNvSpPr txBox="1"/>
          <p:nvPr/>
        </p:nvSpPr>
        <p:spPr>
          <a:xfrm>
            <a:off x="3609525" y="3400719"/>
            <a:ext cx="595630" cy="259715"/>
          </a:xfrm>
          <a:prstGeom prst="rect">
            <a:avLst/>
          </a:prstGeom>
          <a:ln w="7115">
            <a:solidFill>
              <a:srgbClr val="000000"/>
            </a:solidFill>
          </a:ln>
        </p:spPr>
        <p:txBody>
          <a:bodyPr wrap="square" lIns="0" tIns="29845" rIns="0" bIns="0" rtlCol="0" vert="horz">
            <a:spAutoFit/>
          </a:bodyPr>
          <a:lstStyle/>
          <a:p>
            <a:pPr marL="81280" marR="73660" indent="34290">
              <a:lnSpc>
                <a:spcPct val="100000"/>
              </a:lnSpc>
              <a:spcBef>
                <a:spcPts val="235"/>
              </a:spcBef>
            </a:pPr>
            <a:r>
              <a:rPr dirty="0" sz="600" spc="40">
                <a:latin typeface="Arial MT"/>
                <a:cs typeface="Arial MT"/>
              </a:rPr>
              <a:t>Solutions </a:t>
            </a:r>
            <a:r>
              <a:rPr dirty="0" sz="600" spc="45">
                <a:latin typeface="Arial MT"/>
                <a:cs typeface="Arial MT"/>
              </a:rPr>
              <a:t> </a:t>
            </a:r>
            <a:r>
              <a:rPr dirty="0" sz="600" spc="20">
                <a:latin typeface="Arial MT"/>
                <a:cs typeface="Arial MT"/>
              </a:rPr>
              <a:t>[</a:t>
            </a:r>
            <a:r>
              <a:rPr dirty="0" sz="600" spc="50">
                <a:latin typeface="Arial MT"/>
                <a:cs typeface="Arial MT"/>
              </a:rPr>
              <a:t>e</a:t>
            </a:r>
            <a:r>
              <a:rPr dirty="0" sz="600" spc="45">
                <a:latin typeface="Arial MT"/>
                <a:cs typeface="Arial MT"/>
              </a:rPr>
              <a:t>v</a:t>
            </a:r>
            <a:r>
              <a:rPr dirty="0" sz="600" spc="50">
                <a:latin typeface="Arial MT"/>
                <a:cs typeface="Arial MT"/>
              </a:rPr>
              <a:t>a</a:t>
            </a:r>
            <a:r>
              <a:rPr dirty="0" sz="600" spc="20">
                <a:latin typeface="Arial MT"/>
                <a:cs typeface="Arial MT"/>
              </a:rPr>
              <a:t>l</a:t>
            </a:r>
            <a:r>
              <a:rPr dirty="0" sz="600" spc="50">
                <a:latin typeface="Arial MT"/>
                <a:cs typeface="Arial MT"/>
              </a:rPr>
              <a:t>ua</a:t>
            </a:r>
            <a:r>
              <a:rPr dirty="0" sz="600" spc="20">
                <a:latin typeface="Arial MT"/>
                <a:cs typeface="Arial MT"/>
              </a:rPr>
              <a:t>t</a:t>
            </a:r>
            <a:r>
              <a:rPr dirty="0" sz="600" spc="50">
                <a:latin typeface="Arial MT"/>
                <a:cs typeface="Arial MT"/>
              </a:rPr>
              <a:t>ed</a:t>
            </a:r>
            <a:r>
              <a:rPr dirty="0" sz="600" spc="25">
                <a:latin typeface="Arial MT"/>
                <a:cs typeface="Arial MT"/>
              </a:rPr>
              <a:t>]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3605715" y="3764008"/>
            <a:ext cx="603250" cy="267335"/>
            <a:chOff x="3605715" y="3764008"/>
            <a:chExt cx="603250" cy="267335"/>
          </a:xfrm>
        </p:grpSpPr>
        <p:sp>
          <p:nvSpPr>
            <p:cNvPr id="41" name="object 41"/>
            <p:cNvSpPr/>
            <p:nvPr/>
          </p:nvSpPr>
          <p:spPr>
            <a:xfrm>
              <a:off x="3609525" y="3767818"/>
              <a:ext cx="595630" cy="259715"/>
            </a:xfrm>
            <a:custGeom>
              <a:avLst/>
              <a:gdLst/>
              <a:ahLst/>
              <a:cxnLst/>
              <a:rect l="l" t="t" r="r" b="b"/>
              <a:pathLst>
                <a:path w="595629" h="259714">
                  <a:moveTo>
                    <a:pt x="495884" y="0"/>
                  </a:moveTo>
                  <a:lnTo>
                    <a:pt x="99180" y="0"/>
                  </a:lnTo>
                  <a:lnTo>
                    <a:pt x="60573" y="6796"/>
                  </a:lnTo>
                  <a:lnTo>
                    <a:pt x="29047" y="25327"/>
                  </a:lnTo>
                  <a:lnTo>
                    <a:pt x="7793" y="52802"/>
                  </a:lnTo>
                  <a:lnTo>
                    <a:pt x="0" y="86434"/>
                  </a:lnTo>
                  <a:lnTo>
                    <a:pt x="0" y="172778"/>
                  </a:lnTo>
                  <a:lnTo>
                    <a:pt x="7793" y="206410"/>
                  </a:lnTo>
                  <a:lnTo>
                    <a:pt x="29047" y="233886"/>
                  </a:lnTo>
                  <a:lnTo>
                    <a:pt x="60573" y="252417"/>
                  </a:lnTo>
                  <a:lnTo>
                    <a:pt x="99180" y="259213"/>
                  </a:lnTo>
                  <a:lnTo>
                    <a:pt x="495884" y="259213"/>
                  </a:lnTo>
                  <a:lnTo>
                    <a:pt x="534495" y="252417"/>
                  </a:lnTo>
                  <a:lnTo>
                    <a:pt x="566039" y="233886"/>
                  </a:lnTo>
                  <a:lnTo>
                    <a:pt x="587314" y="206410"/>
                  </a:lnTo>
                  <a:lnTo>
                    <a:pt x="595117" y="172778"/>
                  </a:lnTo>
                  <a:lnTo>
                    <a:pt x="595117" y="86434"/>
                  </a:lnTo>
                  <a:lnTo>
                    <a:pt x="587314" y="52802"/>
                  </a:lnTo>
                  <a:lnTo>
                    <a:pt x="566039" y="25327"/>
                  </a:lnTo>
                  <a:lnTo>
                    <a:pt x="534495" y="6796"/>
                  </a:lnTo>
                  <a:lnTo>
                    <a:pt x="49588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/>
            <p:cNvSpPr/>
            <p:nvPr/>
          </p:nvSpPr>
          <p:spPr>
            <a:xfrm>
              <a:off x="3609525" y="3767818"/>
              <a:ext cx="595630" cy="259715"/>
            </a:xfrm>
            <a:custGeom>
              <a:avLst/>
              <a:gdLst/>
              <a:ahLst/>
              <a:cxnLst/>
              <a:rect l="l" t="t" r="r" b="b"/>
              <a:pathLst>
                <a:path w="595629" h="259714">
                  <a:moveTo>
                    <a:pt x="495884" y="259213"/>
                  </a:moveTo>
                  <a:lnTo>
                    <a:pt x="534495" y="252417"/>
                  </a:lnTo>
                  <a:lnTo>
                    <a:pt x="566039" y="233886"/>
                  </a:lnTo>
                  <a:lnTo>
                    <a:pt x="587314" y="206410"/>
                  </a:lnTo>
                  <a:lnTo>
                    <a:pt x="595117" y="172778"/>
                  </a:lnTo>
                  <a:lnTo>
                    <a:pt x="595117" y="86434"/>
                  </a:lnTo>
                  <a:lnTo>
                    <a:pt x="587314" y="52802"/>
                  </a:lnTo>
                  <a:lnTo>
                    <a:pt x="566039" y="25327"/>
                  </a:lnTo>
                  <a:lnTo>
                    <a:pt x="534495" y="6796"/>
                  </a:lnTo>
                  <a:lnTo>
                    <a:pt x="495884" y="0"/>
                  </a:lnTo>
                  <a:lnTo>
                    <a:pt x="99180" y="0"/>
                  </a:lnTo>
                  <a:lnTo>
                    <a:pt x="60573" y="6796"/>
                  </a:lnTo>
                  <a:lnTo>
                    <a:pt x="29047" y="25327"/>
                  </a:lnTo>
                  <a:lnTo>
                    <a:pt x="7793" y="52802"/>
                  </a:lnTo>
                  <a:lnTo>
                    <a:pt x="0" y="86434"/>
                  </a:lnTo>
                  <a:lnTo>
                    <a:pt x="0" y="172778"/>
                  </a:lnTo>
                  <a:lnTo>
                    <a:pt x="7793" y="206410"/>
                  </a:lnTo>
                  <a:lnTo>
                    <a:pt x="29047" y="233886"/>
                  </a:lnTo>
                  <a:lnTo>
                    <a:pt x="60573" y="252417"/>
                  </a:lnTo>
                  <a:lnTo>
                    <a:pt x="99180" y="259213"/>
                  </a:lnTo>
                  <a:lnTo>
                    <a:pt x="495884" y="259213"/>
                  </a:lnTo>
                  <a:close/>
                </a:path>
              </a:pathLst>
            </a:custGeom>
            <a:ln w="70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3" name="object 43"/>
          <p:cNvSpPr txBox="1"/>
          <p:nvPr/>
        </p:nvSpPr>
        <p:spPr>
          <a:xfrm>
            <a:off x="3713031" y="3784898"/>
            <a:ext cx="388620" cy="21018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5080" indent="58419">
              <a:lnSpc>
                <a:spcPct val="100000"/>
              </a:lnSpc>
              <a:spcBef>
                <a:spcPts val="105"/>
              </a:spcBef>
            </a:pPr>
            <a:r>
              <a:rPr dirty="0" sz="600" spc="40">
                <a:latin typeface="Arial MT"/>
                <a:cs typeface="Arial MT"/>
              </a:rPr>
              <a:t>Select </a:t>
            </a:r>
            <a:r>
              <a:rPr dirty="0" sz="600" spc="45">
                <a:latin typeface="Arial MT"/>
                <a:cs typeface="Arial MT"/>
              </a:rPr>
              <a:t> </a:t>
            </a:r>
            <a:r>
              <a:rPr dirty="0" sz="600" spc="60">
                <a:latin typeface="Arial MT"/>
                <a:cs typeface="Arial MT"/>
              </a:rPr>
              <a:t>S</a:t>
            </a:r>
            <a:r>
              <a:rPr dirty="0" sz="600" spc="50">
                <a:latin typeface="Arial MT"/>
                <a:cs typeface="Arial MT"/>
              </a:rPr>
              <a:t>o</a:t>
            </a:r>
            <a:r>
              <a:rPr dirty="0" sz="600" spc="20">
                <a:latin typeface="Arial MT"/>
                <a:cs typeface="Arial MT"/>
              </a:rPr>
              <a:t>l</a:t>
            </a:r>
            <a:r>
              <a:rPr dirty="0" sz="600" spc="50">
                <a:latin typeface="Arial MT"/>
                <a:cs typeface="Arial MT"/>
              </a:rPr>
              <a:t>u</a:t>
            </a:r>
            <a:r>
              <a:rPr dirty="0" sz="600" spc="20">
                <a:latin typeface="Arial MT"/>
                <a:cs typeface="Arial MT"/>
              </a:rPr>
              <a:t>t</a:t>
            </a:r>
            <a:r>
              <a:rPr dirty="0" sz="600" spc="20">
                <a:latin typeface="Arial MT"/>
                <a:cs typeface="Arial MT"/>
              </a:rPr>
              <a:t>i</a:t>
            </a:r>
            <a:r>
              <a:rPr dirty="0" sz="600" spc="50">
                <a:latin typeface="Arial MT"/>
                <a:cs typeface="Arial MT"/>
              </a:rPr>
              <a:t>on</a:t>
            </a:r>
            <a:r>
              <a:rPr dirty="0" sz="600" spc="45">
                <a:latin typeface="Arial MT"/>
                <a:cs typeface="Arial MT"/>
              </a:rPr>
              <a:t>s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44" name="object 44"/>
          <p:cNvGrpSpPr/>
          <p:nvPr/>
        </p:nvGrpSpPr>
        <p:grpSpPr>
          <a:xfrm>
            <a:off x="3605715" y="3655760"/>
            <a:ext cx="603250" cy="742315"/>
            <a:chOff x="3605715" y="3655760"/>
            <a:chExt cx="603250" cy="742315"/>
          </a:xfrm>
        </p:grpSpPr>
        <p:sp>
          <p:nvSpPr>
            <p:cNvPr id="45" name="object 45"/>
            <p:cNvSpPr/>
            <p:nvPr/>
          </p:nvSpPr>
          <p:spPr>
            <a:xfrm>
              <a:off x="3871332" y="3659888"/>
              <a:ext cx="71755" cy="475615"/>
            </a:xfrm>
            <a:custGeom>
              <a:avLst/>
              <a:gdLst/>
              <a:ahLst/>
              <a:cxnLst/>
              <a:rect l="l" t="t" r="r" b="b"/>
              <a:pathLst>
                <a:path w="71754" h="475614">
                  <a:moveTo>
                    <a:pt x="35715" y="0"/>
                  </a:moveTo>
                  <a:lnTo>
                    <a:pt x="35715" y="107930"/>
                  </a:lnTo>
                </a:path>
                <a:path w="71754" h="475614">
                  <a:moveTo>
                    <a:pt x="0" y="45711"/>
                  </a:moveTo>
                  <a:lnTo>
                    <a:pt x="15069" y="58188"/>
                  </a:lnTo>
                  <a:lnTo>
                    <a:pt x="26292" y="73147"/>
                  </a:lnTo>
                  <a:lnTo>
                    <a:pt x="33297" y="89943"/>
                  </a:lnTo>
                  <a:lnTo>
                    <a:pt x="35715" y="107930"/>
                  </a:lnTo>
                  <a:lnTo>
                    <a:pt x="38133" y="89943"/>
                  </a:lnTo>
                  <a:lnTo>
                    <a:pt x="45139" y="73147"/>
                  </a:lnTo>
                  <a:lnTo>
                    <a:pt x="56361" y="58188"/>
                  </a:lnTo>
                  <a:lnTo>
                    <a:pt x="71431" y="45711"/>
                  </a:lnTo>
                </a:path>
                <a:path w="71754" h="475614">
                  <a:moveTo>
                    <a:pt x="35715" y="367143"/>
                  </a:moveTo>
                  <a:lnTo>
                    <a:pt x="35715" y="475073"/>
                  </a:lnTo>
                </a:path>
                <a:path w="71754" h="475614">
                  <a:moveTo>
                    <a:pt x="0" y="412946"/>
                  </a:moveTo>
                  <a:lnTo>
                    <a:pt x="15069" y="425421"/>
                  </a:lnTo>
                  <a:lnTo>
                    <a:pt x="26292" y="440370"/>
                  </a:lnTo>
                  <a:lnTo>
                    <a:pt x="33297" y="457139"/>
                  </a:lnTo>
                  <a:lnTo>
                    <a:pt x="35715" y="475073"/>
                  </a:lnTo>
                  <a:lnTo>
                    <a:pt x="38133" y="457139"/>
                  </a:lnTo>
                  <a:lnTo>
                    <a:pt x="45139" y="440370"/>
                  </a:lnTo>
                  <a:lnTo>
                    <a:pt x="56361" y="425421"/>
                  </a:lnTo>
                  <a:lnTo>
                    <a:pt x="71431" y="412946"/>
                  </a:lnTo>
                </a:path>
              </a:pathLst>
            </a:custGeom>
            <a:ln w="74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/>
            <p:cNvSpPr/>
            <p:nvPr/>
          </p:nvSpPr>
          <p:spPr>
            <a:xfrm>
              <a:off x="3609525" y="4134998"/>
              <a:ext cx="595630" cy="259715"/>
            </a:xfrm>
            <a:custGeom>
              <a:avLst/>
              <a:gdLst/>
              <a:ahLst/>
              <a:cxnLst/>
              <a:rect l="l" t="t" r="r" b="b"/>
              <a:pathLst>
                <a:path w="595629" h="259714">
                  <a:moveTo>
                    <a:pt x="595085" y="0"/>
                  </a:moveTo>
                  <a:lnTo>
                    <a:pt x="0" y="0"/>
                  </a:lnTo>
                  <a:lnTo>
                    <a:pt x="0" y="259168"/>
                  </a:lnTo>
                  <a:lnTo>
                    <a:pt x="595085" y="259168"/>
                  </a:lnTo>
                  <a:lnTo>
                    <a:pt x="59508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/>
            <p:cNvSpPr/>
            <p:nvPr/>
          </p:nvSpPr>
          <p:spPr>
            <a:xfrm>
              <a:off x="3609525" y="4134998"/>
              <a:ext cx="595630" cy="259715"/>
            </a:xfrm>
            <a:custGeom>
              <a:avLst/>
              <a:gdLst/>
              <a:ahLst/>
              <a:cxnLst/>
              <a:rect l="l" t="t" r="r" b="b"/>
              <a:pathLst>
                <a:path w="595629" h="259714">
                  <a:moveTo>
                    <a:pt x="0" y="259168"/>
                  </a:moveTo>
                  <a:lnTo>
                    <a:pt x="595085" y="259168"/>
                  </a:lnTo>
                  <a:lnTo>
                    <a:pt x="595085" y="0"/>
                  </a:lnTo>
                  <a:lnTo>
                    <a:pt x="0" y="0"/>
                  </a:lnTo>
                  <a:lnTo>
                    <a:pt x="0" y="259168"/>
                  </a:lnTo>
                  <a:close/>
                </a:path>
              </a:pathLst>
            </a:custGeom>
            <a:ln w="70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8" name="object 48"/>
          <p:cNvSpPr txBox="1"/>
          <p:nvPr/>
        </p:nvSpPr>
        <p:spPr>
          <a:xfrm>
            <a:off x="3609525" y="4134998"/>
            <a:ext cx="595630" cy="259715"/>
          </a:xfrm>
          <a:prstGeom prst="rect">
            <a:avLst/>
          </a:prstGeom>
          <a:ln w="7115">
            <a:solidFill>
              <a:srgbClr val="000000"/>
            </a:solidFill>
          </a:ln>
        </p:spPr>
        <p:txBody>
          <a:bodyPr wrap="square" lIns="0" tIns="29845" rIns="0" bIns="0" rtlCol="0" vert="horz">
            <a:spAutoFit/>
          </a:bodyPr>
          <a:lstStyle/>
          <a:p>
            <a:pPr marL="108585" marR="100965" indent="6985">
              <a:lnSpc>
                <a:spcPct val="100000"/>
              </a:lnSpc>
              <a:spcBef>
                <a:spcPts val="235"/>
              </a:spcBef>
            </a:pPr>
            <a:r>
              <a:rPr dirty="0" sz="600" spc="60">
                <a:latin typeface="Arial MT"/>
                <a:cs typeface="Arial MT"/>
              </a:rPr>
              <a:t>S</a:t>
            </a:r>
            <a:r>
              <a:rPr dirty="0" sz="600" spc="50">
                <a:latin typeface="Arial MT"/>
                <a:cs typeface="Arial MT"/>
              </a:rPr>
              <a:t>o</a:t>
            </a:r>
            <a:r>
              <a:rPr dirty="0" sz="600" spc="20">
                <a:latin typeface="Arial MT"/>
                <a:cs typeface="Arial MT"/>
              </a:rPr>
              <a:t>l</a:t>
            </a:r>
            <a:r>
              <a:rPr dirty="0" sz="600" spc="50">
                <a:latin typeface="Arial MT"/>
                <a:cs typeface="Arial MT"/>
              </a:rPr>
              <a:t>u</a:t>
            </a:r>
            <a:r>
              <a:rPr dirty="0" sz="600" spc="20">
                <a:latin typeface="Arial MT"/>
                <a:cs typeface="Arial MT"/>
              </a:rPr>
              <a:t>t</a:t>
            </a:r>
            <a:r>
              <a:rPr dirty="0" sz="600" spc="20">
                <a:latin typeface="Arial MT"/>
                <a:cs typeface="Arial MT"/>
              </a:rPr>
              <a:t>i</a:t>
            </a:r>
            <a:r>
              <a:rPr dirty="0" sz="600" spc="50">
                <a:latin typeface="Arial MT"/>
                <a:cs typeface="Arial MT"/>
              </a:rPr>
              <a:t>on</a:t>
            </a:r>
            <a:r>
              <a:rPr dirty="0" sz="600" spc="30">
                <a:latin typeface="Arial MT"/>
                <a:cs typeface="Arial MT"/>
              </a:rPr>
              <a:t>s  </a:t>
            </a:r>
            <a:r>
              <a:rPr dirty="0" sz="600" spc="20">
                <a:latin typeface="Arial MT"/>
                <a:cs typeface="Arial MT"/>
              </a:rPr>
              <a:t>[</a:t>
            </a:r>
            <a:r>
              <a:rPr dirty="0" sz="600" spc="45">
                <a:latin typeface="Arial MT"/>
                <a:cs typeface="Arial MT"/>
              </a:rPr>
              <a:t>s</a:t>
            </a:r>
            <a:r>
              <a:rPr dirty="0" sz="600" spc="50">
                <a:latin typeface="Arial MT"/>
                <a:cs typeface="Arial MT"/>
              </a:rPr>
              <a:t>e</a:t>
            </a:r>
            <a:r>
              <a:rPr dirty="0" sz="600" spc="20">
                <a:latin typeface="Arial MT"/>
                <a:cs typeface="Arial MT"/>
              </a:rPr>
              <a:t>l</a:t>
            </a:r>
            <a:r>
              <a:rPr dirty="0" sz="600" spc="50">
                <a:latin typeface="Arial MT"/>
                <a:cs typeface="Arial MT"/>
              </a:rPr>
              <a:t>e</a:t>
            </a:r>
            <a:r>
              <a:rPr dirty="0" sz="600" spc="45">
                <a:latin typeface="Arial MT"/>
                <a:cs typeface="Arial MT"/>
              </a:rPr>
              <a:t>c</a:t>
            </a:r>
            <a:r>
              <a:rPr dirty="0" sz="600" spc="20">
                <a:latin typeface="Arial MT"/>
                <a:cs typeface="Arial MT"/>
              </a:rPr>
              <a:t>t</a:t>
            </a:r>
            <a:r>
              <a:rPr dirty="0" sz="600" spc="50">
                <a:latin typeface="Arial MT"/>
                <a:cs typeface="Arial MT"/>
              </a:rPr>
              <a:t>ed</a:t>
            </a:r>
            <a:r>
              <a:rPr dirty="0" sz="600" spc="25">
                <a:latin typeface="Arial MT"/>
                <a:cs typeface="Arial MT"/>
              </a:rPr>
              <a:t>]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49" name="object 49"/>
          <p:cNvSpPr/>
          <p:nvPr/>
        </p:nvSpPr>
        <p:spPr>
          <a:xfrm>
            <a:off x="3609525" y="4782923"/>
            <a:ext cx="595630" cy="259715"/>
          </a:xfrm>
          <a:custGeom>
            <a:avLst/>
            <a:gdLst/>
            <a:ahLst/>
            <a:cxnLst/>
            <a:rect l="l" t="t" r="r" b="b"/>
            <a:pathLst>
              <a:path w="595629" h="259714">
                <a:moveTo>
                  <a:pt x="495884" y="259168"/>
                </a:moveTo>
                <a:lnTo>
                  <a:pt x="534495" y="252378"/>
                </a:lnTo>
                <a:lnTo>
                  <a:pt x="566039" y="233863"/>
                </a:lnTo>
                <a:lnTo>
                  <a:pt x="587314" y="206403"/>
                </a:lnTo>
                <a:lnTo>
                  <a:pt x="595117" y="172778"/>
                </a:lnTo>
                <a:lnTo>
                  <a:pt x="595117" y="86389"/>
                </a:lnTo>
                <a:lnTo>
                  <a:pt x="587314" y="52760"/>
                </a:lnTo>
                <a:lnTo>
                  <a:pt x="566039" y="25301"/>
                </a:lnTo>
                <a:lnTo>
                  <a:pt x="534495" y="6788"/>
                </a:lnTo>
                <a:lnTo>
                  <a:pt x="495884" y="0"/>
                </a:lnTo>
                <a:lnTo>
                  <a:pt x="99180" y="0"/>
                </a:lnTo>
                <a:lnTo>
                  <a:pt x="60573" y="6788"/>
                </a:lnTo>
                <a:lnTo>
                  <a:pt x="29047" y="25301"/>
                </a:lnTo>
                <a:lnTo>
                  <a:pt x="7793" y="52760"/>
                </a:lnTo>
                <a:lnTo>
                  <a:pt x="0" y="86389"/>
                </a:lnTo>
                <a:lnTo>
                  <a:pt x="0" y="172778"/>
                </a:lnTo>
                <a:lnTo>
                  <a:pt x="7793" y="206403"/>
                </a:lnTo>
                <a:lnTo>
                  <a:pt x="29047" y="233863"/>
                </a:lnTo>
                <a:lnTo>
                  <a:pt x="60573" y="252378"/>
                </a:lnTo>
                <a:lnTo>
                  <a:pt x="99180" y="259168"/>
                </a:lnTo>
                <a:lnTo>
                  <a:pt x="495884" y="259168"/>
                </a:lnTo>
                <a:close/>
              </a:path>
            </a:pathLst>
          </a:custGeom>
          <a:ln w="707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 txBox="1"/>
          <p:nvPr/>
        </p:nvSpPr>
        <p:spPr>
          <a:xfrm>
            <a:off x="3742426" y="4799976"/>
            <a:ext cx="329565" cy="21018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7305" marR="5080" indent="-15240">
              <a:lnSpc>
                <a:spcPct val="100000"/>
              </a:lnSpc>
              <a:spcBef>
                <a:spcPts val="105"/>
              </a:spcBef>
            </a:pPr>
            <a:r>
              <a:rPr dirty="0" sz="600" spc="50">
                <a:latin typeface="Arial MT"/>
                <a:cs typeface="Arial MT"/>
              </a:rPr>
              <a:t>F</a:t>
            </a:r>
            <a:r>
              <a:rPr dirty="0" sz="600" spc="20">
                <a:latin typeface="Arial MT"/>
                <a:cs typeface="Arial MT"/>
              </a:rPr>
              <a:t>i</a:t>
            </a:r>
            <a:r>
              <a:rPr dirty="0" sz="600" spc="50">
                <a:latin typeface="Arial MT"/>
                <a:cs typeface="Arial MT"/>
              </a:rPr>
              <a:t>na</a:t>
            </a:r>
            <a:r>
              <a:rPr dirty="0" sz="600" spc="20">
                <a:latin typeface="Arial MT"/>
                <a:cs typeface="Arial MT"/>
              </a:rPr>
              <a:t>li</a:t>
            </a:r>
            <a:r>
              <a:rPr dirty="0" sz="600" spc="45">
                <a:latin typeface="Arial MT"/>
                <a:cs typeface="Arial MT"/>
              </a:rPr>
              <a:t>z</a:t>
            </a:r>
            <a:r>
              <a:rPr dirty="0" sz="600" spc="30">
                <a:latin typeface="Arial MT"/>
                <a:cs typeface="Arial MT"/>
              </a:rPr>
              <a:t>e  </a:t>
            </a:r>
            <a:r>
              <a:rPr dirty="0" sz="600" spc="45">
                <a:latin typeface="Arial MT"/>
                <a:cs typeface="Arial MT"/>
              </a:rPr>
              <a:t>Design</a:t>
            </a:r>
            <a:endParaRPr sz="6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892556"/>
            <a:ext cx="2568575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b="1">
                <a:latin typeface="Calibri"/>
                <a:cs typeface="Calibri"/>
              </a:rPr>
              <a:t>A</a:t>
            </a:r>
            <a:r>
              <a:rPr dirty="0" sz="1100" spc="5" b="1">
                <a:latin typeface="Calibri"/>
                <a:cs typeface="Calibri"/>
              </a:rPr>
              <a:t> </a:t>
            </a:r>
            <a:r>
              <a:rPr dirty="0" sz="1100" spc="-5" b="1">
                <a:latin typeface="Calibri"/>
                <a:cs typeface="Calibri"/>
              </a:rPr>
              <a:t>Generic</a:t>
            </a:r>
            <a:r>
              <a:rPr dirty="0" sz="1100" spc="-10" b="1">
                <a:latin typeface="Calibri"/>
                <a:cs typeface="Calibri"/>
              </a:rPr>
              <a:t> </a:t>
            </a:r>
            <a:r>
              <a:rPr dirty="0" sz="1100" spc="-5" b="1">
                <a:latin typeface="Calibri"/>
                <a:cs typeface="Calibri"/>
              </a:rPr>
              <a:t>Software</a:t>
            </a:r>
            <a:r>
              <a:rPr dirty="0" sz="1100" b="1">
                <a:latin typeface="Calibri"/>
                <a:cs typeface="Calibri"/>
              </a:rPr>
              <a:t> </a:t>
            </a:r>
            <a:r>
              <a:rPr dirty="0" sz="1100" spc="-5" b="1">
                <a:latin typeface="Calibri"/>
                <a:cs typeface="Calibri"/>
              </a:rPr>
              <a:t>Product</a:t>
            </a:r>
            <a:r>
              <a:rPr dirty="0" sz="1100" b="1">
                <a:latin typeface="Calibri"/>
                <a:cs typeface="Calibri"/>
              </a:rPr>
              <a:t> </a:t>
            </a:r>
            <a:r>
              <a:rPr dirty="0" sz="1100" spc="-5" b="1">
                <a:latin typeface="Calibri"/>
                <a:cs typeface="Calibri"/>
              </a:rPr>
              <a:t>Design</a:t>
            </a:r>
            <a:r>
              <a:rPr dirty="0" sz="1100" spc="15" b="1">
                <a:latin typeface="Calibri"/>
                <a:cs typeface="Calibri"/>
              </a:rPr>
              <a:t> </a:t>
            </a:r>
            <a:r>
              <a:rPr dirty="0" sz="1100" spc="-5" b="1">
                <a:latin typeface="Calibri"/>
                <a:cs typeface="Calibri"/>
              </a:rPr>
              <a:t>Process: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103347" y="1506936"/>
            <a:ext cx="2899410" cy="5405120"/>
          </a:xfrm>
          <a:custGeom>
            <a:avLst/>
            <a:gdLst/>
            <a:ahLst/>
            <a:cxnLst/>
            <a:rect l="l" t="t" r="r" b="b"/>
            <a:pathLst>
              <a:path w="2899410" h="5405120">
                <a:moveTo>
                  <a:pt x="2778551" y="5405011"/>
                </a:moveTo>
                <a:lnTo>
                  <a:pt x="2825551" y="5395074"/>
                </a:lnTo>
                <a:lnTo>
                  <a:pt x="2863919" y="5367978"/>
                </a:lnTo>
                <a:lnTo>
                  <a:pt x="2889804" y="5327789"/>
                </a:lnTo>
                <a:lnTo>
                  <a:pt x="2899355" y="5278575"/>
                </a:lnTo>
                <a:lnTo>
                  <a:pt x="2899355" y="126434"/>
                </a:lnTo>
                <a:lnTo>
                  <a:pt x="2889804" y="77164"/>
                </a:lnTo>
                <a:lnTo>
                  <a:pt x="2863919" y="36982"/>
                </a:lnTo>
                <a:lnTo>
                  <a:pt x="2825551" y="9917"/>
                </a:lnTo>
                <a:lnTo>
                  <a:pt x="2778551" y="0"/>
                </a:lnTo>
                <a:lnTo>
                  <a:pt x="120803" y="0"/>
                </a:lnTo>
                <a:lnTo>
                  <a:pt x="73778" y="9917"/>
                </a:lnTo>
                <a:lnTo>
                  <a:pt x="35380" y="36982"/>
                </a:lnTo>
                <a:lnTo>
                  <a:pt x="9492" y="77164"/>
                </a:lnTo>
                <a:lnTo>
                  <a:pt x="0" y="126434"/>
                </a:lnTo>
                <a:lnTo>
                  <a:pt x="0" y="5278575"/>
                </a:lnTo>
                <a:lnTo>
                  <a:pt x="9492" y="5327789"/>
                </a:lnTo>
                <a:lnTo>
                  <a:pt x="35380" y="5367978"/>
                </a:lnTo>
                <a:lnTo>
                  <a:pt x="73778" y="5395074"/>
                </a:lnTo>
                <a:lnTo>
                  <a:pt x="120803" y="5405011"/>
                </a:lnTo>
                <a:lnTo>
                  <a:pt x="2778551" y="5405009"/>
                </a:lnTo>
                <a:close/>
              </a:path>
            </a:pathLst>
          </a:custGeom>
          <a:ln w="976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2224873" y="1565741"/>
            <a:ext cx="1818639" cy="448309"/>
          </a:xfrm>
          <a:prstGeom prst="rect">
            <a:avLst/>
          </a:prstGeom>
        </p:spPr>
        <p:txBody>
          <a:bodyPr wrap="square" lIns="0" tIns="5715" rIns="0" bIns="0" rtlCol="0" vert="horz">
            <a:spAutoFit/>
          </a:bodyPr>
          <a:lstStyle/>
          <a:p>
            <a:pPr marL="12700" marR="5080">
              <a:lnSpc>
                <a:spcPct val="103899"/>
              </a:lnSpc>
              <a:spcBef>
                <a:spcPts val="45"/>
              </a:spcBef>
            </a:pPr>
            <a:r>
              <a:rPr dirty="0" sz="1000" spc="-30">
                <a:latin typeface="Arial MT"/>
                <a:cs typeface="Arial MT"/>
              </a:rPr>
              <a:t>Generic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 spc="-30">
                <a:latin typeface="Arial MT"/>
                <a:cs typeface="Arial MT"/>
              </a:rPr>
              <a:t>Software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 spc="-25">
                <a:latin typeface="Arial MT"/>
                <a:cs typeface="Arial MT"/>
              </a:rPr>
              <a:t>Product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 spc="-30">
                <a:latin typeface="Arial MT"/>
                <a:cs typeface="Arial MT"/>
              </a:rPr>
              <a:t>Design </a:t>
            </a:r>
            <a:r>
              <a:rPr dirty="0" sz="1000" spc="-260">
                <a:latin typeface="Arial MT"/>
                <a:cs typeface="Arial MT"/>
              </a:rPr>
              <a:t> </a:t>
            </a:r>
            <a:r>
              <a:rPr dirty="0" sz="850" spc="-5">
                <a:latin typeface="Arial MT"/>
                <a:cs typeface="Arial MT"/>
              </a:rPr>
              <a:t>Project Mission Statement : Problem </a:t>
            </a:r>
            <a:r>
              <a:rPr dirty="0" sz="850">
                <a:latin typeface="Arial MT"/>
                <a:cs typeface="Arial MT"/>
              </a:rPr>
              <a:t> </a:t>
            </a:r>
            <a:r>
              <a:rPr dirty="0" sz="850" spc="-5">
                <a:latin typeface="Arial MT"/>
                <a:cs typeface="Arial MT"/>
              </a:rPr>
              <a:t>SRS</a:t>
            </a:r>
            <a:r>
              <a:rPr dirty="0" sz="850" spc="-10">
                <a:latin typeface="Arial MT"/>
                <a:cs typeface="Arial MT"/>
              </a:rPr>
              <a:t> </a:t>
            </a:r>
            <a:r>
              <a:rPr dirty="0" sz="850" spc="-5">
                <a:latin typeface="Arial MT"/>
                <a:cs typeface="Arial MT"/>
              </a:rPr>
              <a:t>: Solution</a:t>
            </a:r>
            <a:endParaRPr sz="850">
              <a:latin typeface="Arial MT"/>
              <a:cs typeface="Arial MT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615052" y="2070811"/>
            <a:ext cx="1987550" cy="4340860"/>
            <a:chOff x="1615052" y="2070811"/>
            <a:chExt cx="1987550" cy="4340860"/>
          </a:xfrm>
        </p:grpSpPr>
        <p:sp>
          <p:nvSpPr>
            <p:cNvPr id="6" name="object 6"/>
            <p:cNvSpPr/>
            <p:nvPr/>
          </p:nvSpPr>
          <p:spPr>
            <a:xfrm>
              <a:off x="3509569" y="2455195"/>
              <a:ext cx="88265" cy="3951604"/>
            </a:xfrm>
            <a:custGeom>
              <a:avLst/>
              <a:gdLst/>
              <a:ahLst/>
              <a:cxnLst/>
              <a:rect l="l" t="t" r="r" b="b"/>
              <a:pathLst>
                <a:path w="88264" h="3951604">
                  <a:moveTo>
                    <a:pt x="43489" y="0"/>
                  </a:moveTo>
                  <a:lnTo>
                    <a:pt x="44428" y="158043"/>
                  </a:lnTo>
                </a:path>
                <a:path w="88264" h="3951604">
                  <a:moveTo>
                    <a:pt x="402" y="67291"/>
                  </a:moveTo>
                  <a:lnTo>
                    <a:pt x="18852" y="85382"/>
                  </a:lnTo>
                  <a:lnTo>
                    <a:pt x="32633" y="107188"/>
                  </a:lnTo>
                  <a:lnTo>
                    <a:pt x="41306" y="131733"/>
                  </a:lnTo>
                  <a:lnTo>
                    <a:pt x="44428" y="158043"/>
                  </a:lnTo>
                  <a:lnTo>
                    <a:pt x="47195" y="131702"/>
                  </a:lnTo>
                  <a:lnTo>
                    <a:pt x="55586" y="107047"/>
                  </a:lnTo>
                  <a:lnTo>
                    <a:pt x="69137" y="85027"/>
                  </a:lnTo>
                  <a:lnTo>
                    <a:pt x="87381" y="66588"/>
                  </a:lnTo>
                </a:path>
                <a:path w="88264" h="3951604">
                  <a:moveTo>
                    <a:pt x="43489" y="822667"/>
                  </a:moveTo>
                  <a:lnTo>
                    <a:pt x="43489" y="1075537"/>
                  </a:lnTo>
                </a:path>
                <a:path w="88264" h="3951604">
                  <a:moveTo>
                    <a:pt x="0" y="984504"/>
                  </a:moveTo>
                  <a:lnTo>
                    <a:pt x="18290" y="1002758"/>
                  </a:lnTo>
                  <a:lnTo>
                    <a:pt x="31962" y="1024647"/>
                  </a:lnTo>
                  <a:lnTo>
                    <a:pt x="40525" y="1049222"/>
                  </a:lnTo>
                  <a:lnTo>
                    <a:pt x="43489" y="1075537"/>
                  </a:lnTo>
                  <a:lnTo>
                    <a:pt x="46431" y="1049222"/>
                  </a:lnTo>
                  <a:lnTo>
                    <a:pt x="54948" y="1024647"/>
                  </a:lnTo>
                  <a:lnTo>
                    <a:pt x="68574" y="1002758"/>
                  </a:lnTo>
                  <a:lnTo>
                    <a:pt x="86844" y="984504"/>
                  </a:lnTo>
                </a:path>
                <a:path w="88264" h="3951604">
                  <a:moveTo>
                    <a:pt x="43489" y="1770084"/>
                  </a:moveTo>
                  <a:lnTo>
                    <a:pt x="43489" y="1928128"/>
                  </a:lnTo>
                </a:path>
                <a:path w="88264" h="3951604">
                  <a:moveTo>
                    <a:pt x="0" y="1837095"/>
                  </a:moveTo>
                  <a:lnTo>
                    <a:pt x="18290" y="1855289"/>
                  </a:lnTo>
                  <a:lnTo>
                    <a:pt x="31962" y="1877185"/>
                  </a:lnTo>
                  <a:lnTo>
                    <a:pt x="40525" y="1901794"/>
                  </a:lnTo>
                  <a:lnTo>
                    <a:pt x="43489" y="1928128"/>
                  </a:lnTo>
                  <a:lnTo>
                    <a:pt x="46431" y="1901794"/>
                  </a:lnTo>
                  <a:lnTo>
                    <a:pt x="54948" y="1877185"/>
                  </a:lnTo>
                  <a:lnTo>
                    <a:pt x="68574" y="1855289"/>
                  </a:lnTo>
                  <a:lnTo>
                    <a:pt x="86844" y="1837095"/>
                  </a:lnTo>
                </a:path>
                <a:path w="88264" h="3951604">
                  <a:moveTo>
                    <a:pt x="43489" y="2307431"/>
                  </a:moveTo>
                  <a:lnTo>
                    <a:pt x="43489" y="2466739"/>
                  </a:lnTo>
                </a:path>
                <a:path w="88264" h="3951604">
                  <a:moveTo>
                    <a:pt x="0" y="2375706"/>
                  </a:moveTo>
                  <a:lnTo>
                    <a:pt x="18290" y="2393960"/>
                  </a:lnTo>
                  <a:lnTo>
                    <a:pt x="31962" y="2415849"/>
                  </a:lnTo>
                  <a:lnTo>
                    <a:pt x="40525" y="2440425"/>
                  </a:lnTo>
                  <a:lnTo>
                    <a:pt x="43489" y="2466739"/>
                  </a:lnTo>
                  <a:lnTo>
                    <a:pt x="46431" y="2440425"/>
                  </a:lnTo>
                  <a:lnTo>
                    <a:pt x="54948" y="2415849"/>
                  </a:lnTo>
                  <a:lnTo>
                    <a:pt x="68574" y="2393960"/>
                  </a:lnTo>
                  <a:lnTo>
                    <a:pt x="86844" y="2375706"/>
                  </a:lnTo>
                </a:path>
                <a:path w="88264" h="3951604">
                  <a:moveTo>
                    <a:pt x="43489" y="2843374"/>
                  </a:moveTo>
                  <a:lnTo>
                    <a:pt x="44428" y="3062527"/>
                  </a:lnTo>
                </a:path>
                <a:path w="88264" h="3951604">
                  <a:moveTo>
                    <a:pt x="536" y="2971635"/>
                  </a:moveTo>
                  <a:lnTo>
                    <a:pt x="18984" y="2989807"/>
                  </a:lnTo>
                  <a:lnTo>
                    <a:pt x="32751" y="3011655"/>
                  </a:lnTo>
                  <a:lnTo>
                    <a:pt x="41383" y="3036215"/>
                  </a:lnTo>
                  <a:lnTo>
                    <a:pt x="44428" y="3062527"/>
                  </a:lnTo>
                  <a:lnTo>
                    <a:pt x="47272" y="3036189"/>
                  </a:lnTo>
                  <a:lnTo>
                    <a:pt x="55703" y="3011549"/>
                  </a:lnTo>
                  <a:lnTo>
                    <a:pt x="69269" y="2989570"/>
                  </a:lnTo>
                  <a:lnTo>
                    <a:pt x="87515" y="2971213"/>
                  </a:lnTo>
                </a:path>
                <a:path w="88264" h="3951604">
                  <a:moveTo>
                    <a:pt x="44428" y="3254300"/>
                  </a:moveTo>
                  <a:lnTo>
                    <a:pt x="44428" y="3507422"/>
                  </a:lnTo>
                </a:path>
                <a:path w="88264" h="3951604">
                  <a:moveTo>
                    <a:pt x="939" y="3416375"/>
                  </a:moveTo>
                  <a:lnTo>
                    <a:pt x="19286" y="3434632"/>
                  </a:lnTo>
                  <a:lnTo>
                    <a:pt x="32952" y="3456525"/>
                  </a:lnTo>
                  <a:lnTo>
                    <a:pt x="41484" y="3481106"/>
                  </a:lnTo>
                  <a:lnTo>
                    <a:pt x="44428" y="3507422"/>
                  </a:lnTo>
                  <a:lnTo>
                    <a:pt x="47373" y="3481106"/>
                  </a:lnTo>
                  <a:lnTo>
                    <a:pt x="55905" y="3456525"/>
                  </a:lnTo>
                  <a:lnTo>
                    <a:pt x="69571" y="3434632"/>
                  </a:lnTo>
                  <a:lnTo>
                    <a:pt x="87918" y="3416375"/>
                  </a:lnTo>
                </a:path>
                <a:path w="88264" h="3951604">
                  <a:moveTo>
                    <a:pt x="44428" y="3699224"/>
                  </a:moveTo>
                  <a:lnTo>
                    <a:pt x="43489" y="3951011"/>
                  </a:lnTo>
                </a:path>
              </a:pathLst>
            </a:custGeom>
            <a:ln w="988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504893" y="6310033"/>
              <a:ext cx="96867" cy="101118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1620132" y="2075891"/>
              <a:ext cx="966469" cy="379730"/>
            </a:xfrm>
            <a:custGeom>
              <a:avLst/>
              <a:gdLst/>
              <a:ahLst/>
              <a:cxnLst/>
              <a:rect l="l" t="t" r="r" b="b"/>
              <a:pathLst>
                <a:path w="966469" h="379730">
                  <a:moveTo>
                    <a:pt x="966429" y="0"/>
                  </a:moveTo>
                  <a:lnTo>
                    <a:pt x="0" y="0"/>
                  </a:lnTo>
                  <a:lnTo>
                    <a:pt x="0" y="379303"/>
                  </a:lnTo>
                  <a:lnTo>
                    <a:pt x="966429" y="379303"/>
                  </a:lnTo>
                  <a:lnTo>
                    <a:pt x="96642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1620132" y="2075891"/>
              <a:ext cx="966469" cy="379730"/>
            </a:xfrm>
            <a:custGeom>
              <a:avLst/>
              <a:gdLst/>
              <a:ahLst/>
              <a:cxnLst/>
              <a:rect l="l" t="t" r="r" b="b"/>
              <a:pathLst>
                <a:path w="966469" h="379730">
                  <a:moveTo>
                    <a:pt x="0" y="379303"/>
                  </a:moveTo>
                  <a:lnTo>
                    <a:pt x="966429" y="379303"/>
                  </a:lnTo>
                  <a:lnTo>
                    <a:pt x="966429" y="0"/>
                  </a:lnTo>
                  <a:lnTo>
                    <a:pt x="0" y="0"/>
                  </a:lnTo>
                  <a:lnTo>
                    <a:pt x="0" y="379303"/>
                  </a:lnTo>
                  <a:close/>
                </a:path>
              </a:pathLst>
            </a:custGeom>
            <a:ln w="10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/>
          <p:nvPr/>
        </p:nvSpPr>
        <p:spPr>
          <a:xfrm>
            <a:off x="1620132" y="2075891"/>
            <a:ext cx="966469" cy="379730"/>
          </a:xfrm>
          <a:prstGeom prst="rect">
            <a:avLst/>
          </a:prstGeom>
          <a:ln w="10059">
            <a:solidFill>
              <a:srgbClr val="000000"/>
            </a:solidFill>
          </a:ln>
        </p:spPr>
        <p:txBody>
          <a:bodyPr wrap="square" lIns="0" tIns="24765" rIns="0" bIns="0" rtlCol="0" vert="horz">
            <a:spAutoFit/>
          </a:bodyPr>
          <a:lstStyle/>
          <a:p>
            <a:pPr marL="207645" marR="66040" indent="-134620">
              <a:lnSpc>
                <a:spcPct val="100000"/>
              </a:lnSpc>
              <a:spcBef>
                <a:spcPts val="195"/>
              </a:spcBef>
            </a:pPr>
            <a:r>
              <a:rPr dirty="0" sz="1000" spc="-25">
                <a:latin typeface="Arial MT"/>
                <a:cs typeface="Arial MT"/>
              </a:rPr>
              <a:t>Pr</a:t>
            </a:r>
            <a:r>
              <a:rPr dirty="0" sz="1000" spc="-30">
                <a:latin typeface="Arial MT"/>
                <a:cs typeface="Arial MT"/>
              </a:rPr>
              <a:t>o</a:t>
            </a:r>
            <a:r>
              <a:rPr dirty="0" sz="1000" spc="-15">
                <a:latin typeface="Arial MT"/>
                <a:cs typeface="Arial MT"/>
              </a:rPr>
              <a:t>j</a:t>
            </a:r>
            <a:r>
              <a:rPr dirty="0" sz="1000" spc="-30">
                <a:latin typeface="Arial MT"/>
                <a:cs typeface="Arial MT"/>
              </a:rPr>
              <a:t>e</a:t>
            </a:r>
            <a:r>
              <a:rPr dirty="0" sz="1000" spc="-25">
                <a:latin typeface="Arial MT"/>
                <a:cs typeface="Arial MT"/>
              </a:rPr>
              <a:t>c</a:t>
            </a:r>
            <a:r>
              <a:rPr dirty="0" sz="1000" spc="-15">
                <a:latin typeface="Arial MT"/>
                <a:cs typeface="Arial MT"/>
              </a:rPr>
              <a:t>t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 spc="-45">
                <a:latin typeface="Arial MT"/>
                <a:cs typeface="Arial MT"/>
              </a:rPr>
              <a:t>M</a:t>
            </a:r>
            <a:r>
              <a:rPr dirty="0" sz="1000" spc="-15">
                <a:latin typeface="Arial MT"/>
                <a:cs typeface="Arial MT"/>
              </a:rPr>
              <a:t>i</a:t>
            </a:r>
            <a:r>
              <a:rPr dirty="0" sz="1000" spc="-25">
                <a:latin typeface="Arial MT"/>
                <a:cs typeface="Arial MT"/>
              </a:rPr>
              <a:t>ss</a:t>
            </a:r>
            <a:r>
              <a:rPr dirty="0" sz="1000" spc="-15">
                <a:latin typeface="Arial MT"/>
                <a:cs typeface="Arial MT"/>
              </a:rPr>
              <a:t>i</a:t>
            </a:r>
            <a:r>
              <a:rPr dirty="0" sz="1000" spc="-25">
                <a:latin typeface="Arial MT"/>
                <a:cs typeface="Arial MT"/>
              </a:rPr>
              <a:t>on  </a:t>
            </a:r>
            <a:r>
              <a:rPr dirty="0" sz="1000" spc="-30">
                <a:latin typeface="Arial MT"/>
                <a:cs typeface="Arial MT"/>
              </a:rPr>
              <a:t>Statement</a:t>
            </a:r>
            <a:endParaRPr sz="1000">
              <a:latin typeface="Arial MT"/>
              <a:cs typeface="Arial MT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4756015" y="6432736"/>
            <a:ext cx="493395" cy="326390"/>
            <a:chOff x="4756015" y="6432736"/>
            <a:chExt cx="493395" cy="326390"/>
          </a:xfrm>
        </p:grpSpPr>
        <p:sp>
          <p:nvSpPr>
            <p:cNvPr id="12" name="object 12"/>
            <p:cNvSpPr/>
            <p:nvPr/>
          </p:nvSpPr>
          <p:spPr>
            <a:xfrm>
              <a:off x="4761095" y="6437816"/>
              <a:ext cx="483234" cy="316230"/>
            </a:xfrm>
            <a:custGeom>
              <a:avLst/>
              <a:gdLst/>
              <a:ahLst/>
              <a:cxnLst/>
              <a:rect l="l" t="t" r="r" b="b"/>
              <a:pathLst>
                <a:path w="483235" h="316229">
                  <a:moveTo>
                    <a:pt x="483214" y="0"/>
                  </a:moveTo>
                  <a:lnTo>
                    <a:pt x="0" y="0"/>
                  </a:lnTo>
                  <a:lnTo>
                    <a:pt x="0" y="316086"/>
                  </a:lnTo>
                  <a:lnTo>
                    <a:pt x="483214" y="316086"/>
                  </a:lnTo>
                  <a:lnTo>
                    <a:pt x="48321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4761095" y="6437816"/>
              <a:ext cx="483234" cy="316230"/>
            </a:xfrm>
            <a:custGeom>
              <a:avLst/>
              <a:gdLst/>
              <a:ahLst/>
              <a:cxnLst/>
              <a:rect l="l" t="t" r="r" b="b"/>
              <a:pathLst>
                <a:path w="483235" h="316229">
                  <a:moveTo>
                    <a:pt x="0" y="316086"/>
                  </a:moveTo>
                  <a:lnTo>
                    <a:pt x="483214" y="316086"/>
                  </a:lnTo>
                  <a:lnTo>
                    <a:pt x="483214" y="0"/>
                  </a:lnTo>
                  <a:lnTo>
                    <a:pt x="0" y="0"/>
                  </a:lnTo>
                  <a:lnTo>
                    <a:pt x="0" y="316086"/>
                  </a:lnTo>
                  <a:close/>
                </a:path>
              </a:pathLst>
            </a:custGeom>
            <a:ln w="99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/>
          <p:nvPr/>
        </p:nvSpPr>
        <p:spPr>
          <a:xfrm>
            <a:off x="4761095" y="6437816"/>
            <a:ext cx="483234" cy="316230"/>
          </a:xfrm>
          <a:prstGeom prst="rect">
            <a:avLst/>
          </a:prstGeom>
          <a:ln w="9988">
            <a:solidFill>
              <a:srgbClr val="000000"/>
            </a:solidFill>
          </a:ln>
        </p:spPr>
        <p:txBody>
          <a:bodyPr wrap="square" lIns="0" tIns="68580" rIns="0" bIns="0" rtlCol="0" vert="horz">
            <a:spAutoFit/>
          </a:bodyPr>
          <a:lstStyle/>
          <a:p>
            <a:pPr marL="116839">
              <a:lnSpc>
                <a:spcPct val="100000"/>
              </a:lnSpc>
              <a:spcBef>
                <a:spcPts val="540"/>
              </a:spcBef>
            </a:pPr>
            <a:r>
              <a:rPr dirty="0" sz="1000" spc="-35">
                <a:latin typeface="Arial MT"/>
                <a:cs typeface="Arial MT"/>
              </a:rPr>
              <a:t>SRS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922581" y="5416491"/>
            <a:ext cx="1089660" cy="94043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788035">
              <a:lnSpc>
                <a:spcPct val="100000"/>
              </a:lnSpc>
              <a:spcBef>
                <a:spcPts val="95"/>
              </a:spcBef>
            </a:pPr>
            <a:r>
              <a:rPr dirty="0" sz="1000" spc="-20">
                <a:latin typeface="Arial MT"/>
                <a:cs typeface="Arial MT"/>
              </a:rPr>
              <a:t>[</a:t>
            </a:r>
            <a:r>
              <a:rPr dirty="0" sz="1000" spc="-30">
                <a:latin typeface="Arial MT"/>
                <a:cs typeface="Arial MT"/>
              </a:rPr>
              <a:t>e</a:t>
            </a:r>
            <a:r>
              <a:rPr dirty="0" sz="1000" spc="-15">
                <a:latin typeface="Arial MT"/>
                <a:cs typeface="Arial MT"/>
              </a:rPr>
              <a:t>l</a:t>
            </a:r>
            <a:r>
              <a:rPr dirty="0" sz="1000" spc="-25">
                <a:latin typeface="Arial MT"/>
                <a:cs typeface="Arial MT"/>
              </a:rPr>
              <a:t>s</a:t>
            </a:r>
            <a:r>
              <a:rPr dirty="0" sz="1000" spc="-30">
                <a:latin typeface="Arial MT"/>
                <a:cs typeface="Arial MT"/>
              </a:rPr>
              <a:t>e</a:t>
            </a:r>
            <a:r>
              <a:rPr dirty="0" sz="1000" spc="-15">
                <a:latin typeface="Arial MT"/>
                <a:cs typeface="Arial MT"/>
              </a:rPr>
              <a:t>]</a:t>
            </a:r>
            <a:endParaRPr sz="1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9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1000" spc="-25">
                <a:latin typeface="Arial MT"/>
                <a:cs typeface="Arial MT"/>
              </a:rPr>
              <a:t>[adequate]</a:t>
            </a:r>
            <a:endParaRPr sz="1000">
              <a:latin typeface="Arial MT"/>
              <a:cs typeface="Arial MT"/>
            </a:endParaRPr>
          </a:p>
          <a:p>
            <a:pPr marL="788035">
              <a:lnSpc>
                <a:spcPct val="100000"/>
              </a:lnSpc>
              <a:spcBef>
                <a:spcPts val="60"/>
              </a:spcBef>
            </a:pPr>
            <a:r>
              <a:rPr dirty="0" sz="1000" spc="-20">
                <a:latin typeface="Arial MT"/>
                <a:cs typeface="Arial MT"/>
              </a:rPr>
              <a:t>[</a:t>
            </a:r>
            <a:r>
              <a:rPr dirty="0" sz="1000" spc="-30">
                <a:latin typeface="Arial MT"/>
                <a:cs typeface="Arial MT"/>
              </a:rPr>
              <a:t>e</a:t>
            </a:r>
            <a:r>
              <a:rPr dirty="0" sz="1000" spc="-15">
                <a:latin typeface="Arial MT"/>
                <a:cs typeface="Arial MT"/>
              </a:rPr>
              <a:t>l</a:t>
            </a:r>
            <a:r>
              <a:rPr dirty="0" sz="1000" spc="-25">
                <a:latin typeface="Arial MT"/>
                <a:cs typeface="Arial MT"/>
              </a:rPr>
              <a:t>s</a:t>
            </a:r>
            <a:r>
              <a:rPr dirty="0" sz="1000" spc="-30">
                <a:latin typeface="Arial MT"/>
                <a:cs typeface="Arial MT"/>
              </a:rPr>
              <a:t>e</a:t>
            </a:r>
            <a:r>
              <a:rPr dirty="0" sz="1000" spc="-15">
                <a:latin typeface="Arial MT"/>
                <a:cs typeface="Arial MT"/>
              </a:rPr>
              <a:t>]</a:t>
            </a:r>
            <a:endParaRPr sz="1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100">
              <a:latin typeface="Arial MT"/>
              <a:cs typeface="Arial MT"/>
            </a:endParaRPr>
          </a:p>
          <a:p>
            <a:pPr marL="19050">
              <a:lnSpc>
                <a:spcPct val="100000"/>
              </a:lnSpc>
              <a:spcBef>
                <a:spcPts val="5"/>
              </a:spcBef>
            </a:pPr>
            <a:r>
              <a:rPr dirty="0" sz="1000" spc="-25">
                <a:latin typeface="Arial MT"/>
                <a:cs typeface="Arial MT"/>
              </a:rPr>
              <a:t>[complete]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3009307" y="2075891"/>
            <a:ext cx="1087755" cy="379730"/>
          </a:xfrm>
          <a:custGeom>
            <a:avLst/>
            <a:gdLst/>
            <a:ahLst/>
            <a:cxnLst/>
            <a:rect l="l" t="t" r="r" b="b"/>
            <a:pathLst>
              <a:path w="1087754" h="379730">
                <a:moveTo>
                  <a:pt x="966563" y="379303"/>
                </a:moveTo>
                <a:lnTo>
                  <a:pt x="1013563" y="369307"/>
                </a:lnTo>
                <a:lnTo>
                  <a:pt x="1051931" y="342216"/>
                </a:lnTo>
                <a:lnTo>
                  <a:pt x="1077816" y="302060"/>
                </a:lnTo>
                <a:lnTo>
                  <a:pt x="1087367" y="252869"/>
                </a:lnTo>
                <a:lnTo>
                  <a:pt x="1087367" y="126434"/>
                </a:lnTo>
                <a:lnTo>
                  <a:pt x="1077816" y="77164"/>
                </a:lnTo>
                <a:lnTo>
                  <a:pt x="1051931" y="36982"/>
                </a:lnTo>
                <a:lnTo>
                  <a:pt x="1013563" y="9917"/>
                </a:lnTo>
                <a:lnTo>
                  <a:pt x="966563" y="0"/>
                </a:lnTo>
                <a:lnTo>
                  <a:pt x="120803" y="0"/>
                </a:lnTo>
                <a:lnTo>
                  <a:pt x="73803" y="9917"/>
                </a:lnTo>
                <a:lnTo>
                  <a:pt x="35435" y="36982"/>
                </a:lnTo>
                <a:lnTo>
                  <a:pt x="9551" y="77164"/>
                </a:lnTo>
                <a:lnTo>
                  <a:pt x="0" y="126434"/>
                </a:lnTo>
                <a:lnTo>
                  <a:pt x="0" y="252869"/>
                </a:lnTo>
                <a:lnTo>
                  <a:pt x="9551" y="302060"/>
                </a:lnTo>
                <a:lnTo>
                  <a:pt x="35435" y="342216"/>
                </a:lnTo>
                <a:lnTo>
                  <a:pt x="73803" y="369307"/>
                </a:lnTo>
                <a:lnTo>
                  <a:pt x="120803" y="379303"/>
                </a:lnTo>
                <a:lnTo>
                  <a:pt x="966563" y="379303"/>
                </a:lnTo>
                <a:close/>
              </a:path>
            </a:pathLst>
          </a:custGeom>
          <a:ln w="1006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3100498" y="2088478"/>
            <a:ext cx="905510" cy="32893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2225" marR="5080" indent="-10160">
              <a:lnSpc>
                <a:spcPct val="100000"/>
              </a:lnSpc>
              <a:spcBef>
                <a:spcPts val="95"/>
              </a:spcBef>
            </a:pPr>
            <a:r>
              <a:rPr dirty="0" sz="1000" spc="-35">
                <a:latin typeface="Arial MT"/>
                <a:cs typeface="Arial MT"/>
              </a:rPr>
              <a:t>A</a:t>
            </a:r>
            <a:r>
              <a:rPr dirty="0" sz="1000" spc="-30">
                <a:latin typeface="Arial MT"/>
                <a:cs typeface="Arial MT"/>
              </a:rPr>
              <a:t>na</a:t>
            </a:r>
            <a:r>
              <a:rPr dirty="0" sz="1000" spc="-15">
                <a:latin typeface="Arial MT"/>
                <a:cs typeface="Arial MT"/>
              </a:rPr>
              <a:t>l</a:t>
            </a:r>
            <a:r>
              <a:rPr dirty="0" sz="1000" spc="-25">
                <a:latin typeface="Arial MT"/>
                <a:cs typeface="Arial MT"/>
              </a:rPr>
              <a:t>yz</a:t>
            </a:r>
            <a:r>
              <a:rPr dirty="0" sz="1000" spc="-30">
                <a:latin typeface="Arial MT"/>
                <a:cs typeface="Arial MT"/>
              </a:rPr>
              <a:t>e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 spc="-25">
                <a:latin typeface="Arial MT"/>
                <a:cs typeface="Arial MT"/>
              </a:rPr>
              <a:t>Pr</a:t>
            </a:r>
            <a:r>
              <a:rPr dirty="0" sz="1000" spc="-30">
                <a:latin typeface="Arial MT"/>
                <a:cs typeface="Arial MT"/>
              </a:rPr>
              <a:t>odu</a:t>
            </a:r>
            <a:r>
              <a:rPr dirty="0" sz="1000" spc="-25">
                <a:latin typeface="Arial MT"/>
                <a:cs typeface="Arial MT"/>
              </a:rPr>
              <a:t>c</a:t>
            </a:r>
            <a:r>
              <a:rPr dirty="0" sz="1000" spc="-15">
                <a:latin typeface="Arial MT"/>
                <a:cs typeface="Arial MT"/>
              </a:rPr>
              <a:t>t  </a:t>
            </a:r>
            <a:r>
              <a:rPr dirty="0" sz="1000" spc="-35">
                <a:latin typeface="Arial MT"/>
                <a:cs typeface="Arial MT"/>
              </a:rPr>
              <a:t>De</a:t>
            </a:r>
            <a:r>
              <a:rPr dirty="0" sz="1000" spc="-25">
                <a:latin typeface="Arial MT"/>
                <a:cs typeface="Arial MT"/>
              </a:rPr>
              <a:t>s</a:t>
            </a:r>
            <a:r>
              <a:rPr dirty="0" sz="1000" spc="-15">
                <a:latin typeface="Arial MT"/>
                <a:cs typeface="Arial MT"/>
              </a:rPr>
              <a:t>i</a:t>
            </a:r>
            <a:r>
              <a:rPr dirty="0" sz="1000" spc="-30">
                <a:latin typeface="Arial MT"/>
                <a:cs typeface="Arial MT"/>
              </a:rPr>
              <a:t>gn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 spc="-25">
                <a:latin typeface="Arial MT"/>
                <a:cs typeface="Arial MT"/>
              </a:rPr>
              <a:t>Pr</a:t>
            </a:r>
            <a:r>
              <a:rPr dirty="0" sz="1000" spc="-30">
                <a:latin typeface="Arial MT"/>
                <a:cs typeface="Arial MT"/>
              </a:rPr>
              <a:t>ob</a:t>
            </a:r>
            <a:r>
              <a:rPr dirty="0" sz="1000" spc="-15">
                <a:latin typeface="Arial MT"/>
                <a:cs typeface="Arial MT"/>
              </a:rPr>
              <a:t>l</a:t>
            </a:r>
            <a:r>
              <a:rPr dirty="0" sz="1000" spc="-30">
                <a:latin typeface="Arial MT"/>
                <a:cs typeface="Arial MT"/>
              </a:rPr>
              <a:t>e</a:t>
            </a:r>
            <a:r>
              <a:rPr dirty="0" sz="1000" spc="-45">
                <a:latin typeface="Arial MT"/>
                <a:cs typeface="Arial MT"/>
              </a:rPr>
              <a:t>m</a:t>
            </a:r>
            <a:endParaRPr sz="1000">
              <a:latin typeface="Arial MT"/>
              <a:cs typeface="Arial MT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2581481" y="2215082"/>
            <a:ext cx="1522730" cy="1130300"/>
            <a:chOff x="2581481" y="2215082"/>
            <a:chExt cx="1522730" cy="1130300"/>
          </a:xfrm>
        </p:grpSpPr>
        <p:sp>
          <p:nvSpPr>
            <p:cNvPr id="19" name="object 19"/>
            <p:cNvSpPr/>
            <p:nvPr/>
          </p:nvSpPr>
          <p:spPr>
            <a:xfrm>
              <a:off x="2586561" y="2265543"/>
              <a:ext cx="422909" cy="0"/>
            </a:xfrm>
            <a:custGeom>
              <a:avLst/>
              <a:gdLst/>
              <a:ahLst/>
              <a:cxnLst/>
              <a:rect l="l" t="t" r="r" b="b"/>
              <a:pathLst>
                <a:path w="422910" h="0">
                  <a:moveTo>
                    <a:pt x="0" y="0"/>
                  </a:moveTo>
                  <a:lnTo>
                    <a:pt x="422745" y="0"/>
                  </a:lnTo>
                </a:path>
              </a:pathLst>
            </a:custGeom>
            <a:ln w="1011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0" name="object 2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917451" y="2215082"/>
              <a:ext cx="96800" cy="100922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3462455" y="2613238"/>
              <a:ext cx="183515" cy="191770"/>
            </a:xfrm>
            <a:custGeom>
              <a:avLst/>
              <a:gdLst/>
              <a:ahLst/>
              <a:cxnLst/>
              <a:rect l="l" t="t" r="r" b="b"/>
              <a:pathLst>
                <a:path w="183514" h="191769">
                  <a:moveTo>
                    <a:pt x="0" y="95809"/>
                  </a:moveTo>
                  <a:lnTo>
                    <a:pt x="91542" y="191759"/>
                  </a:lnTo>
                  <a:lnTo>
                    <a:pt x="183218" y="95809"/>
                  </a:lnTo>
                  <a:lnTo>
                    <a:pt x="91542" y="0"/>
                  </a:lnTo>
                  <a:lnTo>
                    <a:pt x="0" y="95809"/>
                  </a:lnTo>
                  <a:close/>
                </a:path>
              </a:pathLst>
            </a:custGeom>
            <a:ln w="98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3011455" y="2960934"/>
              <a:ext cx="1087755" cy="379730"/>
            </a:xfrm>
            <a:custGeom>
              <a:avLst/>
              <a:gdLst/>
              <a:ahLst/>
              <a:cxnLst/>
              <a:rect l="l" t="t" r="r" b="b"/>
              <a:pathLst>
                <a:path w="1087754" h="379729">
                  <a:moveTo>
                    <a:pt x="966429" y="0"/>
                  </a:moveTo>
                  <a:lnTo>
                    <a:pt x="120803" y="0"/>
                  </a:lnTo>
                  <a:lnTo>
                    <a:pt x="73784" y="9917"/>
                  </a:lnTo>
                  <a:lnTo>
                    <a:pt x="35385" y="36982"/>
                  </a:lnTo>
                  <a:lnTo>
                    <a:pt x="9494" y="77164"/>
                  </a:lnTo>
                  <a:lnTo>
                    <a:pt x="0" y="126434"/>
                  </a:lnTo>
                  <a:lnTo>
                    <a:pt x="0" y="252869"/>
                  </a:lnTo>
                  <a:lnTo>
                    <a:pt x="9494" y="302060"/>
                  </a:lnTo>
                  <a:lnTo>
                    <a:pt x="35385" y="342216"/>
                  </a:lnTo>
                  <a:lnTo>
                    <a:pt x="73784" y="369307"/>
                  </a:lnTo>
                  <a:lnTo>
                    <a:pt x="120803" y="379303"/>
                  </a:lnTo>
                  <a:lnTo>
                    <a:pt x="966429" y="379303"/>
                  </a:lnTo>
                  <a:lnTo>
                    <a:pt x="1013448" y="369307"/>
                  </a:lnTo>
                  <a:lnTo>
                    <a:pt x="1051847" y="342216"/>
                  </a:lnTo>
                  <a:lnTo>
                    <a:pt x="1077738" y="302060"/>
                  </a:lnTo>
                  <a:lnTo>
                    <a:pt x="1087233" y="252869"/>
                  </a:lnTo>
                  <a:lnTo>
                    <a:pt x="1087233" y="126434"/>
                  </a:lnTo>
                  <a:lnTo>
                    <a:pt x="1077738" y="77164"/>
                  </a:lnTo>
                  <a:lnTo>
                    <a:pt x="1051847" y="36982"/>
                  </a:lnTo>
                  <a:lnTo>
                    <a:pt x="1013448" y="9917"/>
                  </a:lnTo>
                  <a:lnTo>
                    <a:pt x="96642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3011455" y="2960934"/>
              <a:ext cx="1087755" cy="379730"/>
            </a:xfrm>
            <a:custGeom>
              <a:avLst/>
              <a:gdLst/>
              <a:ahLst/>
              <a:cxnLst/>
              <a:rect l="l" t="t" r="r" b="b"/>
              <a:pathLst>
                <a:path w="1087754" h="379729">
                  <a:moveTo>
                    <a:pt x="966429" y="379303"/>
                  </a:moveTo>
                  <a:lnTo>
                    <a:pt x="1013448" y="369307"/>
                  </a:lnTo>
                  <a:lnTo>
                    <a:pt x="1051847" y="342216"/>
                  </a:lnTo>
                  <a:lnTo>
                    <a:pt x="1077738" y="302060"/>
                  </a:lnTo>
                  <a:lnTo>
                    <a:pt x="1087233" y="252869"/>
                  </a:lnTo>
                  <a:lnTo>
                    <a:pt x="1087233" y="126434"/>
                  </a:lnTo>
                  <a:lnTo>
                    <a:pt x="1077738" y="77164"/>
                  </a:lnTo>
                  <a:lnTo>
                    <a:pt x="1051847" y="36982"/>
                  </a:lnTo>
                  <a:lnTo>
                    <a:pt x="1013448" y="9917"/>
                  </a:lnTo>
                  <a:lnTo>
                    <a:pt x="966429" y="0"/>
                  </a:lnTo>
                  <a:lnTo>
                    <a:pt x="120803" y="0"/>
                  </a:lnTo>
                  <a:lnTo>
                    <a:pt x="73784" y="9917"/>
                  </a:lnTo>
                  <a:lnTo>
                    <a:pt x="35385" y="36982"/>
                  </a:lnTo>
                  <a:lnTo>
                    <a:pt x="9494" y="77164"/>
                  </a:lnTo>
                  <a:lnTo>
                    <a:pt x="0" y="126434"/>
                  </a:lnTo>
                  <a:lnTo>
                    <a:pt x="0" y="252869"/>
                  </a:lnTo>
                  <a:lnTo>
                    <a:pt x="9494" y="302060"/>
                  </a:lnTo>
                  <a:lnTo>
                    <a:pt x="35385" y="342216"/>
                  </a:lnTo>
                  <a:lnTo>
                    <a:pt x="73784" y="369307"/>
                  </a:lnTo>
                  <a:lnTo>
                    <a:pt x="120803" y="379303"/>
                  </a:lnTo>
                  <a:lnTo>
                    <a:pt x="966429" y="379303"/>
                  </a:lnTo>
                  <a:close/>
                </a:path>
              </a:pathLst>
            </a:custGeom>
            <a:ln w="1006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" name="object 24"/>
          <p:cNvSpPr txBox="1"/>
          <p:nvPr/>
        </p:nvSpPr>
        <p:spPr>
          <a:xfrm>
            <a:off x="3129357" y="2973521"/>
            <a:ext cx="851535" cy="32893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 indent="5334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latin typeface="Arial MT"/>
                <a:cs typeface="Arial MT"/>
              </a:rPr>
              <a:t>Elicit/Analyze </a:t>
            </a:r>
            <a:r>
              <a:rPr dirty="0" sz="1000" spc="-20">
                <a:latin typeface="Arial MT"/>
                <a:cs typeface="Arial MT"/>
              </a:rPr>
              <a:t> </a:t>
            </a:r>
            <a:r>
              <a:rPr dirty="0" sz="1000" spc="-35">
                <a:latin typeface="Arial MT"/>
                <a:cs typeface="Arial MT"/>
              </a:rPr>
              <a:t>De</a:t>
            </a:r>
            <a:r>
              <a:rPr dirty="0" sz="1000" spc="-20">
                <a:latin typeface="Arial MT"/>
                <a:cs typeface="Arial MT"/>
              </a:rPr>
              <a:t>t</a:t>
            </a:r>
            <a:r>
              <a:rPr dirty="0" sz="1000" spc="-30">
                <a:latin typeface="Arial MT"/>
                <a:cs typeface="Arial MT"/>
              </a:rPr>
              <a:t>a</a:t>
            </a:r>
            <a:r>
              <a:rPr dirty="0" sz="1000" spc="-15">
                <a:latin typeface="Arial MT"/>
                <a:cs typeface="Arial MT"/>
              </a:rPr>
              <a:t>il</a:t>
            </a:r>
            <a:r>
              <a:rPr dirty="0" sz="1000" spc="-30">
                <a:latin typeface="Arial MT"/>
                <a:cs typeface="Arial MT"/>
              </a:rPr>
              <a:t>ed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 spc="-30">
                <a:latin typeface="Arial MT"/>
                <a:cs typeface="Arial MT"/>
              </a:rPr>
              <a:t>Need</a:t>
            </a:r>
            <a:r>
              <a:rPr dirty="0" sz="1000" spc="-25">
                <a:latin typeface="Arial MT"/>
                <a:cs typeface="Arial MT"/>
              </a:rPr>
              <a:t>s</a:t>
            </a:r>
            <a:endParaRPr sz="1000">
              <a:latin typeface="Arial MT"/>
              <a:cs typeface="Arial MT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2793921" y="2799918"/>
            <a:ext cx="1520190" cy="1967864"/>
            <a:chOff x="2793921" y="2799918"/>
            <a:chExt cx="1520190" cy="1967864"/>
          </a:xfrm>
        </p:grpSpPr>
        <p:sp>
          <p:nvSpPr>
            <p:cNvPr id="26" name="object 26"/>
            <p:cNvSpPr/>
            <p:nvPr/>
          </p:nvSpPr>
          <p:spPr>
            <a:xfrm>
              <a:off x="2799001" y="2804998"/>
              <a:ext cx="1510030" cy="1420495"/>
            </a:xfrm>
            <a:custGeom>
              <a:avLst/>
              <a:gdLst/>
              <a:ahLst/>
              <a:cxnLst/>
              <a:rect l="l" t="t" r="r" b="b"/>
              <a:pathLst>
                <a:path w="1510029" h="1420495">
                  <a:moveTo>
                    <a:pt x="754996" y="0"/>
                  </a:moveTo>
                  <a:lnTo>
                    <a:pt x="756069" y="155936"/>
                  </a:lnTo>
                </a:path>
                <a:path w="1510029" h="1420495">
                  <a:moveTo>
                    <a:pt x="711909" y="65184"/>
                  </a:moveTo>
                  <a:lnTo>
                    <a:pt x="730380" y="83275"/>
                  </a:lnTo>
                  <a:lnTo>
                    <a:pt x="744207" y="105081"/>
                  </a:lnTo>
                  <a:lnTo>
                    <a:pt x="752926" y="129626"/>
                  </a:lnTo>
                  <a:lnTo>
                    <a:pt x="756069" y="155936"/>
                  </a:lnTo>
                  <a:lnTo>
                    <a:pt x="758815" y="129595"/>
                  </a:lnTo>
                  <a:lnTo>
                    <a:pt x="767160" y="104940"/>
                  </a:lnTo>
                  <a:lnTo>
                    <a:pt x="780664" y="82920"/>
                  </a:lnTo>
                  <a:lnTo>
                    <a:pt x="798888" y="64481"/>
                  </a:lnTo>
                </a:path>
                <a:path w="1510029" h="1420495">
                  <a:moveTo>
                    <a:pt x="1389215" y="1420282"/>
                  </a:moveTo>
                  <a:lnTo>
                    <a:pt x="1436234" y="1410286"/>
                  </a:lnTo>
                  <a:lnTo>
                    <a:pt x="1474633" y="1383194"/>
                  </a:lnTo>
                  <a:lnTo>
                    <a:pt x="1500524" y="1343038"/>
                  </a:lnTo>
                  <a:lnTo>
                    <a:pt x="1510019" y="1293847"/>
                  </a:lnTo>
                  <a:lnTo>
                    <a:pt x="1510019" y="1167413"/>
                  </a:lnTo>
                  <a:lnTo>
                    <a:pt x="1500524" y="1118143"/>
                  </a:lnTo>
                  <a:lnTo>
                    <a:pt x="1474633" y="1077960"/>
                  </a:lnTo>
                  <a:lnTo>
                    <a:pt x="1436234" y="1050895"/>
                  </a:lnTo>
                  <a:lnTo>
                    <a:pt x="1389215" y="1040978"/>
                  </a:lnTo>
                  <a:lnTo>
                    <a:pt x="120803" y="1040978"/>
                  </a:lnTo>
                  <a:lnTo>
                    <a:pt x="73778" y="1050895"/>
                  </a:lnTo>
                  <a:lnTo>
                    <a:pt x="35380" y="1077960"/>
                  </a:lnTo>
                  <a:lnTo>
                    <a:pt x="9492" y="1118143"/>
                  </a:lnTo>
                  <a:lnTo>
                    <a:pt x="0" y="1167413"/>
                  </a:lnTo>
                  <a:lnTo>
                    <a:pt x="0" y="1293847"/>
                  </a:lnTo>
                  <a:lnTo>
                    <a:pt x="9492" y="1343038"/>
                  </a:lnTo>
                  <a:lnTo>
                    <a:pt x="35380" y="1383194"/>
                  </a:lnTo>
                  <a:lnTo>
                    <a:pt x="73778" y="1410286"/>
                  </a:lnTo>
                  <a:lnTo>
                    <a:pt x="120803" y="1420282"/>
                  </a:lnTo>
                  <a:lnTo>
                    <a:pt x="1389215" y="1420282"/>
                  </a:lnTo>
                  <a:close/>
                </a:path>
              </a:pathLst>
            </a:custGeom>
            <a:ln w="988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7" name="object 2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456437" y="3493336"/>
              <a:ext cx="193108" cy="357584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2918772" y="4383323"/>
              <a:ext cx="1268730" cy="379730"/>
            </a:xfrm>
            <a:custGeom>
              <a:avLst/>
              <a:gdLst/>
              <a:ahLst/>
              <a:cxnLst/>
              <a:rect l="l" t="t" r="r" b="b"/>
              <a:pathLst>
                <a:path w="1268729" h="379729">
                  <a:moveTo>
                    <a:pt x="1147702" y="379303"/>
                  </a:moveTo>
                  <a:lnTo>
                    <a:pt x="1194702" y="369366"/>
                  </a:lnTo>
                  <a:lnTo>
                    <a:pt x="1233069" y="342269"/>
                  </a:lnTo>
                  <a:lnTo>
                    <a:pt x="1258954" y="302079"/>
                  </a:lnTo>
                  <a:lnTo>
                    <a:pt x="1268505" y="252869"/>
                  </a:lnTo>
                  <a:lnTo>
                    <a:pt x="1268505" y="126434"/>
                  </a:lnTo>
                  <a:lnTo>
                    <a:pt x="1258954" y="77164"/>
                  </a:lnTo>
                  <a:lnTo>
                    <a:pt x="1233069" y="36982"/>
                  </a:lnTo>
                  <a:lnTo>
                    <a:pt x="1194702" y="9917"/>
                  </a:lnTo>
                  <a:lnTo>
                    <a:pt x="1147702" y="0"/>
                  </a:lnTo>
                  <a:lnTo>
                    <a:pt x="120736" y="0"/>
                  </a:lnTo>
                  <a:lnTo>
                    <a:pt x="73727" y="9917"/>
                  </a:lnTo>
                  <a:lnTo>
                    <a:pt x="35351" y="36982"/>
                  </a:lnTo>
                  <a:lnTo>
                    <a:pt x="9483" y="77164"/>
                  </a:lnTo>
                  <a:lnTo>
                    <a:pt x="0" y="126434"/>
                  </a:lnTo>
                  <a:lnTo>
                    <a:pt x="0" y="252869"/>
                  </a:lnTo>
                  <a:lnTo>
                    <a:pt x="9483" y="302060"/>
                  </a:lnTo>
                  <a:lnTo>
                    <a:pt x="35351" y="342216"/>
                  </a:lnTo>
                  <a:lnTo>
                    <a:pt x="73727" y="369307"/>
                  </a:lnTo>
                  <a:lnTo>
                    <a:pt x="120736" y="379303"/>
                  </a:lnTo>
                  <a:lnTo>
                    <a:pt x="1147702" y="379303"/>
                  </a:lnTo>
                  <a:close/>
                </a:path>
              </a:pathLst>
            </a:custGeom>
            <a:ln w="1007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9" name="object 29"/>
          <p:cNvSpPr txBox="1"/>
          <p:nvPr/>
        </p:nvSpPr>
        <p:spPr>
          <a:xfrm>
            <a:off x="2873146" y="3858563"/>
            <a:ext cx="1362075" cy="8661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L="12065" marR="5080" indent="-635">
              <a:lnSpc>
                <a:spcPct val="100000"/>
              </a:lnSpc>
              <a:spcBef>
                <a:spcPts val="95"/>
              </a:spcBef>
            </a:pPr>
            <a:r>
              <a:rPr dirty="0" sz="1000" spc="-30">
                <a:latin typeface="Arial MT"/>
                <a:cs typeface="Arial MT"/>
              </a:rPr>
              <a:t>Generate/Improve </a:t>
            </a:r>
            <a:r>
              <a:rPr dirty="0" sz="1000" spc="-25">
                <a:latin typeface="Arial MT"/>
                <a:cs typeface="Arial MT"/>
              </a:rPr>
              <a:t> </a:t>
            </a:r>
            <a:r>
              <a:rPr dirty="0" sz="1000" spc="-30">
                <a:latin typeface="Arial MT"/>
                <a:cs typeface="Arial MT"/>
              </a:rPr>
              <a:t>Candidate</a:t>
            </a:r>
            <a:r>
              <a:rPr dirty="0" sz="1000" spc="-25">
                <a:latin typeface="Arial MT"/>
                <a:cs typeface="Arial MT"/>
              </a:rPr>
              <a:t> </a:t>
            </a:r>
            <a:r>
              <a:rPr dirty="0" sz="1000" spc="-30">
                <a:latin typeface="Arial MT"/>
                <a:cs typeface="Arial MT"/>
              </a:rPr>
              <a:t>Requirements</a:t>
            </a:r>
            <a:endParaRPr sz="1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550">
              <a:latin typeface="Arial MT"/>
              <a:cs typeface="Arial MT"/>
            </a:endParaRPr>
          </a:p>
          <a:p>
            <a:pPr algn="ctr" marL="152400" marR="146685">
              <a:lnSpc>
                <a:spcPct val="100000"/>
              </a:lnSpc>
              <a:spcBef>
                <a:spcPts val="5"/>
              </a:spcBef>
            </a:pPr>
            <a:r>
              <a:rPr dirty="0" sz="1000" spc="-30">
                <a:latin typeface="Arial MT"/>
                <a:cs typeface="Arial MT"/>
              </a:rPr>
              <a:t>Ev</a:t>
            </a:r>
            <a:r>
              <a:rPr dirty="0" sz="1000" spc="-30">
                <a:latin typeface="Arial MT"/>
                <a:cs typeface="Arial MT"/>
              </a:rPr>
              <a:t>a</a:t>
            </a:r>
            <a:r>
              <a:rPr dirty="0" sz="1000" spc="-15">
                <a:latin typeface="Arial MT"/>
                <a:cs typeface="Arial MT"/>
              </a:rPr>
              <a:t>l</a:t>
            </a:r>
            <a:r>
              <a:rPr dirty="0" sz="1000" spc="-30">
                <a:latin typeface="Arial MT"/>
                <a:cs typeface="Arial MT"/>
              </a:rPr>
              <a:t>ua</a:t>
            </a:r>
            <a:r>
              <a:rPr dirty="0" sz="1000" spc="-20">
                <a:latin typeface="Arial MT"/>
                <a:cs typeface="Arial MT"/>
              </a:rPr>
              <a:t>t</a:t>
            </a:r>
            <a:r>
              <a:rPr dirty="0" sz="1000" spc="-30">
                <a:latin typeface="Arial MT"/>
                <a:cs typeface="Arial MT"/>
              </a:rPr>
              <a:t>e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 spc="-30">
                <a:latin typeface="Arial MT"/>
                <a:cs typeface="Arial MT"/>
              </a:rPr>
              <a:t>Cand</a:t>
            </a:r>
            <a:r>
              <a:rPr dirty="0" sz="1000" spc="-15">
                <a:latin typeface="Arial MT"/>
                <a:cs typeface="Arial MT"/>
              </a:rPr>
              <a:t>i</a:t>
            </a:r>
            <a:r>
              <a:rPr dirty="0" sz="1000" spc="-30">
                <a:latin typeface="Arial MT"/>
                <a:cs typeface="Arial MT"/>
              </a:rPr>
              <a:t>da</a:t>
            </a:r>
            <a:r>
              <a:rPr dirty="0" sz="1000" spc="-20">
                <a:latin typeface="Arial MT"/>
                <a:cs typeface="Arial MT"/>
              </a:rPr>
              <a:t>t</a:t>
            </a:r>
            <a:r>
              <a:rPr dirty="0" sz="1000" spc="-20">
                <a:latin typeface="Arial MT"/>
                <a:cs typeface="Arial MT"/>
              </a:rPr>
              <a:t>e  </a:t>
            </a:r>
            <a:r>
              <a:rPr dirty="0" sz="1000" spc="-30">
                <a:latin typeface="Arial MT"/>
                <a:cs typeface="Arial MT"/>
              </a:rPr>
              <a:t>Requirements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2888571" y="4921935"/>
            <a:ext cx="1329055" cy="379730"/>
          </a:xfrm>
          <a:custGeom>
            <a:avLst/>
            <a:gdLst/>
            <a:ahLst/>
            <a:cxnLst/>
            <a:rect l="l" t="t" r="r" b="b"/>
            <a:pathLst>
              <a:path w="1329054" h="379729">
                <a:moveTo>
                  <a:pt x="1208103" y="379303"/>
                </a:moveTo>
                <a:lnTo>
                  <a:pt x="1255104" y="369366"/>
                </a:lnTo>
                <a:lnTo>
                  <a:pt x="1293471" y="342269"/>
                </a:lnTo>
                <a:lnTo>
                  <a:pt x="1319356" y="302079"/>
                </a:lnTo>
                <a:lnTo>
                  <a:pt x="1328907" y="252869"/>
                </a:lnTo>
                <a:lnTo>
                  <a:pt x="1328907" y="126434"/>
                </a:lnTo>
                <a:lnTo>
                  <a:pt x="1319356" y="77223"/>
                </a:lnTo>
                <a:lnTo>
                  <a:pt x="1293471" y="37034"/>
                </a:lnTo>
                <a:lnTo>
                  <a:pt x="1255104" y="9936"/>
                </a:lnTo>
                <a:lnTo>
                  <a:pt x="1208103" y="0"/>
                </a:lnTo>
                <a:lnTo>
                  <a:pt x="120736" y="0"/>
                </a:lnTo>
                <a:lnTo>
                  <a:pt x="73727" y="9936"/>
                </a:lnTo>
                <a:lnTo>
                  <a:pt x="35351" y="37034"/>
                </a:lnTo>
                <a:lnTo>
                  <a:pt x="9483" y="77223"/>
                </a:lnTo>
                <a:lnTo>
                  <a:pt x="0" y="126434"/>
                </a:lnTo>
                <a:lnTo>
                  <a:pt x="0" y="252869"/>
                </a:lnTo>
                <a:lnTo>
                  <a:pt x="9483" y="302079"/>
                </a:lnTo>
                <a:lnTo>
                  <a:pt x="35351" y="342269"/>
                </a:lnTo>
                <a:lnTo>
                  <a:pt x="73727" y="369366"/>
                </a:lnTo>
                <a:lnTo>
                  <a:pt x="120736" y="379303"/>
                </a:lnTo>
                <a:lnTo>
                  <a:pt x="1208103" y="379303"/>
                </a:lnTo>
                <a:close/>
              </a:path>
            </a:pathLst>
          </a:custGeom>
          <a:ln w="1008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 txBox="1"/>
          <p:nvPr/>
        </p:nvSpPr>
        <p:spPr>
          <a:xfrm>
            <a:off x="2979560" y="5010382"/>
            <a:ext cx="1146810" cy="1771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latin typeface="Arial MT"/>
                <a:cs typeface="Arial MT"/>
              </a:rPr>
              <a:t>Select</a:t>
            </a:r>
            <a:r>
              <a:rPr dirty="0" sz="1000" spc="-45">
                <a:latin typeface="Arial MT"/>
                <a:cs typeface="Arial MT"/>
              </a:rPr>
              <a:t> </a:t>
            </a:r>
            <a:r>
              <a:rPr dirty="0" sz="1000" spc="-30">
                <a:latin typeface="Arial MT"/>
                <a:cs typeface="Arial MT"/>
              </a:rPr>
              <a:t>Requirements</a:t>
            </a:r>
            <a:endParaRPr sz="1000">
              <a:latin typeface="Arial MT"/>
              <a:cs typeface="Arial MT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2883491" y="2658587"/>
            <a:ext cx="1762125" cy="4132579"/>
            <a:chOff x="2883491" y="2658587"/>
            <a:chExt cx="1762125" cy="4132579"/>
          </a:xfrm>
        </p:grpSpPr>
        <p:sp>
          <p:nvSpPr>
            <p:cNvPr id="33" name="object 33"/>
            <p:cNvSpPr/>
            <p:nvPr/>
          </p:nvSpPr>
          <p:spPr>
            <a:xfrm>
              <a:off x="3462455" y="3594090"/>
              <a:ext cx="996950" cy="2115820"/>
            </a:xfrm>
            <a:custGeom>
              <a:avLst/>
              <a:gdLst/>
              <a:ahLst/>
              <a:cxnLst/>
              <a:rect l="l" t="t" r="r" b="b"/>
              <a:pathLst>
                <a:path w="996950" h="2115820">
                  <a:moveTo>
                    <a:pt x="0" y="2019512"/>
                  </a:moveTo>
                  <a:lnTo>
                    <a:pt x="91542" y="2115405"/>
                  </a:lnTo>
                  <a:lnTo>
                    <a:pt x="183218" y="2019512"/>
                  </a:lnTo>
                  <a:lnTo>
                    <a:pt x="91542" y="1923632"/>
                  </a:lnTo>
                  <a:lnTo>
                    <a:pt x="0" y="2019512"/>
                  </a:lnTo>
                  <a:close/>
                </a:path>
                <a:path w="996950" h="2115820">
                  <a:moveTo>
                    <a:pt x="996630" y="0"/>
                  </a:moveTo>
                  <a:lnTo>
                    <a:pt x="182145" y="0"/>
                  </a:lnTo>
                </a:path>
              </a:pathLst>
            </a:custGeom>
            <a:ln w="988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4" name="object 3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639656" y="3543629"/>
              <a:ext cx="96868" cy="100922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3462455" y="2709048"/>
              <a:ext cx="1177925" cy="3445510"/>
            </a:xfrm>
            <a:custGeom>
              <a:avLst/>
              <a:gdLst/>
              <a:ahLst/>
              <a:cxnLst/>
              <a:rect l="l" t="t" r="r" b="b"/>
              <a:pathLst>
                <a:path w="1177925" h="3445510">
                  <a:moveTo>
                    <a:pt x="181205" y="2906942"/>
                  </a:moveTo>
                  <a:lnTo>
                    <a:pt x="996630" y="2906942"/>
                  </a:lnTo>
                  <a:lnTo>
                    <a:pt x="996630" y="885042"/>
                  </a:lnTo>
                </a:path>
                <a:path w="1177925" h="3445510">
                  <a:moveTo>
                    <a:pt x="0" y="3349463"/>
                  </a:moveTo>
                  <a:lnTo>
                    <a:pt x="91542" y="3445371"/>
                  </a:lnTo>
                  <a:lnTo>
                    <a:pt x="183218" y="3349463"/>
                  </a:lnTo>
                  <a:lnTo>
                    <a:pt x="91542" y="3253570"/>
                  </a:lnTo>
                  <a:lnTo>
                    <a:pt x="0" y="3349463"/>
                  </a:lnTo>
                  <a:close/>
                </a:path>
                <a:path w="1177925" h="3445510">
                  <a:moveTo>
                    <a:pt x="1177835" y="0"/>
                  </a:moveTo>
                  <a:lnTo>
                    <a:pt x="181205" y="0"/>
                  </a:lnTo>
                </a:path>
              </a:pathLst>
            </a:custGeom>
            <a:ln w="988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6" name="object 3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638716" y="2658587"/>
              <a:ext cx="96868" cy="100922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2888571" y="2708064"/>
              <a:ext cx="1751964" cy="4077970"/>
            </a:xfrm>
            <a:custGeom>
              <a:avLst/>
              <a:gdLst/>
              <a:ahLst/>
              <a:cxnLst/>
              <a:rect l="l" t="t" r="r" b="b"/>
              <a:pathLst>
                <a:path w="1751964" h="4077970">
                  <a:moveTo>
                    <a:pt x="755090" y="3350447"/>
                  </a:moveTo>
                  <a:lnTo>
                    <a:pt x="1751720" y="3350447"/>
                  </a:lnTo>
                  <a:lnTo>
                    <a:pt x="1751720" y="0"/>
                  </a:lnTo>
                </a:path>
                <a:path w="1751964" h="4077970">
                  <a:moveTo>
                    <a:pt x="1208103" y="4077446"/>
                  </a:moveTo>
                  <a:lnTo>
                    <a:pt x="1255104" y="4067511"/>
                  </a:lnTo>
                  <a:lnTo>
                    <a:pt x="1293471" y="4040416"/>
                  </a:lnTo>
                  <a:lnTo>
                    <a:pt x="1319356" y="4000228"/>
                  </a:lnTo>
                  <a:lnTo>
                    <a:pt x="1328907" y="3951011"/>
                  </a:lnTo>
                  <a:lnTo>
                    <a:pt x="1328907" y="3824577"/>
                  </a:lnTo>
                  <a:lnTo>
                    <a:pt x="1319356" y="3775360"/>
                  </a:lnTo>
                  <a:lnTo>
                    <a:pt x="1293471" y="3735172"/>
                  </a:lnTo>
                  <a:lnTo>
                    <a:pt x="1255104" y="3708077"/>
                  </a:lnTo>
                  <a:lnTo>
                    <a:pt x="1208103" y="3698142"/>
                  </a:lnTo>
                  <a:lnTo>
                    <a:pt x="120736" y="3698142"/>
                  </a:lnTo>
                  <a:lnTo>
                    <a:pt x="73727" y="3708077"/>
                  </a:lnTo>
                  <a:lnTo>
                    <a:pt x="35351" y="3735172"/>
                  </a:lnTo>
                  <a:lnTo>
                    <a:pt x="9483" y="3775360"/>
                  </a:lnTo>
                  <a:lnTo>
                    <a:pt x="0" y="3824577"/>
                  </a:lnTo>
                  <a:lnTo>
                    <a:pt x="0" y="3951011"/>
                  </a:lnTo>
                  <a:lnTo>
                    <a:pt x="9483" y="4000228"/>
                  </a:lnTo>
                  <a:lnTo>
                    <a:pt x="35351" y="4040416"/>
                  </a:lnTo>
                  <a:lnTo>
                    <a:pt x="73727" y="4067511"/>
                  </a:lnTo>
                  <a:lnTo>
                    <a:pt x="120736" y="4077446"/>
                  </a:lnTo>
                  <a:lnTo>
                    <a:pt x="1208103" y="4077446"/>
                  </a:lnTo>
                  <a:close/>
                </a:path>
              </a:pathLst>
            </a:custGeom>
            <a:ln w="988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8" name="object 38"/>
          <p:cNvSpPr txBox="1"/>
          <p:nvPr/>
        </p:nvSpPr>
        <p:spPr>
          <a:xfrm>
            <a:off x="2939427" y="6494655"/>
            <a:ext cx="1227455" cy="1771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latin typeface="Arial MT"/>
                <a:cs typeface="Arial MT"/>
              </a:rPr>
              <a:t>Finalize</a:t>
            </a:r>
            <a:r>
              <a:rPr dirty="0" sz="1000" spc="-35">
                <a:latin typeface="Arial MT"/>
                <a:cs typeface="Arial MT"/>
              </a:rPr>
              <a:t> </a:t>
            </a:r>
            <a:r>
              <a:rPr dirty="0" sz="1000" spc="-30">
                <a:latin typeface="Arial MT"/>
                <a:cs typeface="Arial MT"/>
              </a:rPr>
              <a:t>Requirements</a:t>
            </a:r>
            <a:endParaRPr sz="1000">
              <a:latin typeface="Arial MT"/>
              <a:cs typeface="Arial MT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4217478" y="6545398"/>
            <a:ext cx="548640" cy="100965"/>
            <a:chOff x="4217478" y="6545398"/>
            <a:chExt cx="548640" cy="100965"/>
          </a:xfrm>
        </p:grpSpPr>
        <p:sp>
          <p:nvSpPr>
            <p:cNvPr id="40" name="object 40"/>
            <p:cNvSpPr/>
            <p:nvPr/>
          </p:nvSpPr>
          <p:spPr>
            <a:xfrm>
              <a:off x="4217478" y="6595859"/>
              <a:ext cx="544195" cy="0"/>
            </a:xfrm>
            <a:custGeom>
              <a:avLst/>
              <a:gdLst/>
              <a:ahLst/>
              <a:cxnLst/>
              <a:rect l="l" t="t" r="r" b="b"/>
              <a:pathLst>
                <a:path w="544195" h="0">
                  <a:moveTo>
                    <a:pt x="0" y="0"/>
                  </a:moveTo>
                  <a:lnTo>
                    <a:pt x="543616" y="0"/>
                  </a:lnTo>
                </a:path>
              </a:pathLst>
            </a:custGeom>
            <a:ln w="1011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1" name="object 4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669171" y="6545398"/>
              <a:ext cx="96868" cy="100922"/>
            </a:xfrm>
            <a:prstGeom prst="rect">
              <a:avLst/>
            </a:prstGeom>
          </p:spPr>
        </p:pic>
      </p:grpSp>
      <p:sp>
        <p:nvSpPr>
          <p:cNvPr id="42" name="object 42"/>
          <p:cNvSpPr/>
          <p:nvPr/>
        </p:nvSpPr>
        <p:spPr>
          <a:xfrm>
            <a:off x="5425515" y="2012674"/>
            <a:ext cx="121285" cy="1391285"/>
          </a:xfrm>
          <a:custGeom>
            <a:avLst/>
            <a:gdLst/>
            <a:ahLst/>
            <a:cxnLst/>
            <a:rect l="l" t="t" r="r" b="b"/>
            <a:pathLst>
              <a:path w="121285" h="1391285">
                <a:moveTo>
                  <a:pt x="0" y="0"/>
                </a:moveTo>
                <a:lnTo>
                  <a:pt x="23462" y="4897"/>
                </a:lnTo>
                <a:lnTo>
                  <a:pt x="42633" y="18420"/>
                </a:lnTo>
                <a:lnTo>
                  <a:pt x="55588" y="38503"/>
                </a:lnTo>
                <a:lnTo>
                  <a:pt x="60401" y="63076"/>
                </a:lnTo>
                <a:lnTo>
                  <a:pt x="60401" y="63217"/>
                </a:lnTo>
                <a:lnTo>
                  <a:pt x="60401" y="632173"/>
                </a:lnTo>
                <a:lnTo>
                  <a:pt x="65080" y="656729"/>
                </a:lnTo>
                <a:lnTo>
                  <a:pt x="78002" y="676794"/>
                </a:lnTo>
                <a:lnTo>
                  <a:pt x="97190" y="690352"/>
                </a:lnTo>
                <a:lnTo>
                  <a:pt x="120669" y="695390"/>
                </a:lnTo>
                <a:lnTo>
                  <a:pt x="97207" y="700287"/>
                </a:lnTo>
                <a:lnTo>
                  <a:pt x="78035" y="713811"/>
                </a:lnTo>
                <a:lnTo>
                  <a:pt x="65080" y="733893"/>
                </a:lnTo>
                <a:lnTo>
                  <a:pt x="60267" y="758467"/>
                </a:lnTo>
                <a:lnTo>
                  <a:pt x="60267" y="758607"/>
                </a:lnTo>
                <a:lnTo>
                  <a:pt x="60401" y="758607"/>
                </a:lnTo>
                <a:lnTo>
                  <a:pt x="60401" y="1327563"/>
                </a:lnTo>
                <a:lnTo>
                  <a:pt x="55645" y="1352119"/>
                </a:lnTo>
                <a:lnTo>
                  <a:pt x="42683" y="1372184"/>
                </a:lnTo>
                <a:lnTo>
                  <a:pt x="23481" y="1385743"/>
                </a:lnTo>
                <a:lnTo>
                  <a:pt x="0" y="1390780"/>
                </a:lnTo>
              </a:path>
            </a:pathLst>
          </a:custGeom>
          <a:ln w="966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 txBox="1"/>
          <p:nvPr/>
        </p:nvSpPr>
        <p:spPr>
          <a:xfrm>
            <a:off x="5610664" y="2606860"/>
            <a:ext cx="475615" cy="1771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35">
                <a:latin typeface="Arial MT"/>
                <a:cs typeface="Arial MT"/>
              </a:rPr>
              <a:t>A</a:t>
            </a:r>
            <a:r>
              <a:rPr dirty="0" sz="1000" spc="-30">
                <a:latin typeface="Arial MT"/>
                <a:cs typeface="Arial MT"/>
              </a:rPr>
              <a:t>na</a:t>
            </a:r>
            <a:r>
              <a:rPr dirty="0" sz="1000" spc="-15">
                <a:latin typeface="Arial MT"/>
                <a:cs typeface="Arial MT"/>
              </a:rPr>
              <a:t>l</a:t>
            </a:r>
            <a:r>
              <a:rPr dirty="0" sz="1000" spc="-25">
                <a:latin typeface="Arial MT"/>
                <a:cs typeface="Arial MT"/>
              </a:rPr>
              <a:t>ys</a:t>
            </a:r>
            <a:r>
              <a:rPr dirty="0" sz="1000" spc="-15">
                <a:latin typeface="Arial MT"/>
                <a:cs typeface="Arial MT"/>
              </a:rPr>
              <a:t>i</a:t>
            </a:r>
            <a:r>
              <a:rPr dirty="0" sz="1000" spc="-25">
                <a:latin typeface="Arial MT"/>
                <a:cs typeface="Arial MT"/>
              </a:rPr>
              <a:t>s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5425515" y="3466672"/>
            <a:ext cx="121285" cy="3382645"/>
          </a:xfrm>
          <a:custGeom>
            <a:avLst/>
            <a:gdLst/>
            <a:ahLst/>
            <a:cxnLst/>
            <a:rect l="l" t="t" r="r" b="b"/>
            <a:pathLst>
              <a:path w="121285" h="3382645">
                <a:moveTo>
                  <a:pt x="0" y="0"/>
                </a:moveTo>
                <a:lnTo>
                  <a:pt x="23462" y="4897"/>
                </a:lnTo>
                <a:lnTo>
                  <a:pt x="42633" y="18420"/>
                </a:lnTo>
                <a:lnTo>
                  <a:pt x="55588" y="38503"/>
                </a:lnTo>
                <a:lnTo>
                  <a:pt x="60401" y="63076"/>
                </a:lnTo>
                <a:lnTo>
                  <a:pt x="60401" y="63217"/>
                </a:lnTo>
                <a:lnTo>
                  <a:pt x="60401" y="1627775"/>
                </a:lnTo>
                <a:lnTo>
                  <a:pt x="65080" y="1652410"/>
                </a:lnTo>
                <a:lnTo>
                  <a:pt x="78002" y="1672501"/>
                </a:lnTo>
                <a:lnTo>
                  <a:pt x="97190" y="1686034"/>
                </a:lnTo>
                <a:lnTo>
                  <a:pt x="120669" y="1690992"/>
                </a:lnTo>
                <a:lnTo>
                  <a:pt x="97207" y="1695951"/>
                </a:lnTo>
                <a:lnTo>
                  <a:pt x="78035" y="1709483"/>
                </a:lnTo>
                <a:lnTo>
                  <a:pt x="65080" y="1729575"/>
                </a:lnTo>
                <a:lnTo>
                  <a:pt x="60267" y="1754210"/>
                </a:lnTo>
                <a:lnTo>
                  <a:pt x="60401" y="1754210"/>
                </a:lnTo>
                <a:lnTo>
                  <a:pt x="60401" y="3318838"/>
                </a:lnTo>
                <a:lnTo>
                  <a:pt x="55645" y="3343445"/>
                </a:lnTo>
                <a:lnTo>
                  <a:pt x="42683" y="3363539"/>
                </a:lnTo>
                <a:lnTo>
                  <a:pt x="23481" y="3377087"/>
                </a:lnTo>
                <a:lnTo>
                  <a:pt x="0" y="3382055"/>
                </a:lnTo>
              </a:path>
            </a:pathLst>
          </a:custGeom>
          <a:ln w="966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 txBox="1"/>
          <p:nvPr/>
        </p:nvSpPr>
        <p:spPr>
          <a:xfrm>
            <a:off x="5563551" y="5056461"/>
            <a:ext cx="596265" cy="1771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35">
                <a:latin typeface="Arial MT"/>
                <a:cs typeface="Arial MT"/>
              </a:rPr>
              <a:t>Re</a:t>
            </a:r>
            <a:r>
              <a:rPr dirty="0" sz="1000" spc="-25">
                <a:latin typeface="Arial MT"/>
                <a:cs typeface="Arial MT"/>
              </a:rPr>
              <a:t>s</a:t>
            </a:r>
            <a:r>
              <a:rPr dirty="0" sz="1000" spc="-30">
                <a:latin typeface="Arial MT"/>
                <a:cs typeface="Arial MT"/>
              </a:rPr>
              <a:t>o</a:t>
            </a:r>
            <a:r>
              <a:rPr dirty="0" sz="1000" spc="-15">
                <a:latin typeface="Arial MT"/>
                <a:cs typeface="Arial MT"/>
              </a:rPr>
              <a:t>l</a:t>
            </a:r>
            <a:r>
              <a:rPr dirty="0" sz="1000" spc="-30">
                <a:latin typeface="Arial MT"/>
                <a:cs typeface="Arial MT"/>
              </a:rPr>
              <a:t>u</a:t>
            </a:r>
            <a:r>
              <a:rPr dirty="0" sz="1000" spc="-20">
                <a:latin typeface="Arial MT"/>
                <a:cs typeface="Arial MT"/>
              </a:rPr>
              <a:t>t</a:t>
            </a:r>
            <a:r>
              <a:rPr dirty="0" sz="1000" spc="-15">
                <a:latin typeface="Arial MT"/>
                <a:cs typeface="Arial MT"/>
              </a:rPr>
              <a:t>i</a:t>
            </a:r>
            <a:r>
              <a:rPr dirty="0" sz="1000" spc="-30">
                <a:latin typeface="Arial MT"/>
                <a:cs typeface="Arial MT"/>
              </a:rPr>
              <a:t>on</a:t>
            </a:r>
            <a:endParaRPr sz="1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1177798"/>
            <a:ext cx="2795905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b="1">
                <a:latin typeface="Calibri"/>
                <a:cs typeface="Calibri"/>
              </a:rPr>
              <a:t>A</a:t>
            </a:r>
            <a:r>
              <a:rPr dirty="0" sz="1100" spc="5" b="1">
                <a:latin typeface="Calibri"/>
                <a:cs typeface="Calibri"/>
              </a:rPr>
              <a:t> </a:t>
            </a:r>
            <a:r>
              <a:rPr dirty="0" sz="1100" spc="-5" b="1">
                <a:latin typeface="Calibri"/>
                <a:cs typeface="Calibri"/>
              </a:rPr>
              <a:t>Generic</a:t>
            </a:r>
            <a:r>
              <a:rPr dirty="0" sz="1100" spc="-10" b="1">
                <a:latin typeface="Calibri"/>
                <a:cs typeface="Calibri"/>
              </a:rPr>
              <a:t> </a:t>
            </a:r>
            <a:r>
              <a:rPr dirty="0" sz="1100" spc="-5" b="1">
                <a:latin typeface="Calibri"/>
                <a:cs typeface="Calibri"/>
              </a:rPr>
              <a:t>Software Engineering</a:t>
            </a:r>
            <a:r>
              <a:rPr dirty="0" sz="1100" spc="-10" b="1">
                <a:latin typeface="Calibri"/>
                <a:cs typeface="Calibri"/>
              </a:rPr>
              <a:t> </a:t>
            </a:r>
            <a:r>
              <a:rPr dirty="0" sz="1100" spc="-5" b="1">
                <a:latin typeface="Calibri"/>
                <a:cs typeface="Calibri"/>
              </a:rPr>
              <a:t>Design</a:t>
            </a:r>
            <a:r>
              <a:rPr dirty="0" sz="1100" spc="15" b="1">
                <a:latin typeface="Calibri"/>
                <a:cs typeface="Calibri"/>
              </a:rPr>
              <a:t> </a:t>
            </a:r>
            <a:r>
              <a:rPr dirty="0" sz="1100" spc="-5" b="1">
                <a:latin typeface="Calibri"/>
                <a:cs typeface="Calibri"/>
              </a:rPr>
              <a:t>Process: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006050" y="1787113"/>
            <a:ext cx="2804160" cy="5570220"/>
          </a:xfrm>
          <a:custGeom>
            <a:avLst/>
            <a:gdLst/>
            <a:ahLst/>
            <a:cxnLst/>
            <a:rect l="l" t="t" r="r" b="b"/>
            <a:pathLst>
              <a:path w="2804160" h="5570220">
                <a:moveTo>
                  <a:pt x="2697968" y="5569885"/>
                </a:moveTo>
                <a:lnTo>
                  <a:pt x="2739140" y="5562206"/>
                </a:lnTo>
                <a:lnTo>
                  <a:pt x="2772752" y="5541265"/>
                </a:lnTo>
                <a:lnTo>
                  <a:pt x="2795409" y="5510205"/>
                </a:lnTo>
                <a:lnTo>
                  <a:pt x="2803715" y="5472172"/>
                </a:lnTo>
                <a:lnTo>
                  <a:pt x="2803715" y="97768"/>
                </a:lnTo>
                <a:lnTo>
                  <a:pt x="2795409" y="59726"/>
                </a:lnTo>
                <a:lnTo>
                  <a:pt x="2772752" y="28648"/>
                </a:lnTo>
                <a:lnTo>
                  <a:pt x="2739140" y="7687"/>
                </a:lnTo>
                <a:lnTo>
                  <a:pt x="2697968" y="0"/>
                </a:lnTo>
                <a:lnTo>
                  <a:pt x="105802" y="0"/>
                </a:lnTo>
                <a:lnTo>
                  <a:pt x="64617" y="7687"/>
                </a:lnTo>
                <a:lnTo>
                  <a:pt x="30986" y="28648"/>
                </a:lnTo>
                <a:lnTo>
                  <a:pt x="8313" y="59726"/>
                </a:lnTo>
                <a:lnTo>
                  <a:pt x="0" y="97768"/>
                </a:lnTo>
                <a:lnTo>
                  <a:pt x="0" y="5472172"/>
                </a:lnTo>
                <a:lnTo>
                  <a:pt x="8313" y="5510205"/>
                </a:lnTo>
                <a:lnTo>
                  <a:pt x="30986" y="5541265"/>
                </a:lnTo>
                <a:lnTo>
                  <a:pt x="64617" y="5562206"/>
                </a:lnTo>
                <a:lnTo>
                  <a:pt x="105802" y="5569885"/>
                </a:lnTo>
                <a:lnTo>
                  <a:pt x="2697968" y="5569885"/>
                </a:lnTo>
              </a:path>
            </a:pathLst>
          </a:custGeom>
          <a:ln w="833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2110905" y="1829760"/>
            <a:ext cx="1795780" cy="35242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750" spc="40">
                <a:latin typeface="Arial MT"/>
                <a:cs typeface="Arial MT"/>
              </a:rPr>
              <a:t>Generic</a:t>
            </a:r>
            <a:r>
              <a:rPr dirty="0" sz="750" spc="5">
                <a:latin typeface="Arial MT"/>
                <a:cs typeface="Arial MT"/>
              </a:rPr>
              <a:t> </a:t>
            </a:r>
            <a:r>
              <a:rPr dirty="0" sz="750" spc="35">
                <a:latin typeface="Arial MT"/>
                <a:cs typeface="Arial MT"/>
              </a:rPr>
              <a:t>Software</a:t>
            </a:r>
            <a:r>
              <a:rPr dirty="0" sz="750" spc="10">
                <a:latin typeface="Arial MT"/>
                <a:cs typeface="Arial MT"/>
              </a:rPr>
              <a:t> </a:t>
            </a:r>
            <a:r>
              <a:rPr dirty="0" sz="750" spc="40">
                <a:latin typeface="Arial MT"/>
                <a:cs typeface="Arial MT"/>
              </a:rPr>
              <a:t>Engineering</a:t>
            </a:r>
            <a:r>
              <a:rPr dirty="0" sz="750" spc="10">
                <a:latin typeface="Arial MT"/>
                <a:cs typeface="Arial MT"/>
              </a:rPr>
              <a:t> </a:t>
            </a:r>
            <a:r>
              <a:rPr dirty="0" sz="750" spc="40">
                <a:latin typeface="Arial MT"/>
                <a:cs typeface="Arial MT"/>
              </a:rPr>
              <a:t>Design</a:t>
            </a:r>
            <a:endParaRPr sz="7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 sz="650" spc="60">
                <a:latin typeface="Arial MT"/>
                <a:cs typeface="Arial MT"/>
              </a:rPr>
              <a:t>SRS</a:t>
            </a:r>
            <a:r>
              <a:rPr dirty="0" sz="650">
                <a:latin typeface="Arial MT"/>
                <a:cs typeface="Arial MT"/>
              </a:rPr>
              <a:t> </a:t>
            </a:r>
            <a:r>
              <a:rPr dirty="0" sz="650" spc="25">
                <a:latin typeface="Arial MT"/>
                <a:cs typeface="Arial MT"/>
              </a:rPr>
              <a:t>:</a:t>
            </a:r>
            <a:r>
              <a:rPr dirty="0" sz="650">
                <a:latin typeface="Arial MT"/>
                <a:cs typeface="Arial MT"/>
              </a:rPr>
              <a:t> </a:t>
            </a:r>
            <a:r>
              <a:rPr dirty="0" sz="650" spc="45">
                <a:latin typeface="Arial MT"/>
                <a:cs typeface="Arial MT"/>
              </a:rPr>
              <a:t>Problem</a:t>
            </a:r>
            <a:endParaRPr sz="6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 sz="650" spc="45">
                <a:latin typeface="Arial MT"/>
                <a:cs typeface="Arial MT"/>
              </a:rPr>
              <a:t>Design</a:t>
            </a:r>
            <a:r>
              <a:rPr dirty="0" sz="650" spc="5">
                <a:latin typeface="Arial MT"/>
                <a:cs typeface="Arial MT"/>
              </a:rPr>
              <a:t> </a:t>
            </a:r>
            <a:r>
              <a:rPr dirty="0" sz="650" spc="50">
                <a:latin typeface="Arial MT"/>
                <a:cs typeface="Arial MT"/>
              </a:rPr>
              <a:t>Document</a:t>
            </a:r>
            <a:r>
              <a:rPr dirty="0" sz="650" spc="5">
                <a:latin typeface="Arial MT"/>
                <a:cs typeface="Arial MT"/>
              </a:rPr>
              <a:t> </a:t>
            </a:r>
            <a:r>
              <a:rPr dirty="0" sz="650" spc="25">
                <a:latin typeface="Arial MT"/>
                <a:cs typeface="Arial MT"/>
              </a:rPr>
              <a:t>:</a:t>
            </a:r>
            <a:r>
              <a:rPr dirty="0" sz="650" spc="5">
                <a:latin typeface="Arial MT"/>
                <a:cs typeface="Arial MT"/>
              </a:rPr>
              <a:t> </a:t>
            </a:r>
            <a:r>
              <a:rPr dirty="0" sz="650" spc="40">
                <a:latin typeface="Arial MT"/>
                <a:cs typeface="Arial MT"/>
              </a:rPr>
              <a:t>Solution</a:t>
            </a:r>
            <a:endParaRPr sz="650">
              <a:latin typeface="Arial MT"/>
              <a:cs typeface="Arial MT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232976" y="2177981"/>
            <a:ext cx="106045" cy="5130165"/>
          </a:xfrm>
          <a:custGeom>
            <a:avLst/>
            <a:gdLst/>
            <a:ahLst/>
            <a:cxnLst/>
            <a:rect l="l" t="t" r="r" b="b"/>
            <a:pathLst>
              <a:path w="106045" h="5130165">
                <a:moveTo>
                  <a:pt x="0" y="0"/>
                </a:moveTo>
                <a:lnTo>
                  <a:pt x="20603" y="3835"/>
                </a:lnTo>
                <a:lnTo>
                  <a:pt x="37447" y="14298"/>
                </a:lnTo>
                <a:lnTo>
                  <a:pt x="48813" y="29820"/>
                </a:lnTo>
                <a:lnTo>
                  <a:pt x="52984" y="48832"/>
                </a:lnTo>
                <a:lnTo>
                  <a:pt x="52984" y="146601"/>
                </a:lnTo>
                <a:lnTo>
                  <a:pt x="57137" y="165613"/>
                </a:lnTo>
                <a:lnTo>
                  <a:pt x="68466" y="181135"/>
                </a:lnTo>
                <a:lnTo>
                  <a:pt x="85272" y="191598"/>
                </a:lnTo>
                <a:lnTo>
                  <a:pt x="105858" y="195433"/>
                </a:lnTo>
                <a:lnTo>
                  <a:pt x="85272" y="199269"/>
                </a:lnTo>
                <a:lnTo>
                  <a:pt x="68466" y="209732"/>
                </a:lnTo>
                <a:lnTo>
                  <a:pt x="57137" y="225254"/>
                </a:lnTo>
                <a:lnTo>
                  <a:pt x="52984" y="244266"/>
                </a:lnTo>
                <a:lnTo>
                  <a:pt x="52984" y="342035"/>
                </a:lnTo>
                <a:lnTo>
                  <a:pt x="48813" y="361047"/>
                </a:lnTo>
                <a:lnTo>
                  <a:pt x="37447" y="376569"/>
                </a:lnTo>
                <a:lnTo>
                  <a:pt x="20603" y="387032"/>
                </a:lnTo>
                <a:lnTo>
                  <a:pt x="0" y="390867"/>
                </a:lnTo>
              </a:path>
              <a:path w="106045" h="5130165">
                <a:moveTo>
                  <a:pt x="0" y="415284"/>
                </a:moveTo>
                <a:lnTo>
                  <a:pt x="20603" y="419136"/>
                </a:lnTo>
                <a:lnTo>
                  <a:pt x="37447" y="429634"/>
                </a:lnTo>
                <a:lnTo>
                  <a:pt x="48813" y="445191"/>
                </a:lnTo>
                <a:lnTo>
                  <a:pt x="52984" y="464219"/>
                </a:lnTo>
                <a:lnTo>
                  <a:pt x="52984" y="1465806"/>
                </a:lnTo>
                <a:lnTo>
                  <a:pt x="57137" y="1484819"/>
                </a:lnTo>
                <a:lnTo>
                  <a:pt x="68466" y="1500340"/>
                </a:lnTo>
                <a:lnTo>
                  <a:pt x="85272" y="1510803"/>
                </a:lnTo>
                <a:lnTo>
                  <a:pt x="105858" y="1514639"/>
                </a:lnTo>
                <a:lnTo>
                  <a:pt x="85272" y="1518475"/>
                </a:lnTo>
                <a:lnTo>
                  <a:pt x="68466" y="1528937"/>
                </a:lnTo>
                <a:lnTo>
                  <a:pt x="57137" y="1544459"/>
                </a:lnTo>
                <a:lnTo>
                  <a:pt x="52984" y="1563471"/>
                </a:lnTo>
                <a:lnTo>
                  <a:pt x="52984" y="2565058"/>
                </a:lnTo>
                <a:lnTo>
                  <a:pt x="48813" y="2584087"/>
                </a:lnTo>
                <a:lnTo>
                  <a:pt x="37447" y="2599644"/>
                </a:lnTo>
                <a:lnTo>
                  <a:pt x="20603" y="2610141"/>
                </a:lnTo>
                <a:lnTo>
                  <a:pt x="0" y="2613993"/>
                </a:lnTo>
              </a:path>
              <a:path w="106045" h="5130165">
                <a:moveTo>
                  <a:pt x="0" y="2638410"/>
                </a:moveTo>
                <a:lnTo>
                  <a:pt x="20603" y="2642246"/>
                </a:lnTo>
                <a:lnTo>
                  <a:pt x="37447" y="2652708"/>
                </a:lnTo>
                <a:lnTo>
                  <a:pt x="48813" y="2668230"/>
                </a:lnTo>
                <a:lnTo>
                  <a:pt x="52984" y="2687243"/>
                </a:lnTo>
                <a:lnTo>
                  <a:pt x="52984" y="3835430"/>
                </a:lnTo>
                <a:lnTo>
                  <a:pt x="57137" y="3854443"/>
                </a:lnTo>
                <a:lnTo>
                  <a:pt x="68466" y="3869965"/>
                </a:lnTo>
                <a:lnTo>
                  <a:pt x="85272" y="3880427"/>
                </a:lnTo>
                <a:lnTo>
                  <a:pt x="105858" y="3884263"/>
                </a:lnTo>
                <a:lnTo>
                  <a:pt x="85272" y="3888099"/>
                </a:lnTo>
                <a:lnTo>
                  <a:pt x="68466" y="3898561"/>
                </a:lnTo>
                <a:lnTo>
                  <a:pt x="57137" y="3914083"/>
                </a:lnTo>
                <a:lnTo>
                  <a:pt x="52984" y="3933096"/>
                </a:lnTo>
                <a:lnTo>
                  <a:pt x="52984" y="5081304"/>
                </a:lnTo>
                <a:lnTo>
                  <a:pt x="48813" y="5100319"/>
                </a:lnTo>
                <a:lnTo>
                  <a:pt x="37447" y="5115848"/>
                </a:lnTo>
                <a:lnTo>
                  <a:pt x="20603" y="5126318"/>
                </a:lnTo>
                <a:lnTo>
                  <a:pt x="0" y="5130158"/>
                </a:lnTo>
              </a:path>
            </a:pathLst>
          </a:custGeom>
          <a:ln w="814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5393670" y="2292339"/>
            <a:ext cx="419734" cy="14287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750" spc="55">
                <a:latin typeface="Arial MT"/>
                <a:cs typeface="Arial MT"/>
              </a:rPr>
              <a:t>A</a:t>
            </a:r>
            <a:r>
              <a:rPr dirty="0" sz="750" spc="45">
                <a:latin typeface="Arial MT"/>
                <a:cs typeface="Arial MT"/>
              </a:rPr>
              <a:t>na</a:t>
            </a:r>
            <a:r>
              <a:rPr dirty="0" sz="750" spc="15">
                <a:latin typeface="Arial MT"/>
                <a:cs typeface="Arial MT"/>
              </a:rPr>
              <a:t>l</a:t>
            </a:r>
            <a:r>
              <a:rPr dirty="0" sz="750" spc="40">
                <a:latin typeface="Arial MT"/>
                <a:cs typeface="Arial MT"/>
              </a:rPr>
              <a:t>ys</a:t>
            </a:r>
            <a:r>
              <a:rPr dirty="0" sz="750" spc="15">
                <a:latin typeface="Arial MT"/>
                <a:cs typeface="Arial MT"/>
              </a:rPr>
              <a:t>i</a:t>
            </a:r>
            <a:r>
              <a:rPr dirty="0" sz="750" spc="40">
                <a:latin typeface="Arial MT"/>
                <a:cs typeface="Arial MT"/>
              </a:rPr>
              <a:t>s</a:t>
            </a:r>
            <a:endParaRPr sz="75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373120" y="3552862"/>
            <a:ext cx="613410" cy="2603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95"/>
              </a:spcBef>
            </a:pPr>
            <a:r>
              <a:rPr dirty="0" sz="750" spc="40">
                <a:latin typeface="Arial MT"/>
                <a:cs typeface="Arial MT"/>
              </a:rPr>
              <a:t>Arc</a:t>
            </a:r>
            <a:r>
              <a:rPr dirty="0" sz="750" spc="45">
                <a:latin typeface="Arial MT"/>
                <a:cs typeface="Arial MT"/>
              </a:rPr>
              <a:t>h</a:t>
            </a:r>
            <a:r>
              <a:rPr dirty="0" sz="750" spc="15">
                <a:latin typeface="Arial MT"/>
                <a:cs typeface="Arial MT"/>
              </a:rPr>
              <a:t>i</a:t>
            </a:r>
            <a:r>
              <a:rPr dirty="0" sz="750" spc="15">
                <a:latin typeface="Arial MT"/>
                <a:cs typeface="Arial MT"/>
              </a:rPr>
              <a:t>t</a:t>
            </a:r>
            <a:r>
              <a:rPr dirty="0" sz="750" spc="45">
                <a:latin typeface="Arial MT"/>
                <a:cs typeface="Arial MT"/>
              </a:rPr>
              <a:t>e</a:t>
            </a:r>
            <a:r>
              <a:rPr dirty="0" sz="750" spc="40">
                <a:latin typeface="Arial MT"/>
                <a:cs typeface="Arial MT"/>
              </a:rPr>
              <a:t>c</a:t>
            </a:r>
            <a:r>
              <a:rPr dirty="0" sz="750" spc="15">
                <a:latin typeface="Arial MT"/>
                <a:cs typeface="Arial MT"/>
              </a:rPr>
              <a:t>t</a:t>
            </a:r>
            <a:r>
              <a:rPr dirty="0" sz="750" spc="45">
                <a:latin typeface="Arial MT"/>
                <a:cs typeface="Arial MT"/>
              </a:rPr>
              <a:t>u</a:t>
            </a:r>
            <a:r>
              <a:rPr dirty="0" sz="750" spc="25">
                <a:latin typeface="Arial MT"/>
                <a:cs typeface="Arial MT"/>
              </a:rPr>
              <a:t>r</a:t>
            </a:r>
            <a:r>
              <a:rPr dirty="0" sz="750" spc="45">
                <a:latin typeface="Arial MT"/>
                <a:cs typeface="Arial MT"/>
              </a:rPr>
              <a:t>a</a:t>
            </a:r>
            <a:r>
              <a:rPr dirty="0" sz="750" spc="20">
                <a:latin typeface="Arial MT"/>
                <a:cs typeface="Arial MT"/>
              </a:rPr>
              <a:t>l  </a:t>
            </a:r>
            <a:r>
              <a:rPr dirty="0" sz="750" spc="40">
                <a:latin typeface="Arial MT"/>
                <a:cs typeface="Arial MT"/>
              </a:rPr>
              <a:t>Design</a:t>
            </a:r>
            <a:endParaRPr sz="750">
              <a:latin typeface="Arial MT"/>
              <a:cs typeface="Arial MT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339621" y="2515571"/>
            <a:ext cx="1791970" cy="4747895"/>
            <a:chOff x="3339621" y="2515571"/>
            <a:chExt cx="1791970" cy="4747895"/>
          </a:xfrm>
        </p:grpSpPr>
        <p:sp>
          <p:nvSpPr>
            <p:cNvPr id="9" name="object 9"/>
            <p:cNvSpPr/>
            <p:nvPr/>
          </p:nvSpPr>
          <p:spPr>
            <a:xfrm>
              <a:off x="3343749" y="2520016"/>
              <a:ext cx="884555" cy="197485"/>
            </a:xfrm>
            <a:custGeom>
              <a:avLst/>
              <a:gdLst/>
              <a:ahLst/>
              <a:cxnLst/>
              <a:rect l="l" t="t" r="r" b="b"/>
              <a:pathLst>
                <a:path w="884554" h="197485">
                  <a:moveTo>
                    <a:pt x="37766" y="0"/>
                  </a:moveTo>
                  <a:lnTo>
                    <a:pt x="38655" y="121671"/>
                  </a:lnTo>
                </a:path>
                <a:path w="884554" h="197485">
                  <a:moveTo>
                    <a:pt x="0" y="51602"/>
                  </a:moveTo>
                  <a:lnTo>
                    <a:pt x="16177" y="65580"/>
                  </a:lnTo>
                  <a:lnTo>
                    <a:pt x="28283" y="82405"/>
                  </a:lnTo>
                  <a:lnTo>
                    <a:pt x="35911" y="101346"/>
                  </a:lnTo>
                  <a:lnTo>
                    <a:pt x="38655" y="121671"/>
                  </a:lnTo>
                  <a:lnTo>
                    <a:pt x="41069" y="101309"/>
                  </a:lnTo>
                  <a:lnTo>
                    <a:pt x="48388" y="82264"/>
                  </a:lnTo>
                  <a:lnTo>
                    <a:pt x="60227" y="65277"/>
                  </a:lnTo>
                  <a:lnTo>
                    <a:pt x="76200" y="51089"/>
                  </a:lnTo>
                </a:path>
                <a:path w="884554" h="197485">
                  <a:moveTo>
                    <a:pt x="884186" y="197485"/>
                  </a:moveTo>
                  <a:lnTo>
                    <a:pt x="117076" y="197485"/>
                  </a:lnTo>
                </a:path>
              </a:pathLst>
            </a:custGeom>
            <a:ln w="814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456755" y="2678243"/>
              <a:ext cx="84340" cy="78517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4492414" y="6966134"/>
              <a:ext cx="635000" cy="293370"/>
            </a:xfrm>
            <a:custGeom>
              <a:avLst/>
              <a:gdLst/>
              <a:ahLst/>
              <a:cxnLst/>
              <a:rect l="l" t="t" r="r" b="b"/>
              <a:pathLst>
                <a:path w="635000" h="293370">
                  <a:moveTo>
                    <a:pt x="634814" y="0"/>
                  </a:moveTo>
                  <a:lnTo>
                    <a:pt x="0" y="0"/>
                  </a:lnTo>
                  <a:lnTo>
                    <a:pt x="0" y="293150"/>
                  </a:lnTo>
                  <a:lnTo>
                    <a:pt x="634814" y="293150"/>
                  </a:lnTo>
                  <a:lnTo>
                    <a:pt x="63481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4492414" y="6966134"/>
              <a:ext cx="635000" cy="293370"/>
            </a:xfrm>
            <a:custGeom>
              <a:avLst/>
              <a:gdLst/>
              <a:ahLst/>
              <a:cxnLst/>
              <a:rect l="l" t="t" r="r" b="b"/>
              <a:pathLst>
                <a:path w="635000" h="293370">
                  <a:moveTo>
                    <a:pt x="0" y="293150"/>
                  </a:moveTo>
                  <a:lnTo>
                    <a:pt x="634814" y="293150"/>
                  </a:lnTo>
                  <a:lnTo>
                    <a:pt x="634814" y="0"/>
                  </a:lnTo>
                  <a:lnTo>
                    <a:pt x="0" y="0"/>
                  </a:lnTo>
                  <a:lnTo>
                    <a:pt x="0" y="293150"/>
                  </a:lnTo>
                  <a:close/>
                </a:path>
              </a:pathLst>
            </a:custGeom>
            <a:ln w="793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 txBox="1"/>
          <p:nvPr/>
        </p:nvSpPr>
        <p:spPr>
          <a:xfrm>
            <a:off x="4492414" y="6966135"/>
            <a:ext cx="635000" cy="293370"/>
          </a:xfrm>
          <a:prstGeom prst="rect">
            <a:avLst/>
          </a:prstGeom>
          <a:ln w="7946">
            <a:solidFill>
              <a:srgbClr val="000000"/>
            </a:solidFill>
          </a:ln>
        </p:spPr>
        <p:txBody>
          <a:bodyPr wrap="square" lIns="0" tIns="19050" rIns="0" bIns="0" rtlCol="0" vert="horz">
            <a:spAutoFit/>
          </a:bodyPr>
          <a:lstStyle/>
          <a:p>
            <a:pPr marL="76200" marR="68580" indent="76200">
              <a:lnSpc>
                <a:spcPct val="102600"/>
              </a:lnSpc>
              <a:spcBef>
                <a:spcPts val="150"/>
              </a:spcBef>
            </a:pPr>
            <a:r>
              <a:rPr dirty="0" sz="750" spc="40">
                <a:latin typeface="Arial MT"/>
                <a:cs typeface="Arial MT"/>
              </a:rPr>
              <a:t>Design </a:t>
            </a:r>
            <a:r>
              <a:rPr dirty="0" sz="750" spc="45">
                <a:latin typeface="Arial MT"/>
                <a:cs typeface="Arial MT"/>
              </a:rPr>
              <a:t> </a:t>
            </a:r>
            <a:r>
              <a:rPr dirty="0" sz="750" spc="50">
                <a:latin typeface="Arial MT"/>
                <a:cs typeface="Arial MT"/>
              </a:rPr>
              <a:t>Do</a:t>
            </a:r>
            <a:r>
              <a:rPr dirty="0" sz="750" spc="40">
                <a:latin typeface="Arial MT"/>
                <a:cs typeface="Arial MT"/>
              </a:rPr>
              <a:t>c</a:t>
            </a:r>
            <a:r>
              <a:rPr dirty="0" sz="750" spc="45">
                <a:latin typeface="Arial MT"/>
                <a:cs typeface="Arial MT"/>
              </a:rPr>
              <a:t>u</a:t>
            </a:r>
            <a:r>
              <a:rPr dirty="0" sz="750" spc="65">
                <a:latin typeface="Arial MT"/>
                <a:cs typeface="Arial MT"/>
              </a:rPr>
              <a:t>m</a:t>
            </a:r>
            <a:r>
              <a:rPr dirty="0" sz="750" spc="45">
                <a:latin typeface="Arial MT"/>
                <a:cs typeface="Arial MT"/>
              </a:rPr>
              <a:t>en</a:t>
            </a:r>
            <a:r>
              <a:rPr dirty="0" sz="750" spc="20">
                <a:latin typeface="Arial MT"/>
                <a:cs typeface="Arial MT"/>
              </a:rPr>
              <a:t>t</a:t>
            </a:r>
            <a:endParaRPr sz="750">
              <a:latin typeface="Arial MT"/>
              <a:cs typeface="Arial MT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1790313" y="2247175"/>
            <a:ext cx="431800" cy="252729"/>
            <a:chOff x="1790313" y="2247175"/>
            <a:chExt cx="431800" cy="252729"/>
          </a:xfrm>
        </p:grpSpPr>
        <p:sp>
          <p:nvSpPr>
            <p:cNvPr id="15" name="object 15"/>
            <p:cNvSpPr/>
            <p:nvPr/>
          </p:nvSpPr>
          <p:spPr>
            <a:xfrm>
              <a:off x="1794441" y="2251302"/>
              <a:ext cx="423545" cy="244475"/>
            </a:xfrm>
            <a:custGeom>
              <a:avLst/>
              <a:gdLst/>
              <a:ahLst/>
              <a:cxnLst/>
              <a:rect l="l" t="t" r="r" b="b"/>
              <a:pathLst>
                <a:path w="423544" h="244475">
                  <a:moveTo>
                    <a:pt x="423209" y="0"/>
                  </a:moveTo>
                  <a:lnTo>
                    <a:pt x="0" y="0"/>
                  </a:lnTo>
                  <a:lnTo>
                    <a:pt x="0" y="244297"/>
                  </a:lnTo>
                  <a:lnTo>
                    <a:pt x="423209" y="244297"/>
                  </a:lnTo>
                  <a:lnTo>
                    <a:pt x="42320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1794441" y="2251302"/>
              <a:ext cx="423545" cy="244475"/>
            </a:xfrm>
            <a:custGeom>
              <a:avLst/>
              <a:gdLst/>
              <a:ahLst/>
              <a:cxnLst/>
              <a:rect l="l" t="t" r="r" b="b"/>
              <a:pathLst>
                <a:path w="423544" h="244475">
                  <a:moveTo>
                    <a:pt x="0" y="244297"/>
                  </a:moveTo>
                  <a:lnTo>
                    <a:pt x="423209" y="244297"/>
                  </a:lnTo>
                  <a:lnTo>
                    <a:pt x="423209" y="0"/>
                  </a:lnTo>
                  <a:lnTo>
                    <a:pt x="0" y="0"/>
                  </a:lnTo>
                  <a:lnTo>
                    <a:pt x="0" y="244297"/>
                  </a:lnTo>
                  <a:close/>
                </a:path>
              </a:pathLst>
            </a:custGeom>
            <a:ln w="79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/>
          <p:cNvSpPr txBox="1"/>
          <p:nvPr/>
        </p:nvSpPr>
        <p:spPr>
          <a:xfrm>
            <a:off x="1794441" y="2251302"/>
            <a:ext cx="423545" cy="244475"/>
          </a:xfrm>
          <a:prstGeom prst="rect">
            <a:avLst/>
          </a:prstGeom>
          <a:ln w="7999">
            <a:solidFill>
              <a:srgbClr val="000000"/>
            </a:solidFill>
          </a:ln>
        </p:spPr>
        <p:txBody>
          <a:bodyPr wrap="square" lIns="0" tIns="55880" rIns="0" bIns="0" rtlCol="0" vert="horz">
            <a:spAutoFit/>
          </a:bodyPr>
          <a:lstStyle/>
          <a:p>
            <a:pPr marL="102235">
              <a:lnSpc>
                <a:spcPct val="100000"/>
              </a:lnSpc>
              <a:spcBef>
                <a:spcPts val="440"/>
              </a:spcBef>
            </a:pPr>
            <a:r>
              <a:rPr dirty="0" sz="750" spc="55">
                <a:latin typeface="Arial MT"/>
                <a:cs typeface="Arial MT"/>
              </a:rPr>
              <a:t>SRS</a:t>
            </a:r>
            <a:endParaRPr sz="750">
              <a:latin typeface="Arial MT"/>
              <a:cs typeface="Arial MT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2905321" y="2226814"/>
            <a:ext cx="952500" cy="3322954"/>
          </a:xfrm>
          <a:custGeom>
            <a:avLst/>
            <a:gdLst/>
            <a:ahLst/>
            <a:cxnLst/>
            <a:rect l="l" t="t" r="r" b="b"/>
            <a:pathLst>
              <a:path w="952500" h="3322954">
                <a:moveTo>
                  <a:pt x="476194" y="977169"/>
                </a:moveTo>
                <a:lnTo>
                  <a:pt x="476194" y="1099354"/>
                </a:lnTo>
              </a:path>
              <a:path w="952500" h="3322954">
                <a:moveTo>
                  <a:pt x="438094" y="1028977"/>
                </a:moveTo>
                <a:lnTo>
                  <a:pt x="454169" y="1043090"/>
                </a:lnTo>
                <a:lnTo>
                  <a:pt x="466141" y="1060011"/>
                </a:lnTo>
                <a:lnTo>
                  <a:pt x="473615" y="1079009"/>
                </a:lnTo>
                <a:lnTo>
                  <a:pt x="476194" y="1099354"/>
                </a:lnTo>
                <a:lnTo>
                  <a:pt x="478773" y="1079009"/>
                </a:lnTo>
                <a:lnTo>
                  <a:pt x="486247" y="1060011"/>
                </a:lnTo>
                <a:lnTo>
                  <a:pt x="498219" y="1043090"/>
                </a:lnTo>
                <a:lnTo>
                  <a:pt x="514294" y="1028977"/>
                </a:lnTo>
              </a:path>
              <a:path w="952500" h="3322954">
                <a:moveTo>
                  <a:pt x="476194" y="3201219"/>
                </a:moveTo>
                <a:lnTo>
                  <a:pt x="476194" y="3322890"/>
                </a:lnTo>
              </a:path>
              <a:path w="952500" h="3322954">
                <a:moveTo>
                  <a:pt x="438094" y="3252514"/>
                </a:moveTo>
                <a:lnTo>
                  <a:pt x="454169" y="3266626"/>
                </a:lnTo>
                <a:lnTo>
                  <a:pt x="466141" y="3283547"/>
                </a:lnTo>
                <a:lnTo>
                  <a:pt x="473615" y="3302545"/>
                </a:lnTo>
                <a:lnTo>
                  <a:pt x="476194" y="3322890"/>
                </a:lnTo>
                <a:lnTo>
                  <a:pt x="478773" y="3302545"/>
                </a:lnTo>
                <a:lnTo>
                  <a:pt x="486247" y="3283547"/>
                </a:lnTo>
                <a:lnTo>
                  <a:pt x="498219" y="3266626"/>
                </a:lnTo>
                <a:lnTo>
                  <a:pt x="514294" y="3252514"/>
                </a:lnTo>
              </a:path>
              <a:path w="952500" h="3322954">
                <a:moveTo>
                  <a:pt x="846419" y="293202"/>
                </a:moveTo>
                <a:lnTo>
                  <a:pt x="887609" y="285514"/>
                </a:lnTo>
                <a:lnTo>
                  <a:pt x="921259" y="264554"/>
                </a:lnTo>
                <a:lnTo>
                  <a:pt x="943953" y="233475"/>
                </a:lnTo>
                <a:lnTo>
                  <a:pt x="952277" y="195433"/>
                </a:lnTo>
                <a:lnTo>
                  <a:pt x="952277" y="97768"/>
                </a:lnTo>
                <a:lnTo>
                  <a:pt x="943953" y="59726"/>
                </a:lnTo>
                <a:lnTo>
                  <a:pt x="921259" y="28648"/>
                </a:lnTo>
                <a:lnTo>
                  <a:pt x="887609" y="7687"/>
                </a:lnTo>
                <a:lnTo>
                  <a:pt x="846419" y="0"/>
                </a:lnTo>
                <a:lnTo>
                  <a:pt x="105858" y="0"/>
                </a:lnTo>
                <a:lnTo>
                  <a:pt x="64668" y="7687"/>
                </a:lnTo>
                <a:lnTo>
                  <a:pt x="31018" y="28648"/>
                </a:lnTo>
                <a:lnTo>
                  <a:pt x="8323" y="59726"/>
                </a:lnTo>
                <a:lnTo>
                  <a:pt x="0" y="97768"/>
                </a:lnTo>
                <a:lnTo>
                  <a:pt x="0" y="195433"/>
                </a:lnTo>
                <a:lnTo>
                  <a:pt x="8323" y="233475"/>
                </a:lnTo>
                <a:lnTo>
                  <a:pt x="31018" y="264554"/>
                </a:lnTo>
                <a:lnTo>
                  <a:pt x="64668" y="285514"/>
                </a:lnTo>
                <a:lnTo>
                  <a:pt x="105858" y="293202"/>
                </a:lnTo>
                <a:lnTo>
                  <a:pt x="846419" y="293202"/>
                </a:lnTo>
                <a:close/>
              </a:path>
            </a:pathLst>
          </a:custGeom>
          <a:ln w="814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3057129" y="2292339"/>
            <a:ext cx="648970" cy="14287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750" spc="40">
                <a:latin typeface="Arial MT"/>
                <a:cs typeface="Arial MT"/>
              </a:rPr>
              <a:t>Analyze</a:t>
            </a:r>
            <a:r>
              <a:rPr dirty="0" sz="750" spc="-35">
                <a:latin typeface="Arial MT"/>
                <a:cs typeface="Arial MT"/>
              </a:rPr>
              <a:t> </a:t>
            </a:r>
            <a:r>
              <a:rPr dirty="0" sz="750" spc="55">
                <a:latin typeface="Arial MT"/>
                <a:cs typeface="Arial MT"/>
              </a:rPr>
              <a:t>SRS</a:t>
            </a:r>
            <a:endParaRPr sz="750">
              <a:latin typeface="Arial MT"/>
              <a:cs typeface="Arial MT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2742540" y="2637618"/>
            <a:ext cx="1278255" cy="986155"/>
            <a:chOff x="2742540" y="2637618"/>
            <a:chExt cx="1278255" cy="986155"/>
          </a:xfrm>
        </p:grpSpPr>
        <p:sp>
          <p:nvSpPr>
            <p:cNvPr id="21" name="object 21"/>
            <p:cNvSpPr/>
            <p:nvPr/>
          </p:nvSpPr>
          <p:spPr>
            <a:xfrm>
              <a:off x="2746667" y="2910884"/>
              <a:ext cx="1270000" cy="293370"/>
            </a:xfrm>
            <a:custGeom>
              <a:avLst/>
              <a:gdLst/>
              <a:ahLst/>
              <a:cxnLst/>
              <a:rect l="l" t="t" r="r" b="b"/>
              <a:pathLst>
                <a:path w="1270000" h="293369">
                  <a:moveTo>
                    <a:pt x="1163805" y="293099"/>
                  </a:moveTo>
                  <a:lnTo>
                    <a:pt x="1204994" y="285427"/>
                  </a:lnTo>
                  <a:lnTo>
                    <a:pt x="1238644" y="264502"/>
                  </a:lnTo>
                  <a:lnTo>
                    <a:pt x="1261339" y="233459"/>
                  </a:lnTo>
                  <a:lnTo>
                    <a:pt x="1269663" y="195433"/>
                  </a:lnTo>
                  <a:lnTo>
                    <a:pt x="1269663" y="97665"/>
                  </a:lnTo>
                  <a:lnTo>
                    <a:pt x="1261339" y="59640"/>
                  </a:lnTo>
                  <a:lnTo>
                    <a:pt x="1238644" y="28596"/>
                  </a:lnTo>
                  <a:lnTo>
                    <a:pt x="1204994" y="7671"/>
                  </a:lnTo>
                  <a:lnTo>
                    <a:pt x="1163805" y="0"/>
                  </a:lnTo>
                  <a:lnTo>
                    <a:pt x="105802" y="0"/>
                  </a:lnTo>
                  <a:lnTo>
                    <a:pt x="64617" y="7671"/>
                  </a:lnTo>
                  <a:lnTo>
                    <a:pt x="30986" y="28596"/>
                  </a:lnTo>
                  <a:lnTo>
                    <a:pt x="8313" y="59640"/>
                  </a:lnTo>
                  <a:lnTo>
                    <a:pt x="0" y="97665"/>
                  </a:lnTo>
                  <a:lnTo>
                    <a:pt x="0" y="195433"/>
                  </a:lnTo>
                  <a:lnTo>
                    <a:pt x="8313" y="233459"/>
                  </a:lnTo>
                  <a:lnTo>
                    <a:pt x="30986" y="264502"/>
                  </a:lnTo>
                  <a:lnTo>
                    <a:pt x="64617" y="285427"/>
                  </a:lnTo>
                  <a:lnTo>
                    <a:pt x="105802" y="293099"/>
                  </a:lnTo>
                  <a:lnTo>
                    <a:pt x="1163805" y="293099"/>
                  </a:lnTo>
                  <a:close/>
                </a:path>
              </a:pathLst>
            </a:custGeom>
            <a:ln w="78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2" name="object 2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98024" y="2637618"/>
              <a:ext cx="168649" cy="277498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2799563" y="3326169"/>
              <a:ext cx="1163955" cy="293370"/>
            </a:xfrm>
            <a:custGeom>
              <a:avLst/>
              <a:gdLst/>
              <a:ahLst/>
              <a:cxnLst/>
              <a:rect l="l" t="t" r="r" b="b"/>
              <a:pathLst>
                <a:path w="1163954" h="293370">
                  <a:moveTo>
                    <a:pt x="1058035" y="293202"/>
                  </a:moveTo>
                  <a:lnTo>
                    <a:pt x="1099207" y="285514"/>
                  </a:lnTo>
                  <a:lnTo>
                    <a:pt x="1132819" y="264554"/>
                  </a:lnTo>
                  <a:lnTo>
                    <a:pt x="1155476" y="233475"/>
                  </a:lnTo>
                  <a:lnTo>
                    <a:pt x="1163782" y="195433"/>
                  </a:lnTo>
                  <a:lnTo>
                    <a:pt x="1163782" y="97768"/>
                  </a:lnTo>
                  <a:lnTo>
                    <a:pt x="1155476" y="59683"/>
                  </a:lnTo>
                  <a:lnTo>
                    <a:pt x="1132819" y="28609"/>
                  </a:lnTo>
                  <a:lnTo>
                    <a:pt x="1099207" y="7673"/>
                  </a:lnTo>
                  <a:lnTo>
                    <a:pt x="1058035" y="0"/>
                  </a:lnTo>
                  <a:lnTo>
                    <a:pt x="105758" y="0"/>
                  </a:lnTo>
                  <a:lnTo>
                    <a:pt x="64603" y="7673"/>
                  </a:lnTo>
                  <a:lnTo>
                    <a:pt x="30985" y="28609"/>
                  </a:lnTo>
                  <a:lnTo>
                    <a:pt x="8314" y="59683"/>
                  </a:lnTo>
                  <a:lnTo>
                    <a:pt x="0" y="97768"/>
                  </a:lnTo>
                  <a:lnTo>
                    <a:pt x="0" y="195433"/>
                  </a:lnTo>
                  <a:lnTo>
                    <a:pt x="8314" y="233475"/>
                  </a:lnTo>
                  <a:lnTo>
                    <a:pt x="30985" y="264554"/>
                  </a:lnTo>
                  <a:lnTo>
                    <a:pt x="64603" y="285514"/>
                  </a:lnTo>
                  <a:lnTo>
                    <a:pt x="105758" y="293202"/>
                  </a:lnTo>
                  <a:lnTo>
                    <a:pt x="1058035" y="293202"/>
                  </a:lnTo>
                  <a:close/>
                </a:path>
              </a:pathLst>
            </a:custGeom>
            <a:ln w="785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" name="object 24"/>
          <p:cNvSpPr txBox="1"/>
          <p:nvPr/>
        </p:nvSpPr>
        <p:spPr>
          <a:xfrm>
            <a:off x="2804191" y="2917728"/>
            <a:ext cx="1155065" cy="6756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L="12065" marR="5080" indent="-635">
              <a:lnSpc>
                <a:spcPct val="102600"/>
              </a:lnSpc>
              <a:spcBef>
                <a:spcPts val="95"/>
              </a:spcBef>
            </a:pPr>
            <a:r>
              <a:rPr dirty="0" sz="750" spc="40">
                <a:latin typeface="Arial MT"/>
                <a:cs typeface="Arial MT"/>
              </a:rPr>
              <a:t>Generate/Improve </a:t>
            </a:r>
            <a:r>
              <a:rPr dirty="0" sz="750" spc="45">
                <a:latin typeface="Arial MT"/>
                <a:cs typeface="Arial MT"/>
              </a:rPr>
              <a:t> </a:t>
            </a:r>
            <a:r>
              <a:rPr dirty="0" sz="750" spc="40">
                <a:latin typeface="Arial MT"/>
                <a:cs typeface="Arial MT"/>
              </a:rPr>
              <a:t>Candidate</a:t>
            </a:r>
            <a:r>
              <a:rPr dirty="0" sz="750" spc="-40">
                <a:latin typeface="Arial MT"/>
                <a:cs typeface="Arial MT"/>
              </a:rPr>
              <a:t> </a:t>
            </a:r>
            <a:r>
              <a:rPr dirty="0" sz="750" spc="35">
                <a:latin typeface="Arial MT"/>
                <a:cs typeface="Arial MT"/>
              </a:rPr>
              <a:t>Architectures</a:t>
            </a:r>
            <a:endParaRPr sz="75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800">
              <a:latin typeface="Arial MT"/>
              <a:cs typeface="Arial MT"/>
            </a:endParaRPr>
          </a:p>
          <a:p>
            <a:pPr algn="ctr" marL="115570" marR="107314">
              <a:lnSpc>
                <a:spcPct val="102600"/>
              </a:lnSpc>
              <a:spcBef>
                <a:spcPts val="505"/>
              </a:spcBef>
            </a:pPr>
            <a:r>
              <a:rPr dirty="0" sz="750" spc="35">
                <a:latin typeface="Arial MT"/>
                <a:cs typeface="Arial MT"/>
              </a:rPr>
              <a:t>Evaluate</a:t>
            </a:r>
            <a:r>
              <a:rPr dirty="0" sz="750" spc="-25">
                <a:latin typeface="Arial MT"/>
                <a:cs typeface="Arial MT"/>
              </a:rPr>
              <a:t> </a:t>
            </a:r>
            <a:r>
              <a:rPr dirty="0" sz="750" spc="40">
                <a:latin typeface="Arial MT"/>
                <a:cs typeface="Arial MT"/>
              </a:rPr>
              <a:t>Candidate </a:t>
            </a:r>
            <a:r>
              <a:rPr dirty="0" sz="750" spc="-195">
                <a:latin typeface="Arial MT"/>
                <a:cs typeface="Arial MT"/>
              </a:rPr>
              <a:t> </a:t>
            </a:r>
            <a:r>
              <a:rPr dirty="0" sz="750" spc="35">
                <a:latin typeface="Arial MT"/>
                <a:cs typeface="Arial MT"/>
              </a:rPr>
              <a:t>Architectures</a:t>
            </a:r>
            <a:endParaRPr sz="750">
              <a:latin typeface="Arial MT"/>
              <a:cs typeface="Arial MT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2795436" y="2710492"/>
            <a:ext cx="1435100" cy="2037080"/>
            <a:chOff x="2795436" y="2710492"/>
            <a:chExt cx="1435100" cy="2037080"/>
          </a:xfrm>
        </p:grpSpPr>
        <p:sp>
          <p:nvSpPr>
            <p:cNvPr id="26" name="object 26"/>
            <p:cNvSpPr/>
            <p:nvPr/>
          </p:nvSpPr>
          <p:spPr>
            <a:xfrm>
              <a:off x="2852470" y="3619371"/>
              <a:ext cx="1058545" cy="415290"/>
            </a:xfrm>
            <a:custGeom>
              <a:avLst/>
              <a:gdLst/>
              <a:ahLst/>
              <a:cxnLst/>
              <a:rect l="l" t="t" r="r" b="b"/>
              <a:pathLst>
                <a:path w="1058545" h="415289">
                  <a:moveTo>
                    <a:pt x="529045" y="0"/>
                  </a:moveTo>
                  <a:lnTo>
                    <a:pt x="529045" y="122082"/>
                  </a:lnTo>
                </a:path>
                <a:path w="1058545" h="415289">
                  <a:moveTo>
                    <a:pt x="490945" y="51705"/>
                  </a:moveTo>
                  <a:lnTo>
                    <a:pt x="507020" y="65817"/>
                  </a:lnTo>
                  <a:lnTo>
                    <a:pt x="518993" y="82738"/>
                  </a:lnTo>
                  <a:lnTo>
                    <a:pt x="526466" y="101737"/>
                  </a:lnTo>
                  <a:lnTo>
                    <a:pt x="529045" y="122082"/>
                  </a:lnTo>
                  <a:lnTo>
                    <a:pt x="531624" y="101737"/>
                  </a:lnTo>
                  <a:lnTo>
                    <a:pt x="539098" y="82738"/>
                  </a:lnTo>
                  <a:lnTo>
                    <a:pt x="551070" y="65817"/>
                  </a:lnTo>
                  <a:lnTo>
                    <a:pt x="567145" y="51705"/>
                  </a:lnTo>
                </a:path>
                <a:path w="1058545" h="415289">
                  <a:moveTo>
                    <a:pt x="952255" y="415284"/>
                  </a:moveTo>
                  <a:lnTo>
                    <a:pt x="993427" y="407596"/>
                  </a:lnTo>
                  <a:lnTo>
                    <a:pt x="1027039" y="386636"/>
                  </a:lnTo>
                  <a:lnTo>
                    <a:pt x="1049695" y="355557"/>
                  </a:lnTo>
                  <a:lnTo>
                    <a:pt x="1058002" y="317516"/>
                  </a:lnTo>
                  <a:lnTo>
                    <a:pt x="1058002" y="219850"/>
                  </a:lnTo>
                  <a:lnTo>
                    <a:pt x="1049695" y="181808"/>
                  </a:lnTo>
                  <a:lnTo>
                    <a:pt x="1027039" y="150730"/>
                  </a:lnTo>
                  <a:lnTo>
                    <a:pt x="993427" y="129769"/>
                  </a:lnTo>
                  <a:lnTo>
                    <a:pt x="952255" y="122082"/>
                  </a:lnTo>
                  <a:lnTo>
                    <a:pt x="105835" y="122082"/>
                  </a:lnTo>
                  <a:lnTo>
                    <a:pt x="64649" y="129769"/>
                  </a:lnTo>
                  <a:lnTo>
                    <a:pt x="31007" y="150730"/>
                  </a:lnTo>
                  <a:lnTo>
                    <a:pt x="8320" y="181808"/>
                  </a:lnTo>
                  <a:lnTo>
                    <a:pt x="0" y="219850"/>
                  </a:lnTo>
                  <a:lnTo>
                    <a:pt x="0" y="317516"/>
                  </a:lnTo>
                  <a:lnTo>
                    <a:pt x="8320" y="355557"/>
                  </a:lnTo>
                  <a:lnTo>
                    <a:pt x="31007" y="386636"/>
                  </a:lnTo>
                  <a:lnTo>
                    <a:pt x="64649" y="407596"/>
                  </a:lnTo>
                  <a:lnTo>
                    <a:pt x="105835" y="415284"/>
                  </a:lnTo>
                  <a:lnTo>
                    <a:pt x="952255" y="415284"/>
                  </a:lnTo>
                  <a:close/>
                </a:path>
              </a:pathLst>
            </a:custGeom>
            <a:ln w="814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7" name="object 2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296247" y="4030423"/>
              <a:ext cx="168649" cy="423748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2799563" y="2714937"/>
              <a:ext cx="1426845" cy="2028189"/>
            </a:xfrm>
            <a:custGeom>
              <a:avLst/>
              <a:gdLst/>
              <a:ahLst/>
              <a:cxnLst/>
              <a:rect l="l" t="t" r="r" b="b"/>
              <a:pathLst>
                <a:path w="1426845" h="2028189">
                  <a:moveTo>
                    <a:pt x="661262" y="1515152"/>
                  </a:moveTo>
                  <a:lnTo>
                    <a:pt x="1426484" y="1515152"/>
                  </a:lnTo>
                  <a:lnTo>
                    <a:pt x="1426484" y="0"/>
                  </a:lnTo>
                </a:path>
                <a:path w="1426845" h="2028189">
                  <a:moveTo>
                    <a:pt x="1058035" y="2028102"/>
                  </a:moveTo>
                  <a:lnTo>
                    <a:pt x="1099207" y="2020430"/>
                  </a:lnTo>
                  <a:lnTo>
                    <a:pt x="1132819" y="1999505"/>
                  </a:lnTo>
                  <a:lnTo>
                    <a:pt x="1155476" y="1968462"/>
                  </a:lnTo>
                  <a:lnTo>
                    <a:pt x="1163782" y="1930436"/>
                  </a:lnTo>
                  <a:lnTo>
                    <a:pt x="1163782" y="1832668"/>
                  </a:lnTo>
                  <a:lnTo>
                    <a:pt x="1155476" y="1794642"/>
                  </a:lnTo>
                  <a:lnTo>
                    <a:pt x="1132819" y="1763599"/>
                  </a:lnTo>
                  <a:lnTo>
                    <a:pt x="1099207" y="1742674"/>
                  </a:lnTo>
                  <a:lnTo>
                    <a:pt x="1058035" y="1735002"/>
                  </a:lnTo>
                  <a:lnTo>
                    <a:pt x="105758" y="1735002"/>
                  </a:lnTo>
                  <a:lnTo>
                    <a:pt x="64603" y="1742674"/>
                  </a:lnTo>
                  <a:lnTo>
                    <a:pt x="30985" y="1763599"/>
                  </a:lnTo>
                  <a:lnTo>
                    <a:pt x="8314" y="1794642"/>
                  </a:lnTo>
                  <a:lnTo>
                    <a:pt x="0" y="1832668"/>
                  </a:lnTo>
                  <a:lnTo>
                    <a:pt x="0" y="1930436"/>
                  </a:lnTo>
                  <a:lnTo>
                    <a:pt x="8314" y="1968462"/>
                  </a:lnTo>
                  <a:lnTo>
                    <a:pt x="30985" y="1999505"/>
                  </a:lnTo>
                  <a:lnTo>
                    <a:pt x="64603" y="2020430"/>
                  </a:lnTo>
                  <a:lnTo>
                    <a:pt x="105758" y="2028102"/>
                  </a:lnTo>
                  <a:lnTo>
                    <a:pt x="1058035" y="2028102"/>
                  </a:lnTo>
                  <a:close/>
                </a:path>
              </a:pathLst>
            </a:custGeom>
            <a:ln w="814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9" name="object 29"/>
          <p:cNvSpPr txBox="1"/>
          <p:nvPr/>
        </p:nvSpPr>
        <p:spPr>
          <a:xfrm>
            <a:off x="2889511" y="3806978"/>
            <a:ext cx="1641475" cy="85153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47625">
              <a:lnSpc>
                <a:spcPct val="100000"/>
              </a:lnSpc>
              <a:spcBef>
                <a:spcPts val="120"/>
              </a:spcBef>
            </a:pPr>
            <a:r>
              <a:rPr dirty="0" sz="750" spc="35">
                <a:latin typeface="Arial MT"/>
                <a:cs typeface="Arial MT"/>
              </a:rPr>
              <a:t>Select</a:t>
            </a:r>
            <a:r>
              <a:rPr dirty="0" sz="750" spc="-15">
                <a:latin typeface="Arial MT"/>
                <a:cs typeface="Arial MT"/>
              </a:rPr>
              <a:t> </a:t>
            </a:r>
            <a:r>
              <a:rPr dirty="0" sz="750" spc="35">
                <a:latin typeface="Arial MT"/>
                <a:cs typeface="Arial MT"/>
              </a:rPr>
              <a:t>Architecture</a:t>
            </a:r>
            <a:endParaRPr sz="7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050">
              <a:latin typeface="Arial MT"/>
              <a:cs typeface="Arial MT"/>
            </a:endParaRPr>
          </a:p>
          <a:p>
            <a:pPr algn="ctr" marR="146685">
              <a:lnSpc>
                <a:spcPct val="100000"/>
              </a:lnSpc>
            </a:pPr>
            <a:r>
              <a:rPr dirty="0" sz="750" spc="30">
                <a:latin typeface="Arial MT"/>
                <a:cs typeface="Arial MT"/>
              </a:rPr>
              <a:t>[else]</a:t>
            </a:r>
            <a:endParaRPr sz="750">
              <a:latin typeface="Arial MT"/>
              <a:cs typeface="Arial MT"/>
            </a:endParaRPr>
          </a:p>
          <a:p>
            <a:pPr marL="12700" marR="5080" indent="532765">
              <a:lnSpc>
                <a:spcPts val="1830"/>
              </a:lnSpc>
            </a:pPr>
            <a:r>
              <a:rPr dirty="0" sz="750" spc="35">
                <a:latin typeface="Arial MT"/>
                <a:cs typeface="Arial MT"/>
              </a:rPr>
              <a:t>[adequate </a:t>
            </a:r>
            <a:r>
              <a:rPr dirty="0" sz="750" spc="30">
                <a:latin typeface="Arial MT"/>
                <a:cs typeface="Arial MT"/>
              </a:rPr>
              <a:t>architecture] </a:t>
            </a:r>
            <a:r>
              <a:rPr dirty="0" sz="750" spc="-195">
                <a:latin typeface="Arial MT"/>
                <a:cs typeface="Arial MT"/>
              </a:rPr>
              <a:t> </a:t>
            </a:r>
            <a:r>
              <a:rPr dirty="0" sz="750" spc="35">
                <a:latin typeface="Arial MT"/>
                <a:cs typeface="Arial MT"/>
              </a:rPr>
              <a:t>Finalize</a:t>
            </a:r>
            <a:r>
              <a:rPr dirty="0" sz="750" spc="15">
                <a:latin typeface="Arial MT"/>
                <a:cs typeface="Arial MT"/>
              </a:rPr>
              <a:t> </a:t>
            </a:r>
            <a:r>
              <a:rPr dirty="0" sz="750" spc="35">
                <a:latin typeface="Arial MT"/>
                <a:cs typeface="Arial MT"/>
              </a:rPr>
              <a:t>Architecture</a:t>
            </a:r>
            <a:endParaRPr sz="750">
              <a:latin typeface="Arial MT"/>
              <a:cs typeface="Arial MT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2689633" y="4738594"/>
            <a:ext cx="1543050" cy="1108710"/>
            <a:chOff x="2689633" y="4738594"/>
            <a:chExt cx="1543050" cy="1108710"/>
          </a:xfrm>
        </p:grpSpPr>
        <p:sp>
          <p:nvSpPr>
            <p:cNvPr id="31" name="object 31"/>
            <p:cNvSpPr/>
            <p:nvPr/>
          </p:nvSpPr>
          <p:spPr>
            <a:xfrm>
              <a:off x="2693761" y="4743039"/>
              <a:ext cx="1534795" cy="685165"/>
            </a:xfrm>
            <a:custGeom>
              <a:avLst/>
              <a:gdLst/>
              <a:ahLst/>
              <a:cxnLst/>
              <a:rect l="l" t="t" r="r" b="b"/>
              <a:pathLst>
                <a:path w="1534795" h="685164">
                  <a:moveTo>
                    <a:pt x="1269585" y="684993"/>
                  </a:moveTo>
                  <a:lnTo>
                    <a:pt x="1310774" y="677305"/>
                  </a:lnTo>
                  <a:lnTo>
                    <a:pt x="1344424" y="656345"/>
                  </a:lnTo>
                  <a:lnTo>
                    <a:pt x="1367119" y="625266"/>
                  </a:lnTo>
                  <a:lnTo>
                    <a:pt x="1375443" y="587225"/>
                  </a:lnTo>
                  <a:lnTo>
                    <a:pt x="1375443" y="489559"/>
                  </a:lnTo>
                  <a:lnTo>
                    <a:pt x="1367119" y="451517"/>
                  </a:lnTo>
                  <a:lnTo>
                    <a:pt x="1344424" y="420439"/>
                  </a:lnTo>
                  <a:lnTo>
                    <a:pt x="1310774" y="399479"/>
                  </a:lnTo>
                  <a:lnTo>
                    <a:pt x="1269585" y="391791"/>
                  </a:lnTo>
                  <a:lnTo>
                    <a:pt x="105802" y="391791"/>
                  </a:lnTo>
                  <a:lnTo>
                    <a:pt x="64621" y="399479"/>
                  </a:lnTo>
                  <a:lnTo>
                    <a:pt x="30990" y="420439"/>
                  </a:lnTo>
                  <a:lnTo>
                    <a:pt x="8315" y="451517"/>
                  </a:lnTo>
                  <a:lnTo>
                    <a:pt x="0" y="489559"/>
                  </a:lnTo>
                  <a:lnTo>
                    <a:pt x="0" y="587225"/>
                  </a:lnTo>
                  <a:lnTo>
                    <a:pt x="8315" y="625266"/>
                  </a:lnTo>
                  <a:lnTo>
                    <a:pt x="30990" y="656345"/>
                  </a:lnTo>
                  <a:lnTo>
                    <a:pt x="64621" y="677305"/>
                  </a:lnTo>
                  <a:lnTo>
                    <a:pt x="105802" y="684993"/>
                  </a:lnTo>
                  <a:lnTo>
                    <a:pt x="1269585" y="684993"/>
                  </a:lnTo>
                  <a:close/>
                </a:path>
                <a:path w="1534795" h="685164">
                  <a:moveTo>
                    <a:pt x="687754" y="0"/>
                  </a:moveTo>
                  <a:lnTo>
                    <a:pt x="688643" y="122184"/>
                  </a:lnTo>
                </a:path>
                <a:path w="1534795" h="685164">
                  <a:moveTo>
                    <a:pt x="649988" y="52013"/>
                  </a:moveTo>
                  <a:lnTo>
                    <a:pt x="666165" y="66050"/>
                  </a:lnTo>
                  <a:lnTo>
                    <a:pt x="678271" y="82905"/>
                  </a:lnTo>
                  <a:lnTo>
                    <a:pt x="685899" y="101857"/>
                  </a:lnTo>
                  <a:lnTo>
                    <a:pt x="688643" y="122184"/>
                  </a:lnTo>
                  <a:lnTo>
                    <a:pt x="691057" y="101822"/>
                  </a:lnTo>
                  <a:lnTo>
                    <a:pt x="698376" y="82777"/>
                  </a:lnTo>
                  <a:lnTo>
                    <a:pt x="710215" y="65790"/>
                  </a:lnTo>
                  <a:lnTo>
                    <a:pt x="726188" y="51602"/>
                  </a:lnTo>
                </a:path>
                <a:path w="1534795" h="685164">
                  <a:moveTo>
                    <a:pt x="1534174" y="196254"/>
                  </a:moveTo>
                  <a:lnTo>
                    <a:pt x="767065" y="196254"/>
                  </a:lnTo>
                </a:path>
              </a:pathLst>
            </a:custGeom>
            <a:ln w="814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2" name="object 3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298024" y="4861154"/>
              <a:ext cx="243072" cy="277909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2799563" y="5549705"/>
              <a:ext cx="1163955" cy="293370"/>
            </a:xfrm>
            <a:custGeom>
              <a:avLst/>
              <a:gdLst/>
              <a:ahLst/>
              <a:cxnLst/>
              <a:rect l="l" t="t" r="r" b="b"/>
              <a:pathLst>
                <a:path w="1163954" h="293370">
                  <a:moveTo>
                    <a:pt x="1058035" y="293099"/>
                  </a:moveTo>
                  <a:lnTo>
                    <a:pt x="1099207" y="285427"/>
                  </a:lnTo>
                  <a:lnTo>
                    <a:pt x="1132819" y="264502"/>
                  </a:lnTo>
                  <a:lnTo>
                    <a:pt x="1155476" y="233459"/>
                  </a:lnTo>
                  <a:lnTo>
                    <a:pt x="1163782" y="195433"/>
                  </a:lnTo>
                  <a:lnTo>
                    <a:pt x="1163782" y="97665"/>
                  </a:lnTo>
                  <a:lnTo>
                    <a:pt x="1155476" y="59640"/>
                  </a:lnTo>
                  <a:lnTo>
                    <a:pt x="1132819" y="28596"/>
                  </a:lnTo>
                  <a:lnTo>
                    <a:pt x="1099207" y="7671"/>
                  </a:lnTo>
                  <a:lnTo>
                    <a:pt x="1058035" y="0"/>
                  </a:lnTo>
                  <a:lnTo>
                    <a:pt x="105758" y="0"/>
                  </a:lnTo>
                  <a:lnTo>
                    <a:pt x="64603" y="7671"/>
                  </a:lnTo>
                  <a:lnTo>
                    <a:pt x="30985" y="28596"/>
                  </a:lnTo>
                  <a:lnTo>
                    <a:pt x="8314" y="59640"/>
                  </a:lnTo>
                  <a:lnTo>
                    <a:pt x="0" y="97665"/>
                  </a:lnTo>
                  <a:lnTo>
                    <a:pt x="0" y="195433"/>
                  </a:lnTo>
                  <a:lnTo>
                    <a:pt x="8314" y="233459"/>
                  </a:lnTo>
                  <a:lnTo>
                    <a:pt x="30985" y="264502"/>
                  </a:lnTo>
                  <a:lnTo>
                    <a:pt x="64603" y="285427"/>
                  </a:lnTo>
                  <a:lnTo>
                    <a:pt x="105758" y="293099"/>
                  </a:lnTo>
                  <a:lnTo>
                    <a:pt x="1058035" y="293099"/>
                  </a:lnTo>
                  <a:close/>
                </a:path>
              </a:pathLst>
            </a:custGeom>
            <a:ln w="785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4" name="object 34"/>
          <p:cNvSpPr txBox="1"/>
          <p:nvPr/>
        </p:nvSpPr>
        <p:spPr>
          <a:xfrm>
            <a:off x="2733623" y="5141674"/>
            <a:ext cx="1296035" cy="6750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L="12700" marR="5080">
              <a:lnSpc>
                <a:spcPct val="102600"/>
              </a:lnSpc>
              <a:spcBef>
                <a:spcPts val="95"/>
              </a:spcBef>
            </a:pPr>
            <a:r>
              <a:rPr dirty="0" sz="750" spc="40">
                <a:latin typeface="Arial MT"/>
                <a:cs typeface="Arial MT"/>
              </a:rPr>
              <a:t>Generate/Improve</a:t>
            </a:r>
            <a:r>
              <a:rPr dirty="0" sz="750" spc="-45">
                <a:latin typeface="Arial MT"/>
                <a:cs typeface="Arial MT"/>
              </a:rPr>
              <a:t> </a:t>
            </a:r>
            <a:r>
              <a:rPr dirty="0" sz="750" spc="35">
                <a:latin typeface="Arial MT"/>
                <a:cs typeface="Arial MT"/>
              </a:rPr>
              <a:t>Detailed </a:t>
            </a:r>
            <a:r>
              <a:rPr dirty="0" sz="750" spc="-190">
                <a:latin typeface="Arial MT"/>
                <a:cs typeface="Arial MT"/>
              </a:rPr>
              <a:t> </a:t>
            </a:r>
            <a:r>
              <a:rPr dirty="0" sz="750" spc="40">
                <a:latin typeface="Arial MT"/>
                <a:cs typeface="Arial MT"/>
              </a:rPr>
              <a:t>Design</a:t>
            </a:r>
            <a:r>
              <a:rPr dirty="0" sz="750" spc="10">
                <a:latin typeface="Arial MT"/>
                <a:cs typeface="Arial MT"/>
              </a:rPr>
              <a:t> </a:t>
            </a:r>
            <a:r>
              <a:rPr dirty="0" sz="750" spc="35">
                <a:latin typeface="Arial MT"/>
                <a:cs typeface="Arial MT"/>
              </a:rPr>
              <a:t>Alternatives</a:t>
            </a:r>
            <a:endParaRPr sz="75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800">
              <a:latin typeface="Arial MT"/>
              <a:cs typeface="Arial MT"/>
            </a:endParaRPr>
          </a:p>
          <a:p>
            <a:pPr algn="ctr" marL="191770" marR="184150" indent="-635">
              <a:lnSpc>
                <a:spcPct val="102600"/>
              </a:lnSpc>
              <a:spcBef>
                <a:spcPts val="500"/>
              </a:spcBef>
            </a:pPr>
            <a:r>
              <a:rPr dirty="0" sz="750" spc="35">
                <a:latin typeface="Arial MT"/>
                <a:cs typeface="Arial MT"/>
              </a:rPr>
              <a:t>Evaluate Detailed </a:t>
            </a:r>
            <a:r>
              <a:rPr dirty="0" sz="750" spc="40">
                <a:latin typeface="Arial MT"/>
                <a:cs typeface="Arial MT"/>
              </a:rPr>
              <a:t> </a:t>
            </a:r>
            <a:r>
              <a:rPr dirty="0" sz="750" spc="50">
                <a:latin typeface="Arial MT"/>
                <a:cs typeface="Arial MT"/>
              </a:rPr>
              <a:t>De</a:t>
            </a:r>
            <a:r>
              <a:rPr dirty="0" sz="750" spc="40">
                <a:latin typeface="Arial MT"/>
                <a:cs typeface="Arial MT"/>
              </a:rPr>
              <a:t>s</a:t>
            </a:r>
            <a:r>
              <a:rPr dirty="0" sz="750" spc="15">
                <a:latin typeface="Arial MT"/>
                <a:cs typeface="Arial MT"/>
              </a:rPr>
              <a:t>i</a:t>
            </a:r>
            <a:r>
              <a:rPr dirty="0" sz="750" spc="45">
                <a:latin typeface="Arial MT"/>
                <a:cs typeface="Arial MT"/>
              </a:rPr>
              <a:t>gn</a:t>
            </a:r>
            <a:r>
              <a:rPr dirty="0" sz="750" spc="20">
                <a:latin typeface="Arial MT"/>
                <a:cs typeface="Arial MT"/>
              </a:rPr>
              <a:t> </a:t>
            </a:r>
            <a:r>
              <a:rPr dirty="0" sz="750" spc="55">
                <a:latin typeface="Arial MT"/>
                <a:cs typeface="Arial MT"/>
              </a:rPr>
              <a:t>A</a:t>
            </a:r>
            <a:r>
              <a:rPr dirty="0" sz="750" spc="15">
                <a:latin typeface="Arial MT"/>
                <a:cs typeface="Arial MT"/>
              </a:rPr>
              <a:t>l</a:t>
            </a:r>
            <a:r>
              <a:rPr dirty="0" sz="750" spc="15">
                <a:latin typeface="Arial MT"/>
                <a:cs typeface="Arial MT"/>
              </a:rPr>
              <a:t>t</a:t>
            </a:r>
            <a:r>
              <a:rPr dirty="0" sz="750" spc="45">
                <a:latin typeface="Arial MT"/>
                <a:cs typeface="Arial MT"/>
              </a:rPr>
              <a:t>e</a:t>
            </a:r>
            <a:r>
              <a:rPr dirty="0" sz="750" spc="25">
                <a:latin typeface="Arial MT"/>
                <a:cs typeface="Arial MT"/>
              </a:rPr>
              <a:t>r</a:t>
            </a:r>
            <a:r>
              <a:rPr dirty="0" sz="750" spc="45">
                <a:latin typeface="Arial MT"/>
                <a:cs typeface="Arial MT"/>
              </a:rPr>
              <a:t>na</a:t>
            </a:r>
            <a:r>
              <a:rPr dirty="0" sz="750" spc="15">
                <a:latin typeface="Arial MT"/>
                <a:cs typeface="Arial MT"/>
              </a:rPr>
              <a:t>t</a:t>
            </a:r>
            <a:r>
              <a:rPr dirty="0" sz="750" spc="15">
                <a:latin typeface="Arial MT"/>
                <a:cs typeface="Arial MT"/>
              </a:rPr>
              <a:t>i</a:t>
            </a:r>
            <a:r>
              <a:rPr dirty="0" sz="750" spc="40">
                <a:latin typeface="Arial MT"/>
                <a:cs typeface="Arial MT"/>
              </a:rPr>
              <a:t>v</a:t>
            </a:r>
            <a:r>
              <a:rPr dirty="0" sz="750" spc="45">
                <a:latin typeface="Arial MT"/>
                <a:cs typeface="Arial MT"/>
              </a:rPr>
              <a:t>e</a:t>
            </a:r>
            <a:r>
              <a:rPr dirty="0" sz="750" spc="40">
                <a:latin typeface="Arial MT"/>
                <a:cs typeface="Arial MT"/>
              </a:rPr>
              <a:t>s</a:t>
            </a:r>
            <a:endParaRPr sz="750">
              <a:latin typeface="Arial MT"/>
              <a:cs typeface="Arial MT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2905321" y="5842804"/>
            <a:ext cx="952500" cy="415290"/>
          </a:xfrm>
          <a:custGeom>
            <a:avLst/>
            <a:gdLst/>
            <a:ahLst/>
            <a:cxnLst/>
            <a:rect l="l" t="t" r="r" b="b"/>
            <a:pathLst>
              <a:path w="952500" h="415289">
                <a:moveTo>
                  <a:pt x="476194" y="0"/>
                </a:moveTo>
                <a:lnTo>
                  <a:pt x="476194" y="121774"/>
                </a:lnTo>
              </a:path>
              <a:path w="952500" h="415289">
                <a:moveTo>
                  <a:pt x="438094" y="51397"/>
                </a:moveTo>
                <a:lnTo>
                  <a:pt x="454169" y="65510"/>
                </a:lnTo>
                <a:lnTo>
                  <a:pt x="466141" y="82431"/>
                </a:lnTo>
                <a:lnTo>
                  <a:pt x="473615" y="101429"/>
                </a:lnTo>
                <a:lnTo>
                  <a:pt x="476194" y="121774"/>
                </a:lnTo>
                <a:lnTo>
                  <a:pt x="478773" y="101429"/>
                </a:lnTo>
                <a:lnTo>
                  <a:pt x="486247" y="82431"/>
                </a:lnTo>
                <a:lnTo>
                  <a:pt x="498219" y="65510"/>
                </a:lnTo>
                <a:lnTo>
                  <a:pt x="514294" y="51397"/>
                </a:lnTo>
              </a:path>
              <a:path w="952500" h="415289">
                <a:moveTo>
                  <a:pt x="846419" y="414874"/>
                </a:moveTo>
                <a:lnTo>
                  <a:pt x="887609" y="407202"/>
                </a:lnTo>
                <a:lnTo>
                  <a:pt x="921259" y="386277"/>
                </a:lnTo>
                <a:lnTo>
                  <a:pt x="943953" y="355233"/>
                </a:lnTo>
                <a:lnTo>
                  <a:pt x="952277" y="317208"/>
                </a:lnTo>
                <a:lnTo>
                  <a:pt x="952277" y="219440"/>
                </a:lnTo>
                <a:lnTo>
                  <a:pt x="943953" y="181414"/>
                </a:lnTo>
                <a:lnTo>
                  <a:pt x="921259" y="150371"/>
                </a:lnTo>
                <a:lnTo>
                  <a:pt x="887609" y="129446"/>
                </a:lnTo>
                <a:lnTo>
                  <a:pt x="846419" y="121774"/>
                </a:lnTo>
                <a:lnTo>
                  <a:pt x="105858" y="121774"/>
                </a:lnTo>
                <a:lnTo>
                  <a:pt x="64668" y="129446"/>
                </a:lnTo>
                <a:lnTo>
                  <a:pt x="31018" y="150371"/>
                </a:lnTo>
                <a:lnTo>
                  <a:pt x="8323" y="181414"/>
                </a:lnTo>
                <a:lnTo>
                  <a:pt x="0" y="219440"/>
                </a:lnTo>
                <a:lnTo>
                  <a:pt x="0" y="317208"/>
                </a:lnTo>
                <a:lnTo>
                  <a:pt x="8323" y="355233"/>
                </a:lnTo>
                <a:lnTo>
                  <a:pt x="31018" y="386277"/>
                </a:lnTo>
                <a:lnTo>
                  <a:pt x="64668" y="407202"/>
                </a:lnTo>
                <a:lnTo>
                  <a:pt x="105858" y="414874"/>
                </a:lnTo>
                <a:lnTo>
                  <a:pt x="846419" y="414874"/>
                </a:lnTo>
                <a:close/>
              </a:path>
            </a:pathLst>
          </a:custGeom>
          <a:ln w="814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 txBox="1"/>
          <p:nvPr/>
        </p:nvSpPr>
        <p:spPr>
          <a:xfrm>
            <a:off x="3012919" y="5971422"/>
            <a:ext cx="737235" cy="2603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03835" marR="5080" indent="-191770">
              <a:lnSpc>
                <a:spcPct val="102600"/>
              </a:lnSpc>
              <a:spcBef>
                <a:spcPts val="95"/>
              </a:spcBef>
            </a:pPr>
            <a:r>
              <a:rPr dirty="0" sz="750" spc="35">
                <a:latin typeface="Arial MT"/>
                <a:cs typeface="Arial MT"/>
              </a:rPr>
              <a:t>Select</a:t>
            </a:r>
            <a:r>
              <a:rPr dirty="0" sz="750" spc="-35">
                <a:latin typeface="Arial MT"/>
                <a:cs typeface="Arial MT"/>
              </a:rPr>
              <a:t> </a:t>
            </a:r>
            <a:r>
              <a:rPr dirty="0" sz="750" spc="35">
                <a:latin typeface="Arial MT"/>
                <a:cs typeface="Arial MT"/>
              </a:rPr>
              <a:t>Detailed </a:t>
            </a:r>
            <a:r>
              <a:rPr dirty="0" sz="750" spc="-195">
                <a:latin typeface="Arial MT"/>
                <a:cs typeface="Arial MT"/>
              </a:rPr>
              <a:t> </a:t>
            </a:r>
            <a:r>
              <a:rPr dirty="0" sz="750" spc="40">
                <a:latin typeface="Arial MT"/>
                <a:cs typeface="Arial MT"/>
              </a:rPr>
              <a:t>Design</a:t>
            </a:r>
            <a:endParaRPr sz="750">
              <a:latin typeface="Arial MT"/>
              <a:cs typeface="Arial MT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2901194" y="4934029"/>
            <a:ext cx="1329690" cy="2329815"/>
            <a:chOff x="2901194" y="4934029"/>
            <a:chExt cx="1329690" cy="2329815"/>
          </a:xfrm>
        </p:grpSpPr>
        <p:pic>
          <p:nvPicPr>
            <p:cNvPr id="38" name="object 3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296247" y="6253447"/>
              <a:ext cx="168649" cy="420527"/>
            </a:xfrm>
            <a:prstGeom prst="rect">
              <a:avLst/>
            </a:prstGeom>
          </p:spPr>
        </p:pic>
        <p:sp>
          <p:nvSpPr>
            <p:cNvPr id="39" name="object 39"/>
            <p:cNvSpPr/>
            <p:nvPr/>
          </p:nvSpPr>
          <p:spPr>
            <a:xfrm>
              <a:off x="3460826" y="4938474"/>
              <a:ext cx="765810" cy="1515110"/>
            </a:xfrm>
            <a:custGeom>
              <a:avLst/>
              <a:gdLst/>
              <a:ahLst/>
              <a:cxnLst/>
              <a:rect l="l" t="t" r="r" b="b"/>
              <a:pathLst>
                <a:path w="765810" h="1515110">
                  <a:moveTo>
                    <a:pt x="0" y="1514639"/>
                  </a:moveTo>
                  <a:lnTo>
                    <a:pt x="765221" y="1514639"/>
                  </a:lnTo>
                  <a:lnTo>
                    <a:pt x="765221" y="0"/>
                  </a:lnTo>
                </a:path>
              </a:pathLst>
            </a:custGeom>
            <a:ln w="83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0" name="object 4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298024" y="6665671"/>
              <a:ext cx="168649" cy="304695"/>
            </a:xfrm>
            <a:prstGeom prst="rect">
              <a:avLst/>
            </a:prstGeom>
          </p:spPr>
        </p:pic>
        <p:sp>
          <p:nvSpPr>
            <p:cNvPr id="41" name="object 41"/>
            <p:cNvSpPr/>
            <p:nvPr/>
          </p:nvSpPr>
          <p:spPr>
            <a:xfrm>
              <a:off x="2905321" y="6966135"/>
              <a:ext cx="952500" cy="293370"/>
            </a:xfrm>
            <a:custGeom>
              <a:avLst/>
              <a:gdLst/>
              <a:ahLst/>
              <a:cxnLst/>
              <a:rect l="l" t="t" r="r" b="b"/>
              <a:pathLst>
                <a:path w="952500" h="293370">
                  <a:moveTo>
                    <a:pt x="846419" y="293150"/>
                  </a:moveTo>
                  <a:lnTo>
                    <a:pt x="887609" y="285471"/>
                  </a:lnTo>
                  <a:lnTo>
                    <a:pt x="921259" y="264528"/>
                  </a:lnTo>
                  <a:lnTo>
                    <a:pt x="943953" y="233467"/>
                  </a:lnTo>
                  <a:lnTo>
                    <a:pt x="952277" y="195433"/>
                  </a:lnTo>
                  <a:lnTo>
                    <a:pt x="952277" y="97716"/>
                  </a:lnTo>
                  <a:lnTo>
                    <a:pt x="943953" y="59679"/>
                  </a:lnTo>
                  <a:lnTo>
                    <a:pt x="921259" y="28618"/>
                  </a:lnTo>
                  <a:lnTo>
                    <a:pt x="887609" y="7678"/>
                  </a:lnTo>
                  <a:lnTo>
                    <a:pt x="846419" y="0"/>
                  </a:lnTo>
                  <a:lnTo>
                    <a:pt x="105858" y="0"/>
                  </a:lnTo>
                  <a:lnTo>
                    <a:pt x="64668" y="7678"/>
                  </a:lnTo>
                  <a:lnTo>
                    <a:pt x="31018" y="28618"/>
                  </a:lnTo>
                  <a:lnTo>
                    <a:pt x="8323" y="59679"/>
                  </a:lnTo>
                  <a:lnTo>
                    <a:pt x="0" y="97716"/>
                  </a:lnTo>
                  <a:lnTo>
                    <a:pt x="0" y="195433"/>
                  </a:lnTo>
                  <a:lnTo>
                    <a:pt x="8323" y="233467"/>
                  </a:lnTo>
                  <a:lnTo>
                    <a:pt x="31018" y="264528"/>
                  </a:lnTo>
                  <a:lnTo>
                    <a:pt x="64668" y="285471"/>
                  </a:lnTo>
                  <a:lnTo>
                    <a:pt x="105858" y="293150"/>
                  </a:lnTo>
                  <a:lnTo>
                    <a:pt x="846419" y="293150"/>
                  </a:lnTo>
                  <a:close/>
                </a:path>
              </a:pathLst>
            </a:custGeom>
            <a:ln w="787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2" name="object 42"/>
          <p:cNvSpPr txBox="1"/>
          <p:nvPr/>
        </p:nvSpPr>
        <p:spPr>
          <a:xfrm>
            <a:off x="3007143" y="7031608"/>
            <a:ext cx="749300" cy="14287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750" spc="35">
                <a:latin typeface="Arial MT"/>
                <a:cs typeface="Arial MT"/>
              </a:rPr>
              <a:t>Finalize</a:t>
            </a:r>
            <a:r>
              <a:rPr dirty="0" sz="750" spc="-35">
                <a:latin typeface="Arial MT"/>
                <a:cs typeface="Arial MT"/>
              </a:rPr>
              <a:t> </a:t>
            </a:r>
            <a:r>
              <a:rPr dirty="0" sz="750" spc="40">
                <a:latin typeface="Arial MT"/>
                <a:cs typeface="Arial MT"/>
              </a:rPr>
              <a:t>Design</a:t>
            </a:r>
            <a:endParaRPr sz="750">
              <a:latin typeface="Arial MT"/>
              <a:cs typeface="Arial MT"/>
            </a:endParaRPr>
          </a:p>
        </p:txBody>
      </p:sp>
      <p:grpSp>
        <p:nvGrpSpPr>
          <p:cNvPr id="43" name="object 43"/>
          <p:cNvGrpSpPr/>
          <p:nvPr/>
        </p:nvGrpSpPr>
        <p:grpSpPr>
          <a:xfrm>
            <a:off x="2217655" y="2334156"/>
            <a:ext cx="2279015" cy="4818380"/>
            <a:chOff x="2217655" y="2334156"/>
            <a:chExt cx="2279015" cy="4818380"/>
          </a:xfrm>
        </p:grpSpPr>
        <p:sp>
          <p:nvSpPr>
            <p:cNvPr id="44" name="object 44"/>
            <p:cNvSpPr/>
            <p:nvPr/>
          </p:nvSpPr>
          <p:spPr>
            <a:xfrm>
              <a:off x="2217655" y="2373415"/>
              <a:ext cx="687705" cy="0"/>
            </a:xfrm>
            <a:custGeom>
              <a:avLst/>
              <a:gdLst/>
              <a:ahLst/>
              <a:cxnLst/>
              <a:rect l="l" t="t" r="r" b="b"/>
              <a:pathLst>
                <a:path w="687705" h="0">
                  <a:moveTo>
                    <a:pt x="0" y="0"/>
                  </a:moveTo>
                  <a:lnTo>
                    <a:pt x="687666" y="0"/>
                  </a:lnTo>
                </a:path>
              </a:pathLst>
            </a:custGeom>
            <a:ln w="781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5" name="object 4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825117" y="2334156"/>
              <a:ext cx="84274" cy="78517"/>
            </a:xfrm>
            <a:prstGeom prst="rect">
              <a:avLst/>
            </a:prstGeom>
          </p:spPr>
        </p:pic>
        <p:sp>
          <p:nvSpPr>
            <p:cNvPr id="46" name="object 46"/>
            <p:cNvSpPr/>
            <p:nvPr/>
          </p:nvSpPr>
          <p:spPr>
            <a:xfrm>
              <a:off x="3857599" y="7112705"/>
              <a:ext cx="635000" cy="0"/>
            </a:xfrm>
            <a:custGeom>
              <a:avLst/>
              <a:gdLst/>
              <a:ahLst/>
              <a:cxnLst/>
              <a:rect l="l" t="t" r="r" b="b"/>
              <a:pathLst>
                <a:path w="635000" h="0">
                  <a:moveTo>
                    <a:pt x="0" y="0"/>
                  </a:moveTo>
                  <a:lnTo>
                    <a:pt x="634814" y="0"/>
                  </a:lnTo>
                </a:path>
              </a:pathLst>
            </a:custGeom>
            <a:ln w="781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7" name="object 4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412144" y="7073456"/>
              <a:ext cx="84340" cy="78496"/>
            </a:xfrm>
            <a:prstGeom prst="rect">
              <a:avLst/>
            </a:prstGeom>
          </p:spPr>
        </p:pic>
        <p:sp>
          <p:nvSpPr>
            <p:cNvPr id="48" name="object 48"/>
            <p:cNvSpPr/>
            <p:nvPr/>
          </p:nvSpPr>
          <p:spPr>
            <a:xfrm>
              <a:off x="2535062" y="2715860"/>
              <a:ext cx="767080" cy="0"/>
            </a:xfrm>
            <a:custGeom>
              <a:avLst/>
              <a:gdLst/>
              <a:ahLst/>
              <a:cxnLst/>
              <a:rect l="l" t="t" r="r" b="b"/>
              <a:pathLst>
                <a:path w="767079" h="0">
                  <a:moveTo>
                    <a:pt x="0" y="0"/>
                  </a:moveTo>
                  <a:lnTo>
                    <a:pt x="767031" y="0"/>
                  </a:lnTo>
                </a:path>
              </a:pathLst>
            </a:custGeom>
            <a:ln w="781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9" name="object 4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221824" y="2676602"/>
              <a:ext cx="84340" cy="78414"/>
            </a:xfrm>
            <a:prstGeom prst="rect">
              <a:avLst/>
            </a:prstGeom>
          </p:spPr>
        </p:pic>
        <p:sp>
          <p:nvSpPr>
            <p:cNvPr id="50" name="object 50"/>
            <p:cNvSpPr/>
            <p:nvPr/>
          </p:nvSpPr>
          <p:spPr>
            <a:xfrm>
              <a:off x="2535062" y="2715450"/>
              <a:ext cx="767080" cy="4030979"/>
            </a:xfrm>
            <a:custGeom>
              <a:avLst/>
              <a:gdLst/>
              <a:ahLst/>
              <a:cxnLst/>
              <a:rect l="l" t="t" r="r" b="b"/>
              <a:pathLst>
                <a:path w="767079" h="4030979">
                  <a:moveTo>
                    <a:pt x="767031" y="4030813"/>
                  </a:moveTo>
                  <a:lnTo>
                    <a:pt x="0" y="4030813"/>
                  </a:lnTo>
                  <a:lnTo>
                    <a:pt x="0" y="0"/>
                  </a:lnTo>
                </a:path>
              </a:pathLst>
            </a:custGeom>
            <a:ln w="84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1" name="object 51"/>
          <p:cNvSpPr txBox="1"/>
          <p:nvPr/>
        </p:nvSpPr>
        <p:spPr>
          <a:xfrm>
            <a:off x="2977819" y="6298725"/>
            <a:ext cx="1711960" cy="63182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541655">
              <a:lnSpc>
                <a:spcPct val="100000"/>
              </a:lnSpc>
              <a:spcBef>
                <a:spcPts val="120"/>
              </a:spcBef>
            </a:pPr>
            <a:r>
              <a:rPr dirty="0" sz="750" spc="30">
                <a:latin typeface="Arial MT"/>
                <a:cs typeface="Arial MT"/>
              </a:rPr>
              <a:t>[else]</a:t>
            </a:r>
            <a:endParaRPr sz="7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600">
              <a:latin typeface="Arial MT"/>
              <a:cs typeface="Arial MT"/>
            </a:endParaRPr>
          </a:p>
          <a:p>
            <a:pPr marL="457200">
              <a:lnSpc>
                <a:spcPts val="785"/>
              </a:lnSpc>
              <a:spcBef>
                <a:spcPts val="5"/>
              </a:spcBef>
            </a:pPr>
            <a:r>
              <a:rPr dirty="0" sz="750" spc="35">
                <a:latin typeface="Arial MT"/>
                <a:cs typeface="Arial MT"/>
              </a:rPr>
              <a:t>[adequate</a:t>
            </a:r>
            <a:r>
              <a:rPr dirty="0" sz="750" spc="5">
                <a:latin typeface="Arial MT"/>
                <a:cs typeface="Arial MT"/>
              </a:rPr>
              <a:t> </a:t>
            </a:r>
            <a:r>
              <a:rPr dirty="0" sz="750" spc="35">
                <a:latin typeface="Arial MT"/>
                <a:cs typeface="Arial MT"/>
              </a:rPr>
              <a:t>detailed</a:t>
            </a:r>
            <a:r>
              <a:rPr dirty="0" sz="750" spc="10">
                <a:latin typeface="Arial MT"/>
                <a:cs typeface="Arial MT"/>
              </a:rPr>
              <a:t> </a:t>
            </a:r>
            <a:r>
              <a:rPr dirty="0" sz="750" spc="35">
                <a:latin typeface="Arial MT"/>
                <a:cs typeface="Arial MT"/>
              </a:rPr>
              <a:t>design]</a:t>
            </a:r>
            <a:endParaRPr sz="750">
              <a:latin typeface="Arial MT"/>
              <a:cs typeface="Arial MT"/>
            </a:endParaRPr>
          </a:p>
          <a:p>
            <a:pPr marL="12700">
              <a:lnSpc>
                <a:spcPts val="785"/>
              </a:lnSpc>
            </a:pPr>
            <a:r>
              <a:rPr dirty="0" sz="750" spc="30">
                <a:latin typeface="Arial MT"/>
                <a:cs typeface="Arial MT"/>
              </a:rPr>
              <a:t>[else]</a:t>
            </a:r>
            <a:endParaRPr sz="750">
              <a:latin typeface="Arial MT"/>
              <a:cs typeface="Arial MT"/>
            </a:endParaRPr>
          </a:p>
          <a:p>
            <a:pPr marL="457200">
              <a:lnSpc>
                <a:spcPct val="100000"/>
              </a:lnSpc>
              <a:spcBef>
                <a:spcPts val="635"/>
              </a:spcBef>
            </a:pPr>
            <a:r>
              <a:rPr dirty="0" sz="750" spc="35">
                <a:latin typeface="Arial MT"/>
                <a:cs typeface="Arial MT"/>
              </a:rPr>
              <a:t>[adequate</a:t>
            </a:r>
            <a:r>
              <a:rPr dirty="0" sz="750" spc="20">
                <a:latin typeface="Arial MT"/>
                <a:cs typeface="Arial MT"/>
              </a:rPr>
              <a:t> </a:t>
            </a:r>
            <a:r>
              <a:rPr dirty="0" sz="750" spc="30">
                <a:latin typeface="Arial MT"/>
                <a:cs typeface="Arial MT"/>
              </a:rPr>
              <a:t>architecture]</a:t>
            </a:r>
            <a:endParaRPr sz="750">
              <a:latin typeface="Arial MT"/>
              <a:cs typeface="Arial MT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5373120" y="5922487"/>
            <a:ext cx="414020" cy="2603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95"/>
              </a:spcBef>
            </a:pPr>
            <a:r>
              <a:rPr dirty="0" sz="750" spc="50">
                <a:latin typeface="Arial MT"/>
                <a:cs typeface="Arial MT"/>
              </a:rPr>
              <a:t>De</a:t>
            </a:r>
            <a:r>
              <a:rPr dirty="0" sz="750" spc="15">
                <a:latin typeface="Arial MT"/>
                <a:cs typeface="Arial MT"/>
              </a:rPr>
              <a:t>t</a:t>
            </a:r>
            <a:r>
              <a:rPr dirty="0" sz="750" spc="45">
                <a:latin typeface="Arial MT"/>
                <a:cs typeface="Arial MT"/>
              </a:rPr>
              <a:t>a</a:t>
            </a:r>
            <a:r>
              <a:rPr dirty="0" sz="750" spc="15">
                <a:latin typeface="Arial MT"/>
                <a:cs typeface="Arial MT"/>
              </a:rPr>
              <a:t>il</a:t>
            </a:r>
            <a:r>
              <a:rPr dirty="0" sz="750" spc="30">
                <a:latin typeface="Arial MT"/>
                <a:cs typeface="Arial MT"/>
              </a:rPr>
              <a:t>ed  </a:t>
            </a:r>
            <a:r>
              <a:rPr dirty="0" sz="750" spc="40">
                <a:latin typeface="Arial MT"/>
                <a:cs typeface="Arial MT"/>
              </a:rPr>
              <a:t>Design</a:t>
            </a:r>
            <a:endParaRPr sz="7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892556"/>
            <a:ext cx="3865245" cy="7658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115820">
              <a:lnSpc>
                <a:spcPct val="100000"/>
              </a:lnSpc>
              <a:spcBef>
                <a:spcPts val="100"/>
              </a:spcBef>
            </a:pPr>
            <a:r>
              <a:rPr dirty="0" sz="1100" spc="-5" b="1">
                <a:latin typeface="Calibri"/>
                <a:cs typeface="Calibri"/>
              </a:rPr>
              <a:t>Software</a:t>
            </a:r>
            <a:r>
              <a:rPr dirty="0" sz="1100" spc="-25" b="1">
                <a:latin typeface="Calibri"/>
                <a:cs typeface="Calibri"/>
              </a:rPr>
              <a:t> </a:t>
            </a:r>
            <a:r>
              <a:rPr dirty="0" sz="1100" spc="-5" b="1">
                <a:latin typeface="Calibri"/>
                <a:cs typeface="Calibri"/>
              </a:rPr>
              <a:t>design</a:t>
            </a:r>
            <a:r>
              <a:rPr dirty="0" sz="1100" spc="-20" b="1">
                <a:latin typeface="Calibri"/>
                <a:cs typeface="Calibri"/>
              </a:rPr>
              <a:t> </a:t>
            </a:r>
            <a:r>
              <a:rPr dirty="0" sz="1100" spc="-5" b="1">
                <a:latin typeface="Calibri"/>
                <a:cs typeface="Calibri"/>
              </a:rPr>
              <a:t>management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5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100" spc="-5" b="1">
                <a:latin typeface="Calibri"/>
                <a:cs typeface="Calibri"/>
              </a:rPr>
              <a:t>Design</a:t>
            </a:r>
            <a:r>
              <a:rPr dirty="0" sz="1100" spc="-25" b="1">
                <a:latin typeface="Calibri"/>
                <a:cs typeface="Calibri"/>
              </a:rPr>
              <a:t> </a:t>
            </a:r>
            <a:r>
              <a:rPr dirty="0" sz="1100" b="1">
                <a:latin typeface="Calibri"/>
                <a:cs typeface="Calibri"/>
              </a:rPr>
              <a:t>require</a:t>
            </a:r>
            <a:r>
              <a:rPr dirty="0" sz="1100" spc="-30" b="1">
                <a:latin typeface="Calibri"/>
                <a:cs typeface="Calibri"/>
              </a:rPr>
              <a:t> </a:t>
            </a:r>
            <a:r>
              <a:rPr dirty="0" sz="1100" spc="-5" b="1">
                <a:latin typeface="Calibri"/>
                <a:cs typeface="Calibri"/>
              </a:rPr>
              <a:t>management: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359153" y="2035810"/>
            <a:ext cx="3067685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>
                <a:latin typeface="Calibri"/>
                <a:cs typeface="Calibri"/>
              </a:rPr>
              <a:t>If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it is </a:t>
            </a:r>
            <a:r>
              <a:rPr dirty="0" sz="1100" spc="-5">
                <a:latin typeface="Calibri"/>
                <a:cs typeface="Calibri"/>
              </a:rPr>
              <a:t>simply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allowed</a:t>
            </a:r>
            <a:r>
              <a:rPr dirty="0" sz="1100" spc="-5">
                <a:latin typeface="Calibri"/>
                <a:cs typeface="Calibri"/>
              </a:rPr>
              <a:t> to “happen,”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the</a:t>
            </a:r>
            <a:r>
              <a:rPr dirty="0" sz="1100">
                <a:latin typeface="Calibri"/>
                <a:cs typeface="Calibri"/>
              </a:rPr>
              <a:t> result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is </a:t>
            </a:r>
            <a:r>
              <a:rPr dirty="0" sz="1100" spc="-5">
                <a:latin typeface="Calibri"/>
                <a:cs typeface="Calibri"/>
              </a:rPr>
              <a:t>chaos.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59153" y="2320798"/>
            <a:ext cx="3353435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>
                <a:latin typeface="Calibri"/>
                <a:cs typeface="Calibri"/>
              </a:rPr>
              <a:t>Chaos is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avoided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when </a:t>
            </a:r>
            <a:r>
              <a:rPr dirty="0" sz="1100" spc="-5">
                <a:latin typeface="Calibri"/>
                <a:cs typeface="Calibri"/>
              </a:rPr>
              <a:t>software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development</a:t>
            </a:r>
            <a:r>
              <a:rPr dirty="0" sz="110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is </a:t>
            </a:r>
            <a:r>
              <a:rPr dirty="0" sz="1100" spc="-5">
                <a:latin typeface="Calibri"/>
                <a:cs typeface="Calibri"/>
              </a:rPr>
              <a:t>managed.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30604" y="1749298"/>
            <a:ext cx="5309235" cy="10521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0665" indent="-228600">
              <a:lnSpc>
                <a:spcPct val="100000"/>
              </a:lnSpc>
              <a:spcBef>
                <a:spcPts val="100"/>
              </a:spcBef>
              <a:buFont typeface="Microsoft Sans Serif"/>
              <a:buChar char=""/>
              <a:tabLst>
                <a:tab pos="240665" algn="l"/>
                <a:tab pos="241300" algn="l"/>
              </a:tabLst>
            </a:pPr>
            <a:r>
              <a:rPr dirty="0" sz="1100" spc="-5">
                <a:latin typeface="Calibri"/>
                <a:cs typeface="Calibri"/>
              </a:rPr>
              <a:t>Software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development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is </a:t>
            </a:r>
            <a:r>
              <a:rPr dirty="0" sz="1100" spc="-5">
                <a:latin typeface="Calibri"/>
                <a:cs typeface="Calibri"/>
              </a:rPr>
              <a:t>complex,</a:t>
            </a:r>
            <a:r>
              <a:rPr dirty="0" sz="110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expensive,</a:t>
            </a:r>
            <a:r>
              <a:rPr dirty="0" sz="110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time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consuming</a:t>
            </a:r>
            <a:r>
              <a:rPr dirty="0" sz="110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done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by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groups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people.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40"/>
              </a:spcBef>
            </a:pPr>
            <a:r>
              <a:rPr dirty="0" sz="1100" spc="-155">
                <a:latin typeface="Microsoft Sans Serif"/>
                <a:cs typeface="Microsoft Sans Serif"/>
              </a:rPr>
              <a:t>🞂</a:t>
            </a:r>
            <a:endParaRPr sz="11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919"/>
              </a:spcBef>
            </a:pPr>
            <a:r>
              <a:rPr dirty="0" sz="1100" spc="-155">
                <a:latin typeface="Microsoft Sans Serif"/>
                <a:cs typeface="Microsoft Sans Serif"/>
              </a:rPr>
              <a:t>🞂</a:t>
            </a:r>
            <a:endParaRPr sz="11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940"/>
              </a:spcBef>
            </a:pPr>
            <a:r>
              <a:rPr dirty="0" sz="1100" spc="-155">
                <a:latin typeface="Microsoft Sans Serif"/>
                <a:cs typeface="Microsoft Sans Serif"/>
              </a:rPr>
              <a:t>🞂</a:t>
            </a:r>
            <a:endParaRPr sz="1100">
              <a:latin typeface="Microsoft Sans Serif"/>
              <a:cs typeface="Microsoft Sans Serif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59153" y="2592680"/>
            <a:ext cx="52705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9100"/>
              </a:lnSpc>
              <a:spcBef>
                <a:spcPts val="100"/>
              </a:spcBef>
            </a:pPr>
            <a:r>
              <a:rPr dirty="0" sz="1100" spc="-5">
                <a:latin typeface="Calibri"/>
                <a:cs typeface="Calibri"/>
              </a:rPr>
              <a:t>Software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development must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be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planned, </a:t>
            </a:r>
            <a:r>
              <a:rPr dirty="0" sz="1100">
                <a:latin typeface="Calibri"/>
                <a:cs typeface="Calibri"/>
              </a:rPr>
              <a:t>organized,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and </a:t>
            </a:r>
            <a:r>
              <a:rPr dirty="0" sz="1100">
                <a:latin typeface="Calibri"/>
                <a:cs typeface="Calibri"/>
              </a:rPr>
              <a:t>controlled,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 </a:t>
            </a:r>
            <a:r>
              <a:rPr dirty="0" sz="1100" spc="-5">
                <a:latin typeface="Calibri"/>
                <a:cs typeface="Calibri"/>
              </a:rPr>
              <a:t>people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involved </a:t>
            </a:r>
            <a:r>
              <a:rPr dirty="0" sz="1100" spc="-23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must</a:t>
            </a:r>
            <a:r>
              <a:rPr dirty="0" sz="110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be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led.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02004" y="3362071"/>
            <a:ext cx="5707380" cy="331660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">
                <a:latin typeface="Calibri"/>
                <a:cs typeface="Calibri"/>
              </a:rPr>
              <a:t>There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are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at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least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two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sorts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business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activities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that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must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be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managed.</a:t>
            </a:r>
            <a:endParaRPr sz="1100">
              <a:latin typeface="Calibri"/>
              <a:cs typeface="Calibri"/>
            </a:endParaRPr>
          </a:p>
          <a:p>
            <a:pPr marL="469265" indent="-228600">
              <a:lnSpc>
                <a:spcPct val="100000"/>
              </a:lnSpc>
              <a:spcBef>
                <a:spcPts val="940"/>
              </a:spcBef>
              <a:buFont typeface="Microsoft Sans Serif"/>
              <a:buChar char=""/>
              <a:tabLst>
                <a:tab pos="469265" algn="l"/>
                <a:tab pos="469900" algn="l"/>
              </a:tabLst>
            </a:pPr>
            <a:r>
              <a:rPr dirty="0" sz="1100" spc="-5" b="1">
                <a:latin typeface="Calibri"/>
                <a:cs typeface="Calibri"/>
              </a:rPr>
              <a:t>Operations</a:t>
            </a:r>
            <a:r>
              <a:rPr dirty="0" sz="1100" spc="15" b="1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are</a:t>
            </a:r>
            <a:r>
              <a:rPr dirty="0" sz="1100" spc="-5">
                <a:latin typeface="Calibri"/>
                <a:cs typeface="Calibri"/>
              </a:rPr>
              <a:t> standardized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activities</a:t>
            </a:r>
            <a:r>
              <a:rPr dirty="0" sz="1100">
                <a:latin typeface="Calibri"/>
                <a:cs typeface="Calibri"/>
              </a:rPr>
              <a:t> that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occur</a:t>
            </a:r>
            <a:r>
              <a:rPr dirty="0" sz="1100" spc="-5">
                <a:latin typeface="Calibri"/>
                <a:cs typeface="Calibri"/>
              </a:rPr>
              <a:t> continuously</a:t>
            </a:r>
            <a:r>
              <a:rPr dirty="0" sz="1100">
                <a:latin typeface="Calibri"/>
                <a:cs typeface="Calibri"/>
              </a:rPr>
              <a:t> or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at regular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intervals.</a:t>
            </a:r>
            <a:endParaRPr sz="1100">
              <a:latin typeface="Calibri"/>
              <a:cs typeface="Calibri"/>
            </a:endParaRPr>
          </a:p>
          <a:p>
            <a:pPr lvl="1" marL="1155065" indent="-229235">
              <a:lnSpc>
                <a:spcPct val="100000"/>
              </a:lnSpc>
              <a:spcBef>
                <a:spcPts val="919"/>
              </a:spcBef>
              <a:buAutoNum type="arabicParenR"/>
              <a:tabLst>
                <a:tab pos="1155700" algn="l"/>
              </a:tabLst>
            </a:pPr>
            <a:r>
              <a:rPr dirty="0" sz="1100" spc="-5">
                <a:latin typeface="Calibri"/>
                <a:cs typeface="Calibri"/>
              </a:rPr>
              <a:t>Hiring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performance</a:t>
            </a:r>
            <a:r>
              <a:rPr dirty="0" sz="110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review</a:t>
            </a:r>
            <a:endParaRPr sz="1100">
              <a:latin typeface="Calibri"/>
              <a:cs typeface="Calibri"/>
            </a:endParaRPr>
          </a:p>
          <a:p>
            <a:pPr lvl="1" marL="1155065" indent="-229235">
              <a:lnSpc>
                <a:spcPct val="100000"/>
              </a:lnSpc>
              <a:spcBef>
                <a:spcPts val="135"/>
              </a:spcBef>
              <a:buAutoNum type="arabicParenR"/>
              <a:tabLst>
                <a:tab pos="1155700" algn="l"/>
              </a:tabLst>
            </a:pPr>
            <a:r>
              <a:rPr dirty="0" sz="1100">
                <a:latin typeface="Calibri"/>
                <a:cs typeface="Calibri"/>
              </a:rPr>
              <a:t>Payroll</a:t>
            </a:r>
            <a:r>
              <a:rPr dirty="0" sz="1100" spc="-5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operations</a:t>
            </a:r>
            <a:endParaRPr sz="1100">
              <a:latin typeface="Calibri"/>
              <a:cs typeface="Calibri"/>
            </a:endParaRPr>
          </a:p>
          <a:p>
            <a:pPr lvl="1" marL="1155065" indent="-229235">
              <a:lnSpc>
                <a:spcPct val="100000"/>
              </a:lnSpc>
              <a:spcBef>
                <a:spcPts val="120"/>
              </a:spcBef>
              <a:buAutoNum type="arabicParenR"/>
              <a:tabLst>
                <a:tab pos="1155700" algn="l"/>
              </a:tabLst>
            </a:pPr>
            <a:r>
              <a:rPr dirty="0" sz="1100" spc="-5">
                <a:latin typeface="Calibri"/>
                <a:cs typeface="Calibri"/>
              </a:rPr>
              <a:t>Shipping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receiving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operations</a:t>
            </a:r>
            <a:endParaRPr sz="11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buFont typeface="Calibri"/>
              <a:buAutoNum type="arabicParenR"/>
            </a:pPr>
            <a:endParaRPr sz="11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55"/>
              </a:spcBef>
              <a:buFont typeface="Calibri"/>
              <a:buAutoNum type="arabicParenR"/>
            </a:pPr>
            <a:endParaRPr sz="1350">
              <a:latin typeface="Calibri"/>
              <a:cs typeface="Calibri"/>
            </a:endParaRPr>
          </a:p>
          <a:p>
            <a:pPr marL="469265" marR="5080" indent="-228600">
              <a:lnSpc>
                <a:spcPct val="110000"/>
              </a:lnSpc>
              <a:buFont typeface="Microsoft Sans Serif"/>
              <a:buChar char=""/>
              <a:tabLst>
                <a:tab pos="469265" algn="l"/>
                <a:tab pos="469900" algn="l"/>
              </a:tabLst>
            </a:pPr>
            <a:r>
              <a:rPr dirty="0" sz="1100">
                <a:latin typeface="Calibri"/>
                <a:cs typeface="Calibri"/>
              </a:rPr>
              <a:t>A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b="1">
                <a:latin typeface="Calibri"/>
                <a:cs typeface="Calibri"/>
              </a:rPr>
              <a:t>project</a:t>
            </a:r>
            <a:r>
              <a:rPr dirty="0" sz="1100" spc="-5" b="1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is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</a:t>
            </a:r>
            <a:r>
              <a:rPr dirty="0" sz="1100" spc="-5">
                <a:latin typeface="Calibri"/>
                <a:cs typeface="Calibri"/>
              </a:rPr>
              <a:t> one-time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effort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to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achieve</a:t>
            </a:r>
            <a:r>
              <a:rPr dirty="0" sz="1100">
                <a:latin typeface="Calibri"/>
                <a:cs typeface="Calibri"/>
              </a:rPr>
              <a:t> a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particular,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current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goal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 an </a:t>
            </a:r>
            <a:r>
              <a:rPr dirty="0" sz="1100" spc="-5">
                <a:latin typeface="Calibri"/>
                <a:cs typeface="Calibri"/>
              </a:rPr>
              <a:t>organization,</a:t>
            </a:r>
            <a:r>
              <a:rPr dirty="0" sz="1100" spc="2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usually </a:t>
            </a:r>
            <a:r>
              <a:rPr dirty="0" sz="1100" spc="-23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subject</a:t>
            </a:r>
            <a:r>
              <a:rPr dirty="0" sz="110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to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specific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time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or </a:t>
            </a:r>
            <a:r>
              <a:rPr dirty="0" sz="1100" spc="-5">
                <a:latin typeface="Calibri"/>
                <a:cs typeface="Calibri"/>
              </a:rPr>
              <a:t>cost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constraints.</a:t>
            </a:r>
            <a:endParaRPr sz="1100">
              <a:latin typeface="Calibri"/>
              <a:cs typeface="Calibri"/>
            </a:endParaRPr>
          </a:p>
          <a:p>
            <a:pPr lvl="1" marL="1155065" indent="-229235">
              <a:lnSpc>
                <a:spcPct val="100000"/>
              </a:lnSpc>
              <a:spcBef>
                <a:spcPts val="940"/>
              </a:spcBef>
              <a:buAutoNum type="arabicParenR"/>
              <a:tabLst>
                <a:tab pos="1155700" algn="l"/>
              </a:tabLst>
            </a:pPr>
            <a:r>
              <a:rPr dirty="0" sz="1100" spc="-5">
                <a:latin typeface="Calibri"/>
                <a:cs typeface="Calibri"/>
              </a:rPr>
              <a:t>Efforts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to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introduce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new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products,</a:t>
            </a:r>
            <a:endParaRPr sz="1100">
              <a:latin typeface="Calibri"/>
              <a:cs typeface="Calibri"/>
            </a:endParaRPr>
          </a:p>
          <a:p>
            <a:pPr lvl="1" marL="1155065" indent="-229235">
              <a:lnSpc>
                <a:spcPct val="100000"/>
              </a:lnSpc>
              <a:spcBef>
                <a:spcPts val="925"/>
              </a:spcBef>
              <a:buAutoNum type="arabicParenR"/>
              <a:tabLst>
                <a:tab pos="1155700" algn="l"/>
              </a:tabLst>
            </a:pPr>
            <a:r>
              <a:rPr dirty="0" sz="1100">
                <a:latin typeface="Calibri"/>
                <a:cs typeface="Calibri"/>
              </a:rPr>
              <a:t>Redesign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tools</a:t>
            </a:r>
            <a:r>
              <a:rPr dirty="0" sz="1100">
                <a:latin typeface="Calibri"/>
                <a:cs typeface="Calibri"/>
              </a:rPr>
              <a:t> and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processes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to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save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money</a:t>
            </a:r>
            <a:endParaRPr sz="1100">
              <a:latin typeface="Calibri"/>
              <a:cs typeface="Calibri"/>
            </a:endParaRPr>
          </a:p>
          <a:p>
            <a:pPr lvl="1" marL="1155065" indent="-229235">
              <a:lnSpc>
                <a:spcPct val="100000"/>
              </a:lnSpc>
              <a:spcBef>
                <a:spcPts val="925"/>
              </a:spcBef>
              <a:buAutoNum type="arabicParenR"/>
              <a:tabLst>
                <a:tab pos="1155700" algn="l"/>
              </a:tabLst>
            </a:pPr>
            <a:r>
              <a:rPr dirty="0" sz="1100" spc="-5">
                <a:latin typeface="Calibri"/>
                <a:cs typeface="Calibri"/>
              </a:rPr>
              <a:t>Restructure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</a:t>
            </a:r>
            <a:r>
              <a:rPr dirty="0" sz="1100" spc="-5">
                <a:latin typeface="Calibri"/>
                <a:cs typeface="Calibri"/>
              </a:rPr>
              <a:t> organization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response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to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business</a:t>
            </a:r>
            <a:r>
              <a:rPr dirty="0" sz="110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needs.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5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100" spc="-5" b="1">
                <a:latin typeface="Calibri"/>
                <a:cs typeface="Calibri"/>
              </a:rPr>
              <a:t>Project</a:t>
            </a:r>
            <a:r>
              <a:rPr dirty="0" sz="1100" spc="-10" b="1">
                <a:latin typeface="Calibri"/>
                <a:cs typeface="Calibri"/>
              </a:rPr>
              <a:t> </a:t>
            </a:r>
            <a:r>
              <a:rPr dirty="0" sz="1100" spc="-5" b="1">
                <a:latin typeface="Calibri"/>
                <a:cs typeface="Calibri"/>
              </a:rPr>
              <a:t>planning</a:t>
            </a:r>
            <a:r>
              <a:rPr dirty="0" sz="1100" spc="-15" b="1">
                <a:latin typeface="Calibri"/>
                <a:cs typeface="Calibri"/>
              </a:rPr>
              <a:t> </a:t>
            </a:r>
            <a:r>
              <a:rPr dirty="0" sz="1100" spc="-5" b="1">
                <a:latin typeface="Calibri"/>
                <a:cs typeface="Calibri"/>
              </a:rPr>
              <a:t>activities: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59153" y="7056501"/>
            <a:ext cx="2972435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" b="1">
                <a:latin typeface="Calibri"/>
                <a:cs typeface="Calibri"/>
              </a:rPr>
              <a:t>Planning:</a:t>
            </a:r>
            <a:r>
              <a:rPr dirty="0" sz="1100" spc="5" b="1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Formulating</a:t>
            </a:r>
            <a:r>
              <a:rPr dirty="0" sz="1100">
                <a:latin typeface="Calibri"/>
                <a:cs typeface="Calibri"/>
              </a:rPr>
              <a:t> a</a:t>
            </a:r>
            <a:r>
              <a:rPr dirty="0" sz="1100" spc="-5">
                <a:latin typeface="Calibri"/>
                <a:cs typeface="Calibri"/>
              </a:rPr>
              <a:t> scheme </a:t>
            </a:r>
            <a:r>
              <a:rPr dirty="0" sz="1100">
                <a:latin typeface="Calibri"/>
                <a:cs typeface="Calibri"/>
              </a:rPr>
              <a:t>for</a:t>
            </a:r>
            <a:r>
              <a:rPr dirty="0" sz="1100" spc="-5">
                <a:latin typeface="Calibri"/>
                <a:cs typeface="Calibri"/>
              </a:rPr>
              <a:t> doing</a:t>
            </a:r>
            <a:r>
              <a:rPr dirty="0" sz="1100">
                <a:latin typeface="Calibri"/>
                <a:cs typeface="Calibri"/>
              </a:rPr>
              <a:t> a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project.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30604" y="6771513"/>
            <a:ext cx="3425190" cy="76454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40665" indent="-228600">
              <a:lnSpc>
                <a:spcPct val="100000"/>
              </a:lnSpc>
              <a:spcBef>
                <a:spcPts val="105"/>
              </a:spcBef>
              <a:buFont typeface="Microsoft Sans Serif"/>
              <a:buChar char=""/>
              <a:tabLst>
                <a:tab pos="240665" algn="l"/>
                <a:tab pos="241300" algn="l"/>
              </a:tabLst>
            </a:pPr>
            <a:r>
              <a:rPr dirty="0" sz="1100" spc="-5">
                <a:latin typeface="Calibri"/>
                <a:cs typeface="Calibri"/>
              </a:rPr>
              <a:t>Software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development</a:t>
            </a:r>
            <a:r>
              <a:rPr dirty="0" sz="110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clearly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fits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project management: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19"/>
              </a:spcBef>
            </a:pPr>
            <a:r>
              <a:rPr dirty="0" sz="1100" spc="-155">
                <a:latin typeface="Microsoft Sans Serif"/>
                <a:cs typeface="Microsoft Sans Serif"/>
              </a:rPr>
              <a:t>🞂</a:t>
            </a:r>
            <a:endParaRPr sz="11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930"/>
              </a:spcBef>
            </a:pPr>
            <a:r>
              <a:rPr dirty="0" sz="1100" spc="-155">
                <a:latin typeface="Microsoft Sans Serif"/>
                <a:cs typeface="Microsoft Sans Serif"/>
              </a:rPr>
              <a:t>🞂</a:t>
            </a:r>
            <a:endParaRPr sz="1100">
              <a:latin typeface="Microsoft Sans Serif"/>
              <a:cs typeface="Microsoft Sans Serif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359153" y="7325715"/>
            <a:ext cx="5177790" cy="3943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0000"/>
              </a:lnSpc>
              <a:spcBef>
                <a:spcPts val="100"/>
              </a:spcBef>
            </a:pPr>
            <a:r>
              <a:rPr dirty="0" sz="1100" spc="-5" b="1">
                <a:latin typeface="Calibri"/>
                <a:cs typeface="Calibri"/>
              </a:rPr>
              <a:t>Organizing:</a:t>
            </a:r>
            <a:r>
              <a:rPr dirty="0" sz="1100" spc="5" b="1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Structuring</a:t>
            </a:r>
            <a:r>
              <a:rPr dirty="0" sz="1100">
                <a:latin typeface="Calibri"/>
                <a:cs typeface="Calibri"/>
              </a:rPr>
              <a:t> the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organizational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entities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involved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 a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project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 </a:t>
            </a:r>
            <a:r>
              <a:rPr dirty="0" sz="1100" spc="-5">
                <a:latin typeface="Calibri"/>
                <a:cs typeface="Calibri"/>
              </a:rPr>
              <a:t>assigning</a:t>
            </a:r>
            <a:r>
              <a:rPr dirty="0" sz="1100">
                <a:latin typeface="Calibri"/>
                <a:cs typeface="Calibri"/>
              </a:rPr>
              <a:t> them </a:t>
            </a:r>
            <a:r>
              <a:rPr dirty="0" sz="1100" spc="-229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responsibilities</a:t>
            </a:r>
            <a:r>
              <a:rPr dirty="0" sz="1100">
                <a:latin typeface="Calibri"/>
                <a:cs typeface="Calibri"/>
              </a:rPr>
              <a:t> and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authority.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359153" y="8097773"/>
            <a:ext cx="477139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" b="1">
                <a:latin typeface="Calibri"/>
                <a:cs typeface="Calibri"/>
              </a:rPr>
              <a:t>Tracking</a:t>
            </a:r>
            <a:r>
              <a:rPr dirty="0" sz="1100" spc="-5">
                <a:latin typeface="Calibri"/>
                <a:cs typeface="Calibri"/>
              </a:rPr>
              <a:t>: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Observing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the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progress</a:t>
            </a:r>
            <a:r>
              <a:rPr dirty="0" sz="1100">
                <a:latin typeface="Calibri"/>
                <a:cs typeface="Calibri"/>
              </a:rPr>
              <a:t> of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work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adjusting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work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plans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accordingly.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130604" y="7812785"/>
            <a:ext cx="4979035" cy="7651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0665" indent="-228600">
              <a:lnSpc>
                <a:spcPct val="100000"/>
              </a:lnSpc>
              <a:spcBef>
                <a:spcPts val="100"/>
              </a:spcBef>
              <a:buFont typeface="Microsoft Sans Serif"/>
              <a:buChar char=""/>
              <a:tabLst>
                <a:tab pos="240665" algn="l"/>
                <a:tab pos="241300" algn="l"/>
              </a:tabLst>
            </a:pPr>
            <a:r>
              <a:rPr dirty="0" sz="1100" spc="-5" b="1">
                <a:latin typeface="Calibri"/>
                <a:cs typeface="Calibri"/>
              </a:rPr>
              <a:t>Staffing:</a:t>
            </a:r>
            <a:r>
              <a:rPr dirty="0" sz="1100" spc="15" b="1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Filling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positions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organizational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structure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keeping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them</a:t>
            </a:r>
            <a:r>
              <a:rPr dirty="0" sz="110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filled.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25"/>
              </a:spcBef>
            </a:pPr>
            <a:r>
              <a:rPr dirty="0" sz="1100" spc="-155">
                <a:latin typeface="Microsoft Sans Serif"/>
                <a:cs typeface="Microsoft Sans Serif"/>
              </a:rPr>
              <a:t>🞂</a:t>
            </a:r>
            <a:endParaRPr sz="11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940"/>
              </a:spcBef>
            </a:pPr>
            <a:r>
              <a:rPr dirty="0" sz="1100" spc="-155">
                <a:latin typeface="Microsoft Sans Serif"/>
                <a:cs typeface="Microsoft Sans Serif"/>
              </a:rPr>
              <a:t>🞂</a:t>
            </a:r>
            <a:endParaRPr sz="1100">
              <a:latin typeface="Microsoft Sans Serif"/>
              <a:cs typeface="Microsoft Sans Serif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359153" y="8384285"/>
            <a:ext cx="331597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" b="1">
                <a:latin typeface="Calibri"/>
                <a:cs typeface="Calibri"/>
              </a:rPr>
              <a:t>Leading</a:t>
            </a:r>
            <a:r>
              <a:rPr dirty="0" sz="1100" spc="-5">
                <a:latin typeface="Calibri"/>
                <a:cs typeface="Calibri"/>
              </a:rPr>
              <a:t>: Directing</a:t>
            </a:r>
            <a:r>
              <a:rPr dirty="0" sz="1100">
                <a:latin typeface="Calibri"/>
                <a:cs typeface="Calibri"/>
              </a:rPr>
              <a:t> and </a:t>
            </a:r>
            <a:r>
              <a:rPr dirty="0" sz="1100" spc="-5">
                <a:latin typeface="Calibri"/>
                <a:cs typeface="Calibri"/>
              </a:rPr>
              <a:t>helping</a:t>
            </a:r>
            <a:r>
              <a:rPr dirty="0" sz="1100">
                <a:latin typeface="Calibri"/>
                <a:cs typeface="Calibri"/>
              </a:rPr>
              <a:t> people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doing</a:t>
            </a:r>
            <a:r>
              <a:rPr dirty="0" sz="110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project </a:t>
            </a:r>
            <a:r>
              <a:rPr dirty="0" sz="1100">
                <a:latin typeface="Calibri"/>
                <a:cs typeface="Calibri"/>
              </a:rPr>
              <a:t>work.</a:t>
            </a:r>
            <a:endParaRPr sz="1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892556"/>
            <a:ext cx="5934710" cy="39204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" b="1">
                <a:latin typeface="Calibri"/>
                <a:cs typeface="Calibri"/>
              </a:rPr>
              <a:t>Project</a:t>
            </a:r>
            <a:r>
              <a:rPr dirty="0" sz="1100" spc="-25" b="1">
                <a:latin typeface="Calibri"/>
                <a:cs typeface="Calibri"/>
              </a:rPr>
              <a:t> </a:t>
            </a:r>
            <a:r>
              <a:rPr dirty="0" sz="1100" spc="-5" b="1">
                <a:latin typeface="Calibri"/>
                <a:cs typeface="Calibri"/>
              </a:rPr>
              <a:t>Planning:</a:t>
            </a:r>
            <a:endParaRPr sz="1100">
              <a:latin typeface="Calibri"/>
              <a:cs typeface="Calibri"/>
            </a:endParaRPr>
          </a:p>
          <a:p>
            <a:pPr marL="469265" marR="148590" indent="-228600">
              <a:lnSpc>
                <a:spcPct val="110000"/>
              </a:lnSpc>
              <a:spcBef>
                <a:spcPts val="795"/>
              </a:spcBef>
              <a:buFont typeface="Microsoft Sans Serif"/>
              <a:buChar char=""/>
              <a:tabLst>
                <a:tab pos="469265" algn="l"/>
                <a:tab pos="469900" algn="l"/>
              </a:tabLst>
            </a:pPr>
            <a:r>
              <a:rPr dirty="0" sz="1100" spc="-5">
                <a:latin typeface="Calibri"/>
                <a:cs typeface="Calibri"/>
              </a:rPr>
              <a:t>The</a:t>
            </a:r>
            <a:r>
              <a:rPr dirty="0" sz="110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first </a:t>
            </a:r>
            <a:r>
              <a:rPr dirty="0" sz="1100">
                <a:latin typeface="Calibri"/>
                <a:cs typeface="Calibri"/>
              </a:rPr>
              <a:t>step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working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out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project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plan</a:t>
            </a:r>
            <a:r>
              <a:rPr dirty="0" sz="1100">
                <a:latin typeface="Calibri"/>
                <a:cs typeface="Calibri"/>
              </a:rPr>
              <a:t> is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to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determine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how </a:t>
            </a:r>
            <a:r>
              <a:rPr dirty="0" sz="1100">
                <a:latin typeface="Calibri"/>
                <a:cs typeface="Calibri"/>
              </a:rPr>
              <a:t>much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work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must be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done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 </a:t>
            </a:r>
            <a:r>
              <a:rPr dirty="0" sz="1100" spc="-2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5">
                <a:latin typeface="Calibri"/>
                <a:cs typeface="Calibri"/>
              </a:rPr>
              <a:t> resources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needed</a:t>
            </a:r>
            <a:r>
              <a:rPr dirty="0" sz="110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to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do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it.</a:t>
            </a:r>
            <a:endParaRPr sz="1100">
              <a:latin typeface="Calibri"/>
              <a:cs typeface="Calibri"/>
            </a:endParaRPr>
          </a:p>
          <a:p>
            <a:pPr marL="469265" marR="52705" indent="-228600">
              <a:lnSpc>
                <a:spcPct val="109100"/>
              </a:lnSpc>
              <a:spcBef>
                <a:spcPts val="815"/>
              </a:spcBef>
              <a:buFont typeface="Microsoft Sans Serif"/>
              <a:buChar char=""/>
              <a:tabLst>
                <a:tab pos="469265" algn="l"/>
                <a:tab pos="469900" algn="l"/>
              </a:tabLst>
            </a:pPr>
            <a:r>
              <a:rPr dirty="0" sz="1100" spc="-5" b="1">
                <a:latin typeface="Calibri"/>
                <a:cs typeface="Calibri"/>
              </a:rPr>
              <a:t>Estimation</a:t>
            </a:r>
            <a:r>
              <a:rPr dirty="0" sz="1100" spc="5" b="1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is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calculation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approximate</a:t>
            </a:r>
            <a:r>
              <a:rPr dirty="0" sz="110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cost, </a:t>
            </a:r>
            <a:r>
              <a:rPr dirty="0" sz="1100">
                <a:latin typeface="Calibri"/>
                <a:cs typeface="Calibri"/>
              </a:rPr>
              <a:t>effort,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time,</a:t>
            </a:r>
            <a:r>
              <a:rPr dirty="0" sz="1100">
                <a:latin typeface="Calibri"/>
                <a:cs typeface="Calibri"/>
              </a:rPr>
              <a:t> or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resources</a:t>
            </a:r>
            <a:r>
              <a:rPr dirty="0" sz="1100" spc="-5">
                <a:latin typeface="Calibri"/>
                <a:cs typeface="Calibri"/>
              </a:rPr>
              <a:t> required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to </a:t>
            </a:r>
            <a:r>
              <a:rPr dirty="0" sz="1100" spc="-5">
                <a:latin typeface="Calibri"/>
                <a:cs typeface="Calibri"/>
              </a:rPr>
              <a:t>achieve </a:t>
            </a:r>
            <a:r>
              <a:rPr dirty="0" sz="1100" spc="-229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some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end.</a:t>
            </a:r>
            <a:endParaRPr sz="1100">
              <a:latin typeface="Calibri"/>
              <a:cs typeface="Calibri"/>
            </a:endParaRPr>
          </a:p>
          <a:p>
            <a:pPr lvl="1" marL="926465" marR="309245" indent="-228600">
              <a:lnSpc>
                <a:spcPct val="109500"/>
              </a:lnSpc>
              <a:spcBef>
                <a:spcPts val="875"/>
              </a:spcBef>
              <a:buFont typeface="Verdana"/>
              <a:buChar char="◦"/>
              <a:tabLst>
                <a:tab pos="926465" algn="l"/>
                <a:tab pos="927100" algn="l"/>
              </a:tabLst>
            </a:pPr>
            <a:r>
              <a:rPr dirty="0" sz="1100">
                <a:latin typeface="Calibri"/>
                <a:cs typeface="Calibri"/>
              </a:rPr>
              <a:t>Mostly </a:t>
            </a:r>
            <a:r>
              <a:rPr dirty="0" sz="1100" spc="-5">
                <a:latin typeface="Calibri"/>
                <a:cs typeface="Calibri"/>
              </a:rPr>
              <a:t>begin by estimating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size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work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products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such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as </a:t>
            </a:r>
            <a:r>
              <a:rPr dirty="0" sz="1100" spc="-5">
                <a:latin typeface="Calibri"/>
                <a:cs typeface="Calibri"/>
              </a:rPr>
              <a:t>source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code, </a:t>
            </a:r>
            <a:r>
              <a:rPr dirty="0" sz="1100">
                <a:latin typeface="Calibri"/>
                <a:cs typeface="Calibri"/>
              </a:rPr>
              <a:t> documentation, and</a:t>
            </a:r>
            <a:r>
              <a:rPr dirty="0" sz="1100" spc="-5">
                <a:latin typeface="Calibri"/>
                <a:cs typeface="Calibri"/>
              </a:rPr>
              <a:t> so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forth,</a:t>
            </a:r>
            <a:r>
              <a:rPr dirty="0" sz="1100">
                <a:latin typeface="Calibri"/>
                <a:cs typeface="Calibri"/>
              </a:rPr>
              <a:t> and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then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deriving estimates </a:t>
            </a:r>
            <a:r>
              <a:rPr dirty="0" sz="1100">
                <a:latin typeface="Calibri"/>
                <a:cs typeface="Calibri"/>
              </a:rPr>
              <a:t>of </a:t>
            </a:r>
            <a:r>
              <a:rPr dirty="0" sz="1100" spc="-5">
                <a:latin typeface="Calibri"/>
                <a:cs typeface="Calibri"/>
              </a:rPr>
              <a:t>effort,</a:t>
            </a:r>
            <a:r>
              <a:rPr dirty="0" sz="110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time, cost,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 </a:t>
            </a:r>
            <a:r>
              <a:rPr dirty="0" sz="1100" spc="-2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other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resources.</a:t>
            </a:r>
            <a:endParaRPr sz="1100">
              <a:latin typeface="Calibri"/>
              <a:cs typeface="Calibri"/>
            </a:endParaRPr>
          </a:p>
          <a:p>
            <a:pPr marL="469265" indent="-228600">
              <a:lnSpc>
                <a:spcPct val="100000"/>
              </a:lnSpc>
              <a:spcBef>
                <a:spcPts val="935"/>
              </a:spcBef>
              <a:buFont typeface="Microsoft Sans Serif"/>
              <a:buChar char=""/>
              <a:tabLst>
                <a:tab pos="469265" algn="l"/>
                <a:tab pos="469900" algn="l"/>
              </a:tabLst>
            </a:pPr>
            <a:r>
              <a:rPr dirty="0" sz="1100">
                <a:latin typeface="Calibri"/>
                <a:cs typeface="Calibri"/>
              </a:rPr>
              <a:t>A </a:t>
            </a:r>
            <a:r>
              <a:rPr dirty="0" sz="1100" b="1">
                <a:latin typeface="Calibri"/>
                <a:cs typeface="Calibri"/>
              </a:rPr>
              <a:t>schedule</a:t>
            </a:r>
            <a:r>
              <a:rPr dirty="0" sz="1100" spc="5" b="1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specifies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start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 duration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work</a:t>
            </a:r>
            <a:r>
              <a:rPr dirty="0" sz="1100" spc="-5">
                <a:latin typeface="Calibri"/>
                <a:cs typeface="Calibri"/>
              </a:rPr>
              <a:t> tasks,</a:t>
            </a:r>
            <a:r>
              <a:rPr dirty="0" sz="1100">
                <a:latin typeface="Calibri"/>
                <a:cs typeface="Calibri"/>
              </a:rPr>
              <a:t> and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often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dates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-5">
                <a:latin typeface="Calibri"/>
                <a:cs typeface="Calibri"/>
              </a:rPr>
              <a:t> milestones.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Font typeface="Microsoft Sans Serif"/>
              <a:buChar char=""/>
            </a:pPr>
            <a:endParaRPr sz="1250">
              <a:latin typeface="Calibri"/>
              <a:cs typeface="Calibri"/>
            </a:endParaRPr>
          </a:p>
          <a:p>
            <a:pPr marL="469265" indent="-228600">
              <a:lnSpc>
                <a:spcPct val="100000"/>
              </a:lnSpc>
              <a:spcBef>
                <a:spcPts val="5"/>
              </a:spcBef>
              <a:buFont typeface="Microsoft Sans Serif"/>
              <a:buChar char=""/>
              <a:tabLst>
                <a:tab pos="469265" algn="l"/>
                <a:tab pos="469900" algn="l"/>
              </a:tabLst>
            </a:pPr>
            <a:r>
              <a:rPr dirty="0" sz="1100">
                <a:latin typeface="Calibri"/>
                <a:cs typeface="Calibri"/>
              </a:rPr>
              <a:t>A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 spc="-5" b="1">
                <a:latin typeface="Calibri"/>
                <a:cs typeface="Calibri"/>
              </a:rPr>
              <a:t>milestone</a:t>
            </a:r>
            <a:r>
              <a:rPr dirty="0" sz="1100" b="1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is </a:t>
            </a:r>
            <a:r>
              <a:rPr dirty="0" sz="1100" spc="-5">
                <a:latin typeface="Calibri"/>
                <a:cs typeface="Calibri"/>
              </a:rPr>
              <a:t>any</a:t>
            </a:r>
            <a:r>
              <a:rPr dirty="0" sz="110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significant</a:t>
            </a:r>
            <a:r>
              <a:rPr dirty="0" sz="1100">
                <a:latin typeface="Calibri"/>
                <a:cs typeface="Calibri"/>
              </a:rPr>
              <a:t> event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 a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project.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5"/>
              </a:spcBef>
              <a:buFont typeface="Microsoft Sans Serif"/>
              <a:buChar char=""/>
            </a:pPr>
            <a:endParaRPr sz="1250">
              <a:latin typeface="Calibri"/>
              <a:cs typeface="Calibri"/>
            </a:endParaRPr>
          </a:p>
          <a:p>
            <a:pPr marL="469265" indent="-228600">
              <a:lnSpc>
                <a:spcPct val="100000"/>
              </a:lnSpc>
              <a:buFont typeface="Microsoft Sans Serif"/>
              <a:buChar char=""/>
              <a:tabLst>
                <a:tab pos="469265" algn="l"/>
                <a:tab pos="469900" algn="l"/>
              </a:tabLst>
            </a:pPr>
            <a:r>
              <a:rPr dirty="0" sz="1100">
                <a:latin typeface="Calibri"/>
                <a:cs typeface="Calibri"/>
              </a:rPr>
              <a:t>A </a:t>
            </a:r>
            <a:r>
              <a:rPr dirty="0" sz="1100" spc="-5" b="1">
                <a:latin typeface="Calibri"/>
                <a:cs typeface="Calibri"/>
              </a:rPr>
              <a:t>risk</a:t>
            </a:r>
            <a:r>
              <a:rPr dirty="0" sz="1100" b="1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is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any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occurrence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with</a:t>
            </a:r>
            <a:r>
              <a:rPr dirty="0" sz="110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negative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consequences.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Font typeface="Microsoft Sans Serif"/>
              <a:buChar char=""/>
            </a:pPr>
            <a:endParaRPr sz="1250">
              <a:latin typeface="Calibri"/>
              <a:cs typeface="Calibri"/>
            </a:endParaRPr>
          </a:p>
          <a:p>
            <a:pPr marL="469265" indent="-228600">
              <a:lnSpc>
                <a:spcPct val="100000"/>
              </a:lnSpc>
              <a:buFont typeface="Microsoft Sans Serif"/>
              <a:buChar char=""/>
              <a:tabLst>
                <a:tab pos="469265" algn="l"/>
                <a:tab pos="469900" algn="l"/>
              </a:tabLst>
            </a:pPr>
            <a:r>
              <a:rPr dirty="0" sz="1100" b="1">
                <a:latin typeface="Calibri"/>
                <a:cs typeface="Calibri"/>
              </a:rPr>
              <a:t>Risk</a:t>
            </a:r>
            <a:r>
              <a:rPr dirty="0" sz="1100" spc="-10" b="1">
                <a:latin typeface="Calibri"/>
                <a:cs typeface="Calibri"/>
              </a:rPr>
              <a:t> </a:t>
            </a:r>
            <a:r>
              <a:rPr dirty="0" sz="1100" spc="-5" b="1">
                <a:latin typeface="Calibri"/>
                <a:cs typeface="Calibri"/>
              </a:rPr>
              <a:t>analysis</a:t>
            </a:r>
            <a:r>
              <a:rPr dirty="0" sz="1100" spc="5" b="1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is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orderly</a:t>
            </a:r>
            <a:r>
              <a:rPr dirty="0" sz="1100">
                <a:latin typeface="Calibri"/>
                <a:cs typeface="Calibri"/>
              </a:rPr>
              <a:t> process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identifying,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understanding,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 </a:t>
            </a:r>
            <a:r>
              <a:rPr dirty="0" sz="1100" spc="-5">
                <a:latin typeface="Calibri"/>
                <a:cs typeface="Calibri"/>
              </a:rPr>
              <a:t>assessing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risks.</a:t>
            </a:r>
            <a:endParaRPr sz="1100">
              <a:latin typeface="Calibri"/>
              <a:cs typeface="Calibri"/>
            </a:endParaRPr>
          </a:p>
          <a:p>
            <a:pPr marL="469265" marR="5080" indent="-228600">
              <a:lnSpc>
                <a:spcPct val="110000"/>
              </a:lnSpc>
              <a:buFont typeface="Microsoft Sans Serif"/>
              <a:buChar char=""/>
              <a:tabLst>
                <a:tab pos="469265" algn="l"/>
                <a:tab pos="469900" algn="l"/>
              </a:tabLst>
            </a:pPr>
            <a:r>
              <a:rPr dirty="0" sz="1100" spc="-5">
                <a:latin typeface="Calibri"/>
                <a:cs typeface="Calibri"/>
              </a:rPr>
              <a:t>The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final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portion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 the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project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plan is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specification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of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various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rules </a:t>
            </a:r>
            <a:r>
              <a:rPr dirty="0" sz="1100" spc="-5">
                <a:latin typeface="Calibri"/>
                <a:cs typeface="Calibri"/>
              </a:rPr>
              <a:t>governing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work.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Such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rules </a:t>
            </a:r>
            <a:r>
              <a:rPr dirty="0" sz="1100" spc="-23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fall </a:t>
            </a:r>
            <a:r>
              <a:rPr dirty="0" sz="1100">
                <a:latin typeface="Calibri"/>
                <a:cs typeface="Calibri"/>
              </a:rPr>
              <a:t>into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 </a:t>
            </a:r>
            <a:r>
              <a:rPr dirty="0" sz="1100" spc="-5">
                <a:latin typeface="Calibri"/>
                <a:cs typeface="Calibri"/>
              </a:rPr>
              <a:t>following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categories:</a:t>
            </a:r>
            <a:endParaRPr sz="1100">
              <a:latin typeface="Calibri"/>
              <a:cs typeface="Calibri"/>
            </a:endParaRPr>
          </a:p>
          <a:p>
            <a:pPr marL="697865" indent="-229235">
              <a:lnSpc>
                <a:spcPct val="100000"/>
              </a:lnSpc>
              <a:spcBef>
                <a:spcPts val="120"/>
              </a:spcBef>
              <a:buAutoNum type="arabicParenR"/>
              <a:tabLst>
                <a:tab pos="698500" algn="l"/>
              </a:tabLst>
            </a:pPr>
            <a:r>
              <a:rPr dirty="0" sz="1100" spc="-5" i="1">
                <a:latin typeface="Calibri"/>
                <a:cs typeface="Calibri"/>
              </a:rPr>
              <a:t>Policies</a:t>
            </a:r>
            <a:r>
              <a:rPr dirty="0" sz="1100" spc="-10" i="1">
                <a:latin typeface="Calibri"/>
                <a:cs typeface="Calibri"/>
              </a:rPr>
              <a:t> </a:t>
            </a:r>
            <a:r>
              <a:rPr dirty="0" sz="1100" spc="-5" i="1">
                <a:latin typeface="Calibri"/>
                <a:cs typeface="Calibri"/>
              </a:rPr>
              <a:t>and</a:t>
            </a:r>
            <a:r>
              <a:rPr dirty="0" sz="1100" spc="-20" i="1">
                <a:latin typeface="Calibri"/>
                <a:cs typeface="Calibri"/>
              </a:rPr>
              <a:t> </a:t>
            </a:r>
            <a:r>
              <a:rPr dirty="0" sz="1100" spc="-5" i="1">
                <a:latin typeface="Calibri"/>
                <a:cs typeface="Calibri"/>
              </a:rPr>
              <a:t>Procedures</a:t>
            </a:r>
            <a:endParaRPr sz="1100">
              <a:latin typeface="Calibri"/>
              <a:cs typeface="Calibri"/>
            </a:endParaRPr>
          </a:p>
          <a:p>
            <a:pPr marL="697865" indent="-229235">
              <a:lnSpc>
                <a:spcPct val="100000"/>
              </a:lnSpc>
              <a:spcBef>
                <a:spcPts val="135"/>
              </a:spcBef>
              <a:buAutoNum type="arabicParenR"/>
              <a:tabLst>
                <a:tab pos="698500" algn="l"/>
              </a:tabLst>
            </a:pPr>
            <a:r>
              <a:rPr dirty="0" sz="1100" spc="-5" i="1">
                <a:latin typeface="Calibri"/>
                <a:cs typeface="Calibri"/>
              </a:rPr>
              <a:t>Tools</a:t>
            </a:r>
            <a:r>
              <a:rPr dirty="0" sz="1100" spc="-10" i="1">
                <a:latin typeface="Calibri"/>
                <a:cs typeface="Calibri"/>
              </a:rPr>
              <a:t> </a:t>
            </a:r>
            <a:r>
              <a:rPr dirty="0" sz="1100" spc="-5" i="1">
                <a:latin typeface="Calibri"/>
                <a:cs typeface="Calibri"/>
              </a:rPr>
              <a:t>and</a:t>
            </a:r>
            <a:r>
              <a:rPr dirty="0" sz="1100" spc="-15" i="1">
                <a:latin typeface="Calibri"/>
                <a:cs typeface="Calibri"/>
              </a:rPr>
              <a:t> </a:t>
            </a:r>
            <a:r>
              <a:rPr dirty="0" sz="1100" spc="-5" i="1">
                <a:latin typeface="Calibri"/>
                <a:cs typeface="Calibri"/>
              </a:rPr>
              <a:t>Techniques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2004" y="5476113"/>
            <a:ext cx="5810885" cy="153670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 spc="-5" b="1">
                <a:latin typeface="Calibri"/>
                <a:cs typeface="Calibri"/>
              </a:rPr>
              <a:t>Project</a:t>
            </a:r>
            <a:r>
              <a:rPr dirty="0" sz="1100" spc="-25" b="1">
                <a:latin typeface="Calibri"/>
                <a:cs typeface="Calibri"/>
              </a:rPr>
              <a:t> </a:t>
            </a:r>
            <a:r>
              <a:rPr dirty="0" sz="1100" spc="-5" b="1">
                <a:latin typeface="Calibri"/>
                <a:cs typeface="Calibri"/>
              </a:rPr>
              <a:t>organization:</a:t>
            </a:r>
            <a:endParaRPr sz="1100">
              <a:latin typeface="Calibri"/>
              <a:cs typeface="Calibri"/>
            </a:endParaRPr>
          </a:p>
          <a:p>
            <a:pPr marL="469265" marR="266700" indent="-228600">
              <a:lnSpc>
                <a:spcPct val="110000"/>
              </a:lnSpc>
              <a:spcBef>
                <a:spcPts val="800"/>
              </a:spcBef>
              <a:buFont typeface="Microsoft Sans Serif"/>
              <a:buChar char=""/>
              <a:tabLst>
                <a:tab pos="469265" algn="l"/>
                <a:tab pos="469900" algn="l"/>
              </a:tabLst>
            </a:pPr>
            <a:r>
              <a:rPr dirty="0" sz="1100" spc="-5">
                <a:latin typeface="Calibri"/>
                <a:cs typeface="Calibri"/>
              </a:rPr>
              <a:t>There</a:t>
            </a:r>
            <a:r>
              <a:rPr dirty="0" sz="110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are </a:t>
            </a:r>
            <a:r>
              <a:rPr dirty="0" sz="1100">
                <a:latin typeface="Calibri"/>
                <a:cs typeface="Calibri"/>
              </a:rPr>
              <a:t>many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ways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to</a:t>
            </a:r>
            <a:r>
              <a:rPr dirty="0" sz="110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organize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people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into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groups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 assign</a:t>
            </a:r>
            <a:r>
              <a:rPr dirty="0" sz="1100" spc="-5">
                <a:latin typeface="Calibri"/>
                <a:cs typeface="Calibri"/>
              </a:rPr>
              <a:t> them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responsibilities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 </a:t>
            </a:r>
            <a:r>
              <a:rPr dirty="0" sz="1100" spc="-23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authority</a:t>
            </a:r>
            <a:endParaRPr sz="1100">
              <a:latin typeface="Calibri"/>
              <a:cs typeface="Calibri"/>
            </a:endParaRPr>
          </a:p>
          <a:p>
            <a:pPr lvl="1" marL="926465" indent="-229235">
              <a:lnSpc>
                <a:spcPct val="100000"/>
              </a:lnSpc>
              <a:spcBef>
                <a:spcPts val="985"/>
              </a:spcBef>
              <a:buFont typeface="Verdana"/>
              <a:buChar char="◦"/>
              <a:tabLst>
                <a:tab pos="926465" algn="l"/>
                <a:tab pos="927100" algn="l"/>
              </a:tabLst>
            </a:pPr>
            <a:r>
              <a:rPr dirty="0" sz="1100" spc="-5">
                <a:latin typeface="Calibri"/>
                <a:cs typeface="Calibri"/>
              </a:rPr>
              <a:t>Organizational structure.</a:t>
            </a:r>
            <a:endParaRPr sz="1100">
              <a:latin typeface="Calibri"/>
              <a:cs typeface="Calibri"/>
            </a:endParaRPr>
          </a:p>
          <a:p>
            <a:pPr marL="469265" indent="-228600">
              <a:lnSpc>
                <a:spcPct val="100000"/>
              </a:lnSpc>
              <a:spcBef>
                <a:spcPts val="925"/>
              </a:spcBef>
              <a:buFont typeface="Microsoft Sans Serif"/>
              <a:buChar char=""/>
              <a:tabLst>
                <a:tab pos="469265" algn="l"/>
                <a:tab pos="469900" algn="l"/>
              </a:tabLst>
            </a:pPr>
            <a:r>
              <a:rPr dirty="0" sz="1100" spc="-5">
                <a:latin typeface="Calibri"/>
                <a:cs typeface="Calibri"/>
              </a:rPr>
              <a:t>There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are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also</a:t>
            </a:r>
            <a:r>
              <a:rPr dirty="0" sz="1100">
                <a:latin typeface="Calibri"/>
                <a:cs typeface="Calibri"/>
              </a:rPr>
              <a:t> many</a:t>
            </a:r>
            <a:r>
              <a:rPr dirty="0" sz="1100" spc="-5">
                <a:latin typeface="Calibri"/>
                <a:cs typeface="Calibri"/>
              </a:rPr>
              <a:t> ways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for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people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groups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to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interact,</a:t>
            </a:r>
            <a:r>
              <a:rPr dirty="0" sz="110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make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decisions, </a:t>
            </a:r>
            <a:r>
              <a:rPr dirty="0" sz="1100">
                <a:latin typeface="Calibri"/>
                <a:cs typeface="Calibri"/>
              </a:rPr>
              <a:t>and work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together</a:t>
            </a:r>
            <a:endParaRPr sz="1100">
              <a:latin typeface="Calibri"/>
              <a:cs typeface="Calibri"/>
            </a:endParaRPr>
          </a:p>
          <a:p>
            <a:pPr lvl="1" marL="926465" indent="-229235">
              <a:lnSpc>
                <a:spcPct val="100000"/>
              </a:lnSpc>
              <a:spcBef>
                <a:spcPts val="994"/>
              </a:spcBef>
              <a:buFont typeface="Verdana"/>
              <a:buChar char="◦"/>
              <a:tabLst>
                <a:tab pos="926465" algn="l"/>
                <a:tab pos="927100" algn="l"/>
              </a:tabLst>
            </a:pPr>
            <a:r>
              <a:rPr dirty="0" sz="1100" spc="-5">
                <a:latin typeface="Calibri"/>
                <a:cs typeface="Calibri"/>
              </a:rPr>
              <a:t>Team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structures.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2004" y="7675626"/>
            <a:ext cx="5944870" cy="11328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" b="1">
                <a:latin typeface="Calibri"/>
                <a:cs typeface="Calibri"/>
              </a:rPr>
              <a:t>Organizational</a:t>
            </a:r>
            <a:r>
              <a:rPr dirty="0" sz="1100" spc="-15" b="1">
                <a:latin typeface="Calibri"/>
                <a:cs typeface="Calibri"/>
              </a:rPr>
              <a:t> </a:t>
            </a:r>
            <a:r>
              <a:rPr dirty="0" sz="1100" spc="-5" b="1">
                <a:latin typeface="Calibri"/>
                <a:cs typeface="Calibri"/>
              </a:rPr>
              <a:t>structure:</a:t>
            </a:r>
            <a:endParaRPr sz="1100">
              <a:latin typeface="Calibri"/>
              <a:cs typeface="Calibri"/>
            </a:endParaRPr>
          </a:p>
          <a:p>
            <a:pPr marL="469265" marR="238125" indent="-228600">
              <a:lnSpc>
                <a:spcPct val="110000"/>
              </a:lnSpc>
              <a:spcBef>
                <a:spcPts val="795"/>
              </a:spcBef>
              <a:buFont typeface="Microsoft Sans Serif"/>
              <a:buChar char=""/>
              <a:tabLst>
                <a:tab pos="469265" algn="l"/>
                <a:tab pos="469900" algn="l"/>
              </a:tabLst>
            </a:pPr>
            <a:r>
              <a:rPr dirty="0" sz="1100" spc="-5" b="1">
                <a:latin typeface="Calibri"/>
                <a:cs typeface="Calibri"/>
              </a:rPr>
              <a:t>Project</a:t>
            </a:r>
            <a:r>
              <a:rPr dirty="0" sz="1100" spc="5" b="1">
                <a:latin typeface="Calibri"/>
                <a:cs typeface="Calibri"/>
              </a:rPr>
              <a:t> </a:t>
            </a:r>
            <a:r>
              <a:rPr dirty="0" sz="1100" spc="-5" b="1">
                <a:latin typeface="Calibri"/>
                <a:cs typeface="Calibri"/>
              </a:rPr>
              <a:t>organization:</a:t>
            </a:r>
            <a:r>
              <a:rPr dirty="0" sz="1100" spc="10" b="1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Groups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might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be responsible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for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carrying </a:t>
            </a:r>
            <a:r>
              <a:rPr dirty="0" sz="1100" spc="-5">
                <a:latin typeface="Calibri"/>
                <a:cs typeface="Calibri"/>
              </a:rPr>
              <a:t>projects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from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their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inception </a:t>
            </a:r>
            <a:r>
              <a:rPr dirty="0" sz="1100" spc="-2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through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completion</a:t>
            </a:r>
            <a:endParaRPr sz="1100">
              <a:latin typeface="Calibri"/>
              <a:cs typeface="Calibri"/>
            </a:endParaRPr>
          </a:p>
          <a:p>
            <a:pPr marL="469265" marR="5080" indent="-228600">
              <a:lnSpc>
                <a:spcPct val="110000"/>
              </a:lnSpc>
              <a:spcBef>
                <a:spcPts val="790"/>
              </a:spcBef>
              <a:buFont typeface="Microsoft Sans Serif"/>
              <a:buChar char=""/>
              <a:tabLst>
                <a:tab pos="469265" algn="l"/>
                <a:tab pos="469900" algn="l"/>
              </a:tabLst>
            </a:pPr>
            <a:r>
              <a:rPr dirty="0" sz="1100" spc="-5" b="1">
                <a:latin typeface="Calibri"/>
                <a:cs typeface="Calibri"/>
              </a:rPr>
              <a:t>Functional</a:t>
            </a:r>
            <a:r>
              <a:rPr dirty="0" sz="1100" spc="5" b="1">
                <a:latin typeface="Calibri"/>
                <a:cs typeface="Calibri"/>
              </a:rPr>
              <a:t> </a:t>
            </a:r>
            <a:r>
              <a:rPr dirty="0" sz="1100" spc="-5" b="1">
                <a:latin typeface="Calibri"/>
                <a:cs typeface="Calibri"/>
              </a:rPr>
              <a:t>organization</a:t>
            </a:r>
            <a:r>
              <a:rPr dirty="0" sz="1100" spc="-5">
                <a:latin typeface="Calibri"/>
                <a:cs typeface="Calibri"/>
              </a:rPr>
              <a:t>: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Groups</a:t>
            </a:r>
            <a:r>
              <a:rPr dirty="0" sz="110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might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be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responsible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for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just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part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 the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project, such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as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design </a:t>
            </a:r>
            <a:r>
              <a:rPr dirty="0" sz="1100" spc="-2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or</a:t>
            </a:r>
            <a:r>
              <a:rPr dirty="0" sz="1100" spc="-5">
                <a:latin typeface="Calibri"/>
                <a:cs typeface="Calibri"/>
              </a:rPr>
              <a:t> coding </a:t>
            </a:r>
            <a:r>
              <a:rPr dirty="0" sz="1100">
                <a:latin typeface="Calibri"/>
                <a:cs typeface="Calibri"/>
              </a:rPr>
              <a:t>or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testing</a:t>
            </a:r>
            <a:endParaRPr sz="1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892556"/>
            <a:ext cx="5969000" cy="73640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" b="1">
                <a:latin typeface="Calibri"/>
                <a:cs typeface="Calibri"/>
              </a:rPr>
              <a:t>Team</a:t>
            </a:r>
            <a:r>
              <a:rPr dirty="0" sz="1100" spc="-20" b="1">
                <a:latin typeface="Calibri"/>
                <a:cs typeface="Calibri"/>
              </a:rPr>
              <a:t> </a:t>
            </a:r>
            <a:r>
              <a:rPr dirty="0" sz="1100" spc="-5" b="1">
                <a:latin typeface="Calibri"/>
                <a:cs typeface="Calibri"/>
              </a:rPr>
              <a:t>structure:</a:t>
            </a:r>
            <a:endParaRPr sz="1100">
              <a:latin typeface="Calibri"/>
              <a:cs typeface="Calibri"/>
            </a:endParaRPr>
          </a:p>
          <a:p>
            <a:pPr marL="469265" marR="69215" indent="-228600">
              <a:lnSpc>
                <a:spcPct val="110000"/>
              </a:lnSpc>
              <a:spcBef>
                <a:spcPts val="795"/>
              </a:spcBef>
              <a:buFont typeface="Microsoft Sans Serif"/>
              <a:buChar char=""/>
              <a:tabLst>
                <a:tab pos="469265" algn="l"/>
                <a:tab pos="469900" algn="l"/>
              </a:tabLst>
            </a:pPr>
            <a:r>
              <a:rPr dirty="0" sz="1100" spc="-5" b="1" i="1">
                <a:latin typeface="Calibri"/>
                <a:cs typeface="Calibri"/>
              </a:rPr>
              <a:t>Hierarchical team:</a:t>
            </a:r>
            <a:r>
              <a:rPr dirty="0" sz="1100" spc="10" b="1" i="1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team</a:t>
            </a:r>
            <a:r>
              <a:rPr dirty="0" sz="110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might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have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leader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who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makes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decisions,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assigns</a:t>
            </a:r>
            <a:r>
              <a:rPr dirty="0" sz="1100" spc="-5">
                <a:latin typeface="Calibri"/>
                <a:cs typeface="Calibri"/>
              </a:rPr>
              <a:t> work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 </a:t>
            </a:r>
            <a:r>
              <a:rPr dirty="0" sz="1100" spc="-5">
                <a:latin typeface="Calibri"/>
                <a:cs typeface="Calibri"/>
              </a:rPr>
              <a:t>resolves </a:t>
            </a:r>
            <a:r>
              <a:rPr dirty="0" sz="1100" spc="-2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conflicts.</a:t>
            </a:r>
            <a:endParaRPr sz="1100">
              <a:latin typeface="Calibri"/>
              <a:cs typeface="Calibri"/>
            </a:endParaRPr>
          </a:p>
          <a:p>
            <a:pPr marL="469265" marR="120650" indent="-228600">
              <a:lnSpc>
                <a:spcPct val="109100"/>
              </a:lnSpc>
              <a:spcBef>
                <a:spcPts val="815"/>
              </a:spcBef>
              <a:buFont typeface="Microsoft Sans Serif"/>
              <a:buChar char=""/>
              <a:tabLst>
                <a:tab pos="469265" algn="l"/>
                <a:tab pos="469900" algn="l"/>
              </a:tabLst>
            </a:pPr>
            <a:r>
              <a:rPr dirty="0" sz="1100" spc="-5" b="1" i="1">
                <a:latin typeface="Calibri"/>
                <a:cs typeface="Calibri"/>
              </a:rPr>
              <a:t>Democratic</a:t>
            </a:r>
            <a:r>
              <a:rPr dirty="0" sz="1100" spc="5" b="1" i="1">
                <a:latin typeface="Calibri"/>
                <a:cs typeface="Calibri"/>
              </a:rPr>
              <a:t> </a:t>
            </a:r>
            <a:r>
              <a:rPr dirty="0" sz="1100" spc="-5" b="1" i="1">
                <a:latin typeface="Calibri"/>
                <a:cs typeface="Calibri"/>
              </a:rPr>
              <a:t>team:</a:t>
            </a:r>
            <a:r>
              <a:rPr dirty="0" sz="1100" spc="35" b="1" i="1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</a:t>
            </a:r>
            <a:r>
              <a:rPr dirty="0" sz="1100" spc="-5">
                <a:latin typeface="Calibri"/>
                <a:cs typeface="Calibri"/>
              </a:rPr>
              <a:t> team</a:t>
            </a:r>
            <a:r>
              <a:rPr dirty="0" sz="110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might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attempt</a:t>
            </a:r>
            <a:r>
              <a:rPr dirty="0" sz="1100">
                <a:latin typeface="Calibri"/>
                <a:cs typeface="Calibri"/>
              </a:rPr>
              <a:t> to </a:t>
            </a:r>
            <a:r>
              <a:rPr dirty="0" sz="1100" spc="-5">
                <a:latin typeface="Calibri"/>
                <a:cs typeface="Calibri"/>
              </a:rPr>
              <a:t>make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decisions,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assign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work,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resolve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conflicts </a:t>
            </a:r>
            <a:r>
              <a:rPr dirty="0" sz="1100" spc="-2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though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discussion,</a:t>
            </a:r>
            <a:r>
              <a:rPr dirty="0" sz="110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consensus,</a:t>
            </a:r>
            <a:r>
              <a:rPr dirty="0" sz="1100">
                <a:latin typeface="Calibri"/>
                <a:cs typeface="Calibri"/>
              </a:rPr>
              <a:t> and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voting.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buFont typeface="Microsoft Sans Serif"/>
              <a:buChar char=""/>
            </a:pP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Font typeface="Microsoft Sans Serif"/>
              <a:buChar char=""/>
            </a:pPr>
            <a:endParaRPr sz="15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100" spc="-5" b="1">
                <a:latin typeface="Calibri"/>
                <a:cs typeface="Calibri"/>
              </a:rPr>
              <a:t>Project</a:t>
            </a:r>
            <a:r>
              <a:rPr dirty="0" sz="1100" spc="-20" b="1">
                <a:latin typeface="Calibri"/>
                <a:cs typeface="Calibri"/>
              </a:rPr>
              <a:t> </a:t>
            </a:r>
            <a:r>
              <a:rPr dirty="0" sz="1100" spc="-5" b="1">
                <a:latin typeface="Calibri"/>
                <a:cs typeface="Calibri"/>
              </a:rPr>
              <a:t>staffing:</a:t>
            </a:r>
            <a:endParaRPr sz="1100">
              <a:latin typeface="Calibri"/>
              <a:cs typeface="Calibri"/>
            </a:endParaRPr>
          </a:p>
          <a:p>
            <a:pPr marL="469265" indent="-228600">
              <a:lnSpc>
                <a:spcPct val="100000"/>
              </a:lnSpc>
              <a:spcBef>
                <a:spcPts val="935"/>
              </a:spcBef>
              <a:buFont typeface="Microsoft Sans Serif"/>
              <a:buChar char=""/>
              <a:tabLst>
                <a:tab pos="469265" algn="l"/>
                <a:tab pos="469900" algn="l"/>
              </a:tabLst>
            </a:pPr>
            <a:r>
              <a:rPr dirty="0" sz="1100">
                <a:latin typeface="Calibri"/>
                <a:cs typeface="Calibri"/>
              </a:rPr>
              <a:t>An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organizational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structure has</a:t>
            </a:r>
            <a:r>
              <a:rPr dirty="0" sz="1100">
                <a:latin typeface="Calibri"/>
                <a:cs typeface="Calibri"/>
              </a:rPr>
              <a:t> groups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with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roles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that</a:t>
            </a:r>
            <a:r>
              <a:rPr dirty="0" sz="1100" spc="-5">
                <a:latin typeface="Calibri"/>
                <a:cs typeface="Calibri"/>
              </a:rPr>
              <a:t> must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be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filled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e.g.</a:t>
            </a:r>
            <a:r>
              <a:rPr dirty="0" sz="1100" spc="-5">
                <a:latin typeface="Calibri"/>
                <a:cs typeface="Calibri"/>
              </a:rPr>
              <a:t> testing</a:t>
            </a:r>
            <a:r>
              <a:rPr dirty="0" sz="1100">
                <a:latin typeface="Calibri"/>
                <a:cs typeface="Calibri"/>
              </a:rPr>
              <a:t> group.</a:t>
            </a:r>
            <a:endParaRPr sz="1100">
              <a:latin typeface="Calibri"/>
              <a:cs typeface="Calibri"/>
            </a:endParaRPr>
          </a:p>
          <a:p>
            <a:pPr marL="469265" marR="224154" indent="-228600">
              <a:lnSpc>
                <a:spcPct val="110200"/>
              </a:lnSpc>
              <a:spcBef>
                <a:spcPts val="790"/>
              </a:spcBef>
              <a:buFont typeface="Microsoft Sans Serif"/>
              <a:buChar char=""/>
              <a:tabLst>
                <a:tab pos="469265" algn="l"/>
                <a:tab pos="469900" algn="l"/>
              </a:tabLst>
            </a:pPr>
            <a:r>
              <a:rPr dirty="0" sz="1100" spc="-5">
                <a:latin typeface="Calibri"/>
                <a:cs typeface="Calibri"/>
              </a:rPr>
              <a:t>Project</a:t>
            </a:r>
            <a:r>
              <a:rPr dirty="0" sz="110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staffing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is the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activity</a:t>
            </a:r>
            <a:r>
              <a:rPr dirty="0" sz="1100">
                <a:latin typeface="Calibri"/>
                <a:cs typeface="Calibri"/>
              </a:rPr>
              <a:t> of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filling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 </a:t>
            </a:r>
            <a:r>
              <a:rPr dirty="0" sz="1100" spc="-5">
                <a:latin typeface="Calibri"/>
                <a:cs typeface="Calibri"/>
              </a:rPr>
              <a:t>roles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designated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organizational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structure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 </a:t>
            </a:r>
            <a:r>
              <a:rPr dirty="0" sz="1100" spc="-2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keeping</a:t>
            </a:r>
            <a:r>
              <a:rPr dirty="0" sz="1100" spc="-5">
                <a:latin typeface="Calibri"/>
                <a:cs typeface="Calibri"/>
              </a:rPr>
              <a:t> them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filled</a:t>
            </a:r>
            <a:r>
              <a:rPr dirty="0" sz="110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with</a:t>
            </a:r>
            <a:r>
              <a:rPr dirty="0" sz="110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appropriate</a:t>
            </a:r>
            <a:r>
              <a:rPr dirty="0" sz="110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individuals.</a:t>
            </a:r>
            <a:endParaRPr sz="1100">
              <a:latin typeface="Calibri"/>
              <a:cs typeface="Calibri"/>
            </a:endParaRPr>
          </a:p>
          <a:p>
            <a:pPr lvl="1" marL="926465" indent="-229235">
              <a:lnSpc>
                <a:spcPct val="100000"/>
              </a:lnSpc>
              <a:spcBef>
                <a:spcPts val="985"/>
              </a:spcBef>
              <a:buFont typeface="Verdana"/>
              <a:buChar char="◦"/>
              <a:tabLst>
                <a:tab pos="926465" algn="l"/>
                <a:tab pos="927100" algn="l"/>
              </a:tabLst>
            </a:pPr>
            <a:r>
              <a:rPr dirty="0" sz="1100" spc="-5">
                <a:latin typeface="Calibri"/>
                <a:cs typeface="Calibri"/>
              </a:rPr>
              <a:t>Hiring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orienting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new</a:t>
            </a:r>
            <a:r>
              <a:rPr dirty="0" sz="110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employees</a:t>
            </a:r>
            <a:endParaRPr sz="1100">
              <a:latin typeface="Calibri"/>
              <a:cs typeface="Calibri"/>
            </a:endParaRPr>
          </a:p>
          <a:p>
            <a:pPr lvl="1" marL="926465" indent="-229235">
              <a:lnSpc>
                <a:spcPct val="100000"/>
              </a:lnSpc>
              <a:spcBef>
                <a:spcPts val="994"/>
              </a:spcBef>
              <a:buFont typeface="Verdana"/>
              <a:buChar char="◦"/>
              <a:tabLst>
                <a:tab pos="926465" algn="l"/>
                <a:tab pos="927100" algn="l"/>
              </a:tabLst>
            </a:pPr>
            <a:r>
              <a:rPr dirty="0" sz="1100">
                <a:latin typeface="Calibri"/>
                <a:cs typeface="Calibri"/>
              </a:rPr>
              <a:t>career</a:t>
            </a:r>
            <a:r>
              <a:rPr dirty="0" sz="1100" spc="-5">
                <a:latin typeface="Calibri"/>
                <a:cs typeface="Calibri"/>
              </a:rPr>
              <a:t> development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guidance</a:t>
            </a:r>
            <a:endParaRPr sz="1100">
              <a:latin typeface="Calibri"/>
              <a:cs typeface="Calibri"/>
            </a:endParaRPr>
          </a:p>
          <a:p>
            <a:pPr lvl="1" marL="926465" indent="-229235">
              <a:lnSpc>
                <a:spcPct val="100000"/>
              </a:lnSpc>
              <a:spcBef>
                <a:spcPts val="985"/>
              </a:spcBef>
              <a:buFont typeface="Verdana"/>
              <a:buChar char="◦"/>
              <a:tabLst>
                <a:tab pos="926465" algn="l"/>
                <a:tab pos="927100" algn="l"/>
              </a:tabLst>
            </a:pPr>
            <a:r>
              <a:rPr dirty="0" sz="1100" spc="-5">
                <a:latin typeface="Calibri"/>
                <a:cs typeface="Calibri"/>
              </a:rPr>
              <a:t>opportunities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through</a:t>
            </a:r>
            <a:r>
              <a:rPr dirty="0" sz="110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training</a:t>
            </a:r>
            <a:r>
              <a:rPr dirty="0" sz="1100">
                <a:latin typeface="Calibri"/>
                <a:cs typeface="Calibri"/>
              </a:rPr>
              <a:t> and education</a:t>
            </a:r>
            <a:endParaRPr sz="1100">
              <a:latin typeface="Calibri"/>
              <a:cs typeface="Calibri"/>
            </a:endParaRPr>
          </a:p>
          <a:p>
            <a:pPr lvl="1" marL="926465" indent="-229235">
              <a:lnSpc>
                <a:spcPct val="100000"/>
              </a:lnSpc>
              <a:spcBef>
                <a:spcPts val="980"/>
              </a:spcBef>
              <a:buFont typeface="Verdana"/>
              <a:buChar char="◦"/>
              <a:tabLst>
                <a:tab pos="926465" algn="l"/>
                <a:tab pos="927100" algn="l"/>
              </a:tabLst>
            </a:pPr>
            <a:r>
              <a:rPr dirty="0" sz="1100">
                <a:latin typeface="Calibri"/>
                <a:cs typeface="Calibri"/>
              </a:rPr>
              <a:t>Evaluating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their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performance</a:t>
            </a:r>
            <a:endParaRPr sz="11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buFont typeface="Verdana"/>
              <a:buChar char="◦"/>
            </a:pPr>
            <a:endParaRPr sz="14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5"/>
              </a:spcBef>
              <a:buFont typeface="Verdana"/>
              <a:buChar char="◦"/>
            </a:pP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100" spc="-5" b="1">
                <a:latin typeface="Calibri"/>
                <a:cs typeface="Calibri"/>
              </a:rPr>
              <a:t>Project</a:t>
            </a:r>
            <a:r>
              <a:rPr dirty="0" sz="1100" spc="-20" b="1">
                <a:latin typeface="Calibri"/>
                <a:cs typeface="Calibri"/>
              </a:rPr>
              <a:t> </a:t>
            </a:r>
            <a:r>
              <a:rPr dirty="0" sz="1100" spc="-5" b="1">
                <a:latin typeface="Calibri"/>
                <a:cs typeface="Calibri"/>
              </a:rPr>
              <a:t>tracking:</a:t>
            </a:r>
            <a:endParaRPr sz="1100">
              <a:latin typeface="Calibri"/>
              <a:cs typeface="Calibri"/>
            </a:endParaRPr>
          </a:p>
          <a:p>
            <a:pPr marL="469265" marR="122555" indent="-228600">
              <a:lnSpc>
                <a:spcPct val="110000"/>
              </a:lnSpc>
              <a:spcBef>
                <a:spcPts val="790"/>
              </a:spcBef>
              <a:buFont typeface="Microsoft Sans Serif"/>
              <a:buChar char=""/>
              <a:tabLst>
                <a:tab pos="469265" algn="l"/>
                <a:tab pos="469900" algn="l"/>
              </a:tabLst>
            </a:pPr>
            <a:r>
              <a:rPr dirty="0" sz="1100">
                <a:latin typeface="Calibri"/>
                <a:cs typeface="Calibri"/>
              </a:rPr>
              <a:t>Nothing </a:t>
            </a:r>
            <a:r>
              <a:rPr dirty="0" sz="1100" spc="-5">
                <a:latin typeface="Calibri"/>
                <a:cs typeface="Calibri"/>
              </a:rPr>
              <a:t>ever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goes</a:t>
            </a:r>
            <a:r>
              <a:rPr dirty="0" sz="110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exactly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as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planned,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so</a:t>
            </a:r>
            <a:r>
              <a:rPr dirty="0" sz="1100">
                <a:latin typeface="Calibri"/>
                <a:cs typeface="Calibri"/>
              </a:rPr>
              <a:t> it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is</a:t>
            </a:r>
            <a:r>
              <a:rPr dirty="0" sz="1100" spc="-5">
                <a:latin typeface="Calibri"/>
                <a:cs typeface="Calibri"/>
              </a:rPr>
              <a:t> essential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to </a:t>
            </a:r>
            <a:r>
              <a:rPr dirty="0" sz="1100" spc="-5">
                <a:latin typeface="Calibri"/>
                <a:cs typeface="Calibri"/>
              </a:rPr>
              <a:t>observe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progress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project</a:t>
            </a:r>
            <a:r>
              <a:rPr dirty="0" sz="1100">
                <a:latin typeface="Calibri"/>
                <a:cs typeface="Calibri"/>
              </a:rPr>
              <a:t> and </a:t>
            </a:r>
            <a:r>
              <a:rPr dirty="0" sz="1100" spc="-229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adjust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work,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respond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to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risks,</a:t>
            </a:r>
            <a:r>
              <a:rPr dirty="0" sz="110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and,</a:t>
            </a:r>
            <a:r>
              <a:rPr dirty="0" sz="1100">
                <a:latin typeface="Calibri"/>
                <a:cs typeface="Calibri"/>
              </a:rPr>
              <a:t> if </a:t>
            </a:r>
            <a:r>
              <a:rPr dirty="0" sz="1100" spc="-5">
                <a:latin typeface="Calibri"/>
                <a:cs typeface="Calibri"/>
              </a:rPr>
              <a:t>necessary, alter</a:t>
            </a:r>
            <a:r>
              <a:rPr dirty="0" sz="110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the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plan.</a:t>
            </a:r>
            <a:endParaRPr sz="1100">
              <a:latin typeface="Calibri"/>
              <a:cs typeface="Calibri"/>
            </a:endParaRPr>
          </a:p>
          <a:p>
            <a:pPr marL="469265" marR="29209" indent="-228600">
              <a:lnSpc>
                <a:spcPct val="110000"/>
              </a:lnSpc>
              <a:spcBef>
                <a:spcPts val="795"/>
              </a:spcBef>
              <a:buFont typeface="Microsoft Sans Serif"/>
              <a:buChar char=""/>
              <a:tabLst>
                <a:tab pos="469265" algn="l"/>
                <a:tab pos="469900" algn="l"/>
              </a:tabLst>
            </a:pPr>
            <a:r>
              <a:rPr dirty="0" sz="1100" spc="-5" b="1">
                <a:latin typeface="Calibri"/>
                <a:cs typeface="Calibri"/>
              </a:rPr>
              <a:t>Project</a:t>
            </a:r>
            <a:r>
              <a:rPr dirty="0" sz="1100" b="1">
                <a:latin typeface="Calibri"/>
                <a:cs typeface="Calibri"/>
              </a:rPr>
              <a:t> </a:t>
            </a:r>
            <a:r>
              <a:rPr dirty="0" sz="1100" spc="-5" b="1">
                <a:latin typeface="Calibri"/>
                <a:cs typeface="Calibri"/>
              </a:rPr>
              <a:t>Tracking</a:t>
            </a:r>
            <a:r>
              <a:rPr dirty="0" sz="1100" spc="-5">
                <a:latin typeface="Calibri"/>
                <a:cs typeface="Calibri"/>
              </a:rPr>
              <a:t>:</a:t>
            </a:r>
            <a:r>
              <a:rPr dirty="0" sz="110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Measuring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reporting the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status</a:t>
            </a:r>
            <a:r>
              <a:rPr dirty="0" sz="1100">
                <a:latin typeface="Calibri"/>
                <a:cs typeface="Calibri"/>
              </a:rPr>
              <a:t> of </a:t>
            </a:r>
            <a:r>
              <a:rPr dirty="0" sz="1100" spc="-5">
                <a:latin typeface="Calibri"/>
                <a:cs typeface="Calibri"/>
              </a:rPr>
              <a:t>milestones,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tasks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activities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required </a:t>
            </a:r>
            <a:r>
              <a:rPr dirty="0" sz="1100" spc="-229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achieving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the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pre-defined project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results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buFont typeface="Microsoft Sans Serif"/>
              <a:buChar char=""/>
            </a:pP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Microsoft Sans Serif"/>
              <a:buChar char=""/>
            </a:pPr>
            <a:endParaRPr sz="1500">
              <a:latin typeface="Calibri"/>
              <a:cs typeface="Calibri"/>
            </a:endParaRPr>
          </a:p>
          <a:p>
            <a:pPr marL="469265" indent="-228600">
              <a:lnSpc>
                <a:spcPct val="100000"/>
              </a:lnSpc>
              <a:buFont typeface="Microsoft Sans Serif"/>
              <a:buChar char=""/>
              <a:tabLst>
                <a:tab pos="469265" algn="l"/>
                <a:tab pos="469900" algn="l"/>
              </a:tabLst>
            </a:pPr>
            <a:r>
              <a:rPr dirty="0" sz="1100">
                <a:latin typeface="Calibri"/>
                <a:cs typeface="Calibri"/>
              </a:rPr>
              <a:t>Reasons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for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project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tracking:</a:t>
            </a:r>
            <a:endParaRPr sz="1100">
              <a:latin typeface="Calibri"/>
              <a:cs typeface="Calibri"/>
            </a:endParaRPr>
          </a:p>
          <a:p>
            <a:pPr lvl="1" marL="926465" indent="-229235">
              <a:lnSpc>
                <a:spcPct val="100000"/>
              </a:lnSpc>
              <a:spcBef>
                <a:spcPts val="985"/>
              </a:spcBef>
              <a:buFont typeface="Verdana"/>
              <a:buChar char="◦"/>
              <a:tabLst>
                <a:tab pos="926465" algn="l"/>
                <a:tab pos="927100" algn="l"/>
              </a:tabLst>
            </a:pPr>
            <a:r>
              <a:rPr dirty="0" sz="1100">
                <a:latin typeface="Calibri"/>
                <a:cs typeface="Calibri"/>
              </a:rPr>
              <a:t>A task</a:t>
            </a:r>
            <a:r>
              <a:rPr dirty="0" sz="1100" spc="-5">
                <a:latin typeface="Calibri"/>
                <a:cs typeface="Calibri"/>
              </a:rPr>
              <a:t> may</a:t>
            </a:r>
            <a:r>
              <a:rPr dirty="0" sz="110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simply take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more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or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less</a:t>
            </a:r>
            <a:r>
              <a:rPr dirty="0" sz="1100" spc="-5">
                <a:latin typeface="Calibri"/>
                <a:cs typeface="Calibri"/>
              </a:rPr>
              <a:t> time </a:t>
            </a:r>
            <a:r>
              <a:rPr dirty="0" sz="1100">
                <a:latin typeface="Calibri"/>
                <a:cs typeface="Calibri"/>
              </a:rPr>
              <a:t>than</a:t>
            </a:r>
            <a:r>
              <a:rPr dirty="0" sz="1100" spc="-5">
                <a:latin typeface="Calibri"/>
                <a:cs typeface="Calibri"/>
              </a:rPr>
              <a:t> expected.</a:t>
            </a:r>
            <a:endParaRPr sz="1100">
              <a:latin typeface="Calibri"/>
              <a:cs typeface="Calibri"/>
            </a:endParaRPr>
          </a:p>
          <a:p>
            <a:pPr lvl="1" marL="926465" indent="-229235">
              <a:lnSpc>
                <a:spcPct val="100000"/>
              </a:lnSpc>
              <a:spcBef>
                <a:spcPts val="994"/>
              </a:spcBef>
              <a:buFont typeface="Verdana"/>
              <a:buChar char="◦"/>
              <a:tabLst>
                <a:tab pos="926465" algn="l"/>
                <a:tab pos="927100" algn="l"/>
              </a:tabLst>
            </a:pPr>
            <a:r>
              <a:rPr dirty="0" sz="1100" spc="-5">
                <a:latin typeface="Calibri"/>
                <a:cs typeface="Calibri"/>
              </a:rPr>
              <a:t>Some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 the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rules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governing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project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may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cause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problems.</a:t>
            </a:r>
            <a:endParaRPr sz="1100">
              <a:latin typeface="Calibri"/>
              <a:cs typeface="Calibri"/>
            </a:endParaRPr>
          </a:p>
          <a:p>
            <a:pPr lvl="1" marL="926465" indent="-229235">
              <a:lnSpc>
                <a:spcPct val="100000"/>
              </a:lnSpc>
              <a:spcBef>
                <a:spcPts val="985"/>
              </a:spcBef>
              <a:buFont typeface="Verdana"/>
              <a:buChar char="◦"/>
              <a:tabLst>
                <a:tab pos="926465" algn="l"/>
                <a:tab pos="927100" algn="l"/>
              </a:tabLst>
            </a:pPr>
            <a:r>
              <a:rPr dirty="0" sz="1100" spc="-5">
                <a:latin typeface="Calibri"/>
                <a:cs typeface="Calibri"/>
              </a:rPr>
              <a:t>The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resources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needed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to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accomplish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tasks may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not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be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as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anticipated.</a:t>
            </a:r>
            <a:endParaRPr sz="1100">
              <a:latin typeface="Calibri"/>
              <a:cs typeface="Calibri"/>
            </a:endParaRPr>
          </a:p>
          <a:p>
            <a:pPr lvl="1" marL="926465" indent="-229235">
              <a:lnSpc>
                <a:spcPct val="100000"/>
              </a:lnSpc>
              <a:spcBef>
                <a:spcPts val="985"/>
              </a:spcBef>
              <a:buFont typeface="Verdana"/>
              <a:buChar char="◦"/>
              <a:tabLst>
                <a:tab pos="926465" algn="l"/>
                <a:tab pos="927100" algn="l"/>
              </a:tabLst>
            </a:pPr>
            <a:r>
              <a:rPr dirty="0" sz="1100" spc="-5">
                <a:latin typeface="Calibri"/>
                <a:cs typeface="Calibri"/>
              </a:rPr>
              <a:t>Something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bad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may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occur.</a:t>
            </a:r>
            <a:endParaRPr sz="1100">
              <a:latin typeface="Calibri"/>
              <a:cs typeface="Calibri"/>
            </a:endParaRPr>
          </a:p>
          <a:p>
            <a:pPr lvl="1" marL="926465" marR="5080" indent="-228600">
              <a:lnSpc>
                <a:spcPct val="109100"/>
              </a:lnSpc>
              <a:spcBef>
                <a:spcPts val="875"/>
              </a:spcBef>
              <a:buFont typeface="Verdana"/>
              <a:buChar char="◦"/>
              <a:tabLst>
                <a:tab pos="926465" algn="l"/>
                <a:tab pos="927100" algn="l"/>
              </a:tabLst>
            </a:pPr>
            <a:r>
              <a:rPr dirty="0" sz="1100" spc="-5">
                <a:latin typeface="Calibri"/>
                <a:cs typeface="Calibri"/>
              </a:rPr>
              <a:t>Tracking</a:t>
            </a:r>
            <a:r>
              <a:rPr dirty="0" sz="1100">
                <a:latin typeface="Calibri"/>
                <a:cs typeface="Calibri"/>
              </a:rPr>
              <a:t> is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essential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so</a:t>
            </a:r>
            <a:r>
              <a:rPr dirty="0" sz="1100" spc="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that</a:t>
            </a:r>
            <a:r>
              <a:rPr dirty="0" sz="1100" spc="-5">
                <a:latin typeface="Calibri"/>
                <a:cs typeface="Calibri"/>
              </a:rPr>
              <a:t> estimates,</a:t>
            </a:r>
            <a:r>
              <a:rPr dirty="0" sz="1100" spc="2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schedules,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resource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allocations,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risk</a:t>
            </a:r>
            <a:r>
              <a:rPr dirty="0" sz="1100" spc="2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analyses,</a:t>
            </a:r>
            <a:r>
              <a:rPr dirty="0" sz="1100" spc="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 </a:t>
            </a:r>
            <a:r>
              <a:rPr dirty="0" sz="1100" spc="-2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rules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can</a:t>
            </a:r>
            <a:r>
              <a:rPr dirty="0" sz="1100" spc="-5">
                <a:latin typeface="Calibri"/>
                <a:cs typeface="Calibri"/>
              </a:rPr>
              <a:t> be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revised.</a:t>
            </a:r>
            <a:endParaRPr sz="1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892556"/>
            <a:ext cx="5588635" cy="23996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" b="1">
                <a:latin typeface="Calibri"/>
                <a:cs typeface="Calibri"/>
              </a:rPr>
              <a:t>Leading</a:t>
            </a:r>
            <a:r>
              <a:rPr dirty="0" sz="1100" spc="-15" b="1">
                <a:latin typeface="Calibri"/>
                <a:cs typeface="Calibri"/>
              </a:rPr>
              <a:t> </a:t>
            </a:r>
            <a:r>
              <a:rPr dirty="0" sz="1100" b="1">
                <a:latin typeface="Calibri"/>
                <a:cs typeface="Calibri"/>
              </a:rPr>
              <a:t>a</a:t>
            </a:r>
            <a:r>
              <a:rPr dirty="0" sz="1100" spc="-15" b="1">
                <a:latin typeface="Calibri"/>
                <a:cs typeface="Calibri"/>
              </a:rPr>
              <a:t> </a:t>
            </a:r>
            <a:r>
              <a:rPr dirty="0" sz="1100" spc="-5" b="1">
                <a:latin typeface="Calibri"/>
                <a:cs typeface="Calibri"/>
              </a:rPr>
              <a:t>project:</a:t>
            </a:r>
            <a:endParaRPr sz="1100">
              <a:latin typeface="Calibri"/>
              <a:cs typeface="Calibri"/>
            </a:endParaRPr>
          </a:p>
          <a:p>
            <a:pPr marL="469265" indent="-228600">
              <a:lnSpc>
                <a:spcPct val="100000"/>
              </a:lnSpc>
              <a:spcBef>
                <a:spcPts val="930"/>
              </a:spcBef>
              <a:buFont typeface="Microsoft Sans Serif"/>
              <a:buChar char=""/>
              <a:tabLst>
                <a:tab pos="469265" algn="l"/>
                <a:tab pos="469900" algn="l"/>
              </a:tabLst>
            </a:pPr>
            <a:r>
              <a:rPr dirty="0" sz="1100">
                <a:latin typeface="Calibri"/>
                <a:cs typeface="Calibri"/>
              </a:rPr>
              <a:t>An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adequate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direction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-5">
                <a:latin typeface="Calibri"/>
                <a:cs typeface="Calibri"/>
              </a:rPr>
              <a:t> support,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broad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category</a:t>
            </a:r>
            <a:r>
              <a:rPr dirty="0" sz="1100">
                <a:latin typeface="Calibri"/>
                <a:cs typeface="Calibri"/>
              </a:rPr>
              <a:t> of management </a:t>
            </a:r>
            <a:r>
              <a:rPr dirty="0" sz="1100" spc="-5">
                <a:latin typeface="Calibri"/>
                <a:cs typeface="Calibri"/>
              </a:rPr>
              <a:t>responsibility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called</a:t>
            </a:r>
            <a:endParaRPr sz="1100">
              <a:latin typeface="Calibri"/>
              <a:cs typeface="Calibri"/>
            </a:endParaRPr>
          </a:p>
          <a:p>
            <a:pPr marL="469265">
              <a:lnSpc>
                <a:spcPct val="100000"/>
              </a:lnSpc>
              <a:spcBef>
                <a:spcPts val="130"/>
              </a:spcBef>
            </a:pPr>
            <a:r>
              <a:rPr dirty="0" sz="1100" spc="-5" b="1">
                <a:latin typeface="Calibri"/>
                <a:cs typeface="Calibri"/>
              </a:rPr>
              <a:t>leadership</a:t>
            </a:r>
            <a:r>
              <a:rPr dirty="0" sz="1100" b="1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is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required</a:t>
            </a:r>
            <a:r>
              <a:rPr dirty="0" sz="110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for</a:t>
            </a:r>
            <a:r>
              <a:rPr dirty="0" sz="110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successful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project.</a:t>
            </a:r>
            <a:endParaRPr sz="1100">
              <a:latin typeface="Calibri"/>
              <a:cs typeface="Calibri"/>
            </a:endParaRPr>
          </a:p>
          <a:p>
            <a:pPr marL="469265" indent="-228600">
              <a:lnSpc>
                <a:spcPct val="100000"/>
              </a:lnSpc>
              <a:spcBef>
                <a:spcPts val="935"/>
              </a:spcBef>
              <a:buFont typeface="Microsoft Sans Serif"/>
              <a:buChar char=""/>
              <a:tabLst>
                <a:tab pos="469265" algn="l"/>
                <a:tab pos="469900" algn="l"/>
              </a:tabLst>
            </a:pPr>
            <a:r>
              <a:rPr dirty="0" sz="1100" spc="-5">
                <a:latin typeface="Calibri"/>
                <a:cs typeface="Calibri"/>
              </a:rPr>
              <a:t>Merely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directing people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does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not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guarantee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success.</a:t>
            </a:r>
            <a:endParaRPr sz="1100">
              <a:latin typeface="Calibri"/>
              <a:cs typeface="Calibri"/>
            </a:endParaRPr>
          </a:p>
          <a:p>
            <a:pPr lvl="1" marL="926465" indent="-229235">
              <a:lnSpc>
                <a:spcPct val="100000"/>
              </a:lnSpc>
              <a:spcBef>
                <a:spcPts val="985"/>
              </a:spcBef>
              <a:buFont typeface="Verdana"/>
              <a:buChar char="◦"/>
              <a:tabLst>
                <a:tab pos="926465" algn="l"/>
                <a:tab pos="927100" algn="l"/>
              </a:tabLst>
            </a:pPr>
            <a:r>
              <a:rPr dirty="0" sz="1100">
                <a:latin typeface="Calibri"/>
                <a:cs typeface="Calibri"/>
              </a:rPr>
              <a:t>People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also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need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 </a:t>
            </a:r>
            <a:r>
              <a:rPr dirty="0" sz="1100" spc="-5">
                <a:latin typeface="Calibri"/>
                <a:cs typeface="Calibri"/>
              </a:rPr>
              <a:t>congenial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work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environment,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emotionally</a:t>
            </a:r>
            <a:endParaRPr sz="1100">
              <a:latin typeface="Calibri"/>
              <a:cs typeface="Calibri"/>
            </a:endParaRPr>
          </a:p>
          <a:p>
            <a:pPr lvl="1" marL="926465" indent="-229235">
              <a:lnSpc>
                <a:spcPct val="100000"/>
              </a:lnSpc>
              <a:spcBef>
                <a:spcPts val="985"/>
              </a:spcBef>
              <a:buFont typeface="Verdana"/>
              <a:buChar char="◦"/>
              <a:tabLst>
                <a:tab pos="926465" algn="l"/>
                <a:tab pos="927100" algn="l"/>
              </a:tabLst>
            </a:pPr>
            <a:r>
              <a:rPr dirty="0" sz="1100" spc="-5">
                <a:latin typeface="Calibri"/>
                <a:cs typeface="Calibri"/>
              </a:rPr>
              <a:t>socially</a:t>
            </a:r>
            <a:r>
              <a:rPr dirty="0" sz="110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supportive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workplace,</a:t>
            </a:r>
            <a:endParaRPr sz="1100">
              <a:latin typeface="Calibri"/>
              <a:cs typeface="Calibri"/>
            </a:endParaRPr>
          </a:p>
          <a:p>
            <a:pPr lvl="1" marL="926465" indent="-229235">
              <a:lnSpc>
                <a:spcPct val="100000"/>
              </a:lnSpc>
              <a:spcBef>
                <a:spcPts val="994"/>
              </a:spcBef>
              <a:buFont typeface="Verdana"/>
              <a:buChar char="◦"/>
              <a:tabLst>
                <a:tab pos="926465" algn="l"/>
                <a:tab pos="927100" algn="l"/>
              </a:tabLst>
            </a:pPr>
            <a:r>
              <a:rPr dirty="0" sz="1100">
                <a:latin typeface="Calibri"/>
                <a:cs typeface="Calibri"/>
              </a:rPr>
              <a:t>Make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them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feel </a:t>
            </a:r>
            <a:r>
              <a:rPr dirty="0" sz="1100">
                <a:latin typeface="Calibri"/>
                <a:cs typeface="Calibri"/>
              </a:rPr>
              <a:t>that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they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are</a:t>
            </a:r>
            <a:r>
              <a:rPr dirty="0" sz="1100" spc="2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doing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something</a:t>
            </a:r>
            <a:r>
              <a:rPr dirty="0" sz="110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important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endParaRPr sz="11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100" spc="-5" b="1">
                <a:latin typeface="Calibri"/>
                <a:cs typeface="Calibri"/>
              </a:rPr>
              <a:t>Iterative</a:t>
            </a:r>
            <a:r>
              <a:rPr dirty="0" sz="1100" spc="-10" b="1">
                <a:latin typeface="Calibri"/>
                <a:cs typeface="Calibri"/>
              </a:rPr>
              <a:t> </a:t>
            </a:r>
            <a:r>
              <a:rPr dirty="0" sz="1100" spc="-5" b="1">
                <a:latin typeface="Calibri"/>
                <a:cs typeface="Calibri"/>
              </a:rPr>
              <a:t>Planning and</a:t>
            </a:r>
            <a:r>
              <a:rPr dirty="0" sz="1100" spc="-20" b="1">
                <a:latin typeface="Calibri"/>
                <a:cs typeface="Calibri"/>
              </a:rPr>
              <a:t> </a:t>
            </a:r>
            <a:r>
              <a:rPr dirty="0" sz="1100" b="1">
                <a:latin typeface="Calibri"/>
                <a:cs typeface="Calibri"/>
              </a:rPr>
              <a:t>Tracking: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896416" y="8189721"/>
            <a:ext cx="5981065" cy="18415"/>
          </a:xfrm>
          <a:custGeom>
            <a:avLst/>
            <a:gdLst/>
            <a:ahLst/>
            <a:cxnLst/>
            <a:rect l="l" t="t" r="r" b="b"/>
            <a:pathLst>
              <a:path w="5981065" h="18415">
                <a:moveTo>
                  <a:pt x="5981065" y="0"/>
                </a:moveTo>
                <a:lnTo>
                  <a:pt x="0" y="0"/>
                </a:lnTo>
                <a:lnTo>
                  <a:pt x="0" y="18287"/>
                </a:lnTo>
                <a:lnTo>
                  <a:pt x="5981065" y="18287"/>
                </a:lnTo>
                <a:lnTo>
                  <a:pt x="598106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896416" y="8418321"/>
            <a:ext cx="5981065" cy="18415"/>
          </a:xfrm>
          <a:custGeom>
            <a:avLst/>
            <a:gdLst/>
            <a:ahLst/>
            <a:cxnLst/>
            <a:rect l="l" t="t" r="r" b="b"/>
            <a:pathLst>
              <a:path w="5981065" h="18415">
                <a:moveTo>
                  <a:pt x="5981065" y="0"/>
                </a:moveTo>
                <a:lnTo>
                  <a:pt x="0" y="0"/>
                </a:lnTo>
                <a:lnTo>
                  <a:pt x="0" y="18287"/>
                </a:lnTo>
                <a:lnTo>
                  <a:pt x="5981065" y="18287"/>
                </a:lnTo>
                <a:lnTo>
                  <a:pt x="598106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3235579" y="8516873"/>
            <a:ext cx="1303655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b="1">
                <a:latin typeface="Calibri"/>
                <a:cs typeface="Calibri"/>
              </a:rPr>
              <a:t>(WEEK</a:t>
            </a:r>
            <a:r>
              <a:rPr dirty="0" sz="1100" spc="-40" b="1">
                <a:latin typeface="Calibri"/>
                <a:cs typeface="Calibri"/>
              </a:rPr>
              <a:t> </a:t>
            </a:r>
            <a:r>
              <a:rPr dirty="0" sz="1100" b="1">
                <a:latin typeface="Calibri"/>
                <a:cs typeface="Calibri"/>
              </a:rPr>
              <a:t>4</a:t>
            </a:r>
            <a:r>
              <a:rPr dirty="0" sz="1100" spc="-25" b="1">
                <a:latin typeface="Calibri"/>
                <a:cs typeface="Calibri"/>
              </a:rPr>
              <a:t> </a:t>
            </a:r>
            <a:r>
              <a:rPr dirty="0" sz="1100" spc="-5" b="1">
                <a:latin typeface="Calibri"/>
                <a:cs typeface="Calibri"/>
              </a:rPr>
              <a:t>COMPLETED)</a:t>
            </a:r>
            <a:endParaRPr sz="110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51890" y="3728783"/>
            <a:ext cx="3068618" cy="4019677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892556"/>
            <a:ext cx="3865245" cy="13373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2105660">
              <a:lnSpc>
                <a:spcPct val="100000"/>
              </a:lnSpc>
              <a:spcBef>
                <a:spcPts val="100"/>
              </a:spcBef>
            </a:pPr>
            <a:r>
              <a:rPr dirty="0" sz="1100" b="1">
                <a:latin typeface="Calibri"/>
                <a:cs typeface="Calibri"/>
              </a:rPr>
              <a:t>WEEK</a:t>
            </a:r>
            <a:r>
              <a:rPr dirty="0" sz="1100" spc="-30" b="1">
                <a:latin typeface="Calibri"/>
                <a:cs typeface="Calibri"/>
              </a:rPr>
              <a:t> </a:t>
            </a:r>
            <a:r>
              <a:rPr dirty="0" sz="1100" b="1">
                <a:latin typeface="Calibri"/>
                <a:cs typeface="Calibri"/>
              </a:rPr>
              <a:t>#</a:t>
            </a:r>
            <a:r>
              <a:rPr dirty="0" sz="1100" spc="-30" b="1">
                <a:latin typeface="Calibri"/>
                <a:cs typeface="Calibri"/>
              </a:rPr>
              <a:t> </a:t>
            </a:r>
            <a:r>
              <a:rPr dirty="0" sz="1100" b="1">
                <a:latin typeface="Calibri"/>
                <a:cs typeface="Calibri"/>
              </a:rPr>
              <a:t>5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500">
              <a:latin typeface="Calibri"/>
              <a:cs typeface="Calibri"/>
            </a:endParaRPr>
          </a:p>
          <a:p>
            <a:pPr algn="ctr" marL="2103120">
              <a:lnSpc>
                <a:spcPct val="100000"/>
              </a:lnSpc>
            </a:pPr>
            <a:r>
              <a:rPr dirty="0" sz="1100" spc="-5" b="1">
                <a:latin typeface="Calibri"/>
                <a:cs typeface="Calibri"/>
              </a:rPr>
              <a:t>Software</a:t>
            </a:r>
            <a:r>
              <a:rPr dirty="0" sz="1100" spc="-20" b="1">
                <a:latin typeface="Calibri"/>
                <a:cs typeface="Calibri"/>
              </a:rPr>
              <a:t> </a:t>
            </a:r>
            <a:r>
              <a:rPr dirty="0" sz="1100" spc="-5" b="1">
                <a:latin typeface="Calibri"/>
                <a:cs typeface="Calibri"/>
              </a:rPr>
              <a:t>design</a:t>
            </a:r>
            <a:r>
              <a:rPr dirty="0" sz="1100" spc="-25" b="1">
                <a:latin typeface="Calibri"/>
                <a:cs typeface="Calibri"/>
              </a:rPr>
              <a:t> </a:t>
            </a:r>
            <a:r>
              <a:rPr dirty="0" sz="1100" spc="-5" b="1">
                <a:latin typeface="Calibri"/>
                <a:cs typeface="Calibri"/>
              </a:rPr>
              <a:t>management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5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100" spc="-5" b="1">
                <a:latin typeface="Calibri"/>
                <a:cs typeface="Calibri"/>
              </a:rPr>
              <a:t>Project</a:t>
            </a:r>
            <a:r>
              <a:rPr dirty="0" sz="1100" spc="-10" b="1">
                <a:latin typeface="Calibri"/>
                <a:cs typeface="Calibri"/>
              </a:rPr>
              <a:t> </a:t>
            </a:r>
            <a:r>
              <a:rPr dirty="0" sz="1100" spc="-5" b="1">
                <a:latin typeface="Calibri"/>
                <a:cs typeface="Calibri"/>
              </a:rPr>
              <a:t>planning</a:t>
            </a:r>
            <a:r>
              <a:rPr dirty="0" sz="1100" spc="-15" b="1">
                <a:latin typeface="Calibri"/>
                <a:cs typeface="Calibri"/>
              </a:rPr>
              <a:t> </a:t>
            </a:r>
            <a:r>
              <a:rPr dirty="0" sz="1100" spc="-5" b="1">
                <a:latin typeface="Calibri"/>
                <a:cs typeface="Calibri"/>
              </a:rPr>
              <a:t>activities: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359153" y="2607310"/>
            <a:ext cx="2972435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" b="1">
                <a:latin typeface="Calibri"/>
                <a:cs typeface="Calibri"/>
              </a:rPr>
              <a:t>Planning:</a:t>
            </a:r>
            <a:r>
              <a:rPr dirty="0" sz="1100" b="1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Formulating</a:t>
            </a:r>
            <a:r>
              <a:rPr dirty="0" sz="1100">
                <a:latin typeface="Calibri"/>
                <a:cs typeface="Calibri"/>
              </a:rPr>
              <a:t> a </a:t>
            </a:r>
            <a:r>
              <a:rPr dirty="0" sz="1100" spc="-5">
                <a:latin typeface="Calibri"/>
                <a:cs typeface="Calibri"/>
              </a:rPr>
              <a:t>scheme </a:t>
            </a:r>
            <a:r>
              <a:rPr dirty="0" sz="1100">
                <a:latin typeface="Calibri"/>
                <a:cs typeface="Calibri"/>
              </a:rPr>
              <a:t>for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doing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project.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30604" y="2320798"/>
            <a:ext cx="3425190" cy="7651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0665" indent="-228600">
              <a:lnSpc>
                <a:spcPct val="100000"/>
              </a:lnSpc>
              <a:spcBef>
                <a:spcPts val="100"/>
              </a:spcBef>
              <a:buFont typeface="Microsoft Sans Serif"/>
              <a:buChar char=""/>
              <a:tabLst>
                <a:tab pos="240665" algn="l"/>
                <a:tab pos="241300" algn="l"/>
              </a:tabLst>
            </a:pPr>
            <a:r>
              <a:rPr dirty="0" sz="1100" spc="-5">
                <a:latin typeface="Calibri"/>
                <a:cs typeface="Calibri"/>
              </a:rPr>
              <a:t>Software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development</a:t>
            </a:r>
            <a:r>
              <a:rPr dirty="0" sz="110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clearly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fits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project management: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40"/>
              </a:spcBef>
            </a:pPr>
            <a:r>
              <a:rPr dirty="0" sz="1100" spc="-155">
                <a:latin typeface="Microsoft Sans Serif"/>
                <a:cs typeface="Microsoft Sans Serif"/>
              </a:rPr>
              <a:t>🞂</a:t>
            </a:r>
            <a:endParaRPr sz="11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919"/>
              </a:spcBef>
            </a:pPr>
            <a:r>
              <a:rPr dirty="0" sz="1100" spc="-155">
                <a:latin typeface="Microsoft Sans Serif"/>
                <a:cs typeface="Microsoft Sans Serif"/>
              </a:rPr>
              <a:t>🞂</a:t>
            </a:r>
            <a:endParaRPr sz="1100">
              <a:latin typeface="Microsoft Sans Serif"/>
              <a:cs typeface="Microsoft Sans Serif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59153" y="2875763"/>
            <a:ext cx="5176520" cy="3949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0200"/>
              </a:lnSpc>
              <a:spcBef>
                <a:spcPts val="100"/>
              </a:spcBef>
            </a:pPr>
            <a:r>
              <a:rPr dirty="0" sz="1100" spc="-5" b="1">
                <a:latin typeface="Calibri"/>
                <a:cs typeface="Calibri"/>
              </a:rPr>
              <a:t>Organizing</a:t>
            </a:r>
            <a:r>
              <a:rPr dirty="0" sz="1100" spc="-5">
                <a:latin typeface="Calibri"/>
                <a:cs typeface="Calibri"/>
              </a:rPr>
              <a:t>: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Structuring</a:t>
            </a:r>
            <a:r>
              <a:rPr dirty="0" sz="1100">
                <a:latin typeface="Calibri"/>
                <a:cs typeface="Calibri"/>
              </a:rPr>
              <a:t> the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organizational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entities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involved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project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-5">
                <a:latin typeface="Calibri"/>
                <a:cs typeface="Calibri"/>
              </a:rPr>
              <a:t> assigning</a:t>
            </a:r>
            <a:r>
              <a:rPr dirty="0" sz="1100">
                <a:latin typeface="Calibri"/>
                <a:cs typeface="Calibri"/>
              </a:rPr>
              <a:t> them </a:t>
            </a:r>
            <a:r>
              <a:rPr dirty="0" sz="1100" spc="-23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responsibilities</a:t>
            </a:r>
            <a:r>
              <a:rPr dirty="0" sz="1100">
                <a:latin typeface="Calibri"/>
                <a:cs typeface="Calibri"/>
              </a:rPr>
              <a:t> and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authority.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59153" y="3648582"/>
            <a:ext cx="4771390" cy="1936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 spc="-5" b="1">
                <a:latin typeface="Calibri"/>
                <a:cs typeface="Calibri"/>
              </a:rPr>
              <a:t>Tracking</a:t>
            </a:r>
            <a:r>
              <a:rPr dirty="0" sz="1100" spc="-5">
                <a:latin typeface="Calibri"/>
                <a:cs typeface="Calibri"/>
              </a:rPr>
              <a:t>: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Observing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the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progress</a:t>
            </a:r>
            <a:r>
              <a:rPr dirty="0" sz="1100">
                <a:latin typeface="Calibri"/>
                <a:cs typeface="Calibri"/>
              </a:rPr>
              <a:t> of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work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adjusting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work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plans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accordingly.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30604" y="3362071"/>
            <a:ext cx="4977765" cy="7651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0665" indent="-228600">
              <a:lnSpc>
                <a:spcPct val="100000"/>
              </a:lnSpc>
              <a:spcBef>
                <a:spcPts val="100"/>
              </a:spcBef>
              <a:buFont typeface="Microsoft Sans Serif"/>
              <a:buChar char=""/>
              <a:tabLst>
                <a:tab pos="240665" algn="l"/>
                <a:tab pos="241300" algn="l"/>
              </a:tabLst>
            </a:pPr>
            <a:r>
              <a:rPr dirty="0" sz="1100" spc="-5" b="1">
                <a:latin typeface="Calibri"/>
                <a:cs typeface="Calibri"/>
              </a:rPr>
              <a:t>Staffing</a:t>
            </a:r>
            <a:r>
              <a:rPr dirty="0" sz="1100" spc="-5">
                <a:latin typeface="Calibri"/>
                <a:cs typeface="Calibri"/>
              </a:rPr>
              <a:t>: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Filling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positions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organizational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structure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keeping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them</a:t>
            </a:r>
            <a:r>
              <a:rPr dirty="0" sz="110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filled.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40"/>
              </a:spcBef>
            </a:pPr>
            <a:r>
              <a:rPr dirty="0" sz="1100" spc="-155">
                <a:latin typeface="Microsoft Sans Serif"/>
                <a:cs typeface="Microsoft Sans Serif"/>
              </a:rPr>
              <a:t>🞂</a:t>
            </a:r>
            <a:endParaRPr sz="11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919"/>
              </a:spcBef>
            </a:pPr>
            <a:r>
              <a:rPr dirty="0" sz="1100" spc="-155">
                <a:latin typeface="Microsoft Sans Serif"/>
                <a:cs typeface="Microsoft Sans Serif"/>
              </a:rPr>
              <a:t>🞂</a:t>
            </a:r>
            <a:endParaRPr sz="1100">
              <a:latin typeface="Microsoft Sans Serif"/>
              <a:cs typeface="Microsoft Sans Serif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59153" y="3933570"/>
            <a:ext cx="3315970" cy="1936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 spc="-5" b="1">
                <a:latin typeface="Calibri"/>
                <a:cs typeface="Calibri"/>
              </a:rPr>
              <a:t>Leading</a:t>
            </a:r>
            <a:r>
              <a:rPr dirty="0" sz="1100" spc="-5">
                <a:latin typeface="Calibri"/>
                <a:cs typeface="Calibri"/>
              </a:rPr>
              <a:t>: Directing</a:t>
            </a:r>
            <a:r>
              <a:rPr dirty="0" sz="1100">
                <a:latin typeface="Calibri"/>
                <a:cs typeface="Calibri"/>
              </a:rPr>
              <a:t> and </a:t>
            </a:r>
            <a:r>
              <a:rPr dirty="0" sz="1100" spc="-5">
                <a:latin typeface="Calibri"/>
                <a:cs typeface="Calibri"/>
              </a:rPr>
              <a:t>helping</a:t>
            </a:r>
            <a:r>
              <a:rPr dirty="0" sz="1100">
                <a:latin typeface="Calibri"/>
                <a:cs typeface="Calibri"/>
              </a:rPr>
              <a:t> people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doing</a:t>
            </a:r>
            <a:r>
              <a:rPr dirty="0" sz="110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project </a:t>
            </a:r>
            <a:r>
              <a:rPr dirty="0" sz="1100">
                <a:latin typeface="Calibri"/>
                <a:cs typeface="Calibri"/>
              </a:rPr>
              <a:t>work.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02004" y="4790058"/>
            <a:ext cx="5923915" cy="113474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 spc="-5" b="1">
                <a:latin typeface="Calibri"/>
                <a:cs typeface="Calibri"/>
              </a:rPr>
              <a:t>Design</a:t>
            </a:r>
            <a:r>
              <a:rPr dirty="0" sz="1100" spc="-15" b="1">
                <a:latin typeface="Calibri"/>
                <a:cs typeface="Calibri"/>
              </a:rPr>
              <a:t> </a:t>
            </a:r>
            <a:r>
              <a:rPr dirty="0" sz="1100" spc="-5" b="1">
                <a:latin typeface="Calibri"/>
                <a:cs typeface="Calibri"/>
              </a:rPr>
              <a:t>Project</a:t>
            </a:r>
            <a:r>
              <a:rPr dirty="0" sz="1100" spc="-15" b="1">
                <a:latin typeface="Calibri"/>
                <a:cs typeface="Calibri"/>
              </a:rPr>
              <a:t> </a:t>
            </a:r>
            <a:r>
              <a:rPr dirty="0" sz="1100" spc="-5" b="1">
                <a:latin typeface="Calibri"/>
                <a:cs typeface="Calibri"/>
              </a:rPr>
              <a:t>Decomposition:</a:t>
            </a:r>
            <a:endParaRPr sz="1100">
              <a:latin typeface="Calibri"/>
              <a:cs typeface="Calibri"/>
            </a:endParaRPr>
          </a:p>
          <a:p>
            <a:pPr marL="469265" marR="5080" indent="-228600">
              <a:lnSpc>
                <a:spcPct val="109200"/>
              </a:lnSpc>
              <a:spcBef>
                <a:spcPts val="810"/>
              </a:spcBef>
              <a:buFont typeface="Microsoft Sans Serif"/>
              <a:buChar char=""/>
              <a:tabLst>
                <a:tab pos="469265" algn="l"/>
                <a:tab pos="469900" algn="l"/>
              </a:tabLst>
            </a:pPr>
            <a:r>
              <a:rPr dirty="0" sz="1100" spc="-5">
                <a:latin typeface="Calibri"/>
                <a:cs typeface="Calibri"/>
              </a:rPr>
              <a:t>Most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aspects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project</a:t>
            </a:r>
            <a:r>
              <a:rPr dirty="0" sz="1100">
                <a:latin typeface="Calibri"/>
                <a:cs typeface="Calibri"/>
              </a:rPr>
              <a:t> management</a:t>
            </a:r>
            <a:r>
              <a:rPr dirty="0" sz="1100" spc="-5">
                <a:latin typeface="Calibri"/>
                <a:cs typeface="Calibri"/>
              </a:rPr>
              <a:t> depend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on the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work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to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be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done</a:t>
            </a:r>
            <a:r>
              <a:rPr dirty="0" sz="110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and,</a:t>
            </a:r>
            <a:r>
              <a:rPr dirty="0" sz="1100" spc="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 </a:t>
            </a:r>
            <a:r>
              <a:rPr dirty="0" sz="1100" spc="-5">
                <a:latin typeface="Calibri"/>
                <a:cs typeface="Calibri"/>
              </a:rPr>
              <a:t>particular,</a:t>
            </a:r>
            <a:r>
              <a:rPr dirty="0" sz="1100">
                <a:latin typeface="Calibri"/>
                <a:cs typeface="Calibri"/>
              </a:rPr>
              <a:t> on </a:t>
            </a:r>
            <a:r>
              <a:rPr dirty="0" sz="1100" spc="-5">
                <a:latin typeface="Calibri"/>
                <a:cs typeface="Calibri"/>
              </a:rPr>
              <a:t>how </a:t>
            </a:r>
            <a:r>
              <a:rPr dirty="0" sz="1100" spc="-2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it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is </a:t>
            </a:r>
            <a:r>
              <a:rPr dirty="0" sz="1100" spc="-5">
                <a:latin typeface="Calibri"/>
                <a:cs typeface="Calibri"/>
              </a:rPr>
              <a:t>decomposed.</a:t>
            </a:r>
            <a:endParaRPr sz="1100">
              <a:latin typeface="Calibri"/>
              <a:cs typeface="Calibri"/>
            </a:endParaRPr>
          </a:p>
          <a:p>
            <a:pPr marL="469265" marR="170815" indent="-228600">
              <a:lnSpc>
                <a:spcPct val="110000"/>
              </a:lnSpc>
              <a:spcBef>
                <a:spcPts val="805"/>
              </a:spcBef>
              <a:buFont typeface="Microsoft Sans Serif"/>
              <a:buChar char=""/>
              <a:tabLst>
                <a:tab pos="469265" algn="l"/>
                <a:tab pos="469900" algn="l"/>
              </a:tabLst>
            </a:pPr>
            <a:r>
              <a:rPr dirty="0" sz="1100">
                <a:latin typeface="Calibri"/>
                <a:cs typeface="Calibri"/>
              </a:rPr>
              <a:t>An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obvious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way </a:t>
            </a:r>
            <a:r>
              <a:rPr dirty="0" sz="1100">
                <a:latin typeface="Calibri"/>
                <a:cs typeface="Calibri"/>
              </a:rPr>
              <a:t>to </a:t>
            </a:r>
            <a:r>
              <a:rPr dirty="0" sz="1100" spc="-5">
                <a:latin typeface="Calibri"/>
                <a:cs typeface="Calibri"/>
              </a:rPr>
              <a:t>break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down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design</a:t>
            </a:r>
            <a:r>
              <a:rPr dirty="0" sz="110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project </a:t>
            </a:r>
            <a:r>
              <a:rPr dirty="0" sz="1100">
                <a:latin typeface="Calibri"/>
                <a:cs typeface="Calibri"/>
              </a:rPr>
              <a:t>is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to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divide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the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work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according </a:t>
            </a:r>
            <a:r>
              <a:rPr dirty="0" sz="1100" spc="-5">
                <a:latin typeface="Calibri"/>
                <a:cs typeface="Calibri"/>
              </a:rPr>
              <a:t>to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generic </a:t>
            </a:r>
            <a:r>
              <a:rPr dirty="0" sz="1100" spc="-2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design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processes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discussed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 the </a:t>
            </a:r>
            <a:r>
              <a:rPr dirty="0" sz="1100" spc="-5">
                <a:latin typeface="Calibri"/>
                <a:cs typeface="Calibri"/>
              </a:rPr>
              <a:t>last</a:t>
            </a:r>
            <a:r>
              <a:rPr dirty="0" sz="110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section.</a:t>
            </a:r>
            <a:endParaRPr sz="1100">
              <a:latin typeface="Calibri"/>
              <a:cs typeface="Calibri"/>
            </a:endParaRPr>
          </a:p>
        </p:txBody>
      </p:sp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10692" y="6053512"/>
            <a:ext cx="5567474" cy="2823576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4441063"/>
            <a:ext cx="5811520" cy="23583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 spc="-5" b="1">
                <a:latin typeface="Calibri"/>
                <a:cs typeface="Calibri"/>
              </a:rPr>
              <a:t>Design</a:t>
            </a:r>
            <a:r>
              <a:rPr dirty="0" sz="1100" spc="-10" b="1">
                <a:latin typeface="Calibri"/>
                <a:cs typeface="Calibri"/>
              </a:rPr>
              <a:t> </a:t>
            </a:r>
            <a:r>
              <a:rPr dirty="0" sz="1100" spc="-5" b="1">
                <a:latin typeface="Calibri"/>
                <a:cs typeface="Calibri"/>
              </a:rPr>
              <a:t>Project</a:t>
            </a:r>
            <a:r>
              <a:rPr dirty="0" sz="1100" spc="-15" b="1">
                <a:latin typeface="Calibri"/>
                <a:cs typeface="Calibri"/>
              </a:rPr>
              <a:t> </a:t>
            </a:r>
            <a:r>
              <a:rPr dirty="0" sz="1100" spc="-5" b="1">
                <a:latin typeface="Calibri"/>
                <a:cs typeface="Calibri"/>
              </a:rPr>
              <a:t>Planning:</a:t>
            </a:r>
            <a:endParaRPr sz="1100">
              <a:latin typeface="Calibri"/>
              <a:cs typeface="Calibri"/>
            </a:endParaRPr>
          </a:p>
          <a:p>
            <a:pPr marL="469265" marR="327025" indent="-228600">
              <a:lnSpc>
                <a:spcPct val="109100"/>
              </a:lnSpc>
              <a:spcBef>
                <a:spcPts val="815"/>
              </a:spcBef>
              <a:buFont typeface="Microsoft Sans Serif"/>
              <a:buChar char=""/>
              <a:tabLst>
                <a:tab pos="469265" algn="l"/>
                <a:tab pos="469900" algn="l"/>
              </a:tabLst>
            </a:pPr>
            <a:r>
              <a:rPr dirty="0" sz="1100" spc="-5">
                <a:latin typeface="Calibri"/>
                <a:cs typeface="Calibri"/>
              </a:rPr>
              <a:t>The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initial </a:t>
            </a:r>
            <a:r>
              <a:rPr dirty="0" sz="1100" spc="-5">
                <a:latin typeface="Calibri"/>
                <a:cs typeface="Calibri"/>
              </a:rPr>
              <a:t>project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plan</a:t>
            </a:r>
            <a:r>
              <a:rPr dirty="0" sz="1100" spc="-5">
                <a:latin typeface="Calibri"/>
                <a:cs typeface="Calibri"/>
              </a:rPr>
              <a:t> focuses </a:t>
            </a:r>
            <a:r>
              <a:rPr dirty="0" sz="1100">
                <a:latin typeface="Calibri"/>
                <a:cs typeface="Calibri"/>
              </a:rPr>
              <a:t>on </a:t>
            </a:r>
            <a:r>
              <a:rPr dirty="0" sz="1100" spc="-5">
                <a:latin typeface="Calibri"/>
                <a:cs typeface="Calibri"/>
              </a:rPr>
              <a:t>design</a:t>
            </a:r>
            <a:r>
              <a:rPr dirty="0" sz="110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problem</a:t>
            </a:r>
            <a:r>
              <a:rPr dirty="0" sz="110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analysis,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with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only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rough</a:t>
            </a:r>
            <a:r>
              <a:rPr dirty="0" sz="110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plans for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the </a:t>
            </a:r>
            <a:r>
              <a:rPr dirty="0" sz="1100" spc="-2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remainder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work.</a:t>
            </a:r>
            <a:endParaRPr sz="1100">
              <a:latin typeface="Calibri"/>
              <a:cs typeface="Calibri"/>
            </a:endParaRPr>
          </a:p>
          <a:p>
            <a:pPr marL="469265" marR="241935" indent="-228600">
              <a:lnSpc>
                <a:spcPct val="110000"/>
              </a:lnSpc>
              <a:spcBef>
                <a:spcPts val="805"/>
              </a:spcBef>
              <a:buFont typeface="Microsoft Sans Serif"/>
              <a:buChar char=""/>
              <a:tabLst>
                <a:tab pos="469265" algn="l"/>
                <a:tab pos="469900" algn="l"/>
              </a:tabLst>
            </a:pPr>
            <a:r>
              <a:rPr dirty="0" sz="1100">
                <a:latin typeface="Calibri"/>
                <a:cs typeface="Calibri"/>
              </a:rPr>
              <a:t>So,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plan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will</a:t>
            </a:r>
            <a:r>
              <a:rPr dirty="0" sz="1100" spc="-5">
                <a:latin typeface="Calibri"/>
                <a:cs typeface="Calibri"/>
              </a:rPr>
              <a:t> be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revised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before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product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design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resolution,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engineering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design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analysis,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 </a:t>
            </a:r>
            <a:r>
              <a:rPr dirty="0" sz="1100" spc="-23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engineering design resolution.</a:t>
            </a:r>
            <a:endParaRPr sz="1100">
              <a:latin typeface="Calibri"/>
              <a:cs typeface="Calibri"/>
            </a:endParaRPr>
          </a:p>
          <a:p>
            <a:pPr marL="469265" marR="156845" indent="-228600">
              <a:lnSpc>
                <a:spcPct val="110000"/>
              </a:lnSpc>
              <a:spcBef>
                <a:spcPts val="790"/>
              </a:spcBef>
              <a:buFont typeface="Microsoft Sans Serif"/>
              <a:buChar char=""/>
              <a:tabLst>
                <a:tab pos="469265" algn="l"/>
                <a:tab pos="469900" algn="l"/>
              </a:tabLst>
            </a:pPr>
            <a:r>
              <a:rPr dirty="0" sz="1100" spc="-5">
                <a:latin typeface="Calibri"/>
                <a:cs typeface="Calibri"/>
              </a:rPr>
              <a:t>Initial</a:t>
            </a:r>
            <a:r>
              <a:rPr dirty="0" sz="110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estimates</a:t>
            </a:r>
            <a:r>
              <a:rPr dirty="0" sz="1100">
                <a:latin typeface="Calibri"/>
                <a:cs typeface="Calibri"/>
              </a:rPr>
              <a:t> of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effort,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time, </a:t>
            </a:r>
            <a:r>
              <a:rPr dirty="0" sz="1100">
                <a:latin typeface="Calibri"/>
                <a:cs typeface="Calibri"/>
              </a:rPr>
              <a:t>and resources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are as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precise</a:t>
            </a:r>
            <a:r>
              <a:rPr dirty="0" sz="1100">
                <a:latin typeface="Calibri"/>
                <a:cs typeface="Calibri"/>
              </a:rPr>
              <a:t> as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possible,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based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on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work </a:t>
            </a:r>
            <a:r>
              <a:rPr dirty="0" sz="1100" spc="-23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products to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be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completed.</a:t>
            </a:r>
            <a:endParaRPr sz="1100">
              <a:latin typeface="Calibri"/>
              <a:cs typeface="Calibri"/>
            </a:endParaRPr>
          </a:p>
          <a:p>
            <a:pPr marL="469265" marR="5080" indent="-228600">
              <a:lnSpc>
                <a:spcPct val="110000"/>
              </a:lnSpc>
              <a:spcBef>
                <a:spcPts val="795"/>
              </a:spcBef>
              <a:buFont typeface="Microsoft Sans Serif"/>
              <a:buChar char=""/>
              <a:tabLst>
                <a:tab pos="469265" algn="l"/>
                <a:tab pos="469900" algn="l"/>
              </a:tabLst>
            </a:pPr>
            <a:r>
              <a:rPr dirty="0" sz="1100" spc="-5">
                <a:latin typeface="Calibri"/>
                <a:cs typeface="Calibri"/>
              </a:rPr>
              <a:t>These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estimates</a:t>
            </a:r>
            <a:r>
              <a:rPr dirty="0" sz="1100">
                <a:latin typeface="Calibri"/>
                <a:cs typeface="Calibri"/>
              </a:rPr>
              <a:t> may</a:t>
            </a:r>
            <a:r>
              <a:rPr dirty="0" sz="1100" spc="-5">
                <a:latin typeface="Calibri"/>
                <a:cs typeface="Calibri"/>
              </a:rPr>
              <a:t> be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based</a:t>
            </a:r>
            <a:r>
              <a:rPr dirty="0" sz="1100">
                <a:latin typeface="Calibri"/>
                <a:cs typeface="Calibri"/>
              </a:rPr>
              <a:t> on </a:t>
            </a:r>
            <a:r>
              <a:rPr dirty="0" sz="1100" spc="-5">
                <a:latin typeface="Calibri"/>
                <a:cs typeface="Calibri"/>
              </a:rPr>
              <a:t>data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about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work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done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 the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past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or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analogy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with</a:t>
            </a:r>
            <a:r>
              <a:rPr dirty="0" sz="110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similar </a:t>
            </a:r>
            <a:r>
              <a:rPr dirty="0" sz="1100" spc="-229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jobs</a:t>
            </a:r>
            <a:r>
              <a:rPr dirty="0" sz="1100" spc="-5">
                <a:latin typeface="Calibri"/>
                <a:cs typeface="Calibri"/>
              </a:rPr>
              <a:t> with</a:t>
            </a:r>
            <a:r>
              <a:rPr dirty="0" sz="1100">
                <a:latin typeface="Calibri"/>
                <a:cs typeface="Calibri"/>
              </a:rPr>
              <a:t> which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 </a:t>
            </a:r>
            <a:r>
              <a:rPr dirty="0" sz="1100" spc="-5">
                <a:latin typeface="Calibri"/>
                <a:cs typeface="Calibri"/>
              </a:rPr>
              <a:t>planners</a:t>
            </a:r>
            <a:r>
              <a:rPr dirty="0" sz="1100">
                <a:latin typeface="Calibri"/>
                <a:cs typeface="Calibri"/>
              </a:rPr>
              <a:t> are </a:t>
            </a:r>
            <a:r>
              <a:rPr dirty="0" sz="1100" spc="-5">
                <a:latin typeface="Calibri"/>
                <a:cs typeface="Calibri"/>
              </a:rPr>
              <a:t>familiar.</a:t>
            </a:r>
            <a:endParaRPr sz="1100">
              <a:latin typeface="Calibri"/>
              <a:cs typeface="Calibri"/>
            </a:endParaRPr>
          </a:p>
          <a:p>
            <a:pPr marL="469265" indent="-228600">
              <a:lnSpc>
                <a:spcPct val="100000"/>
              </a:lnSpc>
              <a:spcBef>
                <a:spcPts val="919"/>
              </a:spcBef>
              <a:buFont typeface="Microsoft Sans Serif"/>
              <a:buChar char=""/>
              <a:tabLst>
                <a:tab pos="469265" algn="l"/>
                <a:tab pos="469900" algn="l"/>
              </a:tabLst>
            </a:pPr>
            <a:r>
              <a:rPr dirty="0" sz="1100" spc="-5">
                <a:latin typeface="Calibri"/>
                <a:cs typeface="Calibri"/>
              </a:rPr>
              <a:t>The</a:t>
            </a:r>
            <a:r>
              <a:rPr dirty="0" sz="110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estimates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are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then </a:t>
            </a:r>
            <a:r>
              <a:rPr dirty="0" sz="1100" spc="-5">
                <a:latin typeface="Calibri"/>
                <a:cs typeface="Calibri"/>
              </a:rPr>
              <a:t>used </a:t>
            </a:r>
            <a:r>
              <a:rPr dirty="0" sz="1100">
                <a:latin typeface="Calibri"/>
                <a:cs typeface="Calibri"/>
              </a:rPr>
              <a:t>to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block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out: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816354" y="7176896"/>
            <a:ext cx="107061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">
                <a:latin typeface="Calibri"/>
                <a:cs typeface="Calibri"/>
              </a:rPr>
              <a:t>Allocate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resources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16354" y="7463790"/>
            <a:ext cx="75438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>
                <a:latin typeface="Calibri"/>
                <a:cs typeface="Calibri"/>
              </a:rPr>
              <a:t>A</a:t>
            </a:r>
            <a:r>
              <a:rPr dirty="0" sz="1100" spc="-10">
                <a:latin typeface="Calibri"/>
                <a:cs typeface="Calibri"/>
              </a:rPr>
              <a:t>n</a:t>
            </a:r>
            <a:r>
              <a:rPr dirty="0" sz="1100">
                <a:latin typeface="Calibri"/>
                <a:cs typeface="Calibri"/>
              </a:rPr>
              <a:t>alyze</a:t>
            </a:r>
            <a:r>
              <a:rPr dirty="0" sz="110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risks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587753" y="6891908"/>
            <a:ext cx="1294130" cy="10509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Font typeface="Microsoft Sans Serif"/>
              <a:buChar char=""/>
              <a:tabLst>
                <a:tab pos="240665" algn="l"/>
                <a:tab pos="241300" algn="l"/>
              </a:tabLst>
            </a:pPr>
            <a:r>
              <a:rPr dirty="0" sz="1100">
                <a:latin typeface="Calibri"/>
                <a:cs typeface="Calibri"/>
              </a:rPr>
              <a:t>An</a:t>
            </a:r>
            <a:r>
              <a:rPr dirty="0" sz="1100" spc="-4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initial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schedule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25"/>
              </a:spcBef>
            </a:pPr>
            <a:r>
              <a:rPr dirty="0" sz="1100" spc="-155">
                <a:latin typeface="Microsoft Sans Serif"/>
                <a:cs typeface="Microsoft Sans Serif"/>
              </a:rPr>
              <a:t>🞂</a:t>
            </a:r>
            <a:endParaRPr sz="11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940"/>
              </a:spcBef>
            </a:pPr>
            <a:r>
              <a:rPr dirty="0" sz="1100" spc="-155">
                <a:latin typeface="Microsoft Sans Serif"/>
                <a:cs typeface="Microsoft Sans Serif"/>
              </a:rPr>
              <a:t>🞂</a:t>
            </a:r>
            <a:endParaRPr sz="11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925"/>
              </a:spcBef>
            </a:pPr>
            <a:r>
              <a:rPr dirty="0" sz="1100" spc="-155">
                <a:latin typeface="Microsoft Sans Serif"/>
                <a:cs typeface="Microsoft Sans Serif"/>
              </a:rPr>
              <a:t>🞂</a:t>
            </a:r>
            <a:endParaRPr sz="1100">
              <a:latin typeface="Microsoft Sans Serif"/>
              <a:cs typeface="Microsoft Sans Serif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816354" y="7748778"/>
            <a:ext cx="1878964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">
                <a:latin typeface="Calibri"/>
                <a:cs typeface="Calibri"/>
              </a:rPr>
              <a:t>Set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rules </a:t>
            </a:r>
            <a:r>
              <a:rPr dirty="0" sz="1100" spc="-5">
                <a:latin typeface="Calibri"/>
                <a:cs typeface="Calibri"/>
              </a:rPr>
              <a:t>guiding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 </a:t>
            </a:r>
            <a:r>
              <a:rPr dirty="0" sz="1100" spc="-5">
                <a:latin typeface="Calibri"/>
                <a:cs typeface="Calibri"/>
              </a:rPr>
              <a:t>project.</a:t>
            </a:r>
            <a:endParaRPr sz="1100">
              <a:latin typeface="Calibri"/>
              <a:cs typeface="Calibri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78230" y="918769"/>
            <a:ext cx="5670423" cy="2853332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892556"/>
            <a:ext cx="5728335" cy="17043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" b="1">
                <a:latin typeface="Calibri"/>
                <a:cs typeface="Calibri"/>
              </a:rPr>
              <a:t>Design</a:t>
            </a:r>
            <a:r>
              <a:rPr dirty="0" sz="1100" spc="-10" b="1">
                <a:latin typeface="Calibri"/>
                <a:cs typeface="Calibri"/>
              </a:rPr>
              <a:t> </a:t>
            </a:r>
            <a:r>
              <a:rPr dirty="0" sz="1100" spc="-5" b="1">
                <a:latin typeface="Calibri"/>
                <a:cs typeface="Calibri"/>
              </a:rPr>
              <a:t>Project</a:t>
            </a:r>
            <a:r>
              <a:rPr dirty="0" sz="1100" spc="-15" b="1">
                <a:latin typeface="Calibri"/>
                <a:cs typeface="Calibri"/>
              </a:rPr>
              <a:t> </a:t>
            </a:r>
            <a:r>
              <a:rPr dirty="0" sz="1100" spc="-5" b="1">
                <a:latin typeface="Calibri"/>
                <a:cs typeface="Calibri"/>
              </a:rPr>
              <a:t>Tracking:</a:t>
            </a:r>
            <a:endParaRPr sz="1100">
              <a:latin typeface="Calibri"/>
              <a:cs typeface="Calibri"/>
            </a:endParaRPr>
          </a:p>
          <a:p>
            <a:pPr marL="469265" indent="-228600">
              <a:lnSpc>
                <a:spcPct val="100000"/>
              </a:lnSpc>
              <a:spcBef>
                <a:spcPts val="930"/>
              </a:spcBef>
              <a:buFont typeface="Microsoft Sans Serif"/>
              <a:buChar char=""/>
              <a:tabLst>
                <a:tab pos="469265" algn="l"/>
                <a:tab pos="469900" algn="l"/>
              </a:tabLst>
            </a:pPr>
            <a:r>
              <a:rPr dirty="0" sz="1100" spc="-5">
                <a:latin typeface="Calibri"/>
                <a:cs typeface="Calibri"/>
              </a:rPr>
              <a:t>Product</a:t>
            </a:r>
            <a:r>
              <a:rPr dirty="0" sz="110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analysis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work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is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tracked against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initial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plan.</a:t>
            </a:r>
            <a:endParaRPr sz="1100">
              <a:latin typeface="Calibri"/>
              <a:cs typeface="Calibri"/>
            </a:endParaRPr>
          </a:p>
          <a:p>
            <a:pPr marL="469265" marR="181610" indent="-228600">
              <a:lnSpc>
                <a:spcPct val="110000"/>
              </a:lnSpc>
              <a:spcBef>
                <a:spcPts val="805"/>
              </a:spcBef>
              <a:buFont typeface="Microsoft Sans Serif"/>
              <a:buChar char=""/>
              <a:tabLst>
                <a:tab pos="469265" algn="l"/>
                <a:tab pos="469900" algn="l"/>
              </a:tabLst>
            </a:pPr>
            <a:r>
              <a:rPr dirty="0" sz="1100">
                <a:latin typeface="Calibri"/>
                <a:cs typeface="Calibri"/>
              </a:rPr>
              <a:t>Ideally,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problem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analysis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is</a:t>
            </a:r>
            <a:r>
              <a:rPr dirty="0" sz="1100" spc="-5">
                <a:latin typeface="Calibri"/>
                <a:cs typeface="Calibri"/>
              </a:rPr>
              <a:t> complete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when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it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is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time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to revise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the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plan,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since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planning</a:t>
            </a:r>
            <a:r>
              <a:rPr dirty="0" sz="1100">
                <a:latin typeface="Calibri"/>
                <a:cs typeface="Calibri"/>
              </a:rPr>
              <a:t> the </a:t>
            </a:r>
            <a:r>
              <a:rPr dirty="0" sz="1100" spc="-229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product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design</a:t>
            </a:r>
            <a:r>
              <a:rPr dirty="0" sz="1100" spc="-5">
                <a:latin typeface="Calibri"/>
                <a:cs typeface="Calibri"/>
              </a:rPr>
              <a:t> resolution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phase</a:t>
            </a:r>
            <a:r>
              <a:rPr dirty="0" sz="1100">
                <a:latin typeface="Calibri"/>
                <a:cs typeface="Calibri"/>
              </a:rPr>
              <a:t> requires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this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information.</a:t>
            </a:r>
            <a:endParaRPr sz="1100">
              <a:latin typeface="Calibri"/>
              <a:cs typeface="Calibri"/>
            </a:endParaRPr>
          </a:p>
          <a:p>
            <a:pPr marL="469265" indent="-228600">
              <a:lnSpc>
                <a:spcPct val="100000"/>
              </a:lnSpc>
              <a:spcBef>
                <a:spcPts val="919"/>
              </a:spcBef>
              <a:buFont typeface="Microsoft Sans Serif"/>
              <a:buChar char=""/>
              <a:tabLst>
                <a:tab pos="469265" algn="l"/>
                <a:tab pos="469900" algn="l"/>
              </a:tabLst>
            </a:pPr>
            <a:r>
              <a:rPr dirty="0" sz="1100" spc="-5">
                <a:latin typeface="Calibri"/>
                <a:cs typeface="Calibri"/>
              </a:rPr>
              <a:t>The</a:t>
            </a:r>
            <a:r>
              <a:rPr dirty="0" sz="1100">
                <a:latin typeface="Calibri"/>
                <a:cs typeface="Calibri"/>
              </a:rPr>
              <a:t> plan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may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be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altered</a:t>
            </a:r>
            <a:r>
              <a:rPr dirty="0" sz="110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during</a:t>
            </a:r>
            <a:r>
              <a:rPr dirty="0" sz="1100">
                <a:latin typeface="Calibri"/>
                <a:cs typeface="Calibri"/>
              </a:rPr>
              <a:t> tracking</a:t>
            </a:r>
            <a:r>
              <a:rPr dirty="0" sz="1100" spc="-5">
                <a:latin typeface="Calibri"/>
                <a:cs typeface="Calibri"/>
              </a:rPr>
              <a:t> to make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this </a:t>
            </a:r>
            <a:r>
              <a:rPr dirty="0" sz="1100" spc="-5">
                <a:latin typeface="Calibri"/>
                <a:cs typeface="Calibri"/>
              </a:rPr>
              <a:t>happen.</a:t>
            </a:r>
            <a:endParaRPr sz="1100">
              <a:latin typeface="Calibri"/>
              <a:cs typeface="Calibri"/>
            </a:endParaRPr>
          </a:p>
          <a:p>
            <a:pPr marL="469265" marR="5080" indent="-228600">
              <a:lnSpc>
                <a:spcPct val="110000"/>
              </a:lnSpc>
              <a:spcBef>
                <a:spcPts val="795"/>
              </a:spcBef>
              <a:buFont typeface="Microsoft Sans Serif"/>
              <a:buChar char=""/>
              <a:tabLst>
                <a:tab pos="469265" algn="l"/>
                <a:tab pos="469900" algn="l"/>
              </a:tabLst>
            </a:pPr>
            <a:r>
              <a:rPr dirty="0" sz="1100">
                <a:latin typeface="Calibri"/>
                <a:cs typeface="Calibri"/>
              </a:rPr>
              <a:t>A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revised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plan</a:t>
            </a:r>
            <a:r>
              <a:rPr dirty="0" sz="110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prepared before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product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design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resolution </a:t>
            </a:r>
            <a:r>
              <a:rPr dirty="0" sz="1100" spc="-5">
                <a:latin typeface="Calibri"/>
                <a:cs typeface="Calibri"/>
              </a:rPr>
              <a:t>phase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should</a:t>
            </a:r>
            <a:r>
              <a:rPr dirty="0" sz="110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have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much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more </a:t>
            </a:r>
            <a:r>
              <a:rPr dirty="0" sz="1100" spc="-2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accurate: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816354" y="2974594"/>
            <a:ext cx="54102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">
                <a:latin typeface="Calibri"/>
                <a:cs typeface="Calibri"/>
              </a:rPr>
              <a:t>Schedule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16354" y="3259962"/>
            <a:ext cx="119380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>
                <a:latin typeface="Calibri"/>
                <a:cs typeface="Calibri"/>
              </a:rPr>
              <a:t>Resource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allocations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587753" y="2689606"/>
            <a:ext cx="807085" cy="10509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Font typeface="Microsoft Sans Serif"/>
              <a:buChar char=""/>
              <a:tabLst>
                <a:tab pos="240665" algn="l"/>
                <a:tab pos="241300" algn="l"/>
              </a:tabLst>
            </a:pPr>
            <a:r>
              <a:rPr dirty="0" sz="1100" spc="-5">
                <a:latin typeface="Calibri"/>
                <a:cs typeface="Calibri"/>
              </a:rPr>
              <a:t>Estimates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25"/>
              </a:spcBef>
            </a:pPr>
            <a:r>
              <a:rPr dirty="0" sz="1100" spc="-155">
                <a:latin typeface="Microsoft Sans Serif"/>
                <a:cs typeface="Microsoft Sans Serif"/>
              </a:rPr>
              <a:t>🞂</a:t>
            </a:r>
            <a:endParaRPr sz="11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930"/>
              </a:spcBef>
            </a:pPr>
            <a:r>
              <a:rPr dirty="0" sz="1100" spc="-155">
                <a:latin typeface="Microsoft Sans Serif"/>
                <a:cs typeface="Microsoft Sans Serif"/>
              </a:rPr>
              <a:t>🞂</a:t>
            </a:r>
            <a:endParaRPr sz="11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935"/>
              </a:spcBef>
            </a:pPr>
            <a:r>
              <a:rPr dirty="0" sz="1100" spc="-155">
                <a:latin typeface="Microsoft Sans Serif"/>
                <a:cs typeface="Microsoft Sans Serif"/>
              </a:rPr>
              <a:t>🞂</a:t>
            </a:r>
            <a:endParaRPr sz="1100">
              <a:latin typeface="Microsoft Sans Serif"/>
              <a:cs typeface="Microsoft Sans Serif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816354" y="3546475"/>
            <a:ext cx="728345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>
                <a:latin typeface="Calibri"/>
                <a:cs typeface="Calibri"/>
              </a:rPr>
              <a:t>Risk</a:t>
            </a:r>
            <a:r>
              <a:rPr dirty="0" sz="1100" spc="-5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analysis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02004" y="3815308"/>
            <a:ext cx="5875655" cy="27171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0000"/>
              </a:lnSpc>
              <a:spcBef>
                <a:spcPts val="100"/>
              </a:spcBef>
            </a:pPr>
            <a:r>
              <a:rPr dirty="0" sz="1100" spc="-5">
                <a:latin typeface="Calibri"/>
                <a:cs typeface="Calibri"/>
              </a:rPr>
              <a:t>Iterative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planning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tracking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continues </a:t>
            </a:r>
            <a:r>
              <a:rPr dirty="0" sz="1100" spc="-5">
                <a:latin typeface="Calibri"/>
                <a:cs typeface="Calibri"/>
              </a:rPr>
              <a:t>through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 </a:t>
            </a:r>
            <a:r>
              <a:rPr dirty="0" sz="1100" spc="-5">
                <a:latin typeface="Calibri"/>
                <a:cs typeface="Calibri"/>
              </a:rPr>
              <a:t>engineering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design </a:t>
            </a:r>
            <a:r>
              <a:rPr dirty="0" sz="1100">
                <a:latin typeface="Calibri"/>
                <a:cs typeface="Calibri"/>
              </a:rPr>
              <a:t>with more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details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added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each </a:t>
            </a:r>
            <a:r>
              <a:rPr dirty="0" sz="1100" spc="-229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time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plan</a:t>
            </a:r>
            <a:r>
              <a:rPr dirty="0" sz="1100" spc="-10">
                <a:latin typeface="Calibri"/>
                <a:cs typeface="Calibri"/>
              </a:rPr>
              <a:t> is</a:t>
            </a:r>
            <a:r>
              <a:rPr dirty="0" sz="110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revised.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5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100" spc="-5" b="1">
                <a:latin typeface="Calibri"/>
                <a:cs typeface="Calibri"/>
              </a:rPr>
              <a:t>Design</a:t>
            </a:r>
            <a:r>
              <a:rPr dirty="0" sz="1100" spc="-15" b="1">
                <a:latin typeface="Calibri"/>
                <a:cs typeface="Calibri"/>
              </a:rPr>
              <a:t> </a:t>
            </a:r>
            <a:r>
              <a:rPr dirty="0" sz="1100" spc="-5" b="1">
                <a:latin typeface="Calibri"/>
                <a:cs typeface="Calibri"/>
              </a:rPr>
              <a:t>Project</a:t>
            </a:r>
            <a:r>
              <a:rPr dirty="0" sz="1100" spc="-15" b="1">
                <a:latin typeface="Calibri"/>
                <a:cs typeface="Calibri"/>
              </a:rPr>
              <a:t> </a:t>
            </a:r>
            <a:r>
              <a:rPr dirty="0" sz="1100" spc="-5" b="1">
                <a:latin typeface="Calibri"/>
                <a:cs typeface="Calibri"/>
              </a:rPr>
              <a:t>Organization:</a:t>
            </a:r>
            <a:endParaRPr sz="1100">
              <a:latin typeface="Calibri"/>
              <a:cs typeface="Calibri"/>
            </a:endParaRPr>
          </a:p>
          <a:p>
            <a:pPr marL="469265" indent="-228600">
              <a:lnSpc>
                <a:spcPct val="100000"/>
              </a:lnSpc>
              <a:spcBef>
                <a:spcPts val="925"/>
              </a:spcBef>
              <a:buFont typeface="Microsoft Sans Serif"/>
              <a:buChar char=""/>
              <a:tabLst>
                <a:tab pos="469265" algn="l"/>
                <a:tab pos="469900" algn="l"/>
              </a:tabLst>
            </a:pPr>
            <a:r>
              <a:rPr dirty="0" sz="1100">
                <a:latin typeface="Calibri"/>
                <a:cs typeface="Calibri"/>
              </a:rPr>
              <a:t>Design</a:t>
            </a:r>
            <a:r>
              <a:rPr dirty="0" sz="1100" spc="-5">
                <a:latin typeface="Calibri"/>
                <a:cs typeface="Calibri"/>
              </a:rPr>
              <a:t> teams</a:t>
            </a:r>
            <a:r>
              <a:rPr dirty="0" sz="110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should</a:t>
            </a:r>
            <a:r>
              <a:rPr dirty="0" sz="110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be</a:t>
            </a:r>
            <a:r>
              <a:rPr dirty="0" sz="110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formed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with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responsibility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of:</a:t>
            </a:r>
            <a:endParaRPr sz="1100">
              <a:latin typeface="Calibri"/>
              <a:cs typeface="Calibri"/>
            </a:endParaRPr>
          </a:p>
          <a:p>
            <a:pPr lvl="1" marL="926465" indent="-229235">
              <a:lnSpc>
                <a:spcPct val="100000"/>
              </a:lnSpc>
              <a:spcBef>
                <a:spcPts val="994"/>
              </a:spcBef>
              <a:buFont typeface="Verdana"/>
              <a:buChar char="◦"/>
              <a:tabLst>
                <a:tab pos="926465" algn="l"/>
                <a:tab pos="927100" algn="l"/>
              </a:tabLst>
            </a:pPr>
            <a:r>
              <a:rPr dirty="0" sz="1100">
                <a:latin typeface="Calibri"/>
                <a:cs typeface="Calibri"/>
              </a:rPr>
              <a:t>Design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as</a:t>
            </a:r>
            <a:r>
              <a:rPr dirty="0" sz="1100" spc="-4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whole</a:t>
            </a:r>
            <a:endParaRPr sz="1100">
              <a:latin typeface="Calibri"/>
              <a:cs typeface="Calibri"/>
            </a:endParaRPr>
          </a:p>
          <a:p>
            <a:pPr lvl="1" marL="926465" indent="-229235">
              <a:lnSpc>
                <a:spcPct val="100000"/>
              </a:lnSpc>
              <a:spcBef>
                <a:spcPts val="985"/>
              </a:spcBef>
              <a:buFont typeface="Verdana"/>
              <a:buChar char="◦"/>
              <a:tabLst>
                <a:tab pos="926465" algn="l"/>
                <a:tab pos="927100" algn="l"/>
              </a:tabLst>
            </a:pPr>
            <a:r>
              <a:rPr dirty="0" sz="1100" spc="-5">
                <a:latin typeface="Calibri"/>
                <a:cs typeface="Calibri"/>
              </a:rPr>
              <a:t>Each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major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phase</a:t>
            </a:r>
            <a:endParaRPr sz="1100">
              <a:latin typeface="Calibri"/>
              <a:cs typeface="Calibri"/>
            </a:endParaRPr>
          </a:p>
          <a:p>
            <a:pPr lvl="1" marL="926465" indent="-229235">
              <a:lnSpc>
                <a:spcPct val="100000"/>
              </a:lnSpc>
              <a:spcBef>
                <a:spcPts val="985"/>
              </a:spcBef>
              <a:buFont typeface="Verdana"/>
              <a:buChar char="◦"/>
              <a:tabLst>
                <a:tab pos="926465" algn="l"/>
                <a:tab pos="927100" algn="l"/>
              </a:tabLst>
            </a:pPr>
            <a:r>
              <a:rPr dirty="0" sz="1100" spc="-5">
                <a:latin typeface="Calibri"/>
                <a:cs typeface="Calibri"/>
              </a:rPr>
              <a:t>Each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sub-phase</a:t>
            </a:r>
            <a:endParaRPr sz="1100">
              <a:latin typeface="Calibri"/>
              <a:cs typeface="Calibri"/>
            </a:endParaRPr>
          </a:p>
          <a:p>
            <a:pPr lvl="1" marL="926465" indent="-229235">
              <a:lnSpc>
                <a:spcPct val="100000"/>
              </a:lnSpc>
              <a:spcBef>
                <a:spcPts val="994"/>
              </a:spcBef>
              <a:buFont typeface="Verdana"/>
              <a:buChar char="◦"/>
              <a:tabLst>
                <a:tab pos="926465" algn="l"/>
                <a:tab pos="927100" algn="l"/>
              </a:tabLst>
            </a:pPr>
            <a:r>
              <a:rPr dirty="0" sz="1100" spc="-5">
                <a:latin typeface="Calibri"/>
                <a:cs typeface="Calibri"/>
              </a:rPr>
              <a:t>Production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various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work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products.</a:t>
            </a:r>
            <a:endParaRPr sz="1100">
              <a:latin typeface="Calibri"/>
              <a:cs typeface="Calibri"/>
            </a:endParaRPr>
          </a:p>
          <a:p>
            <a:pPr lvl="1" marL="926465" indent="-229235">
              <a:lnSpc>
                <a:spcPct val="100000"/>
              </a:lnSpc>
              <a:spcBef>
                <a:spcPts val="985"/>
              </a:spcBef>
              <a:buFont typeface="Verdana"/>
              <a:buChar char="◦"/>
              <a:tabLst>
                <a:tab pos="926465" algn="l"/>
                <a:tab pos="927100" algn="l"/>
              </a:tabLst>
            </a:pPr>
            <a:r>
              <a:rPr dirty="0" sz="1100" spc="-5">
                <a:latin typeface="Calibri"/>
                <a:cs typeface="Calibri"/>
              </a:rPr>
              <a:t>e.g.</a:t>
            </a:r>
            <a:r>
              <a:rPr dirty="0" sz="1100" spc="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large </a:t>
            </a:r>
            <a:r>
              <a:rPr dirty="0" sz="1100">
                <a:latin typeface="Calibri"/>
                <a:cs typeface="Calibri"/>
              </a:rPr>
              <a:t>company</a:t>
            </a:r>
            <a:r>
              <a:rPr dirty="0" sz="1100" spc="-5">
                <a:latin typeface="Calibri"/>
                <a:cs typeface="Calibri"/>
              </a:rPr>
              <a:t> might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have a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division</a:t>
            </a:r>
            <a:r>
              <a:rPr dirty="0" sz="110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responsible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for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requirements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 </a:t>
            </a:r>
            <a:r>
              <a:rPr dirty="0" sz="1100" spc="-5">
                <a:latin typeface="Calibri"/>
                <a:cs typeface="Calibri"/>
              </a:rPr>
              <a:t>design.</a:t>
            </a:r>
            <a:endParaRPr sz="1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892556"/>
            <a:ext cx="5959475" cy="66509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" b="1">
                <a:latin typeface="Calibri"/>
                <a:cs typeface="Calibri"/>
              </a:rPr>
              <a:t>Design</a:t>
            </a:r>
            <a:r>
              <a:rPr dirty="0" sz="1100" spc="-15" b="1">
                <a:latin typeface="Calibri"/>
                <a:cs typeface="Calibri"/>
              </a:rPr>
              <a:t> </a:t>
            </a:r>
            <a:r>
              <a:rPr dirty="0" sz="1100" spc="-5" b="1">
                <a:latin typeface="Calibri"/>
                <a:cs typeface="Calibri"/>
              </a:rPr>
              <a:t>Project</a:t>
            </a:r>
            <a:r>
              <a:rPr dirty="0" sz="1100" spc="-10" b="1">
                <a:latin typeface="Calibri"/>
                <a:cs typeface="Calibri"/>
              </a:rPr>
              <a:t> </a:t>
            </a:r>
            <a:r>
              <a:rPr dirty="0" sz="1100" spc="-5" b="1">
                <a:latin typeface="Calibri"/>
                <a:cs typeface="Calibri"/>
              </a:rPr>
              <a:t>Staffing:</a:t>
            </a:r>
            <a:endParaRPr sz="1100">
              <a:latin typeface="Calibri"/>
              <a:cs typeface="Calibri"/>
            </a:endParaRPr>
          </a:p>
          <a:p>
            <a:pPr marL="469265" indent="-228600">
              <a:lnSpc>
                <a:spcPct val="100000"/>
              </a:lnSpc>
              <a:spcBef>
                <a:spcPts val="930"/>
              </a:spcBef>
              <a:buFont typeface="Microsoft Sans Serif"/>
              <a:buChar char=""/>
              <a:tabLst>
                <a:tab pos="469265" algn="l"/>
                <a:tab pos="469900" algn="l"/>
              </a:tabLst>
            </a:pPr>
            <a:r>
              <a:rPr dirty="0" sz="1100" spc="-5">
                <a:latin typeface="Calibri"/>
                <a:cs typeface="Calibri"/>
              </a:rPr>
              <a:t>Organizations</a:t>
            </a:r>
            <a:r>
              <a:rPr dirty="0" sz="110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are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staffed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to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fit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decomposition</a:t>
            </a:r>
            <a:r>
              <a:rPr dirty="0" sz="1100">
                <a:latin typeface="Calibri"/>
                <a:cs typeface="Calibri"/>
              </a:rPr>
              <a:t> of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design </a:t>
            </a:r>
            <a:r>
              <a:rPr dirty="0" sz="1100" spc="-5">
                <a:latin typeface="Calibri"/>
                <a:cs typeface="Calibri"/>
              </a:rPr>
              <a:t>work.</a:t>
            </a:r>
            <a:endParaRPr sz="1100">
              <a:latin typeface="Calibri"/>
              <a:cs typeface="Calibri"/>
            </a:endParaRPr>
          </a:p>
          <a:p>
            <a:pPr marL="469265" indent="-228600">
              <a:lnSpc>
                <a:spcPct val="100000"/>
              </a:lnSpc>
              <a:spcBef>
                <a:spcPts val="935"/>
              </a:spcBef>
              <a:buFont typeface="Microsoft Sans Serif"/>
              <a:buChar char=""/>
              <a:tabLst>
                <a:tab pos="469265" algn="l"/>
                <a:tab pos="469900" algn="l"/>
              </a:tabLst>
            </a:pPr>
            <a:r>
              <a:rPr dirty="0" sz="1100" spc="-5">
                <a:latin typeface="Calibri"/>
                <a:cs typeface="Calibri"/>
              </a:rPr>
              <a:t>Projects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need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staff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to:</a:t>
            </a:r>
            <a:endParaRPr sz="1100">
              <a:latin typeface="Calibri"/>
              <a:cs typeface="Calibri"/>
            </a:endParaRPr>
          </a:p>
          <a:p>
            <a:pPr lvl="1" marL="926465" indent="-229235">
              <a:lnSpc>
                <a:spcPct val="100000"/>
              </a:lnSpc>
              <a:spcBef>
                <a:spcPts val="985"/>
              </a:spcBef>
              <a:buFont typeface="Verdana"/>
              <a:buChar char="◦"/>
              <a:tabLst>
                <a:tab pos="926465" algn="l"/>
                <a:tab pos="927100" algn="l"/>
              </a:tabLst>
            </a:pPr>
            <a:r>
              <a:rPr dirty="0" sz="1100" spc="-5">
                <a:latin typeface="Calibri"/>
                <a:cs typeface="Calibri"/>
              </a:rPr>
              <a:t>Elicit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analyze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needs</a:t>
            </a:r>
            <a:endParaRPr sz="1100">
              <a:latin typeface="Calibri"/>
              <a:cs typeface="Calibri"/>
            </a:endParaRPr>
          </a:p>
          <a:p>
            <a:pPr lvl="1" marL="926465" indent="-229235">
              <a:lnSpc>
                <a:spcPct val="100000"/>
              </a:lnSpc>
              <a:spcBef>
                <a:spcPts val="994"/>
              </a:spcBef>
              <a:buFont typeface="Verdana"/>
              <a:buChar char="◦"/>
              <a:tabLst>
                <a:tab pos="926465" algn="l"/>
                <a:tab pos="927100" algn="l"/>
              </a:tabLst>
            </a:pPr>
            <a:r>
              <a:rPr dirty="0" sz="1100" spc="-5">
                <a:latin typeface="Calibri"/>
                <a:cs typeface="Calibri"/>
              </a:rPr>
              <a:t>Create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prototypes</a:t>
            </a:r>
            <a:endParaRPr sz="1100">
              <a:latin typeface="Calibri"/>
              <a:cs typeface="Calibri"/>
            </a:endParaRPr>
          </a:p>
          <a:p>
            <a:pPr lvl="1" marL="926465" indent="-229235">
              <a:lnSpc>
                <a:spcPct val="100000"/>
              </a:lnSpc>
              <a:spcBef>
                <a:spcPts val="985"/>
              </a:spcBef>
              <a:buFont typeface="Verdana"/>
              <a:buChar char="◦"/>
              <a:tabLst>
                <a:tab pos="926465" algn="l"/>
                <a:tab pos="927100" algn="l"/>
              </a:tabLst>
            </a:pPr>
            <a:r>
              <a:rPr dirty="0" sz="1100">
                <a:latin typeface="Calibri"/>
                <a:cs typeface="Calibri"/>
              </a:rPr>
              <a:t>Model</a:t>
            </a:r>
            <a:r>
              <a:rPr dirty="0" sz="1100" spc="-4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systems</a:t>
            </a:r>
            <a:endParaRPr sz="1100">
              <a:latin typeface="Calibri"/>
              <a:cs typeface="Calibri"/>
            </a:endParaRPr>
          </a:p>
          <a:p>
            <a:pPr lvl="1" marL="926465" indent="-229235">
              <a:lnSpc>
                <a:spcPct val="100000"/>
              </a:lnSpc>
              <a:spcBef>
                <a:spcPts val="980"/>
              </a:spcBef>
              <a:buFont typeface="Verdana"/>
              <a:buChar char="◦"/>
              <a:tabLst>
                <a:tab pos="926465" algn="l"/>
                <a:tab pos="927100" algn="l"/>
              </a:tabLst>
            </a:pPr>
            <a:r>
              <a:rPr dirty="0" sz="1100" spc="-5">
                <a:latin typeface="Calibri"/>
                <a:cs typeface="Calibri"/>
              </a:rPr>
              <a:t>Create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product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designs</a:t>
            </a:r>
            <a:endParaRPr sz="1100">
              <a:latin typeface="Calibri"/>
              <a:cs typeface="Calibri"/>
            </a:endParaRPr>
          </a:p>
          <a:p>
            <a:pPr lvl="1" marL="926465" indent="-229235">
              <a:lnSpc>
                <a:spcPct val="100000"/>
              </a:lnSpc>
              <a:spcBef>
                <a:spcPts val="985"/>
              </a:spcBef>
              <a:buFont typeface="Verdana"/>
              <a:buChar char="◦"/>
              <a:tabLst>
                <a:tab pos="926465" algn="l"/>
                <a:tab pos="927100" algn="l"/>
              </a:tabLst>
            </a:pPr>
            <a:r>
              <a:rPr dirty="0" sz="1100">
                <a:latin typeface="Calibri"/>
                <a:cs typeface="Calibri"/>
              </a:rPr>
              <a:t>Write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requirements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specifications</a:t>
            </a:r>
            <a:endParaRPr sz="1100">
              <a:latin typeface="Calibri"/>
              <a:cs typeface="Calibri"/>
            </a:endParaRPr>
          </a:p>
          <a:p>
            <a:pPr lvl="1" marL="926465" indent="-229235">
              <a:lnSpc>
                <a:spcPct val="100000"/>
              </a:lnSpc>
              <a:spcBef>
                <a:spcPts val="1000"/>
              </a:spcBef>
              <a:buFont typeface="Verdana"/>
              <a:buChar char="◦"/>
              <a:tabLst>
                <a:tab pos="926465" algn="l"/>
                <a:tab pos="927100" algn="l"/>
              </a:tabLst>
            </a:pPr>
            <a:r>
              <a:rPr dirty="0" sz="1100">
                <a:latin typeface="Calibri"/>
                <a:cs typeface="Calibri"/>
              </a:rPr>
              <a:t>Design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user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interaction</a:t>
            </a:r>
            <a:endParaRPr sz="1100">
              <a:latin typeface="Calibri"/>
              <a:cs typeface="Calibri"/>
            </a:endParaRPr>
          </a:p>
          <a:p>
            <a:pPr lvl="1" marL="926465" indent="-229235">
              <a:lnSpc>
                <a:spcPct val="100000"/>
              </a:lnSpc>
              <a:spcBef>
                <a:spcPts val="985"/>
              </a:spcBef>
              <a:buFont typeface="Verdana"/>
              <a:buChar char="◦"/>
              <a:tabLst>
                <a:tab pos="926465" algn="l"/>
                <a:tab pos="927100" algn="l"/>
              </a:tabLst>
            </a:pPr>
            <a:r>
              <a:rPr dirty="0" sz="1100">
                <a:latin typeface="Calibri"/>
                <a:cs typeface="Calibri"/>
              </a:rPr>
              <a:t>Make </a:t>
            </a:r>
            <a:r>
              <a:rPr dirty="0" sz="1100" spc="-5">
                <a:latin typeface="Calibri"/>
                <a:cs typeface="Calibri"/>
              </a:rPr>
              <a:t>high-level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low-level</a:t>
            </a:r>
            <a:r>
              <a:rPr dirty="0" sz="110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engineering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designs</a:t>
            </a:r>
            <a:endParaRPr sz="1100">
              <a:latin typeface="Calibri"/>
              <a:cs typeface="Calibri"/>
            </a:endParaRPr>
          </a:p>
          <a:p>
            <a:pPr lvl="1" marL="926465" indent="-229235">
              <a:lnSpc>
                <a:spcPct val="100000"/>
              </a:lnSpc>
              <a:spcBef>
                <a:spcPts val="985"/>
              </a:spcBef>
              <a:buFont typeface="Verdana"/>
              <a:buChar char="◦"/>
              <a:tabLst>
                <a:tab pos="926465" algn="l"/>
                <a:tab pos="927100" algn="l"/>
              </a:tabLst>
            </a:pPr>
            <a:r>
              <a:rPr dirty="0" sz="1100">
                <a:latin typeface="Calibri"/>
                <a:cs typeface="Calibri"/>
              </a:rPr>
              <a:t>Quality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assurance.</a:t>
            </a:r>
            <a:endParaRPr sz="11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buFont typeface="Verdana"/>
              <a:buChar char="◦"/>
            </a:pPr>
            <a:endParaRPr sz="14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5"/>
              </a:spcBef>
              <a:buFont typeface="Verdana"/>
              <a:buChar char="◦"/>
            </a:pP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100" spc="-5" b="1">
                <a:latin typeface="Calibri"/>
                <a:cs typeface="Calibri"/>
              </a:rPr>
              <a:t>Design</a:t>
            </a:r>
            <a:r>
              <a:rPr dirty="0" sz="1100" spc="-10" b="1">
                <a:latin typeface="Calibri"/>
                <a:cs typeface="Calibri"/>
              </a:rPr>
              <a:t> </a:t>
            </a:r>
            <a:r>
              <a:rPr dirty="0" sz="1100" spc="-5" b="1">
                <a:latin typeface="Calibri"/>
                <a:cs typeface="Calibri"/>
              </a:rPr>
              <a:t>Project</a:t>
            </a:r>
            <a:r>
              <a:rPr dirty="0" sz="1100" spc="-10" b="1">
                <a:latin typeface="Calibri"/>
                <a:cs typeface="Calibri"/>
              </a:rPr>
              <a:t> </a:t>
            </a:r>
            <a:r>
              <a:rPr dirty="0" sz="1100" spc="-5" b="1">
                <a:latin typeface="Calibri"/>
                <a:cs typeface="Calibri"/>
              </a:rPr>
              <a:t>Leadership:</a:t>
            </a:r>
            <a:endParaRPr sz="1100">
              <a:latin typeface="Calibri"/>
              <a:cs typeface="Calibri"/>
            </a:endParaRPr>
          </a:p>
          <a:p>
            <a:pPr marL="469265" indent="-228600">
              <a:lnSpc>
                <a:spcPct val="100000"/>
              </a:lnSpc>
              <a:spcBef>
                <a:spcPts val="935"/>
              </a:spcBef>
              <a:buFont typeface="Microsoft Sans Serif"/>
              <a:buChar char=""/>
              <a:tabLst>
                <a:tab pos="469265" algn="l"/>
                <a:tab pos="469900" algn="l"/>
              </a:tabLst>
            </a:pPr>
            <a:r>
              <a:rPr dirty="0" sz="1100">
                <a:latin typeface="Calibri"/>
                <a:cs typeface="Calibri"/>
              </a:rPr>
              <a:t>Leading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design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problem</a:t>
            </a:r>
            <a:r>
              <a:rPr dirty="0" sz="110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needs extra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skills:</a:t>
            </a:r>
            <a:endParaRPr sz="1100">
              <a:latin typeface="Calibri"/>
              <a:cs typeface="Calibri"/>
            </a:endParaRPr>
          </a:p>
          <a:p>
            <a:pPr lvl="1" marL="926465" indent="-229235">
              <a:lnSpc>
                <a:spcPct val="100000"/>
              </a:lnSpc>
              <a:spcBef>
                <a:spcPts val="985"/>
              </a:spcBef>
              <a:buFont typeface="Verdana"/>
              <a:buChar char="◦"/>
              <a:tabLst>
                <a:tab pos="926465" algn="l"/>
                <a:tab pos="927100" algn="l"/>
              </a:tabLst>
            </a:pPr>
            <a:r>
              <a:rPr dirty="0" sz="1100" spc="-5">
                <a:latin typeface="Calibri"/>
                <a:cs typeface="Calibri"/>
              </a:rPr>
              <a:t>Visionary</a:t>
            </a:r>
            <a:endParaRPr sz="1100">
              <a:latin typeface="Calibri"/>
              <a:cs typeface="Calibri"/>
            </a:endParaRPr>
          </a:p>
          <a:p>
            <a:pPr lvl="1" marL="926465" indent="-229235">
              <a:lnSpc>
                <a:spcPct val="100000"/>
              </a:lnSpc>
              <a:spcBef>
                <a:spcPts val="985"/>
              </a:spcBef>
              <a:buFont typeface="Verdana"/>
              <a:buChar char="◦"/>
              <a:tabLst>
                <a:tab pos="926465" algn="l"/>
                <a:tab pos="927100" algn="l"/>
              </a:tabLst>
            </a:pPr>
            <a:r>
              <a:rPr dirty="0" sz="1100" spc="-5">
                <a:latin typeface="Calibri"/>
                <a:cs typeface="Calibri"/>
              </a:rPr>
              <a:t>Creative</a:t>
            </a:r>
            <a:endParaRPr sz="1100">
              <a:latin typeface="Calibri"/>
              <a:cs typeface="Calibri"/>
            </a:endParaRPr>
          </a:p>
          <a:p>
            <a:pPr lvl="1" marL="926465" indent="-229235">
              <a:lnSpc>
                <a:spcPct val="100000"/>
              </a:lnSpc>
              <a:spcBef>
                <a:spcPts val="994"/>
              </a:spcBef>
              <a:buFont typeface="Verdana"/>
              <a:buChar char="◦"/>
              <a:tabLst>
                <a:tab pos="926465" algn="l"/>
                <a:tab pos="927100" algn="l"/>
              </a:tabLst>
            </a:pPr>
            <a:r>
              <a:rPr dirty="0" sz="1100">
                <a:latin typeface="Calibri"/>
                <a:cs typeface="Calibri"/>
              </a:rPr>
              <a:t>Anticipate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changes</a:t>
            </a:r>
            <a:endParaRPr sz="1100">
              <a:latin typeface="Calibri"/>
              <a:cs typeface="Calibri"/>
            </a:endParaRPr>
          </a:p>
          <a:p>
            <a:pPr lvl="1" marL="926465" indent="-229235">
              <a:lnSpc>
                <a:spcPct val="100000"/>
              </a:lnSpc>
              <a:spcBef>
                <a:spcPts val="985"/>
              </a:spcBef>
              <a:buFont typeface="Verdana"/>
              <a:buChar char="◦"/>
              <a:tabLst>
                <a:tab pos="926465" algn="l"/>
                <a:tab pos="927100" algn="l"/>
              </a:tabLst>
            </a:pPr>
            <a:r>
              <a:rPr dirty="0" sz="1100" spc="-5">
                <a:latin typeface="Calibri"/>
                <a:cs typeface="Calibri"/>
              </a:rPr>
              <a:t>Experience</a:t>
            </a:r>
            <a:endParaRPr sz="11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buFont typeface="Verdana"/>
              <a:buChar char="◦"/>
            </a:pPr>
            <a:endParaRPr sz="14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5"/>
              </a:spcBef>
              <a:buFont typeface="Verdana"/>
              <a:buChar char="◦"/>
            </a:pP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100" spc="-5" b="1">
                <a:latin typeface="Calibri"/>
                <a:cs typeface="Calibri"/>
              </a:rPr>
              <a:t>Design</a:t>
            </a:r>
            <a:r>
              <a:rPr dirty="0" sz="1100" spc="-25" b="1">
                <a:latin typeface="Calibri"/>
                <a:cs typeface="Calibri"/>
              </a:rPr>
              <a:t> </a:t>
            </a:r>
            <a:r>
              <a:rPr dirty="0" sz="1100" b="1">
                <a:latin typeface="Calibri"/>
                <a:cs typeface="Calibri"/>
              </a:rPr>
              <a:t>as</a:t>
            </a:r>
            <a:r>
              <a:rPr dirty="0" sz="1100" spc="-15" b="1">
                <a:latin typeface="Calibri"/>
                <a:cs typeface="Calibri"/>
              </a:rPr>
              <a:t> </a:t>
            </a:r>
            <a:r>
              <a:rPr dirty="0" sz="1100" b="1">
                <a:latin typeface="Calibri"/>
                <a:cs typeface="Calibri"/>
              </a:rPr>
              <a:t>project</a:t>
            </a:r>
            <a:r>
              <a:rPr dirty="0" sz="1100" spc="-30" b="1">
                <a:latin typeface="Calibri"/>
                <a:cs typeface="Calibri"/>
              </a:rPr>
              <a:t> </a:t>
            </a:r>
            <a:r>
              <a:rPr dirty="0" sz="1100" b="1">
                <a:latin typeface="Calibri"/>
                <a:cs typeface="Calibri"/>
              </a:rPr>
              <a:t>driver:</a:t>
            </a:r>
            <a:endParaRPr sz="1100">
              <a:latin typeface="Calibri"/>
              <a:cs typeface="Calibri"/>
            </a:endParaRPr>
          </a:p>
          <a:p>
            <a:pPr marL="469265" marR="41275" indent="-228600">
              <a:lnSpc>
                <a:spcPct val="110000"/>
              </a:lnSpc>
              <a:spcBef>
                <a:spcPts val="795"/>
              </a:spcBef>
              <a:buFont typeface="Microsoft Sans Serif"/>
              <a:buChar char=""/>
              <a:tabLst>
                <a:tab pos="469265" algn="l"/>
                <a:tab pos="469900" algn="l"/>
              </a:tabLst>
            </a:pPr>
            <a:r>
              <a:rPr dirty="0" sz="1100">
                <a:latin typeface="Calibri"/>
                <a:cs typeface="Calibri"/>
              </a:rPr>
              <a:t>Design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work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extends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from</a:t>
            </a:r>
            <a:r>
              <a:rPr dirty="0" sz="1100">
                <a:latin typeface="Calibri"/>
                <a:cs typeface="Calibri"/>
              </a:rPr>
              <a:t> the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start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software development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project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to</a:t>
            </a:r>
            <a:r>
              <a:rPr dirty="0" sz="1100">
                <a:latin typeface="Calibri"/>
                <a:cs typeface="Calibri"/>
              </a:rPr>
              <a:t> the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coding</a:t>
            </a:r>
            <a:r>
              <a:rPr dirty="0" sz="1100">
                <a:latin typeface="Calibri"/>
                <a:cs typeface="Calibri"/>
              </a:rPr>
              <a:t> phase,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 </a:t>
            </a:r>
            <a:r>
              <a:rPr dirty="0" sz="1100" spc="-2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it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recurs </a:t>
            </a:r>
            <a:r>
              <a:rPr dirty="0" sz="1100" spc="-5">
                <a:latin typeface="Calibri"/>
                <a:cs typeface="Calibri"/>
              </a:rPr>
              <a:t>during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maintenance.</a:t>
            </a:r>
            <a:endParaRPr sz="1100">
              <a:latin typeface="Calibri"/>
              <a:cs typeface="Calibri"/>
            </a:endParaRPr>
          </a:p>
          <a:p>
            <a:pPr marL="469265" marR="5080" indent="-228600">
              <a:lnSpc>
                <a:spcPct val="110200"/>
              </a:lnSpc>
              <a:spcBef>
                <a:spcPts val="790"/>
              </a:spcBef>
              <a:buFont typeface="Microsoft Sans Serif"/>
              <a:buChar char=""/>
              <a:tabLst>
                <a:tab pos="469265" algn="l"/>
                <a:tab pos="469900" algn="l"/>
              </a:tabLst>
            </a:pPr>
            <a:r>
              <a:rPr dirty="0" sz="1100">
                <a:latin typeface="Calibri"/>
                <a:cs typeface="Calibri"/>
              </a:rPr>
              <a:t>Two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major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products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software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design,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SRS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 </a:t>
            </a:r>
            <a:r>
              <a:rPr dirty="0" sz="1100" spc="-5">
                <a:latin typeface="Calibri"/>
                <a:cs typeface="Calibri"/>
              </a:rPr>
              <a:t>the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design </a:t>
            </a:r>
            <a:r>
              <a:rPr dirty="0" sz="1100" spc="-5">
                <a:latin typeface="Calibri"/>
                <a:cs typeface="Calibri"/>
              </a:rPr>
              <a:t>document,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are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the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blueprints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for </a:t>
            </a:r>
            <a:r>
              <a:rPr dirty="0" sz="1100" spc="-229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coding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-5">
                <a:latin typeface="Calibri"/>
                <a:cs typeface="Calibri"/>
              </a:rPr>
              <a:t> testing.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30604" y="7634478"/>
            <a:ext cx="3524250" cy="4806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0665" indent="-228600">
              <a:lnSpc>
                <a:spcPct val="100000"/>
              </a:lnSpc>
              <a:spcBef>
                <a:spcPts val="100"/>
              </a:spcBef>
              <a:buFont typeface="Microsoft Sans Serif"/>
              <a:buChar char=""/>
              <a:tabLst>
                <a:tab pos="240665" algn="l"/>
                <a:tab pos="241300" algn="l"/>
              </a:tabLst>
            </a:pPr>
            <a:r>
              <a:rPr dirty="0" sz="1100">
                <a:latin typeface="Calibri"/>
                <a:cs typeface="Calibri"/>
              </a:rPr>
              <a:t>So, </a:t>
            </a:r>
            <a:r>
              <a:rPr dirty="0" sz="1100" spc="-5">
                <a:latin typeface="Calibri"/>
                <a:cs typeface="Calibri"/>
              </a:rPr>
              <a:t>design </a:t>
            </a:r>
            <a:r>
              <a:rPr dirty="0" sz="1100">
                <a:latin typeface="Calibri"/>
                <a:cs typeface="Calibri"/>
              </a:rPr>
              <a:t>is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driving </a:t>
            </a:r>
            <a:r>
              <a:rPr dirty="0" sz="1100">
                <a:latin typeface="Calibri"/>
                <a:cs typeface="Calibri"/>
              </a:rPr>
              <a:t>activity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 </a:t>
            </a:r>
            <a:r>
              <a:rPr dirty="0" sz="1100" spc="-5">
                <a:latin typeface="Calibri"/>
                <a:cs typeface="Calibri"/>
              </a:rPr>
              <a:t>software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development.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40"/>
              </a:spcBef>
            </a:pPr>
            <a:r>
              <a:rPr dirty="0" sz="1100" spc="-155">
                <a:latin typeface="Microsoft Sans Serif"/>
                <a:cs typeface="Microsoft Sans Serif"/>
              </a:rPr>
              <a:t>🞂</a:t>
            </a:r>
            <a:endParaRPr sz="110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59153" y="7904836"/>
            <a:ext cx="5392420" cy="3943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0000"/>
              </a:lnSpc>
              <a:spcBef>
                <a:spcPts val="100"/>
              </a:spcBef>
            </a:pPr>
            <a:r>
              <a:rPr dirty="0" sz="1100">
                <a:latin typeface="Calibri"/>
                <a:cs typeface="Calibri"/>
              </a:rPr>
              <a:t>By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5">
                <a:latin typeface="Calibri"/>
                <a:cs typeface="Calibri"/>
              </a:rPr>
              <a:t> time</a:t>
            </a:r>
            <a:r>
              <a:rPr dirty="0" sz="1100">
                <a:latin typeface="Calibri"/>
                <a:cs typeface="Calibri"/>
              </a:rPr>
              <a:t> the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software design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is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complete,</a:t>
            </a:r>
            <a:r>
              <a:rPr dirty="0" sz="110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enough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information </a:t>
            </a:r>
            <a:r>
              <a:rPr dirty="0" sz="1100" spc="-10">
                <a:latin typeface="Calibri"/>
                <a:cs typeface="Calibri"/>
              </a:rPr>
              <a:t>is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available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to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make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accurate </a:t>
            </a:r>
            <a:r>
              <a:rPr dirty="0" sz="1100" spc="-2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-5">
                <a:latin typeface="Calibri"/>
                <a:cs typeface="Calibri"/>
              </a:rPr>
              <a:t> complete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plans</a:t>
            </a:r>
            <a:r>
              <a:rPr dirty="0" sz="110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for</a:t>
            </a:r>
            <a:r>
              <a:rPr dirty="0" sz="1100">
                <a:latin typeface="Calibri"/>
                <a:cs typeface="Calibri"/>
              </a:rPr>
              <a:t> the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coding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-5">
                <a:latin typeface="Calibri"/>
                <a:cs typeface="Calibri"/>
              </a:rPr>
              <a:t> testing </a:t>
            </a:r>
            <a:r>
              <a:rPr dirty="0" sz="1100">
                <a:latin typeface="Calibri"/>
                <a:cs typeface="Calibri"/>
              </a:rPr>
              <a:t>phases.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30604" y="8390381"/>
            <a:ext cx="544068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0665" indent="-228600">
              <a:lnSpc>
                <a:spcPct val="100000"/>
              </a:lnSpc>
              <a:spcBef>
                <a:spcPts val="100"/>
              </a:spcBef>
              <a:buFont typeface="Microsoft Sans Serif"/>
              <a:buChar char=""/>
              <a:tabLst>
                <a:tab pos="240665" algn="l"/>
                <a:tab pos="241300" algn="l"/>
              </a:tabLst>
            </a:pPr>
            <a:r>
              <a:rPr dirty="0" sz="1100">
                <a:latin typeface="Calibri"/>
                <a:cs typeface="Calibri"/>
              </a:rPr>
              <a:t>Good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design work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early</a:t>
            </a:r>
            <a:r>
              <a:rPr dirty="0" sz="1100">
                <a:latin typeface="Calibri"/>
                <a:cs typeface="Calibri"/>
              </a:rPr>
              <a:t> in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the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life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cycle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is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crucial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for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software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development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project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success.</a:t>
            </a:r>
            <a:endParaRPr sz="1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892556"/>
            <a:ext cx="5951220" cy="680465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6510">
              <a:lnSpc>
                <a:spcPct val="100000"/>
              </a:lnSpc>
              <a:spcBef>
                <a:spcPts val="100"/>
              </a:spcBef>
            </a:pPr>
            <a:r>
              <a:rPr dirty="0" sz="1100" spc="-5" b="1">
                <a:latin typeface="Calibri"/>
                <a:cs typeface="Calibri"/>
              </a:rPr>
              <a:t>Context of</a:t>
            </a:r>
            <a:r>
              <a:rPr dirty="0" sz="1100" spc="-10" b="1">
                <a:latin typeface="Calibri"/>
                <a:cs typeface="Calibri"/>
              </a:rPr>
              <a:t> </a:t>
            </a:r>
            <a:r>
              <a:rPr dirty="0" sz="1100" spc="-5" b="1">
                <a:latin typeface="Calibri"/>
                <a:cs typeface="Calibri"/>
              </a:rPr>
              <a:t>Software</a:t>
            </a:r>
            <a:r>
              <a:rPr dirty="0" sz="1100" spc="-10" b="1">
                <a:latin typeface="Calibri"/>
                <a:cs typeface="Calibri"/>
              </a:rPr>
              <a:t> </a:t>
            </a:r>
            <a:r>
              <a:rPr dirty="0" sz="1100" spc="-5" b="1">
                <a:latin typeface="Calibri"/>
                <a:cs typeface="Calibri"/>
              </a:rPr>
              <a:t>Product</a:t>
            </a:r>
            <a:r>
              <a:rPr dirty="0" sz="1100" b="1">
                <a:latin typeface="Calibri"/>
                <a:cs typeface="Calibri"/>
              </a:rPr>
              <a:t> </a:t>
            </a:r>
            <a:r>
              <a:rPr dirty="0" sz="1100" spc="-5" b="1">
                <a:latin typeface="Calibri"/>
                <a:cs typeface="Calibri"/>
              </a:rPr>
              <a:t>Design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5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100" spc="-5" b="1">
                <a:latin typeface="Calibri"/>
                <a:cs typeface="Calibri"/>
              </a:rPr>
              <a:t>Products</a:t>
            </a:r>
            <a:r>
              <a:rPr dirty="0" sz="1100" spc="-30" b="1">
                <a:latin typeface="Calibri"/>
                <a:cs typeface="Calibri"/>
              </a:rPr>
              <a:t> </a:t>
            </a:r>
            <a:r>
              <a:rPr dirty="0" sz="1100" spc="-5" b="1">
                <a:latin typeface="Calibri"/>
                <a:cs typeface="Calibri"/>
              </a:rPr>
              <a:t>and</a:t>
            </a:r>
            <a:r>
              <a:rPr dirty="0" sz="1100" spc="-20" b="1">
                <a:latin typeface="Calibri"/>
                <a:cs typeface="Calibri"/>
              </a:rPr>
              <a:t> </a:t>
            </a:r>
            <a:r>
              <a:rPr dirty="0" sz="1100" b="1">
                <a:latin typeface="Calibri"/>
                <a:cs typeface="Calibri"/>
              </a:rPr>
              <a:t>markets:</a:t>
            </a:r>
            <a:endParaRPr sz="1100">
              <a:latin typeface="Calibri"/>
              <a:cs typeface="Calibri"/>
            </a:endParaRPr>
          </a:p>
          <a:p>
            <a:pPr marL="469265" indent="-228600">
              <a:lnSpc>
                <a:spcPct val="100000"/>
              </a:lnSpc>
              <a:spcBef>
                <a:spcPts val="925"/>
              </a:spcBef>
              <a:buFont typeface="Microsoft Sans Serif"/>
              <a:buChar char=""/>
              <a:tabLst>
                <a:tab pos="469265" algn="l"/>
                <a:tab pos="469900" algn="l"/>
              </a:tabLst>
            </a:pPr>
            <a:r>
              <a:rPr dirty="0" sz="1100" spc="-5">
                <a:latin typeface="Calibri"/>
                <a:cs typeface="Calibri"/>
              </a:rPr>
              <a:t>Organizations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create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products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for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economic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gain.</a:t>
            </a:r>
            <a:endParaRPr sz="1100">
              <a:latin typeface="Calibri"/>
              <a:cs typeface="Calibri"/>
            </a:endParaRPr>
          </a:p>
          <a:p>
            <a:pPr marL="469265" marR="143510" indent="-228600">
              <a:lnSpc>
                <a:spcPct val="109100"/>
              </a:lnSpc>
              <a:spcBef>
                <a:spcPts val="815"/>
              </a:spcBef>
              <a:buFont typeface="Microsoft Sans Serif"/>
              <a:buChar char=""/>
              <a:tabLst>
                <a:tab pos="469265" algn="l"/>
                <a:tab pos="469900" algn="l"/>
              </a:tabLst>
            </a:pPr>
            <a:r>
              <a:rPr dirty="0" sz="1100" spc="-5">
                <a:latin typeface="Calibri"/>
                <a:cs typeface="Calibri"/>
              </a:rPr>
              <a:t>Product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development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is </a:t>
            </a:r>
            <a:r>
              <a:rPr dirty="0" sz="1100" spc="-5">
                <a:latin typeface="Calibri"/>
                <a:cs typeface="Calibri"/>
              </a:rPr>
              <a:t>very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expensive,</a:t>
            </a:r>
            <a:r>
              <a:rPr dirty="0" sz="1100" spc="2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so</a:t>
            </a:r>
            <a:r>
              <a:rPr dirty="0" sz="1100" spc="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</a:t>
            </a:r>
            <a:r>
              <a:rPr dirty="0" sz="1100" spc="-5">
                <a:latin typeface="Calibri"/>
                <a:cs typeface="Calibri"/>
              </a:rPr>
              <a:t> organization must</a:t>
            </a:r>
            <a:r>
              <a:rPr dirty="0" sz="1100" spc="2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be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careful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to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create</a:t>
            </a:r>
            <a:r>
              <a:rPr dirty="0" sz="1100" spc="2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products </a:t>
            </a:r>
            <a:r>
              <a:rPr dirty="0" sz="1100" spc="-2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that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it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can</a:t>
            </a:r>
            <a:r>
              <a:rPr dirty="0" sz="1100" spc="-5">
                <a:latin typeface="Calibri"/>
                <a:cs typeface="Calibri"/>
              </a:rPr>
              <a:t> actually</a:t>
            </a:r>
            <a:r>
              <a:rPr dirty="0" sz="110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sell</a:t>
            </a:r>
            <a:r>
              <a:rPr dirty="0" sz="1100">
                <a:latin typeface="Calibri"/>
                <a:cs typeface="Calibri"/>
              </a:rPr>
              <a:t> or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use.</a:t>
            </a:r>
            <a:endParaRPr sz="1100">
              <a:latin typeface="Calibri"/>
              <a:cs typeface="Calibri"/>
            </a:endParaRPr>
          </a:p>
          <a:p>
            <a:pPr marL="12700" marR="50165">
              <a:lnSpc>
                <a:spcPct val="110000"/>
              </a:lnSpc>
              <a:spcBef>
                <a:spcPts val="805"/>
              </a:spcBef>
            </a:pPr>
            <a:r>
              <a:rPr dirty="0" sz="1100">
                <a:latin typeface="Calibri"/>
                <a:cs typeface="Calibri"/>
              </a:rPr>
              <a:t>A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market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is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set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actual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or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prospective customers </a:t>
            </a:r>
            <a:r>
              <a:rPr dirty="0" sz="1100">
                <a:latin typeface="Calibri"/>
                <a:cs typeface="Calibri"/>
              </a:rPr>
              <a:t>who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need </a:t>
            </a:r>
            <a:r>
              <a:rPr dirty="0" sz="1100">
                <a:latin typeface="Calibri"/>
                <a:cs typeface="Calibri"/>
              </a:rPr>
              <a:t>or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want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product,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have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the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resources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to </a:t>
            </a:r>
            <a:r>
              <a:rPr dirty="0" sz="1100" spc="-2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exchange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something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value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for</a:t>
            </a:r>
            <a:r>
              <a:rPr dirty="0" sz="110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it,</a:t>
            </a:r>
            <a:r>
              <a:rPr dirty="0" sz="1100">
                <a:latin typeface="Calibri"/>
                <a:cs typeface="Calibri"/>
              </a:rPr>
              <a:t> and</a:t>
            </a:r>
            <a:r>
              <a:rPr dirty="0" sz="1100" spc="-5">
                <a:latin typeface="Calibri"/>
                <a:cs typeface="Calibri"/>
              </a:rPr>
              <a:t> are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willing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to</a:t>
            </a:r>
            <a:r>
              <a:rPr dirty="0" sz="1100" spc="-5">
                <a:latin typeface="Calibri"/>
                <a:cs typeface="Calibri"/>
              </a:rPr>
              <a:t> do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so.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4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100" spc="-5" b="1">
                <a:latin typeface="Calibri"/>
                <a:cs typeface="Calibri"/>
              </a:rPr>
              <a:t>Importance</a:t>
            </a:r>
            <a:r>
              <a:rPr dirty="0" sz="1100" spc="-15" b="1">
                <a:latin typeface="Calibri"/>
                <a:cs typeface="Calibri"/>
              </a:rPr>
              <a:t> </a:t>
            </a:r>
            <a:r>
              <a:rPr dirty="0" sz="1100" spc="-5" b="1">
                <a:latin typeface="Calibri"/>
                <a:cs typeface="Calibri"/>
              </a:rPr>
              <a:t>of</a:t>
            </a:r>
            <a:r>
              <a:rPr dirty="0" sz="1100" spc="-15" b="1">
                <a:latin typeface="Calibri"/>
                <a:cs typeface="Calibri"/>
              </a:rPr>
              <a:t> </a:t>
            </a:r>
            <a:r>
              <a:rPr dirty="0" sz="1100" spc="-5" b="1">
                <a:latin typeface="Calibri"/>
                <a:cs typeface="Calibri"/>
              </a:rPr>
              <a:t>market: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35"/>
              </a:spcBef>
            </a:pPr>
            <a:r>
              <a:rPr dirty="0" sz="1100" spc="-5">
                <a:latin typeface="Calibri"/>
                <a:cs typeface="Calibri"/>
              </a:rPr>
              <a:t>Organizations</a:t>
            </a:r>
            <a:r>
              <a:rPr dirty="0" sz="110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study markets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to:</a:t>
            </a:r>
            <a:endParaRPr sz="1100">
              <a:latin typeface="Calibri"/>
              <a:cs typeface="Calibri"/>
            </a:endParaRPr>
          </a:p>
          <a:p>
            <a:pPr lvl="1" marL="926465" indent="-229235">
              <a:lnSpc>
                <a:spcPct val="100000"/>
              </a:lnSpc>
              <a:spcBef>
                <a:spcPts val="985"/>
              </a:spcBef>
              <a:buFont typeface="Verdana"/>
              <a:buChar char="◦"/>
              <a:tabLst>
                <a:tab pos="926465" algn="l"/>
                <a:tab pos="927100" algn="l"/>
              </a:tabLst>
            </a:pPr>
            <a:r>
              <a:rPr dirty="0" sz="1100" spc="-5">
                <a:latin typeface="Calibri"/>
                <a:cs typeface="Calibri"/>
              </a:rPr>
              <a:t>Choose </a:t>
            </a:r>
            <a:r>
              <a:rPr dirty="0" sz="1100">
                <a:latin typeface="Calibri"/>
                <a:cs typeface="Calibri"/>
              </a:rPr>
              <a:t>which </a:t>
            </a:r>
            <a:r>
              <a:rPr dirty="0" sz="1100" spc="-5">
                <a:latin typeface="Calibri"/>
                <a:cs typeface="Calibri"/>
              </a:rPr>
              <a:t>markets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to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sell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to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(</a:t>
            </a:r>
            <a:r>
              <a:rPr dirty="0" sz="1100" spc="-5" b="1">
                <a:latin typeface="Calibri"/>
                <a:cs typeface="Calibri"/>
              </a:rPr>
              <a:t>target markets</a:t>
            </a:r>
            <a:r>
              <a:rPr dirty="0" sz="1100" spc="-5">
                <a:latin typeface="Calibri"/>
                <a:cs typeface="Calibri"/>
              </a:rPr>
              <a:t>)</a:t>
            </a:r>
            <a:endParaRPr sz="1100">
              <a:latin typeface="Calibri"/>
              <a:cs typeface="Calibri"/>
            </a:endParaRPr>
          </a:p>
          <a:p>
            <a:pPr lvl="1" marL="926465" indent="-229235">
              <a:lnSpc>
                <a:spcPct val="100000"/>
              </a:lnSpc>
              <a:spcBef>
                <a:spcPts val="994"/>
              </a:spcBef>
              <a:buFont typeface="Verdana"/>
              <a:buChar char="◦"/>
              <a:tabLst>
                <a:tab pos="926465" algn="l"/>
                <a:tab pos="927100" algn="l"/>
              </a:tabLst>
            </a:pPr>
            <a:r>
              <a:rPr dirty="0" sz="1100" spc="-5">
                <a:latin typeface="Calibri"/>
                <a:cs typeface="Calibri"/>
              </a:rPr>
              <a:t>Choose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what </a:t>
            </a:r>
            <a:r>
              <a:rPr dirty="0" sz="1100" spc="-5">
                <a:latin typeface="Calibri"/>
                <a:cs typeface="Calibri"/>
              </a:rPr>
              <a:t>products</a:t>
            </a:r>
            <a:r>
              <a:rPr dirty="0" sz="110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to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develop</a:t>
            </a:r>
            <a:endParaRPr sz="1100">
              <a:latin typeface="Calibri"/>
              <a:cs typeface="Calibri"/>
            </a:endParaRPr>
          </a:p>
          <a:p>
            <a:pPr lvl="1" marL="926465" indent="-229235">
              <a:lnSpc>
                <a:spcPct val="100000"/>
              </a:lnSpc>
              <a:spcBef>
                <a:spcPts val="985"/>
              </a:spcBef>
              <a:buFont typeface="Verdana"/>
              <a:buChar char="◦"/>
              <a:tabLst>
                <a:tab pos="926465" algn="l"/>
                <a:tab pos="927100" algn="l"/>
              </a:tabLst>
            </a:pPr>
            <a:r>
              <a:rPr dirty="0" sz="1100" spc="-5">
                <a:latin typeface="Calibri"/>
                <a:cs typeface="Calibri"/>
              </a:rPr>
              <a:t>Determine</a:t>
            </a:r>
            <a:r>
              <a:rPr dirty="0" sz="110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product features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characteristics</a:t>
            </a:r>
            <a:endParaRPr sz="1100">
              <a:latin typeface="Calibri"/>
              <a:cs typeface="Calibri"/>
            </a:endParaRPr>
          </a:p>
          <a:p>
            <a:pPr marL="12700" marR="287655">
              <a:lnSpc>
                <a:spcPct val="110000"/>
              </a:lnSpc>
              <a:spcBef>
                <a:spcPts val="790"/>
              </a:spcBef>
            </a:pPr>
            <a:r>
              <a:rPr dirty="0" sz="1100" spc="-5">
                <a:latin typeface="Calibri"/>
                <a:cs typeface="Calibri"/>
              </a:rPr>
              <a:t>Thus,</a:t>
            </a:r>
            <a:r>
              <a:rPr dirty="0" sz="1100">
                <a:latin typeface="Calibri"/>
                <a:cs typeface="Calibri"/>
              </a:rPr>
              <a:t> the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sorts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products </a:t>
            </a:r>
            <a:r>
              <a:rPr dirty="0" sz="1100">
                <a:latin typeface="Calibri"/>
                <a:cs typeface="Calibri"/>
              </a:rPr>
              <a:t>that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organization </a:t>
            </a:r>
            <a:r>
              <a:rPr dirty="0" sz="1100" spc="-5">
                <a:latin typeface="Calibri"/>
                <a:cs typeface="Calibri"/>
              </a:rPr>
              <a:t>decides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to</a:t>
            </a:r>
            <a:r>
              <a:rPr dirty="0" sz="1100" spc="-5">
                <a:latin typeface="Calibri"/>
                <a:cs typeface="Calibri"/>
              </a:rPr>
              <a:t> develop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ultimately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depend</a:t>
            </a:r>
            <a:r>
              <a:rPr dirty="0" sz="1100">
                <a:latin typeface="Calibri"/>
                <a:cs typeface="Calibri"/>
              </a:rPr>
              <a:t> on</a:t>
            </a:r>
            <a:r>
              <a:rPr dirty="0" sz="1100" spc="-5">
                <a:latin typeface="Calibri"/>
                <a:cs typeface="Calibri"/>
              </a:rPr>
              <a:t> the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target </a:t>
            </a:r>
            <a:r>
              <a:rPr dirty="0" sz="1100" spc="-229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markets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to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which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it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hopes</a:t>
            </a:r>
            <a:r>
              <a:rPr dirty="0" sz="110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to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sell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products.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5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100" spc="-5" b="1">
                <a:latin typeface="Calibri"/>
                <a:cs typeface="Calibri"/>
              </a:rPr>
              <a:t>Products</a:t>
            </a:r>
            <a:r>
              <a:rPr dirty="0" sz="1100" spc="-25" b="1">
                <a:latin typeface="Calibri"/>
                <a:cs typeface="Calibri"/>
              </a:rPr>
              <a:t> </a:t>
            </a:r>
            <a:r>
              <a:rPr dirty="0" sz="1100" b="1">
                <a:latin typeface="Calibri"/>
                <a:cs typeface="Calibri"/>
              </a:rPr>
              <a:t>influence</a:t>
            </a:r>
            <a:r>
              <a:rPr dirty="0" sz="1100" spc="-30" b="1">
                <a:latin typeface="Calibri"/>
                <a:cs typeface="Calibri"/>
              </a:rPr>
              <a:t> </a:t>
            </a:r>
            <a:r>
              <a:rPr dirty="0" sz="1100" spc="-5" b="1">
                <a:latin typeface="Calibri"/>
                <a:cs typeface="Calibri"/>
              </a:rPr>
              <a:t>design:</a:t>
            </a:r>
            <a:endParaRPr sz="1100">
              <a:latin typeface="Calibri"/>
              <a:cs typeface="Calibri"/>
            </a:endParaRPr>
          </a:p>
          <a:p>
            <a:pPr marL="469265" indent="-228600">
              <a:lnSpc>
                <a:spcPct val="100000"/>
              </a:lnSpc>
              <a:spcBef>
                <a:spcPts val="919"/>
              </a:spcBef>
              <a:buFont typeface="Microsoft Sans Serif"/>
              <a:buChar char=""/>
              <a:tabLst>
                <a:tab pos="469265" algn="l"/>
                <a:tab pos="469900" algn="l"/>
              </a:tabLst>
            </a:pPr>
            <a:r>
              <a:rPr dirty="0" sz="1100">
                <a:latin typeface="Calibri"/>
                <a:cs typeface="Calibri"/>
              </a:rPr>
              <a:t>A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lot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 what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happens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during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product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design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depends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on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what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sort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product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is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being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designed.</a:t>
            </a:r>
            <a:endParaRPr sz="1100">
              <a:latin typeface="Calibri"/>
              <a:cs typeface="Calibri"/>
            </a:endParaRPr>
          </a:p>
          <a:p>
            <a:pPr marL="469265" indent="-228600">
              <a:lnSpc>
                <a:spcPct val="100000"/>
              </a:lnSpc>
              <a:spcBef>
                <a:spcPts val="940"/>
              </a:spcBef>
              <a:buFont typeface="Microsoft Sans Serif"/>
              <a:buChar char=""/>
              <a:tabLst>
                <a:tab pos="469265" algn="l"/>
                <a:tab pos="469900" algn="l"/>
              </a:tabLst>
            </a:pPr>
            <a:r>
              <a:rPr dirty="0" sz="1100">
                <a:latin typeface="Calibri"/>
                <a:cs typeface="Calibri"/>
              </a:rPr>
              <a:t>A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product’s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characteristics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influences:</a:t>
            </a:r>
            <a:endParaRPr sz="1100">
              <a:latin typeface="Calibri"/>
              <a:cs typeface="Calibri"/>
            </a:endParaRPr>
          </a:p>
          <a:p>
            <a:pPr lvl="1" marL="926465" indent="-229235">
              <a:lnSpc>
                <a:spcPct val="100000"/>
              </a:lnSpc>
              <a:spcBef>
                <a:spcPts val="980"/>
              </a:spcBef>
              <a:buFont typeface="Verdana"/>
              <a:buChar char="◦"/>
              <a:tabLst>
                <a:tab pos="926465" algn="l"/>
                <a:tab pos="927100" algn="l"/>
              </a:tabLst>
            </a:pPr>
            <a:r>
              <a:rPr dirty="0" sz="1100" spc="-5">
                <a:latin typeface="Calibri"/>
                <a:cs typeface="Calibri"/>
              </a:rPr>
              <a:t>The</a:t>
            </a:r>
            <a:r>
              <a:rPr dirty="0" sz="110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decision to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develop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product;</a:t>
            </a:r>
            <a:endParaRPr sz="1100">
              <a:latin typeface="Calibri"/>
              <a:cs typeface="Calibri"/>
            </a:endParaRPr>
          </a:p>
          <a:p>
            <a:pPr lvl="1" marL="926465" indent="-229235">
              <a:lnSpc>
                <a:spcPct val="100000"/>
              </a:lnSpc>
              <a:spcBef>
                <a:spcPts val="985"/>
              </a:spcBef>
              <a:buFont typeface="Verdana"/>
              <a:buChar char="◦"/>
              <a:tabLst>
                <a:tab pos="926465" algn="l"/>
                <a:tab pos="927100" algn="l"/>
              </a:tabLst>
            </a:pPr>
            <a:r>
              <a:rPr dirty="0" sz="1100" spc="-5">
                <a:latin typeface="Calibri"/>
                <a:cs typeface="Calibri"/>
              </a:rPr>
              <a:t>The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resources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 </a:t>
            </a:r>
            <a:r>
              <a:rPr dirty="0" sz="1100" spc="-5">
                <a:latin typeface="Calibri"/>
                <a:cs typeface="Calibri"/>
              </a:rPr>
              <a:t>time devoted</a:t>
            </a:r>
            <a:r>
              <a:rPr dirty="0" sz="110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to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product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development;</a:t>
            </a:r>
            <a:endParaRPr sz="1100">
              <a:latin typeface="Calibri"/>
              <a:cs typeface="Calibri"/>
            </a:endParaRPr>
          </a:p>
          <a:p>
            <a:pPr lvl="1" marL="926465" indent="-229235">
              <a:lnSpc>
                <a:spcPct val="100000"/>
              </a:lnSpc>
              <a:spcBef>
                <a:spcPts val="994"/>
              </a:spcBef>
              <a:buFont typeface="Verdana"/>
              <a:buChar char="◦"/>
              <a:tabLst>
                <a:tab pos="926465" algn="l"/>
                <a:tab pos="927100" algn="l"/>
              </a:tabLst>
            </a:pPr>
            <a:r>
              <a:rPr dirty="0" sz="1100" spc="-5">
                <a:latin typeface="Calibri"/>
                <a:cs typeface="Calibri"/>
              </a:rPr>
              <a:t>The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techniques</a:t>
            </a:r>
            <a:endParaRPr sz="1100">
              <a:latin typeface="Calibri"/>
              <a:cs typeface="Calibri"/>
            </a:endParaRPr>
          </a:p>
          <a:p>
            <a:pPr lvl="1" marL="926465" indent="-229235">
              <a:lnSpc>
                <a:spcPct val="100000"/>
              </a:lnSpc>
              <a:spcBef>
                <a:spcPts val="985"/>
              </a:spcBef>
              <a:buFont typeface="Verdana"/>
              <a:buChar char="◦"/>
              <a:tabLst>
                <a:tab pos="926465" algn="l"/>
                <a:tab pos="927100" algn="l"/>
              </a:tabLst>
            </a:pPr>
            <a:r>
              <a:rPr dirty="0" sz="1100" spc="-5">
                <a:latin typeface="Calibri"/>
                <a:cs typeface="Calibri"/>
              </a:rPr>
              <a:t>Methods,</a:t>
            </a:r>
            <a:r>
              <a:rPr dirty="0" sz="1100">
                <a:latin typeface="Calibri"/>
                <a:cs typeface="Calibri"/>
              </a:rPr>
              <a:t> and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tools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used</a:t>
            </a:r>
            <a:r>
              <a:rPr dirty="0" sz="110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to develop the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product;</a:t>
            </a:r>
            <a:endParaRPr sz="1100">
              <a:latin typeface="Calibri"/>
              <a:cs typeface="Calibri"/>
            </a:endParaRPr>
          </a:p>
          <a:p>
            <a:pPr lvl="1" marL="926465" indent="-229235">
              <a:lnSpc>
                <a:spcPct val="100000"/>
              </a:lnSpc>
              <a:spcBef>
                <a:spcPts val="990"/>
              </a:spcBef>
              <a:buFont typeface="Verdana"/>
              <a:buChar char="◦"/>
              <a:tabLst>
                <a:tab pos="926465" algn="l"/>
                <a:tab pos="927100" algn="l"/>
              </a:tabLst>
            </a:pPr>
            <a:r>
              <a:rPr dirty="0" sz="1100" spc="-5">
                <a:latin typeface="Calibri"/>
                <a:cs typeface="Calibri"/>
              </a:rPr>
              <a:t>Distribution</a:t>
            </a:r>
            <a:r>
              <a:rPr dirty="0" sz="1100">
                <a:latin typeface="Calibri"/>
                <a:cs typeface="Calibri"/>
              </a:rPr>
              <a:t> and </a:t>
            </a:r>
            <a:r>
              <a:rPr dirty="0" sz="1100" spc="-5">
                <a:latin typeface="Calibri"/>
                <a:cs typeface="Calibri"/>
              </a:rPr>
              <a:t>support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final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product.</a:t>
            </a:r>
            <a:endParaRPr sz="1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892556"/>
            <a:ext cx="5583555" cy="29711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" b="1">
                <a:latin typeface="Calibri"/>
                <a:cs typeface="Calibri"/>
              </a:rPr>
              <a:t>Categorizing</a:t>
            </a:r>
            <a:r>
              <a:rPr dirty="0" sz="1100" spc="-10" b="1">
                <a:latin typeface="Calibri"/>
                <a:cs typeface="Calibri"/>
              </a:rPr>
              <a:t> </a:t>
            </a:r>
            <a:r>
              <a:rPr dirty="0" sz="1100" spc="-5" b="1">
                <a:latin typeface="Calibri"/>
                <a:cs typeface="Calibri"/>
              </a:rPr>
              <a:t>products:</a:t>
            </a:r>
            <a:endParaRPr sz="1100">
              <a:latin typeface="Calibri"/>
              <a:cs typeface="Calibri"/>
            </a:endParaRPr>
          </a:p>
          <a:p>
            <a:pPr marL="469265" indent="-228600">
              <a:lnSpc>
                <a:spcPct val="100000"/>
              </a:lnSpc>
              <a:spcBef>
                <a:spcPts val="930"/>
              </a:spcBef>
              <a:buFont typeface="Microsoft Sans Serif"/>
              <a:buChar char=""/>
              <a:tabLst>
                <a:tab pos="469265" algn="l"/>
                <a:tab pos="469900" algn="l"/>
              </a:tabLst>
            </a:pPr>
            <a:r>
              <a:rPr dirty="0" sz="1100" spc="-5">
                <a:latin typeface="Calibri"/>
                <a:cs typeface="Calibri"/>
              </a:rPr>
              <a:t>Products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fall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into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different </a:t>
            </a:r>
            <a:r>
              <a:rPr dirty="0" sz="1100">
                <a:latin typeface="Calibri"/>
                <a:cs typeface="Calibri"/>
              </a:rPr>
              <a:t>categories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along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several</a:t>
            </a:r>
            <a:r>
              <a:rPr dirty="0" sz="110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dimensions.</a:t>
            </a:r>
            <a:endParaRPr sz="1100">
              <a:latin typeface="Calibri"/>
              <a:cs typeface="Calibri"/>
            </a:endParaRPr>
          </a:p>
          <a:p>
            <a:pPr marL="469265" indent="-228600">
              <a:lnSpc>
                <a:spcPct val="100000"/>
              </a:lnSpc>
              <a:spcBef>
                <a:spcPts val="935"/>
              </a:spcBef>
              <a:buFont typeface="Microsoft Sans Serif"/>
              <a:buChar char=""/>
              <a:tabLst>
                <a:tab pos="469265" algn="l"/>
                <a:tab pos="469900" algn="l"/>
              </a:tabLst>
            </a:pPr>
            <a:r>
              <a:rPr dirty="0" sz="1100">
                <a:latin typeface="Calibri"/>
                <a:cs typeface="Calibri"/>
              </a:rPr>
              <a:t>A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 b="1">
                <a:latin typeface="Calibri"/>
                <a:cs typeface="Calibri"/>
              </a:rPr>
              <a:t>product category</a:t>
            </a:r>
            <a:r>
              <a:rPr dirty="0" sz="1100" spc="15" b="1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is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dimension</a:t>
            </a:r>
            <a:r>
              <a:rPr dirty="0" sz="110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along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which </a:t>
            </a:r>
            <a:r>
              <a:rPr dirty="0" sz="1100" spc="-5">
                <a:latin typeface="Calibri"/>
                <a:cs typeface="Calibri"/>
              </a:rPr>
              <a:t>products </a:t>
            </a:r>
            <a:r>
              <a:rPr dirty="0" sz="1100">
                <a:latin typeface="Calibri"/>
                <a:cs typeface="Calibri"/>
              </a:rPr>
              <a:t>may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differ.</a:t>
            </a:r>
            <a:endParaRPr sz="1100">
              <a:latin typeface="Calibri"/>
              <a:cs typeface="Calibri"/>
            </a:endParaRPr>
          </a:p>
          <a:p>
            <a:pPr lvl="1" marL="926465" indent="-229235">
              <a:lnSpc>
                <a:spcPct val="100000"/>
              </a:lnSpc>
              <a:spcBef>
                <a:spcPts val="985"/>
              </a:spcBef>
              <a:buFont typeface="Verdana"/>
              <a:buChar char="◦"/>
              <a:tabLst>
                <a:tab pos="926465" algn="l"/>
                <a:tab pos="927100" algn="l"/>
              </a:tabLst>
            </a:pPr>
            <a:r>
              <a:rPr dirty="0" sz="1100" spc="-5">
                <a:latin typeface="Calibri"/>
                <a:cs typeface="Calibri"/>
              </a:rPr>
              <a:t>Target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market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size</a:t>
            </a:r>
            <a:endParaRPr sz="1100">
              <a:latin typeface="Calibri"/>
              <a:cs typeface="Calibri"/>
            </a:endParaRPr>
          </a:p>
          <a:p>
            <a:pPr lvl="1" marL="926465" indent="-229235">
              <a:lnSpc>
                <a:spcPct val="100000"/>
              </a:lnSpc>
              <a:spcBef>
                <a:spcPts val="994"/>
              </a:spcBef>
              <a:buFont typeface="Verdana"/>
              <a:buChar char="◦"/>
              <a:tabLst>
                <a:tab pos="926465" algn="l"/>
                <a:tab pos="927100" algn="l"/>
              </a:tabLst>
            </a:pPr>
            <a:r>
              <a:rPr dirty="0" sz="1100" spc="-5">
                <a:latin typeface="Calibri"/>
                <a:cs typeface="Calibri"/>
              </a:rPr>
              <a:t>Product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line novelty</a:t>
            </a:r>
            <a:endParaRPr sz="1100">
              <a:latin typeface="Calibri"/>
              <a:cs typeface="Calibri"/>
            </a:endParaRPr>
          </a:p>
          <a:p>
            <a:pPr lvl="1" marL="926465" indent="-229235">
              <a:lnSpc>
                <a:spcPct val="100000"/>
              </a:lnSpc>
              <a:spcBef>
                <a:spcPts val="985"/>
              </a:spcBef>
              <a:buFont typeface="Verdana"/>
              <a:buChar char="◦"/>
              <a:tabLst>
                <a:tab pos="926465" algn="l"/>
                <a:tab pos="927100" algn="l"/>
              </a:tabLst>
            </a:pPr>
            <a:r>
              <a:rPr dirty="0" sz="1100" spc="-5">
                <a:latin typeface="Calibri"/>
                <a:cs typeface="Calibri"/>
              </a:rPr>
              <a:t>Technological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novelty</a:t>
            </a:r>
            <a:endParaRPr sz="1100">
              <a:latin typeface="Calibri"/>
              <a:cs typeface="Calibri"/>
            </a:endParaRPr>
          </a:p>
          <a:p>
            <a:pPr marL="469265" marR="5080" indent="-228600">
              <a:lnSpc>
                <a:spcPct val="110000"/>
              </a:lnSpc>
              <a:spcBef>
                <a:spcPts val="790"/>
              </a:spcBef>
              <a:buFont typeface="Microsoft Sans Serif"/>
              <a:buChar char=""/>
              <a:tabLst>
                <a:tab pos="469265" algn="l"/>
                <a:tab pos="469900" algn="l"/>
              </a:tabLst>
            </a:pPr>
            <a:r>
              <a:rPr dirty="0" sz="1100">
                <a:latin typeface="Calibri"/>
                <a:cs typeface="Calibri"/>
              </a:rPr>
              <a:t>A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 b="1">
                <a:latin typeface="Calibri"/>
                <a:cs typeface="Calibri"/>
              </a:rPr>
              <a:t>product</a:t>
            </a:r>
            <a:r>
              <a:rPr dirty="0" sz="1100" spc="5" b="1">
                <a:latin typeface="Calibri"/>
                <a:cs typeface="Calibri"/>
              </a:rPr>
              <a:t> </a:t>
            </a:r>
            <a:r>
              <a:rPr dirty="0" sz="1100" spc="-5" b="1">
                <a:latin typeface="Calibri"/>
                <a:cs typeface="Calibri"/>
              </a:rPr>
              <a:t>type</a:t>
            </a:r>
            <a:r>
              <a:rPr dirty="0" sz="1100" spc="5" b="1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is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</a:t>
            </a:r>
            <a:r>
              <a:rPr dirty="0" sz="1100" spc="-5">
                <a:latin typeface="Calibri"/>
                <a:cs typeface="Calibri"/>
              </a:rPr>
              <a:t> collection</a:t>
            </a:r>
            <a:r>
              <a:rPr dirty="0" sz="1100">
                <a:latin typeface="Calibri"/>
                <a:cs typeface="Calibri"/>
              </a:rPr>
              <a:t> of</a:t>
            </a:r>
            <a:r>
              <a:rPr dirty="0" sz="1100" spc="-5">
                <a:latin typeface="Calibri"/>
                <a:cs typeface="Calibri"/>
              </a:rPr>
              <a:t> products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that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have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the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same value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particular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product </a:t>
            </a:r>
            <a:r>
              <a:rPr dirty="0" sz="1100" spc="-2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category.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5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100" spc="-5" b="1">
                <a:latin typeface="Calibri"/>
                <a:cs typeface="Calibri"/>
              </a:rPr>
              <a:t>Target</a:t>
            </a:r>
            <a:r>
              <a:rPr dirty="0" sz="1100" spc="-25" b="1">
                <a:latin typeface="Calibri"/>
                <a:cs typeface="Calibri"/>
              </a:rPr>
              <a:t> </a:t>
            </a:r>
            <a:r>
              <a:rPr dirty="0" sz="1100" spc="-5" b="1">
                <a:latin typeface="Calibri"/>
                <a:cs typeface="Calibri"/>
              </a:rPr>
              <a:t>Market</a:t>
            </a:r>
            <a:r>
              <a:rPr dirty="0" sz="1100" spc="-10" b="1">
                <a:latin typeface="Calibri"/>
                <a:cs typeface="Calibri"/>
              </a:rPr>
              <a:t> </a:t>
            </a:r>
            <a:r>
              <a:rPr dirty="0" sz="1100" spc="-5" b="1">
                <a:latin typeface="Calibri"/>
                <a:cs typeface="Calibri"/>
              </a:rPr>
              <a:t>Size:</a:t>
            </a:r>
            <a:endParaRPr sz="1100">
              <a:latin typeface="Calibri"/>
              <a:cs typeface="Calibri"/>
            </a:endParaRPr>
          </a:p>
          <a:p>
            <a:pPr marL="423545">
              <a:lnSpc>
                <a:spcPct val="100000"/>
              </a:lnSpc>
              <a:spcBef>
                <a:spcPts val="925"/>
              </a:spcBef>
            </a:pPr>
            <a:r>
              <a:rPr dirty="0" sz="1100" spc="-5" b="1">
                <a:latin typeface="Calibri"/>
                <a:cs typeface="Calibri"/>
              </a:rPr>
              <a:t>Target market size</a:t>
            </a:r>
            <a:r>
              <a:rPr dirty="0" sz="1100" spc="10" b="1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is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number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customers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product </a:t>
            </a:r>
            <a:r>
              <a:rPr dirty="0" sz="1100">
                <a:latin typeface="Calibri"/>
                <a:cs typeface="Calibri"/>
              </a:rPr>
              <a:t>is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intended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to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serve.</a:t>
            </a:r>
            <a:endParaRPr sz="1100">
              <a:latin typeface="Calibri"/>
              <a:cs typeface="Calibri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914704" y="4275454"/>
          <a:ext cx="5951220" cy="43186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04545"/>
                <a:gridCol w="1690370"/>
                <a:gridCol w="3437254"/>
              </a:tblGrid>
              <a:tr h="5280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100" b="1">
                          <a:latin typeface="Calibri"/>
                          <a:cs typeface="Calibri"/>
                        </a:rPr>
                        <a:t>Type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3683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2CA1B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100" spc="-5" b="1">
                          <a:latin typeface="Calibri"/>
                          <a:cs typeface="Calibri"/>
                        </a:rPr>
                        <a:t>Description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3683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2CA1BE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100" spc="-5" b="1">
                          <a:latin typeface="Calibri"/>
                          <a:cs typeface="Calibri"/>
                        </a:rPr>
                        <a:t>Examples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3683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2CA1BE"/>
                    </a:solidFill>
                  </a:tcPr>
                </a:tc>
              </a:tr>
              <a:tr h="117906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100" spc="-5">
                          <a:latin typeface="Calibri"/>
                          <a:cs typeface="Calibri"/>
                        </a:rPr>
                        <a:t>Consumer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5588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F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Mass</a:t>
                      </a:r>
                      <a:r>
                        <a:rPr dirty="0" sz="11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5">
                          <a:latin typeface="Calibri"/>
                          <a:cs typeface="Calibri"/>
                        </a:rPr>
                        <a:t>consumer</a:t>
                      </a:r>
                      <a:r>
                        <a:rPr dirty="0" sz="11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5">
                          <a:latin typeface="Calibri"/>
                          <a:cs typeface="Calibri"/>
                        </a:rPr>
                        <a:t>markets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5588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F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Word</a:t>
                      </a:r>
                      <a:r>
                        <a:rPr dirty="0" sz="1100" spc="-5">
                          <a:latin typeface="Calibri"/>
                          <a:cs typeface="Calibri"/>
                        </a:rPr>
                        <a:t> processors,</a:t>
                      </a:r>
                      <a:r>
                        <a:rPr dirty="0" sz="1100" spc="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5">
                          <a:latin typeface="Calibri"/>
                          <a:cs typeface="Calibri"/>
                        </a:rPr>
                        <a:t>spreadsheets, accounting</a:t>
                      </a:r>
                      <a:endParaRPr sz="1100">
                        <a:latin typeface="Calibri"/>
                        <a:cs typeface="Calibri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935"/>
                        </a:spcBef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packages,</a:t>
                      </a:r>
                      <a:r>
                        <a:rPr dirty="0" sz="11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computer</a:t>
                      </a:r>
                      <a:r>
                        <a:rPr dirty="0" sz="11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5">
                          <a:latin typeface="Calibri"/>
                          <a:cs typeface="Calibri"/>
                        </a:rPr>
                        <a:t>games,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5">
                          <a:latin typeface="Calibri"/>
                          <a:cs typeface="Calibri"/>
                        </a:rPr>
                        <a:t>operating systems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5588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FE8"/>
                    </a:solidFill>
                  </a:tcPr>
                </a:tc>
              </a:tr>
              <a:tr h="1449362">
                <a:tc>
                  <a:txBody>
                    <a:bodyPr/>
                    <a:lstStyle/>
                    <a:p>
                      <a:pPr marL="238760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dirty="0" sz="1100" spc="-5">
                          <a:latin typeface="Calibri"/>
                          <a:cs typeface="Calibri"/>
                        </a:rPr>
                        <a:t>Niche</a:t>
                      </a:r>
                      <a:endParaRPr sz="1100">
                        <a:latin typeface="Calibri"/>
                        <a:cs typeface="Calibri"/>
                      </a:endParaRPr>
                    </a:p>
                    <a:p>
                      <a:pPr marL="193040">
                        <a:lnSpc>
                          <a:spcPct val="100000"/>
                        </a:lnSpc>
                        <a:spcBef>
                          <a:spcPts val="925"/>
                        </a:spcBef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Market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4445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F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dirty="0" sz="1100" spc="-5">
                          <a:latin typeface="Calibri"/>
                          <a:cs typeface="Calibri"/>
                        </a:rPr>
                        <a:t>More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than</a:t>
                      </a:r>
                      <a:r>
                        <a:rPr dirty="0" sz="11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one</a:t>
                      </a:r>
                      <a:r>
                        <a:rPr dirty="0" sz="11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5">
                          <a:latin typeface="Calibri"/>
                          <a:cs typeface="Calibri"/>
                        </a:rPr>
                        <a:t>customer</a:t>
                      </a:r>
                      <a:endParaRPr sz="1100">
                        <a:latin typeface="Calibri"/>
                        <a:cs typeface="Calibri"/>
                      </a:endParaRPr>
                    </a:p>
                    <a:p>
                      <a:pPr algn="ctr" marL="342900" marR="335915" indent="1270">
                        <a:lnSpc>
                          <a:spcPct val="170000"/>
                        </a:lnSpc>
                      </a:pPr>
                      <a:r>
                        <a:rPr dirty="0" sz="1100" spc="-5">
                          <a:latin typeface="Calibri"/>
                          <a:cs typeface="Calibri"/>
                        </a:rPr>
                        <a:t>but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not a mass </a:t>
                      </a:r>
                      <a:r>
                        <a:rPr dirty="0" sz="1100" spc="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5">
                          <a:latin typeface="Calibri"/>
                          <a:cs typeface="Calibri"/>
                        </a:rPr>
                        <a:t>consumer</a:t>
                      </a:r>
                      <a:r>
                        <a:rPr dirty="0" sz="110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5">
                          <a:latin typeface="Calibri"/>
                          <a:cs typeface="Calibri"/>
                        </a:rPr>
                        <a:t>market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4445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FF4"/>
                    </a:solidFill>
                  </a:tcPr>
                </a:tc>
                <a:tc>
                  <a:txBody>
                    <a:bodyPr/>
                    <a:lstStyle/>
                    <a:p>
                      <a:pPr marL="281940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dirty="0" sz="1100" spc="-5">
                          <a:latin typeface="Calibri"/>
                          <a:cs typeface="Calibri"/>
                        </a:rPr>
                        <a:t>Programs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for </a:t>
                      </a:r>
                      <a:r>
                        <a:rPr dirty="0" sz="1100" spc="-5">
                          <a:latin typeface="Calibri"/>
                          <a:cs typeface="Calibri"/>
                        </a:rPr>
                        <a:t>configuration management,</a:t>
                      </a:r>
                      <a:r>
                        <a:rPr dirty="0" sz="1100" spc="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5">
                          <a:latin typeface="Calibri"/>
                          <a:cs typeface="Calibri"/>
                        </a:rPr>
                        <a:t>shipyard</a:t>
                      </a:r>
                      <a:endParaRPr sz="1100">
                        <a:latin typeface="Calibri"/>
                        <a:cs typeface="Calibri"/>
                      </a:endParaRPr>
                    </a:p>
                    <a:p>
                      <a:pPr marL="1440180" marR="261620" indent="-1172210">
                        <a:lnSpc>
                          <a:spcPct val="170000"/>
                        </a:lnSpc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management, medical </a:t>
                      </a:r>
                      <a:r>
                        <a:rPr dirty="0" sz="1100" spc="-5">
                          <a:latin typeface="Calibri"/>
                          <a:cs typeface="Calibri"/>
                        </a:rPr>
                        <a:t>office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records </a:t>
                      </a:r>
                      <a:r>
                        <a:rPr dirty="0" sz="1100" spc="-5">
                          <a:latin typeface="Calibri"/>
                          <a:cs typeface="Calibri"/>
                        </a:rPr>
                        <a:t>management, </a:t>
                      </a:r>
                      <a:r>
                        <a:rPr dirty="0" sz="1100" spc="-2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5">
                          <a:latin typeface="Calibri"/>
                          <a:cs typeface="Calibri"/>
                        </a:rPr>
                        <a:t>AquaLush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4445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FF4"/>
                    </a:solidFill>
                  </a:tcPr>
                </a:tc>
              </a:tr>
              <a:tr h="116163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dirty="0" sz="1100" spc="-5">
                          <a:latin typeface="Calibri"/>
                          <a:cs typeface="Calibri"/>
                        </a:rPr>
                        <a:t>Custom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4318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solidFill>
                      <a:srgbClr val="CDDFE8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dirty="0" sz="1100" spc="-5">
                          <a:latin typeface="Calibri"/>
                          <a:cs typeface="Calibri"/>
                        </a:rPr>
                        <a:t>Individual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5">
                          <a:latin typeface="Calibri"/>
                          <a:cs typeface="Calibri"/>
                        </a:rPr>
                        <a:t>customers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4318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solidFill>
                      <a:srgbClr val="CDDF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dirty="0" sz="1100" spc="-5">
                          <a:latin typeface="Calibri"/>
                          <a:cs typeface="Calibri"/>
                        </a:rPr>
                        <a:t>Systems</a:t>
                      </a:r>
                      <a:r>
                        <a:rPr dirty="0" sz="11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written </a:t>
                      </a:r>
                      <a:r>
                        <a:rPr dirty="0" sz="1100" spc="-5">
                          <a:latin typeface="Calibri"/>
                          <a:cs typeface="Calibri"/>
                        </a:rPr>
                        <a:t>for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one </a:t>
                      </a:r>
                      <a:r>
                        <a:rPr dirty="0" sz="1100" spc="-5">
                          <a:latin typeface="Calibri"/>
                          <a:cs typeface="Calibri"/>
                        </a:rPr>
                        <a:t>part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 of</a:t>
                      </a:r>
                      <a:r>
                        <a:rPr dirty="0" sz="11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a </a:t>
                      </a:r>
                      <a:r>
                        <a:rPr dirty="0" sz="1100" spc="-5">
                          <a:latin typeface="Calibri"/>
                          <a:cs typeface="Calibri"/>
                        </a:rPr>
                        <a:t>company by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another</a:t>
                      </a:r>
                      <a:endParaRPr sz="1100">
                        <a:latin typeface="Calibri"/>
                        <a:cs typeface="Calibri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935"/>
                        </a:spcBef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part, </a:t>
                      </a:r>
                      <a:r>
                        <a:rPr dirty="0" sz="1100" spc="-5">
                          <a:latin typeface="Calibri"/>
                          <a:cs typeface="Calibri"/>
                        </a:rPr>
                        <a:t>space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5">
                          <a:latin typeface="Calibri"/>
                          <a:cs typeface="Calibri"/>
                        </a:rPr>
                        <a:t>shuttle</a:t>
                      </a:r>
                      <a:r>
                        <a:rPr dirty="0" sz="11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5">
                          <a:latin typeface="Calibri"/>
                          <a:cs typeface="Calibri"/>
                        </a:rPr>
                        <a:t>software,</a:t>
                      </a:r>
                      <a:r>
                        <a:rPr dirty="0" sz="1100" spc="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weapons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5">
                          <a:latin typeface="Calibri"/>
                          <a:cs typeface="Calibri"/>
                        </a:rPr>
                        <a:t>software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4318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solidFill>
                      <a:srgbClr val="CDDFE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892556"/>
            <a:ext cx="5938520" cy="33997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" b="1">
                <a:latin typeface="Calibri"/>
                <a:cs typeface="Calibri"/>
              </a:rPr>
              <a:t>Categorizing</a:t>
            </a:r>
            <a:r>
              <a:rPr dirty="0" sz="1100" spc="-10" b="1">
                <a:latin typeface="Calibri"/>
                <a:cs typeface="Calibri"/>
              </a:rPr>
              <a:t> </a:t>
            </a:r>
            <a:r>
              <a:rPr dirty="0" sz="1100" spc="-5" b="1">
                <a:latin typeface="Calibri"/>
                <a:cs typeface="Calibri"/>
              </a:rPr>
              <a:t>products:</a:t>
            </a:r>
            <a:endParaRPr sz="1100">
              <a:latin typeface="Calibri"/>
              <a:cs typeface="Calibri"/>
            </a:endParaRPr>
          </a:p>
          <a:p>
            <a:pPr marL="469265" marR="124460" indent="-228600">
              <a:lnSpc>
                <a:spcPct val="110000"/>
              </a:lnSpc>
              <a:spcBef>
                <a:spcPts val="795"/>
              </a:spcBef>
              <a:buFont typeface="Microsoft Sans Serif"/>
              <a:buChar char=""/>
              <a:tabLst>
                <a:tab pos="469265" algn="l"/>
                <a:tab pos="469900" algn="l"/>
              </a:tabLst>
            </a:pPr>
            <a:r>
              <a:rPr dirty="0" sz="1100">
                <a:latin typeface="Calibri"/>
                <a:cs typeface="Calibri"/>
              </a:rPr>
              <a:t>Designers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-5">
                <a:latin typeface="Calibri"/>
                <a:cs typeface="Calibri"/>
              </a:rPr>
              <a:t> custom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niche-market products</a:t>
            </a:r>
            <a:r>
              <a:rPr dirty="0" sz="110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designers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can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identify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needs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desires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for</a:t>
            </a:r>
            <a:r>
              <a:rPr dirty="0" sz="1100">
                <a:latin typeface="Calibri"/>
                <a:cs typeface="Calibri"/>
              </a:rPr>
              <a:t> a </a:t>
            </a:r>
            <a:r>
              <a:rPr dirty="0" sz="1100" spc="-23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product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as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compared</a:t>
            </a:r>
            <a:r>
              <a:rPr dirty="0" sz="110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to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consumer</a:t>
            </a:r>
            <a:r>
              <a:rPr dirty="0" sz="110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products.</a:t>
            </a:r>
            <a:endParaRPr sz="1100">
              <a:latin typeface="Calibri"/>
              <a:cs typeface="Calibri"/>
            </a:endParaRPr>
          </a:p>
          <a:p>
            <a:pPr marL="469265" marR="118110" indent="-228600">
              <a:lnSpc>
                <a:spcPct val="109100"/>
              </a:lnSpc>
              <a:spcBef>
                <a:spcPts val="815"/>
              </a:spcBef>
              <a:buFont typeface="Microsoft Sans Serif"/>
              <a:buChar char=""/>
              <a:tabLst>
                <a:tab pos="469265" algn="l"/>
                <a:tab pos="469900" algn="l"/>
              </a:tabLst>
            </a:pPr>
            <a:r>
              <a:rPr dirty="0" sz="1100">
                <a:latin typeface="Calibri"/>
                <a:cs typeface="Calibri"/>
              </a:rPr>
              <a:t>Designing </a:t>
            </a:r>
            <a:r>
              <a:rPr dirty="0" sz="1100" spc="-5">
                <a:latin typeface="Calibri"/>
                <a:cs typeface="Calibri"/>
              </a:rPr>
              <a:t>consumer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products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is easy than </a:t>
            </a:r>
            <a:r>
              <a:rPr dirty="0" sz="1100" spc="-5">
                <a:latin typeface="Calibri"/>
                <a:cs typeface="Calibri"/>
              </a:rPr>
              <a:t>designing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niche-market products</a:t>
            </a:r>
            <a:r>
              <a:rPr dirty="0" sz="110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which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is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easy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than </a:t>
            </a:r>
            <a:r>
              <a:rPr dirty="0" sz="1100" spc="-23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designing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custom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products.</a:t>
            </a:r>
            <a:endParaRPr sz="1100">
              <a:latin typeface="Calibri"/>
              <a:cs typeface="Calibri"/>
            </a:endParaRPr>
          </a:p>
          <a:p>
            <a:pPr marL="469265" marR="5080" indent="-228600">
              <a:lnSpc>
                <a:spcPct val="110000"/>
              </a:lnSpc>
              <a:spcBef>
                <a:spcPts val="805"/>
              </a:spcBef>
              <a:buFont typeface="Microsoft Sans Serif"/>
              <a:buChar char=""/>
              <a:tabLst>
                <a:tab pos="469265" algn="l"/>
                <a:tab pos="469900" algn="l"/>
              </a:tabLst>
            </a:pPr>
            <a:r>
              <a:rPr dirty="0" sz="1100" spc="-5">
                <a:latin typeface="Calibri"/>
                <a:cs typeface="Calibri"/>
              </a:rPr>
              <a:t>Competitors</a:t>
            </a:r>
            <a:r>
              <a:rPr dirty="0" sz="1100">
                <a:latin typeface="Calibri"/>
                <a:cs typeface="Calibri"/>
              </a:rPr>
              <a:t> are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important</a:t>
            </a:r>
            <a:r>
              <a:rPr dirty="0" sz="1100">
                <a:latin typeface="Calibri"/>
                <a:cs typeface="Calibri"/>
              </a:rPr>
              <a:t> when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designing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consumer</a:t>
            </a:r>
            <a:r>
              <a:rPr dirty="0" sz="1100">
                <a:latin typeface="Calibri"/>
                <a:cs typeface="Calibri"/>
              </a:rPr>
              <a:t> and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niche-market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products,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but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this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is not </a:t>
            </a:r>
            <a:r>
              <a:rPr dirty="0" sz="1100" spc="-2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5">
                <a:latin typeface="Calibri"/>
                <a:cs typeface="Calibri"/>
              </a:rPr>
              <a:t> case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designing custom </a:t>
            </a:r>
            <a:r>
              <a:rPr dirty="0" sz="1100">
                <a:latin typeface="Calibri"/>
                <a:cs typeface="Calibri"/>
              </a:rPr>
              <a:t>products.</a:t>
            </a:r>
            <a:endParaRPr sz="1100">
              <a:latin typeface="Calibri"/>
              <a:cs typeface="Calibri"/>
            </a:endParaRPr>
          </a:p>
          <a:p>
            <a:pPr marL="469265" indent="-228600">
              <a:lnSpc>
                <a:spcPct val="100000"/>
              </a:lnSpc>
              <a:spcBef>
                <a:spcPts val="925"/>
              </a:spcBef>
              <a:buFont typeface="Microsoft Sans Serif"/>
              <a:buChar char=""/>
              <a:tabLst>
                <a:tab pos="469265" algn="l"/>
                <a:tab pos="469900" algn="l"/>
              </a:tabLst>
            </a:pPr>
            <a:r>
              <a:rPr dirty="0" sz="1100" spc="-5">
                <a:latin typeface="Calibri"/>
                <a:cs typeface="Calibri"/>
              </a:rPr>
              <a:t>Different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aspects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product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design are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more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or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less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important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these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different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categories.</a:t>
            </a:r>
            <a:endParaRPr sz="1100">
              <a:latin typeface="Calibri"/>
              <a:cs typeface="Calibri"/>
            </a:endParaRPr>
          </a:p>
          <a:p>
            <a:pPr lvl="1" marL="697865" indent="-229235">
              <a:lnSpc>
                <a:spcPct val="100000"/>
              </a:lnSpc>
              <a:spcBef>
                <a:spcPts val="925"/>
              </a:spcBef>
              <a:buAutoNum type="arabicParenR"/>
              <a:tabLst>
                <a:tab pos="698500" algn="l"/>
              </a:tabLst>
            </a:pPr>
            <a:r>
              <a:rPr dirty="0" sz="1100" spc="-5">
                <a:latin typeface="Calibri"/>
                <a:cs typeface="Calibri"/>
              </a:rPr>
              <a:t>Consumer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products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place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</a:t>
            </a:r>
            <a:r>
              <a:rPr dirty="0" sz="1100" spc="-5">
                <a:latin typeface="Calibri"/>
                <a:cs typeface="Calibri"/>
              </a:rPr>
              <a:t> premium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on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attractive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user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interface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design.</a:t>
            </a:r>
            <a:endParaRPr sz="1100">
              <a:latin typeface="Calibri"/>
              <a:cs typeface="Calibri"/>
            </a:endParaRPr>
          </a:p>
          <a:p>
            <a:pPr lvl="1" marL="697865" indent="-229235">
              <a:lnSpc>
                <a:spcPct val="100000"/>
              </a:lnSpc>
              <a:spcBef>
                <a:spcPts val="135"/>
              </a:spcBef>
              <a:buAutoNum type="arabicParenR"/>
              <a:tabLst>
                <a:tab pos="698500" algn="l"/>
              </a:tabLst>
            </a:pPr>
            <a:r>
              <a:rPr dirty="0" sz="1100" spc="-5">
                <a:latin typeface="Calibri"/>
                <a:cs typeface="Calibri"/>
              </a:rPr>
              <a:t>Functionality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is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usually</a:t>
            </a:r>
            <a:r>
              <a:rPr dirty="0" sz="110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more</a:t>
            </a:r>
            <a:r>
              <a:rPr dirty="0" sz="1100" spc="2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important</a:t>
            </a:r>
            <a:r>
              <a:rPr dirty="0" sz="1100">
                <a:latin typeface="Calibri"/>
                <a:cs typeface="Calibri"/>
              </a:rPr>
              <a:t> for </a:t>
            </a:r>
            <a:r>
              <a:rPr dirty="0" sz="1100" spc="-5">
                <a:latin typeface="Calibri"/>
                <a:cs typeface="Calibri"/>
              </a:rPr>
              <a:t>custom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and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niche-market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products.</a:t>
            </a:r>
            <a:endParaRPr sz="11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buFont typeface="Calibri"/>
              <a:buAutoNum type="arabicParenR"/>
            </a:pPr>
            <a:endParaRPr sz="11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5"/>
              </a:spcBef>
              <a:buFont typeface="Calibri"/>
              <a:buAutoNum type="arabicParenR"/>
            </a:pPr>
            <a:endParaRPr sz="15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100" spc="-5" b="1">
                <a:latin typeface="Calibri"/>
                <a:cs typeface="Calibri"/>
              </a:rPr>
              <a:t>Product</a:t>
            </a:r>
            <a:r>
              <a:rPr dirty="0" sz="1100" spc="-15" b="1">
                <a:latin typeface="Calibri"/>
                <a:cs typeface="Calibri"/>
              </a:rPr>
              <a:t> </a:t>
            </a:r>
            <a:r>
              <a:rPr dirty="0" sz="1100" spc="-5" b="1">
                <a:latin typeface="Calibri"/>
                <a:cs typeface="Calibri"/>
              </a:rPr>
              <a:t>Line</a:t>
            </a:r>
            <a:r>
              <a:rPr dirty="0" sz="1100" spc="-15" b="1">
                <a:latin typeface="Calibri"/>
                <a:cs typeface="Calibri"/>
              </a:rPr>
              <a:t> </a:t>
            </a:r>
            <a:r>
              <a:rPr dirty="0" sz="1100" spc="-5" b="1">
                <a:latin typeface="Calibri"/>
                <a:cs typeface="Calibri"/>
              </a:rPr>
              <a:t>Novelty:</a:t>
            </a:r>
            <a:endParaRPr sz="1100">
              <a:latin typeface="Calibri"/>
              <a:cs typeface="Calibri"/>
            </a:endParaRPr>
          </a:p>
          <a:p>
            <a:pPr marL="469265" marR="93345" indent="-228600">
              <a:lnSpc>
                <a:spcPct val="110000"/>
              </a:lnSpc>
              <a:spcBef>
                <a:spcPts val="795"/>
              </a:spcBef>
              <a:buFont typeface="Microsoft Sans Serif"/>
              <a:buChar char=""/>
              <a:tabLst>
                <a:tab pos="469265" algn="l"/>
                <a:tab pos="469900" algn="l"/>
              </a:tabLst>
            </a:pPr>
            <a:r>
              <a:rPr dirty="0" sz="1100" spc="-5" b="1">
                <a:latin typeface="Calibri"/>
                <a:cs typeface="Calibri"/>
              </a:rPr>
              <a:t>Product </a:t>
            </a:r>
            <a:r>
              <a:rPr dirty="0" sz="1100" b="1">
                <a:latin typeface="Calibri"/>
                <a:cs typeface="Calibri"/>
              </a:rPr>
              <a:t>line</a:t>
            </a:r>
            <a:r>
              <a:rPr dirty="0" sz="1100" spc="5" b="1">
                <a:latin typeface="Calibri"/>
                <a:cs typeface="Calibri"/>
              </a:rPr>
              <a:t> </a:t>
            </a:r>
            <a:r>
              <a:rPr dirty="0" sz="1100" spc="-5" b="1">
                <a:latin typeface="Calibri"/>
                <a:cs typeface="Calibri"/>
              </a:rPr>
              <a:t>novelty</a:t>
            </a:r>
            <a:r>
              <a:rPr dirty="0" sz="1100" spc="15" b="1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is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how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“new”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product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is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relation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to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other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products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 </a:t>
            </a:r>
            <a:r>
              <a:rPr dirty="0" sz="1100" spc="-5">
                <a:latin typeface="Calibri"/>
                <a:cs typeface="Calibri"/>
              </a:rPr>
              <a:t>current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product </a:t>
            </a:r>
            <a:r>
              <a:rPr dirty="0" sz="1100" spc="-229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line.</a:t>
            </a:r>
            <a:endParaRPr sz="1100">
              <a:latin typeface="Calibri"/>
              <a:cs typeface="Calibri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914704" y="4703698"/>
          <a:ext cx="5951220" cy="41281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58950"/>
                <a:gridCol w="1755775"/>
                <a:gridCol w="2417445"/>
              </a:tblGrid>
              <a:tr h="43967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100" b="1">
                          <a:latin typeface="Calibri"/>
                          <a:cs typeface="Calibri"/>
                        </a:rPr>
                        <a:t>Type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3683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2CA1BE"/>
                    </a:solidFill>
                  </a:tcPr>
                </a:tc>
                <a:tc>
                  <a:txBody>
                    <a:bodyPr/>
                    <a:lstStyle/>
                    <a:p>
                      <a:pPr marL="54356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100" spc="-5" b="1">
                          <a:latin typeface="Calibri"/>
                          <a:cs typeface="Calibri"/>
                        </a:rPr>
                        <a:t>Description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3683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2CA1B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100" spc="-5" b="1">
                          <a:latin typeface="Calibri"/>
                          <a:cs typeface="Calibri"/>
                        </a:rPr>
                        <a:t>Examples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3683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2CA1BE"/>
                    </a:solidFill>
                  </a:tcPr>
                </a:tc>
              </a:tr>
              <a:tr h="123393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New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5588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FE8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02565" marR="197485">
                        <a:lnSpc>
                          <a:spcPct val="110000"/>
                        </a:lnSpc>
                        <a:spcBef>
                          <a:spcPts val="310"/>
                        </a:spcBef>
                      </a:pPr>
                      <a:r>
                        <a:rPr dirty="0" sz="1100" spc="-5">
                          <a:latin typeface="Calibri"/>
                          <a:cs typeface="Calibri"/>
                        </a:rPr>
                        <a:t>Different</a:t>
                      </a:r>
                      <a:r>
                        <a:rPr dirty="0" sz="11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5">
                          <a:latin typeface="Calibri"/>
                          <a:cs typeface="Calibri"/>
                        </a:rPr>
                        <a:t>from</a:t>
                      </a:r>
                      <a:r>
                        <a:rPr dirty="0" sz="11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anything </a:t>
                      </a:r>
                      <a:r>
                        <a:rPr dirty="0" sz="1100" spc="-2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else in</a:t>
                      </a:r>
                      <a:r>
                        <a:rPr dirty="0" sz="11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the</a:t>
                      </a:r>
                      <a:endParaRPr sz="1100">
                        <a:latin typeface="Calibri"/>
                        <a:cs typeface="Calibri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925"/>
                        </a:spcBef>
                      </a:pPr>
                      <a:r>
                        <a:rPr dirty="0" sz="1100" spc="-5">
                          <a:latin typeface="Calibri"/>
                          <a:cs typeface="Calibri"/>
                        </a:rPr>
                        <a:t>product</a:t>
                      </a:r>
                      <a:r>
                        <a:rPr dirty="0" sz="11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5">
                          <a:latin typeface="Calibri"/>
                          <a:cs typeface="Calibri"/>
                        </a:rPr>
                        <a:t>line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FE8"/>
                    </a:solidFill>
                  </a:tcPr>
                </a:tc>
                <a:tc>
                  <a:txBody>
                    <a:bodyPr/>
                    <a:lstStyle/>
                    <a:p>
                      <a:pPr marL="316865" marR="198120" indent="-111760">
                        <a:lnSpc>
                          <a:spcPct val="110000"/>
                        </a:lnSpc>
                        <a:spcBef>
                          <a:spcPts val="310"/>
                        </a:spcBef>
                      </a:pPr>
                      <a:r>
                        <a:rPr dirty="0" sz="1100" spc="-5">
                          <a:latin typeface="Calibri"/>
                          <a:cs typeface="Calibri"/>
                        </a:rPr>
                        <a:t>Tax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preparation</a:t>
                      </a:r>
                      <a:r>
                        <a:rPr dirty="0" sz="11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5">
                          <a:latin typeface="Calibri"/>
                          <a:cs typeface="Calibri"/>
                        </a:rPr>
                        <a:t>product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 in</a:t>
                      </a:r>
                      <a:r>
                        <a:rPr dirty="0" sz="11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a</a:t>
                      </a:r>
                      <a:r>
                        <a:rPr dirty="0" sz="11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line</a:t>
                      </a:r>
                      <a:r>
                        <a:rPr dirty="0" sz="11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of </a:t>
                      </a:r>
                      <a:r>
                        <a:rPr dirty="0" sz="1100" spc="-2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accounting</a:t>
                      </a:r>
                      <a:r>
                        <a:rPr dirty="0" sz="11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5">
                          <a:latin typeface="Calibri"/>
                          <a:cs typeface="Calibri"/>
                        </a:rPr>
                        <a:t>products, AquaLush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FE8"/>
                    </a:solidFill>
                  </a:tcPr>
                </a:tc>
              </a:tr>
              <a:tr h="139941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dirty="0" sz="1100" spc="-5">
                          <a:latin typeface="Calibri"/>
                          <a:cs typeface="Calibri"/>
                        </a:rPr>
                        <a:t>Derivative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4318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FF4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37490" marR="232410">
                        <a:lnSpc>
                          <a:spcPct val="110000"/>
                        </a:lnSpc>
                        <a:spcBef>
                          <a:spcPts val="204"/>
                        </a:spcBef>
                      </a:pPr>
                      <a:r>
                        <a:rPr dirty="0" sz="1100" spc="-5">
                          <a:latin typeface="Calibri"/>
                          <a:cs typeface="Calibri"/>
                        </a:rPr>
                        <a:t>Similar</a:t>
                      </a:r>
                      <a:r>
                        <a:rPr dirty="0" sz="11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5">
                          <a:latin typeface="Calibri"/>
                          <a:cs typeface="Calibri"/>
                        </a:rPr>
                        <a:t>to</a:t>
                      </a:r>
                      <a:r>
                        <a:rPr dirty="0" sz="11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one</a:t>
                      </a:r>
                      <a:r>
                        <a:rPr dirty="0" sz="11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or</a:t>
                      </a:r>
                      <a:r>
                        <a:rPr dirty="0" sz="11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more </a:t>
                      </a:r>
                      <a:r>
                        <a:rPr dirty="0" sz="1100" spc="-229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existing</a:t>
                      </a:r>
                      <a:endParaRPr sz="1100">
                        <a:latin typeface="Calibri"/>
                        <a:cs typeface="Calibri"/>
                      </a:endParaRPr>
                    </a:p>
                    <a:p>
                      <a:pPr algn="ctr" marL="205104" marR="200025">
                        <a:lnSpc>
                          <a:spcPct val="110000"/>
                        </a:lnSpc>
                        <a:spcBef>
                          <a:spcPts val="795"/>
                        </a:spcBef>
                      </a:pPr>
                      <a:r>
                        <a:rPr dirty="0" sz="1100" spc="-5">
                          <a:latin typeface="Calibri"/>
                          <a:cs typeface="Calibri"/>
                        </a:rPr>
                        <a:t>products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in</a:t>
                      </a:r>
                      <a:r>
                        <a:rPr dirty="0" sz="11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the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5">
                          <a:latin typeface="Calibri"/>
                          <a:cs typeface="Calibri"/>
                        </a:rPr>
                        <a:t>product </a:t>
                      </a:r>
                      <a:r>
                        <a:rPr dirty="0" sz="1100" spc="-2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5">
                          <a:latin typeface="Calibri"/>
                          <a:cs typeface="Calibri"/>
                        </a:rPr>
                        <a:t>line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26034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FF4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33045" marR="227965">
                        <a:lnSpc>
                          <a:spcPct val="110000"/>
                        </a:lnSpc>
                        <a:spcBef>
                          <a:spcPts val="204"/>
                        </a:spcBef>
                      </a:pPr>
                      <a:r>
                        <a:rPr dirty="0" sz="1100" spc="-5">
                          <a:latin typeface="Calibri"/>
                          <a:cs typeface="Calibri"/>
                        </a:rPr>
                        <a:t>Database</a:t>
                      </a:r>
                      <a:r>
                        <a:rPr dirty="0" sz="11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management</a:t>
                      </a:r>
                      <a:r>
                        <a:rPr dirty="0" sz="11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5">
                          <a:latin typeface="Calibri"/>
                          <a:cs typeface="Calibri"/>
                        </a:rPr>
                        <a:t>system</a:t>
                      </a:r>
                      <a:r>
                        <a:rPr dirty="0" sz="11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for </a:t>
                      </a:r>
                      <a:r>
                        <a:rPr dirty="0" sz="1100" spc="-2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individual</a:t>
                      </a:r>
                      <a:endParaRPr sz="1100">
                        <a:latin typeface="Calibri"/>
                        <a:cs typeface="Calibri"/>
                      </a:endParaRPr>
                    </a:p>
                    <a:p>
                      <a:pPr algn="ctr" marL="107950" marR="103505">
                        <a:lnSpc>
                          <a:spcPct val="110000"/>
                        </a:lnSpc>
                        <a:spcBef>
                          <a:spcPts val="795"/>
                        </a:spcBef>
                      </a:pPr>
                      <a:r>
                        <a:rPr dirty="0" sz="1100" spc="-5">
                          <a:latin typeface="Calibri"/>
                          <a:cs typeface="Calibri"/>
                        </a:rPr>
                        <a:t>users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 in</a:t>
                      </a:r>
                      <a:r>
                        <a:rPr dirty="0" sz="11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a </a:t>
                      </a:r>
                      <a:r>
                        <a:rPr dirty="0" sz="1100" spc="-5">
                          <a:latin typeface="Calibri"/>
                          <a:cs typeface="Calibri"/>
                        </a:rPr>
                        <a:t>line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of</a:t>
                      </a:r>
                      <a:r>
                        <a:rPr dirty="0" sz="11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5">
                          <a:latin typeface="Calibri"/>
                          <a:cs typeface="Calibri"/>
                        </a:rPr>
                        <a:t>systems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for</a:t>
                      </a:r>
                      <a:r>
                        <a:rPr dirty="0" sz="1100" spc="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5">
                          <a:latin typeface="Calibri"/>
                          <a:cs typeface="Calibri"/>
                        </a:rPr>
                        <a:t>corporate </a:t>
                      </a:r>
                      <a:r>
                        <a:rPr dirty="0" sz="1100" spc="-2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5">
                          <a:latin typeface="Calibri"/>
                          <a:cs typeface="Calibri"/>
                        </a:rPr>
                        <a:t>users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26034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FF4"/>
                    </a:solidFill>
                  </a:tcPr>
                </a:tc>
              </a:tr>
              <a:tr h="105455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dirty="0" sz="1100" spc="-5">
                          <a:latin typeface="Calibri"/>
                          <a:cs typeface="Calibri"/>
                        </a:rPr>
                        <a:t>Maintenance</a:t>
                      </a:r>
                      <a:endParaRPr sz="1100">
                        <a:latin typeface="Calibri"/>
                        <a:cs typeface="Calibri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935"/>
                        </a:spcBef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Release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4318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solidFill>
                      <a:srgbClr val="CDDFE8"/>
                    </a:solidFill>
                  </a:tcPr>
                </a:tc>
                <a:tc>
                  <a:txBody>
                    <a:bodyPr/>
                    <a:lstStyle/>
                    <a:p>
                      <a:pPr marL="652145" marR="126364" indent="-520065">
                        <a:lnSpc>
                          <a:spcPct val="110000"/>
                        </a:lnSpc>
                        <a:spcBef>
                          <a:spcPts val="204"/>
                        </a:spcBef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New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5">
                          <a:latin typeface="Calibri"/>
                          <a:cs typeface="Calibri"/>
                        </a:rPr>
                        <a:t>release</a:t>
                      </a:r>
                      <a:r>
                        <a:rPr dirty="0" sz="11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of</a:t>
                      </a:r>
                      <a:r>
                        <a:rPr dirty="0" sz="11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an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5">
                          <a:latin typeface="Calibri"/>
                          <a:cs typeface="Calibri"/>
                        </a:rPr>
                        <a:t>existing </a:t>
                      </a:r>
                      <a:r>
                        <a:rPr dirty="0" sz="1100" spc="-2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5">
                          <a:latin typeface="Calibri"/>
                          <a:cs typeface="Calibri"/>
                        </a:rPr>
                        <a:t>product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26034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solidFill>
                      <a:srgbClr val="CDDF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dirty="0" sz="1100" spc="-5">
                          <a:latin typeface="Calibri"/>
                          <a:cs typeface="Calibri"/>
                        </a:rPr>
                        <a:t>Third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5">
                          <a:latin typeface="Calibri"/>
                          <a:cs typeface="Calibri"/>
                        </a:rPr>
                        <a:t>release</a:t>
                      </a:r>
                      <a:r>
                        <a:rPr dirty="0" sz="11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of</a:t>
                      </a:r>
                      <a:r>
                        <a:rPr dirty="0" sz="11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a </a:t>
                      </a:r>
                      <a:r>
                        <a:rPr dirty="0" sz="1100" spc="-5">
                          <a:latin typeface="Calibri"/>
                          <a:cs typeface="Calibri"/>
                        </a:rPr>
                        <a:t>spreadsheet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4318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solidFill>
                      <a:srgbClr val="CDDFE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892556"/>
            <a:ext cx="5936615" cy="21736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" b="1">
                <a:latin typeface="Calibri"/>
                <a:cs typeface="Calibri"/>
              </a:rPr>
              <a:t>Product</a:t>
            </a:r>
            <a:r>
              <a:rPr dirty="0" sz="1100" spc="-15" b="1">
                <a:latin typeface="Calibri"/>
                <a:cs typeface="Calibri"/>
              </a:rPr>
              <a:t> </a:t>
            </a:r>
            <a:r>
              <a:rPr dirty="0" sz="1100" spc="-5" b="1">
                <a:latin typeface="Calibri"/>
                <a:cs typeface="Calibri"/>
              </a:rPr>
              <a:t>Line</a:t>
            </a:r>
            <a:r>
              <a:rPr dirty="0" sz="1100" spc="-15" b="1">
                <a:latin typeface="Calibri"/>
                <a:cs typeface="Calibri"/>
              </a:rPr>
              <a:t> </a:t>
            </a:r>
            <a:r>
              <a:rPr dirty="0" sz="1100" spc="-5" b="1">
                <a:latin typeface="Calibri"/>
                <a:cs typeface="Calibri"/>
              </a:rPr>
              <a:t>Novelty:</a:t>
            </a:r>
            <a:endParaRPr sz="1100">
              <a:latin typeface="Calibri"/>
              <a:cs typeface="Calibri"/>
            </a:endParaRPr>
          </a:p>
          <a:p>
            <a:pPr marL="469265" marR="5080" indent="-228600">
              <a:lnSpc>
                <a:spcPct val="110000"/>
              </a:lnSpc>
              <a:spcBef>
                <a:spcPts val="795"/>
              </a:spcBef>
              <a:buFont typeface="Microsoft Sans Serif"/>
              <a:buChar char=""/>
              <a:tabLst>
                <a:tab pos="469265" algn="l"/>
                <a:tab pos="469900" algn="l"/>
              </a:tabLst>
            </a:pPr>
            <a:r>
              <a:rPr dirty="0" sz="1100" spc="-5">
                <a:latin typeface="Calibri"/>
                <a:cs typeface="Calibri"/>
              </a:rPr>
              <a:t>Maintenance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releases pose</a:t>
            </a:r>
            <a:r>
              <a:rPr dirty="0" sz="110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higher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constraints</a:t>
            </a:r>
            <a:r>
              <a:rPr dirty="0" sz="1100">
                <a:latin typeface="Calibri"/>
                <a:cs typeface="Calibri"/>
              </a:rPr>
              <a:t> on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designers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than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derivative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products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which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pose </a:t>
            </a:r>
            <a:r>
              <a:rPr dirty="0" sz="1100" spc="-23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higher</a:t>
            </a:r>
            <a:r>
              <a:rPr dirty="0" sz="110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constraints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than</a:t>
            </a:r>
            <a:r>
              <a:rPr dirty="0" sz="1100" spc="-5">
                <a:latin typeface="Calibri"/>
                <a:cs typeface="Calibri"/>
              </a:rPr>
              <a:t> designing new</a:t>
            </a:r>
            <a:r>
              <a:rPr dirty="0" sz="110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products.</a:t>
            </a:r>
            <a:endParaRPr sz="1100">
              <a:latin typeface="Calibri"/>
              <a:cs typeface="Calibri"/>
            </a:endParaRPr>
          </a:p>
          <a:p>
            <a:pPr marL="469265" marR="243204" indent="-228600">
              <a:lnSpc>
                <a:spcPct val="109100"/>
              </a:lnSpc>
              <a:spcBef>
                <a:spcPts val="815"/>
              </a:spcBef>
              <a:buFont typeface="Microsoft Sans Serif"/>
              <a:buChar char=""/>
              <a:tabLst>
                <a:tab pos="469265" algn="l"/>
                <a:tab pos="469900" algn="l"/>
              </a:tabLst>
            </a:pPr>
            <a:r>
              <a:rPr dirty="0" sz="1100">
                <a:latin typeface="Calibri"/>
                <a:cs typeface="Calibri"/>
              </a:rPr>
              <a:t>Designing a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new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product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is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very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big job,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designing</a:t>
            </a:r>
            <a:r>
              <a:rPr dirty="0" sz="1100">
                <a:latin typeface="Calibri"/>
                <a:cs typeface="Calibri"/>
              </a:rPr>
              <a:t> a </a:t>
            </a:r>
            <a:r>
              <a:rPr dirty="0" sz="1100" spc="-5">
                <a:latin typeface="Calibri"/>
                <a:cs typeface="Calibri"/>
              </a:rPr>
              <a:t>derivative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product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is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smaller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but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still </a:t>
            </a:r>
            <a:r>
              <a:rPr dirty="0" sz="1100" spc="-229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formidable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task,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-5">
                <a:latin typeface="Calibri"/>
                <a:cs typeface="Calibri"/>
              </a:rPr>
              <a:t> designing </a:t>
            </a:r>
            <a:r>
              <a:rPr dirty="0" sz="1100">
                <a:latin typeface="Calibri"/>
                <a:cs typeface="Calibri"/>
              </a:rPr>
              <a:t>a new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release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may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be </a:t>
            </a:r>
            <a:r>
              <a:rPr dirty="0" sz="1100">
                <a:latin typeface="Calibri"/>
                <a:cs typeface="Calibri"/>
              </a:rPr>
              <a:t>relatively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easy.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5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100" spc="-5" b="1">
                <a:latin typeface="Calibri"/>
                <a:cs typeface="Calibri"/>
              </a:rPr>
              <a:t>Technical</a:t>
            </a:r>
            <a:r>
              <a:rPr dirty="0" sz="1100" spc="-25" b="1">
                <a:latin typeface="Calibri"/>
                <a:cs typeface="Calibri"/>
              </a:rPr>
              <a:t> </a:t>
            </a:r>
            <a:r>
              <a:rPr dirty="0" sz="1100" spc="-5" b="1">
                <a:latin typeface="Calibri"/>
                <a:cs typeface="Calibri"/>
              </a:rPr>
              <a:t>Novelty:</a:t>
            </a:r>
            <a:endParaRPr sz="1100">
              <a:latin typeface="Calibri"/>
              <a:cs typeface="Calibri"/>
            </a:endParaRPr>
          </a:p>
          <a:p>
            <a:pPr marL="12700" marR="201930" indent="664210">
              <a:lnSpc>
                <a:spcPct val="109100"/>
              </a:lnSpc>
              <a:spcBef>
                <a:spcPts val="815"/>
              </a:spcBef>
            </a:pPr>
            <a:r>
              <a:rPr dirty="0" sz="1100" spc="-5">
                <a:latin typeface="Calibri"/>
                <a:cs typeface="Calibri"/>
              </a:rPr>
              <a:t>Technical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novelty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means</a:t>
            </a:r>
            <a:r>
              <a:rPr dirty="0" sz="1100" spc="-5">
                <a:latin typeface="Calibri"/>
                <a:cs typeface="Calibri"/>
              </a:rPr>
              <a:t> “how</a:t>
            </a:r>
            <a:r>
              <a:rPr dirty="0" sz="1100">
                <a:latin typeface="Calibri"/>
                <a:cs typeface="Calibri"/>
              </a:rPr>
              <a:t> much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new</a:t>
            </a:r>
            <a:r>
              <a:rPr dirty="0" sz="110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technology”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is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incorporated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product,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w.r.t. </a:t>
            </a:r>
            <a:r>
              <a:rPr dirty="0" sz="1100" spc="-2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target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market</a:t>
            </a:r>
            <a:r>
              <a:rPr dirty="0" sz="110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at</a:t>
            </a:r>
            <a:r>
              <a:rPr dirty="0" sz="1100">
                <a:latin typeface="Calibri"/>
                <a:cs typeface="Calibri"/>
              </a:rPr>
              <a:t> a </a:t>
            </a:r>
            <a:r>
              <a:rPr dirty="0" sz="1100" spc="-5">
                <a:latin typeface="Calibri"/>
                <a:cs typeface="Calibri"/>
              </a:rPr>
              <a:t>particular</a:t>
            </a:r>
            <a:r>
              <a:rPr dirty="0" sz="1100">
                <a:latin typeface="Calibri"/>
                <a:cs typeface="Calibri"/>
              </a:rPr>
              <a:t> time.</a:t>
            </a:r>
            <a:endParaRPr sz="1100">
              <a:latin typeface="Calibri"/>
              <a:cs typeface="Calibri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914704" y="3478403"/>
          <a:ext cx="5951220" cy="39033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58950"/>
                <a:gridCol w="1755775"/>
                <a:gridCol w="2417445"/>
              </a:tblGrid>
              <a:tr h="439673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100" b="1">
                          <a:latin typeface="Calibri"/>
                          <a:cs typeface="Calibri"/>
                        </a:rPr>
                        <a:t>Type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2CA1BE"/>
                    </a:solidFill>
                  </a:tcPr>
                </a:tc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100" spc="-5" b="1">
                          <a:latin typeface="Calibri"/>
                          <a:cs typeface="Calibri"/>
                        </a:rPr>
                        <a:t>Description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2CA1BE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100" spc="-5" b="1">
                          <a:latin typeface="Calibri"/>
                          <a:cs typeface="Calibri"/>
                        </a:rPr>
                        <a:t>Examples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2CA1BE"/>
                    </a:solidFill>
                  </a:tcPr>
                </a:tc>
              </a:tr>
              <a:tr h="1233678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100" spc="-5">
                          <a:latin typeface="Calibri"/>
                          <a:cs typeface="Calibri"/>
                        </a:rPr>
                        <a:t>Visionary</a:t>
                      </a:r>
                      <a:endParaRPr sz="1100">
                        <a:latin typeface="Calibri"/>
                        <a:cs typeface="Calibri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  <a:spcBef>
                          <a:spcPts val="935"/>
                        </a:spcBef>
                      </a:pPr>
                      <a:r>
                        <a:rPr dirty="0" sz="1100" spc="-5">
                          <a:latin typeface="Calibri"/>
                          <a:cs typeface="Calibri"/>
                        </a:rPr>
                        <a:t>Technology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5588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FE8"/>
                    </a:solidFill>
                  </a:tcPr>
                </a:tc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New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5">
                          <a:latin typeface="Calibri"/>
                          <a:cs typeface="Calibri"/>
                        </a:rPr>
                        <a:t>technology</a:t>
                      </a:r>
                      <a:r>
                        <a:rPr dirty="0" sz="11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5">
                          <a:latin typeface="Calibri"/>
                          <a:cs typeface="Calibri"/>
                        </a:rPr>
                        <a:t>must</a:t>
                      </a:r>
                      <a:r>
                        <a:rPr dirty="0" sz="11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5">
                          <a:latin typeface="Calibri"/>
                          <a:cs typeface="Calibri"/>
                        </a:rPr>
                        <a:t>be</a:t>
                      </a:r>
                      <a:endParaRPr sz="1100">
                        <a:latin typeface="Calibri"/>
                        <a:cs typeface="Calibri"/>
                      </a:endParaRPr>
                    </a:p>
                    <a:p>
                      <a:pPr marL="89535">
                        <a:lnSpc>
                          <a:spcPct val="100000"/>
                        </a:lnSpc>
                        <a:spcBef>
                          <a:spcPts val="935"/>
                        </a:spcBef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developed</a:t>
                      </a:r>
                      <a:r>
                        <a:rPr dirty="0" sz="11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5">
                          <a:latin typeface="Calibri"/>
                          <a:cs typeface="Calibri"/>
                        </a:rPr>
                        <a:t>for</a:t>
                      </a:r>
                      <a:r>
                        <a:rPr dirty="0" sz="11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5">
                          <a:latin typeface="Calibri"/>
                          <a:cs typeface="Calibri"/>
                        </a:rPr>
                        <a:t>the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5">
                          <a:latin typeface="Calibri"/>
                          <a:cs typeface="Calibri"/>
                        </a:rPr>
                        <a:t>product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5588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FE8"/>
                    </a:solidFill>
                  </a:tcPr>
                </a:tc>
                <a:tc>
                  <a:txBody>
                    <a:bodyPr/>
                    <a:lstStyle/>
                    <a:p>
                      <a:pPr marL="90805" marR="258445">
                        <a:lnSpc>
                          <a:spcPct val="110000"/>
                        </a:lnSpc>
                        <a:spcBef>
                          <a:spcPts val="309"/>
                        </a:spcBef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Mobile </a:t>
                      </a:r>
                      <a:r>
                        <a:rPr dirty="0" sz="1100" spc="-5">
                          <a:latin typeface="Calibri"/>
                          <a:cs typeface="Calibri"/>
                        </a:rPr>
                        <a:t>computing (2000),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Wearable </a:t>
                      </a:r>
                      <a:r>
                        <a:rPr dirty="0" sz="1100" spc="-2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automatic</a:t>
                      </a:r>
                      <a:endParaRPr sz="1100">
                        <a:latin typeface="Calibri"/>
                        <a:cs typeface="Calibri"/>
                      </a:endParaRPr>
                    </a:p>
                    <a:p>
                      <a:pPr marL="90805">
                        <a:lnSpc>
                          <a:spcPct val="100000"/>
                        </a:lnSpc>
                        <a:spcBef>
                          <a:spcPts val="935"/>
                        </a:spcBef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lecture</a:t>
                      </a:r>
                      <a:r>
                        <a:rPr dirty="0" sz="11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5">
                          <a:latin typeface="Calibri"/>
                          <a:cs typeface="Calibri"/>
                        </a:rPr>
                        <a:t>note-taker</a:t>
                      </a:r>
                      <a:r>
                        <a:rPr dirty="0" sz="11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5">
                          <a:latin typeface="Calibri"/>
                          <a:cs typeface="Calibri"/>
                        </a:rPr>
                        <a:t>(2004)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39369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FE8"/>
                    </a:solidFill>
                  </a:tcPr>
                </a:tc>
              </a:tr>
              <a:tr h="1175257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dirty="0" sz="1100" spc="-5">
                          <a:latin typeface="Calibri"/>
                          <a:cs typeface="Calibri"/>
                        </a:rPr>
                        <a:t>Leading-</a:t>
                      </a:r>
                      <a:endParaRPr sz="1100">
                        <a:latin typeface="Calibri"/>
                        <a:cs typeface="Calibri"/>
                      </a:endParaRPr>
                    </a:p>
                    <a:p>
                      <a:pPr marL="91440" marR="1007110">
                        <a:lnSpc>
                          <a:spcPct val="170000"/>
                        </a:lnSpc>
                        <a:spcBef>
                          <a:spcPts val="15"/>
                        </a:spcBef>
                      </a:pPr>
                      <a:r>
                        <a:rPr dirty="0" sz="1100" spc="-5">
                          <a:latin typeface="Calibri"/>
                          <a:cs typeface="Calibri"/>
                        </a:rPr>
                        <a:t>Edge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5">
                          <a:latin typeface="Calibri"/>
                          <a:cs typeface="Calibri"/>
                        </a:rPr>
                        <a:t>T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ech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n</a:t>
                      </a:r>
                      <a:r>
                        <a:rPr dirty="0" sz="1100" spc="5">
                          <a:latin typeface="Calibri"/>
                          <a:cs typeface="Calibri"/>
                        </a:rPr>
                        <a:t>o</a:t>
                      </a:r>
                      <a:r>
                        <a:rPr dirty="0" sz="1100" spc="-15">
                          <a:latin typeface="Calibri"/>
                          <a:cs typeface="Calibri"/>
                        </a:rPr>
                        <a:t>l</a:t>
                      </a:r>
                      <a:r>
                        <a:rPr dirty="0" sz="1100" spc="5">
                          <a:latin typeface="Calibri"/>
                          <a:cs typeface="Calibri"/>
                        </a:rPr>
                        <a:t>o</a:t>
                      </a:r>
                      <a:r>
                        <a:rPr dirty="0" sz="1100" spc="-5">
                          <a:latin typeface="Calibri"/>
                          <a:cs typeface="Calibri"/>
                        </a:rPr>
                        <a:t>g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y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4318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FF4"/>
                    </a:solidFill>
                  </a:tcPr>
                </a:tc>
                <a:tc>
                  <a:txBody>
                    <a:bodyPr/>
                    <a:lstStyle/>
                    <a:p>
                      <a:pPr marL="89535" marR="157480">
                        <a:lnSpc>
                          <a:spcPct val="110000"/>
                        </a:lnSpc>
                        <a:spcBef>
                          <a:spcPts val="210"/>
                        </a:spcBef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Proven </a:t>
                      </a:r>
                      <a:r>
                        <a:rPr dirty="0" sz="1100" spc="-5">
                          <a:latin typeface="Calibri"/>
                          <a:cs typeface="Calibri"/>
                        </a:rPr>
                        <a:t>technology not yet </a:t>
                      </a:r>
                      <a:r>
                        <a:rPr dirty="0" sz="1100" spc="-2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5">
                          <a:latin typeface="Calibri"/>
                          <a:cs typeface="Calibri"/>
                        </a:rPr>
                        <a:t>in</a:t>
                      </a:r>
                      <a:endParaRPr sz="1100">
                        <a:latin typeface="Calibri"/>
                        <a:cs typeface="Calibri"/>
                      </a:endParaRPr>
                    </a:p>
                    <a:p>
                      <a:pPr marL="89535">
                        <a:lnSpc>
                          <a:spcPct val="100000"/>
                        </a:lnSpc>
                        <a:spcBef>
                          <a:spcPts val="925"/>
                        </a:spcBef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widespread</a:t>
                      </a:r>
                      <a:r>
                        <a:rPr dirty="0" sz="11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5">
                          <a:latin typeface="Calibri"/>
                          <a:cs typeface="Calibri"/>
                        </a:rPr>
                        <a:t>use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266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FF4"/>
                    </a:solidFill>
                  </a:tcPr>
                </a:tc>
                <a:tc>
                  <a:txBody>
                    <a:bodyPr/>
                    <a:lstStyle/>
                    <a:p>
                      <a:pPr marL="90805" marR="389255">
                        <a:lnSpc>
                          <a:spcPct val="110000"/>
                        </a:lnSpc>
                        <a:spcBef>
                          <a:spcPts val="210"/>
                        </a:spcBef>
                      </a:pPr>
                      <a:r>
                        <a:rPr dirty="0" sz="1100" spc="-5">
                          <a:latin typeface="Calibri"/>
                          <a:cs typeface="Calibri"/>
                        </a:rPr>
                        <a:t>Peer-to-peer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5">
                          <a:latin typeface="Calibri"/>
                          <a:cs typeface="Calibri"/>
                        </a:rPr>
                        <a:t>file-sharing products </a:t>
                      </a:r>
                      <a:r>
                        <a:rPr dirty="0" sz="1100" spc="-2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5">
                          <a:latin typeface="Calibri"/>
                          <a:cs typeface="Calibri"/>
                        </a:rPr>
                        <a:t>(2002),</a:t>
                      </a:r>
                      <a:endParaRPr sz="1100">
                        <a:latin typeface="Calibri"/>
                        <a:cs typeface="Calibri"/>
                      </a:endParaRPr>
                    </a:p>
                    <a:p>
                      <a:pPr marL="90805">
                        <a:lnSpc>
                          <a:spcPct val="100000"/>
                        </a:lnSpc>
                        <a:spcBef>
                          <a:spcPts val="925"/>
                        </a:spcBef>
                      </a:pPr>
                      <a:r>
                        <a:rPr dirty="0" sz="1100" spc="-5">
                          <a:latin typeface="Calibri"/>
                          <a:cs typeface="Calibri"/>
                        </a:rPr>
                        <a:t>AquaLush</a:t>
                      </a:r>
                      <a:r>
                        <a:rPr dirty="0" sz="11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5">
                          <a:latin typeface="Calibri"/>
                          <a:cs typeface="Calibri"/>
                        </a:rPr>
                        <a:t>(2006)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266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FF4"/>
                    </a:solidFill>
                  </a:tcPr>
                </a:tc>
              </a:tr>
              <a:tr h="1054608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dirty="0" sz="1100" spc="-5">
                          <a:latin typeface="Calibri"/>
                          <a:cs typeface="Calibri"/>
                        </a:rPr>
                        <a:t>Established</a:t>
                      </a:r>
                      <a:endParaRPr sz="1100">
                        <a:latin typeface="Calibri"/>
                        <a:cs typeface="Calibri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  <a:spcBef>
                          <a:spcPts val="919"/>
                        </a:spcBef>
                      </a:pPr>
                      <a:r>
                        <a:rPr dirty="0" sz="1100" spc="-5">
                          <a:latin typeface="Calibri"/>
                          <a:cs typeface="Calibri"/>
                        </a:rPr>
                        <a:t>Technology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4318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solidFill>
                      <a:srgbClr val="CDDFE8"/>
                    </a:solidFill>
                  </a:tcPr>
                </a:tc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Widely</a:t>
                      </a:r>
                      <a:r>
                        <a:rPr dirty="0" sz="11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5">
                          <a:latin typeface="Calibri"/>
                          <a:cs typeface="Calibri"/>
                        </a:rPr>
                        <a:t>used,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5">
                          <a:latin typeface="Calibri"/>
                          <a:cs typeface="Calibri"/>
                        </a:rPr>
                        <a:t>standard</a:t>
                      </a:r>
                      <a:endParaRPr sz="1100">
                        <a:latin typeface="Calibri"/>
                        <a:cs typeface="Calibri"/>
                      </a:endParaRPr>
                    </a:p>
                    <a:p>
                      <a:pPr marL="89535">
                        <a:lnSpc>
                          <a:spcPct val="100000"/>
                        </a:lnSpc>
                        <a:spcBef>
                          <a:spcPts val="919"/>
                        </a:spcBef>
                      </a:pPr>
                      <a:r>
                        <a:rPr dirty="0" sz="1100" spc="-5">
                          <a:latin typeface="Calibri"/>
                          <a:cs typeface="Calibri"/>
                        </a:rPr>
                        <a:t>technology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4318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solidFill>
                      <a:srgbClr val="CDDFE8"/>
                    </a:solidFill>
                  </a:tcPr>
                </a:tc>
                <a:tc>
                  <a:txBody>
                    <a:bodyPr/>
                    <a:lstStyle/>
                    <a:p>
                      <a:pPr marL="90805" marR="108585">
                        <a:lnSpc>
                          <a:spcPct val="110000"/>
                        </a:lnSpc>
                        <a:spcBef>
                          <a:spcPts val="204"/>
                        </a:spcBef>
                      </a:pPr>
                      <a:r>
                        <a:rPr dirty="0" sz="1100" spc="-5">
                          <a:latin typeface="Calibri"/>
                          <a:cs typeface="Calibri"/>
                        </a:rPr>
                        <a:t>Products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5">
                          <a:latin typeface="Calibri"/>
                          <a:cs typeface="Calibri"/>
                        </a:rPr>
                        <a:t>with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 graphical</a:t>
                      </a:r>
                      <a:r>
                        <a:rPr dirty="0" sz="1100" spc="-5">
                          <a:latin typeface="Calibri"/>
                          <a:cs typeface="Calibri"/>
                        </a:rPr>
                        <a:t> user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5">
                          <a:latin typeface="Calibri"/>
                          <a:cs typeface="Calibri"/>
                        </a:rPr>
                        <a:t>interfaces </a:t>
                      </a:r>
                      <a:r>
                        <a:rPr dirty="0" sz="1100" spc="-2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5">
                          <a:latin typeface="Calibri"/>
                          <a:cs typeface="Calibri"/>
                        </a:rPr>
                        <a:t>(2000)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26034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solidFill>
                      <a:srgbClr val="CDDFE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892556"/>
            <a:ext cx="5928360" cy="24758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" b="1">
                <a:latin typeface="Calibri"/>
                <a:cs typeface="Calibri"/>
              </a:rPr>
              <a:t>Technical</a:t>
            </a:r>
            <a:r>
              <a:rPr dirty="0" sz="1100" spc="-25" b="1">
                <a:latin typeface="Calibri"/>
                <a:cs typeface="Calibri"/>
              </a:rPr>
              <a:t> </a:t>
            </a:r>
            <a:r>
              <a:rPr dirty="0" sz="1100" spc="-5" b="1">
                <a:latin typeface="Calibri"/>
                <a:cs typeface="Calibri"/>
              </a:rPr>
              <a:t>Novelty:</a:t>
            </a:r>
            <a:endParaRPr sz="1100">
              <a:latin typeface="Calibri"/>
              <a:cs typeface="Calibri"/>
            </a:endParaRPr>
          </a:p>
          <a:p>
            <a:pPr marL="469265" marR="5080" indent="-228600">
              <a:lnSpc>
                <a:spcPct val="110000"/>
              </a:lnSpc>
              <a:spcBef>
                <a:spcPts val="795"/>
              </a:spcBef>
              <a:buFont typeface="Microsoft Sans Serif"/>
              <a:buChar char=""/>
              <a:tabLst>
                <a:tab pos="469265" algn="l"/>
                <a:tab pos="469900" algn="l"/>
              </a:tabLst>
            </a:pPr>
            <a:r>
              <a:rPr dirty="0" sz="1100">
                <a:latin typeface="Calibri"/>
                <a:cs typeface="Calibri"/>
              </a:rPr>
              <a:t>Designing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products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with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visionary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or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leading-edge</a:t>
            </a:r>
            <a:r>
              <a:rPr dirty="0" sz="1100" spc="2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technologies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is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most</a:t>
            </a:r>
            <a:r>
              <a:rPr dirty="0" sz="1100" spc="2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difficult</a:t>
            </a:r>
            <a:r>
              <a:rPr dirty="0" sz="110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kind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software </a:t>
            </a:r>
            <a:r>
              <a:rPr dirty="0" sz="1100" spc="-23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design.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Font typeface="Microsoft Sans Serif"/>
              <a:buChar char=""/>
            </a:pPr>
            <a:endParaRPr sz="800">
              <a:latin typeface="Calibri"/>
              <a:cs typeface="Calibri"/>
            </a:endParaRPr>
          </a:p>
          <a:p>
            <a:pPr lvl="1" marL="926465" indent="-229235">
              <a:lnSpc>
                <a:spcPct val="100000"/>
              </a:lnSpc>
              <a:buFont typeface="Verdana"/>
              <a:buChar char="◦"/>
              <a:tabLst>
                <a:tab pos="926465" algn="l"/>
                <a:tab pos="927100" algn="l"/>
              </a:tabLst>
            </a:pPr>
            <a:r>
              <a:rPr dirty="0" sz="1100">
                <a:latin typeface="Calibri"/>
                <a:cs typeface="Calibri"/>
              </a:rPr>
              <a:t>Hard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to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figure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out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what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clients</a:t>
            </a:r>
            <a:r>
              <a:rPr dirty="0" sz="110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want.</a:t>
            </a:r>
            <a:endParaRPr sz="1100">
              <a:latin typeface="Calibri"/>
              <a:cs typeface="Calibri"/>
            </a:endParaRPr>
          </a:p>
          <a:p>
            <a:pPr lvl="1" marL="926465" indent="-229235">
              <a:lnSpc>
                <a:spcPct val="100000"/>
              </a:lnSpc>
              <a:spcBef>
                <a:spcPts val="985"/>
              </a:spcBef>
              <a:buFont typeface="Verdana"/>
              <a:buChar char="◦"/>
              <a:tabLst>
                <a:tab pos="926465" algn="l"/>
                <a:tab pos="927100" algn="l"/>
              </a:tabLst>
            </a:pPr>
            <a:r>
              <a:rPr dirty="0" sz="1100">
                <a:latin typeface="Calibri"/>
                <a:cs typeface="Calibri"/>
              </a:rPr>
              <a:t>Whether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products</a:t>
            </a:r>
            <a:r>
              <a:rPr dirty="0" sz="1100">
                <a:latin typeface="Calibri"/>
                <a:cs typeface="Calibri"/>
              </a:rPr>
              <a:t> with </a:t>
            </a:r>
            <a:r>
              <a:rPr dirty="0" sz="1100" spc="-10">
                <a:latin typeface="Calibri"/>
                <a:cs typeface="Calibri"/>
              </a:rPr>
              <a:t>new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technology </a:t>
            </a:r>
            <a:r>
              <a:rPr dirty="0" sz="1100">
                <a:latin typeface="Calibri"/>
                <a:cs typeface="Calibri"/>
              </a:rPr>
              <a:t>will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attract customers</a:t>
            </a:r>
            <a:endParaRPr sz="1100">
              <a:latin typeface="Calibri"/>
              <a:cs typeface="Calibri"/>
            </a:endParaRPr>
          </a:p>
          <a:p>
            <a:pPr marL="469265" marR="59055" indent="-228600">
              <a:lnSpc>
                <a:spcPct val="110000"/>
              </a:lnSpc>
              <a:spcBef>
                <a:spcPts val="790"/>
              </a:spcBef>
              <a:buFont typeface="Microsoft Sans Serif"/>
              <a:buChar char=""/>
              <a:tabLst>
                <a:tab pos="469265" algn="l"/>
                <a:tab pos="469900" algn="l"/>
              </a:tabLst>
            </a:pPr>
            <a:r>
              <a:rPr dirty="0" sz="1100" spc="-5">
                <a:latin typeface="Calibri"/>
                <a:cs typeface="Calibri"/>
              </a:rPr>
              <a:t>Products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with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visionary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technology</a:t>
            </a:r>
            <a:r>
              <a:rPr dirty="0" sz="110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may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never</a:t>
            </a:r>
            <a:r>
              <a:rPr dirty="0" sz="110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be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built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if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efforts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to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develop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2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new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technology </a:t>
            </a:r>
            <a:r>
              <a:rPr dirty="0" sz="1100" spc="-229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fail.</a:t>
            </a:r>
            <a:endParaRPr sz="1100">
              <a:latin typeface="Calibri"/>
              <a:cs typeface="Calibri"/>
            </a:endParaRPr>
          </a:p>
          <a:p>
            <a:pPr marL="469265" marR="36195" indent="-228600">
              <a:lnSpc>
                <a:spcPct val="110000"/>
              </a:lnSpc>
              <a:spcBef>
                <a:spcPts val="795"/>
              </a:spcBef>
              <a:buFont typeface="Microsoft Sans Serif"/>
              <a:buChar char=""/>
              <a:tabLst>
                <a:tab pos="469265" algn="l"/>
                <a:tab pos="469900" algn="l"/>
              </a:tabLst>
            </a:pPr>
            <a:r>
              <a:rPr dirty="0" sz="1100">
                <a:latin typeface="Calibri"/>
                <a:cs typeface="Calibri"/>
              </a:rPr>
              <a:t>Even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if</a:t>
            </a:r>
            <a:r>
              <a:rPr dirty="0" sz="1100" spc="-5">
                <a:latin typeface="Calibri"/>
                <a:cs typeface="Calibri"/>
              </a:rPr>
              <a:t> they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are a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technological</a:t>
            </a:r>
            <a:r>
              <a:rPr dirty="0" sz="110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success,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they may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still fail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5">
                <a:latin typeface="Calibri"/>
                <a:cs typeface="Calibri"/>
              </a:rPr>
              <a:t> marketplace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if</a:t>
            </a:r>
            <a:r>
              <a:rPr dirty="0" sz="1100" spc="-5">
                <a:latin typeface="Calibri"/>
                <a:cs typeface="Calibri"/>
              </a:rPr>
              <a:t> customers don’t </a:t>
            </a:r>
            <a:r>
              <a:rPr dirty="0" sz="1100" spc="-229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like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new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technology.</a:t>
            </a:r>
            <a:endParaRPr sz="1100">
              <a:latin typeface="Calibri"/>
              <a:cs typeface="Calibri"/>
            </a:endParaRPr>
          </a:p>
          <a:p>
            <a:pPr marL="469265" indent="-228600">
              <a:lnSpc>
                <a:spcPct val="100000"/>
              </a:lnSpc>
              <a:spcBef>
                <a:spcPts val="940"/>
              </a:spcBef>
              <a:buFont typeface="Microsoft Sans Serif"/>
              <a:buChar char=""/>
              <a:tabLst>
                <a:tab pos="469265" algn="l"/>
                <a:tab pos="469900" algn="l"/>
              </a:tabLst>
            </a:pPr>
            <a:r>
              <a:rPr dirty="0" sz="1100" spc="-5">
                <a:latin typeface="Calibri"/>
                <a:cs typeface="Calibri"/>
              </a:rPr>
              <a:t>Leading-edge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-5">
                <a:latin typeface="Calibri"/>
                <a:cs typeface="Calibri"/>
              </a:rPr>
              <a:t> established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technology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products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are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more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likely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to</a:t>
            </a:r>
            <a:r>
              <a:rPr dirty="0" sz="1100" spc="2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succeed.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896416" y="4052951"/>
            <a:ext cx="5981065" cy="18415"/>
          </a:xfrm>
          <a:custGeom>
            <a:avLst/>
            <a:gdLst/>
            <a:ahLst/>
            <a:cxnLst/>
            <a:rect l="l" t="t" r="r" b="b"/>
            <a:pathLst>
              <a:path w="5981065" h="18414">
                <a:moveTo>
                  <a:pt x="5981065" y="0"/>
                </a:moveTo>
                <a:lnTo>
                  <a:pt x="0" y="0"/>
                </a:lnTo>
                <a:lnTo>
                  <a:pt x="0" y="18287"/>
                </a:lnTo>
                <a:lnTo>
                  <a:pt x="5981065" y="18287"/>
                </a:lnTo>
                <a:lnTo>
                  <a:pt x="598106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896416" y="4281551"/>
            <a:ext cx="5981065" cy="18415"/>
          </a:xfrm>
          <a:custGeom>
            <a:avLst/>
            <a:gdLst/>
            <a:ahLst/>
            <a:cxnLst/>
            <a:rect l="l" t="t" r="r" b="b"/>
            <a:pathLst>
              <a:path w="5981065" h="18414">
                <a:moveTo>
                  <a:pt x="5981065" y="0"/>
                </a:moveTo>
                <a:lnTo>
                  <a:pt x="0" y="0"/>
                </a:lnTo>
                <a:lnTo>
                  <a:pt x="0" y="18287"/>
                </a:lnTo>
                <a:lnTo>
                  <a:pt x="5981065" y="18287"/>
                </a:lnTo>
                <a:lnTo>
                  <a:pt x="598106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3235579" y="4665090"/>
            <a:ext cx="1303655" cy="1936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 b="1">
                <a:latin typeface="Calibri"/>
                <a:cs typeface="Calibri"/>
              </a:rPr>
              <a:t>(WEEK</a:t>
            </a:r>
            <a:r>
              <a:rPr dirty="0" sz="1100" spc="-40" b="1">
                <a:latin typeface="Calibri"/>
                <a:cs typeface="Calibri"/>
              </a:rPr>
              <a:t> </a:t>
            </a:r>
            <a:r>
              <a:rPr dirty="0" sz="1100" b="1">
                <a:latin typeface="Calibri"/>
                <a:cs typeface="Calibri"/>
              </a:rPr>
              <a:t>5</a:t>
            </a:r>
            <a:r>
              <a:rPr dirty="0" sz="1100" spc="-25" b="1">
                <a:latin typeface="Calibri"/>
                <a:cs typeface="Calibri"/>
              </a:rPr>
              <a:t> </a:t>
            </a:r>
            <a:r>
              <a:rPr dirty="0" sz="1100" spc="-5" b="1">
                <a:latin typeface="Calibri"/>
                <a:cs typeface="Calibri"/>
              </a:rPr>
              <a:t>COMPLETED)</a:t>
            </a:r>
            <a:endParaRPr sz="1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558666" y="892556"/>
            <a:ext cx="655955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b="1">
                <a:latin typeface="Calibri"/>
                <a:cs typeface="Calibri"/>
              </a:rPr>
              <a:t>(WEEK</a:t>
            </a:r>
            <a:r>
              <a:rPr dirty="0" sz="1100" spc="-40" b="1">
                <a:latin typeface="Calibri"/>
                <a:cs typeface="Calibri"/>
              </a:rPr>
              <a:t> </a:t>
            </a:r>
            <a:r>
              <a:rPr dirty="0" sz="1100" b="1">
                <a:latin typeface="Calibri"/>
                <a:cs typeface="Calibri"/>
              </a:rPr>
              <a:t>#</a:t>
            </a:r>
            <a:r>
              <a:rPr dirty="0" sz="1100" spc="-45" b="1">
                <a:latin typeface="Calibri"/>
                <a:cs typeface="Calibri"/>
              </a:rPr>
              <a:t> </a:t>
            </a:r>
            <a:r>
              <a:rPr dirty="0" sz="1100" spc="-5" b="1">
                <a:latin typeface="Calibri"/>
                <a:cs typeface="Calibri"/>
              </a:rPr>
              <a:t>6)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2004" y="1464310"/>
            <a:ext cx="5860415" cy="703008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" b="1">
                <a:latin typeface="Calibri"/>
                <a:cs typeface="Calibri"/>
              </a:rPr>
              <a:t>Project Mission</a:t>
            </a:r>
            <a:r>
              <a:rPr dirty="0" sz="1100" spc="-10" b="1">
                <a:latin typeface="Calibri"/>
                <a:cs typeface="Calibri"/>
              </a:rPr>
              <a:t> </a:t>
            </a:r>
            <a:r>
              <a:rPr dirty="0" sz="1100" spc="-5" b="1">
                <a:latin typeface="Calibri"/>
                <a:cs typeface="Calibri"/>
              </a:rPr>
              <a:t>Statement:</a:t>
            </a:r>
            <a:endParaRPr sz="1100">
              <a:latin typeface="Calibri"/>
              <a:cs typeface="Calibri"/>
            </a:endParaRPr>
          </a:p>
          <a:p>
            <a:pPr marL="469265" marR="259715" indent="-228600">
              <a:lnSpc>
                <a:spcPct val="110000"/>
              </a:lnSpc>
              <a:spcBef>
                <a:spcPts val="795"/>
              </a:spcBef>
              <a:buFont typeface="Microsoft Sans Serif"/>
              <a:buChar char=""/>
              <a:tabLst>
                <a:tab pos="469265" algn="l"/>
                <a:tab pos="469900" algn="l"/>
              </a:tabLst>
            </a:pPr>
            <a:r>
              <a:rPr dirty="0" sz="1100">
                <a:latin typeface="Calibri"/>
                <a:cs typeface="Calibri"/>
              </a:rPr>
              <a:t>A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project </a:t>
            </a:r>
            <a:r>
              <a:rPr dirty="0" sz="1100">
                <a:latin typeface="Calibri"/>
                <a:cs typeface="Calibri"/>
              </a:rPr>
              <a:t>mission </a:t>
            </a:r>
            <a:r>
              <a:rPr dirty="0" sz="1100" spc="-5">
                <a:latin typeface="Calibri"/>
                <a:cs typeface="Calibri"/>
              </a:rPr>
              <a:t>statement</a:t>
            </a:r>
            <a:r>
              <a:rPr dirty="0" sz="1100" spc="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is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document</a:t>
            </a:r>
            <a:r>
              <a:rPr dirty="0" sz="1100">
                <a:latin typeface="Calibri"/>
                <a:cs typeface="Calibri"/>
              </a:rPr>
              <a:t> that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defines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development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project’s </a:t>
            </a:r>
            <a:r>
              <a:rPr dirty="0" sz="1100">
                <a:latin typeface="Calibri"/>
                <a:cs typeface="Calibri"/>
              </a:rPr>
              <a:t>goals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 </a:t>
            </a:r>
            <a:r>
              <a:rPr dirty="0" sz="1100" spc="-2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limits.</a:t>
            </a:r>
            <a:endParaRPr sz="1100">
              <a:latin typeface="Calibri"/>
              <a:cs typeface="Calibri"/>
            </a:endParaRPr>
          </a:p>
          <a:p>
            <a:pPr marL="469265" indent="-228600">
              <a:lnSpc>
                <a:spcPct val="100000"/>
              </a:lnSpc>
              <a:spcBef>
                <a:spcPts val="925"/>
              </a:spcBef>
              <a:buFont typeface="Microsoft Sans Serif"/>
              <a:buChar char=""/>
              <a:tabLst>
                <a:tab pos="469265" algn="l"/>
                <a:tab pos="469900" algn="l"/>
              </a:tabLst>
            </a:pPr>
            <a:r>
              <a:rPr dirty="0" sz="1100" spc="-5">
                <a:latin typeface="Calibri"/>
                <a:cs typeface="Calibri"/>
              </a:rPr>
              <a:t>The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project mission statement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plays two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important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roles:</a:t>
            </a:r>
            <a:endParaRPr sz="1100">
              <a:latin typeface="Calibri"/>
              <a:cs typeface="Calibri"/>
            </a:endParaRPr>
          </a:p>
          <a:p>
            <a:pPr lvl="1" marL="697865" indent="-229235">
              <a:lnSpc>
                <a:spcPct val="100000"/>
              </a:lnSpc>
              <a:spcBef>
                <a:spcPts val="935"/>
              </a:spcBef>
              <a:buAutoNum type="arabicParenR"/>
              <a:tabLst>
                <a:tab pos="698500" algn="l"/>
              </a:tabLst>
            </a:pPr>
            <a:r>
              <a:rPr dirty="0" sz="1100">
                <a:latin typeface="Calibri"/>
                <a:cs typeface="Calibri"/>
              </a:rPr>
              <a:t>Launches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development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project</a:t>
            </a:r>
            <a:endParaRPr sz="1100">
              <a:latin typeface="Calibri"/>
              <a:cs typeface="Calibri"/>
            </a:endParaRPr>
          </a:p>
          <a:p>
            <a:pPr lvl="1" marL="697865" indent="-229235">
              <a:lnSpc>
                <a:spcPct val="100000"/>
              </a:lnSpc>
              <a:spcBef>
                <a:spcPts val="130"/>
              </a:spcBef>
              <a:buAutoNum type="arabicParenR"/>
              <a:tabLst>
                <a:tab pos="698500" algn="l"/>
              </a:tabLst>
            </a:pPr>
            <a:r>
              <a:rPr dirty="0" sz="1100" spc="-5">
                <a:latin typeface="Calibri"/>
                <a:cs typeface="Calibri"/>
              </a:rPr>
              <a:t>States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5">
                <a:latin typeface="Calibri"/>
                <a:cs typeface="Calibri"/>
              </a:rPr>
              <a:t> software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design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problem</a:t>
            </a:r>
            <a:endParaRPr sz="1100">
              <a:latin typeface="Calibri"/>
              <a:cs typeface="Calibri"/>
            </a:endParaRPr>
          </a:p>
          <a:p>
            <a:pPr marL="469265" indent="-228600">
              <a:lnSpc>
                <a:spcPct val="100000"/>
              </a:lnSpc>
              <a:spcBef>
                <a:spcPts val="925"/>
              </a:spcBef>
              <a:buFont typeface="Microsoft Sans Serif"/>
              <a:buChar char=""/>
              <a:tabLst>
                <a:tab pos="469265" algn="l"/>
                <a:tab pos="469900" algn="l"/>
              </a:tabLst>
            </a:pPr>
            <a:r>
              <a:rPr dirty="0" sz="1100" spc="-5">
                <a:latin typeface="Calibri"/>
                <a:cs typeface="Calibri"/>
              </a:rPr>
              <a:t>The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project</a:t>
            </a:r>
            <a:r>
              <a:rPr dirty="0" sz="110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mission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statement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is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the</a:t>
            </a:r>
            <a:r>
              <a:rPr dirty="0" sz="1100">
                <a:latin typeface="Calibri"/>
                <a:cs typeface="Calibri"/>
              </a:rPr>
              <a:t> main </a:t>
            </a:r>
            <a:r>
              <a:rPr dirty="0" sz="1100" spc="-5">
                <a:latin typeface="Calibri"/>
                <a:cs typeface="Calibri"/>
              </a:rPr>
              <a:t>input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to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the product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design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process.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3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3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100" spc="-5" b="1">
                <a:latin typeface="Calibri"/>
                <a:cs typeface="Calibri"/>
              </a:rPr>
              <a:t>Project</a:t>
            </a:r>
            <a:r>
              <a:rPr dirty="0" sz="1100" b="1">
                <a:latin typeface="Calibri"/>
                <a:cs typeface="Calibri"/>
              </a:rPr>
              <a:t> </a:t>
            </a:r>
            <a:r>
              <a:rPr dirty="0" sz="1100" spc="-5" b="1">
                <a:latin typeface="Calibri"/>
                <a:cs typeface="Calibri"/>
              </a:rPr>
              <a:t>Mission</a:t>
            </a:r>
            <a:r>
              <a:rPr dirty="0" sz="1100" b="1">
                <a:latin typeface="Calibri"/>
                <a:cs typeface="Calibri"/>
              </a:rPr>
              <a:t> </a:t>
            </a:r>
            <a:r>
              <a:rPr dirty="0" sz="1100" spc="-5" b="1">
                <a:latin typeface="Calibri"/>
                <a:cs typeface="Calibri"/>
              </a:rPr>
              <a:t>Statement</a:t>
            </a:r>
            <a:r>
              <a:rPr dirty="0" sz="1100" spc="5" b="1">
                <a:latin typeface="Calibri"/>
                <a:cs typeface="Calibri"/>
              </a:rPr>
              <a:t> </a:t>
            </a:r>
            <a:r>
              <a:rPr dirty="0" sz="1100" spc="-5" b="1">
                <a:latin typeface="Calibri"/>
                <a:cs typeface="Calibri"/>
              </a:rPr>
              <a:t>Template:</a:t>
            </a:r>
            <a:endParaRPr sz="1100">
              <a:latin typeface="Calibri"/>
              <a:cs typeface="Calibri"/>
            </a:endParaRPr>
          </a:p>
          <a:p>
            <a:pPr marL="608330" indent="-139700">
              <a:lnSpc>
                <a:spcPct val="100000"/>
              </a:lnSpc>
              <a:spcBef>
                <a:spcPts val="925"/>
              </a:spcBef>
              <a:buAutoNum type="arabicPeriod"/>
              <a:tabLst>
                <a:tab pos="608965" algn="l"/>
              </a:tabLst>
            </a:pPr>
            <a:r>
              <a:rPr dirty="0" sz="1100" spc="-5">
                <a:latin typeface="Calibri"/>
                <a:cs typeface="Calibri"/>
              </a:rPr>
              <a:t>Introduction</a:t>
            </a:r>
            <a:endParaRPr sz="1100">
              <a:latin typeface="Calibri"/>
              <a:cs typeface="Calibri"/>
            </a:endParaRPr>
          </a:p>
          <a:p>
            <a:pPr marL="607695" indent="-139065">
              <a:lnSpc>
                <a:spcPct val="100000"/>
              </a:lnSpc>
              <a:spcBef>
                <a:spcPts val="935"/>
              </a:spcBef>
              <a:buAutoNum type="arabicPeriod"/>
              <a:tabLst>
                <a:tab pos="608330" algn="l"/>
              </a:tabLst>
            </a:pPr>
            <a:r>
              <a:rPr dirty="0" sz="1100" spc="-5">
                <a:latin typeface="Calibri"/>
                <a:cs typeface="Calibri"/>
              </a:rPr>
              <a:t>Product Vision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Project</a:t>
            </a:r>
            <a:r>
              <a:rPr dirty="0" sz="110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Scope</a:t>
            </a:r>
            <a:endParaRPr sz="1100">
              <a:latin typeface="Calibri"/>
              <a:cs typeface="Calibri"/>
            </a:endParaRPr>
          </a:p>
          <a:p>
            <a:pPr marL="607695" indent="-139065">
              <a:lnSpc>
                <a:spcPct val="100000"/>
              </a:lnSpc>
              <a:spcBef>
                <a:spcPts val="925"/>
              </a:spcBef>
              <a:buAutoNum type="arabicPeriod"/>
              <a:tabLst>
                <a:tab pos="608330" algn="l"/>
              </a:tabLst>
            </a:pPr>
            <a:r>
              <a:rPr dirty="0" sz="1100" spc="-5">
                <a:latin typeface="Calibri"/>
                <a:cs typeface="Calibri"/>
              </a:rPr>
              <a:t>Target</a:t>
            </a:r>
            <a:r>
              <a:rPr dirty="0" sz="1100" spc="-4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Markets</a:t>
            </a:r>
            <a:endParaRPr sz="1100">
              <a:latin typeface="Calibri"/>
              <a:cs typeface="Calibri"/>
            </a:endParaRPr>
          </a:p>
          <a:p>
            <a:pPr marL="607695" indent="-139065">
              <a:lnSpc>
                <a:spcPct val="100000"/>
              </a:lnSpc>
              <a:spcBef>
                <a:spcPts val="935"/>
              </a:spcBef>
              <a:buAutoNum type="arabicPeriod"/>
              <a:tabLst>
                <a:tab pos="608330" algn="l"/>
              </a:tabLst>
            </a:pPr>
            <a:r>
              <a:rPr dirty="0" sz="1100" spc="-5">
                <a:latin typeface="Calibri"/>
                <a:cs typeface="Calibri"/>
              </a:rPr>
              <a:t>Stakeholders</a:t>
            </a:r>
            <a:endParaRPr sz="1100">
              <a:latin typeface="Calibri"/>
              <a:cs typeface="Calibri"/>
            </a:endParaRPr>
          </a:p>
          <a:p>
            <a:pPr marL="607695" indent="-139065">
              <a:lnSpc>
                <a:spcPct val="100000"/>
              </a:lnSpc>
              <a:spcBef>
                <a:spcPts val="925"/>
              </a:spcBef>
              <a:buAutoNum type="arabicPeriod"/>
              <a:tabLst>
                <a:tab pos="608330" algn="l"/>
              </a:tabLst>
            </a:pPr>
            <a:r>
              <a:rPr dirty="0" sz="1100" spc="-5">
                <a:latin typeface="Calibri"/>
                <a:cs typeface="Calibri"/>
              </a:rPr>
              <a:t>Assumptions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Constraints</a:t>
            </a:r>
            <a:endParaRPr sz="1100">
              <a:latin typeface="Calibri"/>
              <a:cs typeface="Calibri"/>
            </a:endParaRPr>
          </a:p>
          <a:p>
            <a:pPr marL="607695" indent="-139065">
              <a:lnSpc>
                <a:spcPct val="100000"/>
              </a:lnSpc>
              <a:spcBef>
                <a:spcPts val="925"/>
              </a:spcBef>
              <a:buAutoNum type="arabicPeriod"/>
              <a:tabLst>
                <a:tab pos="608330" algn="l"/>
              </a:tabLst>
            </a:pPr>
            <a:r>
              <a:rPr dirty="0" sz="1100" spc="-5">
                <a:latin typeface="Calibri"/>
                <a:cs typeface="Calibri"/>
              </a:rPr>
              <a:t>Business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Requirements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5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100" spc="-5" b="1">
                <a:latin typeface="Calibri"/>
                <a:cs typeface="Calibri"/>
              </a:rPr>
              <a:t>Introduction:</a:t>
            </a:r>
            <a:endParaRPr sz="1100">
              <a:latin typeface="Calibri"/>
              <a:cs typeface="Calibri"/>
            </a:endParaRPr>
          </a:p>
          <a:p>
            <a:pPr marL="469265" indent="-228600">
              <a:lnSpc>
                <a:spcPct val="100000"/>
              </a:lnSpc>
              <a:spcBef>
                <a:spcPts val="935"/>
              </a:spcBef>
              <a:buFont typeface="Microsoft Sans Serif"/>
              <a:buChar char=""/>
              <a:tabLst>
                <a:tab pos="469265" algn="l"/>
                <a:tab pos="469900" algn="l"/>
              </a:tabLst>
            </a:pPr>
            <a:r>
              <a:rPr dirty="0" sz="1100" spc="-5">
                <a:latin typeface="Calibri"/>
                <a:cs typeface="Calibri"/>
              </a:rPr>
              <a:t>The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introduction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contains</a:t>
            </a:r>
            <a:r>
              <a:rPr dirty="0" sz="1100">
                <a:latin typeface="Calibri"/>
                <a:cs typeface="Calibri"/>
              </a:rPr>
              <a:t> background </a:t>
            </a:r>
            <a:r>
              <a:rPr dirty="0" sz="1100" spc="-5">
                <a:latin typeface="Calibri"/>
                <a:cs typeface="Calibri"/>
              </a:rPr>
              <a:t>information</a:t>
            </a:r>
            <a:r>
              <a:rPr dirty="0" sz="110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to</a:t>
            </a:r>
            <a:r>
              <a:rPr dirty="0" sz="110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provide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context.</a:t>
            </a:r>
            <a:endParaRPr sz="1100">
              <a:latin typeface="Calibri"/>
              <a:cs typeface="Calibri"/>
            </a:endParaRPr>
          </a:p>
          <a:p>
            <a:pPr marL="469265" marR="5080" indent="-228600">
              <a:lnSpc>
                <a:spcPct val="110000"/>
              </a:lnSpc>
              <a:spcBef>
                <a:spcPts val="795"/>
              </a:spcBef>
              <a:buFont typeface="Microsoft Sans Serif"/>
              <a:buChar char=""/>
              <a:tabLst>
                <a:tab pos="469265" algn="l"/>
                <a:tab pos="469900" algn="l"/>
              </a:tabLst>
            </a:pPr>
            <a:r>
              <a:rPr dirty="0" sz="1100" spc="-5">
                <a:latin typeface="Calibri"/>
                <a:cs typeface="Calibri"/>
              </a:rPr>
              <a:t>Information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about</a:t>
            </a:r>
            <a:r>
              <a:rPr dirty="0" sz="1100">
                <a:latin typeface="Calibri"/>
                <a:cs typeface="Calibri"/>
              </a:rPr>
              <a:t> the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major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business</a:t>
            </a:r>
            <a:r>
              <a:rPr dirty="0" sz="110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opportunity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that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new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product</a:t>
            </a:r>
            <a:r>
              <a:rPr dirty="0" sz="1100">
                <a:latin typeface="Calibri"/>
                <a:cs typeface="Calibri"/>
              </a:rPr>
              <a:t> will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take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advantage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 </a:t>
            </a:r>
            <a:r>
              <a:rPr dirty="0" sz="1100" spc="-2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product</a:t>
            </a:r>
            <a:r>
              <a:rPr dirty="0" sz="1100">
                <a:latin typeface="Calibri"/>
                <a:cs typeface="Calibri"/>
              </a:rPr>
              <a:t> operating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environment.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5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100" spc="-5" b="1">
                <a:latin typeface="Calibri"/>
                <a:cs typeface="Calibri"/>
              </a:rPr>
              <a:t>Product</a:t>
            </a:r>
            <a:r>
              <a:rPr dirty="0" sz="1100" b="1">
                <a:latin typeface="Calibri"/>
                <a:cs typeface="Calibri"/>
              </a:rPr>
              <a:t> </a:t>
            </a:r>
            <a:r>
              <a:rPr dirty="0" sz="1100" spc="-5" b="1">
                <a:latin typeface="Calibri"/>
                <a:cs typeface="Calibri"/>
              </a:rPr>
              <a:t>Vision and</a:t>
            </a:r>
            <a:r>
              <a:rPr dirty="0" sz="1100" b="1">
                <a:latin typeface="Calibri"/>
                <a:cs typeface="Calibri"/>
              </a:rPr>
              <a:t> </a:t>
            </a:r>
            <a:r>
              <a:rPr dirty="0" sz="1100" spc="-5" b="1">
                <a:latin typeface="Calibri"/>
                <a:cs typeface="Calibri"/>
              </a:rPr>
              <a:t>Project</a:t>
            </a:r>
            <a:r>
              <a:rPr dirty="0" sz="1100" spc="-10" b="1">
                <a:latin typeface="Calibri"/>
                <a:cs typeface="Calibri"/>
              </a:rPr>
              <a:t> </a:t>
            </a:r>
            <a:r>
              <a:rPr dirty="0" sz="1100" spc="-5" b="1">
                <a:latin typeface="Calibri"/>
                <a:cs typeface="Calibri"/>
              </a:rPr>
              <a:t>Scope:</a:t>
            </a:r>
            <a:endParaRPr sz="1100">
              <a:latin typeface="Calibri"/>
              <a:cs typeface="Calibri"/>
            </a:endParaRPr>
          </a:p>
          <a:p>
            <a:pPr marL="469265" indent="-228600">
              <a:lnSpc>
                <a:spcPct val="100000"/>
              </a:lnSpc>
              <a:spcBef>
                <a:spcPts val="925"/>
              </a:spcBef>
              <a:buFont typeface="Wingdings"/>
              <a:buChar char=""/>
              <a:tabLst>
                <a:tab pos="469265" algn="l"/>
                <a:tab pos="469900" algn="l"/>
              </a:tabLst>
            </a:pPr>
            <a:r>
              <a:rPr dirty="0" sz="1100">
                <a:latin typeface="Calibri"/>
                <a:cs typeface="Calibri"/>
              </a:rPr>
              <a:t>A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product vision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statement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is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general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description </a:t>
            </a:r>
            <a:r>
              <a:rPr dirty="0" sz="1100">
                <a:latin typeface="Calibri"/>
                <a:cs typeface="Calibri"/>
              </a:rPr>
              <a:t>of the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product’s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purpose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form.</a:t>
            </a:r>
            <a:endParaRPr sz="1100">
              <a:latin typeface="Calibri"/>
              <a:cs typeface="Calibri"/>
            </a:endParaRPr>
          </a:p>
          <a:p>
            <a:pPr marL="469265" indent="-228600">
              <a:lnSpc>
                <a:spcPct val="100000"/>
              </a:lnSpc>
              <a:spcBef>
                <a:spcPts val="940"/>
              </a:spcBef>
              <a:buFont typeface="Wingdings"/>
              <a:buChar char=""/>
              <a:tabLst>
                <a:tab pos="469265" algn="l"/>
                <a:tab pos="469900" algn="l"/>
              </a:tabLst>
            </a:pPr>
            <a:r>
              <a:rPr dirty="0" sz="1100" spc="-5">
                <a:latin typeface="Calibri"/>
                <a:cs typeface="Calibri"/>
              </a:rPr>
              <a:t>The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project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scope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is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work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to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be</a:t>
            </a:r>
            <a:r>
              <a:rPr dirty="0" sz="110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done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on a </a:t>
            </a:r>
            <a:r>
              <a:rPr dirty="0" sz="1100" spc="-5">
                <a:latin typeface="Calibri"/>
                <a:cs typeface="Calibri"/>
              </a:rPr>
              <a:t>project.</a:t>
            </a:r>
            <a:endParaRPr sz="1100">
              <a:latin typeface="Calibri"/>
              <a:cs typeface="Calibri"/>
            </a:endParaRPr>
          </a:p>
          <a:p>
            <a:pPr lvl="1" marL="926465" indent="-229235">
              <a:lnSpc>
                <a:spcPct val="100000"/>
              </a:lnSpc>
              <a:spcBef>
                <a:spcPts val="919"/>
              </a:spcBef>
              <a:buFont typeface="Times New Roman"/>
              <a:buChar char="•"/>
              <a:tabLst>
                <a:tab pos="926465" algn="l"/>
                <a:tab pos="927100" algn="l"/>
              </a:tabLst>
            </a:pPr>
            <a:r>
              <a:rPr dirty="0" sz="1100" spc="-5">
                <a:latin typeface="Calibri"/>
                <a:cs typeface="Calibri"/>
              </a:rPr>
              <a:t>Often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only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part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 the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product</a:t>
            </a:r>
            <a:r>
              <a:rPr dirty="0" sz="110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vision.</a:t>
            </a:r>
            <a:endParaRPr sz="1100">
              <a:latin typeface="Calibri"/>
              <a:cs typeface="Calibri"/>
            </a:endParaRPr>
          </a:p>
          <a:p>
            <a:pPr lvl="1" marL="926465" indent="-229235">
              <a:lnSpc>
                <a:spcPct val="100000"/>
              </a:lnSpc>
              <a:spcBef>
                <a:spcPts val="925"/>
              </a:spcBef>
              <a:buFont typeface="Times New Roman"/>
              <a:buChar char="•"/>
              <a:tabLst>
                <a:tab pos="926465" algn="l"/>
                <a:tab pos="927100" algn="l"/>
              </a:tabLst>
            </a:pPr>
            <a:r>
              <a:rPr dirty="0" sz="1100">
                <a:latin typeface="Calibri"/>
                <a:cs typeface="Calibri"/>
              </a:rPr>
              <a:t>May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list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what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will </a:t>
            </a:r>
            <a:r>
              <a:rPr dirty="0" sz="1100" spc="-5" i="1">
                <a:latin typeface="Calibri"/>
                <a:cs typeface="Calibri"/>
              </a:rPr>
              <a:t>not</a:t>
            </a:r>
            <a:r>
              <a:rPr dirty="0" sz="1100" i="1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to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be </a:t>
            </a:r>
            <a:r>
              <a:rPr dirty="0" sz="1100" spc="-5">
                <a:latin typeface="Calibri"/>
                <a:cs typeface="Calibri"/>
              </a:rPr>
              <a:t>done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as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well</a:t>
            </a:r>
            <a:r>
              <a:rPr dirty="0" sz="1100">
                <a:latin typeface="Calibri"/>
                <a:cs typeface="Calibri"/>
              </a:rPr>
              <a:t> as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what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will </a:t>
            </a:r>
            <a:r>
              <a:rPr dirty="0" sz="1100" spc="-10">
                <a:latin typeface="Calibri"/>
                <a:cs typeface="Calibri"/>
              </a:rPr>
              <a:t>be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done.</a:t>
            </a:r>
            <a:endParaRPr sz="1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892556"/>
            <a:ext cx="5912485" cy="786828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" b="1">
                <a:latin typeface="Calibri"/>
                <a:cs typeface="Calibri"/>
              </a:rPr>
              <a:t>Target</a:t>
            </a:r>
            <a:r>
              <a:rPr dirty="0" sz="1100" spc="-30" b="1">
                <a:latin typeface="Calibri"/>
                <a:cs typeface="Calibri"/>
              </a:rPr>
              <a:t> </a:t>
            </a:r>
            <a:r>
              <a:rPr dirty="0" sz="1100" spc="-5" b="1">
                <a:latin typeface="Calibri"/>
                <a:cs typeface="Calibri"/>
              </a:rPr>
              <a:t>Market:</a:t>
            </a:r>
            <a:endParaRPr sz="1100">
              <a:latin typeface="Calibri"/>
              <a:cs typeface="Calibri"/>
            </a:endParaRPr>
          </a:p>
          <a:p>
            <a:pPr marL="469265" marR="143510" indent="-228600">
              <a:lnSpc>
                <a:spcPct val="110000"/>
              </a:lnSpc>
              <a:spcBef>
                <a:spcPts val="795"/>
              </a:spcBef>
              <a:buFont typeface="Microsoft Sans Serif"/>
              <a:buChar char=""/>
              <a:tabLst>
                <a:tab pos="469265" algn="l"/>
                <a:tab pos="469900" algn="l"/>
              </a:tabLst>
            </a:pPr>
            <a:r>
              <a:rPr dirty="0" sz="1100">
                <a:latin typeface="Calibri"/>
                <a:cs typeface="Calibri"/>
              </a:rPr>
              <a:t>Upper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management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chooses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5">
                <a:latin typeface="Calibri"/>
                <a:cs typeface="Calibri"/>
              </a:rPr>
              <a:t> target</a:t>
            </a:r>
            <a:r>
              <a:rPr dirty="0" sz="1100">
                <a:latin typeface="Calibri"/>
                <a:cs typeface="Calibri"/>
              </a:rPr>
              <a:t> market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segments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for</a:t>
            </a:r>
            <a:r>
              <a:rPr dirty="0" sz="1100" spc="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new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product </a:t>
            </a:r>
            <a:r>
              <a:rPr dirty="0" sz="1100">
                <a:latin typeface="Calibri"/>
                <a:cs typeface="Calibri"/>
              </a:rPr>
              <a:t>or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release</a:t>
            </a:r>
            <a:r>
              <a:rPr dirty="0" sz="110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during </a:t>
            </a:r>
            <a:r>
              <a:rPr dirty="0" sz="1100" spc="-23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product</a:t>
            </a:r>
            <a:r>
              <a:rPr dirty="0" sz="110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planning.</a:t>
            </a:r>
            <a:endParaRPr sz="1100">
              <a:latin typeface="Calibri"/>
              <a:cs typeface="Calibri"/>
            </a:endParaRPr>
          </a:p>
          <a:p>
            <a:pPr marL="469265" marR="186690" indent="-228600">
              <a:lnSpc>
                <a:spcPct val="109100"/>
              </a:lnSpc>
              <a:spcBef>
                <a:spcPts val="815"/>
              </a:spcBef>
              <a:buFont typeface="Microsoft Sans Serif"/>
              <a:buChar char=""/>
              <a:tabLst>
                <a:tab pos="469265" algn="l"/>
                <a:tab pos="469900" algn="l"/>
              </a:tabLst>
            </a:pPr>
            <a:r>
              <a:rPr dirty="0" sz="1100" spc="-5">
                <a:latin typeface="Calibri"/>
                <a:cs typeface="Calibri"/>
              </a:rPr>
              <a:t>Target markets </a:t>
            </a:r>
            <a:r>
              <a:rPr dirty="0" sz="1100">
                <a:latin typeface="Calibri"/>
                <a:cs typeface="Calibri"/>
              </a:rPr>
              <a:t>are </a:t>
            </a:r>
            <a:r>
              <a:rPr dirty="0" sz="1100" spc="-5">
                <a:latin typeface="Calibri"/>
                <a:cs typeface="Calibri"/>
              </a:rPr>
              <a:t>those</a:t>
            </a:r>
            <a:r>
              <a:rPr dirty="0" sz="110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market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segments </a:t>
            </a:r>
            <a:r>
              <a:rPr dirty="0" sz="1100">
                <a:latin typeface="Calibri"/>
                <a:cs typeface="Calibri"/>
              </a:rPr>
              <a:t>to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which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organization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intends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to</a:t>
            </a:r>
            <a:r>
              <a:rPr dirty="0" sz="1100">
                <a:latin typeface="Calibri"/>
                <a:cs typeface="Calibri"/>
              </a:rPr>
              <a:t> sell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the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new </a:t>
            </a:r>
            <a:r>
              <a:rPr dirty="0" sz="1100" spc="-23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product.</a:t>
            </a:r>
            <a:r>
              <a:rPr dirty="0" sz="110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Market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segments determine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users,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features,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competitors,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-5">
                <a:latin typeface="Calibri"/>
                <a:cs typeface="Calibri"/>
              </a:rPr>
              <a:t> so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forth.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buFont typeface="Microsoft Sans Serif"/>
              <a:buChar char=""/>
            </a:pP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Font typeface="Microsoft Sans Serif"/>
              <a:buChar char=""/>
            </a:pPr>
            <a:endParaRPr sz="15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100" spc="-5" b="1">
                <a:latin typeface="Calibri"/>
                <a:cs typeface="Calibri"/>
              </a:rPr>
              <a:t>Stakeholders:</a:t>
            </a:r>
            <a:endParaRPr sz="1100">
              <a:latin typeface="Calibri"/>
              <a:cs typeface="Calibri"/>
            </a:endParaRPr>
          </a:p>
          <a:p>
            <a:pPr marL="469265" indent="-228600">
              <a:lnSpc>
                <a:spcPct val="100000"/>
              </a:lnSpc>
              <a:spcBef>
                <a:spcPts val="935"/>
              </a:spcBef>
              <a:buFont typeface="Microsoft Sans Serif"/>
              <a:buChar char=""/>
              <a:tabLst>
                <a:tab pos="469265" algn="l"/>
                <a:tab pos="469900" algn="l"/>
              </a:tabLst>
            </a:pPr>
            <a:r>
              <a:rPr dirty="0" sz="1100">
                <a:latin typeface="Calibri"/>
                <a:cs typeface="Calibri"/>
              </a:rPr>
              <a:t>A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stakeholder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is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anyone </a:t>
            </a:r>
            <a:r>
              <a:rPr dirty="0" sz="1100" spc="-5">
                <a:latin typeface="Calibri"/>
                <a:cs typeface="Calibri"/>
              </a:rPr>
              <a:t>affected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by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product</a:t>
            </a:r>
            <a:r>
              <a:rPr dirty="0" sz="1100">
                <a:latin typeface="Calibri"/>
                <a:cs typeface="Calibri"/>
              </a:rPr>
              <a:t> or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involved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or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influencing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its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development.</a:t>
            </a:r>
            <a:endParaRPr sz="1100">
              <a:latin typeface="Calibri"/>
              <a:cs typeface="Calibri"/>
            </a:endParaRPr>
          </a:p>
          <a:p>
            <a:pPr lvl="1" marL="926465" indent="-229235">
              <a:lnSpc>
                <a:spcPct val="100000"/>
              </a:lnSpc>
              <a:spcBef>
                <a:spcPts val="985"/>
              </a:spcBef>
              <a:buFont typeface="Verdana"/>
              <a:buChar char="◦"/>
              <a:tabLst>
                <a:tab pos="926465" algn="l"/>
                <a:tab pos="927100" algn="l"/>
              </a:tabLst>
            </a:pPr>
            <a:r>
              <a:rPr dirty="0" sz="1100" spc="-5">
                <a:latin typeface="Calibri"/>
                <a:cs typeface="Calibri"/>
              </a:rPr>
              <a:t>Product users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purchasers</a:t>
            </a:r>
            <a:endParaRPr sz="1100">
              <a:latin typeface="Calibri"/>
              <a:cs typeface="Calibri"/>
            </a:endParaRPr>
          </a:p>
          <a:p>
            <a:pPr lvl="1" marL="926465" indent="-229235">
              <a:lnSpc>
                <a:spcPct val="100000"/>
              </a:lnSpc>
              <a:spcBef>
                <a:spcPts val="985"/>
              </a:spcBef>
              <a:buFont typeface="Verdana"/>
              <a:buChar char="◦"/>
              <a:tabLst>
                <a:tab pos="926465" algn="l"/>
                <a:tab pos="927100" algn="l"/>
              </a:tabLst>
            </a:pPr>
            <a:r>
              <a:rPr dirty="0" sz="1100" spc="-5">
                <a:latin typeface="Calibri"/>
                <a:cs typeface="Calibri"/>
              </a:rPr>
              <a:t>Developers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their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managers</a:t>
            </a:r>
            <a:endParaRPr sz="1100">
              <a:latin typeface="Calibri"/>
              <a:cs typeface="Calibri"/>
            </a:endParaRPr>
          </a:p>
          <a:p>
            <a:pPr lvl="1" marL="926465" indent="-229235">
              <a:lnSpc>
                <a:spcPct val="100000"/>
              </a:lnSpc>
              <a:spcBef>
                <a:spcPts val="994"/>
              </a:spcBef>
              <a:buFont typeface="Verdana"/>
              <a:buChar char="◦"/>
              <a:tabLst>
                <a:tab pos="926465" algn="l"/>
                <a:tab pos="927100" algn="l"/>
              </a:tabLst>
            </a:pPr>
            <a:r>
              <a:rPr dirty="0" sz="1100" spc="-5">
                <a:latin typeface="Calibri"/>
                <a:cs typeface="Calibri"/>
              </a:rPr>
              <a:t>Marketing,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sales,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distribution,</a:t>
            </a:r>
            <a:r>
              <a:rPr dirty="0" sz="1100" spc="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 </a:t>
            </a:r>
            <a:r>
              <a:rPr dirty="0" sz="1100" spc="-5">
                <a:latin typeface="Calibri"/>
                <a:cs typeface="Calibri"/>
              </a:rPr>
              <a:t>product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support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personnel</a:t>
            </a:r>
            <a:endParaRPr sz="1100">
              <a:latin typeface="Calibri"/>
              <a:cs typeface="Calibri"/>
            </a:endParaRPr>
          </a:p>
          <a:p>
            <a:pPr lvl="1" marL="926465" indent="-229235">
              <a:lnSpc>
                <a:spcPct val="100000"/>
              </a:lnSpc>
              <a:spcBef>
                <a:spcPts val="985"/>
              </a:spcBef>
              <a:buFont typeface="Verdana"/>
              <a:buChar char="◦"/>
              <a:tabLst>
                <a:tab pos="926465" algn="l"/>
                <a:tab pos="927100" algn="l"/>
              </a:tabLst>
            </a:pPr>
            <a:r>
              <a:rPr dirty="0" sz="1100">
                <a:latin typeface="Calibri"/>
                <a:cs typeface="Calibri"/>
              </a:rPr>
              <a:t>Regulators,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inspectors,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lawyers</a:t>
            </a:r>
            <a:endParaRPr sz="1100">
              <a:latin typeface="Calibri"/>
              <a:cs typeface="Calibri"/>
            </a:endParaRPr>
          </a:p>
          <a:p>
            <a:pPr marL="469265" marR="481965" indent="-228600">
              <a:lnSpc>
                <a:spcPct val="110000"/>
              </a:lnSpc>
              <a:spcBef>
                <a:spcPts val="795"/>
              </a:spcBef>
              <a:buFont typeface="Microsoft Sans Serif"/>
              <a:buChar char=""/>
              <a:tabLst>
                <a:tab pos="469265" algn="l"/>
                <a:tab pos="469900" algn="l"/>
              </a:tabLst>
            </a:pPr>
            <a:r>
              <a:rPr dirty="0" sz="1100" spc="-5">
                <a:latin typeface="Calibri"/>
                <a:cs typeface="Calibri"/>
              </a:rPr>
              <a:t>Developers</a:t>
            </a:r>
            <a:r>
              <a:rPr dirty="0" sz="110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must</a:t>
            </a:r>
            <a:r>
              <a:rPr dirty="0" sz="110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know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the</a:t>
            </a:r>
            <a:r>
              <a:rPr dirty="0" sz="1100">
                <a:latin typeface="Calibri"/>
                <a:cs typeface="Calibri"/>
              </a:rPr>
              <a:t> target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market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-5">
                <a:latin typeface="Calibri"/>
                <a:cs typeface="Calibri"/>
              </a:rPr>
              <a:t> stakeholders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to</a:t>
            </a:r>
            <a:r>
              <a:rPr dirty="0" sz="1100" spc="2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build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product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satisfying </a:t>
            </a:r>
            <a:r>
              <a:rPr dirty="0" sz="1100" spc="-229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stakeholders’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needs.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buFont typeface="Microsoft Sans Serif"/>
              <a:buChar char=""/>
            </a:pP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Microsoft Sans Serif"/>
              <a:buChar char=""/>
            </a:pPr>
            <a:endParaRPr sz="15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100" spc="-5" b="1">
                <a:latin typeface="Calibri"/>
                <a:cs typeface="Calibri"/>
              </a:rPr>
              <a:t>Assumptions and</a:t>
            </a:r>
            <a:r>
              <a:rPr dirty="0" sz="1100" spc="-10" b="1">
                <a:latin typeface="Calibri"/>
                <a:cs typeface="Calibri"/>
              </a:rPr>
              <a:t> </a:t>
            </a:r>
            <a:r>
              <a:rPr dirty="0" sz="1100" spc="-5" b="1">
                <a:latin typeface="Calibri"/>
                <a:cs typeface="Calibri"/>
              </a:rPr>
              <a:t>Constraints:</a:t>
            </a:r>
            <a:endParaRPr sz="1100">
              <a:latin typeface="Calibri"/>
              <a:cs typeface="Calibri"/>
            </a:endParaRPr>
          </a:p>
          <a:p>
            <a:pPr marL="469265" indent="-228600">
              <a:lnSpc>
                <a:spcPct val="100000"/>
              </a:lnSpc>
              <a:spcBef>
                <a:spcPts val="925"/>
              </a:spcBef>
              <a:buFont typeface="Microsoft Sans Serif"/>
              <a:buChar char=""/>
              <a:tabLst>
                <a:tab pos="469265" algn="l"/>
                <a:tab pos="469900" algn="l"/>
              </a:tabLst>
            </a:pPr>
            <a:r>
              <a:rPr dirty="0" sz="1100" spc="-5">
                <a:latin typeface="Calibri"/>
                <a:cs typeface="Calibri"/>
              </a:rPr>
              <a:t>An</a:t>
            </a:r>
            <a:r>
              <a:rPr dirty="0" sz="110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assumption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is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something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that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developers</a:t>
            </a:r>
            <a:r>
              <a:rPr dirty="0" sz="110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take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for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granted.</a:t>
            </a:r>
            <a:endParaRPr sz="1100">
              <a:latin typeface="Calibri"/>
              <a:cs typeface="Calibri"/>
            </a:endParaRPr>
          </a:p>
          <a:p>
            <a:pPr lvl="1" marL="926465" indent="-229235">
              <a:lnSpc>
                <a:spcPct val="100000"/>
              </a:lnSpc>
              <a:spcBef>
                <a:spcPts val="994"/>
              </a:spcBef>
              <a:buFont typeface="Verdana"/>
              <a:buChar char="◦"/>
              <a:tabLst>
                <a:tab pos="926465" algn="l"/>
                <a:tab pos="927100" algn="l"/>
              </a:tabLst>
            </a:pPr>
            <a:r>
              <a:rPr dirty="0" sz="1100" spc="-5">
                <a:latin typeface="Calibri"/>
                <a:cs typeface="Calibri"/>
              </a:rPr>
              <a:t>Feature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the problem</a:t>
            </a:r>
            <a:endParaRPr sz="1100">
              <a:latin typeface="Calibri"/>
              <a:cs typeface="Calibri"/>
            </a:endParaRPr>
          </a:p>
          <a:p>
            <a:pPr lvl="1" marL="926465" indent="-229235">
              <a:lnSpc>
                <a:spcPct val="100000"/>
              </a:lnSpc>
              <a:spcBef>
                <a:spcPts val="985"/>
              </a:spcBef>
              <a:buFont typeface="Verdana"/>
              <a:buChar char="◦"/>
              <a:tabLst>
                <a:tab pos="926465" algn="l"/>
                <a:tab pos="927100" algn="l"/>
              </a:tabLst>
            </a:pPr>
            <a:r>
              <a:rPr dirty="0" sz="1100" spc="-5">
                <a:latin typeface="Calibri"/>
                <a:cs typeface="Calibri"/>
              </a:rPr>
              <a:t>Examples:</a:t>
            </a:r>
            <a:r>
              <a:rPr dirty="0" sz="1100">
                <a:latin typeface="Calibri"/>
                <a:cs typeface="Calibri"/>
              </a:rPr>
              <a:t> target </a:t>
            </a:r>
            <a:r>
              <a:rPr dirty="0" sz="1100" spc="-5">
                <a:latin typeface="Calibri"/>
                <a:cs typeface="Calibri"/>
              </a:rPr>
              <a:t>deployment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environments,</a:t>
            </a:r>
            <a:r>
              <a:rPr dirty="0" sz="1100">
                <a:latin typeface="Calibri"/>
                <a:cs typeface="Calibri"/>
              </a:rPr>
              <a:t> levels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 </a:t>
            </a:r>
            <a:r>
              <a:rPr dirty="0" sz="1100" spc="-5">
                <a:latin typeface="Calibri"/>
                <a:cs typeface="Calibri"/>
              </a:rPr>
              <a:t>user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support</a:t>
            </a:r>
            <a:endParaRPr sz="1100">
              <a:latin typeface="Calibri"/>
              <a:cs typeface="Calibri"/>
            </a:endParaRPr>
          </a:p>
          <a:p>
            <a:pPr marL="469265" indent="-228600">
              <a:lnSpc>
                <a:spcPct val="100000"/>
              </a:lnSpc>
              <a:spcBef>
                <a:spcPts val="925"/>
              </a:spcBef>
              <a:buFont typeface="Microsoft Sans Serif"/>
              <a:buChar char=""/>
              <a:tabLst>
                <a:tab pos="469265" algn="l"/>
                <a:tab pos="469900" algn="l"/>
              </a:tabLst>
            </a:pPr>
            <a:r>
              <a:rPr dirty="0" sz="1100">
                <a:latin typeface="Calibri"/>
                <a:cs typeface="Calibri"/>
              </a:rPr>
              <a:t>A </a:t>
            </a:r>
            <a:r>
              <a:rPr dirty="0" sz="1100" spc="-5">
                <a:latin typeface="Calibri"/>
                <a:cs typeface="Calibri"/>
              </a:rPr>
              <a:t>constraint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is </a:t>
            </a:r>
            <a:r>
              <a:rPr dirty="0" sz="1100" spc="-5">
                <a:latin typeface="Calibri"/>
                <a:cs typeface="Calibri"/>
              </a:rPr>
              <a:t>any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factor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that</a:t>
            </a:r>
            <a:r>
              <a:rPr dirty="0" sz="110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limits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developers.</a:t>
            </a:r>
            <a:endParaRPr sz="1100">
              <a:latin typeface="Calibri"/>
              <a:cs typeface="Calibri"/>
            </a:endParaRPr>
          </a:p>
          <a:p>
            <a:pPr lvl="1" marL="926465" indent="-229235">
              <a:lnSpc>
                <a:spcPct val="100000"/>
              </a:lnSpc>
              <a:spcBef>
                <a:spcPts val="994"/>
              </a:spcBef>
              <a:buFont typeface="Verdana"/>
              <a:buChar char="◦"/>
              <a:tabLst>
                <a:tab pos="926465" algn="l"/>
                <a:tab pos="927100" algn="l"/>
              </a:tabLst>
            </a:pPr>
            <a:r>
              <a:rPr dirty="0" sz="1100">
                <a:latin typeface="Calibri"/>
                <a:cs typeface="Calibri"/>
              </a:rPr>
              <a:t>Restriction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on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the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solution</a:t>
            </a:r>
            <a:endParaRPr sz="1100">
              <a:latin typeface="Calibri"/>
              <a:cs typeface="Calibri"/>
            </a:endParaRPr>
          </a:p>
          <a:p>
            <a:pPr lvl="1" marL="926465" indent="-229235">
              <a:lnSpc>
                <a:spcPct val="100000"/>
              </a:lnSpc>
              <a:spcBef>
                <a:spcPts val="985"/>
              </a:spcBef>
              <a:buFont typeface="Verdana"/>
              <a:buChar char="◦"/>
              <a:tabLst>
                <a:tab pos="926465" algn="l"/>
                <a:tab pos="927100" algn="l"/>
              </a:tabLst>
            </a:pPr>
            <a:r>
              <a:rPr dirty="0" sz="1100" spc="-5">
                <a:latin typeface="Calibri"/>
                <a:cs typeface="Calibri"/>
              </a:rPr>
              <a:t>Examples:</a:t>
            </a:r>
            <a:r>
              <a:rPr dirty="0" sz="110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cost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time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limits, conformance</a:t>
            </a:r>
            <a:r>
              <a:rPr dirty="0" sz="110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to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regulations</a:t>
            </a:r>
            <a:endParaRPr sz="11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buFont typeface="Verdana"/>
              <a:buChar char="◦"/>
            </a:pPr>
            <a:endParaRPr sz="14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5"/>
              </a:spcBef>
              <a:buFont typeface="Verdana"/>
              <a:buChar char="◦"/>
            </a:pP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100" spc="-5" b="1">
                <a:latin typeface="Calibri"/>
                <a:cs typeface="Calibri"/>
              </a:rPr>
              <a:t>Business</a:t>
            </a:r>
            <a:r>
              <a:rPr dirty="0" sz="1100" spc="-15" b="1">
                <a:latin typeface="Calibri"/>
                <a:cs typeface="Calibri"/>
              </a:rPr>
              <a:t> </a:t>
            </a:r>
            <a:r>
              <a:rPr dirty="0" sz="1100" spc="-5" b="1">
                <a:latin typeface="Calibri"/>
                <a:cs typeface="Calibri"/>
              </a:rPr>
              <a:t>Requirements:</a:t>
            </a:r>
            <a:endParaRPr sz="1100">
              <a:latin typeface="Calibri"/>
              <a:cs typeface="Calibri"/>
            </a:endParaRPr>
          </a:p>
          <a:p>
            <a:pPr marL="12700" marR="5080">
              <a:lnSpc>
                <a:spcPct val="110000"/>
              </a:lnSpc>
              <a:spcBef>
                <a:spcPts val="795"/>
              </a:spcBef>
            </a:pPr>
            <a:r>
              <a:rPr dirty="0" sz="1100">
                <a:latin typeface="Calibri"/>
                <a:cs typeface="Calibri"/>
              </a:rPr>
              <a:t>A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business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requirement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is a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statement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 client or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development</a:t>
            </a:r>
            <a:r>
              <a:rPr dirty="0" sz="110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organization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goal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that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product</a:t>
            </a:r>
            <a:r>
              <a:rPr dirty="0" sz="110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must </a:t>
            </a:r>
            <a:r>
              <a:rPr dirty="0" sz="1100" spc="-23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meet.</a:t>
            </a:r>
            <a:endParaRPr sz="1100">
              <a:latin typeface="Calibri"/>
              <a:cs typeface="Calibri"/>
            </a:endParaRPr>
          </a:p>
          <a:p>
            <a:pPr lvl="1" marL="926465" indent="-229235">
              <a:lnSpc>
                <a:spcPct val="100000"/>
              </a:lnSpc>
              <a:spcBef>
                <a:spcPts val="985"/>
              </a:spcBef>
              <a:buFont typeface="Verdana"/>
              <a:buChar char="◦"/>
              <a:tabLst>
                <a:tab pos="926465" algn="l"/>
                <a:tab pos="927100" algn="l"/>
              </a:tabLst>
            </a:pPr>
            <a:r>
              <a:rPr dirty="0" sz="1100" spc="-5">
                <a:latin typeface="Calibri"/>
                <a:cs typeface="Calibri"/>
              </a:rPr>
              <a:t>Time,</a:t>
            </a:r>
            <a:r>
              <a:rPr dirty="0" sz="110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cost, quality, </a:t>
            </a:r>
            <a:r>
              <a:rPr dirty="0" sz="1100">
                <a:latin typeface="Calibri"/>
                <a:cs typeface="Calibri"/>
              </a:rPr>
              <a:t>or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business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results</a:t>
            </a:r>
            <a:endParaRPr sz="1100">
              <a:latin typeface="Calibri"/>
              <a:cs typeface="Calibri"/>
            </a:endParaRPr>
          </a:p>
          <a:p>
            <a:pPr lvl="1" marL="926465" indent="-229235">
              <a:lnSpc>
                <a:spcPct val="100000"/>
              </a:lnSpc>
              <a:spcBef>
                <a:spcPts val="994"/>
              </a:spcBef>
              <a:buFont typeface="Verdana"/>
              <a:buChar char="◦"/>
              <a:tabLst>
                <a:tab pos="926465" algn="l"/>
                <a:tab pos="927100" algn="l"/>
              </a:tabLst>
            </a:pPr>
            <a:r>
              <a:rPr dirty="0" sz="1100" spc="-5">
                <a:latin typeface="Calibri"/>
                <a:cs typeface="Calibri"/>
              </a:rPr>
              <a:t>Should</a:t>
            </a:r>
            <a:r>
              <a:rPr dirty="0" sz="110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be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stated</a:t>
            </a:r>
            <a:r>
              <a:rPr dirty="0" sz="110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so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that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it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is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clear </a:t>
            </a:r>
            <a:r>
              <a:rPr dirty="0" sz="1100" spc="-5">
                <a:latin typeface="Calibri"/>
                <a:cs typeface="Calibri"/>
              </a:rPr>
              <a:t>whether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it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is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satisfied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(quantitative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goals)</a:t>
            </a:r>
            <a:endParaRPr sz="1100">
              <a:latin typeface="Calibri"/>
              <a:cs typeface="Calibri"/>
            </a:endParaRPr>
          </a:p>
          <a:p>
            <a:pPr lvl="1" marL="926465" indent="-229235">
              <a:lnSpc>
                <a:spcPct val="100000"/>
              </a:lnSpc>
              <a:spcBef>
                <a:spcPts val="985"/>
              </a:spcBef>
              <a:buFont typeface="Verdana"/>
              <a:buChar char="◦"/>
              <a:tabLst>
                <a:tab pos="926465" algn="l"/>
                <a:tab pos="927100" algn="l"/>
              </a:tabLst>
            </a:pPr>
            <a:r>
              <a:rPr dirty="0" sz="1100">
                <a:latin typeface="Calibri"/>
                <a:cs typeface="Calibri"/>
              </a:rPr>
              <a:t>Broad </a:t>
            </a:r>
            <a:r>
              <a:rPr dirty="0" sz="1100" spc="-5">
                <a:latin typeface="Calibri"/>
                <a:cs typeface="Calibri"/>
              </a:rPr>
              <a:t>goals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related </a:t>
            </a:r>
            <a:r>
              <a:rPr dirty="0" sz="1100">
                <a:latin typeface="Calibri"/>
                <a:cs typeface="Calibri"/>
              </a:rPr>
              <a:t>to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business,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not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detailed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product</a:t>
            </a:r>
            <a:r>
              <a:rPr dirty="0" sz="110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specifications</a:t>
            </a:r>
            <a:endParaRPr sz="1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386454" y="892556"/>
            <a:ext cx="100076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" b="1">
                <a:latin typeface="Calibri"/>
                <a:cs typeface="Calibri"/>
              </a:rPr>
              <a:t>Needs</a:t>
            </a:r>
            <a:r>
              <a:rPr dirty="0" sz="1100" spc="-35" b="1">
                <a:latin typeface="Calibri"/>
                <a:cs typeface="Calibri"/>
              </a:rPr>
              <a:t> </a:t>
            </a:r>
            <a:r>
              <a:rPr dirty="0" sz="1100" spc="-5" b="1">
                <a:latin typeface="Calibri"/>
                <a:cs typeface="Calibri"/>
              </a:rPr>
              <a:t>Elicitation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2004" y="1464310"/>
            <a:ext cx="1457325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" b="1">
                <a:latin typeface="Calibri"/>
                <a:cs typeface="Calibri"/>
              </a:rPr>
              <a:t>Needs</a:t>
            </a:r>
            <a:r>
              <a:rPr dirty="0" sz="1100" spc="-15" b="1">
                <a:latin typeface="Calibri"/>
                <a:cs typeface="Calibri"/>
              </a:rPr>
              <a:t> </a:t>
            </a:r>
            <a:r>
              <a:rPr dirty="0" sz="1100" spc="-5" b="1">
                <a:latin typeface="Calibri"/>
                <a:cs typeface="Calibri"/>
              </a:rPr>
              <a:t>VS</a:t>
            </a:r>
            <a:r>
              <a:rPr dirty="0" sz="1100" spc="-15" b="1">
                <a:latin typeface="Calibri"/>
                <a:cs typeface="Calibri"/>
              </a:rPr>
              <a:t> </a:t>
            </a:r>
            <a:r>
              <a:rPr dirty="0" sz="1100" spc="-5" b="1">
                <a:latin typeface="Calibri"/>
                <a:cs typeface="Calibri"/>
              </a:rPr>
              <a:t>Requirements: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59153" y="2035810"/>
            <a:ext cx="2873375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>
                <a:latin typeface="Calibri"/>
                <a:cs typeface="Calibri"/>
              </a:rPr>
              <a:t>Requirements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specify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product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design </a:t>
            </a:r>
            <a:r>
              <a:rPr dirty="0" sz="1100" spc="-5" i="1">
                <a:latin typeface="Calibri"/>
                <a:cs typeface="Calibri"/>
              </a:rPr>
              <a:t>solution</a:t>
            </a:r>
            <a:r>
              <a:rPr dirty="0" sz="1100" spc="-5">
                <a:latin typeface="Calibri"/>
                <a:cs typeface="Calibri"/>
              </a:rPr>
              <a:t>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30604" y="1749298"/>
            <a:ext cx="4022725" cy="7651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0665" indent="-228600">
              <a:lnSpc>
                <a:spcPct val="100000"/>
              </a:lnSpc>
              <a:spcBef>
                <a:spcPts val="100"/>
              </a:spcBef>
              <a:buFont typeface="Microsoft Sans Serif"/>
              <a:buChar char=""/>
              <a:tabLst>
                <a:tab pos="240665" algn="l"/>
                <a:tab pos="241300" algn="l"/>
              </a:tabLst>
            </a:pPr>
            <a:r>
              <a:rPr dirty="0" sz="1100" spc="-5">
                <a:latin typeface="Calibri"/>
                <a:cs typeface="Calibri"/>
              </a:rPr>
              <a:t>Stakeholder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needs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-5">
                <a:latin typeface="Calibri"/>
                <a:cs typeface="Calibri"/>
              </a:rPr>
              <a:t> desires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define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product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design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 i="1">
                <a:latin typeface="Calibri"/>
                <a:cs typeface="Calibri"/>
              </a:rPr>
              <a:t>problem</a:t>
            </a:r>
            <a:r>
              <a:rPr dirty="0" sz="1100" spc="-5">
                <a:latin typeface="Calibri"/>
                <a:cs typeface="Calibri"/>
              </a:rPr>
              <a:t>.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40"/>
              </a:spcBef>
            </a:pPr>
            <a:r>
              <a:rPr dirty="0" sz="1100" spc="-155">
                <a:latin typeface="Microsoft Sans Serif"/>
                <a:cs typeface="Microsoft Sans Serif"/>
              </a:rPr>
              <a:t>🞂</a:t>
            </a:r>
            <a:endParaRPr sz="11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919"/>
              </a:spcBef>
            </a:pPr>
            <a:r>
              <a:rPr dirty="0" sz="1100" spc="-155">
                <a:latin typeface="Microsoft Sans Serif"/>
                <a:cs typeface="Microsoft Sans Serif"/>
              </a:rPr>
              <a:t>🞂</a:t>
            </a:r>
            <a:endParaRPr sz="1100">
              <a:latin typeface="Microsoft Sans Serif"/>
              <a:cs typeface="Microsoft Sans Serif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59153" y="2304644"/>
            <a:ext cx="5454015" cy="3943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0000"/>
              </a:lnSpc>
              <a:spcBef>
                <a:spcPts val="100"/>
              </a:spcBef>
            </a:pPr>
            <a:r>
              <a:rPr dirty="0" sz="1100">
                <a:latin typeface="Calibri"/>
                <a:cs typeface="Calibri"/>
              </a:rPr>
              <a:t>Needs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 </a:t>
            </a:r>
            <a:r>
              <a:rPr dirty="0" sz="1100" spc="-5">
                <a:latin typeface="Calibri"/>
                <a:cs typeface="Calibri"/>
              </a:rPr>
              <a:t>requirements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statements</a:t>
            </a:r>
            <a:r>
              <a:rPr dirty="0" sz="1100">
                <a:latin typeface="Calibri"/>
                <a:cs typeface="Calibri"/>
              </a:rPr>
              <a:t> are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similar,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but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the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heart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product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design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is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moving </a:t>
            </a:r>
            <a:r>
              <a:rPr dirty="0" sz="1100" spc="-10">
                <a:latin typeface="Calibri"/>
                <a:cs typeface="Calibri"/>
              </a:rPr>
              <a:t>from </a:t>
            </a:r>
            <a:r>
              <a:rPr dirty="0" sz="1100" spc="-229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needs</a:t>
            </a:r>
            <a:r>
              <a:rPr dirty="0" sz="1100" spc="-5">
                <a:latin typeface="Calibri"/>
                <a:cs typeface="Calibri"/>
              </a:rPr>
              <a:t> to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requirements.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02004" y="2790189"/>
            <a:ext cx="5796280" cy="20929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926465" indent="-22923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926465" algn="l"/>
                <a:tab pos="927100" algn="l"/>
              </a:tabLst>
            </a:pPr>
            <a:r>
              <a:rPr dirty="0" sz="1100" spc="-5">
                <a:latin typeface="Calibri"/>
                <a:cs typeface="Calibri"/>
              </a:rPr>
              <a:t>Conflicting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needs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desires</a:t>
            </a:r>
            <a:endParaRPr sz="1100">
              <a:latin typeface="Calibri"/>
              <a:cs typeface="Calibri"/>
            </a:endParaRPr>
          </a:p>
          <a:p>
            <a:pPr marL="926465" indent="-229235">
              <a:lnSpc>
                <a:spcPct val="100000"/>
              </a:lnSpc>
              <a:spcBef>
                <a:spcPts val="940"/>
              </a:spcBef>
              <a:buFont typeface="Arial MT"/>
              <a:buChar char="•"/>
              <a:tabLst>
                <a:tab pos="926465" algn="l"/>
                <a:tab pos="927100" algn="l"/>
              </a:tabLst>
            </a:pPr>
            <a:r>
              <a:rPr dirty="0" sz="1100" spc="-5">
                <a:latin typeface="Calibri"/>
                <a:cs typeface="Calibri"/>
              </a:rPr>
              <a:t>Tradeoffs</a:t>
            </a:r>
            <a:r>
              <a:rPr dirty="0" sz="110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(needs</a:t>
            </a:r>
            <a:r>
              <a:rPr dirty="0" sz="1100">
                <a:latin typeface="Calibri"/>
                <a:cs typeface="Calibri"/>
              </a:rPr>
              <a:t> and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constraints)</a:t>
            </a:r>
            <a:endParaRPr sz="1100">
              <a:latin typeface="Calibri"/>
              <a:cs typeface="Calibri"/>
            </a:endParaRPr>
          </a:p>
          <a:p>
            <a:pPr marL="926465" indent="-229235">
              <a:lnSpc>
                <a:spcPct val="100000"/>
              </a:lnSpc>
              <a:spcBef>
                <a:spcPts val="925"/>
              </a:spcBef>
              <a:buFont typeface="Arial MT"/>
              <a:buChar char="•"/>
              <a:tabLst>
                <a:tab pos="926465" algn="l"/>
                <a:tab pos="927100" algn="l"/>
              </a:tabLst>
            </a:pPr>
            <a:r>
              <a:rPr dirty="0" sz="1100">
                <a:latin typeface="Calibri"/>
                <a:cs typeface="Calibri"/>
              </a:rPr>
              <a:t>Ways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satisfying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needs and desires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3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3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100" spc="-5" b="1">
                <a:latin typeface="Calibri"/>
                <a:cs typeface="Calibri"/>
              </a:rPr>
              <a:t>Needs Elicitation</a:t>
            </a:r>
            <a:r>
              <a:rPr dirty="0" sz="1100" spc="-10" b="1">
                <a:latin typeface="Calibri"/>
                <a:cs typeface="Calibri"/>
              </a:rPr>
              <a:t> </a:t>
            </a:r>
            <a:r>
              <a:rPr dirty="0" sz="1100" spc="-5" b="1">
                <a:latin typeface="Calibri"/>
                <a:cs typeface="Calibri"/>
              </a:rPr>
              <a:t>Challenges:</a:t>
            </a:r>
            <a:endParaRPr sz="1100">
              <a:latin typeface="Calibri"/>
              <a:cs typeface="Calibri"/>
            </a:endParaRPr>
          </a:p>
          <a:p>
            <a:pPr marL="469265" indent="-228600">
              <a:lnSpc>
                <a:spcPct val="100000"/>
              </a:lnSpc>
              <a:spcBef>
                <a:spcPts val="925"/>
              </a:spcBef>
              <a:buFont typeface="Microsoft Sans Serif"/>
              <a:buChar char=""/>
              <a:tabLst>
                <a:tab pos="469265" algn="l"/>
                <a:tab pos="469900" algn="l"/>
              </a:tabLst>
            </a:pPr>
            <a:r>
              <a:rPr dirty="0" sz="1100" spc="-5">
                <a:latin typeface="Calibri"/>
                <a:cs typeface="Calibri"/>
              </a:rPr>
              <a:t>Stakeholders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often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cannot </a:t>
            </a:r>
            <a:r>
              <a:rPr dirty="0" sz="1100">
                <a:latin typeface="Calibri"/>
                <a:cs typeface="Calibri"/>
              </a:rPr>
              <a:t>explain their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work,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or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articulate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their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needs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 </a:t>
            </a:r>
            <a:r>
              <a:rPr dirty="0" sz="1100" spc="-5">
                <a:latin typeface="Calibri"/>
                <a:cs typeface="Calibri"/>
              </a:rPr>
              <a:t>desires.</a:t>
            </a:r>
            <a:endParaRPr sz="1100">
              <a:latin typeface="Calibri"/>
              <a:cs typeface="Calibri"/>
            </a:endParaRPr>
          </a:p>
          <a:p>
            <a:pPr marL="469265" marR="5080" indent="-228600">
              <a:lnSpc>
                <a:spcPct val="110000"/>
              </a:lnSpc>
              <a:spcBef>
                <a:spcPts val="805"/>
              </a:spcBef>
              <a:buFont typeface="Microsoft Sans Serif"/>
              <a:buChar char=""/>
              <a:tabLst>
                <a:tab pos="469265" algn="l"/>
                <a:tab pos="469900" algn="l"/>
              </a:tabLst>
            </a:pPr>
            <a:r>
              <a:rPr dirty="0" sz="1100">
                <a:latin typeface="Calibri"/>
                <a:cs typeface="Calibri"/>
              </a:rPr>
              <a:t>Needs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 </a:t>
            </a:r>
            <a:r>
              <a:rPr dirty="0" sz="1100" spc="-5">
                <a:latin typeface="Calibri"/>
                <a:cs typeface="Calibri"/>
              </a:rPr>
              <a:t>desires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can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only</a:t>
            </a:r>
            <a:r>
              <a:rPr dirty="0" sz="1100" spc="-5">
                <a:latin typeface="Calibri"/>
                <a:cs typeface="Calibri"/>
              </a:rPr>
              <a:t> be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understood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larger context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that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includes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understanding</a:t>
            </a:r>
            <a:r>
              <a:rPr dirty="0" sz="1100">
                <a:latin typeface="Calibri"/>
                <a:cs typeface="Calibri"/>
              </a:rPr>
              <a:t> the </a:t>
            </a:r>
            <a:r>
              <a:rPr dirty="0" sz="1100" spc="-2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problem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domain.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59153" y="5259704"/>
            <a:ext cx="4737100" cy="1936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 spc="-5">
                <a:latin typeface="Calibri"/>
                <a:cs typeface="Calibri"/>
              </a:rPr>
              <a:t>Stakeholders </a:t>
            </a:r>
            <a:r>
              <a:rPr dirty="0" sz="1100">
                <a:latin typeface="Calibri"/>
                <a:cs typeface="Calibri"/>
              </a:rPr>
              <a:t>often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don’t understand</a:t>
            </a:r>
            <a:r>
              <a:rPr dirty="0" sz="1100">
                <a:latin typeface="Calibri"/>
                <a:cs typeface="Calibri"/>
              </a:rPr>
              <a:t> the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capabilities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 limitations of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technology.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30604" y="4974463"/>
            <a:ext cx="4012565" cy="7658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40665" indent="-228600">
              <a:lnSpc>
                <a:spcPct val="100000"/>
              </a:lnSpc>
              <a:spcBef>
                <a:spcPts val="105"/>
              </a:spcBef>
              <a:buFont typeface="Microsoft Sans Serif"/>
              <a:buChar char=""/>
              <a:tabLst>
                <a:tab pos="240665" algn="l"/>
                <a:tab pos="241300" algn="l"/>
              </a:tabLst>
            </a:pPr>
            <a:r>
              <a:rPr dirty="0" sz="1100" spc="-5">
                <a:latin typeface="Calibri"/>
                <a:cs typeface="Calibri"/>
              </a:rPr>
              <a:t>Stakeholders</a:t>
            </a:r>
            <a:r>
              <a:rPr dirty="0" sz="110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make</a:t>
            </a:r>
            <a:r>
              <a:rPr dirty="0" sz="110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mistakes,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leave</a:t>
            </a:r>
            <a:r>
              <a:rPr dirty="0" sz="110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things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out, and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are </a:t>
            </a:r>
            <a:r>
              <a:rPr dirty="0" sz="1100" spc="-5">
                <a:latin typeface="Calibri"/>
                <a:cs typeface="Calibri"/>
              </a:rPr>
              <a:t>misleading.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25"/>
              </a:spcBef>
            </a:pPr>
            <a:r>
              <a:rPr dirty="0" sz="1100" spc="-155">
                <a:latin typeface="Microsoft Sans Serif"/>
                <a:cs typeface="Microsoft Sans Serif"/>
              </a:rPr>
              <a:t>🞂</a:t>
            </a:r>
            <a:endParaRPr sz="11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935"/>
              </a:spcBef>
            </a:pPr>
            <a:r>
              <a:rPr dirty="0" sz="1100" spc="-155">
                <a:latin typeface="Microsoft Sans Serif"/>
                <a:cs typeface="Microsoft Sans Serif"/>
              </a:rPr>
              <a:t>🞂</a:t>
            </a:r>
            <a:endParaRPr sz="1100">
              <a:latin typeface="Microsoft Sans Serif"/>
              <a:cs typeface="Microsoft Sans Serif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359153" y="5546216"/>
            <a:ext cx="5478145" cy="1936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>
                <a:latin typeface="Calibri"/>
                <a:cs typeface="Calibri"/>
              </a:rPr>
              <a:t>Designers are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faced </a:t>
            </a:r>
            <a:r>
              <a:rPr dirty="0" sz="1100">
                <a:latin typeface="Calibri"/>
                <a:cs typeface="Calibri"/>
              </a:rPr>
              <a:t>with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 flood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information,</a:t>
            </a:r>
            <a:r>
              <a:rPr dirty="0" sz="1100">
                <a:latin typeface="Calibri"/>
                <a:cs typeface="Calibri"/>
              </a:rPr>
              <a:t> often</a:t>
            </a:r>
            <a:r>
              <a:rPr dirty="0" sz="1100" spc="-5">
                <a:latin typeface="Calibri"/>
                <a:cs typeface="Calibri"/>
              </a:rPr>
              <a:t> contradictory,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incomplete,</a:t>
            </a:r>
            <a:r>
              <a:rPr dirty="0" sz="1100">
                <a:latin typeface="Calibri"/>
                <a:cs typeface="Calibri"/>
              </a:rPr>
              <a:t> and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confusing.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02004" y="6117716"/>
            <a:ext cx="5969000" cy="15017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 spc="-5" b="1">
                <a:latin typeface="Calibri"/>
                <a:cs typeface="Calibri"/>
              </a:rPr>
              <a:t>How</a:t>
            </a:r>
            <a:r>
              <a:rPr dirty="0" sz="1100" spc="5" b="1">
                <a:latin typeface="Calibri"/>
                <a:cs typeface="Calibri"/>
              </a:rPr>
              <a:t> </a:t>
            </a:r>
            <a:r>
              <a:rPr dirty="0" sz="1100" b="1">
                <a:latin typeface="Calibri"/>
                <a:cs typeface="Calibri"/>
              </a:rPr>
              <a:t>to</a:t>
            </a:r>
            <a:r>
              <a:rPr dirty="0" sz="1100" spc="5" b="1">
                <a:latin typeface="Calibri"/>
                <a:cs typeface="Calibri"/>
              </a:rPr>
              <a:t> </a:t>
            </a:r>
            <a:r>
              <a:rPr dirty="0" sz="1100" spc="-5" b="1">
                <a:latin typeface="Calibri"/>
                <a:cs typeface="Calibri"/>
              </a:rPr>
              <a:t>tackle</a:t>
            </a:r>
            <a:r>
              <a:rPr dirty="0" sz="1100" spc="-10" b="1">
                <a:latin typeface="Calibri"/>
                <a:cs typeface="Calibri"/>
              </a:rPr>
              <a:t> </a:t>
            </a:r>
            <a:r>
              <a:rPr dirty="0" sz="1100" spc="-5" b="1">
                <a:latin typeface="Calibri"/>
                <a:cs typeface="Calibri"/>
              </a:rPr>
              <a:t>Elicitation Challenges:</a:t>
            </a:r>
            <a:endParaRPr sz="1100">
              <a:latin typeface="Calibri"/>
              <a:cs typeface="Calibri"/>
            </a:endParaRPr>
          </a:p>
          <a:p>
            <a:pPr marL="469265" marR="299720" indent="-228600">
              <a:lnSpc>
                <a:spcPct val="110000"/>
              </a:lnSpc>
              <a:spcBef>
                <a:spcPts val="790"/>
              </a:spcBef>
              <a:buFont typeface="Microsoft Sans Serif"/>
              <a:buChar char=""/>
              <a:tabLst>
                <a:tab pos="469265" algn="l"/>
                <a:tab pos="469900" algn="l"/>
              </a:tabLst>
            </a:pPr>
            <a:r>
              <a:rPr dirty="0" sz="1100">
                <a:latin typeface="Calibri"/>
                <a:cs typeface="Calibri"/>
              </a:rPr>
              <a:t>Designers </a:t>
            </a:r>
            <a:r>
              <a:rPr dirty="0" sz="1100" spc="-5">
                <a:latin typeface="Calibri"/>
                <a:cs typeface="Calibri"/>
              </a:rPr>
              <a:t>must</a:t>
            </a:r>
            <a:r>
              <a:rPr dirty="0" sz="1100">
                <a:latin typeface="Calibri"/>
                <a:cs typeface="Calibri"/>
              </a:rPr>
              <a:t> obtain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information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from</a:t>
            </a:r>
            <a:r>
              <a:rPr dirty="0" sz="110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stakeholders</a:t>
            </a:r>
            <a:r>
              <a:rPr dirty="0" sz="1100">
                <a:latin typeface="Calibri"/>
                <a:cs typeface="Calibri"/>
              </a:rPr>
              <a:t> in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systematic fashion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using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several </a:t>
            </a:r>
            <a:r>
              <a:rPr dirty="0" sz="1100">
                <a:latin typeface="Calibri"/>
                <a:cs typeface="Calibri"/>
              </a:rPr>
              <a:t> elicitation </a:t>
            </a:r>
            <a:r>
              <a:rPr dirty="0" sz="1100" spc="-5">
                <a:latin typeface="Calibri"/>
                <a:cs typeface="Calibri"/>
              </a:rPr>
              <a:t>techniques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must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document </a:t>
            </a:r>
            <a:r>
              <a:rPr dirty="0" sz="1100">
                <a:latin typeface="Calibri"/>
                <a:cs typeface="Calibri"/>
              </a:rPr>
              <a:t>and </a:t>
            </a:r>
            <a:r>
              <a:rPr dirty="0" sz="1100" spc="-5">
                <a:latin typeface="Calibri"/>
                <a:cs typeface="Calibri"/>
              </a:rPr>
              <a:t>analyze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results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to</a:t>
            </a:r>
            <a:r>
              <a:rPr dirty="0" sz="1100" spc="-5">
                <a:latin typeface="Calibri"/>
                <a:cs typeface="Calibri"/>
              </a:rPr>
              <a:t> ensure </a:t>
            </a:r>
            <a:r>
              <a:rPr dirty="0" sz="1100">
                <a:latin typeface="Calibri"/>
                <a:cs typeface="Calibri"/>
              </a:rPr>
              <a:t>that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needs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 </a:t>
            </a:r>
            <a:r>
              <a:rPr dirty="0" sz="1100" spc="-229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desires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are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understood correctly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-5">
                <a:latin typeface="Calibri"/>
                <a:cs typeface="Calibri"/>
              </a:rPr>
              <a:t> completely.</a:t>
            </a:r>
            <a:endParaRPr sz="1100">
              <a:latin typeface="Calibri"/>
              <a:cs typeface="Calibri"/>
            </a:endParaRPr>
          </a:p>
          <a:p>
            <a:pPr marL="469265" marR="5080" indent="-228600">
              <a:lnSpc>
                <a:spcPct val="110100"/>
              </a:lnSpc>
              <a:spcBef>
                <a:spcPts val="790"/>
              </a:spcBef>
              <a:buFont typeface="Microsoft Sans Serif"/>
              <a:buChar char=""/>
              <a:tabLst>
                <a:tab pos="469265" algn="l"/>
                <a:tab pos="469900" algn="l"/>
              </a:tabLst>
            </a:pPr>
            <a:r>
              <a:rPr dirty="0" sz="1100" spc="-5">
                <a:latin typeface="Calibri"/>
                <a:cs typeface="Calibri"/>
              </a:rPr>
              <a:t>The</a:t>
            </a:r>
            <a:r>
              <a:rPr dirty="0" sz="1100">
                <a:latin typeface="Calibri"/>
                <a:cs typeface="Calibri"/>
              </a:rPr>
              <a:t> main </a:t>
            </a:r>
            <a:r>
              <a:rPr dirty="0" sz="1100" spc="-5">
                <a:latin typeface="Calibri"/>
                <a:cs typeface="Calibri"/>
              </a:rPr>
              <a:t>way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to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organize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requirements</a:t>
            </a:r>
            <a:r>
              <a:rPr dirty="0" sz="1100">
                <a:latin typeface="Calibri"/>
                <a:cs typeface="Calibri"/>
              </a:rPr>
              <a:t> elicitation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is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to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work</a:t>
            </a:r>
            <a:r>
              <a:rPr dirty="0" sz="1100" spc="-5">
                <a:latin typeface="Calibri"/>
                <a:cs typeface="Calibri"/>
              </a:rPr>
              <a:t> from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 top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down</a:t>
            </a:r>
            <a:r>
              <a:rPr dirty="0" sz="1100">
                <a:latin typeface="Calibri"/>
                <a:cs typeface="Calibri"/>
              </a:rPr>
              <a:t> through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levels </a:t>
            </a:r>
            <a:r>
              <a:rPr dirty="0" sz="1100">
                <a:latin typeface="Calibri"/>
                <a:cs typeface="Calibri"/>
              </a:rPr>
              <a:t> of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abstraction.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Organization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within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each</a:t>
            </a:r>
            <a:r>
              <a:rPr dirty="0" sz="1100" spc="-5">
                <a:latin typeface="Calibri"/>
                <a:cs typeface="Calibri"/>
              </a:rPr>
              <a:t> level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abstraction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is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achieved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by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focusing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on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particular </a:t>
            </a:r>
            <a:r>
              <a:rPr dirty="0" sz="1100" spc="-23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product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aspects,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which</a:t>
            </a:r>
            <a:r>
              <a:rPr dirty="0" sz="1100" spc="-5">
                <a:latin typeface="Calibri"/>
                <a:cs typeface="Calibri"/>
              </a:rPr>
              <a:t> depend </a:t>
            </a:r>
            <a:r>
              <a:rPr dirty="0" sz="1100">
                <a:latin typeface="Calibri"/>
                <a:cs typeface="Calibri"/>
              </a:rPr>
              <a:t>on</a:t>
            </a:r>
            <a:r>
              <a:rPr dirty="0" sz="1100" spc="-5">
                <a:latin typeface="Calibri"/>
                <a:cs typeface="Calibri"/>
              </a:rPr>
              <a:t> the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product</a:t>
            </a:r>
            <a:r>
              <a:rPr dirty="0" sz="110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itself.</a:t>
            </a:r>
            <a:endParaRPr sz="1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892556"/>
            <a:ext cx="5939155" cy="33997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" b="1">
                <a:latin typeface="Calibri"/>
                <a:cs typeface="Calibri"/>
              </a:rPr>
              <a:t>Elicitation</a:t>
            </a:r>
            <a:r>
              <a:rPr dirty="0" sz="1100" spc="-20" b="1">
                <a:latin typeface="Calibri"/>
                <a:cs typeface="Calibri"/>
              </a:rPr>
              <a:t> </a:t>
            </a:r>
            <a:r>
              <a:rPr dirty="0" sz="1100" spc="-5" b="1">
                <a:latin typeface="Calibri"/>
                <a:cs typeface="Calibri"/>
              </a:rPr>
              <a:t>Heuristics:</a:t>
            </a:r>
            <a:endParaRPr sz="1100">
              <a:latin typeface="Calibri"/>
              <a:cs typeface="Calibri"/>
            </a:endParaRPr>
          </a:p>
          <a:p>
            <a:pPr marL="469265" indent="-228600">
              <a:lnSpc>
                <a:spcPct val="100000"/>
              </a:lnSpc>
              <a:spcBef>
                <a:spcPts val="930"/>
              </a:spcBef>
              <a:buFont typeface="Microsoft Sans Serif"/>
              <a:buChar char=""/>
              <a:tabLst>
                <a:tab pos="469265" algn="l"/>
                <a:tab pos="469900" algn="l"/>
              </a:tabLst>
            </a:pPr>
            <a:r>
              <a:rPr dirty="0" sz="1100" spc="-5" b="1">
                <a:latin typeface="Calibri"/>
                <a:cs typeface="Calibri"/>
              </a:rPr>
              <a:t>Learn about</a:t>
            </a:r>
            <a:r>
              <a:rPr dirty="0" sz="1100" b="1">
                <a:latin typeface="Calibri"/>
                <a:cs typeface="Calibri"/>
              </a:rPr>
              <a:t> the</a:t>
            </a:r>
            <a:r>
              <a:rPr dirty="0" sz="1100" spc="-5" b="1">
                <a:latin typeface="Calibri"/>
                <a:cs typeface="Calibri"/>
              </a:rPr>
              <a:t> problem</a:t>
            </a:r>
            <a:r>
              <a:rPr dirty="0" sz="1100" b="1">
                <a:latin typeface="Calibri"/>
                <a:cs typeface="Calibri"/>
              </a:rPr>
              <a:t> </a:t>
            </a:r>
            <a:r>
              <a:rPr dirty="0" sz="1100" spc="-10" b="1">
                <a:latin typeface="Calibri"/>
                <a:cs typeface="Calibri"/>
              </a:rPr>
              <a:t>domain</a:t>
            </a:r>
            <a:r>
              <a:rPr dirty="0" sz="1100" spc="-5" b="1">
                <a:latin typeface="Calibri"/>
                <a:cs typeface="Calibri"/>
              </a:rPr>
              <a:t> first.</a:t>
            </a:r>
            <a:endParaRPr sz="1100">
              <a:latin typeface="Calibri"/>
              <a:cs typeface="Calibri"/>
            </a:endParaRPr>
          </a:p>
          <a:p>
            <a:pPr marL="12700" marR="571500">
              <a:lnSpc>
                <a:spcPct val="110000"/>
              </a:lnSpc>
              <a:spcBef>
                <a:spcPts val="805"/>
              </a:spcBef>
            </a:pPr>
            <a:r>
              <a:rPr dirty="0" sz="1100">
                <a:latin typeface="Calibri"/>
                <a:cs typeface="Calibri"/>
              </a:rPr>
              <a:t>If designers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don’t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understand</a:t>
            </a:r>
            <a:r>
              <a:rPr dirty="0" sz="1100">
                <a:latin typeface="Calibri"/>
                <a:cs typeface="Calibri"/>
              </a:rPr>
              <a:t> the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problem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domain,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they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need</a:t>
            </a:r>
            <a:r>
              <a:rPr dirty="0" sz="110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to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elicit,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document,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analyze </a:t>
            </a:r>
            <a:r>
              <a:rPr dirty="0" sz="1100" spc="-229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information</a:t>
            </a:r>
            <a:r>
              <a:rPr dirty="0" sz="110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about</a:t>
            </a:r>
            <a:r>
              <a:rPr dirty="0" sz="110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it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 i="1">
                <a:latin typeface="Calibri"/>
                <a:cs typeface="Calibri"/>
              </a:rPr>
              <a:t>before</a:t>
            </a:r>
            <a:r>
              <a:rPr dirty="0" sz="1100" spc="-10" i="1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eliciting</a:t>
            </a:r>
            <a:r>
              <a:rPr dirty="0" sz="1100" spc="-5">
                <a:latin typeface="Calibri"/>
                <a:cs typeface="Calibri"/>
              </a:rPr>
              <a:t> needs.</a:t>
            </a:r>
            <a:endParaRPr sz="1100">
              <a:latin typeface="Calibri"/>
              <a:cs typeface="Calibri"/>
            </a:endParaRPr>
          </a:p>
          <a:p>
            <a:pPr marL="469265" indent="-228600">
              <a:lnSpc>
                <a:spcPct val="100000"/>
              </a:lnSpc>
              <a:spcBef>
                <a:spcPts val="919"/>
              </a:spcBef>
              <a:buFont typeface="Microsoft Sans Serif"/>
              <a:buChar char=""/>
              <a:tabLst>
                <a:tab pos="469265" algn="l"/>
                <a:tab pos="469900" algn="l"/>
              </a:tabLst>
            </a:pPr>
            <a:r>
              <a:rPr dirty="0" sz="1100" spc="-5" b="1">
                <a:latin typeface="Calibri"/>
                <a:cs typeface="Calibri"/>
              </a:rPr>
              <a:t>Determine</a:t>
            </a:r>
            <a:r>
              <a:rPr dirty="0" sz="1100" spc="-10" b="1">
                <a:latin typeface="Calibri"/>
                <a:cs typeface="Calibri"/>
              </a:rPr>
              <a:t> </a:t>
            </a:r>
            <a:r>
              <a:rPr dirty="0" sz="1100" spc="-5" b="1">
                <a:latin typeface="Calibri"/>
                <a:cs typeface="Calibri"/>
              </a:rPr>
              <a:t>stakeholder</a:t>
            </a:r>
            <a:r>
              <a:rPr dirty="0" sz="1100" b="1">
                <a:latin typeface="Calibri"/>
                <a:cs typeface="Calibri"/>
              </a:rPr>
              <a:t> </a:t>
            </a:r>
            <a:r>
              <a:rPr dirty="0" sz="1100" spc="-5" b="1">
                <a:latin typeface="Calibri"/>
                <a:cs typeface="Calibri"/>
              </a:rPr>
              <a:t>goals</a:t>
            </a:r>
            <a:r>
              <a:rPr dirty="0" sz="1100" spc="5" b="1">
                <a:latin typeface="Calibri"/>
                <a:cs typeface="Calibri"/>
              </a:rPr>
              <a:t> </a:t>
            </a:r>
            <a:r>
              <a:rPr dirty="0" sz="1100" b="1">
                <a:latin typeface="Calibri"/>
                <a:cs typeface="Calibri"/>
              </a:rPr>
              <a:t>as the</a:t>
            </a:r>
            <a:r>
              <a:rPr dirty="0" sz="1100" spc="5" b="1">
                <a:latin typeface="Calibri"/>
                <a:cs typeface="Calibri"/>
              </a:rPr>
              <a:t> </a:t>
            </a:r>
            <a:r>
              <a:rPr dirty="0" sz="1100" spc="-5" b="1">
                <a:latin typeface="Calibri"/>
                <a:cs typeface="Calibri"/>
              </a:rPr>
              <a:t>context</a:t>
            </a:r>
            <a:r>
              <a:rPr dirty="0" sz="1100" spc="5" b="1">
                <a:latin typeface="Calibri"/>
                <a:cs typeface="Calibri"/>
              </a:rPr>
              <a:t> </a:t>
            </a:r>
            <a:r>
              <a:rPr dirty="0" sz="1100" spc="-5" b="1">
                <a:latin typeface="Calibri"/>
                <a:cs typeface="Calibri"/>
              </a:rPr>
              <a:t>of</a:t>
            </a:r>
            <a:r>
              <a:rPr dirty="0" sz="1100" b="1">
                <a:latin typeface="Calibri"/>
                <a:cs typeface="Calibri"/>
              </a:rPr>
              <a:t> </a:t>
            </a:r>
            <a:r>
              <a:rPr dirty="0" sz="1100" spc="-5" b="1">
                <a:latin typeface="Calibri"/>
                <a:cs typeface="Calibri"/>
              </a:rPr>
              <a:t>stakeholder</a:t>
            </a:r>
            <a:r>
              <a:rPr dirty="0" sz="1100" spc="10" b="1">
                <a:latin typeface="Calibri"/>
                <a:cs typeface="Calibri"/>
              </a:rPr>
              <a:t> </a:t>
            </a:r>
            <a:r>
              <a:rPr dirty="0" sz="1100" spc="-5" b="1">
                <a:latin typeface="Calibri"/>
                <a:cs typeface="Calibri"/>
              </a:rPr>
              <a:t>needs</a:t>
            </a:r>
            <a:r>
              <a:rPr dirty="0" sz="1100" spc="5" b="1">
                <a:latin typeface="Calibri"/>
                <a:cs typeface="Calibri"/>
              </a:rPr>
              <a:t> </a:t>
            </a:r>
            <a:r>
              <a:rPr dirty="0" sz="1100" spc="-5" b="1">
                <a:latin typeface="Calibri"/>
                <a:cs typeface="Calibri"/>
              </a:rPr>
              <a:t>and</a:t>
            </a:r>
            <a:r>
              <a:rPr dirty="0" sz="1100" spc="5" b="1">
                <a:latin typeface="Calibri"/>
                <a:cs typeface="Calibri"/>
              </a:rPr>
              <a:t> </a:t>
            </a:r>
            <a:r>
              <a:rPr dirty="0" sz="1100" b="1">
                <a:latin typeface="Calibri"/>
                <a:cs typeface="Calibri"/>
              </a:rPr>
              <a:t>desires</a:t>
            </a:r>
            <a:endParaRPr sz="1100">
              <a:latin typeface="Calibri"/>
              <a:cs typeface="Calibri"/>
            </a:endParaRPr>
          </a:p>
          <a:p>
            <a:pPr algn="just" marL="12700" marR="5080">
              <a:lnSpc>
                <a:spcPct val="110000"/>
              </a:lnSpc>
              <a:spcBef>
                <a:spcPts val="795"/>
              </a:spcBef>
            </a:pPr>
            <a:r>
              <a:rPr dirty="0" sz="1100">
                <a:latin typeface="Calibri"/>
                <a:cs typeface="Calibri"/>
              </a:rPr>
              <a:t>What a </a:t>
            </a:r>
            <a:r>
              <a:rPr dirty="0" sz="1100" spc="-5">
                <a:latin typeface="Calibri"/>
                <a:cs typeface="Calibri"/>
              </a:rPr>
              <a:t>stakeholder needs </a:t>
            </a:r>
            <a:r>
              <a:rPr dirty="0" sz="1100">
                <a:latin typeface="Calibri"/>
                <a:cs typeface="Calibri"/>
              </a:rPr>
              <a:t>and wants is a </a:t>
            </a:r>
            <a:r>
              <a:rPr dirty="0" sz="1100" spc="-5">
                <a:latin typeface="Calibri"/>
                <a:cs typeface="Calibri"/>
              </a:rPr>
              <a:t>consequence </a:t>
            </a:r>
            <a:r>
              <a:rPr dirty="0" sz="1100">
                <a:latin typeface="Calibri"/>
                <a:cs typeface="Calibri"/>
              </a:rPr>
              <a:t>of </a:t>
            </a:r>
            <a:r>
              <a:rPr dirty="0" sz="1100" spc="-5">
                <a:latin typeface="Calibri"/>
                <a:cs typeface="Calibri"/>
              </a:rPr>
              <a:t>his or her goals. For example, </a:t>
            </a:r>
            <a:r>
              <a:rPr dirty="0" sz="1100">
                <a:latin typeface="Calibri"/>
                <a:cs typeface="Calibri"/>
              </a:rPr>
              <a:t>a </a:t>
            </a:r>
            <a:r>
              <a:rPr dirty="0" sz="1100" spc="-5">
                <a:latin typeface="Calibri"/>
                <a:cs typeface="Calibri"/>
              </a:rPr>
              <a:t>user may need </a:t>
            </a:r>
            <a:r>
              <a:rPr dirty="0" sz="1100">
                <a:latin typeface="Calibri"/>
                <a:cs typeface="Calibri"/>
              </a:rPr>
              <a:t> a </a:t>
            </a:r>
            <a:r>
              <a:rPr dirty="0" sz="1100" spc="-5">
                <a:latin typeface="Calibri"/>
                <a:cs typeface="Calibri"/>
              </a:rPr>
              <a:t>product </a:t>
            </a:r>
            <a:r>
              <a:rPr dirty="0" sz="1100">
                <a:latin typeface="Calibri"/>
                <a:cs typeface="Calibri"/>
              </a:rPr>
              <a:t>to record </a:t>
            </a:r>
            <a:r>
              <a:rPr dirty="0" sz="1100" spc="-5">
                <a:latin typeface="Calibri"/>
                <a:cs typeface="Calibri"/>
              </a:rPr>
              <a:t>sample data. </a:t>
            </a:r>
            <a:r>
              <a:rPr dirty="0" sz="1100">
                <a:latin typeface="Calibri"/>
                <a:cs typeface="Calibri"/>
              </a:rPr>
              <a:t>Why would the </a:t>
            </a:r>
            <a:r>
              <a:rPr dirty="0" sz="1100" spc="-5">
                <a:latin typeface="Calibri"/>
                <a:cs typeface="Calibri"/>
              </a:rPr>
              <a:t>user </a:t>
            </a:r>
            <a:r>
              <a:rPr dirty="0" sz="1100">
                <a:latin typeface="Calibri"/>
                <a:cs typeface="Calibri"/>
              </a:rPr>
              <a:t>need this? </a:t>
            </a:r>
            <a:r>
              <a:rPr dirty="0" sz="1100" spc="-5">
                <a:latin typeface="Calibri"/>
                <a:cs typeface="Calibri"/>
              </a:rPr>
              <a:t>Because </a:t>
            </a:r>
            <a:r>
              <a:rPr dirty="0" sz="1100">
                <a:latin typeface="Calibri"/>
                <a:cs typeface="Calibri"/>
              </a:rPr>
              <a:t>the </a:t>
            </a:r>
            <a:r>
              <a:rPr dirty="0" sz="1100" spc="-5">
                <a:latin typeface="Calibri"/>
                <a:cs typeface="Calibri"/>
              </a:rPr>
              <a:t>user’s </a:t>
            </a:r>
            <a:r>
              <a:rPr dirty="0" sz="1100">
                <a:latin typeface="Calibri"/>
                <a:cs typeface="Calibri"/>
              </a:rPr>
              <a:t>goal </a:t>
            </a:r>
            <a:r>
              <a:rPr dirty="0" sz="1100" spc="-10">
                <a:latin typeface="Calibri"/>
                <a:cs typeface="Calibri"/>
              </a:rPr>
              <a:t>is </a:t>
            </a:r>
            <a:r>
              <a:rPr dirty="0" sz="1100" spc="-5">
                <a:latin typeface="Calibri"/>
                <a:cs typeface="Calibri"/>
              </a:rPr>
              <a:t>to </a:t>
            </a:r>
            <a:r>
              <a:rPr dirty="0" sz="1100">
                <a:latin typeface="Calibri"/>
                <a:cs typeface="Calibri"/>
              </a:rPr>
              <a:t>monitor a 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manufacturing process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by</a:t>
            </a:r>
            <a:r>
              <a:rPr dirty="0" sz="110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sampling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analyzing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its</a:t>
            </a:r>
            <a:r>
              <a:rPr dirty="0" sz="1100" spc="-5">
                <a:latin typeface="Calibri"/>
                <a:cs typeface="Calibri"/>
              </a:rPr>
              <a:t> output</a:t>
            </a:r>
            <a:endParaRPr sz="1100">
              <a:latin typeface="Calibri"/>
              <a:cs typeface="Calibri"/>
            </a:endParaRPr>
          </a:p>
          <a:p>
            <a:pPr marL="469265" indent="-228600">
              <a:lnSpc>
                <a:spcPct val="100000"/>
              </a:lnSpc>
              <a:spcBef>
                <a:spcPts val="919"/>
              </a:spcBef>
              <a:buFont typeface="Microsoft Sans Serif"/>
              <a:buChar char=""/>
              <a:tabLst>
                <a:tab pos="469265" algn="l"/>
                <a:tab pos="469900" algn="l"/>
              </a:tabLst>
            </a:pPr>
            <a:r>
              <a:rPr dirty="0" sz="1100" spc="-5" b="1">
                <a:latin typeface="Calibri"/>
                <a:cs typeface="Calibri"/>
              </a:rPr>
              <a:t>Study</a:t>
            </a:r>
            <a:r>
              <a:rPr dirty="0" sz="1100" spc="-20" b="1">
                <a:latin typeface="Calibri"/>
                <a:cs typeface="Calibri"/>
              </a:rPr>
              <a:t> </a:t>
            </a:r>
            <a:r>
              <a:rPr dirty="0" sz="1100" b="1">
                <a:latin typeface="Calibri"/>
                <a:cs typeface="Calibri"/>
              </a:rPr>
              <a:t>user</a:t>
            </a:r>
            <a:r>
              <a:rPr dirty="0" sz="1100" spc="-10" b="1">
                <a:latin typeface="Calibri"/>
                <a:cs typeface="Calibri"/>
              </a:rPr>
              <a:t> </a:t>
            </a:r>
            <a:r>
              <a:rPr dirty="0" sz="1100" spc="-5" b="1">
                <a:latin typeface="Calibri"/>
                <a:cs typeface="Calibri"/>
              </a:rPr>
              <a:t>tasks</a:t>
            </a:r>
            <a:r>
              <a:rPr dirty="0" sz="1100" spc="-5">
                <a:latin typeface="Calibri"/>
                <a:cs typeface="Calibri"/>
              </a:rPr>
              <a:t>.</a:t>
            </a:r>
            <a:endParaRPr sz="1100">
              <a:latin typeface="Calibri"/>
              <a:cs typeface="Calibri"/>
            </a:endParaRPr>
          </a:p>
          <a:p>
            <a:pPr marL="12700" marR="99695">
              <a:lnSpc>
                <a:spcPct val="109500"/>
              </a:lnSpc>
              <a:spcBef>
                <a:spcPts val="815"/>
              </a:spcBef>
            </a:pPr>
            <a:r>
              <a:rPr dirty="0" sz="1100">
                <a:latin typeface="Calibri"/>
                <a:cs typeface="Calibri"/>
              </a:rPr>
              <a:t>For </a:t>
            </a:r>
            <a:r>
              <a:rPr dirty="0" sz="1100" spc="-5">
                <a:latin typeface="Calibri"/>
                <a:cs typeface="Calibri"/>
              </a:rPr>
              <a:t>example,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suppose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users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currently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collect</a:t>
            </a:r>
            <a:r>
              <a:rPr dirty="0" sz="1100">
                <a:latin typeface="Calibri"/>
                <a:cs typeface="Calibri"/>
              </a:rPr>
              <a:t> and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measure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samples</a:t>
            </a:r>
            <a:r>
              <a:rPr dirty="0" sz="110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by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hand,</a:t>
            </a:r>
            <a:r>
              <a:rPr dirty="0" sz="110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record</a:t>
            </a:r>
            <a:r>
              <a:rPr dirty="0" sz="1100">
                <a:latin typeface="Calibri"/>
                <a:cs typeface="Calibri"/>
              </a:rPr>
              <a:t> the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data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log </a:t>
            </a:r>
            <a:r>
              <a:rPr dirty="0" sz="1100">
                <a:latin typeface="Calibri"/>
                <a:cs typeface="Calibri"/>
              </a:rPr>
              <a:t> book,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use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calculator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to</a:t>
            </a:r>
            <a:r>
              <a:rPr dirty="0" sz="1100" spc="-5">
                <a:latin typeface="Calibri"/>
                <a:cs typeface="Calibri"/>
              </a:rPr>
              <a:t> compute</a:t>
            </a:r>
            <a:r>
              <a:rPr dirty="0" sz="110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statistics, </a:t>
            </a:r>
            <a:r>
              <a:rPr dirty="0" sz="1100">
                <a:latin typeface="Calibri"/>
                <a:cs typeface="Calibri"/>
              </a:rPr>
              <a:t>enter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results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on a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paper graph,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and</a:t>
            </a:r>
            <a:r>
              <a:rPr dirty="0" sz="110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study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 </a:t>
            </a:r>
            <a:r>
              <a:rPr dirty="0" sz="1100" spc="-5">
                <a:latin typeface="Calibri"/>
                <a:cs typeface="Calibri"/>
              </a:rPr>
              <a:t>graph</a:t>
            </a:r>
            <a:r>
              <a:rPr dirty="0" sz="1100">
                <a:latin typeface="Calibri"/>
                <a:cs typeface="Calibri"/>
              </a:rPr>
              <a:t> to </a:t>
            </a:r>
            <a:r>
              <a:rPr dirty="0" sz="1100" spc="-23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see </a:t>
            </a:r>
            <a:r>
              <a:rPr dirty="0" sz="1100">
                <a:latin typeface="Calibri"/>
                <a:cs typeface="Calibri"/>
              </a:rPr>
              <a:t>if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 </a:t>
            </a:r>
            <a:r>
              <a:rPr dirty="0" sz="1100" spc="-5">
                <a:latin typeface="Calibri"/>
                <a:cs typeface="Calibri"/>
              </a:rPr>
              <a:t>process</a:t>
            </a:r>
            <a:r>
              <a:rPr dirty="0" sz="1100">
                <a:latin typeface="Calibri"/>
                <a:cs typeface="Calibri"/>
              </a:rPr>
              <a:t> is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running </a:t>
            </a:r>
            <a:r>
              <a:rPr dirty="0" sz="1100">
                <a:latin typeface="Calibri"/>
                <a:cs typeface="Calibri"/>
              </a:rPr>
              <a:t>properly.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500">
              <a:latin typeface="Calibri"/>
              <a:cs typeface="Calibri"/>
            </a:endParaRPr>
          </a:p>
          <a:p>
            <a:pPr algn="just" marL="12700">
              <a:lnSpc>
                <a:spcPct val="100000"/>
              </a:lnSpc>
            </a:pPr>
            <a:r>
              <a:rPr dirty="0" sz="1100" spc="-5" b="1">
                <a:latin typeface="Calibri"/>
                <a:cs typeface="Calibri"/>
              </a:rPr>
              <a:t>Elicitation</a:t>
            </a:r>
            <a:r>
              <a:rPr dirty="0" sz="1100" spc="-15" b="1">
                <a:latin typeface="Calibri"/>
                <a:cs typeface="Calibri"/>
              </a:rPr>
              <a:t> </a:t>
            </a:r>
            <a:r>
              <a:rPr dirty="0" sz="1100" spc="-5" b="1">
                <a:latin typeface="Calibri"/>
                <a:cs typeface="Calibri"/>
              </a:rPr>
              <a:t>Techniques:</a:t>
            </a:r>
            <a:endParaRPr sz="11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" y="4690871"/>
            <a:ext cx="5943600" cy="363474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892556"/>
            <a:ext cx="5870575" cy="55638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" b="1">
                <a:latin typeface="Calibri"/>
                <a:cs typeface="Calibri"/>
              </a:rPr>
              <a:t>Elicitation</a:t>
            </a:r>
            <a:r>
              <a:rPr dirty="0" sz="1100" spc="-15" b="1">
                <a:latin typeface="Calibri"/>
                <a:cs typeface="Calibri"/>
              </a:rPr>
              <a:t> </a:t>
            </a:r>
            <a:r>
              <a:rPr dirty="0" sz="1100" spc="-5" b="1">
                <a:latin typeface="Calibri"/>
                <a:cs typeface="Calibri"/>
              </a:rPr>
              <a:t>Techniques:</a:t>
            </a:r>
            <a:endParaRPr sz="1100">
              <a:latin typeface="Calibri"/>
              <a:cs typeface="Calibri"/>
            </a:endParaRPr>
          </a:p>
          <a:p>
            <a:pPr marL="469265" marR="32384" indent="-228600">
              <a:lnSpc>
                <a:spcPct val="110000"/>
              </a:lnSpc>
              <a:spcBef>
                <a:spcPts val="795"/>
              </a:spcBef>
              <a:buFont typeface="Microsoft Sans Serif"/>
              <a:buChar char=""/>
              <a:tabLst>
                <a:tab pos="469265" algn="l"/>
                <a:tab pos="469900" algn="l"/>
              </a:tabLst>
            </a:pPr>
            <a:r>
              <a:rPr dirty="0" sz="1100" spc="-5" b="1">
                <a:latin typeface="Calibri"/>
                <a:cs typeface="Calibri"/>
              </a:rPr>
              <a:t>Interviews:</a:t>
            </a:r>
            <a:r>
              <a:rPr dirty="0" sz="1100" b="1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Question</a:t>
            </a:r>
            <a:r>
              <a:rPr dirty="0" sz="1100">
                <a:latin typeface="Calibri"/>
                <a:cs typeface="Calibri"/>
              </a:rPr>
              <a:t> and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answer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session</a:t>
            </a:r>
            <a:r>
              <a:rPr dirty="0" sz="110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during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which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one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or more</a:t>
            </a:r>
            <a:r>
              <a:rPr dirty="0" sz="1100" spc="-5">
                <a:latin typeface="Calibri"/>
                <a:cs typeface="Calibri"/>
              </a:rPr>
              <a:t> designers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ask</a:t>
            </a:r>
            <a:r>
              <a:rPr dirty="0" sz="1100">
                <a:latin typeface="Calibri"/>
                <a:cs typeface="Calibri"/>
              </a:rPr>
              <a:t> questions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 </a:t>
            </a:r>
            <a:r>
              <a:rPr dirty="0" sz="1100" spc="-2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one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or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more </a:t>
            </a:r>
            <a:r>
              <a:rPr dirty="0" sz="1100" spc="-5">
                <a:latin typeface="Calibri"/>
                <a:cs typeface="Calibri"/>
              </a:rPr>
              <a:t>stakeholders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or </a:t>
            </a:r>
            <a:r>
              <a:rPr dirty="0" sz="1100" spc="-5">
                <a:latin typeface="Calibri"/>
                <a:cs typeface="Calibri"/>
              </a:rPr>
              <a:t>problem-domain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experts</a:t>
            </a:r>
            <a:endParaRPr sz="1100">
              <a:latin typeface="Calibri"/>
              <a:cs typeface="Calibri"/>
            </a:endParaRPr>
          </a:p>
          <a:p>
            <a:pPr lvl="1" marL="794385" indent="-325755">
              <a:lnSpc>
                <a:spcPct val="100000"/>
              </a:lnSpc>
              <a:spcBef>
                <a:spcPts val="940"/>
              </a:spcBef>
              <a:buFont typeface="Arial MT"/>
              <a:buChar char="•"/>
              <a:tabLst>
                <a:tab pos="794385" algn="l"/>
                <a:tab pos="795020" algn="l"/>
              </a:tabLst>
            </a:pPr>
            <a:r>
              <a:rPr dirty="0" sz="1100" spc="-5">
                <a:latin typeface="Calibri"/>
                <a:cs typeface="Calibri"/>
              </a:rPr>
              <a:t>Most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important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technique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for recording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responses</a:t>
            </a:r>
            <a:endParaRPr sz="1100">
              <a:latin typeface="Calibri"/>
              <a:cs typeface="Calibri"/>
            </a:endParaRPr>
          </a:p>
          <a:p>
            <a:pPr marL="469265" marR="67310" indent="-228600">
              <a:lnSpc>
                <a:spcPct val="110000"/>
              </a:lnSpc>
              <a:spcBef>
                <a:spcPts val="790"/>
              </a:spcBef>
              <a:buFont typeface="Microsoft Sans Serif"/>
              <a:buChar char=""/>
              <a:tabLst>
                <a:tab pos="469265" algn="l"/>
                <a:tab pos="469900" algn="l"/>
              </a:tabLst>
            </a:pPr>
            <a:r>
              <a:rPr dirty="0" sz="1100" spc="-5" b="1">
                <a:latin typeface="Calibri"/>
                <a:cs typeface="Calibri"/>
              </a:rPr>
              <a:t>Observation:</a:t>
            </a:r>
            <a:r>
              <a:rPr dirty="0" sz="1100" spc="5" b="1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Many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products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automate </a:t>
            </a:r>
            <a:r>
              <a:rPr dirty="0" sz="1100">
                <a:latin typeface="Calibri"/>
                <a:cs typeface="Calibri"/>
              </a:rPr>
              <a:t>or</a:t>
            </a:r>
            <a:r>
              <a:rPr dirty="0" sz="1100" spc="-5">
                <a:latin typeface="Calibri"/>
                <a:cs typeface="Calibri"/>
              </a:rPr>
              <a:t> support</a:t>
            </a:r>
            <a:r>
              <a:rPr dirty="0" sz="1100">
                <a:latin typeface="Calibri"/>
                <a:cs typeface="Calibri"/>
              </a:rPr>
              <a:t> work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done</a:t>
            </a:r>
            <a:r>
              <a:rPr dirty="0" sz="1100" spc="-5">
                <a:latin typeface="Calibri"/>
                <a:cs typeface="Calibri"/>
              </a:rPr>
              <a:t> by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people,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so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designers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need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to </a:t>
            </a:r>
            <a:r>
              <a:rPr dirty="0" sz="1100" spc="-23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understand </a:t>
            </a:r>
            <a:r>
              <a:rPr dirty="0" sz="1100">
                <a:latin typeface="Calibri"/>
                <a:cs typeface="Calibri"/>
              </a:rPr>
              <a:t>how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people</a:t>
            </a:r>
            <a:r>
              <a:rPr dirty="0" sz="110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do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their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work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to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design such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products</a:t>
            </a:r>
            <a:endParaRPr sz="1100">
              <a:latin typeface="Calibri"/>
              <a:cs typeface="Calibri"/>
            </a:endParaRPr>
          </a:p>
          <a:p>
            <a:pPr lvl="1" marL="697865" marR="14604" indent="-228600">
              <a:lnSpc>
                <a:spcPct val="110000"/>
              </a:lnSpc>
              <a:spcBef>
                <a:spcPts val="790"/>
              </a:spcBef>
              <a:buFont typeface="Arial MT"/>
              <a:buChar char="•"/>
              <a:tabLst>
                <a:tab pos="730250" algn="l"/>
                <a:tab pos="730885" algn="l"/>
              </a:tabLst>
            </a:pPr>
            <a:r>
              <a:rPr dirty="0"/>
              <a:t>	</a:t>
            </a:r>
            <a:r>
              <a:rPr dirty="0" sz="1100" spc="-5">
                <a:latin typeface="Calibri"/>
                <a:cs typeface="Calibri"/>
              </a:rPr>
              <a:t>Especially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useful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for</a:t>
            </a:r>
            <a:r>
              <a:rPr dirty="0" sz="110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eliciting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derivative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product</a:t>
            </a:r>
            <a:r>
              <a:rPr dirty="0" sz="1100" spc="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-5">
                <a:latin typeface="Calibri"/>
                <a:cs typeface="Calibri"/>
              </a:rPr>
              <a:t> maintenance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release</a:t>
            </a:r>
            <a:r>
              <a:rPr dirty="0" sz="110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needs</a:t>
            </a:r>
            <a:r>
              <a:rPr dirty="0" sz="110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because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it </a:t>
            </a:r>
            <a:r>
              <a:rPr dirty="0" sz="1100" spc="-2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can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reveal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many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opportunities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for</a:t>
            </a:r>
            <a:r>
              <a:rPr dirty="0" sz="110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product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improvement</a:t>
            </a:r>
            <a:endParaRPr sz="1100">
              <a:latin typeface="Calibri"/>
              <a:cs typeface="Calibri"/>
            </a:endParaRPr>
          </a:p>
          <a:p>
            <a:pPr marL="469265" marR="5080" indent="-228600">
              <a:lnSpc>
                <a:spcPct val="110100"/>
              </a:lnSpc>
              <a:spcBef>
                <a:spcPts val="790"/>
              </a:spcBef>
              <a:buFont typeface="Microsoft Sans Serif"/>
              <a:buChar char=""/>
              <a:tabLst>
                <a:tab pos="469265" algn="l"/>
                <a:tab pos="469900" algn="l"/>
              </a:tabLst>
            </a:pPr>
            <a:r>
              <a:rPr dirty="0" sz="1100" spc="-5" b="1">
                <a:latin typeface="Calibri"/>
                <a:cs typeface="Calibri"/>
              </a:rPr>
              <a:t>Focus</a:t>
            </a:r>
            <a:r>
              <a:rPr dirty="0" sz="1100" spc="5" b="1">
                <a:latin typeface="Calibri"/>
                <a:cs typeface="Calibri"/>
              </a:rPr>
              <a:t> </a:t>
            </a:r>
            <a:r>
              <a:rPr dirty="0" sz="1100" spc="-5" b="1">
                <a:latin typeface="Calibri"/>
                <a:cs typeface="Calibri"/>
              </a:rPr>
              <a:t>Groups:</a:t>
            </a:r>
            <a:r>
              <a:rPr dirty="0" sz="1100" spc="10" b="1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Is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informal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discussion</a:t>
            </a:r>
            <a:r>
              <a:rPr dirty="0" sz="110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among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six</a:t>
            </a:r>
            <a:r>
              <a:rPr dirty="0" sz="1100">
                <a:latin typeface="Calibri"/>
                <a:cs typeface="Calibri"/>
              </a:rPr>
              <a:t> to</a:t>
            </a:r>
            <a:r>
              <a:rPr dirty="0" sz="1100" spc="-5">
                <a:latin typeface="Calibri"/>
                <a:cs typeface="Calibri"/>
              </a:rPr>
              <a:t> nine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people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led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by</a:t>
            </a:r>
            <a:r>
              <a:rPr dirty="0" sz="1100">
                <a:latin typeface="Calibri"/>
                <a:cs typeface="Calibri"/>
              </a:rPr>
              <a:t> a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facilitator</a:t>
            </a:r>
            <a:r>
              <a:rPr dirty="0" sz="1100">
                <a:latin typeface="Calibri"/>
                <a:cs typeface="Calibri"/>
              </a:rPr>
              <a:t> who </a:t>
            </a:r>
            <a:r>
              <a:rPr dirty="0" sz="1100" spc="-5">
                <a:latin typeface="Calibri"/>
                <a:cs typeface="Calibri"/>
              </a:rPr>
              <a:t>keeps </a:t>
            </a:r>
            <a:r>
              <a:rPr dirty="0" sz="1100" spc="-229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group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on </a:t>
            </a:r>
            <a:r>
              <a:rPr dirty="0" sz="1100" spc="-5">
                <a:latin typeface="Calibri"/>
                <a:cs typeface="Calibri"/>
              </a:rPr>
              <a:t>topic.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Focus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groups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consist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stakeholders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or stakeholder</a:t>
            </a:r>
            <a:r>
              <a:rPr dirty="0" sz="1100" spc="-5">
                <a:latin typeface="Calibri"/>
                <a:cs typeface="Calibri"/>
              </a:rPr>
              <a:t> representatives</a:t>
            </a:r>
            <a:r>
              <a:rPr dirty="0" sz="110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who </a:t>
            </a:r>
            <a:r>
              <a:rPr dirty="0" sz="110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discuss</a:t>
            </a:r>
            <a:r>
              <a:rPr dirty="0" sz="110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some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aspect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 </a:t>
            </a:r>
            <a:r>
              <a:rPr dirty="0" sz="1100" spc="-5">
                <a:latin typeface="Calibri"/>
                <a:cs typeface="Calibri"/>
              </a:rPr>
              <a:t>the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product.</a:t>
            </a:r>
            <a:endParaRPr sz="1100">
              <a:latin typeface="Calibri"/>
              <a:cs typeface="Calibri"/>
            </a:endParaRPr>
          </a:p>
          <a:p>
            <a:pPr lvl="1" marL="697865" marR="180975" indent="-228600">
              <a:lnSpc>
                <a:spcPct val="110000"/>
              </a:lnSpc>
              <a:spcBef>
                <a:spcPts val="795"/>
              </a:spcBef>
              <a:buFont typeface="Arial MT"/>
              <a:buChar char="•"/>
              <a:tabLst>
                <a:tab pos="697865" algn="l"/>
                <a:tab pos="698500" algn="l"/>
              </a:tabLst>
            </a:pPr>
            <a:r>
              <a:rPr dirty="0" sz="1100">
                <a:latin typeface="Calibri"/>
                <a:cs typeface="Calibri"/>
              </a:rPr>
              <a:t>Main </a:t>
            </a:r>
            <a:r>
              <a:rPr dirty="0" sz="1100" spc="-5">
                <a:latin typeface="Calibri"/>
                <a:cs typeface="Calibri"/>
              </a:rPr>
              <a:t>technique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-5">
                <a:latin typeface="Calibri"/>
                <a:cs typeface="Calibri"/>
              </a:rPr>
              <a:t> obtaining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needs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for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consumer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products,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especially</a:t>
            </a:r>
            <a:r>
              <a:rPr dirty="0" sz="110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new</a:t>
            </a:r>
            <a:r>
              <a:rPr dirty="0" sz="110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products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 </a:t>
            </a:r>
            <a:r>
              <a:rPr dirty="0" sz="1100" spc="-2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those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with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visionary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or </a:t>
            </a:r>
            <a:r>
              <a:rPr dirty="0" sz="1100" spc="-5">
                <a:latin typeface="Calibri"/>
                <a:cs typeface="Calibri"/>
              </a:rPr>
              <a:t>leading-edge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technologies.</a:t>
            </a:r>
            <a:endParaRPr sz="1100">
              <a:latin typeface="Calibri"/>
              <a:cs typeface="Calibri"/>
            </a:endParaRPr>
          </a:p>
          <a:p>
            <a:pPr algn="just" marL="469265" marR="24765" indent="-228600">
              <a:lnSpc>
                <a:spcPct val="110000"/>
              </a:lnSpc>
              <a:spcBef>
                <a:spcPts val="790"/>
              </a:spcBef>
              <a:buFont typeface="Microsoft Sans Serif"/>
              <a:buChar char=""/>
              <a:tabLst>
                <a:tab pos="469900" algn="l"/>
              </a:tabLst>
            </a:pPr>
            <a:r>
              <a:rPr dirty="0" sz="1100" spc="-5" b="1">
                <a:latin typeface="Calibri"/>
                <a:cs typeface="Calibri"/>
              </a:rPr>
              <a:t>Prototype:</a:t>
            </a:r>
            <a:r>
              <a:rPr dirty="0" sz="1100" b="1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 </a:t>
            </a:r>
            <a:r>
              <a:rPr dirty="0" sz="1100" spc="-5">
                <a:latin typeface="Calibri"/>
                <a:cs typeface="Calibri"/>
              </a:rPr>
              <a:t>working model </a:t>
            </a:r>
            <a:r>
              <a:rPr dirty="0" sz="1100">
                <a:latin typeface="Calibri"/>
                <a:cs typeface="Calibri"/>
              </a:rPr>
              <a:t>of </a:t>
            </a:r>
            <a:r>
              <a:rPr dirty="0" sz="1100" spc="-5">
                <a:latin typeface="Calibri"/>
                <a:cs typeface="Calibri"/>
              </a:rPr>
              <a:t>part </a:t>
            </a:r>
            <a:r>
              <a:rPr dirty="0" sz="1100">
                <a:latin typeface="Calibri"/>
                <a:cs typeface="Calibri"/>
              </a:rPr>
              <a:t>or all of a </a:t>
            </a:r>
            <a:r>
              <a:rPr dirty="0" sz="1100" spc="-5">
                <a:latin typeface="Calibri"/>
                <a:cs typeface="Calibri"/>
              </a:rPr>
              <a:t>final product. Prototypes provide </a:t>
            </a:r>
            <a:r>
              <a:rPr dirty="0" sz="1100">
                <a:latin typeface="Calibri"/>
                <a:cs typeface="Calibri"/>
              </a:rPr>
              <a:t>a </a:t>
            </a:r>
            <a:r>
              <a:rPr dirty="0" sz="1100" spc="-5">
                <a:latin typeface="Calibri"/>
                <a:cs typeface="Calibri"/>
              </a:rPr>
              <a:t>useful basis </a:t>
            </a:r>
            <a:r>
              <a:rPr dirty="0" sz="110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for conversations </a:t>
            </a:r>
            <a:r>
              <a:rPr dirty="0" sz="1100">
                <a:latin typeface="Calibri"/>
                <a:cs typeface="Calibri"/>
              </a:rPr>
              <a:t>with </a:t>
            </a:r>
            <a:r>
              <a:rPr dirty="0" sz="1100" spc="-5">
                <a:latin typeface="Calibri"/>
                <a:cs typeface="Calibri"/>
              </a:rPr>
              <a:t>stakeholders </a:t>
            </a:r>
            <a:r>
              <a:rPr dirty="0" sz="1100">
                <a:latin typeface="Calibri"/>
                <a:cs typeface="Calibri"/>
              </a:rPr>
              <a:t>about </a:t>
            </a:r>
            <a:r>
              <a:rPr dirty="0" sz="1100" spc="-5">
                <a:latin typeface="Calibri"/>
                <a:cs typeface="Calibri"/>
              </a:rPr>
              <a:t>features, capabilities, </a:t>
            </a:r>
            <a:r>
              <a:rPr dirty="0" sz="1100">
                <a:latin typeface="Calibri"/>
                <a:cs typeface="Calibri"/>
              </a:rPr>
              <a:t>and </a:t>
            </a:r>
            <a:r>
              <a:rPr dirty="0" sz="1100" spc="-5">
                <a:latin typeface="Calibri"/>
                <a:cs typeface="Calibri"/>
              </a:rPr>
              <a:t>user </a:t>
            </a:r>
            <a:r>
              <a:rPr dirty="0" sz="1100">
                <a:latin typeface="Calibri"/>
                <a:cs typeface="Calibri"/>
              </a:rPr>
              <a:t>interface issues </a:t>
            </a:r>
            <a:r>
              <a:rPr dirty="0" sz="1100" spc="-5">
                <a:latin typeface="Calibri"/>
                <a:cs typeface="Calibri"/>
              </a:rPr>
              <a:t>such </a:t>
            </a:r>
            <a:r>
              <a:rPr dirty="0" sz="1100">
                <a:latin typeface="Calibri"/>
                <a:cs typeface="Calibri"/>
              </a:rPr>
              <a:t> as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interaction</a:t>
            </a:r>
            <a:r>
              <a:rPr dirty="0" sz="1100" spc="-5">
                <a:latin typeface="Calibri"/>
                <a:cs typeface="Calibri"/>
              </a:rPr>
              <a:t> protocols.</a:t>
            </a:r>
            <a:endParaRPr sz="1100">
              <a:latin typeface="Calibri"/>
              <a:cs typeface="Calibri"/>
            </a:endParaRPr>
          </a:p>
          <a:p>
            <a:pPr lvl="1" marL="697865" marR="530860" indent="-228600">
              <a:lnSpc>
                <a:spcPct val="110000"/>
              </a:lnSpc>
              <a:spcBef>
                <a:spcPts val="795"/>
              </a:spcBef>
              <a:buFont typeface="Arial MT"/>
              <a:buChar char="•"/>
              <a:tabLst>
                <a:tab pos="697865" algn="l"/>
                <a:tab pos="698500" algn="l"/>
              </a:tabLst>
            </a:pPr>
            <a:r>
              <a:rPr dirty="0" sz="1100" spc="-5">
                <a:latin typeface="Calibri"/>
                <a:cs typeface="Calibri"/>
              </a:rPr>
              <a:t>Especially useful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for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products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with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visionary</a:t>
            </a:r>
            <a:r>
              <a:rPr dirty="0" sz="1100" spc="-5">
                <a:latin typeface="Calibri"/>
                <a:cs typeface="Calibri"/>
              </a:rPr>
              <a:t> technology</a:t>
            </a:r>
            <a:r>
              <a:rPr dirty="0" sz="1100" spc="3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because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they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help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people </a:t>
            </a:r>
            <a:r>
              <a:rPr dirty="0" sz="1100" spc="-23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understand </a:t>
            </a:r>
            <a:r>
              <a:rPr dirty="0" sz="1100">
                <a:latin typeface="Calibri"/>
                <a:cs typeface="Calibri"/>
              </a:rPr>
              <a:t>what a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product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with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the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new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technology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will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be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like.</a:t>
            </a:r>
            <a:endParaRPr sz="1100">
              <a:latin typeface="Calibri"/>
              <a:cs typeface="Calibri"/>
            </a:endParaRPr>
          </a:p>
          <a:p>
            <a:pPr marL="469265" indent="-228600">
              <a:lnSpc>
                <a:spcPct val="100000"/>
              </a:lnSpc>
              <a:spcBef>
                <a:spcPts val="935"/>
              </a:spcBef>
              <a:buFont typeface="Microsoft Sans Serif"/>
              <a:buChar char=""/>
              <a:tabLst>
                <a:tab pos="469265" algn="l"/>
                <a:tab pos="469900" algn="l"/>
              </a:tabLst>
            </a:pPr>
            <a:r>
              <a:rPr dirty="0" sz="1100" spc="-5" b="1">
                <a:latin typeface="Calibri"/>
                <a:cs typeface="Calibri"/>
              </a:rPr>
              <a:t>Questionnaires</a:t>
            </a:r>
            <a:r>
              <a:rPr dirty="0" sz="1100" b="1">
                <a:latin typeface="Calibri"/>
                <a:cs typeface="Calibri"/>
              </a:rPr>
              <a:t> –</a:t>
            </a:r>
            <a:r>
              <a:rPr dirty="0" sz="1100" spc="15" b="1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It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is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efficient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technique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to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elicit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information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from</a:t>
            </a:r>
            <a:r>
              <a:rPr dirty="0" sz="110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many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people.</a:t>
            </a:r>
            <a:endParaRPr sz="1100">
              <a:latin typeface="Calibri"/>
              <a:cs typeface="Calibri"/>
            </a:endParaRPr>
          </a:p>
          <a:p>
            <a:pPr lvl="1" marL="697865" indent="-229235">
              <a:lnSpc>
                <a:spcPct val="100000"/>
              </a:lnSpc>
              <a:spcBef>
                <a:spcPts val="925"/>
              </a:spcBef>
              <a:buFont typeface="Arial MT"/>
              <a:buChar char="•"/>
              <a:tabLst>
                <a:tab pos="697865" algn="l"/>
                <a:tab pos="698500" algn="l"/>
              </a:tabLst>
            </a:pPr>
            <a:r>
              <a:rPr dirty="0" sz="1100" spc="-5">
                <a:latin typeface="Calibri"/>
                <a:cs typeface="Calibri"/>
              </a:rPr>
              <a:t>Close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ended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questions</a:t>
            </a:r>
            <a:endParaRPr sz="1100">
              <a:latin typeface="Calibri"/>
              <a:cs typeface="Calibri"/>
            </a:endParaRPr>
          </a:p>
          <a:p>
            <a:pPr marL="803275">
              <a:lnSpc>
                <a:spcPct val="100000"/>
              </a:lnSpc>
              <a:spcBef>
                <a:spcPts val="925"/>
              </a:spcBef>
            </a:pPr>
            <a:r>
              <a:rPr dirty="0" sz="1100" spc="-5">
                <a:latin typeface="Calibri"/>
                <a:cs typeface="Calibri"/>
              </a:rPr>
              <a:t>Easier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to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analyze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 </a:t>
            </a:r>
            <a:r>
              <a:rPr dirty="0" sz="1100" spc="-5">
                <a:latin typeface="Calibri"/>
                <a:cs typeface="Calibri"/>
              </a:rPr>
              <a:t>range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possible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responses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is</a:t>
            </a:r>
            <a:r>
              <a:rPr dirty="0" sz="1100" spc="-5">
                <a:latin typeface="Calibri"/>
                <a:cs typeface="Calibri"/>
              </a:rPr>
              <a:t> well-understood</a:t>
            </a:r>
            <a:endParaRPr sz="1100">
              <a:latin typeface="Calibri"/>
              <a:cs typeface="Calibri"/>
            </a:endParaRPr>
          </a:p>
          <a:p>
            <a:pPr lvl="1" marL="697865" indent="-229235">
              <a:lnSpc>
                <a:spcPct val="100000"/>
              </a:lnSpc>
              <a:spcBef>
                <a:spcPts val="935"/>
              </a:spcBef>
              <a:buFont typeface="Arial MT"/>
              <a:buChar char="•"/>
              <a:tabLst>
                <a:tab pos="697865" algn="l"/>
                <a:tab pos="698500" algn="l"/>
              </a:tabLst>
            </a:pPr>
            <a:r>
              <a:rPr dirty="0" sz="1100" spc="-5">
                <a:latin typeface="Calibri"/>
                <a:cs typeface="Calibri"/>
              </a:rPr>
              <a:t>Open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ended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questions</a:t>
            </a:r>
            <a:endParaRPr sz="1100">
              <a:latin typeface="Calibri"/>
              <a:cs typeface="Calibri"/>
            </a:endParaRPr>
          </a:p>
          <a:p>
            <a:pPr marL="803275">
              <a:lnSpc>
                <a:spcPct val="100000"/>
              </a:lnSpc>
              <a:spcBef>
                <a:spcPts val="925"/>
              </a:spcBef>
            </a:pPr>
            <a:r>
              <a:rPr dirty="0" sz="1100">
                <a:latin typeface="Calibri"/>
                <a:cs typeface="Calibri"/>
              </a:rPr>
              <a:t>It </a:t>
            </a:r>
            <a:r>
              <a:rPr dirty="0" sz="1100" spc="-5">
                <a:latin typeface="Calibri"/>
                <a:cs typeface="Calibri"/>
              </a:rPr>
              <a:t>includes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detailed responses </a:t>
            </a:r>
            <a:r>
              <a:rPr dirty="0" sz="1100">
                <a:latin typeface="Calibri"/>
                <a:cs typeface="Calibri"/>
              </a:rPr>
              <a:t>and relatively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harder </a:t>
            </a:r>
            <a:r>
              <a:rPr dirty="0" sz="1100">
                <a:latin typeface="Calibri"/>
                <a:cs typeface="Calibri"/>
              </a:rPr>
              <a:t>to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understand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896416" y="7142353"/>
            <a:ext cx="5981065" cy="18415"/>
          </a:xfrm>
          <a:custGeom>
            <a:avLst/>
            <a:gdLst/>
            <a:ahLst/>
            <a:cxnLst/>
            <a:rect l="l" t="t" r="r" b="b"/>
            <a:pathLst>
              <a:path w="5981065" h="18415">
                <a:moveTo>
                  <a:pt x="5981065" y="0"/>
                </a:moveTo>
                <a:lnTo>
                  <a:pt x="0" y="0"/>
                </a:lnTo>
                <a:lnTo>
                  <a:pt x="0" y="18288"/>
                </a:lnTo>
                <a:lnTo>
                  <a:pt x="5981065" y="18288"/>
                </a:lnTo>
                <a:lnTo>
                  <a:pt x="598106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896416" y="7370953"/>
            <a:ext cx="5981065" cy="18415"/>
          </a:xfrm>
          <a:custGeom>
            <a:avLst/>
            <a:gdLst/>
            <a:ahLst/>
            <a:cxnLst/>
            <a:rect l="l" t="t" r="r" b="b"/>
            <a:pathLst>
              <a:path w="5981065" h="18415">
                <a:moveTo>
                  <a:pt x="5981065" y="0"/>
                </a:moveTo>
                <a:lnTo>
                  <a:pt x="0" y="0"/>
                </a:lnTo>
                <a:lnTo>
                  <a:pt x="0" y="18288"/>
                </a:lnTo>
                <a:lnTo>
                  <a:pt x="5981065" y="18288"/>
                </a:lnTo>
                <a:lnTo>
                  <a:pt x="598106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3235579" y="7754873"/>
            <a:ext cx="1303655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b="1">
                <a:latin typeface="Calibri"/>
                <a:cs typeface="Calibri"/>
              </a:rPr>
              <a:t>(WEEK</a:t>
            </a:r>
            <a:r>
              <a:rPr dirty="0" sz="1100" spc="-40" b="1">
                <a:latin typeface="Calibri"/>
                <a:cs typeface="Calibri"/>
              </a:rPr>
              <a:t> </a:t>
            </a:r>
            <a:r>
              <a:rPr dirty="0" sz="1100" b="1">
                <a:latin typeface="Calibri"/>
                <a:cs typeface="Calibri"/>
              </a:rPr>
              <a:t>6</a:t>
            </a:r>
            <a:r>
              <a:rPr dirty="0" sz="1100" spc="-25" b="1">
                <a:latin typeface="Calibri"/>
                <a:cs typeface="Calibri"/>
              </a:rPr>
              <a:t> </a:t>
            </a:r>
            <a:r>
              <a:rPr dirty="0" sz="1100" spc="-5" b="1">
                <a:latin typeface="Calibri"/>
                <a:cs typeface="Calibri"/>
              </a:rPr>
              <a:t>COMPLETED)</a:t>
            </a:r>
            <a:endParaRPr sz="1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906395" y="892556"/>
            <a:ext cx="1960880" cy="7658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635">
              <a:lnSpc>
                <a:spcPct val="100000"/>
              </a:lnSpc>
              <a:spcBef>
                <a:spcPts val="100"/>
              </a:spcBef>
            </a:pPr>
            <a:r>
              <a:rPr dirty="0" sz="1100" b="1">
                <a:latin typeface="Calibri"/>
                <a:cs typeface="Calibri"/>
              </a:rPr>
              <a:t>WEEK</a:t>
            </a:r>
            <a:r>
              <a:rPr dirty="0" sz="1100" spc="-30" b="1">
                <a:latin typeface="Calibri"/>
                <a:cs typeface="Calibri"/>
              </a:rPr>
              <a:t> </a:t>
            </a:r>
            <a:r>
              <a:rPr dirty="0" sz="1100" b="1">
                <a:latin typeface="Calibri"/>
                <a:cs typeface="Calibri"/>
              </a:rPr>
              <a:t>#</a:t>
            </a:r>
            <a:r>
              <a:rPr dirty="0" sz="1100" spc="-35" b="1">
                <a:latin typeface="Calibri"/>
                <a:cs typeface="Calibri"/>
              </a:rPr>
              <a:t> </a:t>
            </a:r>
            <a:r>
              <a:rPr dirty="0" sz="1100" b="1">
                <a:latin typeface="Calibri"/>
                <a:cs typeface="Calibri"/>
              </a:rPr>
              <a:t>7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5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dirty="0" sz="1100" spc="-5" b="1">
                <a:latin typeface="Calibri"/>
                <a:cs typeface="Calibri"/>
              </a:rPr>
              <a:t>Product Design</a:t>
            </a:r>
            <a:r>
              <a:rPr dirty="0" sz="1100" spc="-10" b="1">
                <a:latin typeface="Calibri"/>
                <a:cs typeface="Calibri"/>
              </a:rPr>
              <a:t> </a:t>
            </a:r>
            <a:r>
              <a:rPr dirty="0" sz="1100" spc="-5" b="1">
                <a:latin typeface="Calibri"/>
                <a:cs typeface="Calibri"/>
              </a:rPr>
              <a:t>Process</a:t>
            </a:r>
            <a:r>
              <a:rPr dirty="0" sz="1100" spc="-15" b="1">
                <a:latin typeface="Calibri"/>
                <a:cs typeface="Calibri"/>
              </a:rPr>
              <a:t> </a:t>
            </a:r>
            <a:r>
              <a:rPr dirty="0" sz="1100" spc="-5" b="1">
                <a:latin typeface="Calibri"/>
                <a:cs typeface="Calibri"/>
              </a:rPr>
              <a:t>Overview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2004" y="6417945"/>
            <a:ext cx="2666365" cy="4806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 spc="-5" b="1">
                <a:latin typeface="Calibri"/>
                <a:cs typeface="Calibri"/>
              </a:rPr>
              <a:t>Steps</a:t>
            </a:r>
            <a:r>
              <a:rPr dirty="0" sz="1100" spc="-10" b="1">
                <a:latin typeface="Calibri"/>
                <a:cs typeface="Calibri"/>
              </a:rPr>
              <a:t> </a:t>
            </a:r>
            <a:r>
              <a:rPr dirty="0" sz="1100" spc="-5" b="1">
                <a:latin typeface="Calibri"/>
                <a:cs typeface="Calibri"/>
              </a:rPr>
              <a:t>of</a:t>
            </a:r>
            <a:r>
              <a:rPr dirty="0" sz="1100" spc="-10" b="1">
                <a:latin typeface="Calibri"/>
                <a:cs typeface="Calibri"/>
              </a:rPr>
              <a:t> </a:t>
            </a:r>
            <a:r>
              <a:rPr dirty="0" sz="1100" spc="-5" b="1">
                <a:latin typeface="Calibri"/>
                <a:cs typeface="Calibri"/>
              </a:rPr>
              <a:t>Software</a:t>
            </a:r>
            <a:r>
              <a:rPr dirty="0" sz="1100" spc="-10" b="1">
                <a:latin typeface="Calibri"/>
                <a:cs typeface="Calibri"/>
              </a:rPr>
              <a:t> </a:t>
            </a:r>
            <a:r>
              <a:rPr dirty="0" sz="1100" spc="-5" b="1">
                <a:latin typeface="Calibri"/>
                <a:cs typeface="Calibri"/>
              </a:rPr>
              <a:t>Design</a:t>
            </a:r>
            <a:r>
              <a:rPr dirty="0" sz="1100" spc="-20" b="1">
                <a:latin typeface="Calibri"/>
                <a:cs typeface="Calibri"/>
              </a:rPr>
              <a:t> </a:t>
            </a:r>
            <a:r>
              <a:rPr dirty="0" sz="1100" b="1">
                <a:latin typeface="Calibri"/>
                <a:cs typeface="Calibri"/>
              </a:rPr>
              <a:t>Process: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35"/>
              </a:spcBef>
            </a:pPr>
            <a:r>
              <a:rPr dirty="0" sz="1100" spc="-5">
                <a:latin typeface="Calibri"/>
                <a:cs typeface="Calibri"/>
              </a:rPr>
              <a:t>There</a:t>
            </a:r>
            <a:r>
              <a:rPr dirty="0" sz="110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are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six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steps</a:t>
            </a:r>
            <a:r>
              <a:rPr dirty="0" sz="1100">
                <a:latin typeface="Calibri"/>
                <a:cs typeface="Calibri"/>
              </a:rPr>
              <a:t> of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software</a:t>
            </a:r>
            <a:r>
              <a:rPr dirty="0" sz="110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design</a:t>
            </a:r>
            <a:r>
              <a:rPr dirty="0" sz="110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process: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59153" y="7274432"/>
            <a:ext cx="168783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">
                <a:latin typeface="Calibri"/>
                <a:cs typeface="Calibri"/>
              </a:rPr>
              <a:t>Elicit/Analyze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Detailed Needs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59153" y="7561326"/>
            <a:ext cx="2628265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">
                <a:latin typeface="Calibri"/>
                <a:cs typeface="Calibri"/>
              </a:rPr>
              <a:t>Generating/Improve</a:t>
            </a:r>
            <a:r>
              <a:rPr dirty="0" sz="1100" spc="2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Candidate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Requirements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59153" y="7846314"/>
            <a:ext cx="1951989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>
                <a:latin typeface="Calibri"/>
                <a:cs typeface="Calibri"/>
              </a:rPr>
              <a:t>Evaluate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Candidate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Requirements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59153" y="8132826"/>
            <a:ext cx="1196975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">
                <a:latin typeface="Calibri"/>
                <a:cs typeface="Calibri"/>
              </a:rPr>
              <a:t>Select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Requirements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30604" y="6989444"/>
            <a:ext cx="2170430" cy="16224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0665" indent="-228600">
              <a:lnSpc>
                <a:spcPct val="100000"/>
              </a:lnSpc>
              <a:spcBef>
                <a:spcPts val="100"/>
              </a:spcBef>
              <a:buFont typeface="Microsoft Sans Serif"/>
              <a:buChar char=""/>
              <a:tabLst>
                <a:tab pos="240665" algn="l"/>
                <a:tab pos="241300" algn="l"/>
              </a:tabLst>
            </a:pPr>
            <a:r>
              <a:rPr dirty="0" sz="1100" spc="-5">
                <a:latin typeface="Calibri"/>
                <a:cs typeface="Calibri"/>
              </a:rPr>
              <a:t>Understanding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Design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problem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25"/>
              </a:spcBef>
            </a:pPr>
            <a:r>
              <a:rPr dirty="0" sz="1100" spc="-155">
                <a:latin typeface="Microsoft Sans Serif"/>
                <a:cs typeface="Microsoft Sans Serif"/>
              </a:rPr>
              <a:t>🞂</a:t>
            </a:r>
            <a:endParaRPr sz="11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940"/>
              </a:spcBef>
            </a:pPr>
            <a:r>
              <a:rPr dirty="0" sz="1100" spc="-155">
                <a:latin typeface="Microsoft Sans Serif"/>
                <a:cs typeface="Microsoft Sans Serif"/>
              </a:rPr>
              <a:t>🞂</a:t>
            </a:r>
            <a:endParaRPr sz="11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925"/>
              </a:spcBef>
            </a:pPr>
            <a:r>
              <a:rPr dirty="0" sz="1100" spc="-155">
                <a:latin typeface="Microsoft Sans Serif"/>
                <a:cs typeface="Microsoft Sans Serif"/>
              </a:rPr>
              <a:t>🞂</a:t>
            </a:r>
            <a:endParaRPr sz="11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935"/>
              </a:spcBef>
            </a:pPr>
            <a:r>
              <a:rPr dirty="0" sz="1100" spc="-155">
                <a:latin typeface="Microsoft Sans Serif"/>
                <a:cs typeface="Microsoft Sans Serif"/>
              </a:rPr>
              <a:t>🞂</a:t>
            </a:r>
            <a:endParaRPr sz="11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925"/>
              </a:spcBef>
            </a:pPr>
            <a:r>
              <a:rPr dirty="0" sz="1100" spc="-155">
                <a:latin typeface="Microsoft Sans Serif"/>
                <a:cs typeface="Microsoft Sans Serif"/>
              </a:rPr>
              <a:t>🞂</a:t>
            </a:r>
            <a:endParaRPr sz="1100">
              <a:latin typeface="Microsoft Sans Serif"/>
              <a:cs typeface="Microsoft Sans Serif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59153" y="8417814"/>
            <a:ext cx="128270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">
                <a:latin typeface="Calibri"/>
                <a:cs typeface="Calibri"/>
              </a:rPr>
              <a:t>Finalize</a:t>
            </a:r>
            <a:r>
              <a:rPr dirty="0" sz="1100" spc="-4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Requirements</a:t>
            </a:r>
            <a:endParaRPr sz="1100">
              <a:latin typeface="Calibri"/>
              <a:cs typeface="Calibri"/>
            </a:endParaRPr>
          </a:p>
        </p:txBody>
      </p:sp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99844" y="2057400"/>
            <a:ext cx="4171187" cy="4261104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892556"/>
            <a:ext cx="5914390" cy="81597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69265" indent="-228600">
              <a:lnSpc>
                <a:spcPct val="100000"/>
              </a:lnSpc>
              <a:spcBef>
                <a:spcPts val="100"/>
              </a:spcBef>
              <a:buAutoNum type="arabicPeriod"/>
              <a:tabLst>
                <a:tab pos="469900" algn="l"/>
              </a:tabLst>
            </a:pPr>
            <a:r>
              <a:rPr dirty="0" sz="1100" spc="-5" b="1">
                <a:latin typeface="Calibri"/>
                <a:cs typeface="Calibri"/>
              </a:rPr>
              <a:t>Understanding</a:t>
            </a:r>
            <a:r>
              <a:rPr dirty="0" sz="1100" b="1">
                <a:latin typeface="Calibri"/>
                <a:cs typeface="Calibri"/>
              </a:rPr>
              <a:t> </a:t>
            </a:r>
            <a:r>
              <a:rPr dirty="0" sz="1100" spc="-5" b="1">
                <a:latin typeface="Calibri"/>
                <a:cs typeface="Calibri"/>
              </a:rPr>
              <a:t>of</a:t>
            </a:r>
            <a:r>
              <a:rPr dirty="0" sz="1100" spc="-10" b="1">
                <a:latin typeface="Calibri"/>
                <a:cs typeface="Calibri"/>
              </a:rPr>
              <a:t> </a:t>
            </a:r>
            <a:r>
              <a:rPr dirty="0" sz="1100" spc="-5" b="1">
                <a:latin typeface="Calibri"/>
                <a:cs typeface="Calibri"/>
              </a:rPr>
              <a:t>Design Problem: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buFont typeface="Calibri"/>
              <a:buAutoNum type="arabicPeriod"/>
            </a:pPr>
            <a:endParaRPr sz="1300">
              <a:latin typeface="Calibri"/>
              <a:cs typeface="Calibri"/>
            </a:endParaRPr>
          </a:p>
          <a:p>
            <a:pPr lvl="1" marL="697865" indent="-229235">
              <a:lnSpc>
                <a:spcPct val="100000"/>
              </a:lnSpc>
              <a:buFont typeface="Arial MT"/>
              <a:buChar char="•"/>
              <a:tabLst>
                <a:tab pos="697865" algn="l"/>
                <a:tab pos="698500" algn="l"/>
              </a:tabLst>
            </a:pPr>
            <a:r>
              <a:rPr dirty="0" sz="1100" spc="-5">
                <a:latin typeface="Calibri"/>
                <a:cs typeface="Calibri"/>
              </a:rPr>
              <a:t>The</a:t>
            </a:r>
            <a:r>
              <a:rPr dirty="0" sz="1100">
                <a:latin typeface="Calibri"/>
                <a:cs typeface="Calibri"/>
              </a:rPr>
              <a:t> nature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this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task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depends</a:t>
            </a:r>
            <a:r>
              <a:rPr dirty="0" sz="1100">
                <a:latin typeface="Calibri"/>
                <a:cs typeface="Calibri"/>
              </a:rPr>
              <a:t> on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whether </a:t>
            </a:r>
            <a:r>
              <a:rPr dirty="0" sz="1100" spc="-5">
                <a:latin typeface="Calibri"/>
                <a:cs typeface="Calibri"/>
              </a:rPr>
              <a:t>there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is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an</a:t>
            </a:r>
            <a:r>
              <a:rPr dirty="0" sz="1100">
                <a:latin typeface="Calibri"/>
                <a:cs typeface="Calibri"/>
              </a:rPr>
              <a:t> adequate </a:t>
            </a:r>
            <a:r>
              <a:rPr dirty="0" sz="1100" spc="-5">
                <a:latin typeface="Calibri"/>
                <a:cs typeface="Calibri"/>
              </a:rPr>
              <a:t>project </a:t>
            </a:r>
            <a:r>
              <a:rPr dirty="0" sz="1100">
                <a:latin typeface="Calibri"/>
                <a:cs typeface="Calibri"/>
              </a:rPr>
              <a:t>mission </a:t>
            </a:r>
            <a:r>
              <a:rPr dirty="0" sz="1100" spc="-5">
                <a:latin typeface="Calibri"/>
                <a:cs typeface="Calibri"/>
              </a:rPr>
              <a:t>statement</a:t>
            </a:r>
            <a:endParaRPr sz="1100">
              <a:latin typeface="Calibri"/>
              <a:cs typeface="Calibri"/>
            </a:endParaRPr>
          </a:p>
          <a:p>
            <a:pPr lvl="1" marL="697865" marR="10795" indent="-228600">
              <a:lnSpc>
                <a:spcPts val="1450"/>
              </a:lnSpc>
              <a:spcBef>
                <a:spcPts val="60"/>
              </a:spcBef>
              <a:buFont typeface="Arial MT"/>
              <a:buChar char="•"/>
              <a:tabLst>
                <a:tab pos="697865" algn="l"/>
                <a:tab pos="698500" algn="l"/>
              </a:tabLst>
            </a:pPr>
            <a:r>
              <a:rPr dirty="0" sz="1100">
                <a:latin typeface="Calibri"/>
                <a:cs typeface="Calibri"/>
              </a:rPr>
              <a:t>A good </a:t>
            </a:r>
            <a:r>
              <a:rPr dirty="0" sz="1100" spc="-5">
                <a:latin typeface="Calibri"/>
                <a:cs typeface="Calibri"/>
              </a:rPr>
              <a:t>project </a:t>
            </a:r>
            <a:r>
              <a:rPr dirty="0" sz="1100">
                <a:latin typeface="Calibri"/>
                <a:cs typeface="Calibri"/>
              </a:rPr>
              <a:t>mission </a:t>
            </a:r>
            <a:r>
              <a:rPr dirty="0" sz="1100" spc="-5">
                <a:latin typeface="Calibri"/>
                <a:cs typeface="Calibri"/>
              </a:rPr>
              <a:t>statement defines </a:t>
            </a:r>
            <a:r>
              <a:rPr dirty="0" sz="1100">
                <a:latin typeface="Calibri"/>
                <a:cs typeface="Calibri"/>
              </a:rPr>
              <a:t>the </a:t>
            </a:r>
            <a:r>
              <a:rPr dirty="0" sz="1100" spc="-5">
                <a:latin typeface="Calibri"/>
                <a:cs typeface="Calibri"/>
              </a:rPr>
              <a:t>product </a:t>
            </a:r>
            <a:r>
              <a:rPr dirty="0" sz="1100">
                <a:latin typeface="Calibri"/>
                <a:cs typeface="Calibri"/>
              </a:rPr>
              <a:t>design </a:t>
            </a:r>
            <a:r>
              <a:rPr dirty="0" sz="1100" spc="-5">
                <a:latin typeface="Calibri"/>
                <a:cs typeface="Calibri"/>
              </a:rPr>
              <a:t>problem, so </a:t>
            </a:r>
            <a:r>
              <a:rPr dirty="0" sz="1100">
                <a:latin typeface="Calibri"/>
                <a:cs typeface="Calibri"/>
              </a:rPr>
              <a:t>the </a:t>
            </a:r>
            <a:r>
              <a:rPr dirty="0" sz="1100" spc="-5">
                <a:latin typeface="Calibri"/>
                <a:cs typeface="Calibri"/>
              </a:rPr>
              <a:t>designers </a:t>
            </a:r>
            <a:r>
              <a:rPr dirty="0" sz="1100">
                <a:latin typeface="Calibri"/>
                <a:cs typeface="Calibri"/>
              </a:rPr>
              <a:t> need </a:t>
            </a:r>
            <a:r>
              <a:rPr dirty="0" sz="1100" spc="-5">
                <a:latin typeface="Calibri"/>
                <a:cs typeface="Calibri"/>
              </a:rPr>
              <a:t>only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study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5">
                <a:latin typeface="Calibri"/>
                <a:cs typeface="Calibri"/>
              </a:rPr>
              <a:t> mission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statement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 </a:t>
            </a:r>
            <a:r>
              <a:rPr dirty="0" sz="1100" spc="-5">
                <a:latin typeface="Calibri"/>
                <a:cs typeface="Calibri"/>
              </a:rPr>
              <a:t>research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any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parts</a:t>
            </a:r>
            <a:r>
              <a:rPr dirty="0" sz="1100">
                <a:latin typeface="Calibri"/>
                <a:cs typeface="Calibri"/>
              </a:rPr>
              <a:t> of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it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they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do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not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understand.</a:t>
            </a:r>
            <a:endParaRPr sz="11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buFont typeface="Arial MT"/>
              <a:buChar char="•"/>
            </a:pPr>
            <a:endParaRPr sz="11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buFont typeface="Arial MT"/>
              <a:buChar char="•"/>
            </a:pPr>
            <a:endParaRPr sz="1450">
              <a:latin typeface="Calibri"/>
              <a:cs typeface="Calibri"/>
            </a:endParaRPr>
          </a:p>
          <a:p>
            <a:pPr marL="501650" indent="-260985">
              <a:lnSpc>
                <a:spcPct val="100000"/>
              </a:lnSpc>
              <a:buAutoNum type="arabicPeriod"/>
              <a:tabLst>
                <a:tab pos="501650" algn="l"/>
                <a:tab pos="502284" algn="l"/>
              </a:tabLst>
            </a:pPr>
            <a:r>
              <a:rPr dirty="0" sz="1100" spc="-5" b="1">
                <a:latin typeface="Calibri"/>
                <a:cs typeface="Calibri"/>
              </a:rPr>
              <a:t>Elicitation</a:t>
            </a:r>
            <a:r>
              <a:rPr dirty="0" sz="1100" spc="-10" b="1">
                <a:latin typeface="Calibri"/>
                <a:cs typeface="Calibri"/>
              </a:rPr>
              <a:t> </a:t>
            </a:r>
            <a:r>
              <a:rPr dirty="0" sz="1100" spc="-5" b="1">
                <a:latin typeface="Calibri"/>
                <a:cs typeface="Calibri"/>
              </a:rPr>
              <a:t>of</a:t>
            </a:r>
            <a:r>
              <a:rPr dirty="0" sz="1100" spc="-10" b="1">
                <a:latin typeface="Calibri"/>
                <a:cs typeface="Calibri"/>
              </a:rPr>
              <a:t> </a:t>
            </a:r>
            <a:r>
              <a:rPr dirty="0" sz="1100" spc="-5" b="1">
                <a:latin typeface="Calibri"/>
                <a:cs typeface="Calibri"/>
              </a:rPr>
              <a:t>Detailed</a:t>
            </a:r>
            <a:r>
              <a:rPr dirty="0" sz="1100" spc="-20" b="1">
                <a:latin typeface="Calibri"/>
                <a:cs typeface="Calibri"/>
              </a:rPr>
              <a:t> </a:t>
            </a:r>
            <a:r>
              <a:rPr dirty="0" sz="1100" spc="-5" b="1">
                <a:latin typeface="Calibri"/>
                <a:cs typeface="Calibri"/>
              </a:rPr>
              <a:t>Needs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Font typeface="Calibri"/>
              <a:buAutoNum type="arabicPeriod"/>
            </a:pPr>
            <a:endParaRPr sz="1250">
              <a:latin typeface="Calibri"/>
              <a:cs typeface="Calibri"/>
            </a:endParaRPr>
          </a:p>
          <a:p>
            <a:pPr lvl="1" marL="926465" indent="-229235">
              <a:lnSpc>
                <a:spcPct val="100000"/>
              </a:lnSpc>
              <a:buFont typeface="Arial MT"/>
              <a:buChar char="•"/>
              <a:tabLst>
                <a:tab pos="926465" algn="l"/>
                <a:tab pos="927100" algn="l"/>
              </a:tabLst>
            </a:pPr>
            <a:r>
              <a:rPr dirty="0" sz="1100" spc="-5">
                <a:latin typeface="Calibri"/>
                <a:cs typeface="Calibri"/>
              </a:rPr>
              <a:t>Second step </a:t>
            </a:r>
            <a:r>
              <a:rPr dirty="0" sz="1100">
                <a:latin typeface="Calibri"/>
                <a:cs typeface="Calibri"/>
              </a:rPr>
              <a:t>in design</a:t>
            </a:r>
            <a:r>
              <a:rPr dirty="0" sz="1100" spc="-5">
                <a:latin typeface="Calibri"/>
                <a:cs typeface="Calibri"/>
              </a:rPr>
              <a:t> process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is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comprised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eliciting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 analyzing</a:t>
            </a:r>
            <a:r>
              <a:rPr dirty="0" sz="1100" spc="-5">
                <a:latin typeface="Calibri"/>
                <a:cs typeface="Calibri"/>
              </a:rPr>
              <a:t> detailed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needs</a:t>
            </a:r>
            <a:endParaRPr sz="1100">
              <a:latin typeface="Calibri"/>
              <a:cs typeface="Calibri"/>
            </a:endParaRPr>
          </a:p>
          <a:p>
            <a:pPr lvl="1" marL="926465" marR="154940" indent="-228600">
              <a:lnSpc>
                <a:spcPct val="110000"/>
              </a:lnSpc>
              <a:buFont typeface="Arial MT"/>
              <a:buChar char="•"/>
              <a:tabLst>
                <a:tab pos="926465" algn="l"/>
                <a:tab pos="927100" algn="l"/>
              </a:tabLst>
            </a:pPr>
            <a:r>
              <a:rPr dirty="0" sz="1100">
                <a:latin typeface="Calibri"/>
                <a:cs typeface="Calibri"/>
              </a:rPr>
              <a:t>Designers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needs </a:t>
            </a:r>
            <a:r>
              <a:rPr dirty="0" sz="1100">
                <a:latin typeface="Calibri"/>
                <a:cs typeface="Calibri"/>
              </a:rPr>
              <a:t>to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learn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much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more </a:t>
            </a:r>
            <a:r>
              <a:rPr dirty="0" sz="1100" spc="-5">
                <a:latin typeface="Calibri"/>
                <a:cs typeface="Calibri"/>
              </a:rPr>
              <a:t>about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stakeholder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needs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 </a:t>
            </a:r>
            <a:r>
              <a:rPr dirty="0" sz="1100" spc="-5">
                <a:latin typeface="Calibri"/>
                <a:cs typeface="Calibri"/>
              </a:rPr>
              <a:t>desires,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especially </a:t>
            </a:r>
            <a:r>
              <a:rPr dirty="0" sz="1100" spc="-2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those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users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-5">
                <a:latin typeface="Calibri"/>
                <a:cs typeface="Calibri"/>
              </a:rPr>
              <a:t> purchasers</a:t>
            </a:r>
            <a:r>
              <a:rPr dirty="0" sz="1100">
                <a:latin typeface="Calibri"/>
                <a:cs typeface="Calibri"/>
              </a:rPr>
              <a:t> that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will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meet</a:t>
            </a:r>
            <a:r>
              <a:rPr dirty="0" sz="110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its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business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requirements.</a:t>
            </a:r>
            <a:endParaRPr sz="11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buFont typeface="Arial MT"/>
              <a:buChar char="•"/>
            </a:pPr>
            <a:endParaRPr sz="11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10"/>
              </a:spcBef>
              <a:buFont typeface="Arial MT"/>
              <a:buChar char="•"/>
            </a:pPr>
            <a:endParaRPr sz="1500">
              <a:latin typeface="Calibri"/>
              <a:cs typeface="Calibri"/>
            </a:endParaRPr>
          </a:p>
          <a:p>
            <a:pPr marL="469265" indent="-228600">
              <a:lnSpc>
                <a:spcPct val="100000"/>
              </a:lnSpc>
              <a:buAutoNum type="arabicPeriod"/>
              <a:tabLst>
                <a:tab pos="469900" algn="l"/>
              </a:tabLst>
            </a:pPr>
            <a:r>
              <a:rPr dirty="0" sz="1100" b="1">
                <a:latin typeface="Calibri"/>
                <a:cs typeface="Calibri"/>
              </a:rPr>
              <a:t>4-5</a:t>
            </a:r>
            <a:r>
              <a:rPr dirty="0" sz="1100" spc="5" b="1">
                <a:latin typeface="Calibri"/>
                <a:cs typeface="Calibri"/>
              </a:rPr>
              <a:t> </a:t>
            </a:r>
            <a:r>
              <a:rPr dirty="0" sz="1100" spc="-5" b="1">
                <a:latin typeface="Calibri"/>
                <a:cs typeface="Calibri"/>
              </a:rPr>
              <a:t>Improvement,</a:t>
            </a:r>
            <a:r>
              <a:rPr dirty="0" sz="1100" spc="5" b="1">
                <a:latin typeface="Calibri"/>
                <a:cs typeface="Calibri"/>
              </a:rPr>
              <a:t> </a:t>
            </a:r>
            <a:r>
              <a:rPr dirty="0" sz="1100" spc="-5" b="1">
                <a:latin typeface="Calibri"/>
                <a:cs typeface="Calibri"/>
              </a:rPr>
              <a:t>Evaluation</a:t>
            </a:r>
            <a:r>
              <a:rPr dirty="0" sz="1100" b="1">
                <a:latin typeface="Calibri"/>
                <a:cs typeface="Calibri"/>
              </a:rPr>
              <a:t> </a:t>
            </a:r>
            <a:r>
              <a:rPr dirty="0" sz="1100" spc="-5" b="1">
                <a:latin typeface="Calibri"/>
                <a:cs typeface="Calibri"/>
              </a:rPr>
              <a:t>and</a:t>
            </a:r>
            <a:r>
              <a:rPr dirty="0" sz="1100" b="1">
                <a:latin typeface="Calibri"/>
                <a:cs typeface="Calibri"/>
              </a:rPr>
              <a:t> </a:t>
            </a:r>
            <a:r>
              <a:rPr dirty="0" sz="1100" spc="-5" b="1">
                <a:latin typeface="Calibri"/>
                <a:cs typeface="Calibri"/>
              </a:rPr>
              <a:t>Selection</a:t>
            </a:r>
            <a:r>
              <a:rPr dirty="0" sz="1100" b="1">
                <a:latin typeface="Calibri"/>
                <a:cs typeface="Calibri"/>
              </a:rPr>
              <a:t> </a:t>
            </a:r>
            <a:r>
              <a:rPr dirty="0" sz="1100" spc="-5" b="1">
                <a:latin typeface="Calibri"/>
                <a:cs typeface="Calibri"/>
              </a:rPr>
              <a:t>of</a:t>
            </a:r>
            <a:r>
              <a:rPr dirty="0" sz="1100" b="1">
                <a:latin typeface="Calibri"/>
                <a:cs typeface="Calibri"/>
              </a:rPr>
              <a:t> </a:t>
            </a:r>
            <a:r>
              <a:rPr dirty="0" sz="1100" spc="-5" b="1">
                <a:latin typeface="Calibri"/>
                <a:cs typeface="Calibri"/>
              </a:rPr>
              <a:t>Requirements: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Font typeface="Calibri"/>
              <a:buAutoNum type="arabicPeriod"/>
            </a:pPr>
            <a:endParaRPr sz="1150">
              <a:latin typeface="Calibri"/>
              <a:cs typeface="Calibri"/>
            </a:endParaRPr>
          </a:p>
          <a:p>
            <a:pPr lvl="1" marL="926465" marR="204470" indent="-228600">
              <a:lnSpc>
                <a:spcPct val="110000"/>
              </a:lnSpc>
              <a:buFont typeface="Arial MT"/>
              <a:buChar char="•"/>
              <a:tabLst>
                <a:tab pos="926465" algn="l"/>
                <a:tab pos="927100" algn="l"/>
              </a:tabLst>
            </a:pPr>
            <a:r>
              <a:rPr dirty="0" sz="1100" spc="-5">
                <a:latin typeface="Calibri"/>
                <a:cs typeface="Calibri"/>
              </a:rPr>
              <a:t>Third</a:t>
            </a:r>
            <a:r>
              <a:rPr dirty="0" sz="1100">
                <a:latin typeface="Calibri"/>
                <a:cs typeface="Calibri"/>
              </a:rPr>
              <a:t> step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proceeds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by </a:t>
            </a:r>
            <a:r>
              <a:rPr dirty="0" sz="1100">
                <a:latin typeface="Calibri"/>
                <a:cs typeface="Calibri"/>
              </a:rPr>
              <a:t>generating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refining</a:t>
            </a:r>
            <a:r>
              <a:rPr dirty="0" sz="110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requirements,</a:t>
            </a:r>
            <a:r>
              <a:rPr dirty="0" sz="1100">
                <a:latin typeface="Calibri"/>
                <a:cs typeface="Calibri"/>
              </a:rPr>
              <a:t> therefore</a:t>
            </a:r>
            <a:r>
              <a:rPr dirty="0" sz="1100" spc="-5">
                <a:latin typeface="Calibri"/>
                <a:cs typeface="Calibri"/>
              </a:rPr>
              <a:t> fulfilling</a:t>
            </a:r>
            <a:r>
              <a:rPr dirty="0" sz="1100">
                <a:latin typeface="Calibri"/>
                <a:cs typeface="Calibri"/>
              </a:rPr>
              <a:t> the </a:t>
            </a:r>
            <a:r>
              <a:rPr dirty="0" sz="1100" spc="-229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needs</a:t>
            </a:r>
            <a:r>
              <a:rPr dirty="0" sz="1100" spc="-5">
                <a:latin typeface="Calibri"/>
                <a:cs typeface="Calibri"/>
              </a:rPr>
              <a:t> determined</a:t>
            </a:r>
            <a:r>
              <a:rPr dirty="0" sz="110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during analysis</a:t>
            </a:r>
            <a:endParaRPr sz="1100">
              <a:latin typeface="Calibri"/>
              <a:cs typeface="Calibri"/>
            </a:endParaRPr>
          </a:p>
          <a:p>
            <a:pPr lvl="1" marL="926465" marR="76200" indent="-228600">
              <a:lnSpc>
                <a:spcPct val="110000"/>
              </a:lnSpc>
              <a:buFont typeface="Arial MT"/>
              <a:buChar char="•"/>
              <a:tabLst>
                <a:tab pos="926465" algn="l"/>
                <a:tab pos="927100" algn="l"/>
              </a:tabLst>
            </a:pPr>
            <a:r>
              <a:rPr dirty="0" sz="1100" spc="-5">
                <a:latin typeface="Calibri"/>
                <a:cs typeface="Calibri"/>
              </a:rPr>
              <a:t>Once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alternative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requirements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are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generated and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stated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,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they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are</a:t>
            </a:r>
            <a:r>
              <a:rPr dirty="0" sz="1100" spc="-5">
                <a:latin typeface="Calibri"/>
                <a:cs typeface="Calibri"/>
              </a:rPr>
              <a:t> evaluated</a:t>
            </a:r>
            <a:r>
              <a:rPr dirty="0" sz="1100" spc="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fourth </a:t>
            </a:r>
            <a:r>
              <a:rPr dirty="0" sz="1100" spc="-23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step</a:t>
            </a:r>
            <a:endParaRPr sz="1100">
              <a:latin typeface="Calibri"/>
              <a:cs typeface="Calibri"/>
            </a:endParaRPr>
          </a:p>
          <a:p>
            <a:pPr lvl="1" marL="926465" indent="-229235">
              <a:lnSpc>
                <a:spcPct val="100000"/>
              </a:lnSpc>
              <a:spcBef>
                <a:spcPts val="120"/>
              </a:spcBef>
              <a:buFont typeface="Arial MT"/>
              <a:buChar char="•"/>
              <a:tabLst>
                <a:tab pos="926465" algn="l"/>
                <a:tab pos="927100" algn="l"/>
              </a:tabLst>
            </a:pPr>
            <a:r>
              <a:rPr dirty="0" sz="1100">
                <a:latin typeface="Calibri"/>
                <a:cs typeface="Calibri"/>
              </a:rPr>
              <a:t>In </a:t>
            </a:r>
            <a:r>
              <a:rPr dirty="0" sz="1100" spc="-5">
                <a:latin typeface="Calibri"/>
                <a:cs typeface="Calibri"/>
              </a:rPr>
              <a:t>fifth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step,</a:t>
            </a:r>
            <a:r>
              <a:rPr dirty="0" sz="110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requirements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are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selected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on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basis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evaluation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endParaRPr sz="1900">
              <a:latin typeface="Calibri"/>
              <a:cs typeface="Calibri"/>
            </a:endParaRPr>
          </a:p>
          <a:p>
            <a:pPr marL="437515" indent="-172720">
              <a:lnSpc>
                <a:spcPct val="100000"/>
              </a:lnSpc>
              <a:buAutoNum type="arabicPeriod" startAt="6"/>
              <a:tabLst>
                <a:tab pos="438150" algn="l"/>
              </a:tabLst>
            </a:pPr>
            <a:r>
              <a:rPr dirty="0" sz="1100" spc="-5" b="1">
                <a:latin typeface="Calibri"/>
                <a:cs typeface="Calibri"/>
              </a:rPr>
              <a:t>Requirements</a:t>
            </a:r>
            <a:r>
              <a:rPr dirty="0" sz="1100" spc="-20" b="1">
                <a:latin typeface="Calibri"/>
                <a:cs typeface="Calibri"/>
              </a:rPr>
              <a:t> </a:t>
            </a:r>
            <a:r>
              <a:rPr dirty="0" sz="1100" spc="-5" b="1">
                <a:latin typeface="Calibri"/>
                <a:cs typeface="Calibri"/>
              </a:rPr>
              <a:t>Finalization:</a:t>
            </a:r>
            <a:endParaRPr sz="1100">
              <a:latin typeface="Calibri"/>
              <a:cs typeface="Calibri"/>
            </a:endParaRPr>
          </a:p>
          <a:p>
            <a:pPr lvl="1" marL="926465" indent="-229235">
              <a:lnSpc>
                <a:spcPct val="100000"/>
              </a:lnSpc>
              <a:spcBef>
                <a:spcPts val="935"/>
              </a:spcBef>
              <a:buFont typeface="Arial MT"/>
              <a:buChar char="•"/>
              <a:tabLst>
                <a:tab pos="926465" algn="l"/>
                <a:tab pos="927100" algn="l"/>
              </a:tabLst>
            </a:pPr>
            <a:r>
              <a:rPr dirty="0" sz="1100" spc="-5">
                <a:latin typeface="Calibri"/>
                <a:cs typeface="Calibri"/>
              </a:rPr>
              <a:t>The</a:t>
            </a:r>
            <a:r>
              <a:rPr dirty="0" sz="1100">
                <a:latin typeface="Calibri"/>
                <a:cs typeface="Calibri"/>
              </a:rPr>
              <a:t> last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step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software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product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design</a:t>
            </a:r>
            <a:r>
              <a:rPr dirty="0" sz="110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process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is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to </a:t>
            </a:r>
            <a:r>
              <a:rPr dirty="0" sz="1100" spc="-5">
                <a:latin typeface="Calibri"/>
                <a:cs typeface="Calibri"/>
              </a:rPr>
              <a:t>finalize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SRS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3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200">
              <a:latin typeface="Calibri"/>
              <a:cs typeface="Calibri"/>
            </a:endParaRPr>
          </a:p>
          <a:p>
            <a:pPr marL="469265" marR="5080">
              <a:lnSpc>
                <a:spcPct val="109100"/>
              </a:lnSpc>
            </a:pPr>
            <a:r>
              <a:rPr dirty="0" sz="1100" spc="-5">
                <a:latin typeface="Calibri"/>
                <a:cs typeface="Calibri"/>
              </a:rPr>
              <a:t>So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we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start </a:t>
            </a:r>
            <a:r>
              <a:rPr dirty="0" sz="1100">
                <a:latin typeface="Calibri"/>
                <a:cs typeface="Calibri"/>
              </a:rPr>
              <a:t>with</a:t>
            </a:r>
            <a:r>
              <a:rPr dirty="0" sz="1100" spc="-5">
                <a:latin typeface="Calibri"/>
                <a:cs typeface="Calibri"/>
              </a:rPr>
              <a:t> Project</a:t>
            </a:r>
            <a:r>
              <a:rPr dirty="0" sz="110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Mission</a:t>
            </a:r>
            <a:r>
              <a:rPr dirty="0" sz="110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statement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that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act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as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input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to Design </a:t>
            </a:r>
            <a:r>
              <a:rPr dirty="0" sz="1100" spc="-5">
                <a:latin typeface="Calibri"/>
                <a:cs typeface="Calibri"/>
              </a:rPr>
              <a:t>process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and</a:t>
            </a:r>
            <a:r>
              <a:rPr dirty="0" sz="1100">
                <a:latin typeface="Calibri"/>
                <a:cs typeface="Calibri"/>
              </a:rPr>
              <a:t> the</a:t>
            </a:r>
            <a:r>
              <a:rPr dirty="0" sz="1100" spc="-5">
                <a:latin typeface="Calibri"/>
                <a:cs typeface="Calibri"/>
              </a:rPr>
              <a:t> outcome </a:t>
            </a:r>
            <a:r>
              <a:rPr dirty="0" sz="1100" spc="-2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 this </a:t>
            </a:r>
            <a:r>
              <a:rPr dirty="0" sz="1100" spc="-5">
                <a:latin typeface="Calibri"/>
                <a:cs typeface="Calibri"/>
              </a:rPr>
              <a:t>process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is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SRS</a:t>
            </a:r>
            <a:r>
              <a:rPr dirty="0" sz="110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(Software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Requirement</a:t>
            </a:r>
            <a:r>
              <a:rPr dirty="0" sz="110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Specification).</a:t>
            </a:r>
            <a:endParaRPr sz="1100">
              <a:latin typeface="Calibri"/>
              <a:cs typeface="Calibri"/>
            </a:endParaRPr>
          </a:p>
          <a:p>
            <a:pPr marL="469265">
              <a:lnSpc>
                <a:spcPct val="100000"/>
              </a:lnSpc>
              <a:spcBef>
                <a:spcPts val="935"/>
              </a:spcBef>
            </a:pPr>
            <a:r>
              <a:rPr dirty="0" sz="1100" spc="-5">
                <a:latin typeface="Calibri"/>
                <a:cs typeface="Calibri"/>
              </a:rPr>
              <a:t>Outer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iteration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Fig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1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reflects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refinement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activity</a:t>
            </a:r>
            <a:r>
              <a:rPr dirty="0" sz="1100">
                <a:latin typeface="Calibri"/>
                <a:cs typeface="Calibri"/>
              </a:rPr>
              <a:t> of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product</a:t>
            </a:r>
            <a:r>
              <a:rPr dirty="0" sz="1100" spc="2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details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specification.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5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100" spc="-5" b="1">
                <a:latin typeface="Calibri"/>
                <a:cs typeface="Calibri"/>
              </a:rPr>
              <a:t>Product</a:t>
            </a:r>
            <a:r>
              <a:rPr dirty="0" sz="1100" spc="5" b="1">
                <a:latin typeface="Calibri"/>
                <a:cs typeface="Calibri"/>
              </a:rPr>
              <a:t> </a:t>
            </a:r>
            <a:r>
              <a:rPr dirty="0" sz="1100" spc="-5" b="1">
                <a:latin typeface="Calibri"/>
                <a:cs typeface="Calibri"/>
              </a:rPr>
              <a:t>Design</a:t>
            </a:r>
            <a:r>
              <a:rPr dirty="0" sz="1100" b="1">
                <a:latin typeface="Calibri"/>
                <a:cs typeface="Calibri"/>
              </a:rPr>
              <a:t> </a:t>
            </a:r>
            <a:r>
              <a:rPr dirty="0" sz="1100" spc="-5" b="1">
                <a:latin typeface="Calibri"/>
                <a:cs typeface="Calibri"/>
              </a:rPr>
              <a:t>Process: </a:t>
            </a:r>
            <a:r>
              <a:rPr dirty="0" sz="1100" b="1">
                <a:latin typeface="Calibri"/>
                <a:cs typeface="Calibri"/>
              </a:rPr>
              <a:t>A</a:t>
            </a:r>
            <a:r>
              <a:rPr dirty="0" sz="1100" spc="-5" b="1">
                <a:latin typeface="Calibri"/>
                <a:cs typeface="Calibri"/>
              </a:rPr>
              <a:t> Top-Down</a:t>
            </a:r>
            <a:r>
              <a:rPr dirty="0" sz="1100" spc="5" b="1">
                <a:latin typeface="Calibri"/>
                <a:cs typeface="Calibri"/>
              </a:rPr>
              <a:t> </a:t>
            </a:r>
            <a:r>
              <a:rPr dirty="0" sz="1100" spc="-5" b="1">
                <a:latin typeface="Calibri"/>
                <a:cs typeface="Calibri"/>
              </a:rPr>
              <a:t>Process:</a:t>
            </a:r>
            <a:endParaRPr sz="1100">
              <a:latin typeface="Calibri"/>
              <a:cs typeface="Calibri"/>
            </a:endParaRPr>
          </a:p>
          <a:p>
            <a:pPr marL="469265" marR="192405" indent="-228600">
              <a:lnSpc>
                <a:spcPct val="110200"/>
              </a:lnSpc>
              <a:spcBef>
                <a:spcPts val="790"/>
              </a:spcBef>
              <a:buFont typeface="Microsoft Sans Serif"/>
              <a:buChar char=""/>
              <a:tabLst>
                <a:tab pos="469265" algn="l"/>
                <a:tab pos="469900" algn="l"/>
              </a:tabLst>
            </a:pPr>
            <a:r>
              <a:rPr dirty="0" sz="1100" spc="-5">
                <a:latin typeface="Calibri"/>
                <a:cs typeface="Calibri"/>
              </a:rPr>
              <a:t>Product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design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resolution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sets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technical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requirements</a:t>
            </a:r>
            <a:r>
              <a:rPr dirty="0" sz="1100">
                <a:latin typeface="Calibri"/>
                <a:cs typeface="Calibri"/>
              </a:rPr>
              <a:t> at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high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level</a:t>
            </a:r>
            <a:r>
              <a:rPr dirty="0" sz="1100">
                <a:latin typeface="Calibri"/>
                <a:cs typeface="Calibri"/>
              </a:rPr>
              <a:t> of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abstraction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then </a:t>
            </a:r>
            <a:r>
              <a:rPr dirty="0" sz="1100" spc="-23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refine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them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until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all </a:t>
            </a:r>
            <a:r>
              <a:rPr dirty="0" sz="1100" spc="-5">
                <a:latin typeface="Calibri"/>
                <a:cs typeface="Calibri"/>
              </a:rPr>
              <a:t>product</a:t>
            </a:r>
            <a:r>
              <a:rPr dirty="0" sz="1100">
                <a:latin typeface="Calibri"/>
                <a:cs typeface="Calibri"/>
              </a:rPr>
              <a:t> details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are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specified.</a:t>
            </a:r>
            <a:endParaRPr sz="1100">
              <a:latin typeface="Calibri"/>
              <a:cs typeface="Calibri"/>
            </a:endParaRPr>
          </a:p>
          <a:p>
            <a:pPr marL="469265" marR="151765" indent="-228600">
              <a:lnSpc>
                <a:spcPct val="110000"/>
              </a:lnSpc>
              <a:spcBef>
                <a:spcPts val="795"/>
              </a:spcBef>
              <a:buFont typeface="Microsoft Sans Serif"/>
              <a:buChar char=""/>
              <a:tabLst>
                <a:tab pos="469265" algn="l"/>
                <a:tab pos="469900" algn="l"/>
              </a:tabLst>
            </a:pPr>
            <a:r>
              <a:rPr dirty="0" sz="1100" spc="-5">
                <a:latin typeface="Calibri"/>
                <a:cs typeface="Calibri"/>
              </a:rPr>
              <a:t>During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this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process,</a:t>
            </a:r>
            <a:r>
              <a:rPr dirty="0" sz="110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user-level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needs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are</a:t>
            </a:r>
            <a:r>
              <a:rPr dirty="0" sz="1100" spc="2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elicited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analyzed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first,</a:t>
            </a:r>
            <a:r>
              <a:rPr dirty="0" sz="1100">
                <a:latin typeface="Calibri"/>
                <a:cs typeface="Calibri"/>
              </a:rPr>
              <a:t> and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user-level</a:t>
            </a:r>
            <a:r>
              <a:rPr dirty="0" sz="110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functional, </a:t>
            </a:r>
            <a:r>
              <a:rPr dirty="0" sz="1100" spc="-2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data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,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non-functional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requirements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are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generated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,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refined,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evaluated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until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they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are 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adequate</a:t>
            </a:r>
            <a:endParaRPr sz="1100">
              <a:latin typeface="Calibri"/>
              <a:cs typeface="Calibri"/>
            </a:endParaRPr>
          </a:p>
          <a:p>
            <a:pPr marL="469265" marR="72390" indent="-228600">
              <a:lnSpc>
                <a:spcPct val="110000"/>
              </a:lnSpc>
              <a:spcBef>
                <a:spcPts val="790"/>
              </a:spcBef>
              <a:buFont typeface="Microsoft Sans Serif"/>
              <a:buChar char=""/>
              <a:tabLst>
                <a:tab pos="469265" algn="l"/>
                <a:tab pos="469900" algn="l"/>
              </a:tabLst>
            </a:pPr>
            <a:r>
              <a:rPr dirty="0" sz="1100" spc="-5">
                <a:latin typeface="Calibri"/>
                <a:cs typeface="Calibri"/>
              </a:rPr>
              <a:t>The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user-level requirements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provide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 abstract </a:t>
            </a:r>
            <a:r>
              <a:rPr dirty="0" sz="1100" spc="-5">
                <a:latin typeface="Calibri"/>
                <a:cs typeface="Calibri"/>
              </a:rPr>
              <a:t>solution</a:t>
            </a:r>
            <a:r>
              <a:rPr dirty="0" sz="110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to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the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design </a:t>
            </a:r>
            <a:r>
              <a:rPr dirty="0" sz="1100" spc="-5">
                <a:latin typeface="Calibri"/>
                <a:cs typeface="Calibri"/>
              </a:rPr>
              <a:t>problem. They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are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then </a:t>
            </a:r>
            <a:r>
              <a:rPr dirty="0" sz="1100" spc="-2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refined </a:t>
            </a:r>
            <a:r>
              <a:rPr dirty="0" sz="1100" spc="-5">
                <a:latin typeface="Calibri"/>
                <a:cs typeface="Calibri"/>
              </a:rPr>
              <a:t>to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produce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operational–level</a:t>
            </a:r>
            <a:r>
              <a:rPr dirty="0" sz="110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requirements</a:t>
            </a:r>
            <a:endParaRPr sz="1100">
              <a:latin typeface="Calibri"/>
              <a:cs typeface="Calibri"/>
            </a:endParaRPr>
          </a:p>
          <a:p>
            <a:pPr marL="469265" indent="-228600">
              <a:lnSpc>
                <a:spcPct val="100000"/>
              </a:lnSpc>
              <a:spcBef>
                <a:spcPts val="925"/>
              </a:spcBef>
              <a:buFont typeface="Microsoft Sans Serif"/>
              <a:buChar char=""/>
              <a:tabLst>
                <a:tab pos="469265" algn="l"/>
                <a:tab pos="469900" algn="l"/>
              </a:tabLst>
            </a:pPr>
            <a:r>
              <a:rPr dirty="0" sz="1100" spc="-5">
                <a:latin typeface="Calibri"/>
                <a:cs typeface="Calibri"/>
              </a:rPr>
              <a:t>Operational-level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requirements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are </a:t>
            </a:r>
            <a:r>
              <a:rPr dirty="0" sz="1100" spc="-5">
                <a:latin typeface="Calibri"/>
                <a:cs typeface="Calibri"/>
              </a:rPr>
              <a:t>refined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to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produce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physical-level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requirements</a:t>
            </a:r>
            <a:endParaRPr sz="1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892556"/>
            <a:ext cx="121666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" b="1">
                <a:latin typeface="Calibri"/>
                <a:cs typeface="Calibri"/>
              </a:rPr>
              <a:t>Refinement</a:t>
            </a:r>
            <a:r>
              <a:rPr dirty="0" sz="1100" spc="-25" b="1">
                <a:latin typeface="Calibri"/>
                <a:cs typeface="Calibri"/>
              </a:rPr>
              <a:t> </a:t>
            </a:r>
            <a:r>
              <a:rPr dirty="0" sz="1100" spc="-5" b="1">
                <a:latin typeface="Calibri"/>
                <a:cs typeface="Calibri"/>
              </a:rPr>
              <a:t>Process: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2004" y="4665090"/>
            <a:ext cx="5842635" cy="42576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 marL="127000">
              <a:lnSpc>
                <a:spcPct val="100000"/>
              </a:lnSpc>
              <a:spcBef>
                <a:spcPts val="105"/>
              </a:spcBef>
            </a:pPr>
            <a:r>
              <a:rPr dirty="0" sz="1100">
                <a:latin typeface="Calibri"/>
                <a:cs typeface="Calibri"/>
              </a:rPr>
              <a:t>Refinement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is</a:t>
            </a:r>
            <a:r>
              <a:rPr dirty="0" sz="1100" spc="-5">
                <a:latin typeface="Calibri"/>
                <a:cs typeface="Calibri"/>
              </a:rPr>
              <a:t> complete</a:t>
            </a:r>
            <a:r>
              <a:rPr dirty="0" sz="110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when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these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3</a:t>
            </a:r>
            <a:r>
              <a:rPr dirty="0" sz="1100" spc="-5">
                <a:latin typeface="Calibri"/>
                <a:cs typeface="Calibri"/>
              </a:rPr>
              <a:t> level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requirements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are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specified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5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100" spc="-5" b="1">
                <a:latin typeface="Calibri"/>
                <a:cs typeface="Calibri"/>
              </a:rPr>
              <a:t>Product</a:t>
            </a:r>
            <a:r>
              <a:rPr dirty="0" sz="1100" b="1">
                <a:latin typeface="Calibri"/>
                <a:cs typeface="Calibri"/>
              </a:rPr>
              <a:t> </a:t>
            </a:r>
            <a:r>
              <a:rPr dirty="0" sz="1100" spc="-5" b="1">
                <a:latin typeface="Calibri"/>
                <a:cs typeface="Calibri"/>
              </a:rPr>
              <a:t>Design</a:t>
            </a:r>
            <a:r>
              <a:rPr dirty="0" sz="1100" b="1">
                <a:latin typeface="Calibri"/>
                <a:cs typeface="Calibri"/>
              </a:rPr>
              <a:t> </a:t>
            </a:r>
            <a:r>
              <a:rPr dirty="0" sz="1100" spc="-5" b="1">
                <a:latin typeface="Calibri"/>
                <a:cs typeface="Calibri"/>
              </a:rPr>
              <a:t>Process:</a:t>
            </a:r>
            <a:r>
              <a:rPr dirty="0" sz="1100" spc="-10" b="1">
                <a:latin typeface="Calibri"/>
                <a:cs typeface="Calibri"/>
              </a:rPr>
              <a:t> </a:t>
            </a:r>
            <a:r>
              <a:rPr dirty="0" sz="1100" b="1">
                <a:latin typeface="Calibri"/>
                <a:cs typeface="Calibri"/>
              </a:rPr>
              <a:t>A</a:t>
            </a:r>
            <a:r>
              <a:rPr dirty="0" sz="1100" spc="-5" b="1">
                <a:latin typeface="Calibri"/>
                <a:cs typeface="Calibri"/>
              </a:rPr>
              <a:t> </a:t>
            </a:r>
            <a:r>
              <a:rPr dirty="0" sz="1100" b="1">
                <a:latin typeface="Calibri"/>
                <a:cs typeface="Calibri"/>
              </a:rPr>
              <a:t>User</a:t>
            </a:r>
            <a:r>
              <a:rPr dirty="0" sz="1100" spc="-5" b="1">
                <a:latin typeface="Calibri"/>
                <a:cs typeface="Calibri"/>
              </a:rPr>
              <a:t> </a:t>
            </a:r>
            <a:r>
              <a:rPr dirty="0" sz="1100" b="1">
                <a:latin typeface="Calibri"/>
                <a:cs typeface="Calibri"/>
              </a:rPr>
              <a:t>Centered</a:t>
            </a:r>
            <a:r>
              <a:rPr dirty="0" sz="1100" spc="-10" b="1">
                <a:latin typeface="Calibri"/>
                <a:cs typeface="Calibri"/>
              </a:rPr>
              <a:t> </a:t>
            </a:r>
            <a:r>
              <a:rPr dirty="0" sz="1100" spc="-5" b="1">
                <a:latin typeface="Calibri"/>
                <a:cs typeface="Calibri"/>
              </a:rPr>
              <a:t>Approach: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35"/>
              </a:spcBef>
            </a:pPr>
            <a:r>
              <a:rPr dirty="0" sz="1100" spc="-5" b="1">
                <a:latin typeface="Calibri"/>
                <a:cs typeface="Calibri"/>
              </a:rPr>
              <a:t>User-centered</a:t>
            </a:r>
            <a:r>
              <a:rPr dirty="0" sz="1100" b="1">
                <a:latin typeface="Calibri"/>
                <a:cs typeface="Calibri"/>
              </a:rPr>
              <a:t> </a:t>
            </a:r>
            <a:r>
              <a:rPr dirty="0" sz="1100" spc="-5" b="1">
                <a:latin typeface="Calibri"/>
                <a:cs typeface="Calibri"/>
              </a:rPr>
              <a:t>design</a:t>
            </a:r>
            <a:r>
              <a:rPr dirty="0" sz="1100" spc="10" b="1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comprises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 following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three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principles:</a:t>
            </a:r>
            <a:endParaRPr sz="1100">
              <a:latin typeface="Calibri"/>
              <a:cs typeface="Calibri"/>
            </a:endParaRPr>
          </a:p>
          <a:p>
            <a:pPr marL="469265" marR="5080" indent="-228600">
              <a:lnSpc>
                <a:spcPct val="110000"/>
              </a:lnSpc>
              <a:spcBef>
                <a:spcPts val="795"/>
              </a:spcBef>
              <a:buFont typeface="Microsoft Sans Serif"/>
              <a:buChar char=""/>
              <a:tabLst>
                <a:tab pos="469265" algn="l"/>
                <a:tab pos="469900" algn="l"/>
              </a:tabLst>
            </a:pPr>
            <a:r>
              <a:rPr dirty="0" sz="1100" spc="-5" i="1">
                <a:latin typeface="Calibri"/>
                <a:cs typeface="Calibri"/>
              </a:rPr>
              <a:t>Stakeholder</a:t>
            </a:r>
            <a:r>
              <a:rPr dirty="0" sz="1100" spc="10" i="1">
                <a:latin typeface="Calibri"/>
                <a:cs typeface="Calibri"/>
              </a:rPr>
              <a:t> </a:t>
            </a:r>
            <a:r>
              <a:rPr dirty="0" sz="1100" spc="-5" i="1">
                <a:latin typeface="Calibri"/>
                <a:cs typeface="Calibri"/>
              </a:rPr>
              <a:t>Focus</a:t>
            </a:r>
            <a:r>
              <a:rPr dirty="0" sz="1100" spc="15" i="1">
                <a:latin typeface="Calibri"/>
                <a:cs typeface="Calibri"/>
              </a:rPr>
              <a:t> </a:t>
            </a:r>
            <a:r>
              <a:rPr dirty="0" sz="1100" i="1">
                <a:latin typeface="Calibri"/>
                <a:cs typeface="Calibri"/>
              </a:rPr>
              <a:t>–</a:t>
            </a:r>
            <a:r>
              <a:rPr dirty="0" sz="1100" spc="5" i="1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Determine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needs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-5">
                <a:latin typeface="Calibri"/>
                <a:cs typeface="Calibri"/>
              </a:rPr>
              <a:t> desires</a:t>
            </a:r>
            <a:r>
              <a:rPr dirty="0" sz="1100">
                <a:latin typeface="Calibri"/>
                <a:cs typeface="Calibri"/>
              </a:rPr>
              <a:t> of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all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stakeholders(especially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users),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 </a:t>
            </a:r>
            <a:r>
              <a:rPr dirty="0" sz="1100" spc="-23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involve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them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evaluating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 </a:t>
            </a:r>
            <a:r>
              <a:rPr dirty="0" sz="1100" spc="-5">
                <a:latin typeface="Calibri"/>
                <a:cs typeface="Calibri"/>
              </a:rPr>
              <a:t>design</a:t>
            </a:r>
            <a:r>
              <a:rPr dirty="0" sz="1100">
                <a:latin typeface="Calibri"/>
                <a:cs typeface="Calibri"/>
              </a:rPr>
              <a:t> and</a:t>
            </a:r>
            <a:r>
              <a:rPr dirty="0" sz="1100" spc="-5">
                <a:latin typeface="Calibri"/>
                <a:cs typeface="Calibri"/>
              </a:rPr>
              <a:t> perhaps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even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generating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design</a:t>
            </a:r>
            <a:endParaRPr sz="1100">
              <a:latin typeface="Calibri"/>
              <a:cs typeface="Calibri"/>
            </a:endParaRPr>
          </a:p>
          <a:p>
            <a:pPr marL="469265" marR="305435" indent="-228600">
              <a:lnSpc>
                <a:spcPct val="110000"/>
              </a:lnSpc>
              <a:spcBef>
                <a:spcPts val="790"/>
              </a:spcBef>
              <a:buFont typeface="Microsoft Sans Serif"/>
              <a:buChar char=""/>
              <a:tabLst>
                <a:tab pos="469265" algn="l"/>
                <a:tab pos="469900" algn="l"/>
              </a:tabLst>
            </a:pPr>
            <a:r>
              <a:rPr dirty="0" sz="1100" spc="-5" i="1">
                <a:latin typeface="Calibri"/>
                <a:cs typeface="Calibri"/>
              </a:rPr>
              <a:t>Empirical</a:t>
            </a:r>
            <a:r>
              <a:rPr dirty="0" sz="1100" spc="10" i="1">
                <a:latin typeface="Calibri"/>
                <a:cs typeface="Calibri"/>
              </a:rPr>
              <a:t> </a:t>
            </a:r>
            <a:r>
              <a:rPr dirty="0" sz="1100" spc="-5" i="1">
                <a:latin typeface="Calibri"/>
                <a:cs typeface="Calibri"/>
              </a:rPr>
              <a:t>Evaluation</a:t>
            </a:r>
            <a:r>
              <a:rPr dirty="0" sz="1100" i="1">
                <a:latin typeface="Calibri"/>
                <a:cs typeface="Calibri"/>
              </a:rPr>
              <a:t> –</a:t>
            </a:r>
            <a:r>
              <a:rPr dirty="0" sz="1100" spc="15" i="1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Gather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stakeholder</a:t>
            </a:r>
            <a:r>
              <a:rPr dirty="0" sz="110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needs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desires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assess</a:t>
            </a:r>
            <a:r>
              <a:rPr dirty="0" sz="110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design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quality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by </a:t>
            </a:r>
            <a:r>
              <a:rPr dirty="0" sz="1100" spc="-2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collecting</a:t>
            </a:r>
            <a:r>
              <a:rPr dirty="0" sz="1100" spc="-5">
                <a:latin typeface="Calibri"/>
                <a:cs typeface="Calibri"/>
              </a:rPr>
              <a:t> data</a:t>
            </a:r>
            <a:r>
              <a:rPr dirty="0" sz="110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rather </a:t>
            </a:r>
            <a:r>
              <a:rPr dirty="0" sz="1100">
                <a:latin typeface="Calibri"/>
                <a:cs typeface="Calibri"/>
              </a:rPr>
              <a:t>than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by</a:t>
            </a:r>
            <a:r>
              <a:rPr dirty="0" sz="110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relying </a:t>
            </a:r>
            <a:r>
              <a:rPr dirty="0" sz="1100">
                <a:latin typeface="Calibri"/>
                <a:cs typeface="Calibri"/>
              </a:rPr>
              <a:t>on</a:t>
            </a:r>
            <a:r>
              <a:rPr dirty="0" sz="1100" spc="-5">
                <a:latin typeface="Calibri"/>
                <a:cs typeface="Calibri"/>
              </a:rPr>
              <a:t> guesses.</a:t>
            </a:r>
            <a:endParaRPr sz="1100">
              <a:latin typeface="Calibri"/>
              <a:cs typeface="Calibri"/>
            </a:endParaRPr>
          </a:p>
          <a:p>
            <a:pPr marL="469265" indent="-228600">
              <a:lnSpc>
                <a:spcPct val="100000"/>
              </a:lnSpc>
              <a:spcBef>
                <a:spcPts val="925"/>
              </a:spcBef>
              <a:buFont typeface="Microsoft Sans Serif"/>
              <a:buChar char=""/>
              <a:tabLst>
                <a:tab pos="469265" algn="l"/>
                <a:tab pos="469900" algn="l"/>
              </a:tabLst>
            </a:pPr>
            <a:r>
              <a:rPr dirty="0" sz="1100" i="1">
                <a:latin typeface="Calibri"/>
                <a:cs typeface="Calibri"/>
              </a:rPr>
              <a:t>Iteration</a:t>
            </a:r>
            <a:r>
              <a:rPr dirty="0" sz="1100" spc="-10" i="1">
                <a:latin typeface="Calibri"/>
                <a:cs typeface="Calibri"/>
              </a:rPr>
              <a:t> </a:t>
            </a:r>
            <a:r>
              <a:rPr dirty="0" sz="1100" i="1">
                <a:latin typeface="Calibri"/>
                <a:cs typeface="Calibri"/>
              </a:rPr>
              <a:t>–</a:t>
            </a:r>
            <a:r>
              <a:rPr dirty="0" sz="1100" spc="10" i="1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Improve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designs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repeatedly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until </a:t>
            </a:r>
            <a:r>
              <a:rPr dirty="0" sz="1100">
                <a:latin typeface="Calibri"/>
                <a:cs typeface="Calibri"/>
              </a:rPr>
              <a:t>they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are</a:t>
            </a:r>
            <a:r>
              <a:rPr dirty="0" sz="1100" spc="-5">
                <a:latin typeface="Calibri"/>
                <a:cs typeface="Calibri"/>
              </a:rPr>
              <a:t> adequate.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buFont typeface="Microsoft Sans Serif"/>
              <a:buChar char=""/>
            </a:pPr>
            <a:endParaRPr sz="13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Font typeface="Microsoft Sans Serif"/>
              <a:buChar char=""/>
            </a:pPr>
            <a:endParaRPr sz="13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100" spc="-5" b="1">
                <a:latin typeface="Calibri"/>
                <a:cs typeface="Calibri"/>
              </a:rPr>
              <a:t>Terminologies:</a:t>
            </a:r>
            <a:endParaRPr sz="1100">
              <a:latin typeface="Calibri"/>
              <a:cs typeface="Calibri"/>
            </a:endParaRPr>
          </a:p>
          <a:p>
            <a:pPr marL="469265" marR="241935" indent="-228600">
              <a:lnSpc>
                <a:spcPct val="109100"/>
              </a:lnSpc>
              <a:spcBef>
                <a:spcPts val="815"/>
              </a:spcBef>
              <a:buFont typeface="Microsoft Sans Serif"/>
              <a:buChar char=""/>
              <a:tabLst>
                <a:tab pos="469265" algn="l"/>
                <a:tab pos="469900" algn="l"/>
              </a:tabLst>
            </a:pPr>
            <a:r>
              <a:rPr dirty="0" sz="1100" spc="-5" b="1">
                <a:latin typeface="Calibri"/>
                <a:cs typeface="Calibri"/>
              </a:rPr>
              <a:t>Requirement</a:t>
            </a:r>
            <a:r>
              <a:rPr dirty="0" sz="1100" spc="10" b="1">
                <a:latin typeface="Calibri"/>
                <a:cs typeface="Calibri"/>
              </a:rPr>
              <a:t> </a:t>
            </a:r>
            <a:r>
              <a:rPr dirty="0" sz="1100" spc="-5" b="1">
                <a:latin typeface="Calibri"/>
                <a:cs typeface="Calibri"/>
              </a:rPr>
              <a:t>Elicitation</a:t>
            </a:r>
            <a:r>
              <a:rPr dirty="0" sz="1100" spc="30" b="1">
                <a:latin typeface="Calibri"/>
                <a:cs typeface="Calibri"/>
              </a:rPr>
              <a:t> </a:t>
            </a:r>
            <a:r>
              <a:rPr dirty="0" sz="1100" b="1">
                <a:latin typeface="Calibri"/>
                <a:cs typeface="Calibri"/>
              </a:rPr>
              <a:t>– </a:t>
            </a:r>
            <a:r>
              <a:rPr dirty="0" sz="1100" spc="-5">
                <a:latin typeface="Calibri"/>
                <a:cs typeface="Calibri"/>
              </a:rPr>
              <a:t>Collecting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stakeholder</a:t>
            </a:r>
            <a:r>
              <a:rPr dirty="0" sz="110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needs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desires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is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called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 spc="-5" i="1">
                <a:latin typeface="Calibri"/>
                <a:cs typeface="Calibri"/>
              </a:rPr>
              <a:t>requirements </a:t>
            </a:r>
            <a:r>
              <a:rPr dirty="0" sz="1100" spc="-235" i="1">
                <a:latin typeface="Calibri"/>
                <a:cs typeface="Calibri"/>
              </a:rPr>
              <a:t> </a:t>
            </a:r>
            <a:r>
              <a:rPr dirty="0" sz="1100" spc="-5" i="1">
                <a:latin typeface="Calibri"/>
                <a:cs typeface="Calibri"/>
              </a:rPr>
              <a:t>elicitation</a:t>
            </a:r>
            <a:r>
              <a:rPr dirty="0" sz="1100" i="1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,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or </a:t>
            </a:r>
            <a:r>
              <a:rPr dirty="0" sz="1100" i="1">
                <a:latin typeface="Calibri"/>
                <a:cs typeface="Calibri"/>
              </a:rPr>
              <a:t>needs</a:t>
            </a:r>
            <a:r>
              <a:rPr dirty="0" sz="1100" spc="-15" i="1">
                <a:latin typeface="Calibri"/>
                <a:cs typeface="Calibri"/>
              </a:rPr>
              <a:t> </a:t>
            </a:r>
            <a:r>
              <a:rPr dirty="0" sz="1100" spc="-5" i="1">
                <a:latin typeface="Calibri"/>
                <a:cs typeface="Calibri"/>
              </a:rPr>
              <a:t>identification </a:t>
            </a:r>
            <a:r>
              <a:rPr dirty="0" sz="1100">
                <a:latin typeface="Calibri"/>
                <a:cs typeface="Calibri"/>
              </a:rPr>
              <a:t>or </a:t>
            </a:r>
            <a:r>
              <a:rPr dirty="0" sz="1100" spc="-5" i="1">
                <a:latin typeface="Calibri"/>
                <a:cs typeface="Calibri"/>
              </a:rPr>
              <a:t>needs</a:t>
            </a:r>
            <a:r>
              <a:rPr dirty="0" sz="1100" i="1">
                <a:latin typeface="Calibri"/>
                <a:cs typeface="Calibri"/>
              </a:rPr>
              <a:t> elicitation</a:t>
            </a:r>
            <a:endParaRPr sz="1100">
              <a:latin typeface="Calibri"/>
              <a:cs typeface="Calibri"/>
            </a:endParaRPr>
          </a:p>
          <a:p>
            <a:pPr marL="469265" indent="-228600">
              <a:lnSpc>
                <a:spcPct val="100000"/>
              </a:lnSpc>
              <a:spcBef>
                <a:spcPts val="935"/>
              </a:spcBef>
              <a:buFont typeface="Microsoft Sans Serif"/>
              <a:buChar char=""/>
              <a:tabLst>
                <a:tab pos="469265" algn="l"/>
                <a:tab pos="469900" algn="l"/>
              </a:tabLst>
            </a:pPr>
            <a:r>
              <a:rPr dirty="0" sz="1100" spc="-5" b="1">
                <a:latin typeface="Calibri"/>
                <a:cs typeface="Calibri"/>
              </a:rPr>
              <a:t>Requirements</a:t>
            </a:r>
            <a:r>
              <a:rPr dirty="0" sz="1100" b="1">
                <a:latin typeface="Calibri"/>
                <a:cs typeface="Calibri"/>
              </a:rPr>
              <a:t> </a:t>
            </a:r>
            <a:r>
              <a:rPr dirty="0" sz="1100" spc="-5" b="1">
                <a:latin typeface="Calibri"/>
                <a:cs typeface="Calibri"/>
              </a:rPr>
              <a:t>Analysis</a:t>
            </a:r>
            <a:r>
              <a:rPr dirty="0" sz="1100" spc="10" b="1">
                <a:latin typeface="Calibri"/>
                <a:cs typeface="Calibri"/>
              </a:rPr>
              <a:t> </a:t>
            </a:r>
            <a:r>
              <a:rPr dirty="0" sz="1100" b="1">
                <a:latin typeface="Calibri"/>
                <a:cs typeface="Calibri"/>
              </a:rPr>
              <a:t>–</a:t>
            </a:r>
            <a:r>
              <a:rPr dirty="0" sz="1100" spc="15" b="1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Understanding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stakeholder</a:t>
            </a:r>
            <a:r>
              <a:rPr dirty="0" sz="1100">
                <a:latin typeface="Calibri"/>
                <a:cs typeface="Calibri"/>
              </a:rPr>
              <a:t> needs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is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called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i="1">
                <a:latin typeface="Calibri"/>
                <a:cs typeface="Calibri"/>
              </a:rPr>
              <a:t>needs</a:t>
            </a:r>
            <a:r>
              <a:rPr dirty="0" sz="1100" spc="-5" i="1">
                <a:latin typeface="Calibri"/>
                <a:cs typeface="Calibri"/>
              </a:rPr>
              <a:t> analysis</a:t>
            </a:r>
            <a:r>
              <a:rPr dirty="0" sz="1100" spc="5" i="1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or</a:t>
            </a:r>
            <a:endParaRPr sz="1100">
              <a:latin typeface="Calibri"/>
              <a:cs typeface="Calibri"/>
            </a:endParaRPr>
          </a:p>
          <a:p>
            <a:pPr marL="469265">
              <a:lnSpc>
                <a:spcPct val="100000"/>
              </a:lnSpc>
              <a:spcBef>
                <a:spcPts val="135"/>
              </a:spcBef>
            </a:pPr>
            <a:r>
              <a:rPr dirty="0" sz="1100" spc="-5" i="1">
                <a:latin typeface="Calibri"/>
                <a:cs typeface="Calibri"/>
              </a:rPr>
              <a:t>requirements</a:t>
            </a:r>
            <a:r>
              <a:rPr dirty="0" sz="1100" spc="-20" i="1">
                <a:latin typeface="Calibri"/>
                <a:cs typeface="Calibri"/>
              </a:rPr>
              <a:t> </a:t>
            </a:r>
            <a:r>
              <a:rPr dirty="0" sz="1100" spc="-5" i="1">
                <a:latin typeface="Calibri"/>
                <a:cs typeface="Calibri"/>
              </a:rPr>
              <a:t>analysis</a:t>
            </a:r>
            <a:endParaRPr sz="1100">
              <a:latin typeface="Calibri"/>
              <a:cs typeface="Calibri"/>
            </a:endParaRPr>
          </a:p>
          <a:p>
            <a:pPr marL="469265" marR="138430" indent="-228600">
              <a:lnSpc>
                <a:spcPct val="110000"/>
              </a:lnSpc>
              <a:spcBef>
                <a:spcPts val="790"/>
              </a:spcBef>
              <a:buFont typeface="Microsoft Sans Serif"/>
              <a:buChar char=""/>
              <a:tabLst>
                <a:tab pos="469265" algn="l"/>
                <a:tab pos="469900" algn="l"/>
              </a:tabLst>
            </a:pPr>
            <a:r>
              <a:rPr dirty="0" sz="1100" spc="-5" b="1">
                <a:latin typeface="Calibri"/>
                <a:cs typeface="Calibri"/>
              </a:rPr>
              <a:t>Requirements Validation</a:t>
            </a:r>
            <a:r>
              <a:rPr dirty="0" sz="1100" spc="5" b="1">
                <a:latin typeface="Calibri"/>
                <a:cs typeface="Calibri"/>
              </a:rPr>
              <a:t> </a:t>
            </a:r>
            <a:r>
              <a:rPr dirty="0" sz="1100" b="1">
                <a:latin typeface="Calibri"/>
                <a:cs typeface="Calibri"/>
              </a:rPr>
              <a:t>–</a:t>
            </a:r>
            <a:r>
              <a:rPr dirty="0" sz="1100" spc="-5" b="1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Confirming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with</a:t>
            </a:r>
            <a:r>
              <a:rPr dirty="0" sz="1100" spc="-5">
                <a:latin typeface="Calibri"/>
                <a:cs typeface="Calibri"/>
              </a:rPr>
              <a:t> stakeholder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that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product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design </a:t>
            </a:r>
            <a:r>
              <a:rPr dirty="0" sz="1100" spc="-5">
                <a:latin typeface="Calibri"/>
                <a:cs typeface="Calibri"/>
              </a:rPr>
              <a:t>satisfies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their </a:t>
            </a:r>
            <a:r>
              <a:rPr dirty="0" sz="1100" spc="-2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needs and</a:t>
            </a:r>
            <a:r>
              <a:rPr dirty="0" sz="1100" spc="-5">
                <a:latin typeface="Calibri"/>
                <a:cs typeface="Calibri"/>
              </a:rPr>
              <a:t> desires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is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called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 spc="-5" i="1">
                <a:latin typeface="Calibri"/>
                <a:cs typeface="Calibri"/>
              </a:rPr>
              <a:t>requirements validation</a:t>
            </a:r>
            <a:r>
              <a:rPr dirty="0" sz="1100" i="1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or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just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 i="1">
                <a:latin typeface="Calibri"/>
                <a:cs typeface="Calibri"/>
              </a:rPr>
              <a:t>validation.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609089" y="1211325"/>
            <a:ext cx="1353820" cy="1742439"/>
            <a:chOff x="1609089" y="1211325"/>
            <a:chExt cx="1353820" cy="1742439"/>
          </a:xfrm>
        </p:grpSpPr>
        <p:sp>
          <p:nvSpPr>
            <p:cNvPr id="5" name="object 5"/>
            <p:cNvSpPr/>
            <p:nvPr/>
          </p:nvSpPr>
          <p:spPr>
            <a:xfrm>
              <a:off x="1770887" y="2156459"/>
              <a:ext cx="906780" cy="797560"/>
            </a:xfrm>
            <a:custGeom>
              <a:avLst/>
              <a:gdLst/>
              <a:ahLst/>
              <a:cxnLst/>
              <a:rect l="l" t="t" r="r" b="b"/>
              <a:pathLst>
                <a:path w="906780" h="797560">
                  <a:moveTo>
                    <a:pt x="261747" y="0"/>
                  </a:moveTo>
                  <a:lnTo>
                    <a:pt x="0" y="0"/>
                  </a:lnTo>
                  <a:lnTo>
                    <a:pt x="0" y="728726"/>
                  </a:lnTo>
                  <a:lnTo>
                    <a:pt x="621538" y="728726"/>
                  </a:lnTo>
                  <a:lnTo>
                    <a:pt x="621538" y="797051"/>
                  </a:lnTo>
                  <a:lnTo>
                    <a:pt x="906780" y="597789"/>
                  </a:lnTo>
                  <a:lnTo>
                    <a:pt x="621538" y="398525"/>
                  </a:lnTo>
                  <a:lnTo>
                    <a:pt x="621538" y="466851"/>
                  </a:lnTo>
                  <a:lnTo>
                    <a:pt x="261747" y="466851"/>
                  </a:lnTo>
                  <a:lnTo>
                    <a:pt x="261747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1615439" y="1217675"/>
              <a:ext cx="1341120" cy="939165"/>
            </a:xfrm>
            <a:custGeom>
              <a:avLst/>
              <a:gdLst/>
              <a:ahLst/>
              <a:cxnLst/>
              <a:rect l="l" t="t" r="r" b="b"/>
              <a:pathLst>
                <a:path w="1341120" h="939164">
                  <a:moveTo>
                    <a:pt x="1184655" y="0"/>
                  </a:moveTo>
                  <a:lnTo>
                    <a:pt x="156464" y="0"/>
                  </a:lnTo>
                  <a:lnTo>
                    <a:pt x="107029" y="7981"/>
                  </a:lnTo>
                  <a:lnTo>
                    <a:pt x="64081" y="30203"/>
                  </a:lnTo>
                  <a:lnTo>
                    <a:pt x="30203" y="64081"/>
                  </a:lnTo>
                  <a:lnTo>
                    <a:pt x="7981" y="107029"/>
                  </a:lnTo>
                  <a:lnTo>
                    <a:pt x="0" y="156464"/>
                  </a:lnTo>
                  <a:lnTo>
                    <a:pt x="0" y="782320"/>
                  </a:lnTo>
                  <a:lnTo>
                    <a:pt x="7981" y="831754"/>
                  </a:lnTo>
                  <a:lnTo>
                    <a:pt x="30203" y="874702"/>
                  </a:lnTo>
                  <a:lnTo>
                    <a:pt x="64081" y="908580"/>
                  </a:lnTo>
                  <a:lnTo>
                    <a:pt x="107029" y="930802"/>
                  </a:lnTo>
                  <a:lnTo>
                    <a:pt x="156464" y="938783"/>
                  </a:lnTo>
                  <a:lnTo>
                    <a:pt x="1184655" y="938783"/>
                  </a:lnTo>
                  <a:lnTo>
                    <a:pt x="1234090" y="930802"/>
                  </a:lnTo>
                  <a:lnTo>
                    <a:pt x="1277038" y="908580"/>
                  </a:lnTo>
                  <a:lnTo>
                    <a:pt x="1310916" y="874702"/>
                  </a:lnTo>
                  <a:lnTo>
                    <a:pt x="1333138" y="831754"/>
                  </a:lnTo>
                  <a:lnTo>
                    <a:pt x="1341120" y="782320"/>
                  </a:lnTo>
                  <a:lnTo>
                    <a:pt x="1341120" y="156464"/>
                  </a:lnTo>
                  <a:lnTo>
                    <a:pt x="1333138" y="107029"/>
                  </a:lnTo>
                  <a:lnTo>
                    <a:pt x="1310916" y="64081"/>
                  </a:lnTo>
                  <a:lnTo>
                    <a:pt x="1277038" y="30203"/>
                  </a:lnTo>
                  <a:lnTo>
                    <a:pt x="1234090" y="7981"/>
                  </a:lnTo>
                  <a:lnTo>
                    <a:pt x="1184655" y="0"/>
                  </a:lnTo>
                  <a:close/>
                </a:path>
              </a:pathLst>
            </a:custGeom>
            <a:solidFill>
              <a:srgbClr val="006FC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1615439" y="1217675"/>
              <a:ext cx="1341120" cy="939165"/>
            </a:xfrm>
            <a:custGeom>
              <a:avLst/>
              <a:gdLst/>
              <a:ahLst/>
              <a:cxnLst/>
              <a:rect l="l" t="t" r="r" b="b"/>
              <a:pathLst>
                <a:path w="1341120" h="939164">
                  <a:moveTo>
                    <a:pt x="0" y="156464"/>
                  </a:moveTo>
                  <a:lnTo>
                    <a:pt x="7981" y="107029"/>
                  </a:lnTo>
                  <a:lnTo>
                    <a:pt x="30203" y="64081"/>
                  </a:lnTo>
                  <a:lnTo>
                    <a:pt x="64081" y="30203"/>
                  </a:lnTo>
                  <a:lnTo>
                    <a:pt x="107029" y="7981"/>
                  </a:lnTo>
                  <a:lnTo>
                    <a:pt x="156464" y="0"/>
                  </a:lnTo>
                  <a:lnTo>
                    <a:pt x="1184655" y="0"/>
                  </a:lnTo>
                  <a:lnTo>
                    <a:pt x="1234090" y="7981"/>
                  </a:lnTo>
                  <a:lnTo>
                    <a:pt x="1277038" y="30203"/>
                  </a:lnTo>
                  <a:lnTo>
                    <a:pt x="1310916" y="64081"/>
                  </a:lnTo>
                  <a:lnTo>
                    <a:pt x="1333138" y="107029"/>
                  </a:lnTo>
                  <a:lnTo>
                    <a:pt x="1341120" y="156464"/>
                  </a:lnTo>
                  <a:lnTo>
                    <a:pt x="1341120" y="782320"/>
                  </a:lnTo>
                  <a:lnTo>
                    <a:pt x="1333138" y="831754"/>
                  </a:lnTo>
                  <a:lnTo>
                    <a:pt x="1310916" y="874702"/>
                  </a:lnTo>
                  <a:lnTo>
                    <a:pt x="1277038" y="908580"/>
                  </a:lnTo>
                  <a:lnTo>
                    <a:pt x="1234090" y="930802"/>
                  </a:lnTo>
                  <a:lnTo>
                    <a:pt x="1184655" y="938783"/>
                  </a:lnTo>
                  <a:lnTo>
                    <a:pt x="156464" y="938783"/>
                  </a:lnTo>
                  <a:lnTo>
                    <a:pt x="107029" y="930802"/>
                  </a:lnTo>
                  <a:lnTo>
                    <a:pt x="64081" y="908580"/>
                  </a:lnTo>
                  <a:lnTo>
                    <a:pt x="30203" y="874702"/>
                  </a:lnTo>
                  <a:lnTo>
                    <a:pt x="7981" y="831754"/>
                  </a:lnTo>
                  <a:lnTo>
                    <a:pt x="0" y="782320"/>
                  </a:lnTo>
                  <a:lnTo>
                    <a:pt x="0" y="156464"/>
                  </a:lnTo>
                  <a:close/>
                </a:path>
              </a:pathLst>
            </a:custGeom>
            <a:ln w="1219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1716151" y="1284477"/>
            <a:ext cx="1138555" cy="767080"/>
          </a:xfrm>
          <a:prstGeom prst="rect">
            <a:avLst/>
          </a:prstGeom>
        </p:spPr>
        <p:txBody>
          <a:bodyPr wrap="square" lIns="0" tIns="31750" rIns="0" bIns="0" rtlCol="0" vert="horz">
            <a:spAutoFit/>
          </a:bodyPr>
          <a:lstStyle/>
          <a:p>
            <a:pPr algn="ctr" marL="12700" marR="5080">
              <a:lnSpc>
                <a:spcPts val="1430"/>
              </a:lnSpc>
              <a:spcBef>
                <a:spcPts val="250"/>
              </a:spcBef>
            </a:pPr>
            <a:r>
              <a:rPr dirty="0" sz="1300" spc="-10">
                <a:solidFill>
                  <a:srgbClr val="FFFFFF"/>
                </a:solidFill>
                <a:latin typeface="Calibri"/>
                <a:cs typeface="Calibri"/>
              </a:rPr>
              <a:t>Users</a:t>
            </a:r>
            <a:r>
              <a:rPr dirty="0" sz="13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300" spc="-5">
                <a:solidFill>
                  <a:srgbClr val="FFFFFF"/>
                </a:solidFill>
                <a:latin typeface="Calibri"/>
                <a:cs typeface="Calibri"/>
              </a:rPr>
              <a:t>Functional </a:t>
            </a:r>
            <a:r>
              <a:rPr dirty="0" sz="1300" spc="-27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300" spc="-5">
                <a:solidFill>
                  <a:srgbClr val="FFFFFF"/>
                </a:solidFill>
                <a:latin typeface="Calibri"/>
                <a:cs typeface="Calibri"/>
              </a:rPr>
              <a:t>and Non- </a:t>
            </a:r>
            <a:r>
              <a:rPr dirty="0" sz="130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300" spc="-5">
                <a:solidFill>
                  <a:srgbClr val="FFFFFF"/>
                </a:solidFill>
                <a:latin typeface="Calibri"/>
                <a:cs typeface="Calibri"/>
              </a:rPr>
              <a:t>functional </a:t>
            </a:r>
            <a:r>
              <a:rPr dirty="0" sz="130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300" spc="-5">
                <a:solidFill>
                  <a:srgbClr val="FFFFFF"/>
                </a:solidFill>
                <a:latin typeface="Calibri"/>
                <a:cs typeface="Calibri"/>
              </a:rPr>
              <a:t>Requirements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994151" y="1443989"/>
            <a:ext cx="869315" cy="456565"/>
          </a:xfrm>
          <a:prstGeom prst="rect">
            <a:avLst/>
          </a:prstGeom>
        </p:spPr>
        <p:txBody>
          <a:bodyPr wrap="square" lIns="0" tIns="24765" rIns="0" bIns="0" rtlCol="0" vert="horz">
            <a:spAutoFit/>
          </a:bodyPr>
          <a:lstStyle/>
          <a:p>
            <a:pPr marL="70485" marR="5080" indent="-58419">
              <a:lnSpc>
                <a:spcPct val="91500"/>
              </a:lnSpc>
              <a:spcBef>
                <a:spcPts val="195"/>
              </a:spcBef>
              <a:buSzPct val="90000"/>
              <a:buChar char="•"/>
              <a:tabLst>
                <a:tab pos="76835" algn="l"/>
              </a:tabLst>
            </a:pPr>
            <a:r>
              <a:rPr dirty="0" sz="1000" spc="-5">
                <a:latin typeface="Calibri"/>
                <a:cs typeface="Calibri"/>
              </a:rPr>
              <a:t>Elicitation and </a:t>
            </a:r>
            <a:r>
              <a:rPr dirty="0" sz="1000">
                <a:latin typeface="Calibri"/>
                <a:cs typeface="Calibri"/>
              </a:rPr>
              <a:t> </a:t>
            </a:r>
            <a:r>
              <a:rPr dirty="0" sz="1000" spc="-5">
                <a:latin typeface="Calibri"/>
                <a:cs typeface="Calibri"/>
              </a:rPr>
              <a:t>Analyze</a:t>
            </a:r>
            <a:r>
              <a:rPr dirty="0" sz="1000" spc="-35">
                <a:latin typeface="Calibri"/>
                <a:cs typeface="Calibri"/>
              </a:rPr>
              <a:t> </a:t>
            </a:r>
            <a:r>
              <a:rPr dirty="0" sz="1000" spc="-5">
                <a:latin typeface="Calibri"/>
                <a:cs typeface="Calibri"/>
              </a:rPr>
              <a:t>of</a:t>
            </a:r>
            <a:r>
              <a:rPr dirty="0" sz="1000" spc="-40">
                <a:latin typeface="Calibri"/>
                <a:cs typeface="Calibri"/>
              </a:rPr>
              <a:t> </a:t>
            </a:r>
            <a:r>
              <a:rPr dirty="0" sz="1000" spc="-5">
                <a:latin typeface="Calibri"/>
                <a:cs typeface="Calibri"/>
              </a:rPr>
              <a:t>user </a:t>
            </a:r>
            <a:r>
              <a:rPr dirty="0" sz="1000" spc="-210">
                <a:latin typeface="Calibri"/>
                <a:cs typeface="Calibri"/>
              </a:rPr>
              <a:t> </a:t>
            </a:r>
            <a:r>
              <a:rPr dirty="0" sz="1000" spc="-5">
                <a:latin typeface="Calibri"/>
                <a:cs typeface="Calibri"/>
              </a:rPr>
              <a:t>requirements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2721610" y="2265933"/>
            <a:ext cx="1353820" cy="1742439"/>
            <a:chOff x="2721610" y="2265933"/>
            <a:chExt cx="1353820" cy="1742439"/>
          </a:xfrm>
        </p:grpSpPr>
        <p:sp>
          <p:nvSpPr>
            <p:cNvPr id="11" name="object 11"/>
            <p:cNvSpPr/>
            <p:nvPr/>
          </p:nvSpPr>
          <p:spPr>
            <a:xfrm>
              <a:off x="2883408" y="3211067"/>
              <a:ext cx="906780" cy="797560"/>
            </a:xfrm>
            <a:custGeom>
              <a:avLst/>
              <a:gdLst/>
              <a:ahLst/>
              <a:cxnLst/>
              <a:rect l="l" t="t" r="r" b="b"/>
              <a:pathLst>
                <a:path w="906779" h="797560">
                  <a:moveTo>
                    <a:pt x="261747" y="0"/>
                  </a:moveTo>
                  <a:lnTo>
                    <a:pt x="0" y="0"/>
                  </a:lnTo>
                  <a:lnTo>
                    <a:pt x="0" y="728726"/>
                  </a:lnTo>
                  <a:lnTo>
                    <a:pt x="621538" y="728726"/>
                  </a:lnTo>
                  <a:lnTo>
                    <a:pt x="621538" y="797051"/>
                  </a:lnTo>
                  <a:lnTo>
                    <a:pt x="906780" y="597788"/>
                  </a:lnTo>
                  <a:lnTo>
                    <a:pt x="621538" y="398525"/>
                  </a:lnTo>
                  <a:lnTo>
                    <a:pt x="621538" y="466851"/>
                  </a:lnTo>
                  <a:lnTo>
                    <a:pt x="261747" y="466851"/>
                  </a:lnTo>
                  <a:lnTo>
                    <a:pt x="261747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2727960" y="2272283"/>
              <a:ext cx="1341120" cy="940435"/>
            </a:xfrm>
            <a:custGeom>
              <a:avLst/>
              <a:gdLst/>
              <a:ahLst/>
              <a:cxnLst/>
              <a:rect l="l" t="t" r="r" b="b"/>
              <a:pathLst>
                <a:path w="1341120" h="940435">
                  <a:moveTo>
                    <a:pt x="1184402" y="0"/>
                  </a:moveTo>
                  <a:lnTo>
                    <a:pt x="156717" y="0"/>
                  </a:lnTo>
                  <a:lnTo>
                    <a:pt x="107208" y="7995"/>
                  </a:lnTo>
                  <a:lnTo>
                    <a:pt x="64190" y="30256"/>
                  </a:lnTo>
                  <a:lnTo>
                    <a:pt x="30256" y="64190"/>
                  </a:lnTo>
                  <a:lnTo>
                    <a:pt x="7995" y="107208"/>
                  </a:lnTo>
                  <a:lnTo>
                    <a:pt x="0" y="156718"/>
                  </a:lnTo>
                  <a:lnTo>
                    <a:pt x="0" y="783590"/>
                  </a:lnTo>
                  <a:lnTo>
                    <a:pt x="7995" y="833099"/>
                  </a:lnTo>
                  <a:lnTo>
                    <a:pt x="30256" y="876117"/>
                  </a:lnTo>
                  <a:lnTo>
                    <a:pt x="64190" y="910051"/>
                  </a:lnTo>
                  <a:lnTo>
                    <a:pt x="107208" y="932312"/>
                  </a:lnTo>
                  <a:lnTo>
                    <a:pt x="156717" y="940308"/>
                  </a:lnTo>
                  <a:lnTo>
                    <a:pt x="1184402" y="940308"/>
                  </a:lnTo>
                  <a:lnTo>
                    <a:pt x="1233911" y="932312"/>
                  </a:lnTo>
                  <a:lnTo>
                    <a:pt x="1276929" y="910051"/>
                  </a:lnTo>
                  <a:lnTo>
                    <a:pt x="1310863" y="876117"/>
                  </a:lnTo>
                  <a:lnTo>
                    <a:pt x="1333124" y="833099"/>
                  </a:lnTo>
                  <a:lnTo>
                    <a:pt x="1341119" y="783590"/>
                  </a:lnTo>
                  <a:lnTo>
                    <a:pt x="1341119" y="156718"/>
                  </a:lnTo>
                  <a:lnTo>
                    <a:pt x="1333124" y="107208"/>
                  </a:lnTo>
                  <a:lnTo>
                    <a:pt x="1310863" y="64190"/>
                  </a:lnTo>
                  <a:lnTo>
                    <a:pt x="1276929" y="30256"/>
                  </a:lnTo>
                  <a:lnTo>
                    <a:pt x="1233911" y="7995"/>
                  </a:lnTo>
                  <a:lnTo>
                    <a:pt x="1184402" y="0"/>
                  </a:lnTo>
                  <a:close/>
                </a:path>
              </a:pathLst>
            </a:custGeom>
            <a:solidFill>
              <a:srgbClr val="006FC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2727960" y="2272283"/>
              <a:ext cx="1341120" cy="940435"/>
            </a:xfrm>
            <a:custGeom>
              <a:avLst/>
              <a:gdLst/>
              <a:ahLst/>
              <a:cxnLst/>
              <a:rect l="l" t="t" r="r" b="b"/>
              <a:pathLst>
                <a:path w="1341120" h="940435">
                  <a:moveTo>
                    <a:pt x="0" y="156718"/>
                  </a:moveTo>
                  <a:lnTo>
                    <a:pt x="7995" y="107208"/>
                  </a:lnTo>
                  <a:lnTo>
                    <a:pt x="30256" y="64190"/>
                  </a:lnTo>
                  <a:lnTo>
                    <a:pt x="64190" y="30256"/>
                  </a:lnTo>
                  <a:lnTo>
                    <a:pt x="107208" y="7995"/>
                  </a:lnTo>
                  <a:lnTo>
                    <a:pt x="156717" y="0"/>
                  </a:lnTo>
                  <a:lnTo>
                    <a:pt x="1184402" y="0"/>
                  </a:lnTo>
                  <a:lnTo>
                    <a:pt x="1233911" y="7995"/>
                  </a:lnTo>
                  <a:lnTo>
                    <a:pt x="1276929" y="30256"/>
                  </a:lnTo>
                  <a:lnTo>
                    <a:pt x="1310863" y="64190"/>
                  </a:lnTo>
                  <a:lnTo>
                    <a:pt x="1333124" y="107208"/>
                  </a:lnTo>
                  <a:lnTo>
                    <a:pt x="1341119" y="156718"/>
                  </a:lnTo>
                  <a:lnTo>
                    <a:pt x="1341119" y="783590"/>
                  </a:lnTo>
                  <a:lnTo>
                    <a:pt x="1333124" y="833099"/>
                  </a:lnTo>
                  <a:lnTo>
                    <a:pt x="1310863" y="876117"/>
                  </a:lnTo>
                  <a:lnTo>
                    <a:pt x="1276929" y="910051"/>
                  </a:lnTo>
                  <a:lnTo>
                    <a:pt x="1233911" y="932312"/>
                  </a:lnTo>
                  <a:lnTo>
                    <a:pt x="1184402" y="940308"/>
                  </a:lnTo>
                  <a:lnTo>
                    <a:pt x="156717" y="940308"/>
                  </a:lnTo>
                  <a:lnTo>
                    <a:pt x="107208" y="932312"/>
                  </a:lnTo>
                  <a:lnTo>
                    <a:pt x="64190" y="910051"/>
                  </a:lnTo>
                  <a:lnTo>
                    <a:pt x="30256" y="876117"/>
                  </a:lnTo>
                  <a:lnTo>
                    <a:pt x="7995" y="833099"/>
                  </a:lnTo>
                  <a:lnTo>
                    <a:pt x="0" y="783590"/>
                  </a:lnTo>
                  <a:lnTo>
                    <a:pt x="0" y="156718"/>
                  </a:lnTo>
                  <a:close/>
                </a:path>
              </a:pathLst>
            </a:custGeom>
            <a:ln w="12192">
              <a:solidFill>
                <a:srgbClr val="00AFE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/>
          <p:nvPr/>
        </p:nvSpPr>
        <p:spPr>
          <a:xfrm>
            <a:off x="2917317" y="2430526"/>
            <a:ext cx="963294" cy="586105"/>
          </a:xfrm>
          <a:prstGeom prst="rect">
            <a:avLst/>
          </a:prstGeom>
        </p:spPr>
        <p:txBody>
          <a:bodyPr wrap="square" lIns="0" tIns="31750" rIns="0" bIns="0" rtlCol="0" vert="horz">
            <a:spAutoFit/>
          </a:bodyPr>
          <a:lstStyle/>
          <a:p>
            <a:pPr algn="ctr" marL="12065" marR="5080" indent="-1270">
              <a:lnSpc>
                <a:spcPts val="1430"/>
              </a:lnSpc>
              <a:spcBef>
                <a:spcPts val="250"/>
              </a:spcBef>
            </a:pPr>
            <a:r>
              <a:rPr dirty="0" sz="1300" spc="-5">
                <a:solidFill>
                  <a:srgbClr val="FFFFFF"/>
                </a:solidFill>
                <a:latin typeface="Calibri"/>
                <a:cs typeface="Calibri"/>
              </a:rPr>
              <a:t>Operational – </a:t>
            </a:r>
            <a:r>
              <a:rPr dirty="0" sz="1300" spc="-28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300" spc="-10">
                <a:solidFill>
                  <a:srgbClr val="FFFFFF"/>
                </a:solidFill>
                <a:latin typeface="Calibri"/>
                <a:cs typeface="Calibri"/>
              </a:rPr>
              <a:t>level </a:t>
            </a:r>
            <a:r>
              <a:rPr dirty="0" sz="1300" spc="-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300" spc="-25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dirty="0" sz="1300" spc="-5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dirty="0" sz="1300">
                <a:solidFill>
                  <a:srgbClr val="FFFFFF"/>
                </a:solidFill>
                <a:latin typeface="Calibri"/>
                <a:cs typeface="Calibri"/>
              </a:rPr>
              <a:t>q</a:t>
            </a:r>
            <a:r>
              <a:rPr dirty="0" sz="1300" spc="-10">
                <a:solidFill>
                  <a:srgbClr val="FFFFFF"/>
                </a:solidFill>
                <a:latin typeface="Calibri"/>
                <a:cs typeface="Calibri"/>
              </a:rPr>
              <a:t>u</a:t>
            </a:r>
            <a:r>
              <a:rPr dirty="0" sz="1300" spc="-5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dirty="0" sz="1300" spc="-15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dirty="0" sz="1300" spc="-5">
                <a:solidFill>
                  <a:srgbClr val="FFFFFF"/>
                </a:solidFill>
                <a:latin typeface="Calibri"/>
                <a:cs typeface="Calibri"/>
              </a:rPr>
              <a:t>eme</a:t>
            </a:r>
            <a:r>
              <a:rPr dirty="0" sz="1300" spc="-15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dirty="0" sz="1300" spc="-5">
                <a:solidFill>
                  <a:srgbClr val="FFFFFF"/>
                </a:solidFill>
                <a:latin typeface="Calibri"/>
                <a:cs typeface="Calibri"/>
              </a:rPr>
              <a:t>ts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106671" y="2499105"/>
            <a:ext cx="827405" cy="456565"/>
          </a:xfrm>
          <a:prstGeom prst="rect">
            <a:avLst/>
          </a:prstGeom>
        </p:spPr>
        <p:txBody>
          <a:bodyPr wrap="square" lIns="0" tIns="24765" rIns="0" bIns="0" rtlCol="0" vert="horz">
            <a:spAutoFit/>
          </a:bodyPr>
          <a:lstStyle/>
          <a:p>
            <a:pPr marL="70485" marR="5080" indent="-58419">
              <a:lnSpc>
                <a:spcPct val="91500"/>
              </a:lnSpc>
              <a:spcBef>
                <a:spcPts val="195"/>
              </a:spcBef>
              <a:buSzPct val="90000"/>
              <a:buChar char="•"/>
              <a:tabLst>
                <a:tab pos="76835" algn="l"/>
              </a:tabLst>
            </a:pPr>
            <a:r>
              <a:rPr dirty="0" sz="1000" spc="-5">
                <a:latin typeface="Calibri"/>
                <a:cs typeface="Calibri"/>
              </a:rPr>
              <a:t>R</a:t>
            </a:r>
            <a:r>
              <a:rPr dirty="0" sz="1000" spc="-10">
                <a:latin typeface="Calibri"/>
                <a:cs typeface="Calibri"/>
              </a:rPr>
              <a:t>ef</a:t>
            </a:r>
            <a:r>
              <a:rPr dirty="0" sz="1000" spc="-5">
                <a:latin typeface="Calibri"/>
                <a:cs typeface="Calibri"/>
              </a:rPr>
              <a:t>in</a:t>
            </a:r>
            <a:r>
              <a:rPr dirty="0" sz="1000" spc="-10">
                <a:latin typeface="Calibri"/>
                <a:cs typeface="Calibri"/>
              </a:rPr>
              <a:t>eme</a:t>
            </a:r>
            <a:r>
              <a:rPr dirty="0" sz="1000" spc="-5">
                <a:latin typeface="Calibri"/>
                <a:cs typeface="Calibri"/>
              </a:rPr>
              <a:t>nt</a:t>
            </a:r>
            <a:r>
              <a:rPr dirty="0" sz="1000" spc="25">
                <a:latin typeface="Calibri"/>
                <a:cs typeface="Calibri"/>
              </a:rPr>
              <a:t> </a:t>
            </a:r>
            <a:r>
              <a:rPr dirty="0" sz="1000" spc="-5">
                <a:latin typeface="Calibri"/>
                <a:cs typeface="Calibri"/>
              </a:rPr>
              <a:t>of  </a:t>
            </a:r>
            <a:r>
              <a:rPr dirty="0" sz="1000" spc="-10">
                <a:latin typeface="Calibri"/>
                <a:cs typeface="Calibri"/>
              </a:rPr>
              <a:t>user-level </a:t>
            </a:r>
            <a:r>
              <a:rPr dirty="0" sz="1000" spc="-5">
                <a:latin typeface="Calibri"/>
                <a:cs typeface="Calibri"/>
              </a:rPr>
              <a:t> requirements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3834384" y="3322320"/>
            <a:ext cx="1353820" cy="951230"/>
            <a:chOff x="3834384" y="3322320"/>
            <a:chExt cx="1353820" cy="951230"/>
          </a:xfrm>
        </p:grpSpPr>
        <p:sp>
          <p:nvSpPr>
            <p:cNvPr id="17" name="object 17"/>
            <p:cNvSpPr/>
            <p:nvPr/>
          </p:nvSpPr>
          <p:spPr>
            <a:xfrm>
              <a:off x="3840480" y="3328416"/>
              <a:ext cx="1341120" cy="939165"/>
            </a:xfrm>
            <a:custGeom>
              <a:avLst/>
              <a:gdLst/>
              <a:ahLst/>
              <a:cxnLst/>
              <a:rect l="l" t="t" r="r" b="b"/>
              <a:pathLst>
                <a:path w="1341120" h="939164">
                  <a:moveTo>
                    <a:pt x="1184656" y="0"/>
                  </a:moveTo>
                  <a:lnTo>
                    <a:pt x="156464" y="0"/>
                  </a:lnTo>
                  <a:lnTo>
                    <a:pt x="107029" y="7981"/>
                  </a:lnTo>
                  <a:lnTo>
                    <a:pt x="64081" y="30203"/>
                  </a:lnTo>
                  <a:lnTo>
                    <a:pt x="30203" y="64081"/>
                  </a:lnTo>
                  <a:lnTo>
                    <a:pt x="7981" y="107029"/>
                  </a:lnTo>
                  <a:lnTo>
                    <a:pt x="0" y="156463"/>
                  </a:lnTo>
                  <a:lnTo>
                    <a:pt x="0" y="782319"/>
                  </a:lnTo>
                  <a:lnTo>
                    <a:pt x="7981" y="831754"/>
                  </a:lnTo>
                  <a:lnTo>
                    <a:pt x="30203" y="874702"/>
                  </a:lnTo>
                  <a:lnTo>
                    <a:pt x="64081" y="908580"/>
                  </a:lnTo>
                  <a:lnTo>
                    <a:pt x="107029" y="930802"/>
                  </a:lnTo>
                  <a:lnTo>
                    <a:pt x="156464" y="938783"/>
                  </a:lnTo>
                  <a:lnTo>
                    <a:pt x="1184656" y="938783"/>
                  </a:lnTo>
                  <a:lnTo>
                    <a:pt x="1234090" y="930802"/>
                  </a:lnTo>
                  <a:lnTo>
                    <a:pt x="1277038" y="908580"/>
                  </a:lnTo>
                  <a:lnTo>
                    <a:pt x="1310916" y="874702"/>
                  </a:lnTo>
                  <a:lnTo>
                    <a:pt x="1333138" y="831754"/>
                  </a:lnTo>
                  <a:lnTo>
                    <a:pt x="1341120" y="782319"/>
                  </a:lnTo>
                  <a:lnTo>
                    <a:pt x="1341120" y="156463"/>
                  </a:lnTo>
                  <a:lnTo>
                    <a:pt x="1333138" y="107029"/>
                  </a:lnTo>
                  <a:lnTo>
                    <a:pt x="1310916" y="64081"/>
                  </a:lnTo>
                  <a:lnTo>
                    <a:pt x="1277038" y="30203"/>
                  </a:lnTo>
                  <a:lnTo>
                    <a:pt x="1234090" y="7981"/>
                  </a:lnTo>
                  <a:lnTo>
                    <a:pt x="1184656" y="0"/>
                  </a:lnTo>
                  <a:close/>
                </a:path>
              </a:pathLst>
            </a:custGeom>
            <a:solidFill>
              <a:srgbClr val="006FC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3840480" y="3328416"/>
              <a:ext cx="1341120" cy="939165"/>
            </a:xfrm>
            <a:custGeom>
              <a:avLst/>
              <a:gdLst/>
              <a:ahLst/>
              <a:cxnLst/>
              <a:rect l="l" t="t" r="r" b="b"/>
              <a:pathLst>
                <a:path w="1341120" h="939164">
                  <a:moveTo>
                    <a:pt x="0" y="156463"/>
                  </a:moveTo>
                  <a:lnTo>
                    <a:pt x="7981" y="107029"/>
                  </a:lnTo>
                  <a:lnTo>
                    <a:pt x="30203" y="64081"/>
                  </a:lnTo>
                  <a:lnTo>
                    <a:pt x="64081" y="30203"/>
                  </a:lnTo>
                  <a:lnTo>
                    <a:pt x="107029" y="7981"/>
                  </a:lnTo>
                  <a:lnTo>
                    <a:pt x="156464" y="0"/>
                  </a:lnTo>
                  <a:lnTo>
                    <a:pt x="1184656" y="0"/>
                  </a:lnTo>
                  <a:lnTo>
                    <a:pt x="1234090" y="7981"/>
                  </a:lnTo>
                  <a:lnTo>
                    <a:pt x="1277038" y="30203"/>
                  </a:lnTo>
                  <a:lnTo>
                    <a:pt x="1310916" y="64081"/>
                  </a:lnTo>
                  <a:lnTo>
                    <a:pt x="1333138" y="107029"/>
                  </a:lnTo>
                  <a:lnTo>
                    <a:pt x="1341120" y="156463"/>
                  </a:lnTo>
                  <a:lnTo>
                    <a:pt x="1341120" y="782319"/>
                  </a:lnTo>
                  <a:lnTo>
                    <a:pt x="1333138" y="831754"/>
                  </a:lnTo>
                  <a:lnTo>
                    <a:pt x="1310916" y="874702"/>
                  </a:lnTo>
                  <a:lnTo>
                    <a:pt x="1277038" y="908580"/>
                  </a:lnTo>
                  <a:lnTo>
                    <a:pt x="1234090" y="930802"/>
                  </a:lnTo>
                  <a:lnTo>
                    <a:pt x="1184656" y="938783"/>
                  </a:lnTo>
                  <a:lnTo>
                    <a:pt x="156464" y="938783"/>
                  </a:lnTo>
                  <a:lnTo>
                    <a:pt x="107029" y="930802"/>
                  </a:lnTo>
                  <a:lnTo>
                    <a:pt x="64081" y="908580"/>
                  </a:lnTo>
                  <a:lnTo>
                    <a:pt x="30203" y="874702"/>
                  </a:lnTo>
                  <a:lnTo>
                    <a:pt x="7981" y="831754"/>
                  </a:lnTo>
                  <a:lnTo>
                    <a:pt x="0" y="782319"/>
                  </a:lnTo>
                  <a:lnTo>
                    <a:pt x="0" y="156463"/>
                  </a:lnTo>
                  <a:close/>
                </a:path>
              </a:pathLst>
            </a:custGeom>
            <a:ln w="12191">
              <a:solidFill>
                <a:srgbClr val="00AFE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/>
          <p:cNvSpPr txBox="1"/>
          <p:nvPr/>
        </p:nvSpPr>
        <p:spPr>
          <a:xfrm>
            <a:off x="4030217" y="3487318"/>
            <a:ext cx="963294" cy="528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20955">
              <a:lnSpc>
                <a:spcPct val="126899"/>
              </a:lnSpc>
              <a:spcBef>
                <a:spcPts val="100"/>
              </a:spcBef>
            </a:pPr>
            <a:r>
              <a:rPr dirty="0" sz="1300" spc="-10">
                <a:solidFill>
                  <a:srgbClr val="FFFFFF"/>
                </a:solidFill>
                <a:latin typeface="Calibri"/>
                <a:cs typeface="Calibri"/>
              </a:rPr>
              <a:t>Physical-level </a:t>
            </a:r>
            <a:r>
              <a:rPr dirty="0" sz="1300" spc="-28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300" spc="-25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dirty="0" sz="1300" spc="-5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dirty="0" sz="1300">
                <a:solidFill>
                  <a:srgbClr val="FFFFFF"/>
                </a:solidFill>
                <a:latin typeface="Calibri"/>
                <a:cs typeface="Calibri"/>
              </a:rPr>
              <a:t>q</a:t>
            </a:r>
            <a:r>
              <a:rPr dirty="0" sz="1300" spc="-10">
                <a:solidFill>
                  <a:srgbClr val="FFFFFF"/>
                </a:solidFill>
                <a:latin typeface="Calibri"/>
                <a:cs typeface="Calibri"/>
              </a:rPr>
              <a:t>u</a:t>
            </a:r>
            <a:r>
              <a:rPr dirty="0" sz="1300" spc="-5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dirty="0" sz="1300" spc="-15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dirty="0" sz="1300" spc="-5">
                <a:solidFill>
                  <a:srgbClr val="FFFFFF"/>
                </a:solidFill>
                <a:latin typeface="Calibri"/>
                <a:cs typeface="Calibri"/>
              </a:rPr>
              <a:t>eme</a:t>
            </a:r>
            <a:r>
              <a:rPr dirty="0" sz="1300" spc="-15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dirty="0" sz="1300" spc="-5">
                <a:solidFill>
                  <a:srgbClr val="FFFFFF"/>
                </a:solidFill>
                <a:latin typeface="Calibri"/>
                <a:cs typeface="Calibri"/>
              </a:rPr>
              <a:t>ts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219446" y="3484626"/>
            <a:ext cx="827405" cy="596900"/>
          </a:xfrm>
          <a:prstGeom prst="rect">
            <a:avLst/>
          </a:prstGeom>
        </p:spPr>
        <p:txBody>
          <a:bodyPr wrap="square" lIns="0" tIns="24765" rIns="0" bIns="0" rtlCol="0" vert="horz">
            <a:spAutoFit/>
          </a:bodyPr>
          <a:lstStyle/>
          <a:p>
            <a:pPr marL="70485" marR="5080" indent="-58419">
              <a:lnSpc>
                <a:spcPct val="91700"/>
              </a:lnSpc>
              <a:spcBef>
                <a:spcPts val="195"/>
              </a:spcBef>
              <a:buSzPct val="90000"/>
              <a:buChar char="•"/>
              <a:tabLst>
                <a:tab pos="76835" algn="l"/>
              </a:tabLst>
            </a:pPr>
            <a:r>
              <a:rPr dirty="0" sz="1000" spc="-5">
                <a:latin typeface="Calibri"/>
                <a:cs typeface="Calibri"/>
              </a:rPr>
              <a:t>R</a:t>
            </a:r>
            <a:r>
              <a:rPr dirty="0" sz="1000" spc="-10">
                <a:latin typeface="Calibri"/>
                <a:cs typeface="Calibri"/>
              </a:rPr>
              <a:t>ef</a:t>
            </a:r>
            <a:r>
              <a:rPr dirty="0" sz="1000" spc="-5">
                <a:latin typeface="Calibri"/>
                <a:cs typeface="Calibri"/>
              </a:rPr>
              <a:t>in</a:t>
            </a:r>
            <a:r>
              <a:rPr dirty="0" sz="1000" spc="-10">
                <a:latin typeface="Calibri"/>
                <a:cs typeface="Calibri"/>
              </a:rPr>
              <a:t>eme</a:t>
            </a:r>
            <a:r>
              <a:rPr dirty="0" sz="1000" spc="-5">
                <a:latin typeface="Calibri"/>
                <a:cs typeface="Calibri"/>
              </a:rPr>
              <a:t>nt</a:t>
            </a:r>
            <a:r>
              <a:rPr dirty="0" sz="1000" spc="25">
                <a:latin typeface="Calibri"/>
                <a:cs typeface="Calibri"/>
              </a:rPr>
              <a:t> </a:t>
            </a:r>
            <a:r>
              <a:rPr dirty="0" sz="1000" spc="-5">
                <a:latin typeface="Calibri"/>
                <a:cs typeface="Calibri"/>
              </a:rPr>
              <a:t>of  </a:t>
            </a:r>
            <a:r>
              <a:rPr dirty="0" sz="1000" spc="-5">
                <a:latin typeface="Calibri"/>
                <a:cs typeface="Calibri"/>
              </a:rPr>
              <a:t>operational- </a:t>
            </a:r>
            <a:r>
              <a:rPr dirty="0" sz="1000">
                <a:latin typeface="Calibri"/>
                <a:cs typeface="Calibri"/>
              </a:rPr>
              <a:t> </a:t>
            </a:r>
            <a:r>
              <a:rPr dirty="0" sz="1000" spc="-10">
                <a:latin typeface="Calibri"/>
                <a:cs typeface="Calibri"/>
              </a:rPr>
              <a:t>level </a:t>
            </a:r>
            <a:r>
              <a:rPr dirty="0" sz="1000" spc="-5">
                <a:latin typeface="Calibri"/>
                <a:cs typeface="Calibri"/>
              </a:rPr>
              <a:t> requirements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892556"/>
            <a:ext cx="126238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b="1">
                <a:latin typeface="Calibri"/>
                <a:cs typeface="Calibri"/>
              </a:rPr>
              <a:t>Role</a:t>
            </a:r>
            <a:r>
              <a:rPr dirty="0" sz="1100" spc="-25" b="1">
                <a:latin typeface="Calibri"/>
                <a:cs typeface="Calibri"/>
              </a:rPr>
              <a:t> </a:t>
            </a:r>
            <a:r>
              <a:rPr dirty="0" sz="1100" spc="-5" b="1">
                <a:latin typeface="Calibri"/>
                <a:cs typeface="Calibri"/>
              </a:rPr>
              <a:t>of</a:t>
            </a:r>
            <a:r>
              <a:rPr dirty="0" sz="1100" spc="-20" b="1">
                <a:latin typeface="Calibri"/>
                <a:cs typeface="Calibri"/>
              </a:rPr>
              <a:t> </a:t>
            </a:r>
            <a:r>
              <a:rPr dirty="0" sz="1100" spc="-5" b="1">
                <a:latin typeface="Calibri"/>
                <a:cs typeface="Calibri"/>
              </a:rPr>
              <a:t>Stakeholders: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534539" y="5033898"/>
            <a:ext cx="2704465" cy="1936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 spc="-5" b="1">
                <a:latin typeface="Calibri"/>
                <a:cs typeface="Calibri"/>
              </a:rPr>
              <a:t>Table </a:t>
            </a:r>
            <a:r>
              <a:rPr dirty="0" sz="1100" b="1">
                <a:latin typeface="Calibri"/>
                <a:cs typeface="Calibri"/>
              </a:rPr>
              <a:t>1: </a:t>
            </a:r>
            <a:r>
              <a:rPr dirty="0" sz="1100" spc="-5" b="1">
                <a:latin typeface="Calibri"/>
                <a:cs typeface="Calibri"/>
              </a:rPr>
              <a:t>Stakeholders’</a:t>
            </a:r>
            <a:r>
              <a:rPr dirty="0" sz="1100" spc="10" b="1">
                <a:latin typeface="Calibri"/>
                <a:cs typeface="Calibri"/>
              </a:rPr>
              <a:t> </a:t>
            </a:r>
            <a:r>
              <a:rPr dirty="0" sz="1100" spc="-10" b="1">
                <a:latin typeface="Calibri"/>
                <a:cs typeface="Calibri"/>
              </a:rPr>
              <a:t>Roles</a:t>
            </a:r>
            <a:r>
              <a:rPr dirty="0" sz="1100" spc="5" b="1">
                <a:latin typeface="Calibri"/>
                <a:cs typeface="Calibri"/>
              </a:rPr>
              <a:t> </a:t>
            </a:r>
            <a:r>
              <a:rPr dirty="0" sz="1100" b="1">
                <a:latin typeface="Calibri"/>
                <a:cs typeface="Calibri"/>
              </a:rPr>
              <a:t>in </a:t>
            </a:r>
            <a:r>
              <a:rPr dirty="0" sz="1100" spc="-5" b="1">
                <a:latin typeface="Calibri"/>
                <a:cs typeface="Calibri"/>
              </a:rPr>
              <a:t>product</a:t>
            </a:r>
            <a:r>
              <a:rPr dirty="0" sz="1100" spc="5" b="1">
                <a:latin typeface="Calibri"/>
                <a:cs typeface="Calibri"/>
              </a:rPr>
              <a:t> </a:t>
            </a:r>
            <a:r>
              <a:rPr dirty="0" sz="1100" spc="-5" b="1">
                <a:latin typeface="Calibri"/>
                <a:cs typeface="Calibri"/>
              </a:rPr>
              <a:t>Design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2004" y="6175628"/>
            <a:ext cx="5661660" cy="209296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955800">
              <a:lnSpc>
                <a:spcPct val="100000"/>
              </a:lnSpc>
              <a:spcBef>
                <a:spcPts val="105"/>
              </a:spcBef>
            </a:pPr>
            <a:r>
              <a:rPr dirty="0" sz="1100" spc="-5" b="1">
                <a:latin typeface="Calibri"/>
                <a:cs typeface="Calibri"/>
              </a:rPr>
              <a:t>Needs</a:t>
            </a:r>
            <a:r>
              <a:rPr dirty="0" sz="1100" b="1">
                <a:latin typeface="Calibri"/>
                <a:cs typeface="Calibri"/>
              </a:rPr>
              <a:t> </a:t>
            </a:r>
            <a:r>
              <a:rPr dirty="0" sz="1100" spc="-5" b="1">
                <a:latin typeface="Calibri"/>
                <a:cs typeface="Calibri"/>
              </a:rPr>
              <a:t>Documentation and</a:t>
            </a:r>
            <a:r>
              <a:rPr dirty="0" sz="1100" spc="-10" b="1">
                <a:latin typeface="Calibri"/>
                <a:cs typeface="Calibri"/>
              </a:rPr>
              <a:t> </a:t>
            </a:r>
            <a:r>
              <a:rPr dirty="0" sz="1100" spc="-5" b="1">
                <a:latin typeface="Calibri"/>
                <a:cs typeface="Calibri"/>
              </a:rPr>
              <a:t>Analysis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5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100" spc="-5" b="1">
                <a:latin typeface="Calibri"/>
                <a:cs typeface="Calibri"/>
              </a:rPr>
              <a:t>Formulating</a:t>
            </a:r>
            <a:r>
              <a:rPr dirty="0" sz="1100" spc="5" b="1">
                <a:latin typeface="Calibri"/>
                <a:cs typeface="Calibri"/>
              </a:rPr>
              <a:t> </a:t>
            </a:r>
            <a:r>
              <a:rPr dirty="0" sz="1100" b="1">
                <a:latin typeface="Calibri"/>
                <a:cs typeface="Calibri"/>
              </a:rPr>
              <a:t>&amp;</a:t>
            </a:r>
            <a:r>
              <a:rPr dirty="0" sz="1100" spc="-10" b="1">
                <a:latin typeface="Calibri"/>
                <a:cs typeface="Calibri"/>
              </a:rPr>
              <a:t> </a:t>
            </a:r>
            <a:r>
              <a:rPr dirty="0" sz="1100" spc="-5" b="1">
                <a:latin typeface="Calibri"/>
                <a:cs typeface="Calibri"/>
              </a:rPr>
              <a:t>Organizing</a:t>
            </a:r>
            <a:r>
              <a:rPr dirty="0" sz="1100" spc="-10" b="1">
                <a:latin typeface="Calibri"/>
                <a:cs typeface="Calibri"/>
              </a:rPr>
              <a:t> </a:t>
            </a:r>
            <a:r>
              <a:rPr dirty="0" sz="1100" spc="-5" b="1">
                <a:latin typeface="Calibri"/>
                <a:cs typeface="Calibri"/>
              </a:rPr>
              <a:t>Documentation:</a:t>
            </a:r>
            <a:endParaRPr sz="1100">
              <a:latin typeface="Calibri"/>
              <a:cs typeface="Calibri"/>
            </a:endParaRPr>
          </a:p>
          <a:p>
            <a:pPr marL="469265" marR="5080" indent="-228600">
              <a:lnSpc>
                <a:spcPct val="109100"/>
              </a:lnSpc>
              <a:spcBef>
                <a:spcPts val="815"/>
              </a:spcBef>
              <a:buFont typeface="Microsoft Sans Serif"/>
              <a:buChar char=""/>
              <a:tabLst>
                <a:tab pos="469265" algn="l"/>
                <a:tab pos="469900" algn="l"/>
              </a:tabLst>
            </a:pPr>
            <a:r>
              <a:rPr dirty="0" sz="1100" spc="-5">
                <a:latin typeface="Calibri"/>
                <a:cs typeface="Calibri"/>
              </a:rPr>
              <a:t>The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raw</a:t>
            </a:r>
            <a:r>
              <a:rPr dirty="0" sz="1100" spc="-5">
                <a:latin typeface="Calibri"/>
                <a:cs typeface="Calibri"/>
              </a:rPr>
              <a:t> data</a:t>
            </a:r>
            <a:r>
              <a:rPr dirty="0" sz="1100">
                <a:latin typeface="Calibri"/>
                <a:cs typeface="Calibri"/>
              </a:rPr>
              <a:t> collected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from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interviews, observation,</a:t>
            </a:r>
            <a:r>
              <a:rPr dirty="0" sz="1100">
                <a:latin typeface="Calibri"/>
                <a:cs typeface="Calibri"/>
              </a:rPr>
              <a:t> focus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groups,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workshops,</a:t>
            </a:r>
            <a:r>
              <a:rPr dirty="0" sz="110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competitive </a:t>
            </a:r>
            <a:r>
              <a:rPr dirty="0" sz="1100" spc="-23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studies</a:t>
            </a:r>
            <a:r>
              <a:rPr dirty="0" sz="1100">
                <a:latin typeface="Calibri"/>
                <a:cs typeface="Calibri"/>
              </a:rPr>
              <a:t> and</a:t>
            </a:r>
            <a:r>
              <a:rPr dirty="0" sz="1100" spc="-5">
                <a:latin typeface="Calibri"/>
                <a:cs typeface="Calibri"/>
              </a:rPr>
              <a:t> so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forth</a:t>
            </a:r>
            <a:r>
              <a:rPr dirty="0" sz="110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needs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to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be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sorted,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stated</a:t>
            </a:r>
            <a:r>
              <a:rPr dirty="0" sz="110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clearly,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 organized.</a:t>
            </a:r>
            <a:endParaRPr sz="1100">
              <a:latin typeface="Calibri"/>
              <a:cs typeface="Calibri"/>
            </a:endParaRPr>
          </a:p>
          <a:p>
            <a:pPr marL="469265" indent="-228600">
              <a:lnSpc>
                <a:spcPct val="100000"/>
              </a:lnSpc>
              <a:spcBef>
                <a:spcPts val="940"/>
              </a:spcBef>
              <a:buFont typeface="Microsoft Sans Serif"/>
              <a:buChar char=""/>
              <a:tabLst>
                <a:tab pos="469265" algn="l"/>
                <a:tab pos="469900" algn="l"/>
              </a:tabLst>
            </a:pPr>
            <a:r>
              <a:rPr dirty="0" sz="1100" spc="-5">
                <a:latin typeface="Calibri"/>
                <a:cs typeface="Calibri"/>
              </a:rPr>
              <a:t>First</a:t>
            </a:r>
            <a:r>
              <a:rPr dirty="0" sz="110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step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is </a:t>
            </a:r>
            <a:r>
              <a:rPr dirty="0" sz="1100" spc="-5">
                <a:latin typeface="Calibri"/>
                <a:cs typeface="Calibri"/>
              </a:rPr>
              <a:t>to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divide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data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into</a:t>
            </a:r>
            <a:r>
              <a:rPr dirty="0" sz="1100" spc="-5">
                <a:latin typeface="Calibri"/>
                <a:cs typeface="Calibri"/>
              </a:rPr>
              <a:t> two categories:</a:t>
            </a:r>
            <a:endParaRPr sz="1100">
              <a:latin typeface="Calibri"/>
              <a:cs typeface="Calibri"/>
            </a:endParaRPr>
          </a:p>
          <a:p>
            <a:pPr lvl="1" marL="730250" indent="-261620">
              <a:lnSpc>
                <a:spcPct val="100000"/>
              </a:lnSpc>
              <a:spcBef>
                <a:spcPts val="925"/>
              </a:spcBef>
              <a:buAutoNum type="arabicParenR"/>
              <a:tabLst>
                <a:tab pos="730250" algn="l"/>
                <a:tab pos="730885" algn="l"/>
              </a:tabLst>
            </a:pPr>
            <a:r>
              <a:rPr dirty="0" sz="1100">
                <a:latin typeface="Calibri"/>
                <a:cs typeface="Calibri"/>
              </a:rPr>
              <a:t>Data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about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5">
                <a:latin typeface="Calibri"/>
                <a:cs typeface="Calibri"/>
              </a:rPr>
              <a:t> problem domain</a:t>
            </a:r>
            <a:endParaRPr sz="1100">
              <a:latin typeface="Calibri"/>
              <a:cs typeface="Calibri"/>
            </a:endParaRPr>
          </a:p>
          <a:p>
            <a:pPr lvl="1" marL="730250" indent="-261620">
              <a:lnSpc>
                <a:spcPct val="100000"/>
              </a:lnSpc>
              <a:spcBef>
                <a:spcPts val="935"/>
              </a:spcBef>
              <a:buAutoNum type="arabicParenR"/>
              <a:tabLst>
                <a:tab pos="730250" algn="l"/>
                <a:tab pos="730885" algn="l"/>
              </a:tabLst>
            </a:pPr>
            <a:r>
              <a:rPr dirty="0" sz="1100">
                <a:latin typeface="Calibri"/>
                <a:cs typeface="Calibri"/>
              </a:rPr>
              <a:t>Data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about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Stakeholders’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goals, </a:t>
            </a:r>
            <a:r>
              <a:rPr dirty="0" sz="1100" spc="-5">
                <a:latin typeface="Calibri"/>
                <a:cs typeface="Calibri"/>
              </a:rPr>
              <a:t>needs,</a:t>
            </a:r>
            <a:r>
              <a:rPr dirty="0" sz="1100">
                <a:latin typeface="Calibri"/>
                <a:cs typeface="Calibri"/>
              </a:rPr>
              <a:t> and</a:t>
            </a:r>
            <a:r>
              <a:rPr dirty="0" sz="1100" spc="-5">
                <a:latin typeface="Calibri"/>
                <a:cs typeface="Calibri"/>
              </a:rPr>
              <a:t> desires</a:t>
            </a:r>
            <a:endParaRPr sz="11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3588" y="1251877"/>
            <a:ext cx="5839097" cy="3634916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892556"/>
            <a:ext cx="5824220" cy="17043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" b="1">
                <a:latin typeface="Calibri"/>
                <a:cs typeface="Calibri"/>
              </a:rPr>
              <a:t>Documenting</a:t>
            </a:r>
            <a:r>
              <a:rPr dirty="0" sz="1100" spc="-15" b="1">
                <a:latin typeface="Calibri"/>
                <a:cs typeface="Calibri"/>
              </a:rPr>
              <a:t> </a:t>
            </a:r>
            <a:r>
              <a:rPr dirty="0" sz="1100" b="1">
                <a:latin typeface="Calibri"/>
                <a:cs typeface="Calibri"/>
              </a:rPr>
              <a:t>the</a:t>
            </a:r>
            <a:r>
              <a:rPr dirty="0" sz="1100" spc="-10" b="1">
                <a:latin typeface="Calibri"/>
                <a:cs typeface="Calibri"/>
              </a:rPr>
              <a:t> </a:t>
            </a:r>
            <a:r>
              <a:rPr dirty="0" sz="1100" spc="-5" b="1">
                <a:latin typeface="Calibri"/>
                <a:cs typeface="Calibri"/>
              </a:rPr>
              <a:t>Problem</a:t>
            </a:r>
            <a:r>
              <a:rPr dirty="0" sz="1100" spc="-10" b="1">
                <a:latin typeface="Calibri"/>
                <a:cs typeface="Calibri"/>
              </a:rPr>
              <a:t> </a:t>
            </a:r>
            <a:r>
              <a:rPr dirty="0" sz="1100" spc="-5" b="1">
                <a:latin typeface="Calibri"/>
                <a:cs typeface="Calibri"/>
              </a:rPr>
              <a:t>Domain: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400">
              <a:latin typeface="Calibri"/>
              <a:cs typeface="Calibri"/>
            </a:endParaRPr>
          </a:p>
          <a:p>
            <a:pPr marL="469265" marR="5080" indent="-228600">
              <a:lnSpc>
                <a:spcPct val="110000"/>
              </a:lnSpc>
              <a:buFont typeface="Microsoft Sans Serif"/>
              <a:buChar char=""/>
              <a:tabLst>
                <a:tab pos="469265" algn="l"/>
                <a:tab pos="469900" algn="l"/>
              </a:tabLst>
            </a:pPr>
            <a:r>
              <a:rPr dirty="0" sz="1100">
                <a:latin typeface="Calibri"/>
                <a:cs typeface="Calibri"/>
              </a:rPr>
              <a:t>Data </a:t>
            </a:r>
            <a:r>
              <a:rPr dirty="0" sz="1100" spc="-5">
                <a:latin typeface="Calibri"/>
                <a:cs typeface="Calibri"/>
              </a:rPr>
              <a:t>about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problem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domain </a:t>
            </a:r>
            <a:r>
              <a:rPr dirty="0" sz="1100">
                <a:latin typeface="Calibri"/>
                <a:cs typeface="Calibri"/>
              </a:rPr>
              <a:t>can </a:t>
            </a:r>
            <a:r>
              <a:rPr dirty="0" sz="1100" spc="-10">
                <a:latin typeface="Calibri"/>
                <a:cs typeface="Calibri"/>
              </a:rPr>
              <a:t>be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further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categorized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grouped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to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form</a:t>
            </a:r>
            <a:r>
              <a:rPr dirty="0" sz="1100">
                <a:latin typeface="Calibri"/>
                <a:cs typeface="Calibri"/>
              </a:rPr>
              <a:t> an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organized </a:t>
            </a:r>
            <a:r>
              <a:rPr dirty="0" sz="1100" spc="-229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set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 </a:t>
            </a:r>
            <a:r>
              <a:rPr dirty="0" sz="1100" spc="-5">
                <a:latin typeface="Calibri"/>
                <a:cs typeface="Calibri"/>
              </a:rPr>
              <a:t>notes.</a:t>
            </a:r>
            <a:endParaRPr sz="1100">
              <a:latin typeface="Calibri"/>
              <a:cs typeface="Calibri"/>
            </a:endParaRPr>
          </a:p>
          <a:p>
            <a:pPr lvl="1" marL="697865" marR="241300" indent="-228600">
              <a:lnSpc>
                <a:spcPct val="110000"/>
              </a:lnSpc>
              <a:spcBef>
                <a:spcPts val="795"/>
              </a:spcBef>
              <a:buAutoNum type="arabicParenR"/>
              <a:tabLst>
                <a:tab pos="698500" algn="l"/>
              </a:tabLst>
            </a:pPr>
            <a:r>
              <a:rPr dirty="0" sz="1100" spc="-5">
                <a:latin typeface="Calibri"/>
                <a:cs typeface="Calibri"/>
              </a:rPr>
              <a:t>Problem</a:t>
            </a:r>
            <a:r>
              <a:rPr dirty="0" sz="110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Domain</a:t>
            </a:r>
            <a:r>
              <a:rPr dirty="0" sz="110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Glossary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is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useful </a:t>
            </a:r>
            <a:r>
              <a:rPr dirty="0" sz="1100">
                <a:latin typeface="Calibri"/>
                <a:cs typeface="Calibri"/>
              </a:rPr>
              <a:t>tool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understanding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domain.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Most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problem </a:t>
            </a:r>
            <a:r>
              <a:rPr dirty="0" sz="1100" spc="-2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domains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have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their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own </a:t>
            </a:r>
            <a:r>
              <a:rPr dirty="0" sz="1100" spc="-5">
                <a:latin typeface="Calibri"/>
                <a:cs typeface="Calibri"/>
              </a:rPr>
              <a:t>terminology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that </a:t>
            </a:r>
            <a:r>
              <a:rPr dirty="0" sz="1100" spc="-5">
                <a:latin typeface="Calibri"/>
                <a:cs typeface="Calibri"/>
              </a:rPr>
              <a:t>designers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must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learn</a:t>
            </a:r>
            <a:endParaRPr sz="1100">
              <a:latin typeface="Calibri"/>
              <a:cs typeface="Calibri"/>
            </a:endParaRPr>
          </a:p>
          <a:p>
            <a:pPr lvl="1" marL="697865" indent="-229235">
              <a:lnSpc>
                <a:spcPct val="100000"/>
              </a:lnSpc>
              <a:spcBef>
                <a:spcPts val="919"/>
              </a:spcBef>
              <a:buAutoNum type="arabicParenR"/>
              <a:tabLst>
                <a:tab pos="698500" algn="l"/>
              </a:tabLst>
            </a:pPr>
            <a:r>
              <a:rPr dirty="0" sz="1100" spc="-5">
                <a:latin typeface="Calibri"/>
                <a:cs typeface="Calibri"/>
              </a:rPr>
              <a:t>Organization</a:t>
            </a:r>
            <a:r>
              <a:rPr dirty="0" sz="110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Chart</a:t>
            </a:r>
            <a:r>
              <a:rPr dirty="0" sz="1100">
                <a:latin typeface="Calibri"/>
                <a:cs typeface="Calibri"/>
              </a:rPr>
              <a:t> can </a:t>
            </a:r>
            <a:r>
              <a:rPr dirty="0" sz="1100" spc="-5">
                <a:latin typeface="Calibri"/>
                <a:cs typeface="Calibri"/>
              </a:rPr>
              <a:t>be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made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to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display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data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about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stakeholders’</a:t>
            </a:r>
            <a:r>
              <a:rPr dirty="0" sz="1100">
                <a:latin typeface="Calibri"/>
                <a:cs typeface="Calibri"/>
              </a:rPr>
              <a:t> organization.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2004" y="3259962"/>
            <a:ext cx="5848985" cy="29298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" b="1">
                <a:latin typeface="Calibri"/>
                <a:cs typeface="Calibri"/>
              </a:rPr>
              <a:t>Continue</a:t>
            </a:r>
            <a:r>
              <a:rPr dirty="0" sz="1100" spc="-10" b="1">
                <a:latin typeface="Calibri"/>
                <a:cs typeface="Calibri"/>
              </a:rPr>
              <a:t> </a:t>
            </a:r>
            <a:r>
              <a:rPr dirty="0" sz="1100" spc="-5" b="1">
                <a:latin typeface="Calibri"/>
                <a:cs typeface="Calibri"/>
              </a:rPr>
              <a:t>UML Activity Diagrams:</a:t>
            </a:r>
            <a:endParaRPr sz="1100">
              <a:latin typeface="Calibri"/>
              <a:cs typeface="Calibri"/>
            </a:endParaRPr>
          </a:p>
          <a:p>
            <a:pPr marL="469265" marR="354965">
              <a:lnSpc>
                <a:spcPct val="110000"/>
              </a:lnSpc>
              <a:spcBef>
                <a:spcPts val="805"/>
              </a:spcBef>
            </a:pPr>
            <a:r>
              <a:rPr dirty="0" sz="1100">
                <a:latin typeface="Calibri"/>
                <a:cs typeface="Calibri"/>
              </a:rPr>
              <a:t>UML</a:t>
            </a:r>
            <a:r>
              <a:rPr dirty="0" sz="1100" spc="-5">
                <a:latin typeface="Calibri"/>
                <a:cs typeface="Calibri"/>
              </a:rPr>
              <a:t> Activity</a:t>
            </a:r>
            <a:r>
              <a:rPr dirty="0" sz="110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Diagrams</a:t>
            </a:r>
            <a:r>
              <a:rPr dirty="0" sz="1100">
                <a:latin typeface="Calibri"/>
                <a:cs typeface="Calibri"/>
              </a:rPr>
              <a:t> are </a:t>
            </a:r>
            <a:r>
              <a:rPr dirty="0" sz="1100" spc="-5">
                <a:latin typeface="Calibri"/>
                <a:cs typeface="Calibri"/>
              </a:rPr>
              <a:t>useful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tools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for</a:t>
            </a:r>
            <a:r>
              <a:rPr dirty="0" sz="110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organizing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documenting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problem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domain </a:t>
            </a:r>
            <a:r>
              <a:rPr dirty="0" sz="1100" spc="-229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information about</a:t>
            </a:r>
            <a:r>
              <a:rPr dirty="0" sz="110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business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processes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or </a:t>
            </a:r>
            <a:r>
              <a:rPr dirty="0" sz="1100" spc="-5">
                <a:latin typeface="Calibri"/>
                <a:cs typeface="Calibri"/>
              </a:rPr>
              <a:t>user</a:t>
            </a:r>
            <a:r>
              <a:rPr dirty="0" sz="110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processes.</a:t>
            </a:r>
            <a:endParaRPr sz="1100">
              <a:latin typeface="Calibri"/>
              <a:cs typeface="Calibri"/>
            </a:endParaRPr>
          </a:p>
          <a:p>
            <a:pPr marL="12700" marR="5080">
              <a:lnSpc>
                <a:spcPct val="109700"/>
              </a:lnSpc>
              <a:spcBef>
                <a:spcPts val="795"/>
              </a:spcBef>
            </a:pPr>
            <a:r>
              <a:rPr dirty="0" sz="1100">
                <a:latin typeface="Calibri"/>
                <a:cs typeface="Calibri"/>
              </a:rPr>
              <a:t>Activity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diagrams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are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graphical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representations</a:t>
            </a:r>
            <a:r>
              <a:rPr dirty="0" sz="1100">
                <a:latin typeface="Calibri"/>
                <a:cs typeface="Calibri"/>
              </a:rPr>
              <a:t> of </a:t>
            </a:r>
            <a:r>
              <a:rPr dirty="0" sz="1100" spc="-5">
                <a:latin typeface="Calibri"/>
                <a:cs typeface="Calibri"/>
              </a:rPr>
              <a:t>workflows</a:t>
            </a:r>
            <a:r>
              <a:rPr dirty="0" sz="1100">
                <a:latin typeface="Calibri"/>
                <a:cs typeface="Calibri"/>
              </a:rPr>
              <a:t> of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stepwise</a:t>
            </a:r>
            <a:r>
              <a:rPr dirty="0" sz="110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activities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actions</a:t>
            </a:r>
            <a:r>
              <a:rPr dirty="0" sz="1100" spc="2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with </a:t>
            </a:r>
            <a:r>
              <a:rPr dirty="0" sz="110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support for </a:t>
            </a:r>
            <a:r>
              <a:rPr dirty="0" sz="1100">
                <a:latin typeface="Calibri"/>
                <a:cs typeface="Calibri"/>
              </a:rPr>
              <a:t>choice, </a:t>
            </a:r>
            <a:r>
              <a:rPr dirty="0" sz="1100" spc="-5">
                <a:latin typeface="Calibri"/>
                <a:cs typeface="Calibri"/>
              </a:rPr>
              <a:t>iteration </a:t>
            </a:r>
            <a:r>
              <a:rPr dirty="0" sz="1100">
                <a:latin typeface="Calibri"/>
                <a:cs typeface="Calibri"/>
              </a:rPr>
              <a:t>and concurrency. Data about </a:t>
            </a:r>
            <a:r>
              <a:rPr dirty="0" sz="1100" spc="-5">
                <a:latin typeface="Calibri"/>
                <a:cs typeface="Calibri"/>
              </a:rPr>
              <a:t>processes </a:t>
            </a:r>
            <a:r>
              <a:rPr dirty="0" sz="1100">
                <a:latin typeface="Calibri"/>
                <a:cs typeface="Calibri"/>
              </a:rPr>
              <a:t>obtained </a:t>
            </a:r>
            <a:r>
              <a:rPr dirty="0" sz="1100" spc="-5">
                <a:latin typeface="Calibri"/>
                <a:cs typeface="Calibri"/>
              </a:rPr>
              <a:t>from interviews, </a:t>
            </a:r>
            <a:r>
              <a:rPr dirty="0" sz="110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observation,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focus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groups,</a:t>
            </a:r>
            <a:r>
              <a:rPr dirty="0" sz="1100">
                <a:latin typeface="Calibri"/>
                <a:cs typeface="Calibri"/>
              </a:rPr>
              <a:t> or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document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studies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can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be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represented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an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activity</a:t>
            </a:r>
            <a:r>
              <a:rPr dirty="0" sz="110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diagram</a:t>
            </a:r>
            <a:r>
              <a:rPr dirty="0" sz="1100">
                <a:latin typeface="Calibri"/>
                <a:cs typeface="Calibri"/>
              </a:rPr>
              <a:t> much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better </a:t>
            </a:r>
            <a:r>
              <a:rPr dirty="0" sz="1100" spc="-2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than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 </a:t>
            </a:r>
            <a:r>
              <a:rPr dirty="0" sz="1100" spc="-5">
                <a:latin typeface="Calibri"/>
                <a:cs typeface="Calibri"/>
              </a:rPr>
              <a:t>text.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5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100" spc="-5" b="1">
                <a:latin typeface="Calibri"/>
                <a:cs typeface="Calibri"/>
              </a:rPr>
              <a:t>Documenting Goals,</a:t>
            </a:r>
            <a:r>
              <a:rPr dirty="0" sz="1100" spc="-10" b="1">
                <a:latin typeface="Calibri"/>
                <a:cs typeface="Calibri"/>
              </a:rPr>
              <a:t> </a:t>
            </a:r>
            <a:r>
              <a:rPr dirty="0" sz="1100" spc="-5" b="1">
                <a:latin typeface="Calibri"/>
                <a:cs typeface="Calibri"/>
              </a:rPr>
              <a:t>Needs</a:t>
            </a:r>
            <a:r>
              <a:rPr dirty="0" sz="1100" b="1">
                <a:latin typeface="Calibri"/>
                <a:cs typeface="Calibri"/>
              </a:rPr>
              <a:t> </a:t>
            </a:r>
            <a:r>
              <a:rPr dirty="0" sz="1100" spc="-5" b="1">
                <a:latin typeface="Calibri"/>
                <a:cs typeface="Calibri"/>
              </a:rPr>
              <a:t>and</a:t>
            </a:r>
            <a:r>
              <a:rPr dirty="0" sz="1100" b="1">
                <a:latin typeface="Calibri"/>
                <a:cs typeface="Calibri"/>
              </a:rPr>
              <a:t> </a:t>
            </a:r>
            <a:r>
              <a:rPr dirty="0" sz="1100" spc="-5" b="1">
                <a:latin typeface="Calibri"/>
                <a:cs typeface="Calibri"/>
              </a:rPr>
              <a:t>Desires:</a:t>
            </a:r>
            <a:endParaRPr sz="1100">
              <a:latin typeface="Calibri"/>
              <a:cs typeface="Calibri"/>
            </a:endParaRPr>
          </a:p>
          <a:p>
            <a:pPr marL="469265" indent="-228600">
              <a:lnSpc>
                <a:spcPct val="100000"/>
              </a:lnSpc>
              <a:spcBef>
                <a:spcPts val="935"/>
              </a:spcBef>
              <a:buFont typeface="Microsoft Sans Serif"/>
              <a:buChar char=""/>
              <a:tabLst>
                <a:tab pos="469265" algn="l"/>
                <a:tab pos="469900" algn="l"/>
              </a:tabLst>
            </a:pPr>
            <a:r>
              <a:rPr dirty="0" sz="1100">
                <a:latin typeface="Calibri"/>
                <a:cs typeface="Calibri"/>
              </a:rPr>
              <a:t>Raw data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about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stakeholders’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goals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,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needs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desires</a:t>
            </a:r>
            <a:r>
              <a:rPr dirty="0" sz="1100">
                <a:latin typeface="Calibri"/>
                <a:cs typeface="Calibri"/>
              </a:rPr>
              <a:t> can </a:t>
            </a:r>
            <a:r>
              <a:rPr dirty="0" sz="1100" spc="-5">
                <a:latin typeface="Calibri"/>
                <a:cs typeface="Calibri"/>
              </a:rPr>
              <a:t>be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organized </a:t>
            </a:r>
            <a:r>
              <a:rPr dirty="0" sz="1100" spc="-5">
                <a:latin typeface="Calibri"/>
                <a:cs typeface="Calibri"/>
              </a:rPr>
              <a:t>into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two </a:t>
            </a:r>
            <a:r>
              <a:rPr dirty="0" sz="1100">
                <a:latin typeface="Calibri"/>
                <a:cs typeface="Calibri"/>
              </a:rPr>
              <a:t>lists:</a:t>
            </a:r>
            <a:endParaRPr sz="1100">
              <a:latin typeface="Calibri"/>
              <a:cs typeface="Calibri"/>
            </a:endParaRPr>
          </a:p>
          <a:p>
            <a:pPr lvl="1" marL="697865" indent="-229235">
              <a:lnSpc>
                <a:spcPct val="100000"/>
              </a:lnSpc>
              <a:spcBef>
                <a:spcPts val="925"/>
              </a:spcBef>
              <a:buAutoNum type="arabicParenR"/>
              <a:tabLst>
                <a:tab pos="698500" algn="l"/>
              </a:tabLst>
            </a:pPr>
            <a:r>
              <a:rPr dirty="0" sz="1100">
                <a:latin typeface="Calibri"/>
                <a:cs typeface="Calibri"/>
              </a:rPr>
              <a:t>A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stakeholders-goal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list</a:t>
            </a:r>
            <a:endParaRPr sz="1100">
              <a:latin typeface="Calibri"/>
              <a:cs typeface="Calibri"/>
            </a:endParaRPr>
          </a:p>
          <a:p>
            <a:pPr lvl="1" marL="697865" indent="-229235">
              <a:lnSpc>
                <a:spcPct val="100000"/>
              </a:lnSpc>
              <a:spcBef>
                <a:spcPts val="925"/>
              </a:spcBef>
              <a:buAutoNum type="arabicParenR"/>
              <a:tabLst>
                <a:tab pos="698500" algn="l"/>
              </a:tabLst>
            </a:pPr>
            <a:r>
              <a:rPr dirty="0" sz="1100">
                <a:latin typeface="Calibri"/>
                <a:cs typeface="Calibri"/>
              </a:rPr>
              <a:t>Needs</a:t>
            </a:r>
            <a:r>
              <a:rPr dirty="0" sz="1100" spc="-4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list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78891" y="6653783"/>
            <a:ext cx="7310755" cy="2481580"/>
            <a:chOff x="278891" y="6653783"/>
            <a:chExt cx="7310755" cy="248158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53567" y="6728459"/>
              <a:ext cx="7235952" cy="2406396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284987" y="6659879"/>
              <a:ext cx="7221220" cy="2391410"/>
            </a:xfrm>
            <a:custGeom>
              <a:avLst/>
              <a:gdLst/>
              <a:ahLst/>
              <a:cxnLst/>
              <a:rect l="l" t="t" r="r" b="b"/>
              <a:pathLst>
                <a:path w="7221220" h="2391409">
                  <a:moveTo>
                    <a:pt x="6822185" y="0"/>
                  </a:moveTo>
                  <a:lnTo>
                    <a:pt x="398538" y="0"/>
                  </a:lnTo>
                  <a:lnTo>
                    <a:pt x="352061" y="2681"/>
                  </a:lnTo>
                  <a:lnTo>
                    <a:pt x="307158" y="10525"/>
                  </a:lnTo>
                  <a:lnTo>
                    <a:pt x="264129" y="23234"/>
                  </a:lnTo>
                  <a:lnTo>
                    <a:pt x="223272" y="40508"/>
                  </a:lnTo>
                  <a:lnTo>
                    <a:pt x="184888" y="62047"/>
                  </a:lnTo>
                  <a:lnTo>
                    <a:pt x="149274" y="87554"/>
                  </a:lnTo>
                  <a:lnTo>
                    <a:pt x="116730" y="116728"/>
                  </a:lnTo>
                  <a:lnTo>
                    <a:pt x="87555" y="149272"/>
                  </a:lnTo>
                  <a:lnTo>
                    <a:pt x="62048" y="184884"/>
                  </a:lnTo>
                  <a:lnTo>
                    <a:pt x="40508" y="223268"/>
                  </a:lnTo>
                  <a:lnTo>
                    <a:pt x="23234" y="264123"/>
                  </a:lnTo>
                  <a:lnTo>
                    <a:pt x="10525" y="307150"/>
                  </a:lnTo>
                  <a:lnTo>
                    <a:pt x="2681" y="352051"/>
                  </a:lnTo>
                  <a:lnTo>
                    <a:pt x="0" y="398526"/>
                  </a:lnTo>
                  <a:lnTo>
                    <a:pt x="0" y="1992630"/>
                  </a:lnTo>
                  <a:lnTo>
                    <a:pt x="2681" y="2039104"/>
                  </a:lnTo>
                  <a:lnTo>
                    <a:pt x="10525" y="2084005"/>
                  </a:lnTo>
                  <a:lnTo>
                    <a:pt x="23234" y="2127032"/>
                  </a:lnTo>
                  <a:lnTo>
                    <a:pt x="40508" y="2167887"/>
                  </a:lnTo>
                  <a:lnTo>
                    <a:pt x="62048" y="2206271"/>
                  </a:lnTo>
                  <a:lnTo>
                    <a:pt x="87555" y="2241883"/>
                  </a:lnTo>
                  <a:lnTo>
                    <a:pt x="116730" y="2274427"/>
                  </a:lnTo>
                  <a:lnTo>
                    <a:pt x="149274" y="2303601"/>
                  </a:lnTo>
                  <a:lnTo>
                    <a:pt x="184888" y="2329108"/>
                  </a:lnTo>
                  <a:lnTo>
                    <a:pt x="223272" y="2350647"/>
                  </a:lnTo>
                  <a:lnTo>
                    <a:pt x="264129" y="2367921"/>
                  </a:lnTo>
                  <a:lnTo>
                    <a:pt x="307158" y="2380630"/>
                  </a:lnTo>
                  <a:lnTo>
                    <a:pt x="352061" y="2388474"/>
                  </a:lnTo>
                  <a:lnTo>
                    <a:pt x="398538" y="2391156"/>
                  </a:lnTo>
                  <a:lnTo>
                    <a:pt x="6822185" y="2391156"/>
                  </a:lnTo>
                  <a:lnTo>
                    <a:pt x="6868660" y="2388474"/>
                  </a:lnTo>
                  <a:lnTo>
                    <a:pt x="6913561" y="2380630"/>
                  </a:lnTo>
                  <a:lnTo>
                    <a:pt x="6956588" y="2367921"/>
                  </a:lnTo>
                  <a:lnTo>
                    <a:pt x="6997443" y="2350647"/>
                  </a:lnTo>
                  <a:lnTo>
                    <a:pt x="7035827" y="2329108"/>
                  </a:lnTo>
                  <a:lnTo>
                    <a:pt x="7071439" y="2303601"/>
                  </a:lnTo>
                  <a:lnTo>
                    <a:pt x="7103983" y="2274427"/>
                  </a:lnTo>
                  <a:lnTo>
                    <a:pt x="7133157" y="2241883"/>
                  </a:lnTo>
                  <a:lnTo>
                    <a:pt x="7158664" y="2206271"/>
                  </a:lnTo>
                  <a:lnTo>
                    <a:pt x="7180203" y="2167887"/>
                  </a:lnTo>
                  <a:lnTo>
                    <a:pt x="7197477" y="2127032"/>
                  </a:lnTo>
                  <a:lnTo>
                    <a:pt x="7210186" y="2084005"/>
                  </a:lnTo>
                  <a:lnTo>
                    <a:pt x="7218030" y="2039104"/>
                  </a:lnTo>
                  <a:lnTo>
                    <a:pt x="7220711" y="1992630"/>
                  </a:lnTo>
                  <a:lnTo>
                    <a:pt x="7220711" y="398526"/>
                  </a:lnTo>
                  <a:lnTo>
                    <a:pt x="7218030" y="352051"/>
                  </a:lnTo>
                  <a:lnTo>
                    <a:pt x="7210186" y="307150"/>
                  </a:lnTo>
                  <a:lnTo>
                    <a:pt x="7197477" y="264123"/>
                  </a:lnTo>
                  <a:lnTo>
                    <a:pt x="7180203" y="223268"/>
                  </a:lnTo>
                  <a:lnTo>
                    <a:pt x="7158664" y="184884"/>
                  </a:lnTo>
                  <a:lnTo>
                    <a:pt x="7133157" y="149272"/>
                  </a:lnTo>
                  <a:lnTo>
                    <a:pt x="7103983" y="116728"/>
                  </a:lnTo>
                  <a:lnTo>
                    <a:pt x="7071439" y="87554"/>
                  </a:lnTo>
                  <a:lnTo>
                    <a:pt x="7035827" y="62047"/>
                  </a:lnTo>
                  <a:lnTo>
                    <a:pt x="6997443" y="40508"/>
                  </a:lnTo>
                  <a:lnTo>
                    <a:pt x="6956588" y="23234"/>
                  </a:lnTo>
                  <a:lnTo>
                    <a:pt x="6913561" y="10525"/>
                  </a:lnTo>
                  <a:lnTo>
                    <a:pt x="6868660" y="2681"/>
                  </a:lnTo>
                  <a:lnTo>
                    <a:pt x="6822185" y="0"/>
                  </a:lnTo>
                  <a:close/>
                </a:path>
              </a:pathLst>
            </a:custGeom>
            <a:solidFill>
              <a:srgbClr val="76707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284987" y="6659879"/>
              <a:ext cx="7221220" cy="2391410"/>
            </a:xfrm>
            <a:custGeom>
              <a:avLst/>
              <a:gdLst/>
              <a:ahLst/>
              <a:cxnLst/>
              <a:rect l="l" t="t" r="r" b="b"/>
              <a:pathLst>
                <a:path w="7221220" h="2391409">
                  <a:moveTo>
                    <a:pt x="0" y="398526"/>
                  </a:moveTo>
                  <a:lnTo>
                    <a:pt x="2681" y="352051"/>
                  </a:lnTo>
                  <a:lnTo>
                    <a:pt x="10525" y="307150"/>
                  </a:lnTo>
                  <a:lnTo>
                    <a:pt x="23234" y="264123"/>
                  </a:lnTo>
                  <a:lnTo>
                    <a:pt x="40508" y="223268"/>
                  </a:lnTo>
                  <a:lnTo>
                    <a:pt x="62048" y="184884"/>
                  </a:lnTo>
                  <a:lnTo>
                    <a:pt x="87555" y="149272"/>
                  </a:lnTo>
                  <a:lnTo>
                    <a:pt x="116730" y="116728"/>
                  </a:lnTo>
                  <a:lnTo>
                    <a:pt x="149274" y="87554"/>
                  </a:lnTo>
                  <a:lnTo>
                    <a:pt x="184888" y="62047"/>
                  </a:lnTo>
                  <a:lnTo>
                    <a:pt x="223272" y="40508"/>
                  </a:lnTo>
                  <a:lnTo>
                    <a:pt x="264129" y="23234"/>
                  </a:lnTo>
                  <a:lnTo>
                    <a:pt x="307158" y="10525"/>
                  </a:lnTo>
                  <a:lnTo>
                    <a:pt x="352061" y="2681"/>
                  </a:lnTo>
                  <a:lnTo>
                    <a:pt x="398538" y="0"/>
                  </a:lnTo>
                  <a:lnTo>
                    <a:pt x="6822185" y="0"/>
                  </a:lnTo>
                  <a:lnTo>
                    <a:pt x="6868660" y="2681"/>
                  </a:lnTo>
                  <a:lnTo>
                    <a:pt x="6913561" y="10525"/>
                  </a:lnTo>
                  <a:lnTo>
                    <a:pt x="6956588" y="23234"/>
                  </a:lnTo>
                  <a:lnTo>
                    <a:pt x="6997443" y="40508"/>
                  </a:lnTo>
                  <a:lnTo>
                    <a:pt x="7035827" y="62047"/>
                  </a:lnTo>
                  <a:lnTo>
                    <a:pt x="7071439" y="87554"/>
                  </a:lnTo>
                  <a:lnTo>
                    <a:pt x="7103983" y="116728"/>
                  </a:lnTo>
                  <a:lnTo>
                    <a:pt x="7133157" y="149272"/>
                  </a:lnTo>
                  <a:lnTo>
                    <a:pt x="7158664" y="184884"/>
                  </a:lnTo>
                  <a:lnTo>
                    <a:pt x="7180203" y="223268"/>
                  </a:lnTo>
                  <a:lnTo>
                    <a:pt x="7197477" y="264123"/>
                  </a:lnTo>
                  <a:lnTo>
                    <a:pt x="7210186" y="307150"/>
                  </a:lnTo>
                  <a:lnTo>
                    <a:pt x="7218030" y="352051"/>
                  </a:lnTo>
                  <a:lnTo>
                    <a:pt x="7220711" y="398526"/>
                  </a:lnTo>
                  <a:lnTo>
                    <a:pt x="7220711" y="1992630"/>
                  </a:lnTo>
                  <a:lnTo>
                    <a:pt x="7218030" y="2039104"/>
                  </a:lnTo>
                  <a:lnTo>
                    <a:pt x="7210186" y="2084005"/>
                  </a:lnTo>
                  <a:lnTo>
                    <a:pt x="7197477" y="2127032"/>
                  </a:lnTo>
                  <a:lnTo>
                    <a:pt x="7180203" y="2167887"/>
                  </a:lnTo>
                  <a:lnTo>
                    <a:pt x="7158664" y="2206271"/>
                  </a:lnTo>
                  <a:lnTo>
                    <a:pt x="7133157" y="2241883"/>
                  </a:lnTo>
                  <a:lnTo>
                    <a:pt x="7103983" y="2274427"/>
                  </a:lnTo>
                  <a:lnTo>
                    <a:pt x="7071439" y="2303601"/>
                  </a:lnTo>
                  <a:lnTo>
                    <a:pt x="7035827" y="2329108"/>
                  </a:lnTo>
                  <a:lnTo>
                    <a:pt x="6997443" y="2350647"/>
                  </a:lnTo>
                  <a:lnTo>
                    <a:pt x="6956588" y="2367921"/>
                  </a:lnTo>
                  <a:lnTo>
                    <a:pt x="6913561" y="2380630"/>
                  </a:lnTo>
                  <a:lnTo>
                    <a:pt x="6868660" y="2388474"/>
                  </a:lnTo>
                  <a:lnTo>
                    <a:pt x="6822185" y="2391156"/>
                  </a:lnTo>
                  <a:lnTo>
                    <a:pt x="398538" y="2391156"/>
                  </a:lnTo>
                  <a:lnTo>
                    <a:pt x="352061" y="2388474"/>
                  </a:lnTo>
                  <a:lnTo>
                    <a:pt x="307158" y="2380630"/>
                  </a:lnTo>
                  <a:lnTo>
                    <a:pt x="264129" y="2367921"/>
                  </a:lnTo>
                  <a:lnTo>
                    <a:pt x="223272" y="2350647"/>
                  </a:lnTo>
                  <a:lnTo>
                    <a:pt x="184888" y="2329108"/>
                  </a:lnTo>
                  <a:lnTo>
                    <a:pt x="149274" y="2303601"/>
                  </a:lnTo>
                  <a:lnTo>
                    <a:pt x="116730" y="2274427"/>
                  </a:lnTo>
                  <a:lnTo>
                    <a:pt x="87555" y="2241883"/>
                  </a:lnTo>
                  <a:lnTo>
                    <a:pt x="62048" y="2206271"/>
                  </a:lnTo>
                  <a:lnTo>
                    <a:pt x="40508" y="2167887"/>
                  </a:lnTo>
                  <a:lnTo>
                    <a:pt x="23234" y="2127032"/>
                  </a:lnTo>
                  <a:lnTo>
                    <a:pt x="10525" y="2084005"/>
                  </a:lnTo>
                  <a:lnTo>
                    <a:pt x="2681" y="2039104"/>
                  </a:lnTo>
                  <a:lnTo>
                    <a:pt x="0" y="1992630"/>
                  </a:lnTo>
                  <a:lnTo>
                    <a:pt x="0" y="398526"/>
                  </a:lnTo>
                  <a:close/>
                </a:path>
              </a:pathLst>
            </a:custGeom>
            <a:ln w="12191">
              <a:solidFill>
                <a:srgbClr val="E7E6E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807516" y="7078218"/>
            <a:ext cx="6390005" cy="1507490"/>
          </a:xfrm>
          <a:prstGeom prst="rect">
            <a:avLst/>
          </a:prstGeom>
        </p:spPr>
        <p:txBody>
          <a:bodyPr wrap="square" lIns="0" tIns="3810" rIns="0" bIns="0" rtlCol="0" vert="horz">
            <a:spAutoFit/>
          </a:bodyPr>
          <a:lstStyle/>
          <a:p>
            <a:pPr algn="just" marL="241300" marR="5080" indent="-228600">
              <a:lnSpc>
                <a:spcPct val="101899"/>
              </a:lnSpc>
              <a:spcBef>
                <a:spcPts val="30"/>
              </a:spcBef>
              <a:buClr>
                <a:srgbClr val="5B9BD4"/>
              </a:buClr>
              <a:buSzPct val="68750"/>
              <a:buFont typeface="Microsoft Sans Serif"/>
              <a:buChar char=""/>
              <a:tabLst>
                <a:tab pos="241300" algn="l"/>
              </a:tabLst>
            </a:pPr>
            <a:r>
              <a:rPr dirty="0" sz="3200">
                <a:latin typeface="Calibri Light"/>
                <a:cs typeface="Calibri Light"/>
              </a:rPr>
              <a:t>A </a:t>
            </a:r>
            <a:r>
              <a:rPr dirty="0" sz="3200" spc="-45">
                <a:latin typeface="Calibri Light"/>
                <a:cs typeface="Calibri Light"/>
              </a:rPr>
              <a:t>stakeholders-goals </a:t>
            </a:r>
            <a:r>
              <a:rPr dirty="0" sz="3200" spc="-25">
                <a:latin typeface="Calibri Light"/>
                <a:cs typeface="Calibri Light"/>
              </a:rPr>
              <a:t>list </a:t>
            </a:r>
            <a:r>
              <a:rPr dirty="0" sz="3200">
                <a:latin typeface="Calibri Light"/>
                <a:cs typeface="Calibri Light"/>
              </a:rPr>
              <a:t>is a </a:t>
            </a:r>
            <a:r>
              <a:rPr dirty="0" sz="3200" spc="-20">
                <a:latin typeface="Calibri Light"/>
                <a:cs typeface="Calibri Light"/>
              </a:rPr>
              <a:t>catalog </a:t>
            </a:r>
            <a:r>
              <a:rPr dirty="0" sz="3200" spc="-15">
                <a:latin typeface="Calibri Light"/>
                <a:cs typeface="Calibri Light"/>
              </a:rPr>
              <a:t>of </a:t>
            </a:r>
            <a:r>
              <a:rPr dirty="0" sz="3200" spc="-710">
                <a:latin typeface="Calibri Light"/>
                <a:cs typeface="Calibri Light"/>
              </a:rPr>
              <a:t> </a:t>
            </a:r>
            <a:r>
              <a:rPr dirty="0" sz="3200" spc="-10">
                <a:latin typeface="Calibri Light"/>
                <a:cs typeface="Calibri Light"/>
              </a:rPr>
              <a:t>important </a:t>
            </a:r>
            <a:r>
              <a:rPr dirty="0" sz="3200" spc="-20">
                <a:latin typeface="Calibri Light"/>
                <a:cs typeface="Calibri Light"/>
              </a:rPr>
              <a:t>stakeholder </a:t>
            </a:r>
            <a:r>
              <a:rPr dirty="0" sz="3200" spc="-15">
                <a:latin typeface="Calibri Light"/>
                <a:cs typeface="Calibri Light"/>
              </a:rPr>
              <a:t>categories </a:t>
            </a:r>
            <a:r>
              <a:rPr dirty="0" sz="3200" spc="-5">
                <a:latin typeface="Calibri Light"/>
                <a:cs typeface="Calibri Light"/>
              </a:rPr>
              <a:t>and </a:t>
            </a:r>
            <a:r>
              <a:rPr dirty="0" sz="3200" spc="-710">
                <a:latin typeface="Calibri Light"/>
                <a:cs typeface="Calibri Light"/>
              </a:rPr>
              <a:t> </a:t>
            </a:r>
            <a:r>
              <a:rPr dirty="0" sz="3200">
                <a:latin typeface="Calibri Light"/>
                <a:cs typeface="Calibri Light"/>
              </a:rPr>
              <a:t>their</a:t>
            </a:r>
            <a:r>
              <a:rPr dirty="0" sz="3200" spc="-5">
                <a:latin typeface="Calibri Light"/>
                <a:cs typeface="Calibri Light"/>
              </a:rPr>
              <a:t> </a:t>
            </a:r>
            <a:r>
              <a:rPr dirty="0" sz="3200" spc="-10">
                <a:latin typeface="Calibri Light"/>
                <a:cs typeface="Calibri Light"/>
              </a:rPr>
              <a:t>goals.</a:t>
            </a:r>
            <a:endParaRPr sz="3200">
              <a:latin typeface="Calibri Light"/>
              <a:cs typeface="Calibri Light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241675" y="892556"/>
            <a:ext cx="1289685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" b="1">
                <a:latin typeface="Calibri"/>
                <a:cs typeface="Calibri"/>
              </a:rPr>
              <a:t>Aqua</a:t>
            </a:r>
            <a:r>
              <a:rPr dirty="0" sz="1100" spc="-25" b="1">
                <a:latin typeface="Calibri"/>
                <a:cs typeface="Calibri"/>
              </a:rPr>
              <a:t> </a:t>
            </a:r>
            <a:r>
              <a:rPr dirty="0" sz="1100" b="1">
                <a:latin typeface="Calibri"/>
                <a:cs typeface="Calibri"/>
              </a:rPr>
              <a:t>Lush</a:t>
            </a:r>
            <a:r>
              <a:rPr dirty="0" sz="1100" spc="-20" b="1">
                <a:latin typeface="Calibri"/>
                <a:cs typeface="Calibri"/>
              </a:rPr>
              <a:t> </a:t>
            </a:r>
            <a:r>
              <a:rPr dirty="0" sz="1100" b="1">
                <a:latin typeface="Calibri"/>
                <a:cs typeface="Calibri"/>
              </a:rPr>
              <a:t>Case</a:t>
            </a:r>
            <a:r>
              <a:rPr dirty="0" sz="1100" spc="-20" b="1">
                <a:latin typeface="Calibri"/>
                <a:cs typeface="Calibri"/>
              </a:rPr>
              <a:t> </a:t>
            </a:r>
            <a:r>
              <a:rPr dirty="0" sz="1100" spc="-5" b="1">
                <a:latin typeface="Calibri"/>
                <a:cs typeface="Calibri"/>
              </a:rPr>
              <a:t>Study</a:t>
            </a:r>
            <a:endParaRPr sz="11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" y="1817034"/>
            <a:ext cx="5897454" cy="337793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60049" y="5373360"/>
            <a:ext cx="5843170" cy="3401464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876147"/>
            <a:ext cx="5953760" cy="24574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10200"/>
              </a:lnSpc>
              <a:spcBef>
                <a:spcPts val="95"/>
              </a:spcBef>
            </a:pPr>
            <a:r>
              <a:rPr dirty="0" sz="1100" b="1">
                <a:latin typeface="Calibri"/>
                <a:cs typeface="Calibri"/>
              </a:rPr>
              <a:t>A</a:t>
            </a:r>
            <a:r>
              <a:rPr dirty="0" sz="1100" spc="10" b="1">
                <a:latin typeface="Calibri"/>
                <a:cs typeface="Calibri"/>
              </a:rPr>
              <a:t> </a:t>
            </a:r>
            <a:r>
              <a:rPr dirty="0" sz="1100" spc="-5" b="1">
                <a:latin typeface="Calibri"/>
                <a:cs typeface="Calibri"/>
              </a:rPr>
              <a:t>need</a:t>
            </a:r>
            <a:r>
              <a:rPr dirty="0" sz="1100" spc="5" b="1">
                <a:latin typeface="Calibri"/>
                <a:cs typeface="Calibri"/>
              </a:rPr>
              <a:t> </a:t>
            </a:r>
            <a:r>
              <a:rPr dirty="0" sz="1100" b="1">
                <a:latin typeface="Calibri"/>
                <a:cs typeface="Calibri"/>
              </a:rPr>
              <a:t>statement</a:t>
            </a:r>
            <a:r>
              <a:rPr dirty="0" sz="1100" spc="5" b="1">
                <a:latin typeface="Calibri"/>
                <a:cs typeface="Calibri"/>
              </a:rPr>
              <a:t> </a:t>
            </a:r>
            <a:r>
              <a:rPr dirty="0" sz="1100" spc="-5" b="1">
                <a:latin typeface="Calibri"/>
                <a:cs typeface="Calibri"/>
              </a:rPr>
              <a:t>documents</a:t>
            </a:r>
            <a:r>
              <a:rPr dirty="0" sz="1100" spc="10" b="1">
                <a:latin typeface="Calibri"/>
                <a:cs typeface="Calibri"/>
              </a:rPr>
              <a:t> </a:t>
            </a:r>
            <a:r>
              <a:rPr dirty="0" sz="1100" b="1">
                <a:latin typeface="Calibri"/>
                <a:cs typeface="Calibri"/>
              </a:rPr>
              <a:t>a</a:t>
            </a:r>
            <a:r>
              <a:rPr dirty="0" sz="1100" spc="10" b="1">
                <a:latin typeface="Calibri"/>
                <a:cs typeface="Calibri"/>
              </a:rPr>
              <a:t> </a:t>
            </a:r>
            <a:r>
              <a:rPr dirty="0" sz="1100" spc="-5" b="1">
                <a:latin typeface="Calibri"/>
                <a:cs typeface="Calibri"/>
              </a:rPr>
              <a:t>single product</a:t>
            </a:r>
            <a:r>
              <a:rPr dirty="0" sz="1100" spc="10" b="1">
                <a:latin typeface="Calibri"/>
                <a:cs typeface="Calibri"/>
              </a:rPr>
              <a:t> </a:t>
            </a:r>
            <a:r>
              <a:rPr dirty="0" sz="1100" spc="-5" b="1">
                <a:latin typeface="Calibri"/>
                <a:cs typeface="Calibri"/>
              </a:rPr>
              <a:t>feature,</a:t>
            </a:r>
            <a:r>
              <a:rPr dirty="0" sz="1100" spc="10" b="1">
                <a:latin typeface="Calibri"/>
                <a:cs typeface="Calibri"/>
              </a:rPr>
              <a:t> </a:t>
            </a:r>
            <a:r>
              <a:rPr dirty="0" sz="1100" spc="-5" b="1">
                <a:latin typeface="Calibri"/>
                <a:cs typeface="Calibri"/>
              </a:rPr>
              <a:t>function,</a:t>
            </a:r>
            <a:r>
              <a:rPr dirty="0" sz="1100" b="1">
                <a:latin typeface="Calibri"/>
                <a:cs typeface="Calibri"/>
              </a:rPr>
              <a:t> </a:t>
            </a:r>
            <a:r>
              <a:rPr dirty="0" sz="1100" spc="-5" b="1">
                <a:latin typeface="Calibri"/>
                <a:cs typeface="Calibri"/>
              </a:rPr>
              <a:t>or</a:t>
            </a:r>
            <a:r>
              <a:rPr dirty="0" sz="1100" spc="10" b="1">
                <a:latin typeface="Calibri"/>
                <a:cs typeface="Calibri"/>
              </a:rPr>
              <a:t> </a:t>
            </a:r>
            <a:r>
              <a:rPr dirty="0" sz="1100" spc="-5" b="1">
                <a:latin typeface="Calibri"/>
                <a:cs typeface="Calibri"/>
              </a:rPr>
              <a:t>property</a:t>
            </a:r>
            <a:r>
              <a:rPr dirty="0" sz="1100" spc="5" b="1">
                <a:latin typeface="Calibri"/>
                <a:cs typeface="Calibri"/>
              </a:rPr>
              <a:t> </a:t>
            </a:r>
            <a:r>
              <a:rPr dirty="0" sz="1100" spc="-5" b="1">
                <a:latin typeface="Calibri"/>
                <a:cs typeface="Calibri"/>
              </a:rPr>
              <a:t>needed</a:t>
            </a:r>
            <a:r>
              <a:rPr dirty="0" sz="1100" spc="10" b="1">
                <a:latin typeface="Calibri"/>
                <a:cs typeface="Calibri"/>
              </a:rPr>
              <a:t> </a:t>
            </a:r>
            <a:r>
              <a:rPr dirty="0" sz="1100" spc="-5" b="1">
                <a:latin typeface="Calibri"/>
                <a:cs typeface="Calibri"/>
              </a:rPr>
              <a:t>or</a:t>
            </a:r>
            <a:r>
              <a:rPr dirty="0" sz="1100" spc="10" b="1">
                <a:latin typeface="Calibri"/>
                <a:cs typeface="Calibri"/>
              </a:rPr>
              <a:t> </a:t>
            </a:r>
            <a:r>
              <a:rPr dirty="0" sz="1100" spc="-5" b="1">
                <a:latin typeface="Calibri"/>
                <a:cs typeface="Calibri"/>
              </a:rPr>
              <a:t>desired</a:t>
            </a:r>
            <a:r>
              <a:rPr dirty="0" sz="1100" spc="5" b="1">
                <a:latin typeface="Calibri"/>
                <a:cs typeface="Calibri"/>
              </a:rPr>
              <a:t> </a:t>
            </a:r>
            <a:r>
              <a:rPr dirty="0" sz="1100" b="1">
                <a:latin typeface="Calibri"/>
                <a:cs typeface="Calibri"/>
              </a:rPr>
              <a:t>by </a:t>
            </a:r>
            <a:r>
              <a:rPr dirty="0" sz="1100" spc="-5" b="1">
                <a:latin typeface="Calibri"/>
                <a:cs typeface="Calibri"/>
              </a:rPr>
              <a:t>one </a:t>
            </a:r>
            <a:r>
              <a:rPr dirty="0" sz="1100" spc="-235" b="1">
                <a:latin typeface="Calibri"/>
                <a:cs typeface="Calibri"/>
              </a:rPr>
              <a:t> </a:t>
            </a:r>
            <a:r>
              <a:rPr dirty="0" sz="1100" spc="-5" b="1">
                <a:latin typeface="Calibri"/>
                <a:cs typeface="Calibri"/>
              </a:rPr>
              <a:t>or more</a:t>
            </a:r>
            <a:r>
              <a:rPr dirty="0" sz="1100" spc="-15" b="1">
                <a:latin typeface="Calibri"/>
                <a:cs typeface="Calibri"/>
              </a:rPr>
              <a:t> </a:t>
            </a:r>
            <a:r>
              <a:rPr dirty="0" sz="1100" spc="-5" b="1">
                <a:latin typeface="Calibri"/>
                <a:cs typeface="Calibri"/>
              </a:rPr>
              <a:t>stakeholders.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500">
              <a:latin typeface="Calibri"/>
              <a:cs typeface="Calibri"/>
            </a:endParaRPr>
          </a:p>
          <a:p>
            <a:pPr marL="469265" indent="-228600">
              <a:lnSpc>
                <a:spcPct val="100000"/>
              </a:lnSpc>
              <a:spcBef>
                <a:spcPts val="5"/>
              </a:spcBef>
              <a:buFont typeface="Microsoft Sans Serif"/>
              <a:buChar char=""/>
              <a:tabLst>
                <a:tab pos="469265" algn="l"/>
                <a:tab pos="469900" algn="l"/>
              </a:tabLst>
            </a:pPr>
            <a:r>
              <a:rPr dirty="0" sz="1100">
                <a:latin typeface="Calibri"/>
                <a:cs typeface="Calibri"/>
              </a:rPr>
              <a:t>A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need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statement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should</a:t>
            </a:r>
            <a:endParaRPr sz="1100">
              <a:latin typeface="Calibri"/>
              <a:cs typeface="Calibri"/>
            </a:endParaRPr>
          </a:p>
          <a:p>
            <a:pPr lvl="1" marL="697865" indent="-229235">
              <a:lnSpc>
                <a:spcPct val="100000"/>
              </a:lnSpc>
              <a:spcBef>
                <a:spcPts val="120"/>
              </a:spcBef>
              <a:buAutoNum type="arabicParenR"/>
              <a:tabLst>
                <a:tab pos="698500" algn="l"/>
              </a:tabLst>
            </a:pPr>
            <a:r>
              <a:rPr dirty="0" sz="1100">
                <a:latin typeface="Calibri"/>
                <a:cs typeface="Calibri"/>
              </a:rPr>
              <a:t>Name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5">
                <a:latin typeface="Calibri"/>
                <a:cs typeface="Calibri"/>
              </a:rPr>
              <a:t> stakeholder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category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or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categories</a:t>
            </a:r>
            <a:endParaRPr sz="1100">
              <a:latin typeface="Calibri"/>
              <a:cs typeface="Calibri"/>
            </a:endParaRPr>
          </a:p>
          <a:p>
            <a:pPr lvl="1" marL="697865" indent="-229235">
              <a:lnSpc>
                <a:spcPct val="100000"/>
              </a:lnSpc>
              <a:spcBef>
                <a:spcPts val="130"/>
              </a:spcBef>
              <a:buAutoNum type="arabicParenR"/>
              <a:tabLst>
                <a:tab pos="698500" algn="l"/>
              </a:tabLst>
            </a:pPr>
            <a:r>
              <a:rPr dirty="0" sz="1100" spc="-5">
                <a:latin typeface="Calibri"/>
                <a:cs typeface="Calibri"/>
              </a:rPr>
              <a:t>State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one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specific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need</a:t>
            </a:r>
            <a:endParaRPr sz="1100">
              <a:latin typeface="Calibri"/>
              <a:cs typeface="Calibri"/>
            </a:endParaRPr>
          </a:p>
          <a:p>
            <a:pPr lvl="1" marL="697865" indent="-229235">
              <a:lnSpc>
                <a:spcPct val="100000"/>
              </a:lnSpc>
              <a:spcBef>
                <a:spcPts val="130"/>
              </a:spcBef>
              <a:buAutoNum type="arabicParenR"/>
              <a:tabLst>
                <a:tab pos="698500" algn="l"/>
              </a:tabLst>
            </a:pPr>
            <a:r>
              <a:rPr dirty="0" sz="1100">
                <a:latin typeface="Calibri"/>
                <a:cs typeface="Calibri"/>
              </a:rPr>
              <a:t>Be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</a:t>
            </a:r>
            <a:r>
              <a:rPr dirty="0" sz="1100" spc="-5">
                <a:latin typeface="Calibri"/>
                <a:cs typeface="Calibri"/>
              </a:rPr>
              <a:t> positive</a:t>
            </a:r>
            <a:r>
              <a:rPr dirty="0" sz="110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declarative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sentence</a:t>
            </a:r>
            <a:endParaRPr sz="11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45"/>
              </a:spcBef>
              <a:buFont typeface="Calibri"/>
              <a:buAutoNum type="arabicParenR"/>
            </a:pPr>
            <a:endParaRPr sz="1250">
              <a:latin typeface="Calibri"/>
              <a:cs typeface="Calibri"/>
            </a:endParaRPr>
          </a:p>
          <a:p>
            <a:pPr marL="469265" indent="-228600">
              <a:lnSpc>
                <a:spcPct val="100000"/>
              </a:lnSpc>
              <a:spcBef>
                <a:spcPts val="5"/>
              </a:spcBef>
              <a:buFont typeface="Microsoft Sans Serif"/>
              <a:buChar char=""/>
              <a:tabLst>
                <a:tab pos="469265" algn="l"/>
                <a:tab pos="469900" algn="l"/>
              </a:tabLst>
            </a:pPr>
            <a:r>
              <a:rPr dirty="0" sz="1100" spc="-5">
                <a:latin typeface="Calibri"/>
                <a:cs typeface="Calibri"/>
              </a:rPr>
              <a:t>Often</a:t>
            </a:r>
            <a:r>
              <a:rPr dirty="0" sz="110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requires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interpretation</a:t>
            </a:r>
            <a:r>
              <a:rPr dirty="0" sz="1100">
                <a:latin typeface="Calibri"/>
                <a:cs typeface="Calibri"/>
              </a:rPr>
              <a:t> of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raw</a:t>
            </a:r>
            <a:r>
              <a:rPr dirty="0" sz="1100" spc="-5">
                <a:latin typeface="Calibri"/>
                <a:cs typeface="Calibri"/>
              </a:rPr>
              <a:t> data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3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3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100" b="1">
                <a:latin typeface="Calibri"/>
                <a:cs typeface="Calibri"/>
              </a:rPr>
              <a:t>Here is a</a:t>
            </a:r>
            <a:r>
              <a:rPr dirty="0" sz="1100" spc="10" b="1">
                <a:latin typeface="Calibri"/>
                <a:cs typeface="Calibri"/>
              </a:rPr>
              <a:t> </a:t>
            </a:r>
            <a:r>
              <a:rPr dirty="0" sz="1100" spc="-5" b="1">
                <a:latin typeface="Calibri"/>
                <a:cs typeface="Calibri"/>
              </a:rPr>
              <a:t>list of</a:t>
            </a:r>
            <a:r>
              <a:rPr dirty="0" sz="1100" spc="5" b="1">
                <a:latin typeface="Calibri"/>
                <a:cs typeface="Calibri"/>
              </a:rPr>
              <a:t> </a:t>
            </a:r>
            <a:r>
              <a:rPr dirty="0" sz="1100" spc="-5" b="1">
                <a:latin typeface="Calibri"/>
                <a:cs typeface="Calibri"/>
              </a:rPr>
              <a:t>“Elicited</a:t>
            </a:r>
            <a:r>
              <a:rPr dirty="0" sz="1100" spc="-15" b="1">
                <a:latin typeface="Calibri"/>
                <a:cs typeface="Calibri"/>
              </a:rPr>
              <a:t> </a:t>
            </a:r>
            <a:r>
              <a:rPr dirty="0" sz="1100" spc="-5" b="1">
                <a:latin typeface="Calibri"/>
                <a:cs typeface="Calibri"/>
              </a:rPr>
              <a:t>Needs”</a:t>
            </a:r>
            <a:r>
              <a:rPr dirty="0" sz="1100" spc="10" b="1">
                <a:latin typeface="Calibri"/>
                <a:cs typeface="Calibri"/>
              </a:rPr>
              <a:t> </a:t>
            </a:r>
            <a:r>
              <a:rPr dirty="0" sz="1100" spc="-5" b="1">
                <a:latin typeface="Calibri"/>
                <a:cs typeface="Calibri"/>
              </a:rPr>
              <a:t>and</a:t>
            </a:r>
            <a:r>
              <a:rPr dirty="0" sz="1100" spc="5" b="1">
                <a:latin typeface="Calibri"/>
                <a:cs typeface="Calibri"/>
              </a:rPr>
              <a:t> </a:t>
            </a:r>
            <a:r>
              <a:rPr dirty="0" sz="1100" spc="-5" b="1">
                <a:latin typeface="Calibri"/>
                <a:cs typeface="Calibri"/>
              </a:rPr>
              <a:t>“Needs</a:t>
            </a:r>
            <a:r>
              <a:rPr dirty="0" sz="1100" spc="5" b="1">
                <a:latin typeface="Calibri"/>
                <a:cs typeface="Calibri"/>
              </a:rPr>
              <a:t> </a:t>
            </a:r>
            <a:r>
              <a:rPr dirty="0" sz="1100" spc="-5" b="1">
                <a:latin typeface="Calibri"/>
                <a:cs typeface="Calibri"/>
              </a:rPr>
              <a:t>Statements”: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598547" y="6321932"/>
            <a:ext cx="2576830" cy="1936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 spc="-5" b="1">
                <a:latin typeface="Calibri"/>
                <a:cs typeface="Calibri"/>
              </a:rPr>
              <a:t>Table:</a:t>
            </a:r>
            <a:r>
              <a:rPr dirty="0" sz="1100" spc="-10" b="1">
                <a:latin typeface="Calibri"/>
                <a:cs typeface="Calibri"/>
              </a:rPr>
              <a:t> </a:t>
            </a:r>
            <a:r>
              <a:rPr dirty="0" sz="1100" spc="-5" b="1">
                <a:latin typeface="Calibri"/>
                <a:cs typeface="Calibri"/>
              </a:rPr>
              <a:t>Elicited</a:t>
            </a:r>
            <a:r>
              <a:rPr dirty="0" sz="1100" spc="-20" b="1">
                <a:latin typeface="Calibri"/>
                <a:cs typeface="Calibri"/>
              </a:rPr>
              <a:t> </a:t>
            </a:r>
            <a:r>
              <a:rPr dirty="0" sz="1100" spc="-5" b="1">
                <a:latin typeface="Calibri"/>
                <a:cs typeface="Calibri"/>
              </a:rPr>
              <a:t>Needs and </a:t>
            </a:r>
            <a:r>
              <a:rPr dirty="0" sz="1100" b="1">
                <a:latin typeface="Calibri"/>
                <a:cs typeface="Calibri"/>
              </a:rPr>
              <a:t>Needs Statements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2004" y="7178420"/>
            <a:ext cx="114173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" b="1">
                <a:latin typeface="Calibri"/>
                <a:cs typeface="Calibri"/>
              </a:rPr>
              <a:t>Problem</a:t>
            </a:r>
            <a:r>
              <a:rPr dirty="0" sz="1100" spc="-35" b="1">
                <a:latin typeface="Calibri"/>
                <a:cs typeface="Calibri"/>
              </a:rPr>
              <a:t> </a:t>
            </a:r>
            <a:r>
              <a:rPr dirty="0" sz="1100" spc="-5" b="1">
                <a:latin typeface="Calibri"/>
                <a:cs typeface="Calibri"/>
              </a:rPr>
              <a:t>Modeling: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59153" y="7750302"/>
            <a:ext cx="475869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">
                <a:latin typeface="Calibri"/>
                <a:cs typeface="Calibri"/>
              </a:rPr>
              <a:t>Models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document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the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problem,</a:t>
            </a:r>
            <a:r>
              <a:rPr dirty="0" sz="1100">
                <a:latin typeface="Calibri"/>
                <a:cs typeface="Calibri"/>
              </a:rPr>
              <a:t> can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be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reviewed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with stakeholders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for</a:t>
            </a:r>
            <a:r>
              <a:rPr dirty="0" sz="110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consistency.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30604" y="7465314"/>
            <a:ext cx="4982210" cy="7651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0665" indent="-228600">
              <a:lnSpc>
                <a:spcPct val="100000"/>
              </a:lnSpc>
              <a:spcBef>
                <a:spcPts val="100"/>
              </a:spcBef>
              <a:buFont typeface="Microsoft Sans Serif"/>
              <a:buChar char=""/>
              <a:tabLst>
                <a:tab pos="240665" algn="l"/>
                <a:tab pos="241300" algn="l"/>
              </a:tabLst>
            </a:pPr>
            <a:r>
              <a:rPr dirty="0" sz="1100">
                <a:latin typeface="Calibri"/>
                <a:cs typeface="Calibri"/>
              </a:rPr>
              <a:t>Many</a:t>
            </a:r>
            <a:r>
              <a:rPr dirty="0" sz="1100" spc="-5">
                <a:latin typeface="Calibri"/>
                <a:cs typeface="Calibri"/>
              </a:rPr>
              <a:t> kinds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models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can represent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problem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help</a:t>
            </a:r>
            <a:r>
              <a:rPr dirty="0" sz="1100" spc="-5">
                <a:latin typeface="Calibri"/>
                <a:cs typeface="Calibri"/>
              </a:rPr>
              <a:t> designers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understand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it.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25"/>
              </a:spcBef>
            </a:pPr>
            <a:r>
              <a:rPr dirty="0" sz="1100" spc="-155">
                <a:latin typeface="Microsoft Sans Serif"/>
                <a:cs typeface="Microsoft Sans Serif"/>
              </a:rPr>
              <a:t>🞂</a:t>
            </a:r>
            <a:endParaRPr sz="11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940"/>
              </a:spcBef>
            </a:pPr>
            <a:r>
              <a:rPr dirty="0" sz="1100" spc="-155">
                <a:latin typeface="Microsoft Sans Serif"/>
                <a:cs typeface="Microsoft Sans Serif"/>
              </a:rPr>
              <a:t>🞂</a:t>
            </a:r>
            <a:endParaRPr sz="1100">
              <a:latin typeface="Microsoft Sans Serif"/>
              <a:cs typeface="Microsoft Sans Serif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59153" y="8036814"/>
            <a:ext cx="388239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>
                <a:latin typeface="Calibri"/>
                <a:cs typeface="Calibri"/>
              </a:rPr>
              <a:t>Many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modeling</a:t>
            </a:r>
            <a:r>
              <a:rPr dirty="0" sz="1100" spc="-5">
                <a:latin typeface="Calibri"/>
                <a:cs typeface="Calibri"/>
              </a:rPr>
              <a:t> notations</a:t>
            </a:r>
            <a:r>
              <a:rPr dirty="0" sz="110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and </a:t>
            </a:r>
            <a:r>
              <a:rPr dirty="0" sz="1100">
                <a:latin typeface="Calibri"/>
                <a:cs typeface="Calibri"/>
              </a:rPr>
              <a:t>techniques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are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useful</a:t>
            </a:r>
            <a:r>
              <a:rPr dirty="0" sz="1100" spc="-10">
                <a:latin typeface="Calibri"/>
                <a:cs typeface="Calibri"/>
              </a:rPr>
              <a:t> for</a:t>
            </a:r>
            <a:r>
              <a:rPr dirty="0" sz="1100">
                <a:latin typeface="Calibri"/>
                <a:cs typeface="Calibri"/>
              </a:rPr>
              <a:t> analysis </a:t>
            </a:r>
            <a:r>
              <a:rPr dirty="0" sz="1100" spc="-5">
                <a:latin typeface="Calibri"/>
                <a:cs typeface="Calibri"/>
              </a:rPr>
              <a:t>like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587753" y="8329421"/>
            <a:ext cx="3626485" cy="48640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Font typeface="Verdana"/>
              <a:buChar char="◦"/>
              <a:tabLst>
                <a:tab pos="240665" algn="l"/>
                <a:tab pos="241300" algn="l"/>
              </a:tabLst>
            </a:pPr>
            <a:r>
              <a:rPr dirty="0" sz="1100" spc="-5">
                <a:latin typeface="Calibri"/>
                <a:cs typeface="Calibri"/>
              </a:rPr>
              <a:t>Various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UML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diagrams</a:t>
            </a:r>
            <a:endParaRPr sz="11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985"/>
              </a:spcBef>
              <a:buFont typeface="Verdana"/>
              <a:buChar char="◦"/>
              <a:tabLst>
                <a:tab pos="240665" algn="l"/>
                <a:tab pos="241300" algn="l"/>
              </a:tabLst>
            </a:pPr>
            <a:r>
              <a:rPr dirty="0" sz="1100">
                <a:latin typeface="Calibri"/>
                <a:cs typeface="Calibri"/>
              </a:rPr>
              <a:t>Use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case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descriptions,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user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interface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diagrams,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dialog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maps</a:t>
            </a:r>
            <a:endParaRPr sz="1100">
              <a:latin typeface="Calibri"/>
              <a:cs typeface="Calibri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60689" y="3472080"/>
            <a:ext cx="5860278" cy="2718879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892556"/>
            <a:ext cx="5923280" cy="3419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" b="1">
                <a:latin typeface="Calibri"/>
                <a:cs typeface="Calibri"/>
              </a:rPr>
              <a:t>Checking</a:t>
            </a:r>
            <a:r>
              <a:rPr dirty="0" sz="1100" spc="-10" b="1">
                <a:latin typeface="Calibri"/>
                <a:cs typeface="Calibri"/>
              </a:rPr>
              <a:t> </a:t>
            </a:r>
            <a:r>
              <a:rPr dirty="0" sz="1100" b="1">
                <a:latin typeface="Calibri"/>
                <a:cs typeface="Calibri"/>
              </a:rPr>
              <a:t>Needs</a:t>
            </a:r>
            <a:r>
              <a:rPr dirty="0" sz="1100" spc="-20" b="1">
                <a:latin typeface="Calibri"/>
                <a:cs typeface="Calibri"/>
              </a:rPr>
              <a:t> </a:t>
            </a:r>
            <a:r>
              <a:rPr dirty="0" sz="1100" spc="-5" b="1">
                <a:latin typeface="Calibri"/>
                <a:cs typeface="Calibri"/>
              </a:rPr>
              <a:t>Documentation:</a:t>
            </a:r>
            <a:endParaRPr sz="1100">
              <a:latin typeface="Calibri"/>
              <a:cs typeface="Calibri"/>
            </a:endParaRPr>
          </a:p>
          <a:p>
            <a:pPr marL="469265" indent="-228600">
              <a:lnSpc>
                <a:spcPct val="100000"/>
              </a:lnSpc>
              <a:spcBef>
                <a:spcPts val="930"/>
              </a:spcBef>
              <a:buFont typeface="Microsoft Sans Serif"/>
              <a:buChar char=""/>
              <a:tabLst>
                <a:tab pos="469265" algn="l"/>
                <a:tab pos="469900" algn="l"/>
              </a:tabLst>
            </a:pPr>
            <a:r>
              <a:rPr dirty="0" sz="1100" spc="-5" b="1">
                <a:latin typeface="Calibri"/>
                <a:cs typeface="Calibri"/>
              </a:rPr>
              <a:t>Correctness:</a:t>
            </a:r>
            <a:r>
              <a:rPr dirty="0" sz="1100" b="1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</a:t>
            </a:r>
            <a:r>
              <a:rPr dirty="0" sz="1100" spc="-5">
                <a:latin typeface="Calibri"/>
                <a:cs typeface="Calibri"/>
              </a:rPr>
              <a:t> statement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is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 b="1">
                <a:latin typeface="Calibri"/>
                <a:cs typeface="Calibri"/>
              </a:rPr>
              <a:t>correct</a:t>
            </a:r>
            <a:r>
              <a:rPr dirty="0" sz="1100" b="1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if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it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is</a:t>
            </a:r>
            <a:r>
              <a:rPr dirty="0" sz="1100" spc="-5">
                <a:latin typeface="Calibri"/>
                <a:cs typeface="Calibri"/>
              </a:rPr>
              <a:t> contingent</a:t>
            </a:r>
            <a:r>
              <a:rPr dirty="0" sz="1100">
                <a:latin typeface="Calibri"/>
                <a:cs typeface="Calibri"/>
              </a:rPr>
              <a:t> and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accords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with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facts.</a:t>
            </a:r>
            <a:endParaRPr sz="1100">
              <a:latin typeface="Calibri"/>
              <a:cs typeface="Calibri"/>
            </a:endParaRPr>
          </a:p>
          <a:p>
            <a:pPr marL="469265" marR="5080" indent="-228600">
              <a:lnSpc>
                <a:spcPct val="110000"/>
              </a:lnSpc>
              <a:spcBef>
                <a:spcPts val="805"/>
              </a:spcBef>
              <a:buFont typeface="Microsoft Sans Serif"/>
              <a:buChar char=""/>
              <a:tabLst>
                <a:tab pos="469265" algn="l"/>
                <a:tab pos="469900" algn="l"/>
              </a:tabLst>
            </a:pPr>
            <a:r>
              <a:rPr dirty="0" sz="1100" spc="-5" b="1">
                <a:latin typeface="Calibri"/>
                <a:cs typeface="Calibri"/>
              </a:rPr>
              <a:t>Scope</a:t>
            </a:r>
            <a:r>
              <a:rPr dirty="0" sz="1100" spc="-5">
                <a:latin typeface="Calibri"/>
                <a:cs typeface="Calibri"/>
              </a:rPr>
              <a:t>: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goal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or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need</a:t>
            </a:r>
            <a:r>
              <a:rPr dirty="0" sz="1100">
                <a:latin typeface="Calibri"/>
                <a:cs typeface="Calibri"/>
              </a:rPr>
              <a:t> is</a:t>
            </a:r>
            <a:r>
              <a:rPr dirty="0" sz="1100" spc="-5">
                <a:latin typeface="Calibri"/>
                <a:cs typeface="Calibri"/>
              </a:rPr>
              <a:t> within</a:t>
            </a:r>
            <a:r>
              <a:rPr dirty="0" sz="1100">
                <a:latin typeface="Calibri"/>
                <a:cs typeface="Calibri"/>
              </a:rPr>
              <a:t> the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project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scope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if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it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can</a:t>
            </a:r>
            <a:r>
              <a:rPr dirty="0" sz="110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be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satisfied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using</a:t>
            </a:r>
            <a:r>
              <a:rPr dirty="0" sz="1100">
                <a:latin typeface="Calibri"/>
                <a:cs typeface="Calibri"/>
              </a:rPr>
              <a:t> the </a:t>
            </a:r>
            <a:r>
              <a:rPr dirty="0" sz="1100" spc="-5">
                <a:latin typeface="Calibri"/>
                <a:cs typeface="Calibri"/>
              </a:rPr>
              <a:t>planned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features </a:t>
            </a:r>
            <a:r>
              <a:rPr dirty="0" sz="1100" spc="-2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 the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product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created </a:t>
            </a:r>
            <a:r>
              <a:rPr dirty="0" sz="1100" spc="-10">
                <a:latin typeface="Calibri"/>
                <a:cs typeface="Calibri"/>
              </a:rPr>
              <a:t>by</a:t>
            </a:r>
            <a:r>
              <a:rPr dirty="0" sz="110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the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project.</a:t>
            </a:r>
            <a:endParaRPr sz="1100">
              <a:latin typeface="Calibri"/>
              <a:cs typeface="Calibri"/>
            </a:endParaRPr>
          </a:p>
          <a:p>
            <a:pPr marL="469265" marR="73025" indent="-228600">
              <a:lnSpc>
                <a:spcPct val="110000"/>
              </a:lnSpc>
              <a:spcBef>
                <a:spcPts val="790"/>
              </a:spcBef>
              <a:buFont typeface="Microsoft Sans Serif"/>
              <a:buChar char=""/>
              <a:tabLst>
                <a:tab pos="469265" algn="l"/>
                <a:tab pos="469900" algn="l"/>
              </a:tabLst>
            </a:pPr>
            <a:r>
              <a:rPr dirty="0" sz="1100" spc="-5" b="1">
                <a:latin typeface="Calibri"/>
                <a:cs typeface="Calibri"/>
              </a:rPr>
              <a:t>Terminologica</a:t>
            </a:r>
            <a:r>
              <a:rPr dirty="0" sz="1100" spc="-5">
                <a:latin typeface="Calibri"/>
                <a:cs typeface="Calibri"/>
              </a:rPr>
              <a:t>l</a:t>
            </a:r>
            <a:r>
              <a:rPr dirty="0" sz="1100">
                <a:latin typeface="Calibri"/>
                <a:cs typeface="Calibri"/>
              </a:rPr>
              <a:t> </a:t>
            </a:r>
            <a:r>
              <a:rPr dirty="0" sz="1100" spc="-5" b="1">
                <a:latin typeface="Calibri"/>
                <a:cs typeface="Calibri"/>
              </a:rPr>
              <a:t>Consistency:</a:t>
            </a:r>
            <a:r>
              <a:rPr dirty="0" sz="1100" spc="20" b="1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Terminological</a:t>
            </a:r>
            <a:r>
              <a:rPr dirty="0" sz="110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consistency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is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using</a:t>
            </a:r>
            <a:r>
              <a:rPr dirty="0" sz="1100">
                <a:latin typeface="Calibri"/>
                <a:cs typeface="Calibri"/>
              </a:rPr>
              <a:t> words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with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2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same</a:t>
            </a:r>
            <a:r>
              <a:rPr dirty="0" sz="110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meaning </a:t>
            </a:r>
            <a:r>
              <a:rPr dirty="0" sz="1100" spc="-229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not </a:t>
            </a:r>
            <a:r>
              <a:rPr dirty="0" sz="1100" spc="-5">
                <a:latin typeface="Calibri"/>
                <a:cs typeface="Calibri"/>
              </a:rPr>
              <a:t>using synonyms.</a:t>
            </a:r>
            <a:endParaRPr sz="1100">
              <a:latin typeface="Calibri"/>
              <a:cs typeface="Calibri"/>
            </a:endParaRPr>
          </a:p>
          <a:p>
            <a:pPr marL="469265" indent="-228600">
              <a:lnSpc>
                <a:spcPct val="100000"/>
              </a:lnSpc>
              <a:spcBef>
                <a:spcPts val="925"/>
              </a:spcBef>
              <a:buFont typeface="Microsoft Sans Serif"/>
              <a:buChar char=""/>
              <a:tabLst>
                <a:tab pos="469265" algn="l"/>
                <a:tab pos="469900" algn="l"/>
              </a:tabLst>
            </a:pPr>
            <a:r>
              <a:rPr dirty="0" sz="1100" spc="-5" b="1">
                <a:latin typeface="Calibri"/>
                <a:cs typeface="Calibri"/>
              </a:rPr>
              <a:t>Uniformity</a:t>
            </a:r>
            <a:r>
              <a:rPr dirty="0" sz="1100" spc="-5">
                <a:latin typeface="Calibri"/>
                <a:cs typeface="Calibri"/>
              </a:rPr>
              <a:t>—A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description </a:t>
            </a:r>
            <a:r>
              <a:rPr dirty="0" sz="1100">
                <a:latin typeface="Calibri"/>
                <a:cs typeface="Calibri"/>
              </a:rPr>
              <a:t>has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uniformity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when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it</a:t>
            </a:r>
            <a:r>
              <a:rPr dirty="0" sz="1100" spc="2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treats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similar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items </a:t>
            </a:r>
            <a:r>
              <a:rPr dirty="0" sz="1100">
                <a:latin typeface="Calibri"/>
                <a:cs typeface="Calibri"/>
              </a:rPr>
              <a:t>in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similar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ways.</a:t>
            </a:r>
            <a:endParaRPr sz="1100">
              <a:latin typeface="Calibri"/>
              <a:cs typeface="Calibri"/>
            </a:endParaRPr>
          </a:p>
          <a:p>
            <a:pPr marL="469265" indent="-228600">
              <a:lnSpc>
                <a:spcPct val="100000"/>
              </a:lnSpc>
              <a:spcBef>
                <a:spcPts val="935"/>
              </a:spcBef>
              <a:buFont typeface="Microsoft Sans Serif"/>
              <a:buChar char=""/>
              <a:tabLst>
                <a:tab pos="469265" algn="l"/>
                <a:tab pos="469900" algn="l"/>
              </a:tabLst>
            </a:pPr>
            <a:r>
              <a:rPr dirty="0" sz="1100" spc="-5" b="1">
                <a:latin typeface="Calibri"/>
                <a:cs typeface="Calibri"/>
              </a:rPr>
              <a:t>Completeness</a:t>
            </a:r>
            <a:r>
              <a:rPr dirty="0" sz="1100" spc="-5">
                <a:latin typeface="Calibri"/>
                <a:cs typeface="Calibri"/>
              </a:rPr>
              <a:t>—Documentation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is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complete</a:t>
            </a:r>
            <a:r>
              <a:rPr dirty="0" sz="1100">
                <a:latin typeface="Calibri"/>
                <a:cs typeface="Calibri"/>
              </a:rPr>
              <a:t> when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it </a:t>
            </a:r>
            <a:r>
              <a:rPr dirty="0" sz="1100" spc="-5">
                <a:latin typeface="Calibri"/>
                <a:cs typeface="Calibri"/>
              </a:rPr>
              <a:t>contains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all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relevant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material.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25"/>
              </a:spcBef>
            </a:pPr>
            <a:r>
              <a:rPr dirty="0" sz="1100" spc="-5" b="1">
                <a:latin typeface="Calibri"/>
                <a:cs typeface="Calibri"/>
              </a:rPr>
              <a:t>Review</a:t>
            </a:r>
            <a:r>
              <a:rPr dirty="0" sz="1100" spc="-30" b="1">
                <a:latin typeface="Calibri"/>
                <a:cs typeface="Calibri"/>
              </a:rPr>
              <a:t> </a:t>
            </a:r>
            <a:r>
              <a:rPr dirty="0" sz="1100" spc="-5" b="1">
                <a:latin typeface="Calibri"/>
                <a:cs typeface="Calibri"/>
              </a:rPr>
              <a:t>Activities</a:t>
            </a:r>
            <a:endParaRPr sz="1100">
              <a:latin typeface="Calibri"/>
              <a:cs typeface="Calibri"/>
            </a:endParaRPr>
          </a:p>
          <a:p>
            <a:pPr marL="469265" indent="-228600">
              <a:lnSpc>
                <a:spcPct val="100000"/>
              </a:lnSpc>
              <a:spcBef>
                <a:spcPts val="925"/>
              </a:spcBef>
              <a:buFont typeface="Microsoft Sans Serif"/>
              <a:buChar char=""/>
              <a:tabLst>
                <a:tab pos="469265" algn="l"/>
                <a:tab pos="469900" algn="l"/>
              </a:tabLst>
            </a:pPr>
            <a:r>
              <a:rPr dirty="0" sz="1100" spc="-5">
                <a:latin typeface="Calibri"/>
                <a:cs typeface="Calibri"/>
              </a:rPr>
              <a:t>Developers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should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use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checklists</a:t>
            </a:r>
            <a:endParaRPr sz="1100">
              <a:latin typeface="Calibri"/>
              <a:cs typeface="Calibri"/>
            </a:endParaRPr>
          </a:p>
          <a:p>
            <a:pPr marL="469265" indent="-228600">
              <a:lnSpc>
                <a:spcPct val="100000"/>
              </a:lnSpc>
              <a:spcBef>
                <a:spcPts val="935"/>
              </a:spcBef>
              <a:buFont typeface="Microsoft Sans Serif"/>
              <a:buChar char=""/>
              <a:tabLst>
                <a:tab pos="469265" algn="l"/>
                <a:tab pos="469900" algn="l"/>
              </a:tabLst>
            </a:pPr>
            <a:r>
              <a:rPr dirty="0" sz="1100" spc="-5">
                <a:latin typeface="Calibri"/>
                <a:cs typeface="Calibri"/>
              </a:rPr>
              <a:t>Stakeholders should review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documents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3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3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100" b="1">
                <a:latin typeface="Calibri"/>
                <a:cs typeface="Calibri"/>
              </a:rPr>
              <a:t>A</a:t>
            </a:r>
            <a:r>
              <a:rPr dirty="0" sz="1100" spc="-10" b="1">
                <a:latin typeface="Calibri"/>
                <a:cs typeface="Calibri"/>
              </a:rPr>
              <a:t> </a:t>
            </a:r>
            <a:r>
              <a:rPr dirty="0" sz="1100" spc="-5" b="1">
                <a:latin typeface="Calibri"/>
                <a:cs typeface="Calibri"/>
              </a:rPr>
              <a:t>Needs</a:t>
            </a:r>
            <a:r>
              <a:rPr dirty="0" sz="1100" spc="-20" b="1">
                <a:latin typeface="Calibri"/>
                <a:cs typeface="Calibri"/>
              </a:rPr>
              <a:t> </a:t>
            </a:r>
            <a:r>
              <a:rPr dirty="0" sz="1100" spc="-5" b="1">
                <a:latin typeface="Calibri"/>
                <a:cs typeface="Calibri"/>
              </a:rPr>
              <a:t>Documentation</a:t>
            </a:r>
            <a:r>
              <a:rPr dirty="0" sz="1100" spc="-15" b="1">
                <a:latin typeface="Calibri"/>
                <a:cs typeface="Calibri"/>
              </a:rPr>
              <a:t> </a:t>
            </a:r>
            <a:r>
              <a:rPr dirty="0" sz="1100" b="1">
                <a:latin typeface="Calibri"/>
                <a:cs typeface="Calibri"/>
              </a:rPr>
              <a:t>Checklist: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896416" y="8465566"/>
            <a:ext cx="5981065" cy="18415"/>
          </a:xfrm>
          <a:custGeom>
            <a:avLst/>
            <a:gdLst/>
            <a:ahLst/>
            <a:cxnLst/>
            <a:rect l="l" t="t" r="r" b="b"/>
            <a:pathLst>
              <a:path w="5981065" h="18415">
                <a:moveTo>
                  <a:pt x="5981065" y="0"/>
                </a:moveTo>
                <a:lnTo>
                  <a:pt x="0" y="0"/>
                </a:lnTo>
                <a:lnTo>
                  <a:pt x="0" y="18287"/>
                </a:lnTo>
                <a:lnTo>
                  <a:pt x="5981065" y="18287"/>
                </a:lnTo>
                <a:lnTo>
                  <a:pt x="598106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896416" y="8694166"/>
            <a:ext cx="5981065" cy="18415"/>
          </a:xfrm>
          <a:custGeom>
            <a:avLst/>
            <a:gdLst/>
            <a:ahLst/>
            <a:cxnLst/>
            <a:rect l="l" t="t" r="r" b="b"/>
            <a:pathLst>
              <a:path w="5981065" h="18415">
                <a:moveTo>
                  <a:pt x="5981065" y="0"/>
                </a:moveTo>
                <a:lnTo>
                  <a:pt x="0" y="0"/>
                </a:lnTo>
                <a:lnTo>
                  <a:pt x="0" y="18287"/>
                </a:lnTo>
                <a:lnTo>
                  <a:pt x="5981065" y="18287"/>
                </a:lnTo>
                <a:lnTo>
                  <a:pt x="598106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3235579" y="8792667"/>
            <a:ext cx="1303655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b="1">
                <a:latin typeface="Calibri"/>
                <a:cs typeface="Calibri"/>
              </a:rPr>
              <a:t>(WEEK</a:t>
            </a:r>
            <a:r>
              <a:rPr dirty="0" sz="1100" spc="-40" b="1">
                <a:latin typeface="Calibri"/>
                <a:cs typeface="Calibri"/>
              </a:rPr>
              <a:t> </a:t>
            </a:r>
            <a:r>
              <a:rPr dirty="0" sz="1100" b="1">
                <a:latin typeface="Calibri"/>
                <a:cs typeface="Calibri"/>
              </a:rPr>
              <a:t>7</a:t>
            </a:r>
            <a:r>
              <a:rPr dirty="0" sz="1100" spc="-25" b="1">
                <a:latin typeface="Calibri"/>
                <a:cs typeface="Calibri"/>
              </a:rPr>
              <a:t> </a:t>
            </a:r>
            <a:r>
              <a:rPr dirty="0" sz="1100" spc="-5" b="1">
                <a:latin typeface="Calibri"/>
                <a:cs typeface="Calibri"/>
              </a:rPr>
              <a:t>COMPLETED)</a:t>
            </a:r>
            <a:endParaRPr sz="110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3267" y="4448093"/>
            <a:ext cx="5561732" cy="3875286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892556"/>
            <a:ext cx="5945505" cy="49098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23495">
              <a:lnSpc>
                <a:spcPct val="100000"/>
              </a:lnSpc>
              <a:spcBef>
                <a:spcPts val="100"/>
              </a:spcBef>
            </a:pPr>
            <a:r>
              <a:rPr dirty="0" sz="1100" b="1">
                <a:latin typeface="Calibri"/>
                <a:cs typeface="Calibri"/>
              </a:rPr>
              <a:t>(WEEK</a:t>
            </a:r>
            <a:r>
              <a:rPr dirty="0" sz="1100" spc="-30" b="1">
                <a:latin typeface="Calibri"/>
                <a:cs typeface="Calibri"/>
              </a:rPr>
              <a:t> </a:t>
            </a:r>
            <a:r>
              <a:rPr dirty="0" sz="1100" b="1">
                <a:latin typeface="Calibri"/>
                <a:cs typeface="Calibri"/>
              </a:rPr>
              <a:t>#</a:t>
            </a:r>
            <a:r>
              <a:rPr dirty="0" sz="1100" spc="-30" b="1">
                <a:latin typeface="Calibri"/>
                <a:cs typeface="Calibri"/>
              </a:rPr>
              <a:t> </a:t>
            </a:r>
            <a:r>
              <a:rPr dirty="0" sz="1100" spc="-5" b="1">
                <a:latin typeface="Calibri"/>
                <a:cs typeface="Calibri"/>
              </a:rPr>
              <a:t>8)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500">
              <a:latin typeface="Calibri"/>
              <a:cs typeface="Calibri"/>
            </a:endParaRPr>
          </a:p>
          <a:p>
            <a:pPr algn="ctr" marL="24130">
              <a:lnSpc>
                <a:spcPct val="100000"/>
              </a:lnSpc>
            </a:pPr>
            <a:r>
              <a:rPr dirty="0" sz="1100" spc="-5" b="1">
                <a:latin typeface="Calibri"/>
                <a:cs typeface="Calibri"/>
              </a:rPr>
              <a:t>Software Requirement</a:t>
            </a:r>
            <a:r>
              <a:rPr dirty="0" sz="1100" b="1">
                <a:latin typeface="Calibri"/>
                <a:cs typeface="Calibri"/>
              </a:rPr>
              <a:t> </a:t>
            </a:r>
            <a:r>
              <a:rPr dirty="0" sz="1100" spc="-5" b="1">
                <a:latin typeface="Calibri"/>
                <a:cs typeface="Calibri"/>
              </a:rPr>
              <a:t>Specification</a:t>
            </a:r>
            <a:r>
              <a:rPr dirty="0" sz="1100" spc="-10" b="1">
                <a:latin typeface="Calibri"/>
                <a:cs typeface="Calibri"/>
              </a:rPr>
              <a:t> </a:t>
            </a:r>
            <a:r>
              <a:rPr dirty="0" sz="1100" spc="-5" b="1">
                <a:latin typeface="Calibri"/>
                <a:cs typeface="Calibri"/>
              </a:rPr>
              <a:t>(SRS)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25"/>
              </a:spcBef>
            </a:pPr>
            <a:r>
              <a:rPr dirty="0" sz="1100" spc="-5" b="1">
                <a:latin typeface="Calibri"/>
                <a:cs typeface="Calibri"/>
              </a:rPr>
              <a:t>Software</a:t>
            </a:r>
            <a:r>
              <a:rPr dirty="0" sz="1100" spc="-30" b="1">
                <a:latin typeface="Calibri"/>
                <a:cs typeface="Calibri"/>
              </a:rPr>
              <a:t> </a:t>
            </a:r>
            <a:r>
              <a:rPr dirty="0" sz="1100" spc="-5" b="1">
                <a:latin typeface="Calibri"/>
                <a:cs typeface="Calibri"/>
              </a:rPr>
              <a:t>Requirement:</a:t>
            </a:r>
            <a:endParaRPr sz="1100">
              <a:latin typeface="Calibri"/>
              <a:cs typeface="Calibri"/>
            </a:endParaRPr>
          </a:p>
          <a:p>
            <a:pPr marL="469265" marR="176530" indent="-228600">
              <a:lnSpc>
                <a:spcPct val="109100"/>
              </a:lnSpc>
              <a:spcBef>
                <a:spcPts val="815"/>
              </a:spcBef>
              <a:buFont typeface="Microsoft Sans Serif"/>
              <a:buChar char=""/>
              <a:tabLst>
                <a:tab pos="469265" algn="l"/>
                <a:tab pos="469900" algn="l"/>
              </a:tabLst>
            </a:pPr>
            <a:r>
              <a:rPr dirty="0" sz="1100">
                <a:latin typeface="Calibri"/>
                <a:cs typeface="Calibri"/>
              </a:rPr>
              <a:t>A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software</a:t>
            </a:r>
            <a:r>
              <a:rPr dirty="0" sz="110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(product)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requirement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is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</a:t>
            </a:r>
            <a:r>
              <a:rPr dirty="0" sz="1100" spc="-5">
                <a:latin typeface="Calibri"/>
                <a:cs typeface="Calibri"/>
              </a:rPr>
              <a:t> statement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that a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software</a:t>
            </a:r>
            <a:r>
              <a:rPr dirty="0" sz="110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product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must</a:t>
            </a:r>
            <a:r>
              <a:rPr dirty="0" sz="1100" spc="2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have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 </a:t>
            </a:r>
            <a:r>
              <a:rPr dirty="0" sz="1100" spc="-5">
                <a:latin typeface="Calibri"/>
                <a:cs typeface="Calibri"/>
              </a:rPr>
              <a:t>certain </a:t>
            </a:r>
            <a:r>
              <a:rPr dirty="0" sz="1100" spc="-23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feature,</a:t>
            </a:r>
            <a:r>
              <a:rPr dirty="0" sz="110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function,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capability,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or </a:t>
            </a:r>
            <a:r>
              <a:rPr dirty="0" sz="1100" spc="-5">
                <a:latin typeface="Calibri"/>
                <a:cs typeface="Calibri"/>
              </a:rPr>
              <a:t>property.</a:t>
            </a:r>
            <a:endParaRPr sz="1100">
              <a:latin typeface="Calibri"/>
              <a:cs typeface="Calibri"/>
            </a:endParaRPr>
          </a:p>
          <a:p>
            <a:pPr marL="469265" marR="5080" indent="-228600">
              <a:lnSpc>
                <a:spcPct val="110000"/>
              </a:lnSpc>
              <a:spcBef>
                <a:spcPts val="805"/>
              </a:spcBef>
              <a:buFont typeface="Microsoft Sans Serif"/>
              <a:buChar char=""/>
              <a:tabLst>
                <a:tab pos="469265" algn="l"/>
                <a:tab pos="469900" algn="l"/>
              </a:tabLst>
            </a:pPr>
            <a:r>
              <a:rPr dirty="0" sz="1100">
                <a:latin typeface="Calibri"/>
                <a:cs typeface="Calibri"/>
              </a:rPr>
              <a:t>Requirements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are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captured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 </a:t>
            </a:r>
            <a:r>
              <a:rPr dirty="0" sz="1100" spc="-5">
                <a:latin typeface="Calibri"/>
                <a:cs typeface="Calibri"/>
              </a:rPr>
              <a:t>specifications,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which </a:t>
            </a:r>
            <a:r>
              <a:rPr dirty="0" sz="1100" spc="-5">
                <a:latin typeface="Calibri"/>
                <a:cs typeface="Calibri"/>
              </a:rPr>
              <a:t>are </a:t>
            </a:r>
            <a:r>
              <a:rPr dirty="0" sz="1100">
                <a:latin typeface="Calibri"/>
                <a:cs typeface="Calibri"/>
              </a:rPr>
              <a:t>simply</a:t>
            </a:r>
            <a:r>
              <a:rPr dirty="0" sz="1100" spc="-5">
                <a:latin typeface="Calibri"/>
                <a:cs typeface="Calibri"/>
              </a:rPr>
              <a:t> statements </a:t>
            </a:r>
            <a:r>
              <a:rPr dirty="0" sz="1100">
                <a:latin typeface="Calibri"/>
                <a:cs typeface="Calibri"/>
              </a:rPr>
              <a:t>that</a:t>
            </a:r>
            <a:r>
              <a:rPr dirty="0" sz="1100" spc="-5">
                <a:latin typeface="Calibri"/>
                <a:cs typeface="Calibri"/>
              </a:rPr>
              <a:t> must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be </a:t>
            </a:r>
            <a:r>
              <a:rPr dirty="0" sz="1100">
                <a:latin typeface="Calibri"/>
                <a:cs typeface="Calibri"/>
              </a:rPr>
              <a:t>true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 </a:t>
            </a:r>
            <a:r>
              <a:rPr dirty="0" sz="1100" spc="-23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product.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4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100" spc="-5" b="1">
                <a:latin typeface="Calibri"/>
                <a:cs typeface="Calibri"/>
              </a:rPr>
              <a:t>Software</a:t>
            </a:r>
            <a:r>
              <a:rPr dirty="0" sz="1100" spc="-10" b="1">
                <a:latin typeface="Calibri"/>
                <a:cs typeface="Calibri"/>
              </a:rPr>
              <a:t> </a:t>
            </a:r>
            <a:r>
              <a:rPr dirty="0" sz="1100" spc="-5" b="1">
                <a:latin typeface="Calibri"/>
                <a:cs typeface="Calibri"/>
              </a:rPr>
              <a:t>Requirement Specification:</a:t>
            </a:r>
            <a:endParaRPr sz="1100">
              <a:latin typeface="Calibri"/>
              <a:cs typeface="Calibri"/>
            </a:endParaRPr>
          </a:p>
          <a:p>
            <a:pPr marL="12700" marR="457200">
              <a:lnSpc>
                <a:spcPct val="110000"/>
              </a:lnSpc>
              <a:spcBef>
                <a:spcPts val="800"/>
              </a:spcBef>
            </a:pPr>
            <a:r>
              <a:rPr dirty="0" sz="1100">
                <a:latin typeface="Calibri"/>
                <a:cs typeface="Calibri"/>
              </a:rPr>
              <a:t>A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 b="1">
                <a:latin typeface="Calibri"/>
                <a:cs typeface="Calibri"/>
              </a:rPr>
              <a:t>software</a:t>
            </a:r>
            <a:r>
              <a:rPr dirty="0" sz="1100" spc="-10" b="1">
                <a:latin typeface="Calibri"/>
                <a:cs typeface="Calibri"/>
              </a:rPr>
              <a:t> </a:t>
            </a:r>
            <a:r>
              <a:rPr dirty="0" sz="1100" spc="-5" b="1">
                <a:latin typeface="Calibri"/>
                <a:cs typeface="Calibri"/>
              </a:rPr>
              <a:t>requirements</a:t>
            </a:r>
            <a:r>
              <a:rPr dirty="0" sz="1100" spc="5" b="1">
                <a:latin typeface="Calibri"/>
                <a:cs typeface="Calibri"/>
              </a:rPr>
              <a:t> </a:t>
            </a:r>
            <a:r>
              <a:rPr dirty="0" sz="1100" spc="-5" b="1">
                <a:latin typeface="Calibri"/>
                <a:cs typeface="Calibri"/>
              </a:rPr>
              <a:t>specification (SRS)</a:t>
            </a:r>
            <a:r>
              <a:rPr dirty="0" sz="1100" spc="40" b="1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is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 </a:t>
            </a:r>
            <a:r>
              <a:rPr dirty="0" sz="1100" spc="-5">
                <a:latin typeface="Calibri"/>
                <a:cs typeface="Calibri"/>
              </a:rPr>
              <a:t>document</a:t>
            </a:r>
            <a:r>
              <a:rPr dirty="0" sz="110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cataloging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all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 </a:t>
            </a:r>
            <a:r>
              <a:rPr dirty="0" sz="1100" spc="-5">
                <a:latin typeface="Calibri"/>
                <a:cs typeface="Calibri"/>
              </a:rPr>
              <a:t>requirements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for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 </a:t>
            </a:r>
            <a:r>
              <a:rPr dirty="0" sz="1100" spc="-23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software</a:t>
            </a:r>
            <a:r>
              <a:rPr dirty="0" sz="110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product.</a:t>
            </a:r>
            <a:endParaRPr sz="1100">
              <a:latin typeface="Calibri"/>
              <a:cs typeface="Calibri"/>
            </a:endParaRPr>
          </a:p>
          <a:p>
            <a:pPr marL="469265" marR="215900" indent="-228600">
              <a:lnSpc>
                <a:spcPct val="109700"/>
              </a:lnSpc>
              <a:spcBef>
                <a:spcPts val="800"/>
              </a:spcBef>
              <a:buFont typeface="Arial MT"/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Calibri"/>
                <a:cs typeface="Calibri"/>
              </a:rPr>
              <a:t>This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activity</a:t>
            </a:r>
            <a:r>
              <a:rPr dirty="0" sz="1100">
                <a:latin typeface="Calibri"/>
                <a:cs typeface="Calibri"/>
              </a:rPr>
              <a:t> is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aimed</a:t>
            </a:r>
            <a:r>
              <a:rPr dirty="0" sz="1100">
                <a:latin typeface="Calibri"/>
                <a:cs typeface="Calibri"/>
              </a:rPr>
              <a:t> at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finding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out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from</a:t>
            </a:r>
            <a:r>
              <a:rPr dirty="0" sz="1100">
                <a:latin typeface="Calibri"/>
                <a:cs typeface="Calibri"/>
              </a:rPr>
              <a:t> the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product’s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intended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clients,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-5">
                <a:latin typeface="Calibri"/>
                <a:cs typeface="Calibri"/>
              </a:rPr>
              <a:t> other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interested </a:t>
            </a:r>
            <a:r>
              <a:rPr dirty="0" sz="1100" spc="-2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parties,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what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they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need</a:t>
            </a:r>
            <a:r>
              <a:rPr dirty="0" sz="110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and</a:t>
            </a:r>
            <a:r>
              <a:rPr dirty="0" sz="1100">
                <a:latin typeface="Calibri"/>
                <a:cs typeface="Calibri"/>
              </a:rPr>
              <a:t> want </a:t>
            </a:r>
            <a:r>
              <a:rPr dirty="0" sz="1100" spc="-10">
                <a:latin typeface="Calibri"/>
                <a:cs typeface="Calibri"/>
              </a:rPr>
              <a:t>from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software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product.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These</a:t>
            </a:r>
            <a:r>
              <a:rPr dirty="0" sz="110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needs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 </a:t>
            </a:r>
            <a:r>
              <a:rPr dirty="0" sz="1100" spc="-5">
                <a:latin typeface="Calibri"/>
                <a:cs typeface="Calibri"/>
              </a:rPr>
              <a:t>desires</a:t>
            </a:r>
            <a:r>
              <a:rPr dirty="0" sz="1100">
                <a:latin typeface="Calibri"/>
                <a:cs typeface="Calibri"/>
              </a:rPr>
              <a:t> are 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translated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into</a:t>
            </a:r>
            <a:r>
              <a:rPr dirty="0" sz="1100" spc="2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specifications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functions,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capabilities,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appearance,</a:t>
            </a:r>
            <a:r>
              <a:rPr dirty="0" sz="1100" spc="2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behavior,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other </a:t>
            </a:r>
            <a:r>
              <a:rPr dirty="0" sz="1100">
                <a:latin typeface="Calibri"/>
                <a:cs typeface="Calibri"/>
              </a:rPr>
              <a:t> characteristics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 </a:t>
            </a:r>
            <a:r>
              <a:rPr dirty="0" sz="1100" spc="-5">
                <a:latin typeface="Calibri"/>
                <a:cs typeface="Calibri"/>
              </a:rPr>
              <a:t>software</a:t>
            </a:r>
            <a:r>
              <a:rPr dirty="0" sz="110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product.</a:t>
            </a:r>
            <a:endParaRPr sz="1100">
              <a:latin typeface="Calibri"/>
              <a:cs typeface="Calibri"/>
            </a:endParaRPr>
          </a:p>
          <a:p>
            <a:pPr marL="469265" indent="-228600">
              <a:lnSpc>
                <a:spcPct val="100000"/>
              </a:lnSpc>
              <a:spcBef>
                <a:spcPts val="935"/>
              </a:spcBef>
              <a:buFont typeface="Arial MT"/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Calibri"/>
                <a:cs typeface="Calibri"/>
              </a:rPr>
              <a:t>These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specifications constitute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5">
                <a:latin typeface="Calibri"/>
                <a:cs typeface="Calibri"/>
              </a:rPr>
              <a:t> software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product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requirements,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they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are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recorded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 a</a:t>
            </a:r>
            <a:endParaRPr sz="1100">
              <a:latin typeface="Calibri"/>
              <a:cs typeface="Calibri"/>
            </a:endParaRPr>
          </a:p>
          <a:p>
            <a:pPr marL="469265">
              <a:lnSpc>
                <a:spcPct val="100000"/>
              </a:lnSpc>
              <a:spcBef>
                <a:spcPts val="130"/>
              </a:spcBef>
            </a:pPr>
            <a:r>
              <a:rPr dirty="0" sz="1100" spc="-5" b="1">
                <a:latin typeface="Calibri"/>
                <a:cs typeface="Calibri"/>
              </a:rPr>
              <a:t>software</a:t>
            </a:r>
            <a:r>
              <a:rPr dirty="0" sz="1100" spc="-15" b="1">
                <a:latin typeface="Calibri"/>
                <a:cs typeface="Calibri"/>
              </a:rPr>
              <a:t> </a:t>
            </a:r>
            <a:r>
              <a:rPr dirty="0" sz="1100" spc="-5" b="1">
                <a:latin typeface="Calibri"/>
                <a:cs typeface="Calibri"/>
              </a:rPr>
              <a:t>requirements</a:t>
            </a:r>
            <a:r>
              <a:rPr dirty="0" sz="1100" b="1">
                <a:latin typeface="Calibri"/>
                <a:cs typeface="Calibri"/>
              </a:rPr>
              <a:t> </a:t>
            </a:r>
            <a:r>
              <a:rPr dirty="0" sz="1100" spc="-5" b="1">
                <a:latin typeface="Calibri"/>
                <a:cs typeface="Calibri"/>
              </a:rPr>
              <a:t>specification</a:t>
            </a:r>
            <a:r>
              <a:rPr dirty="0" sz="1100" b="1">
                <a:latin typeface="Calibri"/>
                <a:cs typeface="Calibri"/>
              </a:rPr>
              <a:t> </a:t>
            </a:r>
            <a:r>
              <a:rPr dirty="0" sz="1100" spc="-5" b="1">
                <a:latin typeface="Calibri"/>
                <a:cs typeface="Calibri"/>
              </a:rPr>
              <a:t>(SRS)</a:t>
            </a:r>
            <a:r>
              <a:rPr dirty="0" sz="1100" spc="25" b="1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document.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4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100" spc="-5" b="1">
                <a:latin typeface="Calibri"/>
                <a:cs typeface="Calibri"/>
              </a:rPr>
              <a:t>SRS</a:t>
            </a:r>
            <a:r>
              <a:rPr dirty="0" sz="1100" spc="-10" b="1">
                <a:latin typeface="Calibri"/>
                <a:cs typeface="Calibri"/>
              </a:rPr>
              <a:t> </a:t>
            </a:r>
            <a:r>
              <a:rPr dirty="0" sz="1100" b="1">
                <a:latin typeface="Calibri"/>
                <a:cs typeface="Calibri"/>
              </a:rPr>
              <a:t>in</a:t>
            </a:r>
            <a:r>
              <a:rPr dirty="0" sz="1100" spc="-5" b="1">
                <a:latin typeface="Calibri"/>
                <a:cs typeface="Calibri"/>
              </a:rPr>
              <a:t> Software Product</a:t>
            </a:r>
            <a:r>
              <a:rPr dirty="0" sz="1100" b="1">
                <a:latin typeface="Calibri"/>
                <a:cs typeface="Calibri"/>
              </a:rPr>
              <a:t> </a:t>
            </a:r>
            <a:r>
              <a:rPr dirty="0" sz="1100" spc="-10" b="1">
                <a:latin typeface="Calibri"/>
                <a:cs typeface="Calibri"/>
              </a:rPr>
              <a:t>Life </a:t>
            </a:r>
            <a:r>
              <a:rPr dirty="0" sz="1100" b="1">
                <a:latin typeface="Calibri"/>
                <a:cs typeface="Calibri"/>
              </a:rPr>
              <a:t>Cycle: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941447" y="8838386"/>
            <a:ext cx="188976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b="1">
                <a:latin typeface="Calibri"/>
                <a:cs typeface="Calibri"/>
              </a:rPr>
              <a:t>Fig</a:t>
            </a:r>
            <a:r>
              <a:rPr dirty="0" sz="1100" spc="-10" b="1">
                <a:latin typeface="Calibri"/>
                <a:cs typeface="Calibri"/>
              </a:rPr>
              <a:t> </a:t>
            </a:r>
            <a:r>
              <a:rPr dirty="0" sz="1100" b="1">
                <a:latin typeface="Calibri"/>
                <a:cs typeface="Calibri"/>
              </a:rPr>
              <a:t>1:</a:t>
            </a:r>
            <a:r>
              <a:rPr dirty="0" sz="1100" spc="-10" b="1">
                <a:latin typeface="Calibri"/>
                <a:cs typeface="Calibri"/>
              </a:rPr>
              <a:t> </a:t>
            </a:r>
            <a:r>
              <a:rPr dirty="0" sz="1100" spc="-5" b="1">
                <a:latin typeface="Calibri"/>
                <a:cs typeface="Calibri"/>
              </a:rPr>
              <a:t>Waterfall Life</a:t>
            </a:r>
            <a:r>
              <a:rPr dirty="0" sz="1100" spc="-10" b="1">
                <a:latin typeface="Calibri"/>
                <a:cs typeface="Calibri"/>
              </a:rPr>
              <a:t> </a:t>
            </a:r>
            <a:r>
              <a:rPr dirty="0" sz="1100" spc="-5" b="1">
                <a:latin typeface="Calibri"/>
                <a:cs typeface="Calibri"/>
              </a:rPr>
              <a:t>Cycle</a:t>
            </a:r>
            <a:r>
              <a:rPr dirty="0" sz="1100" spc="-20" b="1">
                <a:latin typeface="Calibri"/>
                <a:cs typeface="Calibri"/>
              </a:rPr>
              <a:t> </a:t>
            </a:r>
            <a:r>
              <a:rPr dirty="0" sz="1100" spc="-5" b="1">
                <a:latin typeface="Calibri"/>
                <a:cs typeface="Calibri"/>
              </a:rPr>
              <a:t>Model</a:t>
            </a:r>
            <a:endParaRPr sz="11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12306" y="5950329"/>
            <a:ext cx="2512563" cy="2732892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892556"/>
            <a:ext cx="140081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" b="1">
                <a:latin typeface="Calibri"/>
                <a:cs typeface="Calibri"/>
              </a:rPr>
              <a:t>Types</a:t>
            </a:r>
            <a:r>
              <a:rPr dirty="0" sz="1100" spc="-25" b="1">
                <a:latin typeface="Calibri"/>
                <a:cs typeface="Calibri"/>
              </a:rPr>
              <a:t> </a:t>
            </a:r>
            <a:r>
              <a:rPr dirty="0" sz="1100" spc="-5" b="1">
                <a:latin typeface="Calibri"/>
                <a:cs typeface="Calibri"/>
              </a:rPr>
              <a:t>of</a:t>
            </a:r>
            <a:r>
              <a:rPr dirty="0" sz="1100" spc="-15" b="1">
                <a:latin typeface="Calibri"/>
                <a:cs typeface="Calibri"/>
              </a:rPr>
              <a:t> </a:t>
            </a:r>
            <a:r>
              <a:rPr dirty="0" sz="1100" spc="-5" b="1">
                <a:latin typeface="Calibri"/>
                <a:cs typeface="Calibri"/>
              </a:rPr>
              <a:t>Requirements: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2004" y="5142102"/>
            <a:ext cx="5853430" cy="33997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 spc="-5" b="1">
                <a:latin typeface="Calibri"/>
                <a:cs typeface="Calibri"/>
              </a:rPr>
              <a:t>Business</a:t>
            </a:r>
            <a:r>
              <a:rPr dirty="0" sz="1100" spc="-15" b="1">
                <a:latin typeface="Calibri"/>
                <a:cs typeface="Calibri"/>
              </a:rPr>
              <a:t> </a:t>
            </a:r>
            <a:r>
              <a:rPr dirty="0" sz="1100" spc="-5" b="1">
                <a:latin typeface="Calibri"/>
                <a:cs typeface="Calibri"/>
              </a:rPr>
              <a:t>Requirements:</a:t>
            </a:r>
            <a:endParaRPr sz="1100">
              <a:latin typeface="Calibri"/>
              <a:cs typeface="Calibri"/>
            </a:endParaRPr>
          </a:p>
          <a:p>
            <a:pPr marL="469265" marR="6985" indent="-228600">
              <a:lnSpc>
                <a:spcPct val="110000"/>
              </a:lnSpc>
              <a:spcBef>
                <a:spcPts val="790"/>
              </a:spcBef>
              <a:buFont typeface="Microsoft Sans Serif"/>
              <a:buChar char=""/>
              <a:tabLst>
                <a:tab pos="469265" algn="l"/>
                <a:tab pos="469900" algn="l"/>
              </a:tabLst>
            </a:pPr>
            <a:r>
              <a:rPr dirty="0" sz="1100" spc="-5">
                <a:latin typeface="Calibri"/>
                <a:cs typeface="Calibri"/>
              </a:rPr>
              <a:t>Business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requirements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relate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to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business'</a:t>
            </a:r>
            <a:r>
              <a:rPr dirty="0" sz="110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objectives, </a:t>
            </a:r>
            <a:r>
              <a:rPr dirty="0" sz="1100">
                <a:latin typeface="Calibri"/>
                <a:cs typeface="Calibri"/>
              </a:rPr>
              <a:t>vision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goals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are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often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captured </a:t>
            </a:r>
            <a:r>
              <a:rPr dirty="0" sz="1100" spc="-23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by</a:t>
            </a:r>
            <a:r>
              <a:rPr dirty="0" sz="110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business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analysts </a:t>
            </a:r>
            <a:r>
              <a:rPr dirty="0" sz="1100">
                <a:latin typeface="Calibri"/>
                <a:cs typeface="Calibri"/>
              </a:rPr>
              <a:t>who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analyze</a:t>
            </a:r>
            <a:r>
              <a:rPr dirty="0" sz="110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business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activities and processes.</a:t>
            </a:r>
            <a:endParaRPr sz="1100">
              <a:latin typeface="Calibri"/>
              <a:cs typeface="Calibri"/>
            </a:endParaRPr>
          </a:p>
          <a:p>
            <a:pPr marL="469265" indent="-228600">
              <a:lnSpc>
                <a:spcPct val="100000"/>
              </a:lnSpc>
              <a:spcBef>
                <a:spcPts val="925"/>
              </a:spcBef>
              <a:buFont typeface="Microsoft Sans Serif"/>
              <a:buChar char=""/>
              <a:tabLst>
                <a:tab pos="469265" algn="l"/>
                <a:tab pos="469900" algn="l"/>
              </a:tabLst>
            </a:pPr>
            <a:r>
              <a:rPr dirty="0" sz="1100" spc="-5" b="1">
                <a:latin typeface="Calibri"/>
                <a:cs typeface="Calibri"/>
              </a:rPr>
              <a:t>Example:</a:t>
            </a:r>
            <a:endParaRPr sz="1100">
              <a:latin typeface="Calibri"/>
              <a:cs typeface="Calibri"/>
            </a:endParaRPr>
          </a:p>
          <a:p>
            <a:pPr marL="12700" marR="96520" indent="474980">
              <a:lnSpc>
                <a:spcPct val="110000"/>
              </a:lnSpc>
              <a:spcBef>
                <a:spcPts val="805"/>
              </a:spcBef>
            </a:pPr>
            <a:r>
              <a:rPr dirty="0" sz="1100">
                <a:latin typeface="Calibri"/>
                <a:cs typeface="Calibri"/>
              </a:rPr>
              <a:t>If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</a:t>
            </a:r>
            <a:r>
              <a:rPr dirty="0" sz="1100" spc="-5">
                <a:latin typeface="Calibri"/>
                <a:cs typeface="Calibri"/>
              </a:rPr>
              <a:t> company’s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need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is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to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track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its </a:t>
            </a:r>
            <a:r>
              <a:rPr dirty="0" sz="1100" spc="-5">
                <a:latin typeface="Calibri"/>
                <a:cs typeface="Calibri"/>
              </a:rPr>
              <a:t>field</a:t>
            </a:r>
            <a:r>
              <a:rPr dirty="0" sz="110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employees by</a:t>
            </a:r>
            <a:r>
              <a:rPr dirty="0" sz="110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means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employee</a:t>
            </a:r>
            <a:r>
              <a:rPr dirty="0" sz="110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tracking</a:t>
            </a:r>
            <a:r>
              <a:rPr dirty="0" sz="110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system, </a:t>
            </a:r>
            <a:r>
              <a:rPr dirty="0" sz="1100" spc="-229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 </a:t>
            </a:r>
            <a:r>
              <a:rPr dirty="0" sz="1100" spc="-5">
                <a:latin typeface="Calibri"/>
                <a:cs typeface="Calibri"/>
              </a:rPr>
              <a:t>business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requirements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for</a:t>
            </a:r>
            <a:r>
              <a:rPr dirty="0" sz="110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the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project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might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be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described</a:t>
            </a:r>
            <a:r>
              <a:rPr dirty="0" sz="1100">
                <a:latin typeface="Calibri"/>
                <a:cs typeface="Calibri"/>
              </a:rPr>
              <a:t> as:</a:t>
            </a:r>
            <a:endParaRPr sz="1100">
              <a:latin typeface="Calibri"/>
              <a:cs typeface="Calibri"/>
            </a:endParaRPr>
          </a:p>
          <a:p>
            <a:pPr marL="12700" marR="5080" indent="410845">
              <a:lnSpc>
                <a:spcPct val="110000"/>
              </a:lnSpc>
              <a:spcBef>
                <a:spcPts val="790"/>
              </a:spcBef>
            </a:pPr>
            <a:r>
              <a:rPr dirty="0" sz="1100" spc="-5">
                <a:latin typeface="Calibri"/>
                <a:cs typeface="Calibri"/>
              </a:rPr>
              <a:t>“Implement </a:t>
            </a:r>
            <a:r>
              <a:rPr dirty="0" sz="1100">
                <a:latin typeface="Calibri"/>
                <a:cs typeface="Calibri"/>
              </a:rPr>
              <a:t>a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web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mobile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based</a:t>
            </a:r>
            <a:r>
              <a:rPr dirty="0" sz="1100" spc="-5">
                <a:latin typeface="Calibri"/>
                <a:cs typeface="Calibri"/>
              </a:rPr>
              <a:t> employee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tracking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system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that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tracks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field employees </a:t>
            </a:r>
            <a:r>
              <a:rPr dirty="0" sz="1100">
                <a:latin typeface="Calibri"/>
                <a:cs typeface="Calibri"/>
              </a:rPr>
              <a:t>and </a:t>
            </a:r>
            <a:r>
              <a:rPr dirty="0" sz="1100" spc="-229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increases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efficiency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by</a:t>
            </a:r>
            <a:r>
              <a:rPr dirty="0" sz="1100" spc="-5">
                <a:latin typeface="Calibri"/>
                <a:cs typeface="Calibri"/>
              </a:rPr>
              <a:t> means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monitoring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employee activity,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absenteeism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-5">
                <a:latin typeface="Calibri"/>
                <a:cs typeface="Calibri"/>
              </a:rPr>
              <a:t> productivity.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“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5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100" spc="-5" b="1">
                <a:latin typeface="Calibri"/>
                <a:cs typeface="Calibri"/>
              </a:rPr>
              <a:t>Functional</a:t>
            </a:r>
            <a:r>
              <a:rPr dirty="0" sz="1100" spc="-10" b="1">
                <a:latin typeface="Calibri"/>
                <a:cs typeface="Calibri"/>
              </a:rPr>
              <a:t> </a:t>
            </a:r>
            <a:r>
              <a:rPr dirty="0" sz="1100" spc="-5" b="1">
                <a:latin typeface="Calibri"/>
                <a:cs typeface="Calibri"/>
              </a:rPr>
              <a:t>Requirements:</a:t>
            </a:r>
            <a:endParaRPr sz="1100">
              <a:latin typeface="Calibri"/>
              <a:cs typeface="Calibri"/>
            </a:endParaRPr>
          </a:p>
          <a:p>
            <a:pPr marL="469265" marR="27940" indent="-228600">
              <a:lnSpc>
                <a:spcPct val="110000"/>
              </a:lnSpc>
              <a:spcBef>
                <a:spcPts val="795"/>
              </a:spcBef>
              <a:buFont typeface="Microsoft Sans Serif"/>
              <a:buChar char=""/>
              <a:tabLst>
                <a:tab pos="469265" algn="l"/>
                <a:tab pos="469900" algn="l"/>
              </a:tabLst>
            </a:pPr>
            <a:r>
              <a:rPr dirty="0" sz="1100">
                <a:latin typeface="Calibri"/>
                <a:cs typeface="Calibri"/>
              </a:rPr>
              <a:t>A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 b="1">
                <a:latin typeface="Calibri"/>
                <a:cs typeface="Calibri"/>
              </a:rPr>
              <a:t>functional</a:t>
            </a:r>
            <a:r>
              <a:rPr dirty="0" sz="1100" b="1">
                <a:latin typeface="Calibri"/>
                <a:cs typeface="Calibri"/>
              </a:rPr>
              <a:t> </a:t>
            </a:r>
            <a:r>
              <a:rPr dirty="0" sz="1100" spc="-5" b="1">
                <a:latin typeface="Calibri"/>
                <a:cs typeface="Calibri"/>
              </a:rPr>
              <a:t>requirement</a:t>
            </a:r>
            <a:r>
              <a:rPr dirty="0" sz="1100" spc="20" b="1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is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statement</a:t>
            </a:r>
            <a:r>
              <a:rPr dirty="0" sz="1100">
                <a:latin typeface="Calibri"/>
                <a:cs typeface="Calibri"/>
              </a:rPr>
              <a:t> of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how a</a:t>
            </a:r>
            <a:r>
              <a:rPr dirty="0" sz="1100" spc="2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software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product</a:t>
            </a:r>
            <a:r>
              <a:rPr dirty="0" sz="110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must</a:t>
            </a:r>
            <a:r>
              <a:rPr dirty="0" sz="1100">
                <a:latin typeface="Calibri"/>
                <a:cs typeface="Calibri"/>
              </a:rPr>
              <a:t> map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program</a:t>
            </a:r>
            <a:r>
              <a:rPr dirty="0" sz="110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inputs </a:t>
            </a:r>
            <a:r>
              <a:rPr dirty="0" sz="1100" spc="-2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to </a:t>
            </a:r>
            <a:r>
              <a:rPr dirty="0" sz="1100" spc="-5">
                <a:latin typeface="Calibri"/>
                <a:cs typeface="Calibri"/>
              </a:rPr>
              <a:t>program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outputs.</a:t>
            </a:r>
            <a:endParaRPr sz="1100">
              <a:latin typeface="Calibri"/>
              <a:cs typeface="Calibri"/>
            </a:endParaRPr>
          </a:p>
          <a:p>
            <a:pPr marL="469265" marR="43180" indent="-228600">
              <a:lnSpc>
                <a:spcPct val="110000"/>
              </a:lnSpc>
              <a:spcBef>
                <a:spcPts val="790"/>
              </a:spcBef>
              <a:buFont typeface="Microsoft Sans Serif"/>
              <a:buChar char=""/>
              <a:tabLst>
                <a:tab pos="469265" algn="l"/>
                <a:tab pos="469900" algn="l"/>
              </a:tabLst>
            </a:pPr>
            <a:r>
              <a:rPr dirty="0" sz="1100" spc="-5">
                <a:latin typeface="Calibri"/>
                <a:cs typeface="Calibri"/>
              </a:rPr>
              <a:t>Functional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requirements</a:t>
            </a:r>
            <a:r>
              <a:rPr dirty="0" sz="1100" spc="2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are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specifications</a:t>
            </a:r>
            <a:r>
              <a:rPr dirty="0" sz="1100">
                <a:latin typeface="Calibri"/>
                <a:cs typeface="Calibri"/>
              </a:rPr>
              <a:t> of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2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product’s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externally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observable</a:t>
            </a:r>
            <a:r>
              <a:rPr dirty="0" sz="1100">
                <a:latin typeface="Calibri"/>
                <a:cs typeface="Calibri"/>
              </a:rPr>
              <a:t> behavior,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so </a:t>
            </a:r>
            <a:r>
              <a:rPr dirty="0" sz="1100" spc="-2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they</a:t>
            </a:r>
            <a:r>
              <a:rPr dirty="0" sz="1100" spc="-5">
                <a:latin typeface="Calibri"/>
                <a:cs typeface="Calibri"/>
              </a:rPr>
              <a:t> are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often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called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 b="1">
                <a:latin typeface="Calibri"/>
                <a:cs typeface="Calibri"/>
              </a:rPr>
              <a:t>behavioral</a:t>
            </a:r>
            <a:r>
              <a:rPr dirty="0" sz="1100" spc="-10" b="1">
                <a:latin typeface="Calibri"/>
                <a:cs typeface="Calibri"/>
              </a:rPr>
              <a:t> </a:t>
            </a:r>
            <a:r>
              <a:rPr dirty="0" sz="1100" spc="-5" b="1">
                <a:latin typeface="Calibri"/>
                <a:cs typeface="Calibri"/>
              </a:rPr>
              <a:t>requirements</a:t>
            </a:r>
            <a:r>
              <a:rPr dirty="0" sz="1100" spc="-5">
                <a:latin typeface="Calibri"/>
                <a:cs typeface="Calibri"/>
              </a:rPr>
              <a:t>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14400" y="1199388"/>
            <a:ext cx="5943600" cy="3556000"/>
          </a:xfrm>
          <a:custGeom>
            <a:avLst/>
            <a:gdLst/>
            <a:ahLst/>
            <a:cxnLst/>
            <a:rect l="l" t="t" r="r" b="b"/>
            <a:pathLst>
              <a:path w="5943600" h="3556000">
                <a:moveTo>
                  <a:pt x="5943600" y="0"/>
                </a:moveTo>
                <a:lnTo>
                  <a:pt x="0" y="0"/>
                </a:lnTo>
                <a:lnTo>
                  <a:pt x="0" y="3555491"/>
                </a:lnTo>
                <a:lnTo>
                  <a:pt x="5943600" y="3555491"/>
                </a:lnTo>
                <a:lnTo>
                  <a:pt x="5943600" y="0"/>
                </a:lnTo>
                <a:close/>
              </a:path>
            </a:pathLst>
          </a:custGeom>
          <a:solidFill>
            <a:srgbClr val="76707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914400" y="1199388"/>
            <a:ext cx="5943600" cy="3556000"/>
          </a:xfrm>
          <a:prstGeom prst="rect">
            <a:avLst/>
          </a:prstGeom>
        </p:spPr>
        <p:txBody>
          <a:bodyPr wrap="square" lIns="0" tIns="59055" rIns="0" bIns="0" rtlCol="0" vert="horz">
            <a:spAutoFit/>
          </a:bodyPr>
          <a:lstStyle/>
          <a:p>
            <a:pPr marL="44450">
              <a:lnSpc>
                <a:spcPct val="100000"/>
              </a:lnSpc>
              <a:spcBef>
                <a:spcPts val="465"/>
              </a:spcBef>
            </a:pPr>
            <a:r>
              <a:rPr dirty="0" sz="2950" spc="110" b="1">
                <a:latin typeface="Arial"/>
                <a:cs typeface="Arial"/>
              </a:rPr>
              <a:t>Requirements</a:t>
            </a:r>
            <a:endParaRPr sz="2950">
              <a:latin typeface="Arial"/>
              <a:cs typeface="Arial"/>
            </a:endParaRPr>
          </a:p>
          <a:p>
            <a:pPr marL="1898014" marR="2326005">
              <a:lnSpc>
                <a:spcPct val="130800"/>
              </a:lnSpc>
            </a:pPr>
            <a:r>
              <a:rPr dirty="0" sz="2950" spc="100">
                <a:latin typeface="Arial MT"/>
                <a:cs typeface="Arial MT"/>
              </a:rPr>
              <a:t>Business </a:t>
            </a:r>
            <a:r>
              <a:rPr dirty="0" sz="2950" spc="-805">
                <a:latin typeface="Arial MT"/>
                <a:cs typeface="Arial MT"/>
              </a:rPr>
              <a:t> </a:t>
            </a:r>
            <a:r>
              <a:rPr dirty="0" sz="2950" spc="114">
                <a:latin typeface="Arial MT"/>
                <a:cs typeface="Arial MT"/>
              </a:rPr>
              <a:t>T</a:t>
            </a:r>
            <a:r>
              <a:rPr dirty="0" sz="2950" spc="110">
                <a:latin typeface="Arial MT"/>
                <a:cs typeface="Arial MT"/>
              </a:rPr>
              <a:t>e</a:t>
            </a:r>
            <a:r>
              <a:rPr dirty="0" sz="2950" spc="95">
                <a:latin typeface="Arial MT"/>
                <a:cs typeface="Arial MT"/>
              </a:rPr>
              <a:t>c</a:t>
            </a:r>
            <a:r>
              <a:rPr dirty="0" sz="2950" spc="110">
                <a:latin typeface="Arial MT"/>
                <a:cs typeface="Arial MT"/>
              </a:rPr>
              <a:t>hn</a:t>
            </a:r>
            <a:r>
              <a:rPr dirty="0" sz="2950" spc="40">
                <a:latin typeface="Arial MT"/>
                <a:cs typeface="Arial MT"/>
              </a:rPr>
              <a:t>i</a:t>
            </a:r>
            <a:r>
              <a:rPr dirty="0" sz="2950" spc="95">
                <a:latin typeface="Arial MT"/>
                <a:cs typeface="Arial MT"/>
              </a:rPr>
              <a:t>c</a:t>
            </a:r>
            <a:r>
              <a:rPr dirty="0" sz="2950" spc="110">
                <a:latin typeface="Arial MT"/>
                <a:cs typeface="Arial MT"/>
              </a:rPr>
              <a:t>a</a:t>
            </a:r>
            <a:r>
              <a:rPr dirty="0" sz="2950" spc="40">
                <a:latin typeface="Arial MT"/>
                <a:cs typeface="Arial MT"/>
              </a:rPr>
              <a:t>l</a:t>
            </a:r>
            <a:endParaRPr sz="2950">
              <a:latin typeface="Arial MT"/>
              <a:cs typeface="Arial MT"/>
            </a:endParaRPr>
          </a:p>
          <a:p>
            <a:pPr marL="3157855">
              <a:lnSpc>
                <a:spcPct val="100000"/>
              </a:lnSpc>
              <a:spcBef>
                <a:spcPts val="1095"/>
              </a:spcBef>
            </a:pPr>
            <a:r>
              <a:rPr dirty="0" sz="2950" spc="90">
                <a:latin typeface="Arial MT"/>
                <a:cs typeface="Arial MT"/>
              </a:rPr>
              <a:t>Functional</a:t>
            </a:r>
            <a:endParaRPr sz="2950">
              <a:latin typeface="Arial MT"/>
              <a:cs typeface="Arial MT"/>
            </a:endParaRPr>
          </a:p>
          <a:p>
            <a:pPr marL="3157855" marR="66040">
              <a:lnSpc>
                <a:spcPct val="130800"/>
              </a:lnSpc>
            </a:pPr>
            <a:r>
              <a:rPr dirty="0" sz="2950" spc="120">
                <a:latin typeface="Arial MT"/>
                <a:cs typeface="Arial MT"/>
              </a:rPr>
              <a:t>Non</a:t>
            </a:r>
            <a:r>
              <a:rPr dirty="0" sz="2950" spc="65">
                <a:latin typeface="Arial MT"/>
                <a:cs typeface="Arial MT"/>
              </a:rPr>
              <a:t>-</a:t>
            </a:r>
            <a:r>
              <a:rPr dirty="0" sz="2950" spc="114">
                <a:latin typeface="Arial MT"/>
                <a:cs typeface="Arial MT"/>
              </a:rPr>
              <a:t>F</a:t>
            </a:r>
            <a:r>
              <a:rPr dirty="0" sz="2950" spc="110">
                <a:latin typeface="Arial MT"/>
                <a:cs typeface="Arial MT"/>
              </a:rPr>
              <a:t>un</a:t>
            </a:r>
            <a:r>
              <a:rPr dirty="0" sz="2950" spc="95">
                <a:latin typeface="Arial MT"/>
                <a:cs typeface="Arial MT"/>
              </a:rPr>
              <a:t>c</a:t>
            </a:r>
            <a:r>
              <a:rPr dirty="0" sz="2950" spc="50">
                <a:latin typeface="Arial MT"/>
                <a:cs typeface="Arial MT"/>
              </a:rPr>
              <a:t>t</a:t>
            </a:r>
            <a:r>
              <a:rPr dirty="0" sz="2950" spc="40">
                <a:latin typeface="Arial MT"/>
                <a:cs typeface="Arial MT"/>
              </a:rPr>
              <a:t>i</a:t>
            </a:r>
            <a:r>
              <a:rPr dirty="0" sz="2950" spc="110">
                <a:latin typeface="Arial MT"/>
                <a:cs typeface="Arial MT"/>
              </a:rPr>
              <a:t>ona</a:t>
            </a:r>
            <a:r>
              <a:rPr dirty="0" sz="2950" spc="50">
                <a:latin typeface="Arial MT"/>
                <a:cs typeface="Arial MT"/>
              </a:rPr>
              <a:t>l  </a:t>
            </a:r>
            <a:r>
              <a:rPr dirty="0" sz="2950" spc="100">
                <a:latin typeface="Arial MT"/>
                <a:cs typeface="Arial MT"/>
              </a:rPr>
              <a:t>Data</a:t>
            </a:r>
            <a:endParaRPr sz="2950">
              <a:latin typeface="Arial MT"/>
              <a:cs typeface="Arial MT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292803" y="1773535"/>
            <a:ext cx="1529715" cy="2688590"/>
          </a:xfrm>
          <a:custGeom>
            <a:avLst/>
            <a:gdLst/>
            <a:ahLst/>
            <a:cxnLst/>
            <a:rect l="l" t="t" r="r" b="b"/>
            <a:pathLst>
              <a:path w="1529714" h="2688590">
                <a:moveTo>
                  <a:pt x="0" y="0"/>
                </a:moveTo>
                <a:lnTo>
                  <a:pt x="0" y="924203"/>
                </a:lnTo>
              </a:path>
              <a:path w="1529714" h="2688590">
                <a:moveTo>
                  <a:pt x="0" y="336070"/>
                </a:moveTo>
                <a:lnTo>
                  <a:pt x="344922" y="336070"/>
                </a:lnTo>
              </a:path>
              <a:path w="1529714" h="2688590">
                <a:moveTo>
                  <a:pt x="15001" y="924203"/>
                </a:moveTo>
                <a:lnTo>
                  <a:pt x="359923" y="924203"/>
                </a:lnTo>
              </a:path>
              <a:path w="1529714" h="2688590">
                <a:moveTo>
                  <a:pt x="1169742" y="1176229"/>
                </a:moveTo>
                <a:lnTo>
                  <a:pt x="1169742" y="2688562"/>
                </a:lnTo>
              </a:path>
              <a:path w="1529714" h="2688590">
                <a:moveTo>
                  <a:pt x="1169742" y="1512300"/>
                </a:moveTo>
                <a:lnTo>
                  <a:pt x="1514664" y="1512300"/>
                </a:lnTo>
              </a:path>
              <a:path w="1529714" h="2688590">
                <a:moveTo>
                  <a:pt x="1184744" y="2100433"/>
                </a:moveTo>
                <a:lnTo>
                  <a:pt x="1529666" y="2100433"/>
                </a:lnTo>
              </a:path>
              <a:path w="1529714" h="2688590">
                <a:moveTo>
                  <a:pt x="1169742" y="2688562"/>
                </a:moveTo>
                <a:lnTo>
                  <a:pt x="1514664" y="2688562"/>
                </a:lnTo>
              </a:path>
            </a:pathLst>
          </a:custGeom>
          <a:ln w="2783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892556"/>
            <a:ext cx="5768975" cy="378650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76200">
              <a:lnSpc>
                <a:spcPct val="100000"/>
              </a:lnSpc>
              <a:spcBef>
                <a:spcPts val="100"/>
              </a:spcBef>
            </a:pPr>
            <a:r>
              <a:rPr dirty="0" sz="1100" spc="-5" b="1">
                <a:latin typeface="Calibri"/>
                <a:cs typeface="Calibri"/>
              </a:rPr>
              <a:t>Examples:</a:t>
            </a:r>
            <a:endParaRPr sz="1100">
              <a:latin typeface="Calibri"/>
              <a:cs typeface="Calibri"/>
            </a:endParaRPr>
          </a:p>
          <a:p>
            <a:pPr marL="469265" marR="8890" indent="-228600">
              <a:lnSpc>
                <a:spcPct val="110000"/>
              </a:lnSpc>
              <a:spcBef>
                <a:spcPts val="795"/>
              </a:spcBef>
              <a:buFont typeface="Microsoft Sans Serif"/>
              <a:buChar char=""/>
              <a:tabLst>
                <a:tab pos="469265" algn="l"/>
                <a:tab pos="469900" algn="l"/>
              </a:tabLst>
            </a:pPr>
            <a:r>
              <a:rPr dirty="0" sz="1100">
                <a:latin typeface="Calibri"/>
                <a:cs typeface="Calibri"/>
              </a:rPr>
              <a:t>Display the </a:t>
            </a:r>
            <a:r>
              <a:rPr dirty="0" sz="1100" spc="-5">
                <a:latin typeface="Calibri"/>
                <a:cs typeface="Calibri"/>
              </a:rPr>
              <a:t>name, </a:t>
            </a:r>
            <a:r>
              <a:rPr dirty="0" sz="1100">
                <a:latin typeface="Calibri"/>
                <a:cs typeface="Calibri"/>
              </a:rPr>
              <a:t>total </a:t>
            </a:r>
            <a:r>
              <a:rPr dirty="0" sz="1100" spc="-5">
                <a:latin typeface="Calibri"/>
                <a:cs typeface="Calibri"/>
              </a:rPr>
              <a:t>size, </a:t>
            </a:r>
            <a:r>
              <a:rPr dirty="0" sz="1100">
                <a:latin typeface="Calibri"/>
                <a:cs typeface="Calibri"/>
              </a:rPr>
              <a:t>available </a:t>
            </a:r>
            <a:r>
              <a:rPr dirty="0" sz="1100" spc="-5">
                <a:latin typeface="Calibri"/>
                <a:cs typeface="Calibri"/>
              </a:rPr>
              <a:t>space </a:t>
            </a:r>
            <a:r>
              <a:rPr dirty="0" sz="1100">
                <a:latin typeface="Calibri"/>
                <a:cs typeface="Calibri"/>
              </a:rPr>
              <a:t>and </a:t>
            </a:r>
            <a:r>
              <a:rPr dirty="0" sz="1100" spc="-5">
                <a:latin typeface="Calibri"/>
                <a:cs typeface="Calibri"/>
              </a:rPr>
              <a:t>format </a:t>
            </a:r>
            <a:r>
              <a:rPr dirty="0" sz="1100">
                <a:latin typeface="Calibri"/>
                <a:cs typeface="Calibri"/>
              </a:rPr>
              <a:t>of a </a:t>
            </a:r>
            <a:r>
              <a:rPr dirty="0" sz="1100" spc="-5">
                <a:latin typeface="Calibri"/>
                <a:cs typeface="Calibri"/>
              </a:rPr>
              <a:t>flash drive </a:t>
            </a:r>
            <a:r>
              <a:rPr dirty="0" sz="1100">
                <a:latin typeface="Calibri"/>
                <a:cs typeface="Calibri"/>
              </a:rPr>
              <a:t>connected to the USB </a:t>
            </a:r>
            <a:r>
              <a:rPr dirty="0" sz="1100" spc="-2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port.</a:t>
            </a:r>
            <a:endParaRPr sz="1100">
              <a:latin typeface="Calibri"/>
              <a:cs typeface="Calibri"/>
            </a:endParaRPr>
          </a:p>
          <a:p>
            <a:pPr marL="469265" marR="24130" indent="-228600">
              <a:lnSpc>
                <a:spcPct val="109100"/>
              </a:lnSpc>
              <a:spcBef>
                <a:spcPts val="815"/>
              </a:spcBef>
              <a:buFont typeface="Microsoft Sans Serif"/>
              <a:buChar char=""/>
              <a:tabLst>
                <a:tab pos="469265" algn="l"/>
                <a:tab pos="469900" algn="l"/>
              </a:tabLst>
            </a:pPr>
            <a:r>
              <a:rPr dirty="0" sz="1100">
                <a:latin typeface="Calibri"/>
                <a:cs typeface="Calibri"/>
              </a:rPr>
              <a:t>Upon </a:t>
            </a:r>
            <a:r>
              <a:rPr dirty="0" sz="1100" spc="-5">
                <a:latin typeface="Calibri"/>
                <a:cs typeface="Calibri"/>
              </a:rPr>
              <a:t>request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from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managers,</a:t>
            </a:r>
            <a:r>
              <a:rPr dirty="0" sz="1100" spc="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 </a:t>
            </a:r>
            <a:r>
              <a:rPr dirty="0" sz="1100" spc="-5">
                <a:latin typeface="Calibri"/>
                <a:cs typeface="Calibri"/>
              </a:rPr>
              <a:t>system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must produce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daily, weekly, monthly,</a:t>
            </a:r>
            <a:r>
              <a:rPr dirty="0" sz="1100">
                <a:latin typeface="Calibri"/>
                <a:cs typeface="Calibri"/>
              </a:rPr>
              <a:t> quarterly, or </a:t>
            </a:r>
            <a:r>
              <a:rPr dirty="0" sz="1100" spc="-2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yearly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sales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reports</a:t>
            </a:r>
            <a:r>
              <a:rPr dirty="0" sz="1100">
                <a:latin typeface="Calibri"/>
                <a:cs typeface="Calibri"/>
              </a:rPr>
              <a:t> in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HTML</a:t>
            </a:r>
            <a:r>
              <a:rPr dirty="0" sz="110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format.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buFont typeface="Microsoft Sans Serif"/>
              <a:buChar char=""/>
            </a:pP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Font typeface="Microsoft Sans Serif"/>
              <a:buChar char=""/>
            </a:pPr>
            <a:endParaRPr sz="15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100" spc="-5" b="1">
                <a:latin typeface="Calibri"/>
                <a:cs typeface="Calibri"/>
              </a:rPr>
              <a:t>Non-Functional</a:t>
            </a:r>
            <a:r>
              <a:rPr dirty="0" sz="1100" spc="-10" b="1">
                <a:latin typeface="Calibri"/>
                <a:cs typeface="Calibri"/>
              </a:rPr>
              <a:t> </a:t>
            </a:r>
            <a:r>
              <a:rPr dirty="0" sz="1100" spc="-5" b="1">
                <a:latin typeface="Calibri"/>
                <a:cs typeface="Calibri"/>
              </a:rPr>
              <a:t>Requirements:</a:t>
            </a:r>
            <a:endParaRPr sz="1100">
              <a:latin typeface="Calibri"/>
              <a:cs typeface="Calibri"/>
            </a:endParaRPr>
          </a:p>
          <a:p>
            <a:pPr marL="469265" marR="295275" indent="-228600">
              <a:lnSpc>
                <a:spcPct val="109100"/>
              </a:lnSpc>
              <a:spcBef>
                <a:spcPts val="815"/>
              </a:spcBef>
              <a:buFont typeface="Microsoft Sans Serif"/>
              <a:buChar char=""/>
              <a:tabLst>
                <a:tab pos="469265" algn="l"/>
                <a:tab pos="469900" algn="l"/>
              </a:tabLst>
            </a:pPr>
            <a:r>
              <a:rPr dirty="0" sz="1100">
                <a:latin typeface="Calibri"/>
                <a:cs typeface="Calibri"/>
              </a:rPr>
              <a:t>A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 b="1">
                <a:latin typeface="Calibri"/>
                <a:cs typeface="Calibri"/>
              </a:rPr>
              <a:t>non-functional</a:t>
            </a:r>
            <a:r>
              <a:rPr dirty="0" sz="1100" spc="5" b="1">
                <a:latin typeface="Calibri"/>
                <a:cs typeface="Calibri"/>
              </a:rPr>
              <a:t> </a:t>
            </a:r>
            <a:r>
              <a:rPr dirty="0" sz="1100" spc="-5" b="1">
                <a:latin typeface="Calibri"/>
                <a:cs typeface="Calibri"/>
              </a:rPr>
              <a:t>requirement</a:t>
            </a:r>
            <a:r>
              <a:rPr dirty="0" sz="1100" spc="15" b="1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is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statement </a:t>
            </a:r>
            <a:r>
              <a:rPr dirty="0" sz="1100">
                <a:latin typeface="Calibri"/>
                <a:cs typeface="Calibri"/>
              </a:rPr>
              <a:t>that a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software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product must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have </a:t>
            </a:r>
            <a:r>
              <a:rPr dirty="0" sz="1100">
                <a:latin typeface="Calibri"/>
                <a:cs typeface="Calibri"/>
              </a:rPr>
              <a:t>certain </a:t>
            </a:r>
            <a:r>
              <a:rPr dirty="0" sz="1100" spc="-23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properties.</a:t>
            </a:r>
            <a:endParaRPr sz="1100">
              <a:latin typeface="Calibri"/>
              <a:cs typeface="Calibri"/>
            </a:endParaRPr>
          </a:p>
          <a:p>
            <a:pPr marL="469265" indent="-228600">
              <a:lnSpc>
                <a:spcPct val="100000"/>
              </a:lnSpc>
              <a:spcBef>
                <a:spcPts val="940"/>
              </a:spcBef>
              <a:buFont typeface="Microsoft Sans Serif"/>
              <a:buChar char=""/>
              <a:tabLst>
                <a:tab pos="469265" algn="l"/>
                <a:tab pos="469900" algn="l"/>
              </a:tabLst>
            </a:pPr>
            <a:r>
              <a:rPr dirty="0" sz="1100">
                <a:latin typeface="Calibri"/>
                <a:cs typeface="Calibri"/>
              </a:rPr>
              <a:t>Non-functional </a:t>
            </a:r>
            <a:r>
              <a:rPr dirty="0" sz="1100" spc="-5">
                <a:latin typeface="Calibri"/>
                <a:cs typeface="Calibri"/>
              </a:rPr>
              <a:t>requirements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are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also called </a:t>
            </a:r>
            <a:r>
              <a:rPr dirty="0" sz="1100" spc="-5" b="1">
                <a:latin typeface="Calibri"/>
                <a:cs typeface="Calibri"/>
              </a:rPr>
              <a:t>non-behavioral requirements</a:t>
            </a:r>
            <a:r>
              <a:rPr dirty="0" sz="1100" spc="-5">
                <a:latin typeface="Calibri"/>
                <a:cs typeface="Calibri"/>
              </a:rPr>
              <a:t>.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buFont typeface="Microsoft Sans Serif"/>
              <a:buChar char=""/>
            </a:pPr>
            <a:endParaRPr sz="13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Microsoft Sans Serif"/>
              <a:buChar char=""/>
            </a:pPr>
            <a:endParaRPr sz="13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100" spc="-5">
                <a:latin typeface="Calibri"/>
                <a:cs typeface="Calibri"/>
              </a:rPr>
              <a:t>The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following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statements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are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examples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non-functional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requirements:</a:t>
            </a:r>
            <a:endParaRPr sz="1100">
              <a:latin typeface="Calibri"/>
              <a:cs typeface="Calibri"/>
            </a:endParaRPr>
          </a:p>
          <a:p>
            <a:pPr marL="469265" indent="-228600">
              <a:lnSpc>
                <a:spcPct val="100000"/>
              </a:lnSpc>
              <a:spcBef>
                <a:spcPts val="925"/>
              </a:spcBef>
              <a:buFont typeface="Microsoft Sans Serif"/>
              <a:buChar char=""/>
              <a:tabLst>
                <a:tab pos="469265" algn="l"/>
                <a:tab pos="469900" algn="l"/>
              </a:tabLst>
            </a:pPr>
            <a:r>
              <a:rPr dirty="0" sz="1100" spc="-5">
                <a:latin typeface="Calibri"/>
                <a:cs typeface="Calibri"/>
              </a:rPr>
              <a:t>The</a:t>
            </a:r>
            <a:r>
              <a:rPr dirty="0" sz="1100">
                <a:latin typeface="Calibri"/>
                <a:cs typeface="Calibri"/>
              </a:rPr>
              <a:t> payroll </a:t>
            </a:r>
            <a:r>
              <a:rPr dirty="0" sz="1100" spc="-5">
                <a:latin typeface="Calibri"/>
                <a:cs typeface="Calibri"/>
              </a:rPr>
              <a:t>system</a:t>
            </a:r>
            <a:r>
              <a:rPr dirty="0" sz="1100">
                <a:latin typeface="Calibri"/>
                <a:cs typeface="Calibri"/>
              </a:rPr>
              <a:t> must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process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5">
                <a:latin typeface="Calibri"/>
                <a:cs typeface="Calibri"/>
              </a:rPr>
              <a:t> payroll</a:t>
            </a:r>
            <a:r>
              <a:rPr dirty="0" sz="110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for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all XYZ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Corp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employees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six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hours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or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less.</a:t>
            </a:r>
            <a:endParaRPr sz="1100">
              <a:latin typeface="Calibri"/>
              <a:cs typeface="Calibri"/>
            </a:endParaRPr>
          </a:p>
          <a:p>
            <a:pPr marL="469265" marR="5080" indent="-228600">
              <a:lnSpc>
                <a:spcPct val="110000"/>
              </a:lnSpc>
              <a:spcBef>
                <a:spcPts val="790"/>
              </a:spcBef>
              <a:buFont typeface="Microsoft Sans Serif"/>
              <a:buChar char=""/>
              <a:tabLst>
                <a:tab pos="469265" algn="l"/>
                <a:tab pos="469900" algn="l"/>
              </a:tabLst>
            </a:pPr>
            <a:r>
              <a:rPr dirty="0" sz="1100" spc="-5">
                <a:latin typeface="Calibri"/>
                <a:cs typeface="Calibri"/>
              </a:rPr>
              <a:t>The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system</a:t>
            </a:r>
            <a:r>
              <a:rPr dirty="0" sz="110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must</a:t>
            </a:r>
            <a:r>
              <a:rPr dirty="0" sz="1100">
                <a:latin typeface="Calibri"/>
                <a:cs typeface="Calibri"/>
              </a:rPr>
              <a:t> run </a:t>
            </a:r>
            <a:r>
              <a:rPr dirty="0" sz="1100" spc="-5">
                <a:latin typeface="Calibri"/>
                <a:cs typeface="Calibri"/>
              </a:rPr>
              <a:t>without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failure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for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at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least</a:t>
            </a:r>
            <a:r>
              <a:rPr dirty="0" sz="1100" spc="-5">
                <a:latin typeface="Calibri"/>
                <a:cs typeface="Calibri"/>
              </a:rPr>
              <a:t> 24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hours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after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being</a:t>
            </a:r>
            <a:r>
              <a:rPr dirty="0" sz="110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restarted,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under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normal </a:t>
            </a:r>
            <a:r>
              <a:rPr dirty="0" sz="1100" spc="-2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conditions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use.</a:t>
            </a:r>
            <a:endParaRPr sz="11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" y="5364479"/>
            <a:ext cx="5943600" cy="3459479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892556"/>
            <a:ext cx="5930265" cy="42379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" b="1">
                <a:latin typeface="Calibri"/>
                <a:cs typeface="Calibri"/>
              </a:rPr>
              <a:t>Data</a:t>
            </a:r>
            <a:r>
              <a:rPr dirty="0" sz="1100" spc="-25" b="1">
                <a:latin typeface="Calibri"/>
                <a:cs typeface="Calibri"/>
              </a:rPr>
              <a:t> </a:t>
            </a:r>
            <a:r>
              <a:rPr dirty="0" sz="1100" spc="-5" b="1">
                <a:latin typeface="Calibri"/>
                <a:cs typeface="Calibri"/>
              </a:rPr>
              <a:t>Requirements:</a:t>
            </a:r>
            <a:endParaRPr sz="1100">
              <a:latin typeface="Calibri"/>
              <a:cs typeface="Calibri"/>
            </a:endParaRPr>
          </a:p>
          <a:p>
            <a:pPr marL="469265" marR="5080" indent="-228600">
              <a:lnSpc>
                <a:spcPct val="110000"/>
              </a:lnSpc>
              <a:spcBef>
                <a:spcPts val="795"/>
              </a:spcBef>
              <a:buFont typeface="Microsoft Sans Serif"/>
              <a:buChar char=""/>
              <a:tabLst>
                <a:tab pos="469265" algn="l"/>
                <a:tab pos="469900" algn="l"/>
              </a:tabLst>
            </a:pPr>
            <a:r>
              <a:rPr dirty="0" sz="1100">
                <a:latin typeface="Calibri"/>
                <a:cs typeface="Calibri"/>
              </a:rPr>
              <a:t>A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 b="1">
                <a:latin typeface="Calibri"/>
                <a:cs typeface="Calibri"/>
              </a:rPr>
              <a:t>data</a:t>
            </a:r>
            <a:r>
              <a:rPr dirty="0" sz="1100" b="1">
                <a:latin typeface="Calibri"/>
                <a:cs typeface="Calibri"/>
              </a:rPr>
              <a:t> </a:t>
            </a:r>
            <a:r>
              <a:rPr dirty="0" sz="1100" spc="-5" b="1">
                <a:latin typeface="Calibri"/>
                <a:cs typeface="Calibri"/>
              </a:rPr>
              <a:t>requirement</a:t>
            </a:r>
            <a:r>
              <a:rPr dirty="0" sz="1100" spc="15" b="1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is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statement </a:t>
            </a:r>
            <a:r>
              <a:rPr dirty="0" sz="1100">
                <a:latin typeface="Calibri"/>
                <a:cs typeface="Calibri"/>
              </a:rPr>
              <a:t>that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certain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data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must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be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input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to, </a:t>
            </a:r>
            <a:r>
              <a:rPr dirty="0" sz="1100">
                <a:latin typeface="Calibri"/>
                <a:cs typeface="Calibri"/>
              </a:rPr>
              <a:t>output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from, </a:t>
            </a:r>
            <a:r>
              <a:rPr dirty="0" sz="1100">
                <a:latin typeface="Calibri"/>
                <a:cs typeface="Calibri"/>
              </a:rPr>
              <a:t>or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stored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by </a:t>
            </a:r>
            <a:r>
              <a:rPr dirty="0" sz="1100" spc="-2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</a:t>
            </a:r>
            <a:r>
              <a:rPr dirty="0" sz="1100" spc="-5">
                <a:latin typeface="Calibri"/>
                <a:cs typeface="Calibri"/>
              </a:rPr>
              <a:t> product.</a:t>
            </a:r>
            <a:endParaRPr sz="1100">
              <a:latin typeface="Calibri"/>
              <a:cs typeface="Calibri"/>
            </a:endParaRPr>
          </a:p>
          <a:p>
            <a:pPr marL="469265" marR="92075" indent="-228600">
              <a:lnSpc>
                <a:spcPct val="109100"/>
              </a:lnSpc>
              <a:spcBef>
                <a:spcPts val="815"/>
              </a:spcBef>
              <a:buFont typeface="Microsoft Sans Serif"/>
              <a:buChar char=""/>
              <a:tabLst>
                <a:tab pos="469265" algn="l"/>
                <a:tab pos="469900" algn="l"/>
              </a:tabLst>
            </a:pPr>
            <a:r>
              <a:rPr dirty="0" sz="1100">
                <a:latin typeface="Calibri"/>
                <a:cs typeface="Calibri"/>
              </a:rPr>
              <a:t>Data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requirements</a:t>
            </a:r>
            <a:r>
              <a:rPr dirty="0" sz="110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describe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format, structure,</a:t>
            </a:r>
            <a:r>
              <a:rPr dirty="0" sz="110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type,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allowable </a:t>
            </a:r>
            <a:r>
              <a:rPr dirty="0" sz="1100" spc="-5">
                <a:latin typeface="Calibri"/>
                <a:cs typeface="Calibri"/>
              </a:rPr>
              <a:t>values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data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entering, </a:t>
            </a:r>
            <a:r>
              <a:rPr dirty="0" sz="1100" spc="-2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leaving,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or </a:t>
            </a:r>
            <a:r>
              <a:rPr dirty="0" sz="1100" spc="-5">
                <a:latin typeface="Calibri"/>
                <a:cs typeface="Calibri"/>
              </a:rPr>
              <a:t>stored</a:t>
            </a:r>
            <a:r>
              <a:rPr dirty="0" sz="110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by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 </a:t>
            </a:r>
            <a:r>
              <a:rPr dirty="0" sz="1100" spc="-5">
                <a:latin typeface="Calibri"/>
                <a:cs typeface="Calibri"/>
              </a:rPr>
              <a:t>product.</a:t>
            </a:r>
            <a:endParaRPr sz="1100">
              <a:latin typeface="Calibri"/>
              <a:cs typeface="Calibri"/>
            </a:endParaRPr>
          </a:p>
          <a:p>
            <a:pPr marL="469265" marR="28575" indent="-228600">
              <a:lnSpc>
                <a:spcPct val="110000"/>
              </a:lnSpc>
              <a:spcBef>
                <a:spcPts val="805"/>
              </a:spcBef>
              <a:buFont typeface="Microsoft Sans Serif"/>
              <a:buChar char=""/>
              <a:tabLst>
                <a:tab pos="469265" algn="l"/>
                <a:tab pos="469900" algn="l"/>
              </a:tabLst>
            </a:pPr>
            <a:r>
              <a:rPr dirty="0" sz="1100" spc="-5">
                <a:latin typeface="Calibri"/>
                <a:cs typeface="Calibri"/>
              </a:rPr>
              <a:t>The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Computer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Assignment</a:t>
            </a:r>
            <a:r>
              <a:rPr dirty="0" sz="110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System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must</a:t>
            </a:r>
            <a:r>
              <a:rPr dirty="0" sz="110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store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customer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names</a:t>
            </a:r>
            <a:r>
              <a:rPr dirty="0" sz="1100" spc="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fields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recording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first,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last,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 </a:t>
            </a:r>
            <a:r>
              <a:rPr dirty="0" sz="1100" spc="-229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middle</a:t>
            </a:r>
            <a:r>
              <a:rPr dirty="0" sz="1100" spc="-5">
                <a:latin typeface="Calibri"/>
                <a:cs typeface="Calibri"/>
              </a:rPr>
              <a:t> names.</a:t>
            </a:r>
            <a:endParaRPr sz="1100">
              <a:latin typeface="Calibri"/>
              <a:cs typeface="Calibri"/>
            </a:endParaRPr>
          </a:p>
          <a:p>
            <a:pPr marL="469265" marR="99695" indent="-228600">
              <a:lnSpc>
                <a:spcPct val="109500"/>
              </a:lnSpc>
              <a:spcBef>
                <a:spcPts val="800"/>
              </a:spcBef>
              <a:buFont typeface="Microsoft Sans Serif"/>
              <a:buChar char=""/>
              <a:tabLst>
                <a:tab pos="469265" algn="l"/>
                <a:tab pos="469900" algn="l"/>
              </a:tabLst>
            </a:pPr>
            <a:r>
              <a:rPr dirty="0" sz="1100" spc="-5">
                <a:latin typeface="Calibri"/>
                <a:cs typeface="Calibri"/>
              </a:rPr>
              <a:t>The</a:t>
            </a:r>
            <a:r>
              <a:rPr dirty="0" sz="110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system</a:t>
            </a:r>
            <a:r>
              <a:rPr dirty="0" sz="110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must display</a:t>
            </a:r>
            <a:r>
              <a:rPr dirty="0" sz="1100">
                <a:latin typeface="Calibri"/>
                <a:cs typeface="Calibri"/>
              </a:rPr>
              <a:t> all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times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</a:t>
            </a:r>
            <a:r>
              <a:rPr dirty="0" sz="1100" spc="-5">
                <a:latin typeface="Calibri"/>
                <a:cs typeface="Calibri"/>
              </a:rPr>
              <a:t> time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fields </a:t>
            </a:r>
            <a:r>
              <a:rPr dirty="0" sz="1100">
                <a:latin typeface="Calibri"/>
                <a:cs typeface="Calibri"/>
              </a:rPr>
              <a:t>with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 </a:t>
            </a:r>
            <a:r>
              <a:rPr dirty="0" sz="1100" spc="-5">
                <a:latin typeface="Calibri"/>
                <a:cs typeface="Calibri"/>
              </a:rPr>
              <a:t>format</a:t>
            </a:r>
            <a:r>
              <a:rPr dirty="0" sz="1100" spc="30">
                <a:latin typeface="Calibri"/>
                <a:cs typeface="Calibri"/>
              </a:rPr>
              <a:t> </a:t>
            </a:r>
            <a:r>
              <a:rPr dirty="0" sz="1100" spc="-5" i="1">
                <a:latin typeface="Calibri"/>
                <a:cs typeface="Calibri"/>
              </a:rPr>
              <a:t>hh:mm:ss </a:t>
            </a:r>
            <a:r>
              <a:rPr dirty="0" sz="1100">
                <a:latin typeface="Calibri"/>
                <a:cs typeface="Calibri"/>
              </a:rPr>
              <a:t>where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 spc="-5" i="1">
                <a:latin typeface="Calibri"/>
                <a:cs typeface="Calibri"/>
              </a:rPr>
              <a:t>hh</a:t>
            </a:r>
            <a:r>
              <a:rPr dirty="0" sz="1100" i="1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is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two- 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digit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military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time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hour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field,</a:t>
            </a:r>
            <a:r>
              <a:rPr dirty="0" sz="1100" spc="20">
                <a:latin typeface="Calibri"/>
                <a:cs typeface="Calibri"/>
              </a:rPr>
              <a:t> </a:t>
            </a:r>
            <a:r>
              <a:rPr dirty="0" sz="1100" i="1">
                <a:latin typeface="Calibri"/>
                <a:cs typeface="Calibri"/>
              </a:rPr>
              <a:t>mm</a:t>
            </a:r>
            <a:r>
              <a:rPr dirty="0" sz="1100" spc="15" i="1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is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 </a:t>
            </a:r>
            <a:r>
              <a:rPr dirty="0" sz="1100" spc="-5">
                <a:latin typeface="Calibri"/>
                <a:cs typeface="Calibri"/>
              </a:rPr>
              <a:t>two-digit</a:t>
            </a:r>
            <a:r>
              <a:rPr dirty="0" sz="110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military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time</a:t>
            </a:r>
            <a:r>
              <a:rPr dirty="0" sz="110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minutes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field,</a:t>
            </a:r>
            <a:r>
              <a:rPr dirty="0" sz="1100">
                <a:latin typeface="Calibri"/>
                <a:cs typeface="Calibri"/>
              </a:rPr>
              <a:t> and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 i="1">
                <a:latin typeface="Calibri"/>
                <a:cs typeface="Calibri"/>
              </a:rPr>
              <a:t>ss</a:t>
            </a:r>
            <a:r>
              <a:rPr dirty="0" sz="1100" spc="10" i="1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is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two-digit </a:t>
            </a:r>
            <a:r>
              <a:rPr dirty="0" sz="1100" spc="-229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military time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seconds</a:t>
            </a:r>
            <a:r>
              <a:rPr dirty="0" sz="110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field.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buFont typeface="Microsoft Sans Serif"/>
              <a:buChar char=""/>
            </a:pP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Font typeface="Microsoft Sans Serif"/>
              <a:buChar char=""/>
            </a:pPr>
            <a:endParaRPr sz="15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100" b="1">
                <a:latin typeface="Calibri"/>
                <a:cs typeface="Calibri"/>
              </a:rPr>
              <a:t>Levels</a:t>
            </a:r>
            <a:r>
              <a:rPr dirty="0" sz="1100" spc="-30" b="1">
                <a:latin typeface="Calibri"/>
                <a:cs typeface="Calibri"/>
              </a:rPr>
              <a:t> </a:t>
            </a:r>
            <a:r>
              <a:rPr dirty="0" sz="1100" spc="-5" b="1">
                <a:latin typeface="Calibri"/>
                <a:cs typeface="Calibri"/>
              </a:rPr>
              <a:t>of</a:t>
            </a:r>
            <a:r>
              <a:rPr dirty="0" sz="1100" spc="-20" b="1">
                <a:latin typeface="Calibri"/>
                <a:cs typeface="Calibri"/>
              </a:rPr>
              <a:t> </a:t>
            </a:r>
            <a:r>
              <a:rPr dirty="0" sz="1100" spc="-5" b="1">
                <a:latin typeface="Calibri"/>
                <a:cs typeface="Calibri"/>
              </a:rPr>
              <a:t>Abstraction:</a:t>
            </a:r>
            <a:endParaRPr sz="1100">
              <a:latin typeface="Calibri"/>
              <a:cs typeface="Calibri"/>
            </a:endParaRPr>
          </a:p>
          <a:p>
            <a:pPr marL="469265" marR="358140" indent="-228600">
              <a:lnSpc>
                <a:spcPct val="109100"/>
              </a:lnSpc>
              <a:spcBef>
                <a:spcPts val="815"/>
              </a:spcBef>
              <a:buFont typeface="Microsoft Sans Serif"/>
              <a:buChar char=""/>
              <a:tabLst>
                <a:tab pos="469265" algn="l"/>
                <a:tab pos="469900" algn="l"/>
              </a:tabLst>
            </a:pPr>
            <a:r>
              <a:rPr dirty="0" sz="1100">
                <a:latin typeface="Calibri"/>
                <a:cs typeface="Calibri"/>
              </a:rPr>
              <a:t>A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 b="1">
                <a:latin typeface="Calibri"/>
                <a:cs typeface="Calibri"/>
              </a:rPr>
              <a:t>user-level</a:t>
            </a:r>
            <a:r>
              <a:rPr dirty="0" sz="1100" b="1">
                <a:latin typeface="Calibri"/>
                <a:cs typeface="Calibri"/>
              </a:rPr>
              <a:t> </a:t>
            </a:r>
            <a:r>
              <a:rPr dirty="0" sz="1100" spc="-5" b="1">
                <a:latin typeface="Calibri"/>
                <a:cs typeface="Calibri"/>
              </a:rPr>
              <a:t>requirement</a:t>
            </a:r>
            <a:r>
              <a:rPr dirty="0" sz="1100" spc="25" b="1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is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statement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about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how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</a:t>
            </a:r>
            <a:r>
              <a:rPr dirty="0" sz="1100" spc="-5">
                <a:latin typeface="Calibri"/>
                <a:cs typeface="Calibri"/>
              </a:rPr>
              <a:t> product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must</a:t>
            </a:r>
            <a:r>
              <a:rPr dirty="0" sz="110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support</a:t>
            </a:r>
            <a:r>
              <a:rPr dirty="0" sz="110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stakeholders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 </a:t>
            </a:r>
            <a:r>
              <a:rPr dirty="0" sz="1100" spc="-2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achieving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their</a:t>
            </a:r>
            <a:r>
              <a:rPr dirty="0" sz="110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goals</a:t>
            </a:r>
            <a:r>
              <a:rPr dirty="0" sz="1100">
                <a:latin typeface="Calibri"/>
                <a:cs typeface="Calibri"/>
              </a:rPr>
              <a:t> or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tasks.</a:t>
            </a:r>
            <a:endParaRPr sz="1100">
              <a:latin typeface="Calibri"/>
              <a:cs typeface="Calibri"/>
            </a:endParaRPr>
          </a:p>
          <a:p>
            <a:pPr marL="469265" marR="331470" indent="-228600">
              <a:lnSpc>
                <a:spcPct val="110000"/>
              </a:lnSpc>
              <a:spcBef>
                <a:spcPts val="805"/>
              </a:spcBef>
              <a:buFont typeface="Microsoft Sans Serif"/>
              <a:buChar char=""/>
              <a:tabLst>
                <a:tab pos="469265" algn="l"/>
                <a:tab pos="469900" algn="l"/>
              </a:tabLst>
            </a:pPr>
            <a:r>
              <a:rPr dirty="0" sz="1100" spc="-5">
                <a:latin typeface="Calibri"/>
                <a:cs typeface="Calibri"/>
              </a:rPr>
              <a:t>An</a:t>
            </a:r>
            <a:r>
              <a:rPr dirty="0" sz="1100">
                <a:latin typeface="Calibri"/>
                <a:cs typeface="Calibri"/>
              </a:rPr>
              <a:t> </a:t>
            </a:r>
            <a:r>
              <a:rPr dirty="0" sz="1100" spc="-5" b="1">
                <a:latin typeface="Calibri"/>
                <a:cs typeface="Calibri"/>
              </a:rPr>
              <a:t>operational-level requirement</a:t>
            </a:r>
            <a:r>
              <a:rPr dirty="0" sz="1100" spc="15" b="1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is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statement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about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inputs,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outputs, operations, </a:t>
            </a:r>
            <a:r>
              <a:rPr dirty="0" sz="1100">
                <a:latin typeface="Calibri"/>
                <a:cs typeface="Calibri"/>
              </a:rPr>
              <a:t> characteristics,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etc. that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product must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provide, without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reference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to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physical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realization.</a:t>
            </a:r>
            <a:endParaRPr sz="1100">
              <a:latin typeface="Calibri"/>
              <a:cs typeface="Calibri"/>
            </a:endParaRPr>
          </a:p>
          <a:p>
            <a:pPr marL="469265" marR="161290" indent="-228600">
              <a:lnSpc>
                <a:spcPct val="110000"/>
              </a:lnSpc>
              <a:spcBef>
                <a:spcPts val="790"/>
              </a:spcBef>
              <a:buFont typeface="Microsoft Sans Serif"/>
              <a:buChar char=""/>
              <a:tabLst>
                <a:tab pos="469265" algn="l"/>
                <a:tab pos="469900" algn="l"/>
              </a:tabLst>
            </a:pPr>
            <a:r>
              <a:rPr dirty="0" sz="1100">
                <a:latin typeface="Calibri"/>
                <a:cs typeface="Calibri"/>
              </a:rPr>
              <a:t>A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 b="1">
                <a:latin typeface="Calibri"/>
                <a:cs typeface="Calibri"/>
              </a:rPr>
              <a:t>physical-level requirement</a:t>
            </a:r>
            <a:r>
              <a:rPr dirty="0" sz="1100" spc="20" b="1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is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statement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about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5">
                <a:latin typeface="Calibri"/>
                <a:cs typeface="Calibri"/>
              </a:rPr>
              <a:t> physical</a:t>
            </a:r>
            <a:r>
              <a:rPr dirty="0" sz="110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form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product,</a:t>
            </a:r>
            <a:r>
              <a:rPr dirty="0" sz="1100">
                <a:latin typeface="Calibri"/>
                <a:cs typeface="Calibri"/>
              </a:rPr>
              <a:t> its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physical </a:t>
            </a:r>
            <a:r>
              <a:rPr dirty="0" sz="1100" spc="-229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interfaces, </a:t>
            </a:r>
            <a:r>
              <a:rPr dirty="0" sz="1100">
                <a:latin typeface="Calibri"/>
                <a:cs typeface="Calibri"/>
              </a:rPr>
              <a:t>or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its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data</a:t>
            </a:r>
            <a:r>
              <a:rPr dirty="0" sz="110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formats.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2004" y="5793104"/>
            <a:ext cx="5689600" cy="113284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 spc="-5" b="1">
                <a:latin typeface="Calibri"/>
                <a:cs typeface="Calibri"/>
              </a:rPr>
              <a:t>SRS</a:t>
            </a:r>
            <a:r>
              <a:rPr dirty="0" sz="1100" spc="-20" b="1">
                <a:latin typeface="Calibri"/>
                <a:cs typeface="Calibri"/>
              </a:rPr>
              <a:t> </a:t>
            </a:r>
            <a:r>
              <a:rPr dirty="0" sz="1100" spc="-5" b="1">
                <a:latin typeface="Calibri"/>
                <a:cs typeface="Calibri"/>
              </a:rPr>
              <a:t>Templates:</a:t>
            </a:r>
            <a:endParaRPr sz="1100">
              <a:latin typeface="Calibri"/>
              <a:cs typeface="Calibri"/>
            </a:endParaRPr>
          </a:p>
          <a:p>
            <a:pPr marL="469265" marR="5080" indent="-228600">
              <a:lnSpc>
                <a:spcPct val="109500"/>
              </a:lnSpc>
              <a:spcBef>
                <a:spcPts val="810"/>
              </a:spcBef>
              <a:buFont typeface="Microsoft Sans Serif"/>
              <a:buChar char=""/>
              <a:tabLst>
                <a:tab pos="469265" algn="l"/>
                <a:tab pos="469900" algn="l"/>
              </a:tabLst>
            </a:pPr>
            <a:r>
              <a:rPr dirty="0" sz="1100" spc="-5">
                <a:latin typeface="Calibri"/>
                <a:cs typeface="Calibri"/>
              </a:rPr>
              <a:t>There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is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no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universal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SRS</a:t>
            </a:r>
            <a:r>
              <a:rPr dirty="0" sz="1100">
                <a:latin typeface="Calibri"/>
                <a:cs typeface="Calibri"/>
              </a:rPr>
              <a:t> template. </a:t>
            </a:r>
            <a:r>
              <a:rPr dirty="0" sz="1100" spc="-5">
                <a:latin typeface="Calibri"/>
                <a:cs typeface="Calibri"/>
              </a:rPr>
              <a:t>There </a:t>
            </a:r>
            <a:r>
              <a:rPr dirty="0" sz="1100">
                <a:latin typeface="Calibri"/>
                <a:cs typeface="Calibri"/>
              </a:rPr>
              <a:t>are</a:t>
            </a:r>
            <a:r>
              <a:rPr dirty="0" sz="1100" spc="-5">
                <a:latin typeface="Calibri"/>
                <a:cs typeface="Calibri"/>
              </a:rPr>
              <a:t> many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templates available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books </a:t>
            </a:r>
            <a:r>
              <a:rPr dirty="0" sz="1100">
                <a:latin typeface="Calibri"/>
                <a:cs typeface="Calibri"/>
              </a:rPr>
              <a:t>and on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 </a:t>
            </a:r>
            <a:r>
              <a:rPr dirty="0" sz="1100" spc="-2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internet.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Most </a:t>
            </a:r>
            <a:r>
              <a:rPr dirty="0" sz="1100">
                <a:latin typeface="Calibri"/>
                <a:cs typeface="Calibri"/>
              </a:rPr>
              <a:t>employ</a:t>
            </a:r>
            <a:r>
              <a:rPr dirty="0" sz="1100" spc="-5">
                <a:latin typeface="Calibri"/>
                <a:cs typeface="Calibri"/>
              </a:rPr>
              <a:t> requirements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types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 </a:t>
            </a:r>
            <a:r>
              <a:rPr dirty="0" sz="1100" spc="-5">
                <a:latin typeface="Calibri"/>
                <a:cs typeface="Calibri"/>
              </a:rPr>
              <a:t>levels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abstraction</a:t>
            </a:r>
            <a:r>
              <a:rPr dirty="0" sz="110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to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help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organize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 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material.</a:t>
            </a:r>
            <a:endParaRPr sz="1100">
              <a:latin typeface="Calibri"/>
              <a:cs typeface="Calibri"/>
            </a:endParaRPr>
          </a:p>
          <a:p>
            <a:pPr marL="469265" indent="-228600">
              <a:lnSpc>
                <a:spcPct val="100000"/>
              </a:lnSpc>
              <a:spcBef>
                <a:spcPts val="919"/>
              </a:spcBef>
              <a:buFont typeface="Microsoft Sans Serif"/>
              <a:buChar char=""/>
              <a:tabLst>
                <a:tab pos="469265" algn="l"/>
                <a:tab pos="469900" algn="l"/>
              </a:tabLst>
            </a:pPr>
            <a:r>
              <a:rPr dirty="0" sz="1100" spc="-5">
                <a:latin typeface="Calibri"/>
                <a:cs typeface="Calibri"/>
              </a:rPr>
              <a:t>Templates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must</a:t>
            </a:r>
            <a:r>
              <a:rPr dirty="0" sz="110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be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adapted </a:t>
            </a:r>
            <a:r>
              <a:rPr dirty="0" sz="1100">
                <a:latin typeface="Calibri"/>
                <a:cs typeface="Calibri"/>
              </a:rPr>
              <a:t>for </a:t>
            </a:r>
            <a:r>
              <a:rPr dirty="0" sz="1100" spc="-5">
                <a:latin typeface="Calibri"/>
                <a:cs typeface="Calibri"/>
              </a:rPr>
              <a:t>the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product</a:t>
            </a:r>
            <a:r>
              <a:rPr dirty="0" sz="1100">
                <a:latin typeface="Calibri"/>
                <a:cs typeface="Calibri"/>
              </a:rPr>
              <a:t> at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hand.</a:t>
            </a:r>
            <a:endParaRPr sz="1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892556"/>
            <a:ext cx="5715000" cy="78886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b="1">
                <a:latin typeface="Calibri"/>
                <a:cs typeface="Calibri"/>
              </a:rPr>
              <a:t>IEEE</a:t>
            </a:r>
            <a:r>
              <a:rPr dirty="0" sz="1100" spc="-40" b="1">
                <a:latin typeface="Calibri"/>
                <a:cs typeface="Calibri"/>
              </a:rPr>
              <a:t> </a:t>
            </a:r>
            <a:r>
              <a:rPr dirty="0" sz="1100" spc="-5" b="1">
                <a:latin typeface="Calibri"/>
                <a:cs typeface="Calibri"/>
              </a:rPr>
              <a:t>Template:</a:t>
            </a:r>
            <a:endParaRPr sz="1100">
              <a:latin typeface="Calibri"/>
              <a:cs typeface="Calibri"/>
            </a:endParaRPr>
          </a:p>
          <a:p>
            <a:pPr marL="152400" indent="-140335">
              <a:lnSpc>
                <a:spcPct val="100000"/>
              </a:lnSpc>
              <a:spcBef>
                <a:spcPts val="930"/>
              </a:spcBef>
              <a:buFont typeface="Calibri"/>
              <a:buAutoNum type="arabicPeriod"/>
              <a:tabLst>
                <a:tab pos="153035" algn="l"/>
              </a:tabLst>
            </a:pPr>
            <a:r>
              <a:rPr dirty="0" sz="1100" spc="-5">
                <a:latin typeface="Calibri"/>
                <a:cs typeface="Calibri"/>
              </a:rPr>
              <a:t>Product</a:t>
            </a:r>
            <a:r>
              <a:rPr dirty="0" sz="1100" spc="-4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Description</a:t>
            </a:r>
            <a:endParaRPr sz="1100">
              <a:latin typeface="Calibri"/>
              <a:cs typeface="Calibri"/>
            </a:endParaRPr>
          </a:p>
          <a:p>
            <a:pPr lvl="1" marL="678180" indent="-209550">
              <a:lnSpc>
                <a:spcPct val="100000"/>
              </a:lnSpc>
              <a:spcBef>
                <a:spcPts val="935"/>
              </a:spcBef>
              <a:buAutoNum type="arabicPeriod"/>
              <a:tabLst>
                <a:tab pos="678815" algn="l"/>
              </a:tabLst>
            </a:pPr>
            <a:r>
              <a:rPr dirty="0" sz="1100" spc="-5">
                <a:latin typeface="Calibri"/>
                <a:cs typeface="Calibri"/>
              </a:rPr>
              <a:t>Product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Vision</a:t>
            </a:r>
            <a:endParaRPr sz="1100">
              <a:latin typeface="Calibri"/>
              <a:cs typeface="Calibri"/>
            </a:endParaRPr>
          </a:p>
          <a:p>
            <a:pPr lvl="1" marL="679450" indent="-210820">
              <a:lnSpc>
                <a:spcPct val="100000"/>
              </a:lnSpc>
              <a:spcBef>
                <a:spcPts val="925"/>
              </a:spcBef>
              <a:buAutoNum type="arabicPeriod"/>
              <a:tabLst>
                <a:tab pos="680085" algn="l"/>
              </a:tabLst>
            </a:pPr>
            <a:r>
              <a:rPr dirty="0" sz="1100" spc="-5">
                <a:latin typeface="Calibri"/>
                <a:cs typeface="Calibri"/>
              </a:rPr>
              <a:t>Business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Requirements</a:t>
            </a:r>
            <a:endParaRPr sz="1100">
              <a:latin typeface="Calibri"/>
              <a:cs typeface="Calibri"/>
            </a:endParaRPr>
          </a:p>
          <a:p>
            <a:pPr lvl="1" marL="679450" indent="-210820">
              <a:lnSpc>
                <a:spcPct val="100000"/>
              </a:lnSpc>
              <a:spcBef>
                <a:spcPts val="935"/>
              </a:spcBef>
              <a:buAutoNum type="arabicPeriod"/>
              <a:tabLst>
                <a:tab pos="680085" algn="l"/>
              </a:tabLst>
            </a:pPr>
            <a:r>
              <a:rPr dirty="0" sz="1100" spc="-5">
                <a:latin typeface="Calibri"/>
                <a:cs typeface="Calibri"/>
              </a:rPr>
              <a:t>Users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Other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Stakeholders</a:t>
            </a:r>
            <a:endParaRPr sz="1100">
              <a:latin typeface="Calibri"/>
              <a:cs typeface="Calibri"/>
            </a:endParaRPr>
          </a:p>
          <a:p>
            <a:pPr lvl="1" marL="678180" indent="-209550">
              <a:lnSpc>
                <a:spcPct val="100000"/>
              </a:lnSpc>
              <a:spcBef>
                <a:spcPts val="925"/>
              </a:spcBef>
              <a:buAutoNum type="arabicPeriod"/>
              <a:tabLst>
                <a:tab pos="678815" algn="l"/>
              </a:tabLst>
            </a:pPr>
            <a:r>
              <a:rPr dirty="0" sz="1100" spc="-5">
                <a:latin typeface="Calibri"/>
                <a:cs typeface="Calibri"/>
              </a:rPr>
              <a:t>Project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Scope</a:t>
            </a:r>
            <a:endParaRPr sz="1100">
              <a:latin typeface="Calibri"/>
              <a:cs typeface="Calibri"/>
            </a:endParaRPr>
          </a:p>
          <a:p>
            <a:pPr lvl="1" marL="679450" indent="-210820">
              <a:lnSpc>
                <a:spcPct val="100000"/>
              </a:lnSpc>
              <a:spcBef>
                <a:spcPts val="935"/>
              </a:spcBef>
              <a:buAutoNum type="arabicPeriod"/>
              <a:tabLst>
                <a:tab pos="680085" algn="l"/>
              </a:tabLst>
            </a:pPr>
            <a:r>
              <a:rPr dirty="0" sz="1100" spc="-5">
                <a:latin typeface="Calibri"/>
                <a:cs typeface="Calibri"/>
              </a:rPr>
              <a:t>Assumptions</a:t>
            </a:r>
            <a:endParaRPr sz="1100">
              <a:latin typeface="Calibri"/>
              <a:cs typeface="Calibri"/>
            </a:endParaRPr>
          </a:p>
          <a:p>
            <a:pPr lvl="1" marL="679450" indent="-210820">
              <a:lnSpc>
                <a:spcPct val="100000"/>
              </a:lnSpc>
              <a:spcBef>
                <a:spcPts val="925"/>
              </a:spcBef>
              <a:buAutoNum type="arabicPeriod"/>
              <a:tabLst>
                <a:tab pos="680085" algn="l"/>
              </a:tabLst>
            </a:pPr>
            <a:r>
              <a:rPr dirty="0" sz="1100" spc="-5">
                <a:latin typeface="Calibri"/>
                <a:cs typeface="Calibri"/>
              </a:rPr>
              <a:t>Constraints</a:t>
            </a:r>
            <a:endParaRPr sz="1100">
              <a:latin typeface="Calibri"/>
              <a:cs typeface="Calibri"/>
            </a:endParaRPr>
          </a:p>
          <a:p>
            <a:pPr marL="151130" indent="-139065">
              <a:lnSpc>
                <a:spcPct val="100000"/>
              </a:lnSpc>
              <a:spcBef>
                <a:spcPts val="925"/>
              </a:spcBef>
              <a:buAutoNum type="arabicPeriod"/>
              <a:tabLst>
                <a:tab pos="151765" algn="l"/>
              </a:tabLst>
            </a:pPr>
            <a:r>
              <a:rPr dirty="0" sz="1100" spc="-5">
                <a:latin typeface="Calibri"/>
                <a:cs typeface="Calibri"/>
              </a:rPr>
              <a:t>Functional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Requirements</a:t>
            </a:r>
            <a:endParaRPr sz="1100">
              <a:latin typeface="Calibri"/>
              <a:cs typeface="Calibri"/>
            </a:endParaRPr>
          </a:p>
          <a:p>
            <a:pPr marL="151130" indent="-139065">
              <a:lnSpc>
                <a:spcPct val="100000"/>
              </a:lnSpc>
              <a:spcBef>
                <a:spcPts val="935"/>
              </a:spcBef>
              <a:buAutoNum type="arabicPeriod"/>
              <a:tabLst>
                <a:tab pos="151765" algn="l"/>
              </a:tabLst>
            </a:pPr>
            <a:r>
              <a:rPr dirty="0" sz="1100" spc="-5">
                <a:latin typeface="Calibri"/>
                <a:cs typeface="Calibri"/>
              </a:rPr>
              <a:t>Data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Requirements</a:t>
            </a:r>
            <a:endParaRPr sz="1100">
              <a:latin typeface="Calibri"/>
              <a:cs typeface="Calibri"/>
            </a:endParaRPr>
          </a:p>
          <a:p>
            <a:pPr marL="151130" indent="-139065">
              <a:lnSpc>
                <a:spcPct val="100000"/>
              </a:lnSpc>
              <a:spcBef>
                <a:spcPts val="925"/>
              </a:spcBef>
              <a:buAutoNum type="arabicPeriod"/>
              <a:tabLst>
                <a:tab pos="151765" algn="l"/>
              </a:tabLst>
            </a:pPr>
            <a:r>
              <a:rPr dirty="0" sz="1100" spc="-5">
                <a:latin typeface="Calibri"/>
                <a:cs typeface="Calibri"/>
              </a:rPr>
              <a:t>Non-Functional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Requirements</a:t>
            </a:r>
            <a:endParaRPr sz="1100">
              <a:latin typeface="Calibri"/>
              <a:cs typeface="Calibri"/>
            </a:endParaRPr>
          </a:p>
          <a:p>
            <a:pPr marL="151130" indent="-139065">
              <a:lnSpc>
                <a:spcPct val="100000"/>
              </a:lnSpc>
              <a:spcBef>
                <a:spcPts val="935"/>
              </a:spcBef>
              <a:buAutoNum type="arabicPeriod"/>
              <a:tabLst>
                <a:tab pos="151765" algn="l"/>
              </a:tabLst>
            </a:pPr>
            <a:r>
              <a:rPr dirty="0" sz="1100" spc="-5">
                <a:latin typeface="Calibri"/>
                <a:cs typeface="Calibri"/>
              </a:rPr>
              <a:t>Interface Requirements</a:t>
            </a:r>
            <a:endParaRPr sz="1100">
              <a:latin typeface="Calibri"/>
              <a:cs typeface="Calibri"/>
            </a:endParaRPr>
          </a:p>
          <a:p>
            <a:pPr lvl="1" marL="679450" indent="-210820">
              <a:lnSpc>
                <a:spcPct val="100000"/>
              </a:lnSpc>
              <a:spcBef>
                <a:spcPts val="925"/>
              </a:spcBef>
              <a:buAutoNum type="arabicPeriod"/>
              <a:tabLst>
                <a:tab pos="680085" algn="l"/>
              </a:tabLst>
            </a:pPr>
            <a:r>
              <a:rPr dirty="0" sz="1100" spc="-5">
                <a:latin typeface="Calibri"/>
                <a:cs typeface="Calibri"/>
              </a:rPr>
              <a:t>User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Interfaces</a:t>
            </a:r>
            <a:endParaRPr sz="1100">
              <a:latin typeface="Calibri"/>
              <a:cs typeface="Calibri"/>
            </a:endParaRPr>
          </a:p>
          <a:p>
            <a:pPr lvl="1" marL="679450" indent="-210820">
              <a:lnSpc>
                <a:spcPct val="100000"/>
              </a:lnSpc>
              <a:spcBef>
                <a:spcPts val="925"/>
              </a:spcBef>
              <a:buAutoNum type="arabicPeriod"/>
              <a:tabLst>
                <a:tab pos="680085" algn="l"/>
              </a:tabLst>
            </a:pPr>
            <a:r>
              <a:rPr dirty="0" sz="1100" spc="-5">
                <a:latin typeface="Calibri"/>
                <a:cs typeface="Calibri"/>
              </a:rPr>
              <a:t>Hardware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Interfaces</a:t>
            </a:r>
            <a:endParaRPr sz="1100">
              <a:latin typeface="Calibri"/>
              <a:cs typeface="Calibri"/>
            </a:endParaRPr>
          </a:p>
          <a:p>
            <a:pPr lvl="1" marL="679450" indent="-210820">
              <a:lnSpc>
                <a:spcPct val="100000"/>
              </a:lnSpc>
              <a:spcBef>
                <a:spcPts val="935"/>
              </a:spcBef>
              <a:buAutoNum type="arabicPeriod"/>
              <a:tabLst>
                <a:tab pos="680085" algn="l"/>
              </a:tabLst>
            </a:pPr>
            <a:r>
              <a:rPr dirty="0" sz="1100" spc="-5">
                <a:latin typeface="Calibri"/>
                <a:cs typeface="Calibri"/>
              </a:rPr>
              <a:t>Software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Interface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5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100" b="1">
                <a:latin typeface="Calibri"/>
                <a:cs typeface="Calibri"/>
              </a:rPr>
              <a:t>IEEE</a:t>
            </a:r>
            <a:r>
              <a:rPr dirty="0" sz="1100" spc="-30" b="1">
                <a:latin typeface="Calibri"/>
                <a:cs typeface="Calibri"/>
              </a:rPr>
              <a:t> </a:t>
            </a:r>
            <a:r>
              <a:rPr dirty="0" sz="1100" b="1">
                <a:latin typeface="Calibri"/>
                <a:cs typeface="Calibri"/>
              </a:rPr>
              <a:t>SRS</a:t>
            </a:r>
            <a:r>
              <a:rPr dirty="0" sz="1100" spc="-25" b="1">
                <a:latin typeface="Calibri"/>
                <a:cs typeface="Calibri"/>
              </a:rPr>
              <a:t> </a:t>
            </a:r>
            <a:r>
              <a:rPr dirty="0" sz="1100" spc="-5" b="1">
                <a:latin typeface="Calibri"/>
                <a:cs typeface="Calibri"/>
              </a:rPr>
              <a:t>Template;</a:t>
            </a:r>
            <a:endParaRPr sz="1100">
              <a:latin typeface="Calibri"/>
              <a:cs typeface="Calibri"/>
            </a:endParaRPr>
          </a:p>
          <a:p>
            <a:pPr marL="152400" indent="-140335">
              <a:lnSpc>
                <a:spcPct val="100000"/>
              </a:lnSpc>
              <a:spcBef>
                <a:spcPts val="925"/>
              </a:spcBef>
              <a:buFont typeface="Calibri"/>
              <a:buAutoNum type="arabicPeriod"/>
              <a:tabLst>
                <a:tab pos="153035" algn="l"/>
              </a:tabLst>
            </a:pPr>
            <a:r>
              <a:rPr dirty="0" sz="1100" spc="-5">
                <a:latin typeface="Calibri"/>
                <a:cs typeface="Calibri"/>
              </a:rPr>
              <a:t>Product</a:t>
            </a:r>
            <a:r>
              <a:rPr dirty="0" sz="1100" spc="-4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Description</a:t>
            </a:r>
            <a:endParaRPr sz="1100">
              <a:latin typeface="Calibri"/>
              <a:cs typeface="Calibri"/>
            </a:endParaRPr>
          </a:p>
          <a:p>
            <a:pPr lvl="1" marL="678180" indent="-209550">
              <a:lnSpc>
                <a:spcPct val="100000"/>
              </a:lnSpc>
              <a:spcBef>
                <a:spcPts val="935"/>
              </a:spcBef>
              <a:buAutoNum type="arabicPeriod"/>
              <a:tabLst>
                <a:tab pos="678815" algn="l"/>
              </a:tabLst>
            </a:pPr>
            <a:r>
              <a:rPr dirty="0" sz="1100" spc="-5">
                <a:latin typeface="Calibri"/>
                <a:cs typeface="Calibri"/>
              </a:rPr>
              <a:t>Product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Vision</a:t>
            </a:r>
            <a:endParaRPr sz="1100">
              <a:latin typeface="Calibri"/>
              <a:cs typeface="Calibri"/>
            </a:endParaRPr>
          </a:p>
          <a:p>
            <a:pPr marL="469265" indent="-228600">
              <a:lnSpc>
                <a:spcPct val="100000"/>
              </a:lnSpc>
              <a:spcBef>
                <a:spcPts val="925"/>
              </a:spcBef>
              <a:buFont typeface="Microsoft Sans Serif"/>
              <a:buChar char=""/>
              <a:tabLst>
                <a:tab pos="469265" algn="l"/>
                <a:tab pos="469900" algn="l"/>
              </a:tabLst>
            </a:pPr>
            <a:r>
              <a:rPr dirty="0" sz="1100">
                <a:latin typeface="Calibri"/>
                <a:cs typeface="Calibri"/>
              </a:rPr>
              <a:t>A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 b="1">
                <a:latin typeface="Calibri"/>
                <a:cs typeface="Calibri"/>
              </a:rPr>
              <a:t>product</a:t>
            </a:r>
            <a:r>
              <a:rPr dirty="0" sz="1100" b="1">
                <a:latin typeface="Calibri"/>
                <a:cs typeface="Calibri"/>
              </a:rPr>
              <a:t> </a:t>
            </a:r>
            <a:r>
              <a:rPr dirty="0" sz="1100" spc="-5" b="1">
                <a:latin typeface="Calibri"/>
                <a:cs typeface="Calibri"/>
              </a:rPr>
              <a:t>vision</a:t>
            </a:r>
            <a:r>
              <a:rPr dirty="0" sz="1100" spc="5" b="1">
                <a:latin typeface="Calibri"/>
                <a:cs typeface="Calibri"/>
              </a:rPr>
              <a:t> </a:t>
            </a:r>
            <a:r>
              <a:rPr dirty="0" sz="1100" spc="-5" b="1">
                <a:latin typeface="Calibri"/>
                <a:cs typeface="Calibri"/>
              </a:rPr>
              <a:t>statement</a:t>
            </a:r>
            <a:r>
              <a:rPr dirty="0" sz="1100" spc="20" b="1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is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general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description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product’s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purpose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form.</a:t>
            </a:r>
            <a:endParaRPr sz="1100">
              <a:latin typeface="Calibri"/>
              <a:cs typeface="Calibri"/>
            </a:endParaRPr>
          </a:p>
          <a:p>
            <a:pPr marL="469265">
              <a:lnSpc>
                <a:spcPct val="100000"/>
              </a:lnSpc>
              <a:spcBef>
                <a:spcPts val="919"/>
              </a:spcBef>
            </a:pPr>
            <a:r>
              <a:rPr dirty="0" sz="1100">
                <a:latin typeface="Calibri"/>
                <a:cs typeface="Calibri"/>
              </a:rPr>
              <a:t>1.2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Business Requirements</a:t>
            </a:r>
            <a:endParaRPr sz="1100">
              <a:latin typeface="Calibri"/>
              <a:cs typeface="Calibri"/>
            </a:endParaRPr>
          </a:p>
          <a:p>
            <a:pPr marL="469265" marR="162560" indent="-228600">
              <a:lnSpc>
                <a:spcPct val="110000"/>
              </a:lnSpc>
              <a:spcBef>
                <a:spcPts val="805"/>
              </a:spcBef>
              <a:buFont typeface="Microsoft Sans Serif"/>
              <a:buChar char=""/>
              <a:tabLst>
                <a:tab pos="469265" algn="l"/>
                <a:tab pos="469900" algn="l"/>
              </a:tabLst>
            </a:pPr>
            <a:r>
              <a:rPr dirty="0" sz="1100" spc="-5" b="1">
                <a:latin typeface="Calibri"/>
                <a:cs typeface="Calibri"/>
              </a:rPr>
              <a:t>Business</a:t>
            </a:r>
            <a:r>
              <a:rPr dirty="0" sz="1100" b="1">
                <a:latin typeface="Calibri"/>
                <a:cs typeface="Calibri"/>
              </a:rPr>
              <a:t> </a:t>
            </a:r>
            <a:r>
              <a:rPr dirty="0" sz="1100" spc="-5" b="1">
                <a:latin typeface="Calibri"/>
                <a:cs typeface="Calibri"/>
              </a:rPr>
              <a:t>requirements</a:t>
            </a:r>
            <a:r>
              <a:rPr dirty="0" sz="1100" spc="25" b="1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are </a:t>
            </a:r>
            <a:r>
              <a:rPr dirty="0" sz="1100" spc="-5">
                <a:latin typeface="Calibri"/>
                <a:cs typeface="Calibri"/>
              </a:rPr>
              <a:t>statements</a:t>
            </a:r>
            <a:r>
              <a:rPr dirty="0" sz="1100">
                <a:latin typeface="Calibri"/>
                <a:cs typeface="Calibri"/>
              </a:rPr>
              <a:t> of</a:t>
            </a:r>
            <a:r>
              <a:rPr dirty="0" sz="1100" spc="2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client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or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development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organization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goals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that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 </a:t>
            </a:r>
            <a:r>
              <a:rPr dirty="0" sz="1100" spc="-23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product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must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meet</a:t>
            </a:r>
            <a:endParaRPr sz="1100">
              <a:latin typeface="Calibri"/>
              <a:cs typeface="Calibri"/>
            </a:endParaRPr>
          </a:p>
          <a:p>
            <a:pPr marL="469265">
              <a:lnSpc>
                <a:spcPct val="100000"/>
              </a:lnSpc>
              <a:spcBef>
                <a:spcPts val="930"/>
              </a:spcBef>
            </a:pPr>
            <a:r>
              <a:rPr dirty="0" sz="1100">
                <a:latin typeface="Calibri"/>
                <a:cs typeface="Calibri"/>
              </a:rPr>
              <a:t>1.3</a:t>
            </a:r>
            <a:r>
              <a:rPr dirty="0" sz="1100" spc="-5">
                <a:latin typeface="Calibri"/>
                <a:cs typeface="Calibri"/>
              </a:rPr>
              <a:t> Users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Other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Stakeholders</a:t>
            </a:r>
            <a:endParaRPr sz="1100">
              <a:latin typeface="Calibri"/>
              <a:cs typeface="Calibri"/>
            </a:endParaRPr>
          </a:p>
          <a:p>
            <a:pPr marL="469265" marR="5080" indent="-228600">
              <a:lnSpc>
                <a:spcPct val="110000"/>
              </a:lnSpc>
              <a:spcBef>
                <a:spcPts val="790"/>
              </a:spcBef>
              <a:buFont typeface="Microsoft Sans Serif"/>
              <a:buChar char=""/>
              <a:tabLst>
                <a:tab pos="469265" algn="l"/>
                <a:tab pos="469900" algn="l"/>
              </a:tabLst>
            </a:pPr>
            <a:r>
              <a:rPr dirty="0" sz="1100" b="1">
                <a:latin typeface="Calibri"/>
                <a:cs typeface="Calibri"/>
              </a:rPr>
              <a:t>A</a:t>
            </a:r>
            <a:r>
              <a:rPr dirty="0" sz="1100" spc="10" b="1">
                <a:latin typeface="Calibri"/>
                <a:cs typeface="Calibri"/>
              </a:rPr>
              <a:t> </a:t>
            </a:r>
            <a:r>
              <a:rPr dirty="0" sz="1100" spc="-5" b="1">
                <a:latin typeface="Calibri"/>
                <a:cs typeface="Calibri"/>
              </a:rPr>
              <a:t>stakeholder</a:t>
            </a:r>
            <a:r>
              <a:rPr dirty="0" sz="1100" spc="15" b="1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is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anyone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affected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by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product</a:t>
            </a:r>
            <a:r>
              <a:rPr dirty="0" sz="1100">
                <a:latin typeface="Calibri"/>
                <a:cs typeface="Calibri"/>
              </a:rPr>
              <a:t> or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involved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or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influencing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its </a:t>
            </a:r>
            <a:r>
              <a:rPr dirty="0" sz="1100" spc="-5">
                <a:latin typeface="Calibri"/>
                <a:cs typeface="Calibri"/>
              </a:rPr>
              <a:t>development. </a:t>
            </a:r>
            <a:r>
              <a:rPr dirty="0" sz="1100" spc="-23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Developers must know </a:t>
            </a:r>
            <a:r>
              <a:rPr dirty="0" sz="1100">
                <a:latin typeface="Calibri"/>
                <a:cs typeface="Calibri"/>
              </a:rPr>
              <a:t>who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5">
                <a:latin typeface="Calibri"/>
                <a:cs typeface="Calibri"/>
              </a:rPr>
              <a:t> stakeholders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are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so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that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they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are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all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consulted (or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at</a:t>
            </a:r>
            <a:r>
              <a:rPr dirty="0" sz="1100" spc="-5">
                <a:latin typeface="Calibri"/>
                <a:cs typeface="Calibri"/>
              </a:rPr>
              <a:t> least </a:t>
            </a:r>
            <a:r>
              <a:rPr dirty="0" sz="110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considered)</a:t>
            </a:r>
            <a:r>
              <a:rPr dirty="0" sz="1100">
                <a:latin typeface="Calibri"/>
                <a:cs typeface="Calibri"/>
              </a:rPr>
              <a:t> in</a:t>
            </a:r>
            <a:r>
              <a:rPr dirty="0" sz="1100" spc="-5">
                <a:latin typeface="Calibri"/>
                <a:cs typeface="Calibri"/>
              </a:rPr>
              <a:t> designing,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building,</a:t>
            </a:r>
            <a:r>
              <a:rPr dirty="0" sz="110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deploying,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-5">
                <a:latin typeface="Calibri"/>
                <a:cs typeface="Calibri"/>
              </a:rPr>
              <a:t> supporting</a:t>
            </a:r>
            <a:r>
              <a:rPr dirty="0" sz="1100">
                <a:latin typeface="Calibri"/>
                <a:cs typeface="Calibri"/>
              </a:rPr>
              <a:t> the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product.</a:t>
            </a:r>
            <a:endParaRPr sz="1100">
              <a:latin typeface="Calibri"/>
              <a:cs typeface="Calibri"/>
            </a:endParaRPr>
          </a:p>
          <a:p>
            <a:pPr marL="469265">
              <a:lnSpc>
                <a:spcPct val="100000"/>
              </a:lnSpc>
              <a:spcBef>
                <a:spcPts val="925"/>
              </a:spcBef>
            </a:pPr>
            <a:r>
              <a:rPr dirty="0" sz="1100">
                <a:latin typeface="Calibri"/>
                <a:cs typeface="Calibri"/>
              </a:rPr>
              <a:t>1.4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Project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Scope</a:t>
            </a:r>
            <a:endParaRPr sz="1100">
              <a:latin typeface="Calibri"/>
              <a:cs typeface="Calibri"/>
            </a:endParaRPr>
          </a:p>
          <a:p>
            <a:pPr marL="469265" indent="-228600">
              <a:lnSpc>
                <a:spcPct val="100000"/>
              </a:lnSpc>
              <a:spcBef>
                <a:spcPts val="935"/>
              </a:spcBef>
              <a:buFont typeface="Microsoft Sans Serif"/>
              <a:buChar char=""/>
              <a:tabLst>
                <a:tab pos="469265" algn="l"/>
                <a:tab pos="469900" algn="l"/>
              </a:tabLst>
            </a:pPr>
            <a:r>
              <a:rPr dirty="0" sz="1100" spc="-5">
                <a:latin typeface="Calibri"/>
                <a:cs typeface="Calibri"/>
              </a:rPr>
              <a:t>The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 b="1">
                <a:latin typeface="Calibri"/>
                <a:cs typeface="Calibri"/>
              </a:rPr>
              <a:t>project</a:t>
            </a:r>
            <a:r>
              <a:rPr dirty="0" sz="1100" spc="-10" b="1">
                <a:latin typeface="Calibri"/>
                <a:cs typeface="Calibri"/>
              </a:rPr>
              <a:t> </a:t>
            </a:r>
            <a:r>
              <a:rPr dirty="0" sz="1100" spc="-5" b="1">
                <a:latin typeface="Calibri"/>
                <a:cs typeface="Calibri"/>
              </a:rPr>
              <a:t>scope</a:t>
            </a:r>
            <a:r>
              <a:rPr dirty="0" sz="1100" b="1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is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work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to</a:t>
            </a:r>
            <a:r>
              <a:rPr dirty="0" sz="1100" spc="-5">
                <a:latin typeface="Calibri"/>
                <a:cs typeface="Calibri"/>
              </a:rPr>
              <a:t> be</a:t>
            </a:r>
            <a:r>
              <a:rPr dirty="0" sz="110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done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</a:t>
            </a:r>
            <a:r>
              <a:rPr dirty="0" sz="1100" spc="-5">
                <a:latin typeface="Calibri"/>
                <a:cs typeface="Calibri"/>
              </a:rPr>
              <a:t> the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project.</a:t>
            </a:r>
            <a:endParaRPr sz="1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892556"/>
            <a:ext cx="5915025" cy="24225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69265">
              <a:lnSpc>
                <a:spcPct val="100000"/>
              </a:lnSpc>
              <a:spcBef>
                <a:spcPts val="100"/>
              </a:spcBef>
            </a:pPr>
            <a:r>
              <a:rPr dirty="0" sz="1100">
                <a:latin typeface="Calibri"/>
                <a:cs typeface="Calibri"/>
              </a:rPr>
              <a:t>1.5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Assumptions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200">
              <a:latin typeface="Calibri"/>
              <a:cs typeface="Calibri"/>
            </a:endParaRPr>
          </a:p>
          <a:p>
            <a:pPr marL="469265" marR="5080" indent="-228600">
              <a:lnSpc>
                <a:spcPct val="109100"/>
              </a:lnSpc>
              <a:buFont typeface="Microsoft Sans Serif"/>
              <a:buChar char=""/>
              <a:tabLst>
                <a:tab pos="469265" algn="l"/>
                <a:tab pos="469900" algn="l"/>
              </a:tabLst>
            </a:pPr>
            <a:r>
              <a:rPr dirty="0" sz="1100" spc="-5">
                <a:latin typeface="Calibri"/>
                <a:cs typeface="Calibri"/>
              </a:rPr>
              <a:t>An</a:t>
            </a:r>
            <a:r>
              <a:rPr dirty="0" sz="1100">
                <a:latin typeface="Calibri"/>
                <a:cs typeface="Calibri"/>
              </a:rPr>
              <a:t> </a:t>
            </a:r>
            <a:r>
              <a:rPr dirty="0" sz="1100" spc="-5" b="1">
                <a:latin typeface="Calibri"/>
                <a:cs typeface="Calibri"/>
              </a:rPr>
              <a:t>assumption</a:t>
            </a:r>
            <a:r>
              <a:rPr dirty="0" sz="1100" spc="5" b="1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is</a:t>
            </a:r>
            <a:r>
              <a:rPr dirty="0" sz="1100" spc="-5">
                <a:latin typeface="Calibri"/>
                <a:cs typeface="Calibri"/>
              </a:rPr>
              <a:t> something</a:t>
            </a:r>
            <a:r>
              <a:rPr dirty="0" sz="1100">
                <a:latin typeface="Calibri"/>
                <a:cs typeface="Calibri"/>
              </a:rPr>
              <a:t> that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5">
                <a:latin typeface="Calibri"/>
                <a:cs typeface="Calibri"/>
              </a:rPr>
              <a:t> developers may </a:t>
            </a:r>
            <a:r>
              <a:rPr dirty="0" sz="1100">
                <a:latin typeface="Calibri"/>
                <a:cs typeface="Calibri"/>
              </a:rPr>
              <a:t>take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for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granted.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It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is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important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to</a:t>
            </a:r>
            <a:r>
              <a:rPr dirty="0" sz="110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make </a:t>
            </a:r>
            <a:r>
              <a:rPr dirty="0" sz="110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assumptions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explicit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so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that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all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stakeholders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are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aware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-5">
                <a:latin typeface="Calibri"/>
                <a:cs typeface="Calibri"/>
              </a:rPr>
              <a:t> them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can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call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them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into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question.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250">
              <a:latin typeface="Calibri"/>
              <a:cs typeface="Calibri"/>
            </a:endParaRPr>
          </a:p>
          <a:p>
            <a:pPr marL="469265">
              <a:lnSpc>
                <a:spcPct val="100000"/>
              </a:lnSpc>
            </a:pPr>
            <a:r>
              <a:rPr dirty="0" sz="1100">
                <a:latin typeface="Calibri"/>
                <a:cs typeface="Calibri"/>
              </a:rPr>
              <a:t>1.6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Constraints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150">
              <a:latin typeface="Calibri"/>
              <a:cs typeface="Calibri"/>
            </a:endParaRPr>
          </a:p>
          <a:p>
            <a:pPr marL="469265" marR="287655" indent="-228600">
              <a:lnSpc>
                <a:spcPct val="110000"/>
              </a:lnSpc>
              <a:spcBef>
                <a:spcPts val="5"/>
              </a:spcBef>
              <a:buFont typeface="Microsoft Sans Serif"/>
              <a:buChar char=""/>
              <a:tabLst>
                <a:tab pos="469265" algn="l"/>
                <a:tab pos="469900" algn="l"/>
              </a:tabLst>
            </a:pPr>
            <a:r>
              <a:rPr dirty="0" sz="1100">
                <a:latin typeface="Calibri"/>
                <a:cs typeface="Calibri"/>
              </a:rPr>
              <a:t>A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 b="1">
                <a:latin typeface="Calibri"/>
                <a:cs typeface="Calibri"/>
              </a:rPr>
              <a:t>constraint</a:t>
            </a:r>
            <a:r>
              <a:rPr dirty="0" sz="1100" spc="20" b="1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is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any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factor that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limits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developers.</a:t>
            </a:r>
            <a:r>
              <a:rPr dirty="0" sz="110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Of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course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developers</a:t>
            </a:r>
            <a:r>
              <a:rPr dirty="0" sz="110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must</a:t>
            </a:r>
            <a:r>
              <a:rPr dirty="0" sz="110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be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aware</a:t>
            </a:r>
            <a:r>
              <a:rPr dirty="0" sz="1100">
                <a:latin typeface="Calibri"/>
                <a:cs typeface="Calibri"/>
              </a:rPr>
              <a:t> of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all </a:t>
            </a:r>
            <a:r>
              <a:rPr dirty="0" sz="1100" spc="-23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constraints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800">
              <a:latin typeface="Calibri"/>
              <a:cs typeface="Calibri"/>
            </a:endParaRPr>
          </a:p>
          <a:p>
            <a:pPr marL="153670" indent="-141605">
              <a:lnSpc>
                <a:spcPct val="100000"/>
              </a:lnSpc>
              <a:buAutoNum type="arabicPeriod" startAt="2"/>
              <a:tabLst>
                <a:tab pos="154305" algn="l"/>
              </a:tabLst>
            </a:pPr>
            <a:r>
              <a:rPr dirty="0" sz="1100" spc="-5" b="1">
                <a:latin typeface="Calibri"/>
                <a:cs typeface="Calibri"/>
              </a:rPr>
              <a:t>Functional</a:t>
            </a:r>
            <a:r>
              <a:rPr dirty="0" sz="1100" spc="-35" b="1">
                <a:latin typeface="Calibri"/>
                <a:cs typeface="Calibri"/>
              </a:rPr>
              <a:t> </a:t>
            </a:r>
            <a:r>
              <a:rPr dirty="0" sz="1100" spc="-5" b="1">
                <a:latin typeface="Calibri"/>
                <a:cs typeface="Calibri"/>
              </a:rPr>
              <a:t>Requirements</a:t>
            </a:r>
            <a:endParaRPr sz="1100">
              <a:latin typeface="Calibri"/>
              <a:cs typeface="Calibri"/>
            </a:endParaRPr>
          </a:p>
          <a:p>
            <a:pPr lvl="1" marL="469265" indent="-228600">
              <a:lnSpc>
                <a:spcPct val="100000"/>
              </a:lnSpc>
              <a:spcBef>
                <a:spcPts val="940"/>
              </a:spcBef>
              <a:buFont typeface="Microsoft Sans Serif"/>
              <a:buChar char=""/>
              <a:tabLst>
                <a:tab pos="469265" algn="l"/>
                <a:tab pos="469900" algn="l"/>
              </a:tabLst>
            </a:pPr>
            <a:r>
              <a:rPr dirty="0" sz="1100" spc="-5" b="1">
                <a:latin typeface="Calibri"/>
                <a:cs typeface="Calibri"/>
              </a:rPr>
              <a:t>Functional</a:t>
            </a:r>
            <a:r>
              <a:rPr dirty="0" sz="1100" spc="15" b="1">
                <a:latin typeface="Calibri"/>
                <a:cs typeface="Calibri"/>
              </a:rPr>
              <a:t> </a:t>
            </a:r>
            <a:r>
              <a:rPr dirty="0" sz="1100" spc="-5" b="1">
                <a:latin typeface="Calibri"/>
                <a:cs typeface="Calibri"/>
              </a:rPr>
              <a:t>requirements</a:t>
            </a:r>
            <a:r>
              <a:rPr dirty="0" sz="1100" spc="15" b="1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are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specifications</a:t>
            </a:r>
            <a:r>
              <a:rPr dirty="0" sz="1100">
                <a:latin typeface="Calibri"/>
                <a:cs typeface="Calibri"/>
              </a:rPr>
              <a:t> of the</a:t>
            </a:r>
            <a:r>
              <a:rPr dirty="0" sz="1100" spc="2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product’s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externally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observable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behavior.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2004" y="3977766"/>
            <a:ext cx="5903595" cy="45427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 b="1">
                <a:latin typeface="Calibri"/>
                <a:cs typeface="Calibri"/>
              </a:rPr>
              <a:t>IEEE</a:t>
            </a:r>
            <a:r>
              <a:rPr dirty="0" sz="1100" spc="-40" b="1">
                <a:latin typeface="Calibri"/>
                <a:cs typeface="Calibri"/>
              </a:rPr>
              <a:t> </a:t>
            </a:r>
            <a:r>
              <a:rPr dirty="0" sz="1100" spc="-5" b="1">
                <a:latin typeface="Calibri"/>
                <a:cs typeface="Calibri"/>
              </a:rPr>
              <a:t>Format:</a:t>
            </a:r>
            <a:endParaRPr sz="1100">
              <a:latin typeface="Calibri"/>
              <a:cs typeface="Calibri"/>
            </a:endParaRPr>
          </a:p>
          <a:p>
            <a:pPr marL="152400" indent="-140335">
              <a:lnSpc>
                <a:spcPct val="100000"/>
              </a:lnSpc>
              <a:spcBef>
                <a:spcPts val="919"/>
              </a:spcBef>
              <a:buAutoNum type="arabicPeriod" startAt="3"/>
              <a:tabLst>
                <a:tab pos="153035" algn="l"/>
              </a:tabLst>
            </a:pPr>
            <a:r>
              <a:rPr dirty="0" sz="1100" spc="-5" b="1">
                <a:latin typeface="Calibri"/>
                <a:cs typeface="Calibri"/>
              </a:rPr>
              <a:t>Data</a:t>
            </a:r>
            <a:r>
              <a:rPr dirty="0" sz="1100" spc="-30" b="1">
                <a:latin typeface="Calibri"/>
                <a:cs typeface="Calibri"/>
              </a:rPr>
              <a:t> </a:t>
            </a:r>
            <a:r>
              <a:rPr dirty="0" sz="1100" spc="-5" b="1">
                <a:latin typeface="Calibri"/>
                <a:cs typeface="Calibri"/>
              </a:rPr>
              <a:t>Requirements</a:t>
            </a:r>
            <a:endParaRPr sz="1100">
              <a:latin typeface="Calibri"/>
              <a:cs typeface="Calibri"/>
            </a:endParaRPr>
          </a:p>
          <a:p>
            <a:pPr lvl="1" marL="469265" marR="42545" indent="-228600">
              <a:lnSpc>
                <a:spcPct val="110000"/>
              </a:lnSpc>
              <a:spcBef>
                <a:spcPts val="805"/>
              </a:spcBef>
              <a:buFont typeface="Microsoft Sans Serif"/>
              <a:buChar char=""/>
              <a:tabLst>
                <a:tab pos="469265" algn="l"/>
                <a:tab pos="469900" algn="l"/>
              </a:tabLst>
            </a:pPr>
            <a:r>
              <a:rPr dirty="0" sz="1100" spc="-5" b="1">
                <a:latin typeface="Calibri"/>
                <a:cs typeface="Calibri"/>
              </a:rPr>
              <a:t>Data</a:t>
            </a:r>
            <a:r>
              <a:rPr dirty="0" sz="1100" spc="5" b="1">
                <a:latin typeface="Calibri"/>
                <a:cs typeface="Calibri"/>
              </a:rPr>
              <a:t> </a:t>
            </a:r>
            <a:r>
              <a:rPr dirty="0" sz="1100" spc="-5" b="1">
                <a:latin typeface="Calibri"/>
                <a:cs typeface="Calibri"/>
              </a:rPr>
              <a:t>requirements</a:t>
            </a:r>
            <a:r>
              <a:rPr dirty="0" sz="1100" spc="20" b="1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describe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format, structure,</a:t>
            </a:r>
            <a:r>
              <a:rPr dirty="0" sz="110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type,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allowable </a:t>
            </a:r>
            <a:r>
              <a:rPr dirty="0" sz="1100" spc="-5">
                <a:latin typeface="Calibri"/>
                <a:cs typeface="Calibri"/>
              </a:rPr>
              <a:t>values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data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entering, </a:t>
            </a:r>
            <a:r>
              <a:rPr dirty="0" sz="1100" spc="-2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leaving,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or </a:t>
            </a:r>
            <a:r>
              <a:rPr dirty="0" sz="1100" spc="-5">
                <a:latin typeface="Calibri"/>
                <a:cs typeface="Calibri"/>
              </a:rPr>
              <a:t>stored</a:t>
            </a:r>
            <a:r>
              <a:rPr dirty="0" sz="110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by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 </a:t>
            </a:r>
            <a:r>
              <a:rPr dirty="0" sz="1100" spc="-5">
                <a:latin typeface="Calibri"/>
                <a:cs typeface="Calibri"/>
              </a:rPr>
              <a:t>product.</a:t>
            </a:r>
            <a:endParaRPr sz="1100">
              <a:latin typeface="Calibri"/>
              <a:cs typeface="Calibri"/>
            </a:endParaRPr>
          </a:p>
          <a:p>
            <a:pPr marL="152400" indent="-140335">
              <a:lnSpc>
                <a:spcPct val="100000"/>
              </a:lnSpc>
              <a:spcBef>
                <a:spcPts val="925"/>
              </a:spcBef>
              <a:buFont typeface="Calibri"/>
              <a:buAutoNum type="arabicPeriod" startAt="3"/>
              <a:tabLst>
                <a:tab pos="153035" algn="l"/>
              </a:tabLst>
            </a:pPr>
            <a:r>
              <a:rPr dirty="0" sz="1100" spc="-5" b="1">
                <a:latin typeface="Calibri"/>
                <a:cs typeface="Calibri"/>
              </a:rPr>
              <a:t>Non-Functional</a:t>
            </a:r>
            <a:r>
              <a:rPr dirty="0" sz="1100" spc="-25" b="1">
                <a:latin typeface="Calibri"/>
                <a:cs typeface="Calibri"/>
              </a:rPr>
              <a:t> </a:t>
            </a:r>
            <a:r>
              <a:rPr dirty="0" sz="1100" spc="-5" b="1">
                <a:latin typeface="Calibri"/>
                <a:cs typeface="Calibri"/>
              </a:rPr>
              <a:t>Requirements</a:t>
            </a:r>
            <a:endParaRPr sz="1100">
              <a:latin typeface="Calibri"/>
              <a:cs typeface="Calibri"/>
            </a:endParaRPr>
          </a:p>
          <a:p>
            <a:pPr lvl="1" marL="469265" marR="462915" indent="-228600">
              <a:lnSpc>
                <a:spcPct val="110000"/>
              </a:lnSpc>
              <a:spcBef>
                <a:spcPts val="795"/>
              </a:spcBef>
              <a:buFont typeface="Microsoft Sans Serif"/>
              <a:buChar char=""/>
              <a:tabLst>
                <a:tab pos="469265" algn="l"/>
                <a:tab pos="469900" algn="l"/>
              </a:tabLst>
            </a:pPr>
            <a:r>
              <a:rPr dirty="0" sz="1100">
                <a:latin typeface="Calibri"/>
                <a:cs typeface="Calibri"/>
              </a:rPr>
              <a:t>A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non-functional requirement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is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 </a:t>
            </a:r>
            <a:r>
              <a:rPr dirty="0" sz="1100" spc="-5">
                <a:latin typeface="Calibri"/>
                <a:cs typeface="Calibri"/>
              </a:rPr>
              <a:t>statement</a:t>
            </a:r>
            <a:r>
              <a:rPr dirty="0" sz="1100">
                <a:latin typeface="Calibri"/>
                <a:cs typeface="Calibri"/>
              </a:rPr>
              <a:t> that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software product</a:t>
            </a:r>
            <a:r>
              <a:rPr dirty="0" sz="110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must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have</a:t>
            </a:r>
            <a:r>
              <a:rPr dirty="0" sz="1100">
                <a:latin typeface="Calibri"/>
                <a:cs typeface="Calibri"/>
              </a:rPr>
              <a:t> certain </a:t>
            </a:r>
            <a:r>
              <a:rPr dirty="0" sz="1100" spc="-229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properties.</a:t>
            </a:r>
            <a:endParaRPr sz="1100">
              <a:latin typeface="Calibri"/>
              <a:cs typeface="Calibri"/>
            </a:endParaRPr>
          </a:p>
          <a:p>
            <a:pPr marL="151130" indent="-139065">
              <a:lnSpc>
                <a:spcPct val="100000"/>
              </a:lnSpc>
              <a:spcBef>
                <a:spcPts val="935"/>
              </a:spcBef>
              <a:buFont typeface="Calibri"/>
              <a:buAutoNum type="arabicPeriod" startAt="3"/>
              <a:tabLst>
                <a:tab pos="151765" algn="l"/>
              </a:tabLst>
            </a:pPr>
            <a:r>
              <a:rPr dirty="0" sz="1100" spc="-5" b="1">
                <a:latin typeface="Calibri"/>
                <a:cs typeface="Calibri"/>
              </a:rPr>
              <a:t>Interface</a:t>
            </a:r>
            <a:r>
              <a:rPr dirty="0" sz="1100" spc="-20" b="1">
                <a:latin typeface="Calibri"/>
                <a:cs typeface="Calibri"/>
              </a:rPr>
              <a:t> </a:t>
            </a:r>
            <a:r>
              <a:rPr dirty="0" sz="1100" spc="-5" b="1">
                <a:latin typeface="Calibri"/>
                <a:cs typeface="Calibri"/>
              </a:rPr>
              <a:t>Requirements</a:t>
            </a:r>
            <a:endParaRPr sz="1100">
              <a:latin typeface="Calibri"/>
              <a:cs typeface="Calibri"/>
            </a:endParaRPr>
          </a:p>
          <a:p>
            <a:pPr lvl="1" marL="679450" indent="-210820">
              <a:lnSpc>
                <a:spcPct val="100000"/>
              </a:lnSpc>
              <a:spcBef>
                <a:spcPts val="925"/>
              </a:spcBef>
              <a:buAutoNum type="arabicPeriod"/>
              <a:tabLst>
                <a:tab pos="680085" algn="l"/>
              </a:tabLst>
            </a:pPr>
            <a:r>
              <a:rPr dirty="0" sz="1100" spc="-5">
                <a:latin typeface="Calibri"/>
                <a:cs typeface="Calibri"/>
              </a:rPr>
              <a:t>User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Interfaces</a:t>
            </a:r>
            <a:endParaRPr sz="1100">
              <a:latin typeface="Calibri"/>
              <a:cs typeface="Calibri"/>
            </a:endParaRPr>
          </a:p>
          <a:p>
            <a:pPr lvl="1" marL="679450" indent="-210820">
              <a:lnSpc>
                <a:spcPct val="100000"/>
              </a:lnSpc>
              <a:spcBef>
                <a:spcPts val="925"/>
              </a:spcBef>
              <a:buAutoNum type="arabicPeriod"/>
              <a:tabLst>
                <a:tab pos="680085" algn="l"/>
              </a:tabLst>
            </a:pPr>
            <a:r>
              <a:rPr dirty="0" sz="1100" spc="-5">
                <a:latin typeface="Calibri"/>
                <a:cs typeface="Calibri"/>
              </a:rPr>
              <a:t>Hardware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Interfaces</a:t>
            </a:r>
            <a:endParaRPr sz="1100">
              <a:latin typeface="Calibri"/>
              <a:cs typeface="Calibri"/>
            </a:endParaRPr>
          </a:p>
          <a:p>
            <a:pPr lvl="1" marL="679450" indent="-210820">
              <a:lnSpc>
                <a:spcPct val="100000"/>
              </a:lnSpc>
              <a:spcBef>
                <a:spcPts val="935"/>
              </a:spcBef>
              <a:buAutoNum type="arabicPeriod"/>
              <a:tabLst>
                <a:tab pos="680085" algn="l"/>
              </a:tabLst>
            </a:pPr>
            <a:r>
              <a:rPr dirty="0" sz="1100" spc="-5">
                <a:latin typeface="Calibri"/>
                <a:cs typeface="Calibri"/>
              </a:rPr>
              <a:t>Software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Interfaces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5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100" spc="-5" b="1">
                <a:latin typeface="Calibri"/>
                <a:cs typeface="Calibri"/>
              </a:rPr>
              <a:t>SRS</a:t>
            </a:r>
            <a:r>
              <a:rPr dirty="0" sz="1100" spc="-35" b="1">
                <a:latin typeface="Calibri"/>
                <a:cs typeface="Calibri"/>
              </a:rPr>
              <a:t> </a:t>
            </a:r>
            <a:r>
              <a:rPr dirty="0" sz="1100" spc="-5" b="1">
                <a:latin typeface="Calibri"/>
                <a:cs typeface="Calibri"/>
              </a:rPr>
              <a:t>Description:</a:t>
            </a:r>
            <a:endParaRPr sz="1100">
              <a:latin typeface="Calibri"/>
              <a:cs typeface="Calibri"/>
            </a:endParaRPr>
          </a:p>
          <a:p>
            <a:pPr marL="469265" marR="5080" indent="-228600">
              <a:lnSpc>
                <a:spcPct val="110000"/>
              </a:lnSpc>
              <a:spcBef>
                <a:spcPts val="795"/>
              </a:spcBef>
              <a:buFont typeface="Wingdings"/>
              <a:buChar char=""/>
              <a:tabLst>
                <a:tab pos="469900" algn="l"/>
              </a:tabLst>
            </a:pPr>
            <a:r>
              <a:rPr dirty="0" sz="1100">
                <a:latin typeface="Calibri"/>
                <a:cs typeface="Calibri"/>
              </a:rPr>
              <a:t>In this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template,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design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problem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is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documented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“Product</a:t>
            </a:r>
            <a:r>
              <a:rPr dirty="0" sz="110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Description”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section,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which </a:t>
            </a:r>
            <a:r>
              <a:rPr dirty="0" sz="1100" spc="-2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contains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most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 </a:t>
            </a:r>
            <a:r>
              <a:rPr dirty="0" sz="1100" spc="-5">
                <a:latin typeface="Calibri"/>
                <a:cs typeface="Calibri"/>
              </a:rPr>
              <a:t>information</a:t>
            </a:r>
            <a:r>
              <a:rPr dirty="0" sz="110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from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project mission</a:t>
            </a:r>
            <a:r>
              <a:rPr dirty="0" sz="110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statement.</a:t>
            </a:r>
            <a:r>
              <a:rPr dirty="0" sz="1100">
                <a:latin typeface="Calibri"/>
                <a:cs typeface="Calibri"/>
              </a:rPr>
              <a:t> If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project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mission </a:t>
            </a:r>
            <a:r>
              <a:rPr dirty="0" sz="110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statement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exists,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it</a:t>
            </a:r>
            <a:r>
              <a:rPr dirty="0" sz="110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should</a:t>
            </a:r>
            <a:r>
              <a:rPr dirty="0" sz="110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be</a:t>
            </a:r>
            <a:r>
              <a:rPr dirty="0" sz="1100">
                <a:latin typeface="Calibri"/>
                <a:cs typeface="Calibri"/>
              </a:rPr>
              <a:t> referenced </a:t>
            </a:r>
            <a:r>
              <a:rPr dirty="0" sz="1100" spc="-5">
                <a:latin typeface="Calibri"/>
                <a:cs typeface="Calibri"/>
              </a:rPr>
              <a:t>rather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than </a:t>
            </a:r>
            <a:r>
              <a:rPr dirty="0" sz="1100" spc="-5">
                <a:latin typeface="Calibri"/>
                <a:cs typeface="Calibri"/>
              </a:rPr>
              <a:t>reproduced...</a:t>
            </a:r>
            <a:endParaRPr sz="1100">
              <a:latin typeface="Calibri"/>
              <a:cs typeface="Calibri"/>
            </a:endParaRPr>
          </a:p>
          <a:p>
            <a:pPr marL="469265" marR="110489" indent="-228600">
              <a:lnSpc>
                <a:spcPct val="110000"/>
              </a:lnSpc>
              <a:spcBef>
                <a:spcPts val="790"/>
              </a:spcBef>
              <a:buFont typeface="Wingdings"/>
              <a:buChar char=""/>
              <a:tabLst>
                <a:tab pos="469900" algn="l"/>
              </a:tabLst>
            </a:pPr>
            <a:r>
              <a:rPr dirty="0" sz="1100" spc="-5">
                <a:latin typeface="Calibri"/>
                <a:cs typeface="Calibri"/>
              </a:rPr>
              <a:t>The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sections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named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“Functional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Requirements,”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“Data</a:t>
            </a:r>
            <a:r>
              <a:rPr dirty="0" sz="110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Requirements,”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2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“Non-Functional </a:t>
            </a:r>
            <a:r>
              <a:rPr dirty="0" sz="110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Requirements”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contain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specifications mainly</a:t>
            </a:r>
            <a:r>
              <a:rPr dirty="0" sz="1100" spc="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at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user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operational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levels</a:t>
            </a:r>
            <a:r>
              <a:rPr dirty="0" sz="1100">
                <a:latin typeface="Calibri"/>
                <a:cs typeface="Calibri"/>
              </a:rPr>
              <a:t> of abstraction.</a:t>
            </a:r>
            <a:endParaRPr sz="1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892556"/>
            <a:ext cx="5908675" cy="21558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" b="1">
                <a:latin typeface="Calibri"/>
                <a:cs typeface="Calibri"/>
              </a:rPr>
              <a:t>SRS:</a:t>
            </a:r>
            <a:endParaRPr sz="1100">
              <a:latin typeface="Calibri"/>
              <a:cs typeface="Calibri"/>
            </a:endParaRPr>
          </a:p>
          <a:p>
            <a:pPr marL="469265" marR="566420" indent="-228600">
              <a:lnSpc>
                <a:spcPct val="110000"/>
              </a:lnSpc>
              <a:spcBef>
                <a:spcPts val="795"/>
              </a:spcBef>
              <a:buFont typeface="Microsoft Sans Serif"/>
              <a:buChar char=""/>
              <a:tabLst>
                <a:tab pos="469265" algn="l"/>
                <a:tab pos="469900" algn="l"/>
              </a:tabLst>
            </a:pPr>
            <a:r>
              <a:rPr dirty="0" sz="1100" spc="-5">
                <a:latin typeface="Calibri"/>
                <a:cs typeface="Calibri"/>
              </a:rPr>
              <a:t>The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SRS</a:t>
            </a:r>
            <a:r>
              <a:rPr dirty="0" sz="1100">
                <a:latin typeface="Calibri"/>
                <a:cs typeface="Calibri"/>
              </a:rPr>
              <a:t> is</a:t>
            </a:r>
            <a:r>
              <a:rPr dirty="0" sz="1100" spc="-5">
                <a:latin typeface="Calibri"/>
                <a:cs typeface="Calibri"/>
              </a:rPr>
              <a:t> often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referred</a:t>
            </a:r>
            <a:r>
              <a:rPr dirty="0" sz="1100">
                <a:latin typeface="Calibri"/>
                <a:cs typeface="Calibri"/>
              </a:rPr>
              <a:t> to as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“parent”</a:t>
            </a:r>
            <a:r>
              <a:rPr dirty="0" sz="1100">
                <a:latin typeface="Calibri"/>
                <a:cs typeface="Calibri"/>
              </a:rPr>
              <a:t> document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because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all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subsequent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project </a:t>
            </a:r>
            <a:r>
              <a:rPr dirty="0" sz="1100" spc="-2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management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documents,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such</a:t>
            </a:r>
            <a:r>
              <a:rPr dirty="0" sz="1100">
                <a:latin typeface="Calibri"/>
                <a:cs typeface="Calibri"/>
              </a:rPr>
              <a:t> as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design specifications,</a:t>
            </a:r>
            <a:r>
              <a:rPr dirty="0" sz="110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statements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work,</a:t>
            </a:r>
            <a:endParaRPr sz="1100">
              <a:latin typeface="Calibri"/>
              <a:cs typeface="Calibri"/>
            </a:endParaRPr>
          </a:p>
          <a:p>
            <a:pPr marL="469265" marR="5080">
              <a:lnSpc>
                <a:spcPct val="110000"/>
              </a:lnSpc>
            </a:pPr>
            <a:r>
              <a:rPr dirty="0" sz="1100" spc="-5">
                <a:latin typeface="Calibri"/>
                <a:cs typeface="Calibri"/>
              </a:rPr>
              <a:t>software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architecture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specifications, testing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validation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plans,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documentation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plans,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are </a:t>
            </a:r>
            <a:r>
              <a:rPr dirty="0" sz="1100" spc="-2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related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to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it.</a:t>
            </a:r>
            <a:endParaRPr sz="1100">
              <a:latin typeface="Calibri"/>
              <a:cs typeface="Calibri"/>
            </a:endParaRPr>
          </a:p>
          <a:p>
            <a:pPr marL="469265" marR="67945" indent="-228600">
              <a:lnSpc>
                <a:spcPct val="109700"/>
              </a:lnSpc>
              <a:spcBef>
                <a:spcPts val="795"/>
              </a:spcBef>
              <a:buFont typeface="Microsoft Sans Serif"/>
              <a:buChar char=""/>
              <a:tabLst>
                <a:tab pos="469265" algn="l"/>
                <a:tab pos="469900" algn="l"/>
              </a:tabLst>
            </a:pPr>
            <a:r>
              <a:rPr dirty="0" sz="1100">
                <a:latin typeface="Calibri"/>
                <a:cs typeface="Calibri"/>
              </a:rPr>
              <a:t>It’s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important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to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note</a:t>
            </a:r>
            <a:r>
              <a:rPr dirty="0" sz="1100">
                <a:latin typeface="Calibri"/>
                <a:cs typeface="Calibri"/>
              </a:rPr>
              <a:t> that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SRS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contains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functional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nonfunctional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requirements only;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it 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doesn’t</a:t>
            </a:r>
            <a:r>
              <a:rPr dirty="0" sz="1100" spc="-5">
                <a:latin typeface="Calibri"/>
                <a:cs typeface="Calibri"/>
              </a:rPr>
              <a:t> offer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design </a:t>
            </a:r>
            <a:r>
              <a:rPr dirty="0" sz="1100" spc="-5">
                <a:latin typeface="Calibri"/>
                <a:cs typeface="Calibri"/>
              </a:rPr>
              <a:t>suggestions,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possible solutions</a:t>
            </a:r>
            <a:r>
              <a:rPr dirty="0" sz="1100">
                <a:latin typeface="Calibri"/>
                <a:cs typeface="Calibri"/>
              </a:rPr>
              <a:t> to </a:t>
            </a:r>
            <a:r>
              <a:rPr dirty="0" sz="1100" spc="-5">
                <a:latin typeface="Calibri"/>
                <a:cs typeface="Calibri"/>
              </a:rPr>
              <a:t>technology</a:t>
            </a:r>
            <a:r>
              <a:rPr dirty="0" sz="1100">
                <a:latin typeface="Calibri"/>
                <a:cs typeface="Calibri"/>
              </a:rPr>
              <a:t> or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business</a:t>
            </a:r>
            <a:r>
              <a:rPr dirty="0" sz="1100" spc="2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issues,</a:t>
            </a:r>
            <a:r>
              <a:rPr dirty="0" sz="1100">
                <a:latin typeface="Calibri"/>
                <a:cs typeface="Calibri"/>
              </a:rPr>
              <a:t> or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any 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other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information </a:t>
            </a:r>
            <a:r>
              <a:rPr dirty="0" sz="1100">
                <a:latin typeface="Calibri"/>
                <a:cs typeface="Calibri"/>
              </a:rPr>
              <a:t>other than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what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the</a:t>
            </a:r>
            <a:r>
              <a:rPr dirty="0" sz="1100" spc="2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development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team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understands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the</a:t>
            </a:r>
            <a:r>
              <a:rPr dirty="0" sz="1100" spc="2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customer’s</a:t>
            </a:r>
            <a:r>
              <a:rPr dirty="0" sz="110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system </a:t>
            </a:r>
            <a:r>
              <a:rPr dirty="0" sz="1100" spc="-2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requirements</a:t>
            </a:r>
            <a:r>
              <a:rPr dirty="0" sz="1100" spc="-5">
                <a:latin typeface="Calibri"/>
                <a:cs typeface="Calibri"/>
              </a:rPr>
              <a:t> to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be.</a:t>
            </a:r>
            <a:endParaRPr sz="1100">
              <a:latin typeface="Calibri"/>
              <a:cs typeface="Calibri"/>
            </a:endParaRPr>
          </a:p>
          <a:p>
            <a:pPr marL="469265" indent="-228600">
              <a:lnSpc>
                <a:spcPct val="100000"/>
              </a:lnSpc>
              <a:spcBef>
                <a:spcPts val="940"/>
              </a:spcBef>
              <a:buFont typeface="Microsoft Sans Serif"/>
              <a:buChar char=""/>
              <a:tabLst>
                <a:tab pos="469265" algn="l"/>
                <a:tab pos="469900" algn="l"/>
              </a:tabLst>
            </a:pPr>
            <a:r>
              <a:rPr dirty="0" sz="1100" spc="-5" b="1">
                <a:latin typeface="Calibri"/>
                <a:cs typeface="Calibri"/>
              </a:rPr>
              <a:t>Example:</a:t>
            </a:r>
            <a:r>
              <a:rPr dirty="0" sz="1100" spc="20" b="1">
                <a:solidFill>
                  <a:srgbClr val="0462C1"/>
                </a:solidFill>
                <a:latin typeface="Calibri"/>
                <a:cs typeface="Calibri"/>
              </a:rPr>
              <a:t> </a:t>
            </a:r>
            <a:r>
              <a:rPr dirty="0" u="sng" sz="1100" spc="-5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https://www.scribd.com/doc/11934168/SRS-of-ATM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896416" y="3732910"/>
            <a:ext cx="5981065" cy="18415"/>
          </a:xfrm>
          <a:custGeom>
            <a:avLst/>
            <a:gdLst/>
            <a:ahLst/>
            <a:cxnLst/>
            <a:rect l="l" t="t" r="r" b="b"/>
            <a:pathLst>
              <a:path w="5981065" h="18414">
                <a:moveTo>
                  <a:pt x="5981065" y="0"/>
                </a:moveTo>
                <a:lnTo>
                  <a:pt x="0" y="0"/>
                </a:lnTo>
                <a:lnTo>
                  <a:pt x="0" y="18287"/>
                </a:lnTo>
                <a:lnTo>
                  <a:pt x="5981065" y="18287"/>
                </a:lnTo>
                <a:lnTo>
                  <a:pt x="598106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896416" y="3961510"/>
            <a:ext cx="5981065" cy="18415"/>
          </a:xfrm>
          <a:custGeom>
            <a:avLst/>
            <a:gdLst/>
            <a:ahLst/>
            <a:cxnLst/>
            <a:rect l="l" t="t" r="r" b="b"/>
            <a:pathLst>
              <a:path w="5981065" h="18414">
                <a:moveTo>
                  <a:pt x="5981065" y="0"/>
                </a:moveTo>
                <a:lnTo>
                  <a:pt x="0" y="0"/>
                </a:lnTo>
                <a:lnTo>
                  <a:pt x="0" y="18287"/>
                </a:lnTo>
                <a:lnTo>
                  <a:pt x="5981065" y="18287"/>
                </a:lnTo>
                <a:lnTo>
                  <a:pt x="598106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3235579" y="4346575"/>
            <a:ext cx="1303655" cy="1936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 b="1">
                <a:latin typeface="Calibri"/>
                <a:cs typeface="Calibri"/>
              </a:rPr>
              <a:t>(WEEK</a:t>
            </a:r>
            <a:r>
              <a:rPr dirty="0" sz="1100" spc="-40" b="1">
                <a:latin typeface="Calibri"/>
                <a:cs typeface="Calibri"/>
              </a:rPr>
              <a:t> </a:t>
            </a:r>
            <a:r>
              <a:rPr dirty="0" sz="1100" b="1">
                <a:latin typeface="Calibri"/>
                <a:cs typeface="Calibri"/>
              </a:rPr>
              <a:t>8</a:t>
            </a:r>
            <a:r>
              <a:rPr dirty="0" sz="1100" spc="-25" b="1">
                <a:latin typeface="Calibri"/>
                <a:cs typeface="Calibri"/>
              </a:rPr>
              <a:t> </a:t>
            </a:r>
            <a:r>
              <a:rPr dirty="0" sz="1100" spc="-5" b="1">
                <a:latin typeface="Calibri"/>
                <a:cs typeface="Calibri"/>
              </a:rPr>
              <a:t>COMPLETED)</a:t>
            </a:r>
            <a:endParaRPr sz="1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462C1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This</dc:creator>
  <dcterms:created xsi:type="dcterms:W3CDTF">2021-04-19T11:16:07Z</dcterms:created>
  <dcterms:modified xsi:type="dcterms:W3CDTF">2021-04-19T11:16:07Z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2020-06-29T00:00:00Z</vt:filetime>
  </property>
  <property fmtid="{D5CDD505-2E9C-101B-9397-08002B2CF9AE}" pid="3" name="Creator">
    <vt:lpwstr>Microsoft® Word 2013</vt:lpwstr>
  </property>
  <property fmtid="{D5CDD505-2E9C-101B-9397-08002B2CF9AE}" pid="4" name="LastSaved">
    <vt:filetime>2021-04-19T00:00:00Z</vt:filetime>
  </property>
</Properties>
</file>