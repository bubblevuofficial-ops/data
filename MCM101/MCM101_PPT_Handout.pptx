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package/2006/relationships/metadata/core-properties" Target="docProps/core.xml" TargetMode="Internal"></Relationship><Relationship Id="rId2" Type="http://schemas.openxmlformats.org/officeDocument/2006/relationships/extended-properties" Target="docProps/app.xml" TargetMode="Internal"></Relationship><Relationship Id="rId3" Type="http://schemas.openxmlformats.org/officeDocument/2006/relationships/officeDocument" Target="ppt/presentation.xml" TargetMode="Interna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</p:sldIdLst>
  <p:sldSz cx="7772400" cy="10058400" type="custom"/>
  <p:notesSz cx="6858000" cy="9144000"/>
  <p:defaultTextStyle>
    <a:defPPr>
      <a:defRPr lang="ko-KR"/>
    </a:defPPr>
    <a:lvl1pPr algn="l" marL="0" indent="0" defTabSz="914400">
      <a:buNone/>
      <a:defRPr lang="ko-KR" smtClean="0" sz="1800" baseline="0">
        <a:solidFill>
          <a:srgbClr val="000000"/>
        </a:solidFill>
        <a:latin typeface="SimSun"/>
        <a:ea typeface="SimSun"/>
      </a:defRPr>
    </a:lvl1pPr>
    <a:lvl2pPr lvl="1" marL="457200" indent="0" defTabSz="914400">
      <a:defRPr lang="ko-KR" smtClean="0"/>
    </a:lvl2pPr>
    <a:lvl3pPr lvl="2" marL="914400" indent="0" defTabSz="914400">
      <a:defRPr lang="ko-KR" smtClean="0"/>
    </a:lvl3pPr>
    <a:lvl4pPr lvl="3" marL="1371600" indent="0" defTabSz="914400">
      <a:defRPr lang="ko-KR" smtClean="0"/>
    </a:lvl4pPr>
    <a:lvl5pPr lvl="4" marL="1828800" indent="0" defTabSz="914400">
      <a:defRPr lang="ko-KR" smtClean="0"/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66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slideMaster" Target="slideMasters/slideMaster1.xml" TargetMode="Internal"></Relationship><Relationship Id="rId2" Type="http://schemas.openxmlformats.org/officeDocument/2006/relationships/slide" Target="slides/slide1.xml" TargetMode="Internal"></Relationship><Relationship Id="rId3" Type="http://schemas.openxmlformats.org/officeDocument/2006/relationships/slide" Target="slides/slide2.xml" TargetMode="Internal"></Relationship><Relationship Id="rId4" Type="http://schemas.openxmlformats.org/officeDocument/2006/relationships/slide" Target="slides/slide3.xml" TargetMode="Internal"></Relationship><Relationship Id="rId5" Type="http://schemas.openxmlformats.org/officeDocument/2006/relationships/slide" Target="slides/slide4.xml" TargetMode="Internal"></Relationship><Relationship Id="rId6" Type="http://schemas.openxmlformats.org/officeDocument/2006/relationships/slide" Target="slides/slide5.xml" TargetMode="Internal"></Relationship><Relationship Id="rId7" Type="http://schemas.openxmlformats.org/officeDocument/2006/relationships/slide" Target="slides/slide6.xml" TargetMode="Internal"></Relationship><Relationship Id="rId8" Type="http://schemas.openxmlformats.org/officeDocument/2006/relationships/slide" Target="slides/slide7.xml" TargetMode="Internal"></Relationship><Relationship Id="rId9" Type="http://schemas.openxmlformats.org/officeDocument/2006/relationships/slide" Target="slides/slide8.xml" TargetMode="Internal"></Relationship><Relationship Id="rId10" Type="http://schemas.openxmlformats.org/officeDocument/2006/relationships/slide" Target="slides/slide9.xml" TargetMode="Internal"></Relationship><Relationship Id="rId11" Type="http://schemas.openxmlformats.org/officeDocument/2006/relationships/slide" Target="slides/slide10.xml" TargetMode="Internal"></Relationship><Relationship Id="rId12" Type="http://schemas.openxmlformats.org/officeDocument/2006/relationships/slide" Target="slides/slide11.xml" TargetMode="Internal"></Relationship><Relationship Id="rId13" Type="http://schemas.openxmlformats.org/officeDocument/2006/relationships/slide" Target="slides/slide12.xml" TargetMode="Internal"></Relationship><Relationship Id="rId14" Type="http://schemas.openxmlformats.org/officeDocument/2006/relationships/slide" Target="slides/slide13.xml" TargetMode="Internal"></Relationship><Relationship Id="rId15" Type="http://schemas.openxmlformats.org/officeDocument/2006/relationships/slide" Target="slides/slide14.xml" TargetMode="Internal"></Relationship><Relationship Id="rId16" Type="http://schemas.openxmlformats.org/officeDocument/2006/relationships/slide" Target="slides/slide15.xml" TargetMode="Internal"></Relationship><Relationship Id="rId17" Type="http://schemas.openxmlformats.org/officeDocument/2006/relationships/slide" Target="slides/slide16.xml" TargetMode="Internal"></Relationship><Relationship Id="rId18" Type="http://schemas.openxmlformats.org/officeDocument/2006/relationships/slide" Target="slides/slide17.xml" TargetMode="Internal"></Relationship><Relationship Id="rId19" Type="http://schemas.openxmlformats.org/officeDocument/2006/relationships/slide" Target="slides/slide18.xml" TargetMode="Internal"></Relationship><Relationship Id="rId20" Type="http://schemas.openxmlformats.org/officeDocument/2006/relationships/slide" Target="slides/slide19.xml" TargetMode="Internal"></Relationship><Relationship Id="rId21" Type="http://schemas.openxmlformats.org/officeDocument/2006/relationships/slide" Target="slides/slide20.xml" TargetMode="Internal"></Relationship><Relationship Id="rId22" Type="http://schemas.openxmlformats.org/officeDocument/2006/relationships/slide" Target="slides/slide21.xml" TargetMode="Internal"></Relationship><Relationship Id="rId23" Type="http://schemas.openxmlformats.org/officeDocument/2006/relationships/slide" Target="slides/slide22.xml" TargetMode="Internal"></Relationship><Relationship Id="rId24" Type="http://schemas.openxmlformats.org/officeDocument/2006/relationships/slide" Target="slides/slide23.xml" TargetMode="Internal"></Relationship><Relationship Id="rId25" Type="http://schemas.openxmlformats.org/officeDocument/2006/relationships/slide" Target="slides/slide24.xml" TargetMode="Internal"></Relationship><Relationship Id="rId26" Type="http://schemas.openxmlformats.org/officeDocument/2006/relationships/slide" Target="slides/slide25.xml" TargetMode="Internal"></Relationship><Relationship Id="rId27" Type="http://schemas.openxmlformats.org/officeDocument/2006/relationships/slide" Target="slides/slide26.xml" TargetMode="Internal"></Relationship><Relationship Id="rId28" Type="http://schemas.openxmlformats.org/officeDocument/2006/relationships/slide" Target="slides/slide27.xml" TargetMode="Internal"></Relationship><Relationship Id="rId29" Type="http://schemas.openxmlformats.org/officeDocument/2006/relationships/slide" Target="slides/slide28.xml" TargetMode="Internal"></Relationship><Relationship Id="rId30" Type="http://schemas.openxmlformats.org/officeDocument/2006/relationships/slide" Target="slides/slide29.xml" TargetMode="Internal"></Relationship><Relationship Id="rId31" Type="http://schemas.openxmlformats.org/officeDocument/2006/relationships/slide" Target="slides/slide30.xml" TargetMode="Internal"></Relationship><Relationship Id="rId32" Type="http://schemas.openxmlformats.org/officeDocument/2006/relationships/slide" Target="slides/slide31.xml" TargetMode="Internal"></Relationship><Relationship Id="rId33" Type="http://schemas.openxmlformats.org/officeDocument/2006/relationships/slide" Target="slides/slide32.xml" TargetMode="Internal"></Relationship><Relationship Id="rId34" Type="http://schemas.openxmlformats.org/officeDocument/2006/relationships/slide" Target="slides/slide33.xml" TargetMode="Internal"></Relationship><Relationship Id="rId35" Type="http://schemas.openxmlformats.org/officeDocument/2006/relationships/slide" Target="slides/slide34.xml" TargetMode="Internal"></Relationship><Relationship Id="rId36" Type="http://schemas.openxmlformats.org/officeDocument/2006/relationships/slide" Target="slides/slide35.xml" TargetMode="Internal"></Relationship><Relationship Id="rId37" Type="http://schemas.openxmlformats.org/officeDocument/2006/relationships/slide" Target="slides/slide36.xml" TargetMode="Internal"></Relationship><Relationship Id="rId38" Type="http://schemas.openxmlformats.org/officeDocument/2006/relationships/slide" Target="slides/slide37.xml" TargetMode="Internal"></Relationship><Relationship Id="rId39" Type="http://schemas.openxmlformats.org/officeDocument/2006/relationships/slide" Target="slides/slide38.xml" TargetMode="Internal"></Relationship><Relationship Id="rId40" Type="http://schemas.openxmlformats.org/officeDocument/2006/relationships/slide" Target="slides/slide39.xml" TargetMode="Internal"></Relationship><Relationship Id="rId41" Type="http://schemas.openxmlformats.org/officeDocument/2006/relationships/slide" Target="slides/slide40.xml" TargetMode="Internal"></Relationship><Relationship Id="rId42" Type="http://schemas.openxmlformats.org/officeDocument/2006/relationships/slide" Target="slides/slide41.xml" TargetMode="Internal"></Relationship><Relationship Id="rId43" Type="http://schemas.openxmlformats.org/officeDocument/2006/relationships/slide" Target="slides/slide42.xml" TargetMode="Internal"></Relationship><Relationship Id="rId44" Type="http://schemas.openxmlformats.org/officeDocument/2006/relationships/slide" Target="slides/slide43.xml" TargetMode="Internal"></Relationship><Relationship Id="rId45" Type="http://schemas.openxmlformats.org/officeDocument/2006/relationships/slide" Target="slides/slide44.xml" TargetMode="Internal"></Relationship><Relationship Id="rId46" Type="http://schemas.openxmlformats.org/officeDocument/2006/relationships/slide" Target="slides/slide45.xml" TargetMode="Internal"></Relationship><Relationship Id="rId47" Type="http://schemas.openxmlformats.org/officeDocument/2006/relationships/slide" Target="slides/slide46.xml" TargetMode="Internal"></Relationship><Relationship Id="rId48" Type="http://schemas.openxmlformats.org/officeDocument/2006/relationships/slide" Target="slides/slide47.xml" TargetMode="Internal"></Relationship><Relationship Id="rId49" Type="http://schemas.openxmlformats.org/officeDocument/2006/relationships/slide" Target="slides/slide48.xml" TargetMode="Internal"></Relationship><Relationship Id="rId50" Type="http://schemas.openxmlformats.org/officeDocument/2006/relationships/slide" Target="slides/slide49.xml" TargetMode="Internal"></Relationship><Relationship Id="rId51" Type="http://schemas.openxmlformats.org/officeDocument/2006/relationships/slide" Target="slides/slide50.xml" TargetMode="Internal"></Relationship><Relationship Id="rId52" Type="http://schemas.openxmlformats.org/officeDocument/2006/relationships/slide" Target="slides/slide51.xml" TargetMode="Internal"></Relationship><Relationship Id="rId53" Type="http://schemas.openxmlformats.org/officeDocument/2006/relationships/slide" Target="slides/slide52.xml" TargetMode="Internal"></Relationship><Relationship Id="rId54" Type="http://schemas.openxmlformats.org/officeDocument/2006/relationships/slide" Target="slides/slide53.xml" TargetMode="Internal"></Relationship><Relationship Id="rId55" Type="http://schemas.openxmlformats.org/officeDocument/2006/relationships/slide" Target="slides/slide54.xml" TargetMode="Internal"></Relationship><Relationship Id="rId56" Type="http://schemas.openxmlformats.org/officeDocument/2006/relationships/slide" Target="slides/slide55.xml" TargetMode="Internal"></Relationship><Relationship Id="rId57" Type="http://schemas.openxmlformats.org/officeDocument/2006/relationships/slide" Target="slides/slide56.xml" TargetMode="Internal"></Relationship><Relationship Id="rId58" Type="http://schemas.openxmlformats.org/officeDocument/2006/relationships/slide" Target="slides/slide57.xml" TargetMode="Internal"></Relationship><Relationship Id="rId59" Type="http://schemas.openxmlformats.org/officeDocument/2006/relationships/slide" Target="slides/slide58.xml" TargetMode="Internal"></Relationship><Relationship Id="rId60" Type="http://schemas.openxmlformats.org/officeDocument/2006/relationships/slide" Target="slides/slide59.xml" TargetMode="Internal"></Relationship><Relationship Id="rId61" Type="http://schemas.openxmlformats.org/officeDocument/2006/relationships/slide" Target="slides/slide60.xml" TargetMode="Internal"></Relationship><Relationship Id="rId62" Type="http://schemas.openxmlformats.org/officeDocument/2006/relationships/slide" Target="slides/slide61.xml" TargetMode="Internal"></Relationship><Relationship Id="rId63" Type="http://schemas.openxmlformats.org/officeDocument/2006/relationships/slide" Target="slides/slide62.xml" TargetMode="Internal"></Relationship><Relationship Id="rId64" Type="http://schemas.openxmlformats.org/officeDocument/2006/relationships/slide" Target="slides/slide63.xml" TargetMode="Internal"></Relationship><Relationship Id="rId65" Type="http://schemas.openxmlformats.org/officeDocument/2006/relationships/slide" Target="slides/slide64.xml" TargetMode="Internal"></Relationship><Relationship Id="rId66" Type="http://schemas.openxmlformats.org/officeDocument/2006/relationships/slide" Target="slides/slide65.xml" TargetMode="Internal"></Relationship><Relationship Id="rId67" Type="http://schemas.openxmlformats.org/officeDocument/2006/relationships/slide" Target="slides/slide66.xml" TargetMode="Internal"></Relationship><Relationship Id="rId68" Type="http://schemas.openxmlformats.org/officeDocument/2006/relationships/slide" Target="slides/slide67.xml" TargetMode="Internal"></Relationship><Relationship Id="rId69" Type="http://schemas.openxmlformats.org/officeDocument/2006/relationships/slide" Target="slides/slide68.xml" TargetMode="Internal"></Relationship><Relationship Id="rId70" Type="http://schemas.openxmlformats.org/officeDocument/2006/relationships/slide" Target="slides/slide69.xml" TargetMode="Internal"></Relationship><Relationship Id="rId71" Type="http://schemas.openxmlformats.org/officeDocument/2006/relationships/slide" Target="slides/slide70.xml" TargetMode="Internal"></Relationship><Relationship Id="rId72" Type="http://schemas.openxmlformats.org/officeDocument/2006/relationships/slide" Target="slides/slide71.xml" TargetMode="Internal"></Relationship><Relationship Id="rId73" Type="http://schemas.openxmlformats.org/officeDocument/2006/relationships/slide" Target="slides/slide72.xml" TargetMode="Internal"></Relationship><Relationship Id="rId74" Type="http://schemas.openxmlformats.org/officeDocument/2006/relationships/slide" Target="slides/slide73.xml" TargetMode="Internal"></Relationship><Relationship Id="rId75" Type="http://schemas.openxmlformats.org/officeDocument/2006/relationships/slide" Target="slides/slide74.xml" TargetMode="Internal"></Relationship><Relationship Id="rId76" Type="http://schemas.openxmlformats.org/officeDocument/2006/relationships/slide" Target="slides/slide75.xml" TargetMode="Internal"></Relationship><Relationship Id="rId77" Type="http://schemas.openxmlformats.org/officeDocument/2006/relationships/slide" Target="slides/slide76.xml" TargetMode="Internal"></Relationship><Relationship Id="rId78" Type="http://schemas.openxmlformats.org/officeDocument/2006/relationships/slide" Target="slides/slide77.xml" TargetMode="Internal"></Relationship><Relationship Id="rId79" Type="http://schemas.openxmlformats.org/officeDocument/2006/relationships/slide" Target="slides/slide78.xml" TargetMode="Internal"></Relationship><Relationship Id="rId80" Type="http://schemas.openxmlformats.org/officeDocument/2006/relationships/slide" Target="slides/slide79.xml" TargetMode="Internal"></Relationship><Relationship Id="rId81" Type="http://schemas.openxmlformats.org/officeDocument/2006/relationships/slide" Target="slides/slide80.xml" TargetMode="Internal"></Relationship><Relationship Id="rId82" Type="http://schemas.openxmlformats.org/officeDocument/2006/relationships/slide" Target="slides/slide81.xml" TargetMode="Internal"></Relationship><Relationship Id="rId83" Type="http://schemas.openxmlformats.org/officeDocument/2006/relationships/slide" Target="slides/slide82.xml" TargetMode="Internal"></Relationship><Relationship Id="rId84" Type="http://schemas.openxmlformats.org/officeDocument/2006/relationships/slide" Target="slides/slide83.xml" TargetMode="Internal"></Relationship><Relationship Id="rId85" Type="http://schemas.openxmlformats.org/officeDocument/2006/relationships/slide" Target="slides/slide84.xml" TargetMode="Internal"></Relationship><Relationship Id="rId86" Type="http://schemas.openxmlformats.org/officeDocument/2006/relationships/slide" Target="slides/slide85.xml" TargetMode="Internal"></Relationship><Relationship Id="rId87" Type="http://schemas.openxmlformats.org/officeDocument/2006/relationships/slide" Target="slides/slide86.xml" TargetMode="Internal"></Relationship><Relationship Id="rId88" Type="http://schemas.openxmlformats.org/officeDocument/2006/relationships/slide" Target="slides/slide87.xml" TargetMode="Internal"></Relationship><Relationship Id="rId89" Type="http://schemas.openxmlformats.org/officeDocument/2006/relationships/slide" Target="slides/slide88.xml" TargetMode="Internal"></Relationship><Relationship Id="rId90" Type="http://schemas.openxmlformats.org/officeDocument/2006/relationships/slide" Target="slides/slide89.xml" TargetMode="Internal"></Relationship><Relationship Id="rId91" Type="http://schemas.openxmlformats.org/officeDocument/2006/relationships/slide" Target="slides/slide90.xml" TargetMode="Internal"></Relationship><Relationship Id="rId92" Type="http://schemas.openxmlformats.org/officeDocument/2006/relationships/slide" Target="slides/slide91.xml" TargetMode="Internal"></Relationship><Relationship Id="rId93" Type="http://schemas.openxmlformats.org/officeDocument/2006/relationships/slide" Target="slides/slide92.xml" TargetMode="Internal"></Relationship><Relationship Id="rId94" Type="http://schemas.openxmlformats.org/officeDocument/2006/relationships/slide" Target="slides/slide93.xml" TargetMode="Internal"></Relationship><Relationship Id="rId95" Type="http://schemas.openxmlformats.org/officeDocument/2006/relationships/slide" Target="slides/slide94.xml" TargetMode="Internal"></Relationship><Relationship Id="rId96" Type="http://schemas.openxmlformats.org/officeDocument/2006/relationships/slide" Target="slides/slide95.xml" TargetMode="Internal"></Relationship><Relationship Id="rId97" Type="http://schemas.openxmlformats.org/officeDocument/2006/relationships/slide" Target="slides/slide96.xml" TargetMode="Internal"></Relationship><Relationship Id="rId98" Type="http://schemas.openxmlformats.org/officeDocument/2006/relationships/slide" Target="slides/slide97.xml" TargetMode="Internal"></Relationship><Relationship Id="rId99" Type="http://schemas.openxmlformats.org/officeDocument/2006/relationships/slide" Target="slides/slide98.xml" TargetMode="Internal"></Relationship><Relationship Id="rId100" Type="http://schemas.openxmlformats.org/officeDocument/2006/relationships/slide" Target="slides/slide99.xml" TargetMode="Internal"></Relationship><Relationship Id="rId101" Type="http://schemas.openxmlformats.org/officeDocument/2006/relationships/slide" Target="slides/slide100.xml" TargetMode="Internal"></Relationship><Relationship Id="rId102" Type="http://schemas.openxmlformats.org/officeDocument/2006/relationships/slide" Target="slides/slide101.xml" TargetMode="Internal"></Relationship><Relationship Id="rId103" Type="http://schemas.openxmlformats.org/officeDocument/2006/relationships/slide" Target="slides/slide102.xml" TargetMode="Internal"></Relationship><Relationship Id="rId104" Type="http://schemas.openxmlformats.org/officeDocument/2006/relationships/slide" Target="slides/slide103.xml" TargetMode="Internal"></Relationship><Relationship Id="rId105" Type="http://schemas.openxmlformats.org/officeDocument/2006/relationships/slide" Target="slides/slide104.xml" TargetMode="Internal"></Relationship><Relationship Id="rId106" Type="http://schemas.openxmlformats.org/officeDocument/2006/relationships/slide" Target="slides/slide105.xml" TargetMode="Internal"></Relationship><Relationship Id="rId107" Type="http://schemas.openxmlformats.org/officeDocument/2006/relationships/slide" Target="slides/slide106.xml" TargetMode="Internal"></Relationship><Relationship Id="rId108" Type="http://schemas.openxmlformats.org/officeDocument/2006/relationships/slide" Target="slides/slide107.xml" TargetMode="Internal"></Relationship><Relationship Id="rId109" Type="http://schemas.openxmlformats.org/officeDocument/2006/relationships/slide" Target="slides/slide108.xml" TargetMode="Internal"></Relationship><Relationship Id="rId110" Type="http://schemas.openxmlformats.org/officeDocument/2006/relationships/slide" Target="slides/slide109.xml" TargetMode="Internal"></Relationship><Relationship Id="rId111" Type="http://schemas.openxmlformats.org/officeDocument/2006/relationships/slide" Target="slides/slide110.xml" TargetMode="Internal"></Relationship><Relationship Id="rId112" Type="http://schemas.openxmlformats.org/officeDocument/2006/relationships/slide" Target="slides/slide111.xml" TargetMode="Internal"></Relationship><Relationship Id="rId113" Type="http://schemas.openxmlformats.org/officeDocument/2006/relationships/slide" Target="slides/slide112.xml" TargetMode="Internal"></Relationship><Relationship Id="rId114" Type="http://schemas.openxmlformats.org/officeDocument/2006/relationships/slide" Target="slides/slide113.xml" TargetMode="Internal"></Relationship><Relationship Id="rId115" Type="http://schemas.openxmlformats.org/officeDocument/2006/relationships/slide" Target="slides/slide114.xml" TargetMode="Internal"></Relationship><Relationship Id="rId116" Type="http://schemas.openxmlformats.org/officeDocument/2006/relationships/slide" Target="slides/slide115.xml" TargetMode="Internal"></Relationship><Relationship Id="rId117" Type="http://schemas.openxmlformats.org/officeDocument/2006/relationships/slide" Target="slides/slide116.xml" TargetMode="Internal"></Relationship><Relationship Id="rId118" Type="http://schemas.openxmlformats.org/officeDocument/2006/relationships/slide" Target="slides/slide117.xml" TargetMode="Internal"></Relationship><Relationship Id="rId119" Type="http://schemas.openxmlformats.org/officeDocument/2006/relationships/slide" Target="slides/slide118.xml" TargetMode="Internal"></Relationship><Relationship Id="rId120" Type="http://schemas.openxmlformats.org/officeDocument/2006/relationships/slide" Target="slides/slide119.xml" TargetMode="Internal"></Relationship><Relationship Id="rId121" Type="http://schemas.openxmlformats.org/officeDocument/2006/relationships/slide" Target="slides/slide120.xml" TargetMode="Internal"></Relationship><Relationship Id="rId122" Type="http://schemas.openxmlformats.org/officeDocument/2006/relationships/slide" Target="slides/slide121.xml" TargetMode="Internal"></Relationship><Relationship Id="rId123" Type="http://schemas.openxmlformats.org/officeDocument/2006/relationships/slide" Target="slides/slide122.xml" TargetMode="Internal"></Relationship><Relationship Id="rId124" Type="http://schemas.openxmlformats.org/officeDocument/2006/relationships/slide" Target="slides/slide123.xml" TargetMode="Internal"></Relationship><Relationship Id="rId125" Type="http://schemas.openxmlformats.org/officeDocument/2006/relationships/slide" Target="slides/slide124.xml" TargetMode="Internal"></Relationship><Relationship Id="rId126" Type="http://schemas.openxmlformats.org/officeDocument/2006/relationships/slide" Target="slides/slide125.xml" TargetMode="Internal"></Relationship><Relationship Id="rId127" Type="http://schemas.openxmlformats.org/officeDocument/2006/relationships/slide" Target="slides/slide126.xml" TargetMode="Internal"></Relationship><Relationship Id="rId128" Type="http://schemas.openxmlformats.org/officeDocument/2006/relationships/slide" Target="slides/slide127.xml" TargetMode="Internal"></Relationship><Relationship Id="rId129" Type="http://schemas.openxmlformats.org/officeDocument/2006/relationships/slide" Target="slides/slide128.xml" TargetMode="Internal"></Relationship><Relationship Id="rId130" Type="http://schemas.openxmlformats.org/officeDocument/2006/relationships/slide" Target="slides/slide129.xml" TargetMode="Internal"></Relationship><Relationship Id="rId131" Type="http://schemas.openxmlformats.org/officeDocument/2006/relationships/slide" Target="slides/slide130.xml" TargetMode="Internal"></Relationship><Relationship Id="rId132" Type="http://schemas.openxmlformats.org/officeDocument/2006/relationships/slide" Target="slides/slide131.xml" TargetMode="Internal"></Relationship><Relationship Id="rId133" Type="http://schemas.openxmlformats.org/officeDocument/2006/relationships/slide" Target="slides/slide132.xml" TargetMode="Internal"></Relationship><Relationship Id="rId134" Type="http://schemas.openxmlformats.org/officeDocument/2006/relationships/slide" Target="slides/slide133.xml" TargetMode="Internal"></Relationship><Relationship Id="rId135" Type="http://schemas.openxmlformats.org/officeDocument/2006/relationships/slide" Target="slides/slide134.xml" TargetMode="Internal"></Relationship><Relationship Id="rId136" Type="http://schemas.openxmlformats.org/officeDocument/2006/relationships/slide" Target="slides/slide135.xml" TargetMode="Internal"></Relationship><Relationship Id="rId137" Type="http://schemas.openxmlformats.org/officeDocument/2006/relationships/slide" Target="slides/slide136.xml" TargetMode="Internal"></Relationship><Relationship Id="rId138" Type="http://schemas.openxmlformats.org/officeDocument/2006/relationships/slide" Target="slides/slide137.xml" TargetMode="Internal"></Relationship><Relationship Id="rId139" Type="http://schemas.openxmlformats.org/officeDocument/2006/relationships/slide" Target="slides/slide138.xml" TargetMode="Internal"></Relationship><Relationship Id="rId140" Type="http://schemas.openxmlformats.org/officeDocument/2006/relationships/slide" Target="slides/slide139.xml" TargetMode="Internal"></Relationship><Relationship Id="rId141" Type="http://schemas.openxmlformats.org/officeDocument/2006/relationships/slide" Target="slides/slide140.xml" TargetMode="Internal"></Relationship><Relationship Id="rId142" Type="http://schemas.openxmlformats.org/officeDocument/2006/relationships/slide" Target="slides/slide141.xml" TargetMode="Internal"></Relationship><Relationship Id="rId143" Type="http://schemas.openxmlformats.org/officeDocument/2006/relationships/slide" Target="slides/slide142.xml" TargetMode="Internal"></Relationship><Relationship Id="rId144" Type="http://schemas.openxmlformats.org/officeDocument/2006/relationships/slide" Target="slides/slide143.xml" TargetMode="Internal"></Relationship><Relationship Id="rId145" Type="http://schemas.openxmlformats.org/officeDocument/2006/relationships/slide" Target="slides/slide144.xml" TargetMode="Internal"></Relationship><Relationship Id="rId146" Type="http://schemas.openxmlformats.org/officeDocument/2006/relationships/slide" Target="slides/slide145.xml" TargetMode="Internal"></Relationship><Relationship Id="rId147" Type="http://schemas.openxmlformats.org/officeDocument/2006/relationships/slide" Target="slides/slide146.xml" TargetMode="Internal"></Relationship><Relationship Id="rId148" Type="http://schemas.openxmlformats.org/officeDocument/2006/relationships/slide" Target="slides/slide147.xml" TargetMode="Internal"></Relationship><Relationship Id="rId149" Type="http://schemas.openxmlformats.org/officeDocument/2006/relationships/slide" Target="slides/slide148.xml" TargetMode="Internal"></Relationship><Relationship Id="rId150" Type="http://schemas.openxmlformats.org/officeDocument/2006/relationships/slide" Target="slides/slide149.xml" TargetMode="Internal"></Relationship><Relationship Id="rId151" Type="http://schemas.openxmlformats.org/officeDocument/2006/relationships/slide" Target="slides/slide150.xml" TargetMode="Internal"></Relationship><Relationship Id="rId152" Type="http://schemas.openxmlformats.org/officeDocument/2006/relationships/slide" Target="slides/slide151.xml" TargetMode="Internal"></Relationship><Relationship Id="rId153" Type="http://schemas.openxmlformats.org/officeDocument/2006/relationships/slide" Target="slides/slide152.xml" TargetMode="Internal"></Relationship><Relationship Id="rId154" Type="http://schemas.openxmlformats.org/officeDocument/2006/relationships/slide" Target="slides/slide153.xml" TargetMode="Internal"></Relationship><Relationship Id="rId155" Type="http://schemas.openxmlformats.org/officeDocument/2006/relationships/slide" Target="slides/slide154.xml" TargetMode="Internal"></Relationship><Relationship Id="rId156" Type="http://schemas.openxmlformats.org/officeDocument/2006/relationships/slide" Target="slides/slide155.xml" TargetMode="Internal"></Relationship><Relationship Id="rId157" Type="http://schemas.openxmlformats.org/officeDocument/2006/relationships/slide" Target="slides/slide156.xml" TargetMode="Internal"></Relationship><Relationship Id="rId158" Type="http://schemas.openxmlformats.org/officeDocument/2006/relationships/slide" Target="slides/slide157.xml" TargetMode="Internal"></Relationship><Relationship Id="rId159" Type="http://schemas.openxmlformats.org/officeDocument/2006/relationships/slide" Target="slides/slide158.xml" TargetMode="Internal"></Relationship><Relationship Id="rId160" Type="http://schemas.openxmlformats.org/officeDocument/2006/relationships/slide" Target="slides/slide159.xml" TargetMode="Internal"></Relationship><Relationship Id="rId161" Type="http://schemas.openxmlformats.org/officeDocument/2006/relationships/slide" Target="slides/slide160.xml" TargetMode="Internal"></Relationship><Relationship Id="rId162" Type="http://schemas.openxmlformats.org/officeDocument/2006/relationships/theme" Target="theme/theme1.xml" TargetMode="Internal"></Relationship><Relationship Id="rId163" Type="http://schemas.openxmlformats.org/officeDocument/2006/relationships/presProps" Target="presProps.xml" TargetMode="Internal"></Relationship><Relationship Id="rId164" Type="http://schemas.openxmlformats.org/officeDocument/2006/relationships/viewProps" Target="viewProps.xml" TargetMode="Internal"></Relationship><Relationship Id="rId165" Type="http://schemas.openxmlformats.org/officeDocument/2006/relationships/tableStyles" Target="tableStyles.xml" TargetMode="Internal"></Relationship></Relationships>
</file>

<file path=ppt/slideLayouts/_rels/slideLayout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1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1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marL="0" indent="0">
              <a:buNone/>
              <a:defRPr>
                <a:solidFill>
                  <a:srgbClr val="000000"/>
                </a:solidFill>
              </a:defRPr>
            </a:lvl1pPr>
            <a:lvl2pPr algn="ctr" marL="457200" indent="0">
              <a:buNone/>
              <a:defRPr>
                <a:solidFill>
                  <a:srgbClr val="000000"/>
                </a:solidFill>
              </a:defRPr>
            </a:lvl2pPr>
            <a:lvl3pPr algn="ctr" marL="914400" indent="0">
              <a:buNone/>
              <a:defRPr>
                <a:solidFill>
                  <a:srgbClr val="000000"/>
                </a:solidFill>
              </a:defRPr>
            </a:lvl3pPr>
            <a:lvl4pPr algn="ctr" marL="1371600" indent="0">
              <a:buNone/>
              <a:defRPr>
                <a:solidFill>
                  <a:srgbClr val="000000"/>
                </a:solidFill>
              </a:defRPr>
            </a:lvl4pPr>
            <a:lvl5pPr algn="ctr" marL="1828800" indent="0">
              <a:buNone/>
              <a:defRPr>
                <a:solidFill>
                  <a:srgbClr val="000000"/>
                </a:solidFill>
              </a:defRPr>
            </a:lvl5pPr>
            <a:lvl6pPr algn="ctr" marL="2286000" indent="0">
              <a:buNone/>
              <a:defRPr>
                <a:solidFill>
                  <a:srgbClr val="000000"/>
                </a:solidFill>
              </a:defRPr>
            </a:lvl6pPr>
            <a:lvl7pPr algn="ctr" marL="2743200" indent="0">
              <a:buNone/>
              <a:defRPr>
                <a:solidFill>
                  <a:srgbClr val="000000"/>
                </a:solidFill>
              </a:defRPr>
            </a:lvl7pPr>
            <a:lvl8pPr algn="ctr" marL="3200400" indent="0">
              <a:buNone/>
              <a:defRPr>
                <a:solidFill>
                  <a:srgbClr val="000000"/>
                </a:solidFill>
              </a:defRPr>
            </a:lvl8pPr>
            <a:lvl9pPr algn="ctr" marL="3657600" indent="0">
              <a:buNone/>
              <a:defRPr>
                <a:solidFill>
                  <a:srgbClr val="000000"/>
                </a:solidFill>
              </a:defRPr>
            </a:lvl9pPr>
          </a:lstStyle>
          <a:p>
            <a:r>
              <a:rPr lang="ko-KR" altLang="en-US" dirty="0" smtClean="0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0000"/>
                </a:solidFill>
              </a:defRPr>
            </a:lvl1pPr>
            <a:lvl2pPr marL="457200" indent="0">
              <a:buNone/>
              <a:defRPr sz="1800">
                <a:solidFill>
                  <a:srgbClr val="000000"/>
                </a:solidFill>
              </a:defRPr>
            </a:lvl2pPr>
            <a:lvl3pPr marL="914400" indent="0">
              <a:buNone/>
              <a:defRPr sz="1600">
                <a:solidFill>
                  <a:srgbClr val="000000"/>
                </a:solidFill>
              </a:defRPr>
            </a:lvl3pPr>
            <a:lvl4pPr marL="1371600" indent="0">
              <a:buNone/>
              <a:defRPr sz="1400">
                <a:solidFill>
                  <a:srgbClr val="000000"/>
                </a:solidFill>
              </a:defRPr>
            </a:lvl4pPr>
            <a:lvl5pPr marL="1828800" indent="0">
              <a:buNone/>
              <a:defRPr sz="1400">
                <a:solidFill>
                  <a:srgbClr val="000000"/>
                </a:solidFill>
              </a:defRPr>
            </a:lvl5pPr>
            <a:lvl6pPr marL="2286000" indent="0">
              <a:buNone/>
              <a:defRPr sz="1400">
                <a:solidFill>
                  <a:srgbClr val="000000"/>
                </a:solidFill>
              </a:defRPr>
            </a:lvl6pPr>
            <a:lvl7pPr marL="2743200" indent="0">
              <a:buNone/>
              <a:defRPr sz="1400">
                <a:solidFill>
                  <a:srgbClr val="000000"/>
                </a:solidFill>
              </a:defRPr>
            </a:lvl7pPr>
            <a:lvl8pPr marL="3200400" indent="0">
              <a:buNone/>
              <a:defRPr sz="1400">
                <a:solidFill>
                  <a:srgbClr val="000000"/>
                </a:solidFill>
              </a:defRPr>
            </a:lvl8pPr>
            <a:lvl9pPr marL="3657600" indent="0">
              <a:buNone/>
              <a:defRPr sz="1400">
                <a:solidFill>
                  <a:srgbClr val="000000"/>
                </a:solidFill>
              </a:defRPr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0" defTabSz="0">
              <a:defRPr sz="2800"/>
            </a:lvl1pPr>
            <a:lvl2pPr marL="0" defTabSz="0">
              <a:defRPr sz="2400"/>
            </a:lvl2pPr>
            <a:lvl3pPr marL="0" defTabSz="0">
              <a:defRPr sz="2000"/>
            </a:lvl3pPr>
            <a:lvl4pPr marL="0" defTabSz="0">
              <a:defRPr sz="1800"/>
            </a:lvl4pPr>
            <a:lvl5pPr marL="0" defTabSz="0">
              <a:defRPr sz="1800"/>
            </a:lvl5pPr>
            <a:lvl6pPr marL="0" defTabSz="0">
              <a:defRPr sz="1800"/>
            </a:lvl6pPr>
            <a:lvl7pPr marL="0" defTabSz="0">
              <a:defRPr sz="1800"/>
            </a:lvl7pPr>
            <a:lvl8pPr marL="0" defTabSz="0">
              <a:defRPr sz="1800"/>
            </a:lvl8pPr>
            <a:lvl9pPr marL="0" defTabSz="0">
              <a:defRPr sz="18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0" defTabSz="0">
              <a:defRPr sz="2800"/>
            </a:lvl1pPr>
            <a:lvl2pPr marL="0" defTabSz="0">
              <a:defRPr sz="2400"/>
            </a:lvl2pPr>
            <a:lvl3pPr marL="0" defTabSz="0">
              <a:defRPr sz="2000"/>
            </a:lvl3pPr>
            <a:lvl4pPr marL="0" defTabSz="0">
              <a:defRPr sz="1800"/>
            </a:lvl4pPr>
            <a:lvl5pPr marL="0" defTabSz="0">
              <a:defRPr sz="1800"/>
            </a:lvl5pPr>
            <a:lvl6pPr marL="0" defTabSz="0">
              <a:defRPr sz="1800"/>
            </a:lvl6pPr>
            <a:lvl7pPr marL="0" defTabSz="0">
              <a:defRPr sz="1800"/>
            </a:lvl7pPr>
            <a:lvl8pPr marL="0" defTabSz="0">
              <a:defRPr sz="1800"/>
            </a:lvl8pPr>
            <a:lvl9pPr marL="0" defTabSz="0">
              <a:defRPr sz="18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>
            <a:lvl1pPr marL="0" defTabSz="0">
              <a:defRPr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0" defTabSz="0">
              <a:defRPr sz="2400"/>
            </a:lvl1pPr>
            <a:lvl2pPr marL="0" defTabSz="0">
              <a:defRPr sz="2000"/>
            </a:lvl2pPr>
            <a:lvl3pPr marL="0" defTabSz="0">
              <a:defRPr sz="1800"/>
            </a:lvl3pPr>
            <a:lvl4pPr marL="0" defTabSz="0">
              <a:defRPr sz="1600"/>
            </a:lvl4pPr>
            <a:lvl5pPr marL="0" defTabSz="0">
              <a:defRPr sz="1600"/>
            </a:lvl5pPr>
            <a:lvl6pPr marL="0" defTabSz="0">
              <a:defRPr sz="1600"/>
            </a:lvl6pPr>
            <a:lvl7pPr marL="0" defTabSz="0">
              <a:defRPr sz="1600"/>
            </a:lvl7pPr>
            <a:lvl8pPr marL="0" defTabSz="0">
              <a:defRPr sz="1600"/>
            </a:lvl8pPr>
            <a:lvl9pPr marL="0" defTabSz="0">
              <a:defRPr sz="16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0" defTabSz="0">
              <a:defRPr sz="2400"/>
            </a:lvl1pPr>
            <a:lvl2pPr marL="0" defTabSz="0">
              <a:defRPr sz="2000"/>
            </a:lvl2pPr>
            <a:lvl3pPr marL="0" defTabSz="0">
              <a:defRPr sz="1800"/>
            </a:lvl3pPr>
            <a:lvl4pPr marL="0" defTabSz="0">
              <a:defRPr sz="1600"/>
            </a:lvl4pPr>
            <a:lvl5pPr marL="0" defTabSz="0">
              <a:defRPr sz="1600"/>
            </a:lvl5pPr>
            <a:lvl6pPr marL="0" defTabSz="0">
              <a:defRPr sz="1600"/>
            </a:lvl6pPr>
            <a:lvl7pPr marL="0" defTabSz="0">
              <a:defRPr sz="1600"/>
            </a:lvl7pPr>
            <a:lvl8pPr marL="0" defTabSz="0">
              <a:defRPr sz="1600"/>
            </a:lvl8pPr>
            <a:lvl9pPr marL="0" defTabSz="0">
              <a:defRPr sz="16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 idx="0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type="pic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marL="0" defTabSz="0">
              <a:defRPr sz="3200"/>
            </a:lvl1pPr>
            <a:lvl2pPr marL="0" defTabSz="0">
              <a:defRPr sz="2800"/>
            </a:lvl2pPr>
            <a:lvl3pPr marL="0" defTabSz="0">
              <a:defRPr sz="2400"/>
            </a:lvl3pPr>
            <a:lvl4pPr marL="0" defTabSz="0">
              <a:defRPr sz="2000"/>
            </a:lvl4pPr>
            <a:lvl5pPr marL="0" defTabSz="0">
              <a:defRPr sz="2000"/>
            </a:lvl5pPr>
            <a:lvl6pPr marL="0" defTabSz="0">
              <a:defRPr sz="2000"/>
            </a:lvl6pPr>
            <a:lvl7pPr marL="0" defTabSz="0">
              <a:defRPr sz="2000"/>
            </a:lvl7pPr>
            <a:lvl8pPr marL="0" defTabSz="0">
              <a:defRPr sz="2000"/>
            </a:lvl8pPr>
            <a:lvl9pPr marL="0" defTabSz="0">
              <a:defRPr sz="20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 idx="0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1"/>
          <p:cNvSpPr>
            <a:spLocks noGrp="1"/>
          </p:cNvSpPr>
          <p:nvPr>
            <p:ph type="title" orient="vert" idx="0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 TargetMode="Internal"></Relationship><Relationship Id="rId2" Type="http://schemas.openxmlformats.org/officeDocument/2006/relationships/slideLayout" Target="../slideLayouts/slideLayout2.xml" TargetMode="Internal"></Relationship><Relationship Id="rId3" Type="http://schemas.openxmlformats.org/officeDocument/2006/relationships/slideLayout" Target="../slideLayouts/slideLayout3.xml" TargetMode="Internal"></Relationship><Relationship Id="rId4" Type="http://schemas.openxmlformats.org/officeDocument/2006/relationships/slideLayout" Target="../slideLayouts/slideLayout4.xml" TargetMode="Internal"></Relationship><Relationship Id="rId5" Type="http://schemas.openxmlformats.org/officeDocument/2006/relationships/slideLayout" Target="../slideLayouts/slideLayout5.xml" TargetMode="Internal"></Relationship><Relationship Id="rId6" Type="http://schemas.openxmlformats.org/officeDocument/2006/relationships/slideLayout" Target="../slideLayouts/slideLayout6.xml" TargetMode="Internal"></Relationship><Relationship Id="rId7" Type="http://schemas.openxmlformats.org/officeDocument/2006/relationships/slideLayout" Target="../slideLayouts/slideLayout7.xml" TargetMode="Internal"></Relationship><Relationship Id="rId8" Type="http://schemas.openxmlformats.org/officeDocument/2006/relationships/slideLayout" Target="../slideLayouts/slideLayout8.xml" TargetMode="Internal"></Relationship><Relationship Id="rId9" Type="http://schemas.openxmlformats.org/officeDocument/2006/relationships/slideLayout" Target="../slideLayouts/slideLayout9.xml" TargetMode="Internal"></Relationship><Relationship Id="rId10" Type="http://schemas.openxmlformats.org/officeDocument/2006/relationships/slideLayout" Target="../slideLayouts/slideLayout10.xml" TargetMode="Internal"></Relationship><Relationship Id="rId11" Type="http://schemas.openxmlformats.org/officeDocument/2006/relationships/slideLayout" Target="../slideLayouts/slideLayout11.xml" TargetMode="Internal"></Relationship><Relationship Id="rId12" Type="http://schemas.openxmlformats.org/officeDocument/2006/relationships/theme" Target="../theme/theme1.xml" TargetMode="Interna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fld id="{5C1A2B81-1DA3-497E-83CD-70D401AD2C06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0000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9CD56DC7-0AF8-4C3E-9120-C82FF52A6C0B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marL="0" indent="0" defTabSz="914400">
        <a:buNone/>
        <a:defRPr lang="ko-KR" smtClean="0" sz="4400" baseline="0">
          <a:solidFill>
            <a:srgbClr val="000000"/>
          </a:solidFill>
          <a:latin typeface="SimSun"/>
          <a:ea typeface="SimSun"/>
        </a:defRPr>
      </a:lvl1pPr>
    </p:titleStyle>
    <p:bodyStyle>
      <a:lvl1pPr algn="l" marL="342900" indent="-342900" defTabSz="914400">
        <a:spcBef>
          <a:spcPct val="20000"/>
        </a:spcBef>
        <a:buFont typeface="SimSun"/>
        <a:buChar char="●"/>
        <a:defRPr lang="ko-KR" smtClean="0" sz="3200" baseline="0">
          <a:solidFill>
            <a:srgbClr val="000000"/>
          </a:solidFill>
          <a:latin typeface="SimSun"/>
          <a:ea typeface="SimSun"/>
        </a:defRPr>
      </a:lvl1pPr>
      <a:lvl2pPr lvl="1" marL="742950" indent="-285750" defTabSz="914400">
        <a:buChar char="-"/>
        <a:defRPr lang="ko-KR" smtClean="0" sz="2800"/>
      </a:lvl2pPr>
      <a:lvl3pPr lvl="2" marL="1143000" indent="-228600" defTabSz="914400">
        <a:buChar char="●"/>
        <a:defRPr lang="ko-KR" smtClean="0" sz="2400"/>
      </a:lvl3pPr>
      <a:lvl4pPr lvl="3" marL="1600200" indent="-228600" defTabSz="914400">
        <a:buChar char="-"/>
        <a:defRPr lang="ko-KR" smtClean="0" sz="2000"/>
      </a:lvl4pPr>
      <a:lvl5pPr lvl="4" marL="2057400" indent="-228600" defTabSz="914400">
        <a:buChar char="»"/>
        <a:defRPr lang="ko-KR" smtClean="0"/>
      </a:lvl5pPr>
    </p:bodyStyle>
    <p:otherStyle>
      <a:lvl1pPr algn="l" marL="0" indent="0" defTabSz="914400">
        <a:buNone/>
        <a:defRPr lang="ko-KR" smtClean="0" sz="1800" baseline="0">
          <a:solidFill>
            <a:srgbClr val="000000"/>
          </a:solidFill>
          <a:latin typeface="SimSun"/>
          <a:ea typeface="SimSun"/>
        </a:defRPr>
      </a:lvl1pPr>
      <a:lvl2pPr lvl="1" marL="457200" indent="0" defTabSz="914400">
        <a:defRPr lang="ko-KR" smtClean="0"/>
      </a:lvl2pPr>
      <a:lvl3pPr lvl="2" marL="914400" indent="0" defTabSz="914400">
        <a:defRPr lang="ko-KR" smtClean="0"/>
      </a:lvl3pPr>
      <a:lvl4pPr lvl="3" marL="1371600" indent="0" defTabSz="914400">
        <a:defRPr lang="ko-KR" smtClean="0"/>
      </a:lvl4pPr>
      <a:lvl5pPr lvl="4" marL="1828800" indent="0" defTabSz="914400">
        <a:defRPr lang="ko-KR" smtClean="0"/>
      </a:lvl5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.jpeg" TargetMode="Interna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.jpeg" TargetMode="Interna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.jpeg" TargetMode="Interna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.jpeg" TargetMode="Interna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.jpeg" TargetMode="Interna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.jpeg" TargetMode="Interna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.jpeg" TargetMode="Interna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.jpeg" TargetMode="Interna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.jpeg" TargetMode="Internal"></Relationship><Relationship Id="rId3" Type="http://schemas.openxmlformats.org/officeDocument/2006/relationships/image" Target="../media/fImage10.jpeg" TargetMode="Interna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.jpeg" TargetMode="Interna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.jpeg" TargetMode="Interna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.jpeg" TargetMode="Internal"></Relationship><Relationship Id="rId3" Type="http://schemas.openxmlformats.org/officeDocument/2006/relationships/image" Target="../media/fImage14.jpeg" TargetMode="Internal"></Relationship><Relationship Id="rId4" Type="http://schemas.openxmlformats.org/officeDocument/2006/relationships/image" Target="../media/fImage15.jpeg" TargetMode="Interna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.jpeg" TargetMode="Interna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.jpeg" TargetMode="Interna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.jpeg" TargetMode="Internal"></Relationship><Relationship Id="rId3" Type="http://schemas.openxmlformats.org/officeDocument/2006/relationships/image" Target="../media/fImage19.jpeg" TargetMode="Interna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.jpeg" TargetMode="Internal"></Relationship><Relationship Id="rId3" Type="http://schemas.openxmlformats.org/officeDocument/2006/relationships/image" Target="../media/fImage21.jpeg" TargetMode="Internal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.jpeg" TargetMode="Internal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.jpeg" TargetMode="Internal"></Relationship><Relationship Id="rId3" Type="http://schemas.openxmlformats.org/officeDocument/2006/relationships/image" Target="../media/fImage24.jpeg" TargetMode="Internal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5.jpeg" TargetMode="Internal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6.jpeg" TargetMode="Internal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7.jpeg" TargetMode="Internal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8.jpeg" TargetMode="Internal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9.jpeg" TargetMode="Internal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0.jpeg" TargetMode="Interna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.jpeg" TargetMode="Internal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2.jpeg" TargetMode="Interna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3.jpeg" TargetMode="Internal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4.jpeg" TargetMode="Internal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5.jpeg" TargetMode="Internal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6.jpeg" TargetMode="Internal"></Relationship></Relationships>
</file>

<file path=ppt/slides/_rels/slide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7.jpeg" TargetMode="Internal"></Relationship></Relationships>
</file>

<file path=ppt/slides/_rels/slide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8.jpeg" TargetMode="Internal"></Relationship></Relationships>
</file>

<file path=ppt/slides/_rels/slide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9.jpeg" TargetMode="Internal"></Relationship></Relationships>
</file>

<file path=ppt/slides/_rels/slide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0.jpeg" TargetMode="Internal"></Relationship></Relationships>
</file>

<file path=ppt/slides/_rels/slide3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1.jpeg" TargetMode="Internal"></Relationship><Relationship Id="rId3" Type="http://schemas.openxmlformats.org/officeDocument/2006/relationships/image" Target="../media/fImage42.jpeg" TargetMode="Internal"></Relationship><Relationship Id="rId4" Type="http://schemas.openxmlformats.org/officeDocument/2006/relationships/image" Target="../media/fImage43.jpeg" TargetMode="Internal"></Relationship><Relationship Id="rId5" Type="http://schemas.openxmlformats.org/officeDocument/2006/relationships/image" Target="../media/fImage44.jpeg" TargetMode="Internal"></Relationship><Relationship Id="rId6" Type="http://schemas.openxmlformats.org/officeDocument/2006/relationships/image" Target="../media/fImage45.jpeg" TargetMode="Internal"></Relationship></Relationships>
</file>

<file path=ppt/slides/_rels/slide3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6.jpeg" TargetMode="Internal"></Relationship></Relationships>
</file>

<file path=ppt/slides/_rels/slide3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7.jpeg" TargetMode="Internal"></Relationship></Relationships>
</file>

<file path=ppt/slides/_rels/slide3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8.jpeg" TargetMode="Internal"></Relationship></Relationships>
</file>

<file path=ppt/slides/_rels/slide3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9.jpeg" TargetMode="Internal"></Relationship></Relationships>
</file>

<file path=ppt/slides/_rels/slide4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0.jpeg" TargetMode="Internal"></Relationship></Relationships>
</file>

<file path=ppt/slides/_rels/slide4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1.jpeg" TargetMode="Internal"></Relationship></Relationships>
</file>

<file path=ppt/slides/_rels/slide4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2.jpeg" TargetMode="Internal"></Relationship><Relationship Id="rId3" Type="http://schemas.openxmlformats.org/officeDocument/2006/relationships/image" Target="../media/fImage53.jpeg" TargetMode="Internal"></Relationship></Relationships>
</file>

<file path=ppt/slides/_rels/slide4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4.jpeg" TargetMode="Internal"></Relationship></Relationships>
</file>

<file path=ppt/slides/_rels/slide4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5.jpeg" TargetMode="Internal"></Relationship></Relationships>
</file>

<file path=ppt/slides/_rels/slide4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6.jpeg" TargetMode="Internal"></Relationship><Relationship Id="rId3" Type="http://schemas.openxmlformats.org/officeDocument/2006/relationships/image" Target="../media/fImage57.jpeg" TargetMode="Internal"></Relationship></Relationships>
</file>

<file path=ppt/slides/_rels/slide4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8.jpeg" TargetMode="Internal"></Relationship><Relationship Id="rId3" Type="http://schemas.openxmlformats.org/officeDocument/2006/relationships/image" Target="../media/fImage59.jpeg" TargetMode="Internal"></Relationship></Relationships>
</file>

<file path=ppt/slides/_rels/slide4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0.jpeg" TargetMode="Internal"></Relationship><Relationship Id="rId3" Type="http://schemas.openxmlformats.org/officeDocument/2006/relationships/image" Target="../media/fImage61.jpeg" TargetMode="Internal"></Relationship><Relationship Id="rId4" Type="http://schemas.openxmlformats.org/officeDocument/2006/relationships/image" Target="../media/fImage62.jpeg" TargetMode="Internal"></Relationship><Relationship Id="rId5" Type="http://schemas.openxmlformats.org/officeDocument/2006/relationships/image" Target="../media/fImage63.jpeg" TargetMode="Internal"></Relationship></Relationships>
</file>

<file path=ppt/slides/_rels/slide4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4.jpeg" TargetMode="Internal"></Relationship><Relationship Id="rId3" Type="http://schemas.openxmlformats.org/officeDocument/2006/relationships/image" Target="../media/fImage65.jpeg" TargetMode="Internal"></Relationship></Relationships>
</file>

<file path=ppt/slides/_rels/slide4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6.jpeg" TargetMode="Internal"></Relationship></Relationships>
</file>

<file path=ppt/slides/_rels/slide5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7.jpeg" TargetMode="Internal"></Relationship></Relationships>
</file>

<file path=ppt/slides/_rels/slide5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8.jpeg" TargetMode="Internal"></Relationship></Relationships>
</file>

<file path=ppt/slides/_rels/slide5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9.jpeg" TargetMode="Internal"></Relationship></Relationships>
</file>

<file path=ppt/slides/_rels/slide5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0.jpeg" TargetMode="Internal"></Relationship></Relationships>
</file>

<file path=ppt/slides/_rels/slide5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1.jpeg" TargetMode="Internal"></Relationship></Relationships>
</file>

<file path=ppt/slides/_rels/slide5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2.jpeg" TargetMode="Internal"></Relationship></Relationships>
</file>

<file path=ppt/slides/_rels/slide5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3.jpeg" TargetMode="Internal"></Relationship></Relationships>
</file>

<file path=ppt/slides/_rels/slide5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4.jpeg" TargetMode="Internal"></Relationship></Relationships>
</file>

<file path=ppt/slides/_rels/slide5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5.jpeg" TargetMode="Internal"></Relationship></Relationships>
</file>

<file path=ppt/slides/_rels/slide5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6.jpeg" TargetMode="Internal"></Relationship></Relationships>
</file>

<file path=ppt/slides/_rels/slide6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7.jpeg" TargetMode="Internal"></Relationship></Relationships>
</file>

<file path=ppt/slides/_rels/slide6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8.jpeg" TargetMode="Internal"></Relationship></Relationships>
</file>

<file path=ppt/slides/_rels/slide6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9.jpeg" TargetMode="Internal"></Relationship></Relationships>
</file>

<file path=ppt/slides/_rels/slide6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0.jpeg" TargetMode="Internal"></Relationship><Relationship Id="rId3" Type="http://schemas.openxmlformats.org/officeDocument/2006/relationships/image" Target="../media/fImage81.jpeg" TargetMode="Internal"></Relationship></Relationships>
</file>

<file path=ppt/slides/_rels/slide6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2.jpeg" TargetMode="Internal"></Relationship></Relationships>
</file>

<file path=ppt/slides/_rels/slide6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3.jpeg" TargetMode="Internal"></Relationship></Relationships>
</file>

<file path=ppt/slides/_rels/slide6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4.jpeg" TargetMode="Internal"></Relationship></Relationships>
</file>

<file path=ppt/slides/_rels/slide6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5.jpeg" TargetMode="Internal"></Relationship></Relationships>
</file>

<file path=ppt/slides/_rels/slide6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6.jpeg" TargetMode="Internal"></Relationship></Relationships>
</file>

<file path=ppt/slides/_rels/slide6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7.jpeg" TargetMode="Internal"></Relationship></Relationships>
</file>

<file path=ppt/slides/_rels/slide7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8.jpeg" TargetMode="Internal"></Relationship><Relationship Id="rId3" Type="http://schemas.openxmlformats.org/officeDocument/2006/relationships/image" Target="../media/fImage89.jpeg" TargetMode="Internal"></Relationship><Relationship Id="rId4" Type="http://schemas.openxmlformats.org/officeDocument/2006/relationships/image" Target="../media/fImage90.jpeg" TargetMode="Internal"></Relationship></Relationships>
</file>

<file path=ppt/slides/_rels/slide7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1.jpeg" TargetMode="Internal"></Relationship><Relationship Id="rId3" Type="http://schemas.openxmlformats.org/officeDocument/2006/relationships/image" Target="../media/fImage92.jpeg" TargetMode="Internal"></Relationship><Relationship Id="rId4" Type="http://schemas.openxmlformats.org/officeDocument/2006/relationships/image" Target="../media/fImage93.jpeg" TargetMode="Internal"></Relationship></Relationships>
</file>

<file path=ppt/slides/_rels/slide7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4.jpeg" TargetMode="Internal"></Relationship><Relationship Id="rId3" Type="http://schemas.openxmlformats.org/officeDocument/2006/relationships/image" Target="../media/fImage95.jpeg" TargetMode="Internal"></Relationship></Relationships>
</file>

<file path=ppt/slides/_rels/slide7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6.jpeg" TargetMode="Internal"></Relationship></Relationships>
</file>

<file path=ppt/slides/_rels/slide7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7.jpeg" TargetMode="Internal"></Relationship></Relationships>
</file>

<file path=ppt/slides/_rels/slide7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8.jpeg" TargetMode="Internal"></Relationship></Relationships>
</file>

<file path=ppt/slides/_rels/slide7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9.jpeg" TargetMode="Internal"></Relationship></Relationships>
</file>

<file path=ppt/slides/_rels/slide7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0.jpeg" TargetMode="Internal"></Relationship></Relationships>
</file>

<file path=ppt/slides/_rels/slide7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1.jpeg" TargetMode="Internal"></Relationship></Relationships>
</file>

<file path=ppt/slides/_rels/slide7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2.jpeg" TargetMode="Internal"></Relationship></Relationships>
</file>

<file path=ppt/slides/_rels/slide8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3.jpeg" TargetMode="Internal"></Relationship></Relationships>
</file>

<file path=ppt/slides/_rels/slide8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4.jpeg" TargetMode="Internal"></Relationship></Relationships>
</file>

<file path=ppt/slides/_rels/slide8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5.jpeg" TargetMode="Internal"></Relationship></Relationships>
</file>

<file path=ppt/slides/_rels/slide8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6.jpeg" TargetMode="Internal"></Relationship><Relationship Id="rId3" Type="http://schemas.openxmlformats.org/officeDocument/2006/relationships/image" Target="../media/fImage107.jpeg" TargetMode="Internal"></Relationship><Relationship Id="rId4" Type="http://schemas.openxmlformats.org/officeDocument/2006/relationships/image" Target="../media/fImage108.jpeg" TargetMode="Internal"></Relationship></Relationships>
</file>

<file path=ppt/slides/_rels/slide8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9.jpeg" TargetMode="Internal"></Relationship></Relationships>
</file>

<file path=ppt/slides/_rels/slide8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0.jpeg" TargetMode="Internal"></Relationship></Relationships>
</file>

<file path=ppt/slides/_rels/slide8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1.jpeg" TargetMode="Internal"></Relationship></Relationships>
</file>

<file path=ppt/slides/_rels/slide8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2.jpeg" TargetMode="Internal"></Relationship></Relationships>
</file>

<file path=ppt/slides/_rels/slide8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3.jpeg" TargetMode="Internal"></Relationship></Relationships>
</file>

<file path=ppt/slides/_rels/slide8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4.jpeg" TargetMode="Internal"></Relationship></Relationships>
</file>

<file path=ppt/slides/_rels/slide9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5.jpeg" TargetMode="Internal"></Relationship></Relationships>
</file>

<file path=ppt/slides/_rels/slide9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6.jpeg" TargetMode="Internal"></Relationship></Relationships>
</file>

<file path=ppt/slides/_rels/slide9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7.jpeg" TargetMode="Internal"></Relationship></Relationships>
</file>

<file path=ppt/slides/_rels/slide9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8.jpeg" TargetMode="Internal"></Relationship></Relationships>
</file>

<file path=ppt/slides/_rels/slide9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9.jpeg" TargetMode="Internal"></Relationship></Relationships>
</file>

<file path=ppt/slides/_rels/slide9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0.jpeg" TargetMode="Internal"></Relationship></Relationships>
</file>

<file path=ppt/slides/_rels/slide9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1.jpeg" TargetMode="Internal"></Relationship></Relationships>
</file>

<file path=ppt/slides/_rels/slide9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2.jpeg" TargetMode="Internal"></Relationship></Relationships>
</file>

<file path=ppt/slides/_rels/slide9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3.jpeg" TargetMode="Internal"></Relationship></Relationships>
</file>

<file path=ppt/slides/_rels/slide9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4.jpeg" TargetMode="Internal"></Relationship></Relationships>
</file>

<file path=ppt/slides/_rels/slide10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5.jpeg" TargetMode="Internal"></Relationship></Relationships>
</file>

<file path=ppt/slides/_rels/slide10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6.jpeg" TargetMode="Internal"></Relationship></Relationships>
</file>

<file path=ppt/slides/_rels/slide10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7.jpeg" TargetMode="Internal"></Relationship></Relationships>
</file>

<file path=ppt/slides/_rels/slide10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8.jpeg" TargetMode="Internal"></Relationship></Relationships>
</file>

<file path=ppt/slides/_rels/slide10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9.jpeg" TargetMode="Internal"></Relationship></Relationships>
</file>

<file path=ppt/slides/_rels/slide10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0.jpeg" TargetMode="Internal"></Relationship></Relationships>
</file>

<file path=ppt/slides/_rels/slide10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1.jpeg" TargetMode="Internal"></Relationship></Relationships>
</file>

<file path=ppt/slides/_rels/slide10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2.jpeg" TargetMode="Internal"></Relationship></Relationships>
</file>

<file path=ppt/slides/_rels/slide10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3.jpeg" TargetMode="Internal"></Relationship></Relationships>
</file>

<file path=ppt/slides/_rels/slide10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4.jpeg" TargetMode="Internal"></Relationship></Relationships>
</file>

<file path=ppt/slides/_rels/slide1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5.jpeg" TargetMode="Internal"></Relationship></Relationships>
</file>

<file path=ppt/slides/_rels/slide1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6.jpeg" TargetMode="Internal"></Relationship></Relationships>
</file>

<file path=ppt/slides/_rels/slide1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7.jpeg" TargetMode="Internal"></Relationship></Relationships>
</file>

<file path=ppt/slides/_rels/slide1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8.jpeg" TargetMode="Internal"></Relationship></Relationships>
</file>

<file path=ppt/slides/_rels/slide1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9.jpeg" TargetMode="Internal"></Relationship></Relationships>
</file>

<file path=ppt/slides/_rels/slide1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0.jpeg" TargetMode="Internal"></Relationship></Relationships>
</file>

<file path=ppt/slides/_rels/slide1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1.jpeg" TargetMode="Internal"></Relationship></Relationships>
</file>

<file path=ppt/slides/_rels/slide1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2.jpeg" TargetMode="Internal"></Relationship></Relationships>
</file>

<file path=ppt/slides/_rels/slide1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3.jpeg" TargetMode="Internal"></Relationship></Relationships>
</file>

<file path=ppt/slides/_rels/slide1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4.jpeg" TargetMode="Internal"></Relationship></Relationships>
</file>

<file path=ppt/slides/_rels/slide1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5.jpeg" TargetMode="Internal"></Relationship></Relationships>
</file>

<file path=ppt/slides/_rels/slide1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6.jpeg" TargetMode="Internal"></Relationship></Relationships>
</file>

<file path=ppt/slides/_rels/slide1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7.jpeg" TargetMode="Internal"></Relationship></Relationships>
</file>

<file path=ppt/slides/_rels/slide1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8.jpeg" TargetMode="Internal"></Relationship></Relationships>
</file>

<file path=ppt/slides/_rels/slide1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9.jpeg" TargetMode="Internal"></Relationship></Relationships>
</file>

<file path=ppt/slides/_rels/slide1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0.jpeg" TargetMode="Internal"></Relationship></Relationships>
</file>

<file path=ppt/slides/_rels/slide1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1.jpeg" TargetMode="Internal"></Relationship></Relationships>
</file>

<file path=ppt/slides/_rels/slide1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2.jpeg" TargetMode="Internal"></Relationship></Relationships>
</file>

<file path=ppt/slides/_rels/slide1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3.jpeg" TargetMode="Internal"></Relationship></Relationships>
</file>

<file path=ppt/slides/_rels/slide1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4.jpeg" TargetMode="Internal"></Relationship></Relationships>
</file>

<file path=ppt/slides/_rels/slide1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5.jpeg" TargetMode="Internal"></Relationship></Relationships>
</file>

<file path=ppt/slides/_rels/slide1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6.jpeg" TargetMode="Internal"></Relationship></Relationships>
</file>

<file path=ppt/slides/_rels/slide1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7.jpeg" TargetMode="Internal"></Relationship></Relationships>
</file>

<file path=ppt/slides/_rels/slide1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8.jpeg" TargetMode="Internal"></Relationship></Relationships>
</file>

<file path=ppt/slides/_rels/slide1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9.jpeg" TargetMode="Internal"></Relationship></Relationships>
</file>

<file path=ppt/slides/_rels/slide13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0.jpeg" TargetMode="Internal"></Relationship></Relationships>
</file>

<file path=ppt/slides/_rels/slide13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1.jpeg" TargetMode="Internal"></Relationship></Relationships>
</file>

<file path=ppt/slides/_rels/slide13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2.jpeg" TargetMode="Internal"></Relationship></Relationships>
</file>

<file path=ppt/slides/_rels/slide13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3.jpeg" TargetMode="Internal"></Relationship></Relationships>
</file>

<file path=ppt/slides/_rels/slide13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4.jpeg" TargetMode="Internal"></Relationship></Relationships>
</file>

<file path=ppt/slides/_rels/slide14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5.jpeg" TargetMode="Internal"></Relationship></Relationships>
</file>

<file path=ppt/slides/_rels/slide14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6.jpeg" TargetMode="Internal"></Relationship></Relationships>
</file>

<file path=ppt/slides/_rels/slide14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7.jpeg" TargetMode="Internal"></Relationship></Relationships>
</file>

<file path=ppt/slides/_rels/slide14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8.jpeg" TargetMode="Internal"></Relationship></Relationships>
</file>

<file path=ppt/slides/_rels/slide14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9.jpeg" TargetMode="Internal"></Relationship></Relationships>
</file>

<file path=ppt/slides/_rels/slide14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0.jpeg" TargetMode="Internal"></Relationship></Relationships>
</file>

<file path=ppt/slides/_rels/slide14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1.jpeg" TargetMode="Internal"></Relationship></Relationships>
</file>

<file path=ppt/slides/_rels/slide14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2.jpeg" TargetMode="Internal"></Relationship></Relationships>
</file>

<file path=ppt/slides/_rels/slide14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3.jpeg" TargetMode="Internal"></Relationship></Relationships>
</file>

<file path=ppt/slides/_rels/slide14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4.jpeg" TargetMode="Internal"></Relationship><Relationship Id="rId3" Type="http://schemas.openxmlformats.org/officeDocument/2006/relationships/image" Target="../media/fImage175.jpeg" TargetMode="Internal"></Relationship></Relationships>
</file>

<file path=ppt/slides/_rels/slide15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6.jpeg" TargetMode="Internal"></Relationship></Relationships>
</file>

<file path=ppt/slides/_rels/slide15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7.jpeg" TargetMode="Internal"></Relationship></Relationships>
</file>

<file path=ppt/slides/_rels/slide15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8.jpeg" TargetMode="Internal"></Relationship></Relationships>
</file>

<file path=ppt/slides/_rels/slide15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9.jpeg" TargetMode="Internal"></Relationship></Relationships>
</file>

<file path=ppt/slides/_rels/slide15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0.jpeg" TargetMode="Internal"></Relationship></Relationships>
</file>

<file path=ppt/slides/_rels/slide15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1.jpeg" TargetMode="Internal"></Relationship></Relationships>
</file>

<file path=ppt/slides/_rels/slide15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2.jpeg" TargetMode="Internal"></Relationship></Relationships>
</file>

<file path=ppt/slides/_rels/slide15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3.jpeg" TargetMode="Internal"></Relationship></Relationships>
</file>

<file path=ppt/slides/_rels/slide15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4.jpeg" TargetMode="Internal"></Relationship></Relationships>
</file>

<file path=ppt/slides/_rels/slide15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5.jpeg" TargetMode="Internal"></Relationship></Relationships>
</file>

<file path=ppt/slides/_rels/slide16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6.jpeg" TargetMode="Interna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01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MASS COMMUNICATION – AN OVERVIEW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– sending of a message from one person to another, in simplest terms - has been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of the oldest characteristics of human life. Even when formal languages were not available, people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able to make each other understand their feelings and gestures to accomplish routine tasks.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is no trace available as when the languages came into being, the communication among people,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however, got on faster track than before with the availability of formal languages in the form of symbols,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gestures, body expressions and words. Since those times the communication has been shaping into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forms and is supposed to be the key element in creation of different subjects and passing on experiences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generation onto the next.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Starting from sending and receiving information amongst few individuals to high number of people,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is now well classified into different categories.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main focus here is the mass communication, it is pertinent to understand some basic elements,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fields and concepts of elementary communication before entering the very complex and widely exploited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world of mass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Basic Concepts of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Well, the world communication has its origin in the Latin word COMMUNIS which stands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common or to create commonness with the people around you. This is possible when you share your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feelings and ideas with others.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According to commonly used definition, communication is transfer of message from sender to receiver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through a channel. It is understood that speech or utterances in the form of voice, were the initial stages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which gradually developed into a defined form of language when all the people of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community got to attach specific meanings to the voices and gestures.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might have taken centuries to mankind to enter the stage of writing its messages on stones etc. But once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writing was developed as one mean of communication there had been attempts to find some material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write on, which was more sustainable and easy to take along in travel. Using bark of certain trees for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purpose, the endeavor led to invention of paper, thus revolutionizing the early days’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Writing on paper by hand must have brought joy to people for sending their messages across to many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others, after that, the invention of printing overwhelmed efforts to give new dimensions to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further led to setting up a whole new printing industry world over followed by modern means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communication, which will be discussed in detail in this course.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Why need communication?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Survival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foremost reason to communicate to others for the human beings in particular is their own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survival. There is hardly any sense in believing that a person can all alone live a life by fulfilling its daily life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needs. The fact is that every next moment a person is dependent on others to survive. Hence it is inevitable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all of us to bank on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Co-operation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is a very genuine instinct in all the living creatures to cooperate with each other to keep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cycle of life running. Humans need this more cautiously as to keep their hard felt sense of superiority.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Relationships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Feeling of keeping a range of relationship from an individual to family and tribe was strong from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early days of human civilization. It would have been extremely difficult to promote a life style without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acknowledging the relationships among people living together for sometime. Communication was essential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identify relations among people to accomplish different tasks.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Persuasion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proved handy in the course of persuasion and influence others to keep the human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civilization grow. The task is done even today, though, with different techniques and in a rather complex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world of communication.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Power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Better communication helped people and tribes to command power over others. This phenomenon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more evident in the fields of conflict and to bring the enemy down. To muster support by using better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skills has always been the hallmark of human interactivity.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Social needs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Social needs grow with almost the same pace, human culture and civilization nurture. History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stands as testimony to the fact that the circle of human social needs expands as people try to live together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organized manner. Communication is the common most thing which knit societies to fulfill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desire to rise jointly.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Information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more advance world, as it is today, it is a piece of information – a piece of communication,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brings relief to human living in a score of ways. Information about roads, condition, may help you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change your traveling plan, for instance. A small bit of information may have a life long impression on your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future business.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Decision making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not the least, in present day affairs communication goes long way in helping us in decision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making. Not an individual alone, but families and nations, can draw certain conclusions with the help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available communication on certain matters which is likely to improve the overall living standards and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secure life for all of human beings.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Major Fields of Mass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General Information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main field of mass communication has been to inform people at large about things which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their immediate interest. This includes the vast area of news, views and current affairs. Apart of specific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nature of news etc. people are also informed about entertainment which may include sporting events, music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recreation. To educate masses is also part of mass communication by exploiting all the means at hand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address a distant and high concentration of individuals.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Public Relations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this area of mass communication has assumed new dimensions in the modern world,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keeping relations with various types of public has its traces from ancient history. This area has proved handy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organized and corporate sectors, which have a defined purpose to achieve by keeping relations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audience of their choice.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Publicity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Publicity, which is more known as advertising, is definitely an outcome of modern means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for it largely depends on the technology being exploited to address masses for purely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commercial purposes.  So enormous has been the impact of advertising through means of mass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that a huge advertising industry has come up offering tens of thousands of jobs of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nature to people across the world.  </a:t>
            </a:r>
            <a:endParaRPr lang="ko-KR" altLang="en-US" dirty="0" smtClean="0" sz="1097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02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EARLY MASS COMMUNICATION AND PRINTING TECHNOLOGY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 now understand that sending message to a large number of audience using technology is known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mass communication It is pertinent to see in some details the organs of this kind of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studying a few intriguing areas like the elements and forms of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Letters/ leaflets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very primitive form of mass communication is found in centuries old approach to write letters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were in the common interest of general public. These letters were written from the court of kings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sent to nobles and notables whose number may not be very high by today’s standards but at a time when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could not address more than a few dozen people, communication to a relatively larger audience-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too at some distance and the same text, may be considered as early attempts to approach the masses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through written words.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Books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writing letters to very many people on one subject, the next move was to write books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matters of social life, philosophies, religion, health and scientific advancements. The hand-written books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continued to rule the world for centuries by taking views of writers to hundreds and thousands of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across countries. For instance, the central church in ROME had employed hundreds of clerics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purpose of writing copies of bible for taking the message of Christianity to its followers. Almost the same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had been the practice by other religions to convey their teachings to the masses by hand-written copies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holy inscriptions. Many a museums in the world are proud to have some hand-written copies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religious or scientific works done centuries ago.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Printing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Major breakthrough in mass communication occurred when printing process was invented.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revolutionary invention makes an interesting study: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printing press is a mechanical device for printing many copies of a text paper. First invented in China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1041, the printing press as we know it today was invented in the West by a German goldsmith, Johann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Gutenberg in the 1440s. Dutch Laurens Janszoon Coster has also been credited with this invention.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Development of the Printing Press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original method of printing was block printing, pressing sheets of paper into individually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carved wooden blocks. It is believed that block printing originated in China, and the earliest known printed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text,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Diamond Sutra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(a Buddhist scripture), was printed in China in 868 A.D.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use of movable type in printing was invented in 1041 AD by Bi Sheng in China. Movable type did spur,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however, additional scholarly pursuits in China and facilitated more creative modes of printing.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Nevertheless, movable type was never extensively used in China until the European style printing press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probably unaware of the Chinese, Gutenberg refined the technique with the first widespread use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movable type, where the characters are separate parts that are inserted to make the text. Gutenberg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also credited with the first use of an oil-based ink, and using "rag" paper introduced into Europe 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China by way of Muslims, who had a paper mill in operation in Baghdad as early as 794. Before inventing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printing press in 1440, Gutenberg had worked as a goldsmith. Without a doubt, the skills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knowledge of metals that he learned as a craftsman were crucial to the later invention of the press.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claim that Gutenberg introduced or invented the printing press in Europe is not accepted by all.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candidate advanced is the Dutchman Laurens Janszoon Coster.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Impact of printing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we proceed to learn about other organs of mass communication, we may give little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attention to the printing as it almost revolutionized the communication in centuries to follow this invention.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Previously, books were copied by scribes who wrote them out by hand. Books were therefore a scarce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resource. While it might take someone a year to hand copy a Bible, with the Gutenberg press it was possible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create several hundred copies a year, with two or three people that could read, and a few people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support the effort. Each sheet still had to be fed manually, which limited the reproduction speed,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type had to be set manually for each page, which limited the number of different pages created per day.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Despite some resistance, Gutenberg's printing press spread rapidly across Europe. Within thirty years of its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invention in 1453, towns from Hungary to Spain and from Italy to Britain had functional printing presses.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has been theorized that this incredibly rapid expansion shows not only a higher level of industry (fueled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high-quality European paper mills that had been opening over the past century) than expected, but also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significantly higher level of literacy than has often been estimated.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printing press in a Muslim territory opened in Andalusia (Muslim Spain) in the 1480s. This printing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was run by a family of Jewish merchants who printed texts with the Hebrew script.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Effects of printing on culture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discovery and establishment of the printing of books with moveable type marks a paradigm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shift in the way information was transferred in Europe. The impact of printing is comparable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development of language, the invention of the alphabet, and the invention of the computer as far as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effects on the society are concerned.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Gutenberg's findings not only allowed a much broader audience to read Martin Luther's German translation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Bible, it also helped spread Luther's other writings, greatly accelerating the pace of Protestant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Reformation. They also led to the establishment of a community of scientists (previously scientists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mostly isolated) that could easily communicate their discoveries, bringing on the scientific revolution. Also,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early texts were printed in Latin, books were soon produced in common European vernacular,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leading to the decline of the Latin language.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Because of the printing press, authorship became more meaningful. It was suddenly important who had said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written what, and what the precise formulation and time of composition was. The printing process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ensured that the same information fell on the same pages, page numbering, tables of contents and indices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became common. The process of reading was also changed, gradually changing from oral readings to silent,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private reading. This gradually raised the literacy level as well, revolutionizing education.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can also be argued that printing changed the way Europeans thought. With the older illuminated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manuscripts, the emphasis was on the images and the beauty of the page. Early printed works emphasized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principally the text and the line of argument. In the sciences, the introduction of the printing press marked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move from the medieval language of metaphors to the adoption of the scientific method.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general, knowledge came closer to the hands of the people, since printed books could be sold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a fraction of the cost of illuminated manuscripts. There were also more copies of each book available, 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more people could discuss them. Within 50-60 years, the entire library of "classical" knowledge had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been printed on the new presses. The spread of works also led to the creation of copies by other parties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than the original author, leading to the formulation of copyright laws. Furthermore, as the books spread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into the hands of the people, Latin was gradually replaced by the national languages. This development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of the keys to the creation of modern nations. Effects of printing press on masses have been much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and will be discussed more elaborately after few lectures. </a:t>
            </a:r>
            <a:endParaRPr lang="ko-KR" altLang="en-US" dirty="0" smtClean="0" sz="1097"/>
          </a:p>
          <a:p>
            <a:pPr marL="0" indent="0" defTabSz="15240" algn="l">
              <a:lnSpc>
                <a:spcPts val="10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03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SEVEN CENTURIES OF MASS COMMUNICATION – FROM PRINTING TO COMPUTER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if printing process was an invention long been eagerly awaited to bolster communication at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level of masses, it opened doors for creation and discoveries of many valuable means in the area of mass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transaction of messages which, as the time proved, had far reaching impression on the growth of societies,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cultures, habits, disputes and organizations which could help people live in a world close to each other.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printing process was first proved helpful to long desire of authors to reach a high number of readers.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the books circulation increased in the next hundred years, which also included works on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scientific discoveries and sharing of newer physical ideas, it was the turn to publish things regularly. Since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people’s interest was enormous in buying and reading books, an idea to bring out a publication on regular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basis was never ruled out.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Newspapers/ magazines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took almost two hundred years that the concept of regular publication appeared in the form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newspapers. There are conflicting ideas as who brought out the first newspaper in the world and how long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had sustained but according to the World Association of Newspapers, the first titled English language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private newspaper, The Corrant, was first published in London in 1621.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English daily newspaper, the Daily Courant, was founded by Samuel Buckley on 11 March 1702.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1631 The Gazette, the first French newspaper was founded. In 1690, Public Occurrences in Boston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became the first newspaper published in America. In 1803, just 15 years after the first British penal colony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established, Australia's military government published the Sydney Gazette and the New South Wales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Advertiser, Australia's first newspapers.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1884 Otto Merganthaler invents the Linotype machine which casts type in full lines, using hot lead,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quantum leap in newspaper publishing, and ushering in the era of "hot lead." The systems remained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general production in the industry well into the 1980s, when computerized pagination became prominent.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printing process was assumed by hundreds of regular publications of newspapers and magazines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around the world and remained in frequent use for almost a hundred year.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1962 L.A. Times derived Linotype hot metal typesetters with perforated tape. The key was development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dictionary and a method to automate the hyphenation and justification of text in columns (tasks that took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up 40% of a manual operator's time). With the availability of other technologies and support like advanced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mechanics and electricity more experimentation were done in publishing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Since the 1980s, many newspapers have been printed with three-color process photography and graphics.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highlights the fact that the layout of the newspaper is of major importance in getting attention 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readers will see and enjoy large sections of the newspaper.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Circulation and Readership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United Nations' data from 1995 indicates that Japan is the country with most newspaper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readership. It has three daily papers with a circulation well above 4 million. Germany's Bild, with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circulation of 4.5 million, was the only other paper in that category.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USA Today has daily circulation of approximately 2 million, making it the most widely distributed paper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U.S.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Business side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Almost all newspapers make almost all their money from advertising. Publishers of commercial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strive for higher circulation so that advertising in their newspaper becomes more effective,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allowing the newspaper to attract more advertisers and charge more for the service. But some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sales also market demographics. Some newspapers might sacrifice higher circulation numbers in favor of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audience with a higher income.  Some newspapers provide some or all of their content on the Internet,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either at no cost or for a fee. In some cases free access is only available for a matter of days or weeks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readers must register and provide personal data. In other cases, extensive free archives are provided.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– radical change in mass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the world was enjoying the benefits of mass communication through print medium, scientists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had been working on some other miracle – reaching out masses through voice. Though in the middle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it sounded as talking-high, towards the end of the century things had started shaping as the idea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might be materialized. It actually did at the brink of 20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when Italian born Guglielmo Marconi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introduced to the world his marvel which today we all know as a radio – the device which brings voice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 from thousands of kilometers.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Marconi – transmits signals by radio waves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Irish-Italian inventor Guglielmo Marconi is commonly credited for doing that in 1895. But,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whether he was actually the first to send signals through the air is open to debate. Other countries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impressive evidence that some of their citizens transmitted radio signals before Marconi. Even so, if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 asked the question on some quiz show, you'll be safest with the name "Guglielmo Marconi.” Once 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proved that wireless transmissions (radio to you and me) could work, Marconi patented the invention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England and set up the Marconi Wireless Telegraph Company.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Brief Radio history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Once radio broadcasting was launched, people began to realize just how significant this new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medium could be. The first regular radio broadcast in the USA in 1920 brought presidential election returns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— in advance of the newspapers. People quickly took note of all the free music, information,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commentary that was suddenly available to anyone with a radio set.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But, something else was going on at the same time. Scores of people were building their own personal radio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stations, probably motivated in part by the ability to be widely heard by friends, neighbors, relatives,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 strangers. That created a major problem. Soon there were too many stations for the number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frequencies available to separate them on the radio dial.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thought the solution was simply to use more power to drown out the competition. So it got to be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power battle too. But soon regulations were enacted by countries where radio stations were set up by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their own. Now the states issued license to the willing public to run a radio station.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Broadcast Advertising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Then another element entered the picture — broadcast advertising. In 1922, a station in New York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ran a 10-minute talk on the merits of some co-op apartments in Jackson Heights, N.Y — and charged $50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their effort.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was deemed a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toll broadcast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— now better known as a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commercial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At that point it was discovered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 could actually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make money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by promoting products on radio — and, of course, things have been the same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since then.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countries had their own ideas about this new medium. In Great Britain this led to the establishment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BBC (British Broadcasting Corporation) in 1923. The BBC used public taxes on radio receivers,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rather than commercials, to pay for their broadcast system.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Later, the CBC (Canadian Broadcast System) was developed in Canada, patterned after the BBC.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problem in Canada was that a large percent of the population spoke French, which meant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programming systems in both English and French had to be developed. Although most counties of that era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also adopted government sponsored radio broadcasting, the BBC and CBC are among the few that were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able to insulate programming content from direct government influence. In other words, most countries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used radio to further the political aims of those in power. Today, a great many still do.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Government Regulation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advent of paid radio advertising in the United States, sponsors were rather insistent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having their commercials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heard.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	Since corporate money and profit were involved (which largely finance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politics), the government suddenly started to get quite interested in doing something about the problem. So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U.S. Congress passed the Radio Act of 1927, which created the Federal Radio Commission (FRC).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purpose was to organize the licensing of transmitters, including assigning radio station frequencies. In 1934,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FRC was reorganized into the agency that now controls U.S. broadcasting, the Federal Communications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Commission (FCC). The FCC's regulatory powers expanded to include telephone and telegraph —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years later, television.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Television – miracle in modern mass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was not much later that people heard radio as one top and fast means of communication,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scientists brought a device in the middle which along the voice could support images and events unfolded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front of the people as a real life occurrence.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Championed in 1927, the invention of TV took hardly ten years to assume a regular shape as one strong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source of mass communication. The 2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nd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World War towards the end of third decade of the last century,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however, halted progress on this most modern mean of communication, the end of war saw a rapid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advancement in telecommunication in which the transmission of the images ranked at the top. In most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countries the TV stations were set up, regulations enacted and sets were sold in high number by the end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forth decade of the century. Next decade saw colored TV sets and transmissions and use of remote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controls. Pakistan had its first TV station in Lahore in November 1964.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Computer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world had not yet fully exploited the TV as the strongest organ of mass communication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unending research and developments in the field of science and technology brought computers – internet,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 to say, for people who wanted to be beneficiaries of mass communication. Computers which were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introduced on limited scale in early 1960 for the purposes of communication and fast data processing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became in 1990s the major source of communication across the world. </a:t>
            </a:r>
            <a:endParaRPr lang="ko-KR" altLang="en-US" dirty="0" smtClean="0" sz="1097"/>
          </a:p>
          <a:p>
            <a:pPr marL="0" indent="0" defTabSz="15240" algn="l">
              <a:lnSpc>
                <a:spcPts val="3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04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ELEMENTS OF COMMUNICATION AND EARLY COMMUNICATION MODELS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Like all the complex objects, communication is also made up of certain basic things called elements.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building has its elements in brick, sand, cement, iron, wood, paints and sanitary fittings. A machine has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number of components which are all elements joined together to enable the machine to give desired results.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is a complex business and involves certain elements which join together to help a message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 across.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this chapter we will give a long sight to various elements which have been marked by experts and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provide the very basics of any piece of communication however simple it may be.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Elements of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Sender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and foremost is the person who sends a message. Known as sender in the jargons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communication, he or she is the chief initiator of any communication. In fact a communication may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take place if there is no sender. The sender may be singular and plural as well. It all depends on the nature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communication. If a teacher is delivering lecture, it constitute a case of sender as one individual. Sender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comprising many is the case when a group of people shout together, or more than one person sing a song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chorus.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Message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sender – the source of communication, decides to communicate he/she encodes the crux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feeling in words/gestures or any other form commonly understood. This encoded form is called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message. It may be a simple word or a very complex and technical integration of feelings by the source on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given subject.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Channel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 sooner a message is created by a sender, it enters in the channel. The channel is part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process which helps carry the message to its desired destination. In case of printed words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paper is the channel, in the matter of voice air may serve as a channel. In telephonic conversation the wire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sets make the channel. Some times the channel itself becomes part of message and sometime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is sent in a manner that a part of it serves as a channel.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Receiver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process of communication may not be complete if the message does not reach a person,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persons, it is designed for. Receiver in this process is the element which is target of the message and actually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receives it. The dimension of receiver is very wide – it may vary from an individual to an army of people,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nation or all nations. Again, it depends what the message is.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Interpreter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Receiving message in most case is half the process of communication done. In most cases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interpreter is required to understand – decode – the message so that the purpose of communication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served. Noise always occurs at this stage. Noise means part of meaning which is lost from the original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message. There is hardly a message which is decoded, or interpreted cent per cent.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Feedback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Sending and receiving of message is a simultaneous process in which the receiver continuously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sends back its approval or disapproval after having interpreted the message. This helps the sender to modify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discipline its message. This element in the communication process is referred as feedback. For instance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person is delivering speech, the voices, gestures and facial expressions – all part of feedback, would help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speaker to check its loudness, smiles, rhetoric, contents or time to speak. If there is no feedback, the original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may never shape accordingly which may distort the whole communication exercise.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Context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96695" y="4136390"/>
            <a:ext cx="5224145" cy="12128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Every message is delivered and received in a given context. Change in the background factors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denoted as context, may change the meanings altogether. Context itself comprises multiple factors each one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them becomes essential when it comes to interpretation of the original message.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Communication Model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experts have long been striving to arrange elements of communication into some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graphic arrangement so that all the complexities of communication may come in view in a glance. But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we try to examine them lets try to understand what a model is.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What is a Model?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somewhat arbitrary by their nature.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freeze an essentially dynamic interactive or transitive process into a static picture.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Shannon-Weaver’s Model of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The Shannon-Weaver’s model is typical of what are often referred to as transmission models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communication. Claude Shannon and Warren Weaver were two different entities that jointly produced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model known after their names.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Claude Shannon and Warren Weaver produced a general model of communication:  </a:t>
            </a:r>
            <a:endParaRPr lang="ko-KR" altLang="en-US" dirty="0" smtClean="0" sz="1097"/>
          </a:p>
          <a:p>
            <a:pPr marL="0" indent="0" defTabSz="15240" algn="l">
              <a:lnSpc>
                <a:spcPts val="1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model is now known after them as the Shannon-Weaver’s Model. Although they were principally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concerned with communication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technology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their model has become one which is frequently introduced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students of human communication early in their study.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Shannon-Weaver’s Model (1947) proposes that all communication processes must include following six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elements: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Source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Encoder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Message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Channel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Decoder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Receiver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six elements are shown graphically in the model. As Shannon was researching in the field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 theory, his model was initially very technology-oriented. The model was produced in 1947.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emphasis here is very much on the transmission and reception of information. 'Information'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understood rather differently from the way you and I would normally use the term, as well. This model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often referred to as an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'information model’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of communication.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Apart from its obvious technological bias, a drawback from our point of view is the model's obvious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linearity. It looks at communication as a one-way process. A further drawback with this kind of model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the message is seen as relatively unproblematic. It is fine for discussing the transformation of </a:t>
            </a:r>
            <a:endParaRPr lang="ko-KR" altLang="en-US" dirty="0" smtClean="0" sz="1097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endParaRPr lang="ko-KR" altLang="en-US" dirty="0" smtClean="0" sz="1200"/>
          </a:p>
        </p:txBody>
      </p:sp>
      <p:sp>
        <p:nvSpPr>
          <p:cNvPr id="19" name="Rect 3"/>
          <p:cNvSpPr>
            <a:spLocks noGrp="1" noChangeArrowheads="1"/>
          </p:cNvSpPr>
          <p:nvPr/>
        </p:nvSpPr>
        <p:spPr>
          <a:xfrm rot="0">
            <a:off x="1645920" y="2216150"/>
            <a:ext cx="5457190" cy="825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 model is a systematic representation of an object or event in idealized and abstract form. Models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Communication models are merely pictures; they’re even distorting pictures, because they stop or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Models are metaphors. They allow us to see one thing in terms of another.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'information' but when we try to apply the model to communication, problems arise with the assumption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meanings are somehow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contained within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 message.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Detailed analysis of the model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Source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human communication has some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source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information source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 Shannon's terminology), some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person or group of persons with a given purpose, a reason for engaging in communication. You'll also find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terms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transmitter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and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communicator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used.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Encoder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You, as the source, have to express your purpose in the form of a message. That message has to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formulated in some kind of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code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How do the source's purposes get translated into a code? This requires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encoder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The communication encoder is responsible for taking the ideas of the source and putting them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code, expressing the source's purpose in the form of a message.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person-to-person communication, the encoding process is performed by the motor skills of the source -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vocal mechanisms (lip and tongue movements, the vocal cords, the lungs, face muscles etc.), muscles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hand and so on. Some people's encoding systems are not as efficient as others'. So, for example, a disabled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person might not be able to control movement of their limbs and so find it difficult to encode the intended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non-verbal messages or they may communicate unintended messages.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A person who has suffered throat problem may have had their vocal cords removed. They can encode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messages verbally using an artificial aid, but much of the non-verbal messages most of us send via pitch,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intonation, volume and so on cannot be encoded.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Shannon was not particularly concerned with the communication of meanings. In fact, it is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	Wilbur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Schramm's model of 1954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which places greater emphasis on the processes of encoding and decoding.  We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will discuss threadbare Schramm’s model in next lecture with special emphasis on the provision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interpretation of a message for a logical understanding of what has been sent by the source originally.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Message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message of course is what communication is all about. Whatever is communicated is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Denis McQuail (1975) in his book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		Communication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writes that the simplest way of regarding human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is 'to consider it as the sending from one person to another of meaningful messages'.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Shannon-Weaver’s Model, in common with many others separates the message from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components of the process of communication. In reality, though, you can only reasonably examine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within the context of all the other interlinked elements. Whenever we are in contact with other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we and they are involved in sending and receiving messages. The crucial question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Studies is: to what extent does the message received correspond to the message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transmitted? That's where all the other factors in the communication process come into play.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Shannon-Weaver’s model and others like it tends to portray the message as a relatively uncomplicated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matter. Note that this is not a criticism of Shannon since meanings were simply not his concern: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Frequently the messages have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meaning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that is they refer to or are correlated according to some system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certain physical or conceptual entities. (These considerations are irrelevant to the engineering problem).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Channel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words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	channel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and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	medium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are often used interchangeably, if slightly inaccurately.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choice of the appropriate channel is a vitally important choice in communication. It's obvious that you don't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use the visual channel to communicate with the blind or the auditory channel with the deaf, but there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subtle considerations to be taken into account as well. 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Physical noise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Shannon is generally considered to have been primarily concerned with physical (or 'mechanical'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'engineering') noise in the channel, i.e. unexplained variation in a communication channel or random error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transmission of information. Everyday examples of physical noise are: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loud motorbike roaring down the road while you're trying to hold a conversation.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Your little brother standing in front of the TV set.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Mist on the inside of the car windscreen.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Smudges on a printed page.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'Snow' on a TV set.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might seem odd to use the word noise in this way. In this technical sense, 'noise' is not necessarily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audible. Thus a TV technician might speak of a 'noisy picture'. However, it is possible for a message to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distorted by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channel overload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Channel overload is not due to any noise source, but rather to the channel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capacity being exceeded. You may come across that at a party where you are holding a conversation amidst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lots of others going on around you or, perhaps, in a communication lesson where everyone has split into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small groups for discussion.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Shannon and Weaver were primarily involved with the investigation of technological communication.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model is perhaps more accurately referred to as a model of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information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theory (rather than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theory). Consequently, their main concern was with the kind of physical (or mechanical) noise discussed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above.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Transfer of a mismatch between the encoding and decoding devices to the study of human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you're looking at what is normally referred to as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semantic noise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That concept then leads us on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study of social class, cultural background, experience, attitudes, beliefs and a whole range of other factors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can introduce noise into communication.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Semantic noise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Semantic noise is not as easy to deal with as physical noise. It might not be an exaggeration to say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the very essence of the study of human communication is to find ways of avoiding semantic noise.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Semantic noise is difficult to define. It may be related to people's knowledge level, their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skills, their experience, and their prejudices and so on. It all depends on the commonality of experiences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 of the receiver to understand message from sender.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Decoder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notion of a decoder reminds us that it is quite possible for a person to have all the equipment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required to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receive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 messages you send (all five senses, any necessary technology and so on) and yet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unable to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decode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your messages.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Receiver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communication to occur there must be somebody at the other end of the channel. This person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persons can be called the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receiver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To put it in Shannon's terms, information transmitters and receivers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must be similar systems. If they are not, communication cannot occur. (Actually Shannon used the term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destination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reserving the term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receiver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for what we have called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decoder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What that probably meant as far as he was concerned was that you need a telephone at one end and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telephone at the other, not a telephone connected to a radio. In rather more obviously human terms,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receiver needs to have the equipment to receive the message. A totally blind person has the mental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equipment to decode your gestures, but no system for receiving messages in the visual channel. So, your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non-verbal messages are not received and you're wasting your energy.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1949 – Shannon- Weaver’s Model of Communication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71600" y="6961505"/>
            <a:ext cx="4602480" cy="165544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30935" y="624840"/>
            <a:ext cx="5047615" cy="19234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Feedback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Feedback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Feedback is a vital part of communication. In the class room students’ facial expression tell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teacher to go to what extent to make students understand the point under discussion. More or less, these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expression would guide the teacher where and when to finish.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we are talking to someone over the phone, if they don't give us the occasional 'mmmm', 'aaah', 'yes, 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see' and so on, it can be very disconcerting. In face-to-face communication, we get feedback in the visual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channel as well - head nods, smiles, frowns, changes in posture and orientation, gaze and so on.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Why do people often have difficulty when using computers, when they find it perfectly easy to drive a car?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You'd think it should be easier to operate a computer - after all there are only a few keys and a mouse,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against levers, pedals and a steering wheel. A computer's not likely to kill you, either. It could be due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lack of feedback - in a car, you've the sound of the engine, the speed of the landscape rushing past,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force of gravity. Feedback is coming at you through sight, hearing and touch -overdo it and it might come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through smell as well. With a computer, there's very little of that. In fact you apply more of your brain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what you must be doing next rather than shaping your activity whether it’s being liked or not by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machine.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Feedback by definition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its simplest form the feedback principle means that a behavior is tested with reference to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result and success or failure of this result influences the future behavior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Though not exactly cut-out for human communication, the Shannon-Weaver model provides clear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guidelines for researchers to mark more avenues for graphic presentation of the elements in daily human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Lasswell Formula (1948)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W ho?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Says W hat?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I n W hat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To W hom?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W ith w hat </a:t>
            </a:r>
            <a:endParaRPr lang="ko-KR" altLang="en-US" dirty="0" smtClean="0" sz="852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Channel?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Effect? </a:t>
            </a:r>
            <a:endParaRPr lang="ko-KR" altLang="en-US" dirty="0" smtClean="0" sz="852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Verdana"/>
                <a:ea typeface="Verdana"/>
              </a:rPr>
              <a:t>Communicator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Verdana"/>
                <a:ea typeface="Verdana"/>
              </a:rPr>
              <a:t>Message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Verdana"/>
                <a:ea typeface="Verdana"/>
              </a:rPr>
              <a:t>Channel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Verdana"/>
                <a:ea typeface="Verdana"/>
              </a:rPr>
              <a:t>Receiver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852">
                <a:solidFill>
                  <a:srgbClr val="000000"/>
                </a:solidFill>
                <a:latin typeface="Verdana"/>
                <a:ea typeface="Verdana"/>
              </a:rPr>
              <a:t>Effect </a:t>
            </a:r>
            <a:endParaRPr lang="ko-KR" altLang="en-US" dirty="0" smtClean="0" sz="852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Control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Content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Medium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Audience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Effects </a:t>
            </a:r>
            <a:endParaRPr lang="ko-KR" altLang="en-US" dirty="0" smtClean="0" sz="852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Research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Research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Research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Research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852" b="1">
                <a:solidFill>
                  <a:srgbClr val="000000"/>
                </a:solidFill>
                <a:latin typeface="Verdana"/>
                <a:ea typeface="Verdana"/>
              </a:rPr>
              <a:t>Research </a:t>
            </a:r>
            <a:endParaRPr lang="ko-KR" altLang="en-US" dirty="0" smtClean="0" sz="852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sociologist, Harold Lasswell, tells us that in studying communication we should consider the elements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graphic above.  </a:t>
            </a:r>
            <a:endParaRPr lang="ko-KR" altLang="en-US" dirty="0" smtClean="0" sz="1097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Lasswell was primarily concerned with mass communication and propaganda, so his model is intended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 us to the kinds of research we need to conduct to answer his questions ('control analysis', 'effects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research' and so on). In fact, though, it is quite a useful model, whatever category of communication we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studying. Note, incidentally, that the Lasswell Formula consists of five major components, though this is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 means obligatory.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Harold Lasswell (1948) conceived of analyzing the mass media in five stages: “Who?” “Says what?” “In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which/what channel?” “To whom?” “With what effect?” In apparent elaboration on Lasswell and/or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Shannon and Weaver, George Gerbner (1956) extended the components to include the notions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perception, reactions to a situation, and message context. </a:t>
            </a:r>
            <a:endParaRPr lang="ko-KR" altLang="en-US" dirty="0" smtClean="0" sz="1097"/>
          </a:p>
          <a:p>
            <a:pPr marL="0" indent="0" defTabSz="15240" algn="l">
              <a:lnSpc>
                <a:spcPts val="5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05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COMMUNICATION MODELS – GRAPHIC PRESENTATION OF COMPLEX ISSUES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True, the Shannon-Weaver’s model received attention of communication experts but as we know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Shannon was not working to bring the communication – as we understand the term for exchange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messages for human consumption, in the form of a model. His endeavor was more on the engineering side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where he was trying to put the elements of communication like the encoder and decoder along with channel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some logical sequence. To his own extent he was successful. But it also showed way to communicators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 in daily life how to manipulate different elements of communication graphically.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major missing point or the drawback in Shannon-Weaver’s model was that it showed little concern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interpretation of the message. In a mechanical way he was more interested in decoding a message. But,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students of communication will agree, interpreting a message to give it meaning for a person, who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denoted as receiver, is entirely a different process. There is no decoder invented so far which could decode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meaning of a human message to the extent as it is meant by the source of the sender.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huge gap remained a point of concern by many till Schramm and Osgood developed a model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basically modifying the Shannon weaver’s model by adding the elements of decoding in the sense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interpretation and giving the process of communication a much desired loop, circle, in the form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feedback.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we continue talking Schramm’s model lets have a break and see communication models from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angle: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Advantages of Models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Should give general perspective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good model is useful, then, in providing both general perspective and particular vantage points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which to ask questions and to interpret the raw stuff of observation. The more complex the subject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matter—the more amorphous and elusive the natural boundaries—the greater are the potential rewards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model building.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Should clarify complexity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Models also clarify the structure of complex events. They do this, as well known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scholar, Chapanis (1961) noted, by reducing complexity to simpler, more familiar terms. Thus, the aim of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model is not to ignore complexity or to explain it away, but rather to give it order and coherence.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Should lead us to new discoveries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According to Mortensen, another prominent scholar, at another level models have scientific value;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is, they provide new ways to conceive of hypothetical ideas and relationships. This may well be their most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important function. With the aid of a good model, suddenly we are jarred from conventional modes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thought. Ideally, any model, even when studied casually, should offer new insights and culminate in what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can only be described as an “Aha!” experience.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Limitations of Models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studying various aspects of communication through models is not devoid of certain drawbacks.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Here are few points to keep in mind.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a. Can lead to over simplifications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is no denying that much of the work in designing communication models illustrates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often-repeated charge that anything in human affairs which can be modeled is by definition too superficial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be given serious consideration.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 can guard against the risks of over simplification by recognizing the fundamental distinction between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simplification and over-simplification. By definition, and of necessity, models simplify. So do all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58240" y="4855210"/>
            <a:ext cx="5611495" cy="234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comparisons. As Kaplan (1964) noted, “Science always simplifies; its aim is not to reproduce the reality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its complexity, but only to formulate what is essential for understanding, prediction, or control that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model is simpler than the subject-matter being inquired into.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b. Can lead to a confusion of the model between the behaviors it portrays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Mortensen: Critics also charge that models are readily confused with reality. The problem typically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begins with an initial exploration of some unknown territory….Then the model begins to function as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substitute for the event: in short, the map is taken literally. And what is worse, another form of ambiguity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substituted for the uncertainty the map was designed to minimize. What has happened is a sophisticated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version of the general semanticist’s admonition that “the map is not the territory.” Spain is not pink because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appears that way on the map, and Minnesota is not up because it is located near the top of a United States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map.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“The proper answer lies in acquiring skill in the art of map reading.”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c. Premature Closure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model designer may escape the risks of oversimplification and map reading and still fall prey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dangers inherent in abstraction. To press for closure is to strive for a sense of completion in a system.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danger is that the model limits our awareness of unexplored possibilities of conceptualization. We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tinker with the model when we might be better occupied with the subject-matter itself. Building a model,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short, may crystallize our thoughts at a stage when they are better left in solution, to allow new compounds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precipitate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Having seen this discussion by a range of scholars, we continue to figure out more about the model we have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chosen for analysis.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 Schramm-Osgood’s Interactive Model, 1954 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Field of Experience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Field of Experience </a:t>
            </a:r>
            <a:endParaRPr lang="ko-KR" altLang="en-US" dirty="0" smtClean="0" sz="1097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Source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Encoder </a:t>
            </a:r>
            <a:endParaRPr lang="ko-KR" altLang="en-US" dirty="0" smtClean="0" sz="1097" b="1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Noise</a:t>
            </a:r>
            <a:endParaRPr lang="ko-KR" altLang="en-US" dirty="0" smtClean="0" sz="1097" b="1"/>
          </a:p>
          <a:p>
            <a:pPr marL="0" indent="0" defTabSz="15240" algn="l">
              <a:lnSpc>
                <a:spcPts val="2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</a:t>
            </a:r>
            <a:endParaRPr lang="ko-KR" altLang="en-US" dirty="0" smtClean="0" sz="1200"/>
          </a:p>
        </p:txBody>
      </p:sp>
      <p:sp>
        <p:nvSpPr>
          <p:cNvPr id="32" name="Rect 3"/>
          <p:cNvSpPr>
            <a:spLocks noGrp="1" noChangeArrowheads="1"/>
          </p:cNvSpPr>
          <p:nvPr/>
        </p:nvSpPr>
        <p:spPr>
          <a:xfrm rot="0">
            <a:off x="4702810" y="5721350"/>
            <a:ext cx="1860550" cy="1549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Decoder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Destination</a:t>
            </a:r>
            <a:endParaRPr lang="ko-KR" altLang="en-US" dirty="0" smtClean="0" sz="1097" b="1"/>
          </a:p>
        </p:txBody>
      </p:sp>
      <p:sp>
        <p:nvSpPr>
          <p:cNvPr id="33" name="Rect 3"/>
          <p:cNvSpPr>
            <a:spLocks noGrp="1" noChangeArrowheads="1"/>
          </p:cNvSpPr>
          <p:nvPr/>
        </p:nvSpPr>
        <p:spPr>
          <a:xfrm rot="0">
            <a:off x="3752215" y="5638800"/>
            <a:ext cx="391160" cy="155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Signal</a:t>
            </a:r>
            <a:endParaRPr lang="ko-KR" altLang="en-US" dirty="0" smtClean="0" sz="1097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1520" y="621665"/>
            <a:ext cx="5330825" cy="19723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a. Background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Wilbur Schramm (1954) was one of the first to alter the mathematical model of Shannon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Weaver. He conceived of decoding and encoding as activities maintained simultaneously by sender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receiver; he also made provisions for a two-way interchange of messages. Notice also the inclusion of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“interpreter” as an abstract representation of the problem of meaning.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strong points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1. This model provided the additional notion of a “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field of experience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,” or the psychological frame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reference; this refers to the type of orientation or attitudes that interacting people maintain toward each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2.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Included Feedback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is reciprocal, two-way, even though the feedback may be delayed.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someone.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nose and scratch your head when a message is too abstract, or shift your body position when you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think it’s your turn to talk.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Few examples from our daily life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students sign up for it the next term.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3.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 Included Context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message may have different meanings, depending upon the specific context or setting. Shouting “Fire!”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a rifle range produces one set of reactions, reactions quite different from those produced in a crowded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theater, though the word is the same. Culturally a message may have different meanings associated with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depending upon the culture or society. Communication systems, thus, operate within the confines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cultural rules and expectations to which we all have been educated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.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Drawback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Schramm’s model, though less linear, still accounts for only bilateral communication between two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parties. The complex, multiple levels of communication between several sources is beyond this model.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concepts of model carry some more points to students of communication. A few are mentioned below: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Entropy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Entropy is the measure of uncertainty in a system. Uncertainty or entropy increases in exact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proportion to the number of messages from which the source has to choose. In the simple matter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flipping a coin, entropy is low because the destination knows the probability of a coin’s turning up either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</a:t>
            </a:r>
            <a:endParaRPr lang="ko-KR" altLang="en-US" dirty="0" smtClean="0" sz="1200"/>
          </a:p>
        </p:txBody>
      </p:sp>
      <p:sp>
        <p:nvSpPr>
          <p:cNvPr id="36" name="Rect 3"/>
          <p:cNvSpPr>
            <a:spLocks noGrp="1" noChangeArrowheads="1"/>
          </p:cNvSpPr>
          <p:nvPr/>
        </p:nvSpPr>
        <p:spPr>
          <a:xfrm rot="0">
            <a:off x="1188720" y="4657090"/>
            <a:ext cx="5457190" cy="1828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Some of these methods of communication are very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direct,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as when you talk in direct response to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Others are only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moderately direct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; you might squirm when a speaker drones on and on, wrinkle your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Still other kinds of feedback are completely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indirect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Politicians discover if they’re getting their message across by the number of votes cast.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Commercial sponsors examine sales figures to gauge their communicative effectiveness in ads.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Teachers measure their abilities to get the material across in a particular course by seeing how many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heads or tails. In the case of a two-headed coin, there can be neither any freedom of choice nor 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reduction in uncertainty so long, as the destination knows exactly what the outcome must be. In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words, the value of a specific bit of information depends on the probability that it will occur. In general,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informative value of an item in a message decreases in exact proportion to the likelihood of its occurrence.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Redundancy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Redundancy is the degree to which information is not unique in the system. Those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items in a message that add no new information are redundant. Perfect redundancy is equal to total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repetition and is found in pure form only in machines. In human beings, the very act of repetition changes,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some minute way, the meaning or the message and the larger social significance of the event. Zero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redundancy creates sheer unpredictability, for there is no way of knowing what items in a sequence will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come next. As a rule, no message can reach maximum efficiency unless it contains a balance between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unexpected and the predictable, between what the receiver must have underscored to acquire understanding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what can be deleted as extraneous.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Noise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measure of information not related to the message. “Any additional signal that interferes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reception of information is noise. In electrical apparatus noise comes only from within the system,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whereas in human activity it may occur quite apart from the act of transmission and reception. Interference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may result, for example, from background noise in the immediate surroundings, from noisy channels (a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crackling microphone), from the organization and semantic aspects of the message, or from psychological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interference with encoding and decoding. Noise need not be considered a detriment unless it produces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significant interference with the reception of the message. Even when the disturbance is substantial,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strength of the signal or the rate of redundancy may be increased to restore efficiency.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Channel Capacity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measure of the maximum amount of information a channel can carry. “The battle against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uncertainty depends upon the number of alternative possibilities the message eliminates. Suppose you want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know where a given checker was located on a checkerboard. If you start by asking if it is located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black square at the extreme left of the second row from the top and find the answer to be no, sixty-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three possibilities remain-a high level of uncertainty. On the other hand, if you first ask whether it falls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any square at the top half of the board, the alternative will be reduced by half regardless of the answer.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following the first strategy it could be necessary to ask up to sixty-three questions (inefficient indeed!); but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consistently halving the remaining possibilities, you will obtain the right answer in no more than six tries.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Berlo's S-M-C-R Model (1960)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David Berlo's SMCR Model (1960) proposes that there are five elements within both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source/encoder and the receiver/decoder which will affect fidelity.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Source-Receiver relationship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Berlo's approach is rather different from what seems to be suggested by the more straightforward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transmission models in that he places great emphasis on dyadic communication, therefore stressing the role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relationship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between the source and the receiver as an important variable in the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process.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“A given source may have a high level of skill not shared by one receiver, but shared by another. We cannot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predict the success of the source from her skill level alone.” Berlo (1960) </a:t>
            </a:r>
            <a:endParaRPr lang="ko-KR" altLang="en-US" dirty="0" smtClean="0" sz="1097"/>
          </a:p>
          <a:p>
            <a:pPr marL="0" indent="0" defTabSz="15240" algn="l">
              <a:lnSpc>
                <a:spcPts val="1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96110" y="640080"/>
            <a:ext cx="3510915" cy="14871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Communication Skills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are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five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verbal communication skills, according to Berlo: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Two are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en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coding skills: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speaking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writing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Two are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de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coding skills: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listening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reading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fifth is crucial to both encoding and decoding: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thought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or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reasoning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though you may perhaps wish to object that to place such emphasis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reasoning, what we generally think of as an intellectual skill, to the detriment of emotion or feeling,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unreasonable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encoders, our communication skills level affects our communication fidelity in two ways, according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Berlo: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affects our ability to analyse our own purposes and intentions, our ability to say something when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 communicate - you may perhaps take issue with Berlo on this, since it is not apparent to all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affects our ability to encode messages which say what we intend. Our communication skills, 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facility for handling the language code, affect our ability to encode thoughts that we have. We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certainly all have experienced the frustration of not being able to find the 'right word' to express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what we want to say. Bearing in mind Berlo's insistence on the dyadic nature of communication, we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need to remember that finding the 'right word' is not simply a matter of finding one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expresses what we want to say to our own satisfaction. It also has to have approximately the same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meaning for the receiver as it does for us.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Knowledge level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Socio Cultural systems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Attitudes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Message (code, content, treatment)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Channel (five senses) </a:t>
            </a:r>
            <a:endParaRPr lang="ko-KR" altLang="en-US" dirty="0" smtClean="0" sz="1097" b="1"/>
          </a:p>
          <a:p>
            <a:pPr marL="0" indent="0" defTabSz="15240" algn="l">
              <a:lnSpc>
                <a:spcPts val="1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</a:t>
            </a:r>
            <a:endParaRPr lang="ko-KR" altLang="en-US" dirty="0" smtClean="0" sz="1200"/>
          </a:p>
        </p:txBody>
      </p:sp>
      <p:sp>
        <p:nvSpPr>
          <p:cNvPr id="41" name="Rect 3"/>
          <p:cNvSpPr>
            <a:spLocks noGrp="1" noChangeArrowheads="1"/>
          </p:cNvSpPr>
          <p:nvPr/>
        </p:nvSpPr>
        <p:spPr>
          <a:xfrm rot="0">
            <a:off x="1188720" y="5492750"/>
            <a:ext cx="4478655" cy="158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us that we necessarily use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verbal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skills in reflecting on our purposes and intentions.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06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TYPES AND FORMS OF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Having understood elements of communication, their functions and placement in various models, it is time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complete an other chapter on types and forms of communication before resuming our discussions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various other areas of mass communication for a detailed study.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Types of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Broadly speaking, whole human communication could be classified into two distinct parts.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Intra personal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part of communication in which self of a human being is involved only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is confined to one human entity. This means that all the elements which come into action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 given piece of communication are located within the self of an individual. A message originating from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source part of the brain travels through the channel of nerves to reach another location, however close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may be to the point of origin of message, where it is interpreted and understood as receiver.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the process of meditation, thinking, monologue and even dreaming while asleep are all but examples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intra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Inter personal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part of communication belongs to involving two or more individuals for exchange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information. Since this part is experienced more due to its vastness, it is further classified in many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categories.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Inter personal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simplest form in which more than one individual communicate to each other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Group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often people are seen exchanging views with almost all the participants enjoying an equal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status on one count or the other. Like all the players of a hockey team, class-fellows, doctors, teachers,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bureaucrats, politicians, economists etc.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Organizational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this part, communication usually takes place on vertical lines. For instance, a company director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passing on instructions to managers who would be guiding accordingly to field officers and the relevant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field staff. An army general may not be talking to lowest rank men in khaki but would follow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chain of organizational command to deliver his message to the last rank people. Be it a corporate sector,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NGO, a political party, an educational institution, the communication process would strictly follow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essentials of the organizational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Mass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this category we refer to the communication originating from one source and meant for all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possible audience irrespective of distance, cast, creed, religion, nationality and beyond. The mass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involves use of technology for it is not possible to carry message to a very high number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receivers with out the use of certain devices or techniques. All other types of communication may take place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the source is coming across receivers without involving technology. That is why more research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investment has gone into handling the mass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Forms of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another way we can examine the communication process by dividing it into different forms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exchanging messages.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lang="ko-KR" altLang="en-US" dirty="0" smtClean="0" sz="1200"/>
          </a:p>
        </p:txBody>
      </p:sp>
      <p:sp>
        <p:nvSpPr>
          <p:cNvPr id="44" name="Rect 3"/>
          <p:cNvSpPr>
            <a:spLocks noGrp="1" noChangeArrowheads="1"/>
          </p:cNvSpPr>
          <p:nvPr/>
        </p:nvSpPr>
        <p:spPr>
          <a:xfrm rot="0">
            <a:off x="1645920" y="2057400"/>
            <a:ext cx="1854200" cy="7266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Intra personal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Inter personal communication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5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Verbal </a:t>
            </a:r>
            <a:endParaRPr lang="ko-KR" altLang="en-US" dirty="0" smtClean="0" sz="1097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Verbal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the messages said or written in words make part of the verbal communication. This way, all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appears as text in books, magazines and newspapers is part of verbal communication. One can guess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size of an industry in the area of mass communication based on verbal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Likewise, all the words heard on radio, television, telephone or any other public address system are also part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verbal communication. Again, the industry and technology based on verbal communication is enormous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size and value as well.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amazing part of the verbal communication is the availability of events of significance in history. Little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understood about the past from the available artifacts but a great deal of human civilization, growth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conflict is available in the form of verbal communication. The spread of religions and sharing of most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scientific work is also due to the verbal communication over the centuries which recorded facts, sentiments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event of common human interest.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on the basis of verbal communication that the world has seen great poets, writers, playwrights, historian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newsmen. This also proves at what great scale the verbal communication has created job opportunities.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modern days, people having verbal communication skills are in high demand, especially with the fast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expanding media all across the globe.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Non verbal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Senses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 of human communication involving other than written or spoken words is referred to as non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verbal communication. It involves human senses – sight, taste, touch, hearing and smelling.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a matter of fact about 90 per cent communication among human beings takes place through their senses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rest by the use of words as languages.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Symbols, signs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Emblems, gestures, symbols and signs make more vivid and strong communication as compared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words which are often difficult to decipher.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instance making a victory sign by politicians, army generals, sportspersons and leaders in general at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 of defeating enemy is easily understood even by the illiterate. If the same feeling is expressed in words,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may not come even close to understanding what it is.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traffic signals, red-cross mark and the symbol of dove are but few illustrations to make people around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understand what a message stands far.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Combination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practical purposes, however, the use of verbal and non verbal makes a very strong piece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communication. One may see a match on TV but an enthusiast commentator may relish the joy if your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favorite team is winning the game. Similarly, feature films, documentaries and dramas on mini screen stand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more effective pieces of communication than if only one for of communication is brought into use.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 the newspapers and magazines, which are more to bank on verbal communication, carry so much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non verbal communication in the form of images, graphics and maps.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research journals also exploit the verbal-non verbal combination to share and advance the cause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scientific developments. In fact it has become rather impossible to find a newspaper and magazine, even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books, which do not use non verbal communication to explain various aspects of daily life. </a:t>
            </a:r>
            <a:endParaRPr lang="ko-KR" altLang="en-US" dirty="0" smtClean="0" sz="1097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endParaRPr lang="ko-KR" altLang="en-US" dirty="0" smtClean="0" sz="1200"/>
          </a:p>
        </p:txBody>
      </p:sp>
      <p:sp>
        <p:nvSpPr>
          <p:cNvPr id="47" name="Rect 3"/>
          <p:cNvSpPr>
            <a:spLocks noGrp="1" noChangeArrowheads="1"/>
          </p:cNvSpPr>
          <p:nvPr/>
        </p:nvSpPr>
        <p:spPr>
          <a:xfrm rot="0">
            <a:off x="1188720" y="643255"/>
            <a:ext cx="720090" cy="158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Non verbal </a:t>
            </a:r>
            <a:endParaRPr lang="ko-KR" altLang="en-US" dirty="0" smtClean="0" sz="1097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07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MESSAGE – ROOT OF COMMUNICATION I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in communication holds the key in determining what a piece of communication is 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about. A slight change at the end from where a message is originating may lead to a yawning difference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understanding it at the end of receiver.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Human message is entirely different from a mechanical message which makes it a very tricky, some time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complex but embarrassing proposition. If you blow a horn of a motorcar it would sound the same if you try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a hundred times. The telephone bell will ring in the same fashion – sound and the level of volume, where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 have adjusted it. Listen to a recorded music and you would hear the same no matter how many time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 bother the machine to play it.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human communication is very different. You can’t repeat a message exactly the ways you have done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for a range of variables occur in composing the message. As said a while ago, a slight change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– in any manner – may lead to change its meanings at the receiving end. When we examine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property of message in the field of mass communication, the outcome suggest that the sender of a message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need to draw extraordinary measures to avoid any misunderstanding on part of receivers who may be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millions in some given case. That is why lines (script) in mass communication is not changed frequently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highly trained people are employed to dispatch message in a quest to achieve the goal of communicating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same meanings – to a possible extent.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Here we will study nature and characteristics of message and the measures to be taken to avoid problems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especially when a message is meant for cross cultures, religions, continents, nationalities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casts etc.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Division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Messages are generally divided into two categories: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VERBAL MESSAGE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message composed in words – spoken or written – fall in this category. All we read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newspapers, magazines and books as well as listen to fellow beings face to face or radio, TV, telephone etc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clear examples of verbal messages.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Linguistic Barrier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people even when they belong to one clan do not posses same linguistic skills. Nor a person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ever knows that whatever he or she is saying – by composing in idioms and words – is to be understood 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such by others. Think of a situation when people are talking to each other that belong to different areas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where even the same words stand for different meanings. And if the sender and receiver of a message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belong to areas where two different languages are spoken, the meanings of message are deciphered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substantially and chances of misunderstanding, and misgiving, are high.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Standard Meaning’s Problem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time a language may not prove up to the mark even two very close people are exchanging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views. For instance two people understand what is meant by the word ‘hot’. Even then if one person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reports to other that it is hot outside, the receiver may not quantify how hot it is unless physics (science)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applied and the sender says it is 40 degree Celsius outside. In normal language in which communication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done such physics references are a remote possibility. Hence there is always difference in understanding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exact meaning of a message.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Written Message Confusion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written words offer more of this situation. It is difficult to articulate your thinking and feeling  </a:t>
            </a:r>
            <a:endParaRPr lang="ko-KR" altLang="en-US" dirty="0" smtClean="0" sz="1097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21</a:t>
            </a:r>
            <a:endParaRPr lang="ko-KR" altLang="en-US" dirty="0" smtClean="0" sz="1200"/>
          </a:p>
        </p:txBody>
      </p:sp>
      <p:sp>
        <p:nvSpPr>
          <p:cNvPr id="50" name="Rect 3"/>
          <p:cNvSpPr>
            <a:spLocks noGrp="1" noChangeArrowheads="1"/>
          </p:cNvSpPr>
          <p:nvPr/>
        </p:nvSpPr>
        <p:spPr>
          <a:xfrm rot="0">
            <a:off x="1645920" y="5041265"/>
            <a:ext cx="687070" cy="33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Verbal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Non verbal</a:t>
            </a:r>
            <a:endParaRPr lang="ko-KR" altLang="en-US" dirty="0" smtClean="0" sz="1097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about an experience in to words. It is even more difficult for the reader – receiver – to decode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understand who has no experience of those feelings. For instance a person has never visited Swat valley.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so difficult to make him or her feel the way writer has felt the experience of visiting the all awesome valley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 if he has chosen best words and articulation to describe the feelings.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 never know whether a person has exaggerated while giving an account of some event as words are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like mathematics to give same result after same exercise. This makes the task of historians extremely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difficult who have to write for people centuries after when a sea of cultural changes would have taken place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only to alter the meanings of the same words used by the authors of the history book. It is here that we can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recall the Shcramm-Osgood communication model which emphasizes on the common experience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things talked about by the sender in a message.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Static Evaluation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Words themselves do not carry the same meanings through time and space. A word which gave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specific meaning a hundred years ago may not give the same meanings today – for scores of reasons.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Similarly meanings of same words are changed at some distance. A verbal message which once stood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certain meanings, may not always stand for the same meanings because static meaning evaluation does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hold in any language.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NON VERBAL MESSAGE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messages we come across in our daily life are non verbal – not in words by in gestures,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symbols, signs etc. Here we will see how this part of communication takes place.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Gestures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 usually adopt some patent gestures to communicate certain feelings. A victory sign is a clear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example of sending a message of a win. A baby brings certain gestures on his/her face to communicate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mother and others about the pain or pleasure it is feeling. Wink of an eye may send a message across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multiple meanings.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Signs and Symbols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times the non verbal communication – message, prove more to be understood beyond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bounds of culture and creed. A red-cross sign has assumed a global understanding for medical care. Blaring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siren by an ambulance sends the same meaning to all. Traffic signals are globally understood the same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Cultural Conflict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cultures however differ in communicating the same meanings of common symbols.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instance present a while rose in Japan may stand for meanings different if the same is done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subcontinent. Seeing into the eyes may stand as a sign of truthfulness of a child, it may be deemed as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offense.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Body Gestures (Language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we send down a message even in words, we tend to attach some non verbal action to give more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meaning to the message. If we have to say sit down please, we also extend our hand as to support the verbal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Voice Accentuation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only at most inter-personal and group communications but also at the level of mass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the common most thing in a message is the voice accentuation. Speakers at a mass rally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 on radio and television tend to change their voice level and stress words to give some particular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meaning to their utterances. You also do it when you talk to a baby and discipline your voice level –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same set of words – when talking to an older person like father or teacher for instance. </a:t>
            </a:r>
            <a:endParaRPr lang="ko-KR" altLang="en-US" dirty="0" smtClean="0" sz="1097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08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MESSAGE – ROOT OF COMMUNICATION II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Message in Mass Communication – Misgivings, Conflicts, Ethics and Solutions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is the most sensitive area in communication. Send a message and all the confusion,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conflict and misgivings are borne thereafter. The inherent problem with message is that it can’t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understood with hundred per cent purity and the sender is never in a position to ascertain at the time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letting the message go across as what it may result into when interpreted by the receiver.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 other type of communication suffers this intrinsic property of a message more than the mass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communication. Same set of words bring so different a meanings to different receivers that a conflict get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deepening instead of moving towards solution.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example, Pakistan says it wants a peaceful solution of Kashmir. Exactly same set of words is said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India. The United Nations in a number of resolutions on Kashmir has used the same words. The US and all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western powers, and even the people of the valley say the same. Question arises: then why Kashmir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bleeding? Answer is simple; for every people meanings in the same set of words are different!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Misgivings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Treading in such a sensitive area of mass communication by composing an effective message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bound to cause doubts in the mind of receiver. A message at the mass communication level is never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understood from the face value of the words, does not matter how smartly they are chosen, and so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misgivings are very likely to arise.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Such a situation also occurs when one is going through a newspaper story, a book of history or watches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play on TV. The contents of a TV play may carry lines which may infuriate some and cause laughter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cartoon in a newspaper, a blend of verbal and non verbal communication may bring smiles on the faces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political workers of one party and outrage others belonging to another.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Conflicts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most difficult situation in composing a message for mass communication arises when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subject matter is already caught in a conflict. As has been cited in the Kashmir example above, even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softest and most carefully picked words by one party in the conflict may not appease the people living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side of the conflict.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times – in given context, an observation in its most objective form causes a conflict. For instance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Pakistani bowler is not performing well; an observation on his performance by an Indian commentator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would generate a heated debate among their Pakistani counterparts or vice versa. Things may be different if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same observation is passed by a Pakistani commentator, obviously.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world of mass communication abounds in surfacing conflicts across political, economic and social lines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almost all societies.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Negative Message – Propaganda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Here a deliberate effort is seen on part of sender to distort facts and outlook of a situation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further aggravate meanings (understanding) on a given subject and reap the benefit (resultant) by damaging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enemy. The composing of message as branded in the term propaganda is centuries old and widely used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wars and severe political discords.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Message as a Commercial Product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times the sender attempts to use a message at mass communication scale to garner commercial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benefit. This approach has led to setting up of an entirely different industry in mass communication, known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advertising industry. We will see in coming lectures more as how a message is molded in a manner to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fetch commercial gain. It again starts a controversy whether a message with commercial value tells the truth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discards it.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it is not that conflict is a natural result of a message, though messages are generally under-understood.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are ways to overcome such a situation.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Solution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Since the gravity of misunderstood messages in communication is enormous, experts continue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 on lines to diffuse the negativity in this part of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Use of Standard Language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foremost practice all over the world is to use to a maximum possible extent of a standard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language. There is nothing like a standard language, but in practice one believes that use of polite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decent words command more acceptability than harsh or intimidating words especially on matters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disputes.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Best example of this phenomenon is witnessed when foreign offices of different countries issue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representative statements on behalf of their respective governments especially on issues of disagreements.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Though the meaning still differ for different end-users of these statements, they generally remain safe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avoid escalation of a problem.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Brevity of Message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case of severe conflicts, issuing a brief and calculated statement offers another solution to avoid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controversies to get to a point of no return. Fewer words are bound to cause fewer infringements and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situation is saved from spilling over and generating more confusion or tension.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Ethics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world is multicultural. This composition of the world is most embarrassing for students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mass communication for it is next to impossible to address all the people belonging to different cultures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give one meaning to the words said.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Screening a TV play written and produced in one part of the world (culture) may hurt viewers of another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 of the world where cultural values are different. But within one society the same problem may not exist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same intensity. It is advisable to take care of ethics while composing a message – which may be writing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script for a play, or even news. Religious and social values are very dear to people. A message would do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great deal of justice if it abides by these values. </a:t>
            </a:r>
            <a:endParaRPr lang="ko-KR" altLang="en-US" dirty="0" smtClean="0" sz="1097"/>
          </a:p>
          <a:p>
            <a:pPr marL="0" indent="0" defTabSz="15240" algn="l">
              <a:lnSpc>
                <a:spcPts val="2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09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EFFECTS OF COMMUNICATION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generally and mass communication in particular has a great deal to serve a diversity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purposes human beings have always wished to achieve. The strong effects of striving to achieve purposes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human communication are visible and helped bring harmony of living in a number of ways.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Here we will see how the process of communication at different scales has helped people of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societies to benefit from exchanging views (messages) on subjects of their interest. First we will see to what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effect the communication stands for.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Discover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immediate effect of communication is to discover something – from an individual to an idea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physical exploration – as a consequence of generating a message.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centuries human beings have been striving to explore the world around them. Nothing more has helped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them in this quest than the communication. It is usually the answer to a communication which brings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certain effects of discovery. Even to day when two people meet the communication starts from here; my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name is Sara and what is yours? Or, I live in Karachi and (where do) you (live)?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an instinct of human nature to discover matters around him or her. The process of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the centuries has helped tremendously to mankind explore the world around and develop a civilization.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Relationship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Next to discovering, the most important effect of communication is to create relationship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and things around. A piece of communication is always targeted towards other people with whom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 want to have a relationship, or with whom a relationship – of friendship or enmity – already exist.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Usually the effect of communication is that a new relationship is set or a fresh dimension, which may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strengthening an existing relationship, is given.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this phenomenon is not confined to individuals. Nations have been seen striving to use the tool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to bring this effect. High level diplomats and even heads of states are seen engaged in fresh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with their counterparts from societies with whom little association has been witnessed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past.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mass communication has always worked strongly to fetch this effect to societies living a distance apart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each other.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Historically, many a travelers roamed about the world even when traveling facilities had been scant,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communicate and establish relationship. In many cases an effort by a small group of travelers had helped set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up long lasting relationships between people of two societies.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Helping Out Others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Hallmark of communication effects has been the human effort to provide assistance to other fellow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beings. It is due to communication from one part of the world to another that the suffering humanity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saved from various disasters. At a lower scale as well, a piece of communication works miracle to save lives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many. Think of a situation when a house catches fire and a family is trapped inside. One call to rescue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operation team – a piece of communication, I will say – activates so much movement of rescuers that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 cases many lives are saved from what could have been a major catastrophe.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Hurricanes, excessive rains, earthquakes, epidemics and floods are but everyday occurring around the globe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almost in every tragedy no sooner a communication is made, help starts pouring in from all around.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Stimulation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Stimulation, or persuasion, is another effect caused on human beings by communication. An advice 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a teacher may effect into activating students to work more seriously, or conduct research on a given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topic.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mass level, an appeal from a cherished leader to donate blood or to draw certain measures may do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magic. For instance in the wake of soaring sugar prices if an appeal – a communication- is made from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leader asking people to reduce use of the sweetener may work more than other administrative measures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price may start falling due to low demand.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commonly observed that an organized and well thought after piece of communication causes a great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deal of persuasion on matters of common interest.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Relaxation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Among effects of communication one huge area is the relief which is effective when an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ideas or even receiving of messages is done in common life.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a frequent sight seeing people telling jokes to ward off their worries. Watching a humorous TV play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one is tense does substantially well to change the mood and lessen the anxiety level. Similarly,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watching a tense match and seeing your favorite team winning eventually relaxes you to a large extent.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effect of communication in relaxing people is also observed in meta-communication in which one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involved with non living things as well.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Social Growth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Growth of social values, physical structures and increase in the overall intellectual level of a society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result of the net effect it receives from the every day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exchange of message on scores of issues commonly shared by the people living in one society always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lead to organizing people in a better way. The coherence in living style gives a sort of strength to people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community which distinguishes it from others. Likewise, sharing of economic knowledge by the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same society is the effect of common swapping of expertise which some people have gained by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individual efforts.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present campaign of globalization and all the debate originating from it is a clear effect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which has been taking place on this subject over the decades. It is a matter of common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sense that the new approach of one village is going to benefit almost all the people who excel in any field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life. Again, it is a piece of communication which will make people in the same village to come to know how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can benefit from the expertise of others.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Communication Effects in Time and Space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Effects of communication are not limit to present day activities but as a matter of fact they go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beyond the limits of time and space. This is quite possible that an idea generated at one time of history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materialized in some physical form at another stage.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 scientific inventions, like radio, are the result of a multiple pieces of communication made by scientists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a period of 150 years. Many scientists who professed presence of electromagnetic waves but could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prove this in their life time, left behind a theory on which others worked and were able to discover a truth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original idea.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distance consideration has also been overcome by ever progressing process of communication. A little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research done by a scientist on, for example a disease is widely known to others living miles away, thanks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communication. This brings great effect in the science world and makes the collective human progress more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integrated. </a:t>
            </a:r>
            <a:endParaRPr lang="ko-KR" altLang="en-US" dirty="0" smtClean="0" sz="1097"/>
          </a:p>
          <a:p>
            <a:pPr marL="0" indent="0" defTabSz="15240" algn="l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10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COMMUNICATION AND CULTURE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debate which always rant and rave whenever there is a talk about communication is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mystery of cultures which vary from place to place and through times and which cause perhaps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strongest hurdles in understanding of what has been said (by people of one culture) and what has been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understood (by people of an other culture).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we start to examine as what factors are responsible to generate this debate, it seems only logical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 understand what culture is.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Though no definition of culture exists on which all will agree, the one which is close to everyone’s belief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way people live, or say the living style of people of a particular area is denoted as their culture.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includes their living habits, eating and cooking style, dressing up, language they speak in, social values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traditions they observe along with the religion they follow. Well, for a student of communication – who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believes that a slight change on part of the sender or receiver may effect a huge change in the meaning of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– the definition of culture and its little explanation offers only an embarrassing situation for there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plenty in the name of change that can vary (or destroy) the meaning and hence the process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may face hurdles.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Enculturation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process of passing on culture from one generation to the next is referred to as enculturation.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 people are encultured – they receive their cultural values from their parents including language,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religion, dressing up eating and living habits etc. The impact of enculturation is very strong. You generally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carry this culture with you wherever you travel or even settle for some time. For instance a Pakistani settling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UK will continue to practice its eating, living habit along with other cultural values. In the field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he or she would remain on the look out to find another Pakistani with whom he/she could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talk in Urdu or they sit together and dine the way they have been doing back home. The two would enjoy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enculturation to the utmost by communicating to each other matters pertaining to their life style.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Acculturation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most difficult part in the process of communication and cultural conflicts is the process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acculturation. In this process one tends to learn the rules and norms of a culture different from one’s native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culture. Easy said than done. It may take years even to those who command some expertise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techniques for it is very difficult to break the shell of your own culture only to adopt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another. But people do tend to do so if they have to live longer in another land. For instance if a Pakistani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settling in America, he  will have to acculturate himself by learning the living style of that part of the world –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least in areas where it could be adopted. It does not mean to scrap your religion but it certainly means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living by the rules and practices of that part of the world if you want to stay there for generations. If one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resists acculturation, one is bound to face embarrassment in every day communication for every message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him / her will be understood differently (wrongly) by fellow people there and vice versa.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communication problems arising out of cultural conflicts will simply make life miserable. And not to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seen as a cross country phenomenon, the cultural differences may exist among different shades of culture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within one society. For instance all the Muslims around the world make one community but vary drastically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their life style. There being dressing up, traditions at the time of child-birth, weddings and other major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events in life are very contrasting. Within a country these traditions may vary. A Sindhi life style is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Baluchi’s and Punjabi traditions on scores of matters are different from what are observed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Pashtoons. The existence of sub-cultures also leads to communication snags and problems may arise only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due to these factors when people from sub-cultures undertake a joint business.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Cultural Shock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phenomenon in communication is very common around the world. It occurs when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one culture have to live in another culture where normal life values are radically diverse. One may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like to send his daughter to join dancing, or swimming classes at school in Pakistan, it is a must in certain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countries. You may have separate colleges, universities or even medical colleges for boys and girls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and some other Islamic countries. But there is no such concept in the west. A family going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west will have to face the cultural shock – which is complete breakdown of communication, as long as they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live there without conceding to the concept of acculturation.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Principles of Intercultural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Prepare yourself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best to overcome communication gaps in multicultural society is to prepare yourself in advance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about the new culture you may face. These days videos, newspapers and magazines are widely available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tell about the social norms of a society. By learning a good deal on these values, the process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is eased out to a great extent.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Overcoming fears of unseen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Scholars believe that even learned people have a sense of fear when they tend to communicate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people of a different culture. At ordinary people level this fear exists even more. That is one reason you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would not find foreign tourists mixing up with local people frequently. Not that they feel superior, but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fear that any miscommunication by way of words and gestures should not infuriate a local and put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visitor in an embarrassing situation. The solution here is again in making a fair assessment of what you want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communicate juxtapose to the social values of the people to whom you want to communicate. Once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getting a positive feedback on your message would dispel the earlier fear and equip you with confidence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Know different meanings due to change in culture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most important aspect of improving communication in a new culture is the consideration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meanings of different phrases, gestures and body language in the new culture. Some body gestures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stand for certain meaning to you due to enculturation may be entirely different in the other culture. A study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some basic differences in meanings of words and actions between the two cultures is obviously going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ease the communication gap hence making the process of communication gainful for all involve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interaction.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Knowing some hard and fast values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mentioned earlier, certain societies are strongly under influence of their centuries old traditions.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instance Muslims do not like eat with left hand or even shake left hand. Others may not find any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problem in using the left hand.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Indonesian culture direct eye contact is a case of disrespect especially when talking to older people.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Americans avoiding eye contact means disinterest. Think if a young Indonesian is talking to an American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two do not know cultural values of each other, where the communication end up!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are some times few small things but which have strong implications in the sense of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America if some one says ‘come over and pay us a visit’, it amounts to only a friendly gesture and not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formal invitation. In some other cultures the same set of words make the listener (receiver) take the words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seriously and a formal invitation. Think of a situation when an American family says this to a family from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culture.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World moving towards acculturation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with the advancements in electronic media, internet chatting and enhanced movement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due to increased traveling facilities, the level of understanding of each other’s culture is going up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 is the communication. It appears that the communication hurdles raging for the last many centuries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would be reduced as people see more of each other’s living style on the high number of TV channels now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available in most parts of the world. </a:t>
            </a:r>
            <a:endParaRPr lang="ko-KR" altLang="en-US" dirty="0" smtClean="0" sz="1097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11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LANGUAGE IN COMMUNICATION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Previously we have discussed that non verbal communication outsmarts verbal communication by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big margin but fact remains that the non verbal communication matters the most in real time when you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communicate, or you are communicated, through the human senses and body gestures and signs.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time and space mostly it is the language comprising words which communicates to others. For instance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 historic records are available in the form of books written by scores of historians. The religious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teachings and the scientific and philosophical works are also going down to generations through words.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the words, spoken or written, by prophets and other scholars on which scholars of the day try to set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explanations and seek guidance.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is, however, a mystery to say whether the languages – over 4,000 in recognized form, are man made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divine. Who invented them and at what stage their grammar rules and nouns were set up, still remains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shrouded in obscurity.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Despite the fact that languages have been one of the strongest tools of communication, they also have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innate flaws which hamper communication. Here below we will see how languages behave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Polarization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almost every language it is a common practice to describe things in extreme position. At times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are made to take an extreme position while the fact remains that they want to stay some where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between.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instance a person is said to be good or bad. You ask about a friend and reply may be; he is good, or 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bad. The fact is that the person under question is bad in some respect and good in some others. There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may be a person who is said to be bad because he has committed a serious crime but this may be a fact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about him that he always speaks the truth which is good.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the time of elections, you are asked to say yes or no. Yes means you fully endorse policies of a person,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no will mean you fully reject the same for another. Fact is you do like some policies of a person you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made to say no about and there may be some fault in the policies of a person (leader) you are made to say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 watch a movie and you observe it as good or bad and so you tell others about it. The fact is you like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music and acting but not the direction and the script or story.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use of polarized feeling does not allow you to communicate the very truth about something you have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feelings. The worst occurs when having said good, you cover an extra distance to justify it if ever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is a debate on the matter, although your first observation has been polarized due to in-built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inadequacy of language.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Labeling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language help you label people of different categories and thereafter always keep an impression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about them as such. For instance Scots are labeled as stingy people. Every Scot is not but whenever you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going to have a business with a Scot, a friend may tell you be careful while dealing with a Scot.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of some tribe and clan are labeled as quarrelsome. There may be some who are very peaceful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reasonable but if you are in communication with them under the impression of label, no sooner a point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dispute arises that you are prompted to observe that nothing is wrong with you; you belong to a tribe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well known for such behavior. 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common in the third world countries to see the United Nation with suspicion and regard it as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extension of the developed world only to twist arms of poor nation when needed. This may be far 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truth in a given case but such labeling would go along the communication process and stand firm in giving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certain obsessed meanings on part of the sender if he belongs to other side of the divide.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Static meanings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Sometimes some words are attached with a person and he/she continues to be known by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meanings of those words. For instance there is your college fellow whom you regard as nuts who is difficult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handle. Now the fellow has gone to US and married and has turned very reasonable – as one can keep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changing overtime. But whenever friends meet and talk about that fellow even years after, they will refer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him as nuts.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 visit a foreign land only once in your life time and cheated by some natives. You will continue to call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of that land as cheats whenever there will be any mention of that country though the event took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place decades ago. So harsh are the feelings and the words to give such meanings where as the fact is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people, who might have cheated, are now changed.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times some ruling tribes are described with static meanings in the book of history and their generations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continued to be known with those characteristics once attached to their forefathers.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this is because language does not offer any scientific approach to measures matters as done in physics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chemistry or other natural sciences.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Indiscrimination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problem in the usage of languages is that it provides you common nouns and suggests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in this area are also similar in behavior. For instance, people from the police department, customs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department, are seen with preconceived meaning. You use the word police and immediately particular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meanings would be drawn in your mind. If a group of students resort to some hooliganism, people would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quickly remark it as a common thing about students. Say she is a model and immediately people would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assume a particular meaning about her. So on and so forth. This indiscrimination among individuals, once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are grouped in a common noun, is another skirting area of language.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Purpose of debate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we undertake the debate on language and communication, the purpose is not to prove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languages are worthless, but only to highlight areas where languages fall short of meaning and hence cause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problem – sometimes very serious – in common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2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12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STEREOTYPING – A TYPICAL HURDLE IN MASS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Ever since the emergence of mass communication, the media has been facing a problem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stereotyping in sending information across. This perhaps is the only area which even a layman can easily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point out to and hold the mass media responsible for practicing and promoting what, by a common sense,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far from reality.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stereotyping has its origin from ordinary human communication and the chronic problem which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mankind is finding difficult to ward off, it has been strengthened particularly by the media of mass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over the years.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stereotypes are some time inevitable, especially in the advertising, entertainment and news industries,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need as wide an audience as possible to quickly understand information. Stereotypes act like codes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give audiences a quick, common understanding of a person or group of people—usually relating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class, ethnicity or race, gender, social role or occupation – true or false is left on the people who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receive the information.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we get close to understanding the mass communication in its various forms, it is pertinent to mark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peculiar area which is widely in practice in news, views, scripts, TV/ radio shows and, honestly, in common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remarks on mass media.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What is stereotyping?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Stereotypes are ideas held by some individuals about members of particular groups, based solely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attitude. They are often used in a negative or prejudicial sense and are frequently used to justify certain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discriminatory behaviors.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Stereotypes are a generalization of characteristics; they reduce complexity, provide stability and also can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offer opportunities to identify themselves with others.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common practice we assume a certain attitude by a group of people and start using our assumption as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reality and thereafter all our analysis are based on our assumption. Problem is compounded when listeners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(receivers) also start taking the assumption for granted and so a wrong done once continues to cast shadows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our communication which at times results in complete disaster.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Global Phenomenon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stereotyping in communication, which has its origin in printing process, is a global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phenomenon and hurting the mass media alike all over. The preconceived assumption about people,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group of people in the form of nationality, ethnicity and cast and in business matters, is holding strong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ground in communication and the experts are still striving to get out of this menace. One solution is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make media people aware of it so that its usage may be reduced.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One Example from Hinterland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has produced some finest hockey players from a small town called Gojra – besides 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Karachi, Lahore, Faisalabad and Sialkot. But still Gojra stands distinguished in this matter. Now, there is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hockey coach who has not seen two hockey players but asked to include one in the team. One of the players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belongs to Gojra and the other from little known town (in the sense of producing hockey players)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Nawabshah, for instance.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What the coach would do in general, is any body’s guess. To economize time and effort and, in his own way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justify selection, the coach would not bet on one from Nawabshah. If he takes in the one 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Nawabshah, the coach may be criticized for experimentation, favoring or showing prejudice to Gojra etc.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Who can risk against such strong stereotyping.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Stereotype Groups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in sports, but stereotyping is found in scores of ways. Let’s see the common stereotype groups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based on: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Stereotypes can also be based on an individual's physical size, handicaps or other characteristic like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blinds.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About all the above mentioned groups we attach a particular behavior and characteristics which, if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examined individually on every member of the group, may not prove true.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Islamic (religious) Approach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Every individual is responsible for its individual deeds and not be seen as what cast, creed or tribe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he/she belongs to at the time of justice on dooms day, is only to defy stereotyping approach towards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human beings.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Media transform assumptions into realities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sore point in media stereotyping is that by the (over) use of certain ideas people (receivers)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start believing a truth in what is being said. It is a common sight watching plays in theater, or in comic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stories especially, to portray a group of people standing for certain characteristics. The worst is ethnic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division. In early Urdu dramas, the role of baser nature characters was assigned to certain ethnic people,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continued in TV plays for sometime till a strong voices in opposition were raised.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Commercial Interest in Stereotyping – A Case Study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example has been taken from US media where stereotyping is being opposed very vehemently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recent years.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Beauty Image in the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Images of female sell everything from food to cars. Popular film and television actresses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becoming younger, taller and thinner. Some have even been known to faint on the set from lack of food.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Women’s magazines are full of articles urging that if they can just lose those last twenty pounds, they’ll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all—the perfect marriage, loving children and a rewarding career.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Why are standards of beauty being imposed on women? The roots, some analysts say, are economic.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presenting an ideal difficult to achieve and maintain the cosmetic and diet product industries are assured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growth and profits. And it’s no accident that youth is increasingly promoted, along with thinness, as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essential criterion of beauty. If not all women need to lose weight, for sure they’re all aging, says the Quebec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Action Network for Women’s Health in its 2001 report (French) Changements sociaux en faveur de la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diversité des images corporelles. And, according to the industry, age is a disaster that needs to be dealt with.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stakes are huge. On the one hand, women who are insecure about their bodies are more likely to buy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beauty products, new clothes, and diet aids. It is estimated that the diet industry alone is worth $100 billion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(U.S.) a year. On the other hand, research indicates that exposure to images of thin, young, air-brushed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female bodies is linked to depression, loss of self-esteem and the development of unhealthy eating habits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women and girls.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 much stereotyping can damage a group is so much despised by experts. To quote one: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32</a:t>
            </a:r>
            <a:endParaRPr lang="ko-KR" altLang="en-US" dirty="0" smtClean="0" sz="1200"/>
          </a:p>
        </p:txBody>
      </p:sp>
      <p:sp>
        <p:nvSpPr>
          <p:cNvPr id="73" name="Rect 3"/>
          <p:cNvSpPr>
            <a:spLocks noGrp="1" noChangeArrowheads="1"/>
          </p:cNvSpPr>
          <p:nvPr/>
        </p:nvSpPr>
        <p:spPr>
          <a:xfrm rot="0">
            <a:off x="960120" y="1115695"/>
            <a:ext cx="1016000" cy="1395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Race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Ethnicity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Gender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Nationality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Religious belief 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Profession 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Social class</a:t>
            </a:r>
            <a:endParaRPr lang="ko-KR" altLang="en-US" dirty="0" smtClean="0" sz="1097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"We don’t need Afghan-style burquas to disappear as women. We disappear in reverse—by revamping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revealing our bodies to meet externally imposed visions of female beauty." - Robin Gerber, author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motivational speaker.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American research group Anorexia Nervosa &amp; Related Eating Disorders, Inc. says that one out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every four college-aged women uses unhealthy methods of weight control—including fasting, skipping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meals, excessive exercise, laxative abuse, and self-induced vomiting.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2003, Teen magazine reported that 35 per cent of girls 6 to 12 years old have been on at least one diet,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that 50 to 70 per cent of normal weight girls believe they are overweight.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activist Jean Kilbourne concludes, "Women are sold to the diet industry by the magazines we read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television programs we watch, almost all of which make us feel anxious about our weight."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Unattainable Beauty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Perhaps most disturbing is the fact that media images of female beauty (stereotyping)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unattainable for all but a very small number of women. Researchers generating a computer model of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woman with Barbie-doll proportions, for example, found that her back would be too weak to support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weight of her upper body, and her body would be too narrow to contain more than half a liver and a few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centimeters of bowel. A real woman built that way would suffer from chronic diarrhea and eventually die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malnutrition.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Still, the number of real life women and girls who seek a similarly underweight body is epidemic, and they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can suffer equally devastating health consequences, due to unhindered use of stereotyping in the mass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Self-Improvement or Self-Destruction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barrage of messages about thinness, dieting and beauty tells "ordinary" women that they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always in need of adjustment—and that the female body is an object to be perfected. (This the media does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say about men. Why? Because they are not stereotyped this way).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Jean Kilbourne argues that the overwhelming presence of media images of painfully thin women means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real women’s bodies have become invisible in the mass media. The real tragedy, she says, is that many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women internalize these stereotypes, and judge themselves by the beauty industry's standards. Women learn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compare themselves to other women. This focus on beauty and desirability "effectively destroys any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awareness and action that might help to change that climate."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case study does not end here. In fact all stereotyping used so frequently in the mass media fetches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same result. It is here that students of mass communication are told to be aware of using terms which carry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stereotyping more carefully and in the sense that they may not be used at the cost of individuals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groups formed by the stereotyping-approach for its own convenience. </a:t>
            </a:r>
            <a:endParaRPr lang="ko-KR" altLang="en-US" dirty="0" smtClean="0" sz="1097"/>
          </a:p>
          <a:p>
            <a:pPr marL="0" indent="0" defTabSz="15240" algn="l">
              <a:lnSpc>
                <a:spcPts val="19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13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MASS MEDIA – HISTORICAL PERSPECTIVE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we count on various forms of mass media and its impact on the growth of societies and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importance in the contemporary world, it is pertinent to see in little more detail how it all began under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circumstances which seem difficult to believe in modern times.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Mankind has always been interested in knowing about the physical things around and the ideas on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human life as structured by the intellectuals of the day. The only problem was the missing link of mass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medium which should work as a conduit to transport feelings of scholars to others.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is no trace available as how people from distant territories would exchange views and information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sixth century. There is a general impression that it would have been through the travelers and war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expeditions that might fetch information about far flung parts of the world. But traveling was no easy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business and in the absence of maps and knowledge of geography and routes only few would dare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explore the world and return safely back to their hometown. Since recorded history is not available of those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times it is left only to our imagination how mass communication would have been going around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civilizations which were old and developed enough to assume a shape of an organized society.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availability of languages was only ample to accomplish the task of limited scale inter-personal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communication. Sending a message to many was still an enigma.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breakthrough was made by the invention of paper but it was still far from the concept of mass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Books – first fascination towards mass media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not known as what the first book was or when exactly it saw light of the day. Traces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available to say with some certainty that in the 7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people had some idea about books. Though scant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written on very limited topics, these books can be symbolized as the pioneer in mass communication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were able, though on a very limited scale, to carry message to many others irrespective of cast, color,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religion, rich or poor.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Four early Periods in the History of the Books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entirely constructed by hand, and are largely religious texts whose creation is meant as an act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worship.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do not serve as objects of worship, but that try to explain something about the observable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world. The difficulty with the spread of such knowledge was that production is still taking place via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pre-print - manuscript - methods.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production of secular books is driven by two things: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9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The rise of universities in Europe, spreading from Italy.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9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The return of the crusaders in the 13th century, who bring with them texts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Byzantium. These books, written during the Greek and Roman periods in history, focus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this-world concerns.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Bible, books of hours (prayer books) and the religious calendars.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European life and society.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Book - from hand-written to printing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7th to the 9th century was the heyday of the "illuminated manuscript". Production of these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works took place in the monasteries scattered across Europe. These religious retreats were the repositories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those texts of Greece and Rome which survived in Europe. Monks in the monasteries made copies of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lang="ko-KR" altLang="en-US" dirty="0" smtClean="0" sz="1200"/>
          </a:p>
        </p:txBody>
      </p:sp>
      <p:sp>
        <p:nvSpPr>
          <p:cNvPr id="78" name="Rect 3"/>
          <p:cNvSpPr>
            <a:spLocks noGrp="1" noChangeArrowheads="1"/>
          </p:cNvSpPr>
          <p:nvPr/>
        </p:nvSpPr>
        <p:spPr>
          <a:xfrm rot="0">
            <a:off x="1188720" y="5828030"/>
            <a:ext cx="5457190" cy="2428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7th to 13th Century: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 age of religious "manuscript" book production. Books in this period are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13th to 15th Century: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 secularization of book production. Books are beginning to be produced </a:t>
            </a:r>
            <a:endParaRPr lang="ko-KR" altLang="en-US" dirty="0" smtClean="0" sz="1097"/>
          </a:p>
          <a:p>
            <a:pPr marL="0" indent="0" defTabSz="15240" algn="l">
              <a:lnSpc>
                <a:spcPts val="1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15th to 16th Century: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 first printed books. These are print versions of traditional works like the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16th to 17th Century: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New information is put into books that have important consequences on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88720" y="7476490"/>
            <a:ext cx="5852160" cy="25819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74920" y="1094105"/>
            <a:ext cx="1679575" cy="14966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760720" y="3935095"/>
            <a:ext cx="1256030" cy="137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846320" y="5419090"/>
            <a:ext cx="2237105" cy="80200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books in their care - both religious and secular manuscripts. However, they did not contribute much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to the advancement of that intellectual tradition, because they were not engaged in thinking about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relationship between the works in their care and the world outside the monastery.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During this time, the production of Bibles was the place where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arts of the monastic scribes, and later lay artists, flowered. It was here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the most elaborate and beautiful illumination found its outlet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manuscript books from this period represent the height of the art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decoration.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An illuminated manuscript is the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Irish Book of Kells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: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image shown here is an eight-circle cross - one of the central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motifs of this manuscript, all of which focus on aspects of Christ's life and message. According to historian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Meehan,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Book of Kells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the most lavishly decorated of any manuscript produced between the 7th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9th centuries.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most important thing about the manuscript books of this period is that they were objects of religious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veneration. They were seen as consecrated objects. Their creation was an act of religious devotion.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monks, who sat for years, working on single chapters of the Bible, were not reproducing books. They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making the word of God manifest in the world.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is the "carpet page" from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Book of Durrow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created around 680 A.D.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woven pattern on this page is called "interlace" and exhibits both zoomorphic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abstract elements in its design.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detail of interlace in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Book of Durrow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more refined by the time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illuminators get to the creation of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Book of Kells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In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Book of Durrow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interlace covers the page, in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Book of Kells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it becomes part of larger images.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this detail from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Book of Kells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showing the heads of lions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chalices spouting vines, we can more clearly see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zoomorphic aspects of interlace.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However, in interlacing, the interweaving of the bodies of snakes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lions, of peacock and fishes, chalices and vines, is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intended to be a naturalistic representation of the existing world. These images are schematic and symbolic.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images are meant to represent some aspect of Christ's life.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 think of modern books as being illustrated, but the illustration and photographs, the images, are usually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distinct from the text. In these early manuscripts dedicated to God, the two were not so separate.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Book of Durrow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page of Saint Jerome's translation of the four gospels into Vulgate.</a:t>
            </a:r>
            <a:endParaRPr lang="ko-KR" altLang="en-US" dirty="0" smtClean="0" sz="1097"/>
          </a:p>
          <a:p>
            <a:pPr marL="0" indent="0" defTabSz="15240" algn="l">
              <a:lnSpc>
                <a:spcPts val="9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Book of Kells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page of a genealogy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Christ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If you look carefully at these pages, you can see that the decoration is carried into the text. There is continuity between the words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and the decoration, a continuity that suggests that the illuminated religious manuscript is an attempt to convey the beauty of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God's message to mankind.  </a:t>
            </a:r>
            <a:endParaRPr lang="ko-KR" altLang="en-US" dirty="0" smtClean="0" sz="1097" i="1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Early analysis on manuscripts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all their beauty, as mentioned above, the manuscripts of the monasteries did little to affect life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Europe. Primarily this comes about as a consequence of the inaccessibility of the monastic libraries.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Instead of books being openly available as they are today, manuscript books were mostly locked up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monasteries strewn across Europe. Given the amount of time and energy and financial resources that went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into their production, books were far too valuable to make available to the general public. So there was no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way to use them for scholarship, even the few secular texts that may have been available.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problem was compounded by the lack of a uniform cataloging system in the monasteries. So, even if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did have access to the library of a monastery, there was no way of knowing what was in the collection,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where it might be located.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period between the 13th and 16th centuries saw the rise of a print-dominated society, one that moved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away from the Church's monopoly of information that existed during the manuscript book period. This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initially fueled by the reproduction of classic texts of antiquity. It was further fueled by the development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 kinds of books in science. These factors led to the development of books as elements of propaganda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religious education. This is not to argue that print drove all those changes. Clearly it did not. There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social and political and economic changes that made print important. Those changes might not have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happened as quickly or perhaps at all without print.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shift in consciousness that occurred with this period of history is the rise of the notion that reality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could be represented. This period saw the advent and expansion of a European-dominated world economy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beginning of a system of international competition for trade among independent states.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technology of the printing press, coupled with the surrounding changes in the political/economic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system, wrought changes in the ways in which Europe saw its place in the world.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Ancient history of printing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original method of printing was block printing, pressing sheets of paper into individually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carved wooden blocks. It is believed that block printing originated in China, and the earliest known printed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text,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Diamond Sutra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(a Buddhist scripture, was printed in China in 868 A.D.)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technique was also known in Europe, where it was mostly used to print Bibles. Because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difficulties inherent in carving massive quantities of minute text for every block, and given the levels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peasant illiteracy at the time, texts such as the "Pauper's Bibles" emphasized illustrations and used words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sparsely. As a new block had to be carved for each page, printing different books was an incredibly time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consuming activity.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Moveable clay and metal type are processes much more efficient than hand copying. The use of movable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type in printing was invented in 1041 AD by Bi Sheng in China. Bi used clay type, which broke easily, but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eventually Goryeo (Korea) sponsored the production of metal type (a type foundry was established by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Korean government in the early 15th century). Since there are thousands of Chinese characters (Koreans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also used Chinese characters in literature), the benefit of the technique is not as apparent as with alphabetic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based languages.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Movable type did spur, however, additional scholarly pursuits in China and facilitated more creative modes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printing. Nevertheless, movable type was never extensively used in China until the European style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printing press was introduced. 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From China to Germany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probably unaware of the Chinese/Korean printing methods (with substantial evidence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both sides of argument), Gutenberg refined the technique with the first widespread use of movable type,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where the characters are separate parts that are inserted to make the text. Gutenberg is also credited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use of an oil-based ink, and using "rag" paper introduced into Europe from China by way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Muslims, who had a paper mill in operation in Baghdad as early as 794. Before inventing the printing press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1440s, Gutenberg had worked as a goldsmith. Without a doubt, the skills and knowledge of metals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 learned as a craftsman were crucial to the later invention of the press.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claim that Gutenberg introduced or invented the printing press in Europe is not accepted by all.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candidate advanced is the Dutchman Laurens Janszoon Coster.  </a:t>
            </a:r>
            <a:endParaRPr lang="ko-KR" altLang="en-US" dirty="0" smtClean="0" sz="1097"/>
          </a:p>
          <a:p>
            <a:pPr marL="0" indent="0" defTabSz="15240" algn="l">
              <a:lnSpc>
                <a:spcPts val="55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14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EMERGENCE OF PRINT MEDIA AROUND THE WORLD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if the world was just waiting a breakthrough in the printing process, people from advance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countries started exploiting the new invention to vent their feeling on both religious as well as secular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matters.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Next hundred years saw a change the world had perhaps not witnessed in the previous thousand years.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opinions were brought forward, the role of gatekeepers in the world of information was reduced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considerably and new idea-exchange programs started getting very popular all over.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Though it was not the way it appears today, the pioneer work in print as a medium to spread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started first by irregular pamphleteering but soon assumed a very formal form of regular publications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during which time tens of thousands of magazines, books, newspapers and newsletters change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landscape in urban markets across the world.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 glance to early publications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1500s ---- Newssheets appear in Venice, Italy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1605 ----- Relations, France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1690 ----- Public Occurrences, first U.S. Newspaper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1704 ----- John Campbell publishes the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 Boston News-Letter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1721 ----- The New-England Courant, first printed in 1721, landed publisher James Franklin in jail.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1733 ----- Peter Zenger is put in jail for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New York Weekly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	content, but wins case against New York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seditious libel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1798 ----- Alien and Sedition Acts forbid criticism of key government officials. Repealed in 1800.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1830s ---- Penny press introduces era of mass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1864 ----- Newspapers start using telegraph to transmit news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1848 ----- Associated Press founded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1800s ---- Linotype machines speed up typesetting by making possible the automatic casting of entire lines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type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1890s ---- Period of yellow journalism. This is followed by era of Jazz Journalism.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Print comes to South Asia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at least one hundred years people in subcontinent remained unaware of the printing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technology. They, however, had some idea of printed material when ships would come from UK and bring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newspapers and magazines generally for the Englishmen serving in subcontinent.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subcontinent the print media surfaced because of the foreign rulers. India did not know about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printing or mass communication by the middle of 18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century. Since the influence of the English rulers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in the South India, most early papers also appeared in the southern cities before the print medium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came to western and northern parts.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Colonial journalism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history of media in united India is colored by the colonial experience. William Bolts, an ex-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employee of the British East India Company attempted to start the first newspaper in India in 1776. Bolts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had to beat a retreat under the disapproving gaze of the Court of Directors of the Company.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Bengal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Hickey's Bengal Gazette or the Calcutta General Advertiser was started by James Augustus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Hickey in 1780 and is regarded as the first regular publication from the Indian soil.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Gazette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a two-sheet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newspaper, specialized in writing on the private lives of the Sahibs of the Company. He dared even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mount scurrilous attacks on the Governor-General, Warren Hastings', wife, which soon landed him in hot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waters. </a:t>
            </a:r>
            <a:endParaRPr lang="ko-KR" altLang="en-US" dirty="0" smtClean="0" sz="1097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Hickey was sentenced to a 4 months jail term and Rs.500 fine, which did not deter him. After a bitter attack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the Governor-General and the Chief Justice, Hickey was sentenced to one year in prison and fined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Rs.5000, which finally drove him to penury. These were the first tentative steps of journalism in India.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Calcutta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B. Messink and Peter Reed were pliant publishers of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	India Gazette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unlike their infamous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predecessor. The colonial establishment started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Calcutta Gazette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It was followed by another private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initiative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Bengal Journal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Oriental Magazine of Calcutta Amusement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a monthly magazine made it four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weekly newspapers and one monthly magazine published from Calcutta, now Kolkata.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Madras (Chennai)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Madras Courier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was started in 1785 in the southern stronghold of Madras, which is now called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Chennai. Richard Johnson, its founder, was a government printer. Madras got its second newspaper when,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1791, Hugh Boyd, who was the editor of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Courier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quit and founded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Hurkaru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Tragically for the paper, it ceased publication when Boyd died within a year of its founding. It was only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1795 that competitors to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Courier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emerged with the founding of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Madras Gazette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followed by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India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Herald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The latter was an "unauthorised" publication, which led to the deportation of its founder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Humphreys.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Madras Courier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was designated the purveyor of official information in the Presidency.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1878, The Hindu was founded, and played a vital role in promoting the cause of Indian independence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the colonial yoke. Its founder, Kasturi Ranga Iyengar, was a lawyer, and his son, K Srinivasan assumed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editorship of this pioneering newspaper during for the first half of the 20th century. Today this paper enjoys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highest circulation in South India, and is among the top five nationally.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Bombay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Bombay, now Mumbai, surprisingly was a late starter -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The Bombay Herald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came into existence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1789. Significantly, a year later a paper called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Courier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started carrying advertisements in Gujarati. The first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merger of sorts: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Bombay Gazette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which was started in 1791, merged with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Bombay Herald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following year. Like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Madras Courier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this new entity was recognized as the publication to carry "official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notifications and advertisements".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'A Chronicle of Media and the State', by Jeebesh Bagchi in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Sarai Reader 2001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a handy timeline on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role of the state in the development of media in India for more than a century. Bagchi divides the timeline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into three 'ages'. The Age of Formulation, which starts with the Indian Telegraph Act in 1885 and ends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Report of the Sub-Committee on Communication, National Planning Committee in 1948.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Urdu Press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1822 the Persian weekly Jam-e-Jahan Numa first time published in Urdu. Some time it publishes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Urdu, some time in Persian and some time in both the languages. During the earlier days of journalism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were either weeklies or biweeklies, none of them was a daily. On January 14, 1850 Munshi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Harsukh Rai started weekly Kohinoor. With a circulation of only 350 it was the largest circulated newspaper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that time. The circulation of other newspapers on that time was only 100 to 200.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Urdu Guide was the first daily newspaper, which was started by Maulvi Kabeeruddin from Kolkata in 1858.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very same year as a second daily Roznamcha-e-Punjab started from Lahore. As a first Urdu daily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Bihar, Dini Bihar started in 1876 from Arah district. Zameendar, which was the best newspaper of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time, was started in 1903 from Lahore. It was the first newspaper, which used the news from erstwhile news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agencies. This newspaper highly supported the freedom struggle. At that time the circulation of Zameendar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30,000. Before Zameendar, in 1884 Munshi Mehar Baksh started a morning (Naseem-e-Subah) and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evening newspaper (Sham-e-Wisal). Maulvi Saiful Haq started the daily Rahbar-e-Hind from Lahore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1885. In 1902 Maulvi Sanaullah Khan started the weekly Watan which regularly published for 33 years.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Maulana Muhammed Ali Jauhar started Naqueeb-e-Hamdard in 1912. Later it called only Hamdard.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very same year Maulana Abul Kalam Azad started Al-Hilal. After Zameendar it was the largest circulated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 .On March 20, 1919 Mahashai Krishn started Partap. Partap was the first newspaper, which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started supplements.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Newspapers and movement for independence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the freedom following newspapers and magazines were started to support the freedom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struggle. Khilafat, Siasat, Ujala, Taj, Roznama-e-Hind, Ajmal, Hilal, Milap, Partap, Tej, Qaumi Awaz, Jung,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Anjam, Inqualab, Nawa-e-Waqt, Hindustan, Aftab, Jumhuriat, Iqbal, Asr-e-Jadeed, Azad-e-Hind, Sandesh,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Vakeel, Khidmat, Musalman, Azad, Paswan Weer Bharat and Al-Jamiath. Jawaharlal Nehru started Qaumi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Awaz from Lucknow in 1945. Later it also started from Patna and Delhi. This time it is publishing only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Delhi and is in very poor condition. After Indias freedom Hafiz Ali Khan Bahadur started weekly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Daur-e-Jadeed. Jamat-e-Islami Hind started weekly Dawat. This time it is publishing regularly as Bi-weekly.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Dawat has a particular readership and it is very popular among its readers due to its views on current issues.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Maulana Abdul Waheed Siddiqui started Nai Duniya, which is still publishing under the editorship of 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son Shahid Siddiqui. This time it is the famous Urdu weekly in India. Sahara Group Had started monthly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Rashtriya Sahara but later it became daily. This time it is the most popular Urdu daily of North India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publishing simultaneously from Delhi, Lucknow and Gorakhpur. Recently this group has launched a weekly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Aalmi Sahara.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Press in the US today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print media include all newspapers, newsletters, booklets, pamphlets, magazines, and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printed publications, especially those that sell advertising space as a means of raising revenue.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United States, at present, there are 1745 daily and 7602 weekly newspapers, and 64,000 magazines.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 print media, with the exception of magazines, are local, although there are some national newspapers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trade publications that have become quite successful. Magazines, on the other hand, have always been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national, although there is a trend today toward localization and specialization. Also included in print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category are directories, church and school newspapers and yearbooks, and programs at theater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presentations and sporting events.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Employment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Around 1, 20, 500 people were working in the print industry only after one hundred years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appearance of the US publication in 1690. The size kept on increasing as did many other sections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specialization.			About over two million people directly or indirectly are getting their living from the print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at present.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Specialization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media in print which earlier took the responsibility of spreading information only, has matured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the decades and now providing healthy services in entertainment, education and welfare of mankind.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business of advertising now knows no limits in financial and employment size and leading to more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avenues of jobs.  </a:t>
            </a:r>
            <a:endParaRPr lang="ko-KR" altLang="en-US" dirty="0" smtClean="0" sz="1097"/>
          </a:p>
          <a:p>
            <a:pPr marL="0" indent="0" defTabSz="15240" algn="l">
              <a:lnSpc>
                <a:spcPts val="20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15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TELEGRAPH DOES MIRACLE IN DISTANCE COMMUNICATION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TELEX AND TELEPHONE ENTHRALL PRINT COMMUNICATION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was undoubtedly a historic day when scientist Samuel Morse on May 14, 1844 successfully established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link between Baltimore and Washington DC by transmitting the first tele message ‘What hath God wrought’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a device invented by him and which we know as telegraph today.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this date, it was almost 150 years that print media was active but was not finding way to reach to a large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audience in a short time. There were no rails and motorcars. Transport system was as fast as fresh horses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could maintain it. In rains and harsh weathers communication was blocked.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news of sending message by wire to a reasonable distance in real time was received with great warmth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the print industry across the world which was assessing a bright future for it was not possible to reach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larger number of people and at a distance not possible to cover before.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How telegraph system came about?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Fires, smoke signals, and drums have been used since antiquity to transmit messages over long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distances. The term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telegraph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was coined by scientist Claude Chappe to describe such methods, a version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was invented by him and his brothers to signal each other while in school. In 1793 Chappe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introduced in France a form of this system for the transmission of messages based on stations with towers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using a code to transmit signals by the position of crossed arms.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idea of the electric telegraph was born when the first experimenters with electricity noticed that electric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charges could travel through wires over distances. In 1753 in Scotland Charles Morrison described a system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26 wires for transmitting the 26 letters of the alphabet. Electrostatic charges traveling through these wires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deflected suspended balls at the receiving station. However, this was never developed as a practical system.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During the early 19th century, several scientists experimented with the transmission of messages through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electric wires. At this time scientists had gained access to a steady, low-voltage source of electricity. Karl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Friedrich Gauss and Wilhelm Weber transmitted signals over wires and detected them with sensitive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galvanometers around 1833. In England Charles Wheatstone developed a telegraph with a five-needle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galvanometer that indicated the transmitted letters. The Wheatstone telegraph actually came into use,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linking Liverpool with Manchester in 1839. In Germany Carl Steinheil developed a telegraph that printed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coded messages on a ribbon.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electromagnet, a magnet whose field appears when current is on and disappears when it is off,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discovered in the 1820s. The American painter Samuel Morse first became acquainted with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electromagnet when it was shown to him by a young chemist he met on a transatlantic ship. Morse realized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a magnet turning on and off by transmission of a current from a distant source could be used to send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messages. He soon enlisted America's greatest scientist of the time, Joseph Henry, to develop ways to cause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electromagnet to work at a distance. The electric telegraph became truly functional with the idea of using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code of dots and dashes to transmit the letters of the alphabet. Despite this technical help, Morse is given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credit for the invention because he put together a practical system and got people to accept it.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Morse patented his telegraph in 1837 and officially inaugurated a link between Baltimore, Maryland,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Washington, DC, on May 14, 1844, by transmitting the message "What hath God wrought." The message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transmitted by a telegraph key, a special switch that allows an electric current to be rapidly switched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out; it was printed in the dot-dash code on ribbons of paper.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Morse's telegraph quickly spread in the United States, and later it superseded the existing systems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Wheatstone and Steinheil in Europe. In 1862, 240,000 km (150,000 mi) of telegraph cable covered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world, of which 77,000 km (48,000 mi) were in the United States and 24,000 km (15,000 mi) in Great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Britain. Europe and the United States became linked by an underwater telegraph cable in 1866.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rapid long-distance communication within private and public sectors depended on the telegraph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throughout the remainder of the nineteenth century. Applications were many: Railroads used the Morse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0895" y="1484630"/>
            <a:ext cx="3051175" cy="179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telegraph to aid in the efficiency and safety of railroad operations, the Associated Press to dispatch news,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industry for the transmission of information about stocks and commodities, and the general public to send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messages. The telegraph's military value was demonstrated during the Civil War (1861–1865) as a way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control troop deployment and intelligence. However, the rival technologies of the telephone and radio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would soon replace the telegraph as a primary source of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Times New Roman"/>
                <a:ea typeface="Times New Roman"/>
              </a:rPr>
              <a:t>Days of the Morse Code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Data was transmitted at about four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six bits per second in the latter half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1800s, which was as fast as a human hand could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tap out Morse code. The unit on the right is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telegraph key. A metal bar on the receiver (left)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simply banged against another bar when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current passed through, creating a clicking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sound.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print medium was still enjoying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facility of telegraph that another great facility was made available to it as the period of industrial growth got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into top gear in the 19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century. The new invention was telephone – a point to point messaging facility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spoken words. The information conveying system by reporters of the print media and talking to men-in-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power for obtaining information and passing on to millions others the next day seemed as a dream come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true.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Telephone in historic perspective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Throughout history, people have devised methods for communicating over long distances.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earliest methods involved crude systems such as drum beating or smoke signaling. These systems evolved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into optical telegraphy and by the early 1800s, electric telegraphy. The first simple telephones, which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comprised of a long string and two cans, were known in the early eighteenth century.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working electrical voice-transmission system was first demonstrated by Johann Philipp Reis in 1863. 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machine consisted of a vibrating membrane that opened or closed an electric circuit. While Reis only used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his machine to demonstrate the nature of sound, other inventors tried to find more practical applications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technology. They were found by Alexander Graham Bell in 1876 when he was awarded a patent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operational telephone. This invention proved to revolutionize the way people communicate throughout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world.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Bell's interest in telephony was primarily derived from his background in vocal physiology and his speech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instruction to the deaf. His breakthrough experiment occurred on June 2, 1875. He and his assistant,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Thomas Watson, were working on a harmonic telegraph. When a reed stuck on Watson's transmitter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intermittent current was converted to a continuous current. Bell was able to hear the sound on his receiver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confirming his belief that sound could be transmitted and reconverted through an electric wire by using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continuous electric current.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original telephone design that Bell patented was much different than the phone we know today. In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real sense, it was just a modified version of a telegraph. The primary difference was that it could transmit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true sound. Bell continued to improve upon his design. After two years, he created a magnetic telephone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was the precursor to modern phones. This design consisted of a transmitter, receiver, and a magnet.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transmitter and receiver each contained a diaphragm, which is a metal disk. During a phone call,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vibrations of the caller's voice caused the diaphragm in the transmitter to move. This motion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transferred along the phone line to the receiver. The receiving diaphragm began vibrating thereby producing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sound and completing the call.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While the magnetic phone was an important breakthrough, it had significant drawbacks. For example,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callers had to shout to overcome noise and voice distortions. Additionally, there was a time lapse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transmission which resulted in nearly incoherent conversations. These problems were eventually solved as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telephone underwent numerous design changes. The first phones made available to consumers used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single microphone. This required the user to speak into it and then put it to the ear to listen. Thomas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Edison introduced a model that had a moveable listening earpiece and stationary speaking tube. When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placing a call, the receiver was lifted and the user was connected directly to an operator who would then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switch wires manually to transmit. In 1878, the first manual telephone exchange was opened. It served 21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customers in New Haven, Connecticut. Use of the telephone spread rapidly and in 1891, the first automatic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number calling mechanism was introduced.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Long-distance service was first made available in 1881. However, the transmission rates were not good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was difficult to hear. In 1900, two workers at Bell System designed loading coils that could minimize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distortions. In 1912, the vacuum tube was adapted to the phone as an amplifier. This made it possible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have a transcontinental phone line, first demonstrated in 1915. In 1956, a submarine cable was laid across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Atlantic to allow transatlantic telephone communication. The telecommunication industry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revolutionized in 1962 when orbiting communication satellites were utilized. In 1980, a fiber-optic system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introduced, again revolutionizing the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Background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Telephones still operate on the same basic principles that Bell introduced over one hundred years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ago. If a person wishes to make a call, they pick up the handset. This causes the phone to be connected to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routing network. When the numbers are pressed on a touch-tone keypad, signals are sent down the phone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line to the routing station. Here, each digit is recognized as a combination of tone frequencies. The specific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number combination causes a signal to be sent to another phone causing it to ring. When that phone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picked up, a connection between the two phones is initiated.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mouthpiece acts as a microphone. Sound waves from the user's voice cause a thin, plastic disk inside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phone to vibrate. This changes the distance between the plastic disk and another metal disk.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intensity of an electric field between the two disks is changed as a result and a varying electric current is sent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down the phone line. The receiver on the other phone picks up this current. As it enters the receiver,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passes through a set of electromagnets. These magnets cause a metal diaphragm to vibrate. This vibration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reproduces the voice that initiated the current. An amplifier in the receiver makes it easier to hear. When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of the phones is hung up the electric current is broken, causing all of the routing connections to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released.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system of transmission presented describes what happens during a local call. It varies slightly for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types of calls such as long distance or cellular. Long distance calls are not always connected directly through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wires. In some cases, the signal is converted to a satellite dish signal and transmitted via a satellite.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cellular phones, the signal is sent to a cellular antenna. Here, it is sent via radio waves to the appropriate cell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phone.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combination of telegraph and telephone systems, scientists worked to hand over print media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great facility in the form of telex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Telex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1935, message routing was the last great barrier to full automation. Large telegraphy providers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began to develop systems that used telephone-like rotary dialing to connect teletypes. These machines were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called "telex". Telex machines first performed rotary-telephone-style pulse dialing, and then sent baud dots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code. This "type A" telex routing functionally automated message routing.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wide-coverage telex network was implemented in Germany during the 1930s. The network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used to communicate within the government. At the then-blinding rate of 45.5 bits per second, up to 25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telex channels could share a single long-distance telephone channel, making telex the least expensive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method of reliable long-distance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16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TYPES OF PRINT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a sort of boon coming in the world of print communication with the availability of printing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press, telegraph, telephone and telex, the publishing industry made hey while the sun was shinning.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hundred years was the time when the print industry tried to comprehend the new situation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shaped itself into a regular and formal sector but from the start of the 19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century, print media in most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countries started specializing in certain areas. Since business in the form of advertisements in the print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also flourishing, the media enjoyed a great deal of financial comfort and provided jobs to tens of thousands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people across the globe.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publishing industry, a synonym with print media, could be classified in general terms into three distinct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categories: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following paragraphs we will see these three areas with more details.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Newspapers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took about 150 years from the invention of printing press in the middle of 15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that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world witnessed first regular publication which could be defined as a newspaper.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there have been claims by many to be decorated as first newspaper like Mixed News in China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710,			Notizie Scritte, a monthly newspaper for which readers pay a “gazetta”, or small coin by Venetian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in 1556 etc, the World Association of Newspapers held “Relation”, as the first newspaper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published in France in 1605. By this reckoning the newspapers’ history is 400 years old. The Relation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followed a list of news papers from all around the world. Here is a brief account of some popular papers: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1621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---- In London, the newspaper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Courante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published.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1631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----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The Gazette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the first French newspaper, is founded.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1639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---- First American colonial printing press.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1645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---- World’s oldest newspaper still in circulation,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Post-och Inrikes Tidningar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is published in Sweden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1690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----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Publick Occurrences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the first newspaper published in America when it appears in Boston.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editor, Benjamin Harris, stated he would issue the paper “once a month, or, if any Glut of Occurrences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happen, oftener.” The royal authority, wary of publications printed without its express consent, suppresses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newspaper after only one issue.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1704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---- Daniel Defoe, the author of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Robinson Crusoe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and often recognized as the world’s first journalist,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begins to publish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Review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a periodical covering European affairs.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1798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---- Alois Sedenfelder Invents Lithography. Although invented over two centuries ago, off set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lithography first gained popularity in the 1960’s, and is now the industry standard.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1803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---- Australia’s military government publishes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Sydney Gazette and New South Wales Advertiser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country’s first newspaper. This is only fifteen years after the colony of convicts had been established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Sydney Cove.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1812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---- Friedrich Koenig invents the Steam Powered Cylinder Press. In 1814, John Walter, publisher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The Times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 London, began to assemble the new press in secrecy, fearing that his pressmen might riot if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discovered his plans. On the night of November 28, 1814, Walter took his pressmen away from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hand presses with the excuse that he was expecting important news from the continent. He then used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Koenig’s presses to produce the entire print run of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The Times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-- at an output of 1,100 sheets per hour.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1844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---- Telegraph is invented.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1851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---- Reuters – news agency, is established.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1900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----Vladimir Lenin founds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Iskra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in Leipzig, Germany. This revolutionary newspaper is to become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major tool for Communist propaganda. </a:t>
            </a:r>
            <a:endParaRPr lang="ko-KR" altLang="en-US" dirty="0" smtClean="0" sz="1097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44</a:t>
            </a:r>
            <a:endParaRPr lang="ko-KR" altLang="en-US" dirty="0" smtClean="0" sz="1200"/>
          </a:p>
        </p:txBody>
      </p:sp>
      <p:sp>
        <p:nvSpPr>
          <p:cNvPr id="99" name="Rect 3"/>
          <p:cNvSpPr>
            <a:spLocks noGrp="1" noChangeArrowheads="1"/>
          </p:cNvSpPr>
          <p:nvPr/>
        </p:nvSpPr>
        <p:spPr>
          <a:xfrm rot="0">
            <a:off x="1188720" y="2840990"/>
            <a:ext cx="793750" cy="5118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Newspapers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Magazines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Books</a:t>
            </a:r>
            <a:endParaRPr lang="ko-KR" altLang="en-US" dirty="0" smtClean="0" sz="1097" b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23745" y="8016240"/>
            <a:ext cx="4178935" cy="16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1903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---- Alfred Harmsworth (later Lord North cliffe) develops the first tabloid newspaper,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Daily Mirror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London.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Daily Mirror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introduced the concept of the “exclusive” interview. The first was with Lord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Minto, the new Viceroy of India, in 1905.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the newspapers came to age, they assumed different shapes and assigned themselves different jobs.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Contents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General-interest newspapers are usually journals of current news. Those can include 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Political events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Business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Culture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Sports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Opinions (either editorials, columns, or political cartoons)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use photographs to illustrate stories; they use editorial cartoonists, usually to illustrate writing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is opinion, rather than news.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specific features a newspaper may include are: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0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critical reviews of movies, plays, restaurants, etc.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editorial opinions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gossip column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comic strips and other entertainment, such as crosswords and horoscopes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sports column or section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humor column or section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food column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Types of newspapers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Besides the contents, the newspapers also specialize in their type.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Circulation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big issue with newspapers is always the size of their circulation. This also determines the revenue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can generate, and number of people it can employ with it. The mass circulation also gives a newspaper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weigh in a number of local and national matters and its editorial staff enjoys a unique freedom in more than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ways.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top ranking newspapers circulation-wise are as follow: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Garamond"/>
                <a:ea typeface="Garamond"/>
              </a:rPr>
              <a:t>Rank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Garamond"/>
                <a:ea typeface="Garamond"/>
              </a:rPr>
              <a:t>Title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Garamond"/>
                <a:ea typeface="Garamond"/>
              </a:rPr>
              <a:t>Country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Garamond"/>
                <a:ea typeface="Garamond"/>
              </a:rPr>
              <a:t>Circulation (000) 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1.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Yomiuri Shimbun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Japan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14,067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2.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The Asahi Shimbun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Japan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12,121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3.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Mainichi Shimbun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Japan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5,587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4.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Nihon Keizai Shimbun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Japan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4,635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5.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Chunichi Shimbun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Japan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4,512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6.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Bild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Germany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3,867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7.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Sankei Shimbun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Japan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2,757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45</a:t>
            </a:r>
            <a:endParaRPr lang="ko-KR" altLang="en-US" dirty="0" smtClean="0" sz="1200"/>
          </a:p>
        </p:txBody>
      </p:sp>
      <p:sp>
        <p:nvSpPr>
          <p:cNvPr id="102" name="Rect 3"/>
          <p:cNvSpPr>
            <a:spLocks noGrp="1" noChangeArrowheads="1"/>
          </p:cNvSpPr>
          <p:nvPr/>
        </p:nvSpPr>
        <p:spPr>
          <a:xfrm rot="0">
            <a:off x="1645920" y="3773170"/>
            <a:ext cx="1576705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weather news and forecasts  </a:t>
            </a:r>
            <a:endParaRPr lang="ko-KR" altLang="en-US" dirty="0" smtClean="0" sz="1097"/>
          </a:p>
        </p:txBody>
      </p:sp>
      <p:sp>
        <p:nvSpPr>
          <p:cNvPr id="103" name="Rect 3"/>
          <p:cNvSpPr>
            <a:spLocks noGrp="1" noChangeArrowheads="1"/>
          </p:cNvSpPr>
          <p:nvPr/>
        </p:nvSpPr>
        <p:spPr>
          <a:xfrm rot="0">
            <a:off x="1417320" y="3928745"/>
            <a:ext cx="1649730" cy="28314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>
                <a:solidFill>
                  <a:srgbClr val="000000"/>
                </a:solidFill>
                <a:latin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advice column  </a:t>
            </a:r>
            <a:endParaRPr lang="ko-KR" altLang="en-US" dirty="0" smtClean="0" sz="1097"/>
          </a:p>
          <a:p>
            <a:pPr marL="0" indent="0" defTabSz="15240" algn="l">
              <a:lnSpc>
                <a:spcPts val="1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International newspapers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Weekly newspapers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Sunday newspapers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National newspaper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Local newspaper 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66545" y="621665"/>
            <a:ext cx="4178935" cy="1644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8.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Canako Xiaoxi (Beijing)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China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2,627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9.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People’s Daily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China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2,509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10.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Tokyo Sports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Japan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2,425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Magazine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magazine is a periodical publication containing a variety of articles, generally financed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advertising, purchased by readers, or both.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Magazines are typically published weekly, biweekly, monthly, bimonthly or quarterly, with a date on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cover that is later than the date it is actually published. They are often printed in colour on coated paper,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are bound with a soft cover.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Types of magazines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Art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Business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Computer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Children's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Health and fitness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History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Humor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Inspirational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Men's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Women's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Luxury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Online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Pulp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Pornographic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Regional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Satirical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Teen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Consumer magazines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Consumer magazines are aimed at the public and are usually available through retail outlets. They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range from general-interest titles such as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Time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Esquire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and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Cosmopolitan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which appeal to a broad spectrum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readers, to highly specialist titles covering particular hobbies, leisure pursuits or other interests.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Business magazines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business magazines are available only, or predominantly, on subscription. In some cases these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subscriptions are available to any person prepared to pay; in others, free subscriptions are available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readers who meet a set of criteria established by the publisher. This practice, known as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controlled circulation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intended to guarantee to advertisers that the readership is relevant to their needs.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magazines have some elements in common, even if they are a listings magazine or a simple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vehicle. The main features of content in magazines mainly consist of the cover page features, reviews,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problem pages, interviews, advertisements, competitions and some form of gossip. Other common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elements are; advice columns, campaigns, do it yourself features, in our next issues, makeovers, letters’ page,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opinion columns, and contents pages.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main features of presentation of magazines are the cover pages, the layout and the design photographs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illustrations use of colour, an insight of the actual magazine and visual narrative. The better the visual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narrative of the magazine, the more it will appeal to its specific audience.  </a:t>
            </a:r>
            <a:endParaRPr lang="ko-KR" altLang="en-US" dirty="0" smtClean="0" sz="1097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7320" y="8366760"/>
            <a:ext cx="5662930" cy="16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16550" y="3291840"/>
            <a:ext cx="1715770" cy="12890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532120" y="5462270"/>
            <a:ext cx="1490345" cy="16027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Books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Though books existed before print technology, they were limited in number and their readership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also confined to few.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book is a collection of paper, parchment or other material with a piece of text written on them, bound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together along one edge, usually within covers. Each side of a sheet is called a page and a single sheet within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book may be called a leaf. A book is also a literary work or a main division of such a work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Books became part of the mass media after the printing process was invented. Now they are in the reach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almost everyone and could cover any distance on the planet. Their topics are varied and their value could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judged from the fact that most libraries in the world are due to books rather than other published material.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writing systems were invented in ancient civilizations, nearly everything that could be written upon—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stone, clay, tree bark, metal sheets—was used for writing. Alphabetic writing emerged in Egypt around 1800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BC.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Scroll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Egyptian papyrus showing the god Osiris and the weighing of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heart 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Ö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Ancient Egypt, papyrus (a form of paper made by weaving the stems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papyrus plant, then pounding the woven sheet with a hammer like tool)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used for writing maybe as early as from First Dynasty, but first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evidence is from the account books of King Neferirkare Kakai of the Fifth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Dynasty (about 2400 BC).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Middle Ages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Manuscripts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the invention and adoption of the printing press, almost all books were copied by hand,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made books expensive and comparatively rare. Smaller monasteries had usually only some dozen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books, medium sized a couple hundred. By the ninth century larger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collections held around 500 volumes.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Wood block printing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 15th century incunabulum 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Ö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Notice the blind-tooled cover, cornerbosses and clasps for holding the book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shut.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Innovations in casting the type based on a matrix and hand mould.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invention made books comparatively affordable (although still quite expensive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most people) and more widely available. It is estimated that in Europe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about 1,000 various books were created per year before the development of the printing press.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Paper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Though papermaking in Europe had begun around the 11th century, up until the beginning of 16th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century vellum and paper were produced congruent to one another, vellum being the more expensive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durable option. Printers or publishers would often issue the same publication on both materials, to cater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than one market. As was the case with many medieval inventions, paper was first made in China,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early as 200 B.C., and reached Europe through Muslim territories. At first made of rags, the industrial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revolution changed paper-making practices, allowing for paper to be made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out of wood pulp.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Modern world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 collection of Penguin Books 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Ö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rise of printing in the fifteenth century, books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published in limited numbers and were quite valuable. The need to protect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56760" y="3191510"/>
            <a:ext cx="1715770" cy="12585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precious commodities was evident. One of the earliest references to the use of bookmarks was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1584 when the Queen's Printer, Christopher Barker, presented Queen Elizabeth I with a fringed silk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bookmark. Common bookmarks in the eighteenth and nineteenth centuries were narrow silk ribbons bound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into the book at the top of the spine and extended below the lower edge of the page. The first detachable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bookmarks began appearing in the 1850's and were made from silk, embroidered fabrics or leather.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until the 1880's, did paper and other materials become more common.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Steam-powered printing presses became popular in the early 1800s. These machines could print 1,100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sheets per hour, but workers could only set 2,000 letters per hour. Monotype and linotype presses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introduced in the late 19th century. They could set more than 6,000 letters per hour and an entire line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type at once.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centuries after the 15th century were thus spent on improving both the printing press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conditions for freedom of the press through the gradual relaxation of restrictive censorship laws. In mid-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20th century, Europe book production had risen to over 200,000 titles per year.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Collections of books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Middle Ages, monasteries and universities had also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libraries that could be accessible to general public. Typically not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whole collection was available to public; the books could not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borrowed and often were chained to reading stands to prevent theft.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Celsus Library was built in 135 A.D. and could house around 12,000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scrolls.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beginning of modern public library begins around 15th century.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advent of paperback books in the 20th century led to an explosion of popular publishing. Paperback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books made owning books affordable for many people.  </a:t>
            </a:r>
            <a:endParaRPr lang="ko-KR" altLang="en-US" dirty="0" smtClean="0" sz="1097"/>
          </a:p>
          <a:p>
            <a:pPr marL="0" indent="0" defTabSz="15240" algn="l">
              <a:lnSpc>
                <a:spcPts val="3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17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PRESS FREEDOM, LAWS AND ETHICS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–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NEW DEBATE RAGING STILL HARD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print media taking the world by storm and having enormous influence on cultures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hitting the government policies hard, debate of its use and misuse was a natural phenomenon.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US newspaper was titled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Publick Occurrences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and came out in 1690. It only printed one issue, however,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it was shut down by colonial officials, possibly due to censorship and control issues. It followed the two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column format, and was a single sheet, printed on both sides.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early part it were the governments which prevailed and successfully harassed the printers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publishers but as the print media got backing of society and organized itself, it started getting difficult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government to twist media arms at will.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the tug of war looked getting out of hand, it was decided that parliaments should come into play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enact laws which discipline the media. The laws were framed against which started press freedom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campaigns. Some organizations, from within the media took in onto themselves to develop a code of ethics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self-accountability. The process of making laws against press, the struggle of press freedom along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practicing media ethics continued and rages strong even today.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Here we will examine this debate to some detail.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Press laws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Laws are the laws concerning the licensing of books and the liberty of expression in 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products of the printing-press, especially newspapers. The liberty of the press has always been regarded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political writers as of supreme importance.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the invention of printing, the Church assumed the right to control the expression of all opinion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distasteful to her. The Church and universities soon found the output of books beyond their control.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1496 Pope Alexander VI began to be restrictive, and in 1501 he issued a bill against unlicensed printing,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introduced the principle of censorship. Between 1524 and 1548 the Imperial Diet in Germany drew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up various stringent regulations; and in France, prohibited by edict, under penalty of death, the printing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books.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Censorship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Censorship was either restrictive or corrective, i.e., it interfered to restrict or prevent publication,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enforced penalties after publication. Repression of free discussion was regarded as so necessary a part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that Sir Thomas More in his Utopia makes it punishable with death for a private individual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criticize the conduct of the ruling power.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 Elizabeth the Star Chamber assumed the right to confine printing to London, Oxford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Cambridge, to limit the number of printers and presses, to prohibit all publications issued without proper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license, and to enter houses to search for unlicensed presses and publications.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Legislation on press laws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seventy countries around the world have implemented some form of freedom of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legislation, which sets rules on access to information or records held by government bodies, the oldest being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Sweden's Freedom of the Press Act of 1766.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more countries are working towards introducing such laws, and many regions of countries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national legislation have local laws - for example, all states of the US have access laws as well as the 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legislation. In general, such laws define a legal process by which government information is available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many countries there are vague constitutional guarantees for the right of access to information, but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usually these are unused unless specific legislation to support them.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laws may also be described as open records or (especially in the United States) sunshine laws.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related concept is open meetings legislation, which allows the public access to government meetings,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just to the records of them. In many countries, privacy or data protection laws may be part of the freedom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information legislation; the concepts are often closely tied together in political discourse.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basic principle behind most freedom of information legislation is that the burden of proof falls on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body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asked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for information, not the person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asking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for it. The requester does not usually have to give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explanation for their request, but if the information is not disclosed a valid reason has to be given.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Laws in some countries- examples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Australia, the Freedom of Information Act 1982 was passed at the federal level in 1982, applying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all "ministers, departments and public authorities" of the Commonwealth.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is similar legislation in all states and territories: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Australian Capital Territory, the Freedom of Information Act 1989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 South Wales, the Freedom of Information Act 1989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Northern Territory, the Information Act 2003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0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Tasmania, the Freedom of Information Act 1991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Victoria, the Freedom of Information Act 1982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Western Australia, the Freedom of Information Act 1992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Canada, the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Access to Information Act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allows citizens to demand records from federal bodies. This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enforced by the Information Commissioner of Canada. There is also a complementary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	Privacy Act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introduced in 1983. The purpose of the Privacy Act is to extend the present laws of Canada that protect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privacy of individuals with respect to personal information about themselves held by a federal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institution and that provide individuals with a right of access to that information. It is a Crown copyright.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Complaints for possible violations of the Act may be reported to the Privacy Commissioner of Canada.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European Union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Regulation 1049/2001 of the European Parliament and the Council of 30 May 2001 regarding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access to European Parliament, Council and Commission documents grants a right of access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documents of the three institutions to any Union citizen and to any natural or legal person residing,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having its registered office, in a Member State. "Document" is defined broadly and it is assumed that 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documents, even if classified, may be subject to right of access unless it falls under one of the exceptions. If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access is refused, the applicant is allowed a confirmatory request. A complaint against a refusal can be made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European Ombudsman or an appeal can be brought before the Court of First Instance.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addition, the Directive 2003/98/EC of the European Parliament and the Council of 17 November 2003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the re-use of public sector information sets out the rules and practices for accessing public sector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 resources for further exploitation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Indian Right to Information Act was introduced to the Indian Parliament in July 2000. It came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into effect on 12 Oct 2005. Under this law the information has become a fundamental right of the citizen.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 this law all Government Bodies or Government funded agencies have to designate a Public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 officer (PIO). The PIO's responsibility is to ensure that information requested is disclosed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petitioner within 30 days or within 48 hours in case of information concerning the life and liberty of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person. The law was inspired by previous legislations from selected states (among them Maharastra, Goa,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Karnataka, Delhi etc) that allowed the right to information (to different degrees) to citizens about activities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any State Government body. </a:t>
            </a:r>
            <a:endParaRPr lang="ko-KR" altLang="en-US" dirty="0" smtClean="0" sz="1097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</a:t>
            </a:r>
            <a:endParaRPr lang="ko-KR" altLang="en-US" dirty="0" smtClean="0" sz="1200"/>
          </a:p>
        </p:txBody>
      </p:sp>
      <p:sp>
        <p:nvSpPr>
          <p:cNvPr id="114" name="Rect 3"/>
          <p:cNvSpPr>
            <a:spLocks noGrp="1" noChangeArrowheads="1"/>
          </p:cNvSpPr>
          <p:nvPr/>
        </p:nvSpPr>
        <p:spPr>
          <a:xfrm rot="0">
            <a:off x="1188720" y="3481070"/>
            <a:ext cx="2875280" cy="158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Queensland, the Freedom of Information Act 1992  </a:t>
            </a:r>
            <a:endParaRPr lang="ko-KR" altLang="en-US" dirty="0" smtClean="0" sz="1097"/>
          </a:p>
        </p:txBody>
      </p:sp>
      <p:sp>
        <p:nvSpPr>
          <p:cNvPr id="115" name="Rect 3"/>
          <p:cNvSpPr>
            <a:spLocks noGrp="1" noChangeArrowheads="1"/>
          </p:cNvSpPr>
          <p:nvPr/>
        </p:nvSpPr>
        <p:spPr>
          <a:xfrm rot="0">
            <a:off x="960120" y="3636010"/>
            <a:ext cx="3293110" cy="155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>
                <a:solidFill>
                  <a:srgbClr val="000000"/>
                </a:solidFill>
                <a:latin typeface="Symbol"/>
              </a:rPr>
              <a:t>•</a:t>
            </a:r>
            <a:endParaRPr lang="ko-KR" altLang="en-US" dirty="0" smtClean="0" sz="1002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number of high profile disclosures revealed corruptions in various government schemes such scams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Distribution Systems (ration stores), disaster relief, construction of highways etc. The law itself has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been hailed as a landmark in India's drive towards more openness and accountability.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United States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United States the Freedom of Information Act was signed into law by President Lyndon B.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Johnson on July 4, 1966 and went into effect the following year. The Electronic Freedom of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 Amendments was signed by President Bill Clinton on October 2, 1996.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Act applies only to federal agencies. However, all of the states, as well as the District of Columbia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territories, have enacted similar statutes to require disclosures by agencies of the state and of local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governments, though some are significantly broader than others. Many combine this with Open Meetings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legislation, which requires government meetings to be held publicly.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Pakistan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President Pervez Musharraf promulgated the Freedom of Information Ordinance 2002 in October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2002. The law allows any citizen access to public records held by a public body of the federal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including ministries, departments, boards, councils, courts and tribunals. It does not apply to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owned corporations or provincial governments. The bodies must respond within 21 days.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Colonial period in subcontinent – Laws in the 19</a:t>
            </a:r>
            <a:r>
              <a:rPr lang="en-US" altLang="ko-KR" dirty="0" smtClean="0" sz="701" b="1">
                <a:solidFill>
                  <a:srgbClr val="000000"/>
                </a:solidFill>
                <a:latin typeface="Garamond"/>
              </a:rPr>
              <a:t>th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&amp; 20</a:t>
            </a:r>
            <a:r>
              <a:rPr lang="en-US" altLang="ko-KR" dirty="0" smtClean="0" sz="701" b="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 century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Constitution of 1973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Article 19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article reads as follows: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“Every citizen shall have the right of freedom of speech and expression, and there shall be freedom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press, subject to any reasonable restrictions imposed by law in the interest of the glory of Islam or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integrity, security, or defense of Pakistan or any part thereof, friendly relations with foreign states, public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order, decency or morality or in relation to the contempt of court, defamation or incitement to an office.”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Press Council of Pakistan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law states that the Code, which deal with issues as morality, plagiarism, fairness, accuracy,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privacy, sensationalism, confidentiality and privilege, will allow journalists to operate “in accordance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canons of decency, principles of professional conduct and precepts of freedom and responsibility,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serve the public interest by ensuring an unobstructed flow of news and views to the people envisaging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honesty, accuracy, objectivity and fairness shall be the guidelines for the press while serving the public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interest.”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Council will be an independent corporate entity, with its own staff, secretariat and budget and will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financed through an annual governmental grant-in-aid as well as other grants and donations and such fees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it may levy from registered newspapers and news agencies. This council is considered to be a euphemistic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connotation of censorship.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Freedom of Information Ordinance 2002 </a:t>
            </a:r>
            <a:endParaRPr lang="ko-KR" altLang="en-US" dirty="0" smtClean="0" sz="1097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51</a:t>
            </a:r>
            <a:endParaRPr lang="ko-KR" altLang="en-US" dirty="0" smtClean="0" sz="1200"/>
          </a:p>
        </p:txBody>
      </p:sp>
      <p:sp>
        <p:nvSpPr>
          <p:cNvPr id="118" name="Rect 3"/>
          <p:cNvSpPr>
            <a:spLocks noGrp="1" noChangeArrowheads="1"/>
          </p:cNvSpPr>
          <p:nvPr/>
        </p:nvSpPr>
        <p:spPr>
          <a:xfrm rot="0">
            <a:off x="1645920" y="3943985"/>
            <a:ext cx="2893695" cy="15728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Registration of books and newspaper act,1867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Press (emergency power) act 1931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States (protection against disaffection) act, 1922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Foreign relations act 1932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Criminal law amendment act 1932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States protection act, 1934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Post office act 1898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Official secret act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Press and Publication Ordinance of 1963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freedom of information ordinance introduced in 2002 contains some positive features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acknowledging citizens right to know. However, the 21st day time frame for the release of information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inclusion of courts and tribunals, among those require disclosing information mar its true spirit. Large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amounts of information are also not subject to disclosure under the ordinance, largely undermining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public’s right to know. Instead of applying to all records held by public bodies, the ordinance provides a,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restrictive list of public records subject to disclosure.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Article 19 of the Universal Declaration of Human Rights, states: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"Everyone has the right to freedom of opinion and expression; the right includes freedom to hold opinions without interference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and to seek, receive and impart information and ideas through any media regardless of frontiers."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Activities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Article 19 monitors threats to free expression around the globe, lobbies governments to adopt laws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conform to international standards on freedom of expression; and drafts legal standards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strengthen media, public broadcasting, free expression and access to government-held information.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also produces legal analysis and critiques of national laws, including media laws; provides legal counsel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behalf of individuals or groups whose rights have been violated; and provides capacity-building support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non-governmental organizations, judges and lawyers, journalists, media owners, media lawyers, public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officials and parliamentarians.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Article 19’s work is organized into five Regional Programmes – Africa, Asia, Europe, Latin America,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Middle East – and a Law Programme. It works in partnership with 52 organizations in more than 30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countries around the world.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Article 19 is a founding member of the Freedom of Information Advocates (FOIA) Network, a global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forum that aims to support campaigning, advocacy and fundraising on access to information through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exchange of information, ideas and strategies. The FOIA Network also aims to facilitate the formation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regional or international coalitions to address access to information issues.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Media Ethics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issue of self censor has always been in view of the media people. And in particular it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observed that some elements amongst the media were responsible for maligning the name of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profession, many a media bodies prepared a code of ethics. The code is supposed to be practiced in letter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spirit to ensure that the weapon of media is not proving detrimental for the society.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specimen of the code is given below: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DECLARATION OF PRINCIPLES ON THE CONDUCT OF JOURNALISTS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Adopted by the Second World Congress of the International Federation of Journalists at Bordeaux on 25-28 April 1954 and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amended by the 18th IFJ World Congress in Helsingör on 2-6 June 1986.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international declaration is proclaimed as a standard of professional conduct for journalists engaged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gathering, transmitting, disseminating and commenting on news and information and in describing events.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1.								Respect for truth and for the right of the public to truth is the first duty of the journalist.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2.								In pursuance of this duty, the journalist shall at all times defend the principles of freedom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honest collection and publication of news, and of the right of fair comment and criticism.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3.								The journalist shall report only in accordance with facts of which he/ she knows the origin.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journalist shall not suppress essential information or falsify documents.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4.								The journalist shall use only fair methods to obtain news, photographs and documents.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5.								The journalist shall do the utmost to rectify any published information which is found to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harmfully inaccurate. 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6.								The journalist shall observe professional secrecy regarding the source of information obtained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confidence.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7.								The journalist shall be aware of the danger of discrimination being furthered by the media,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shall do the utmost to avoid facilitating such discrimination based on, among other things, race,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sex, sexual orientation, language, religion, political or other opinions, and national or social origins.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8.								The journalist shall regard as grave professional offences the following: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9.								Journalists worthy of that name shall deem in their duty to observe faithfully the principles stated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above. Within the general law of each country the journalist shall recognize in professional matters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jurisdiction of colleagues only, to the exclusion of every kind of interference by governments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others. </a:t>
            </a:r>
            <a:endParaRPr lang="ko-KR" altLang="en-US" dirty="0" smtClean="0" sz="1097"/>
          </a:p>
          <a:p>
            <a:pPr marL="0" indent="0" defTabSz="15240" algn="l">
              <a:lnSpc>
                <a:spcPts val="5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53</a:t>
            </a:r>
            <a:endParaRPr lang="ko-KR" altLang="en-US" dirty="0" smtClean="0" sz="1200"/>
          </a:p>
        </p:txBody>
      </p:sp>
      <p:sp>
        <p:nvSpPr>
          <p:cNvPr id="123" name="Rect 3"/>
          <p:cNvSpPr>
            <a:spLocks noGrp="1" noChangeArrowheads="1"/>
          </p:cNvSpPr>
          <p:nvPr/>
        </p:nvSpPr>
        <p:spPr>
          <a:xfrm rot="0">
            <a:off x="2216150" y="1584960"/>
            <a:ext cx="4807585" cy="688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Plagiarism.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Malicious misrepresentation.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Calumny, slander, libel, unfounded accusations.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Acceptance of a bribe in any form in consideration of either publication or suppression.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18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INDUSTRIALIZATION OF PRINT PROCESSES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Development of the printing press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original method of printing was block printing, pressing sheets of paper into individually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carved wooden blocks also called xylography. It is believed that block printing originated in China,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earliest known printed text,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Diamond Sutra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(a Buddhist scripture was printed in China in 868 A.D.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technique was also known in Europe, where it was mostly used to print Bibles. Because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difficulties inherent in carving massive quantities of minute text for every block, and given the levels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peasant illiteracy at the time, texts such as the "Pauper's Bibles" emphasized illustrations and used words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sparsely. As a new block had to be carved for each page, printing different books was an incredibly time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consuming activity.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Moveable clay and metal type are processes much more efficient than hand copying. The use of movable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type in printing was invented in 1041 A.D. by Bi Sheng in China. Bi used clay type, which broke easily, but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eventually Goryeo (Korea) sponsored the production of metal type (a type foundry was established by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Korean government in the early 15th century). Since there are thousands of Chinese characters (Koreans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also used Chinese characters in literature), the benefit of the technique is not as apparent as with alphabetic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based languages.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Movable type did spur, however, additional scholarly pursuits in China and facilitated more creative modes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printing. Nevertheless, movable type was never extensively used in China until the European style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printing press was introduced in relatively recent times (thus bringing the technology full circle).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probably unaware of the Chinese/Korean printing methods, Gutenberg refined the technique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first widespread use of movable type, where the characters are separate parts that are inserted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make the text. Gutenberg is also credited with the first use of an oil-based ink, and using "rag" paper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introduced into Europe from China by way of Muslims, who had a paper mill in operation in Baghdad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early as 794.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inventing the printing press in 1440, Gutenberg had worked as a goldsmith. Without a doubt,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skills and knowledge of metals that he learned as a craftsman were crucial to the later invention of the press.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claim that Gutenberg introduced or invented the printing press in Europe is not accepted by all.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candidate advanced is the Dutchman Laurens Janszoon Coster.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Impact of printing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Previously, books were copied mainly in monasteries, or (from the 13th century) in commercial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scriptoria, where scribes wrote them out by hand. Books were therefore a scarce resource. While it might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take someone a year to hand copy a Bible, with the Gutenberg press it was possible to create several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hundred copies a year, with two or three people that could read, and a few people to support the effort.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Each sheet still had to be fed manually, which limited the reproduction speed, and the type had to be set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manually for each page, which limited the number of different pages created per day. Books produced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period, between the first work of Johann Gutenberg and the year 1500, are collectively referred to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incunabula.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replacement of hand copied manuscripts with printed works was not received with much joy. Not only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did the authorities contemplate making printing presses an industry requiring a license from the Catholic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Church (an idea rejected in the end), but as early as in the 15th century some nobles refused to have printed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books in their libraries to sully their valuable hand copied manuscripts. Similar resistance was later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encountered in much of the Islamic world, where calligraphic traditions were extremely important, and also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Far East.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Despite some resistance, Gutenberg's printing press spread rapidly across Europe. Within thirty years of its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invention in 1453, towns from Hungary to Spain and from Italy to Britain had functional printing presses. It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has been theorized that this incredibly rapid expansion shows not only a higher level of industry (fueled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high-quality European paper mills that had been opening over the past century) than expected, but also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significantly higher level of literacy than has often been estimated.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printing press in a Muslim territory opened in Andalusia (Muslim Spain) in the 1480s. This printing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was run by a family of Jewish merchants who printed texts with the Hebrew script. After 1490s,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was moved from Granada to Istanbul (a popular destination for thousands of Andalusia Jews).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Art of book printing and typeface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years, book printing was considered a true art-form. Typesetting, or the placement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characters on the page, including the use of ligatures, was passed down from master to apprentice.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Germany, the art of typesetting was termed the "black art", and it has largely been lost, due to advances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computer typesetting programs, which make it possible to get similar results with less human involvement.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few practitioners continue to print books the way Gutenberg did. There is a yearly convention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traditional book printers in Mainz, Germany.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Printing in the industrial age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While the Gutenberg press was much more efficient than manual copying, the Industrial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Revolution and the invention of the steam powered press by Friedrich Gottlob Koenig and Andreas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Friedrich Bauer in 1812 made it possible to print tens of thousands of copies of a page in a day. Koenig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Bauer sold one of their first models to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The Times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 1814 and went on to perfect the early model so that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could print on both sides of a sheet at once. This made newspapers available to a mass audience, and 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1820s changed the nature of book production, forcing a greater standardization in titles and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metadata (computing). Later on in the middle of the 19th century the rotary press (invented in the United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States by Richard M. Hoe) allowed millions of copies of a page in a single day. Mass production of printed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works flourished after the transition to rolled paper, as continuous feed allowed the presses to run at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much faster pace. It is interesting to note that the Gutenberg press was essentially unchanged from the time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its invention until the industrial revolution--a testament to its effectiveness. Movable type has been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credited as the single most important invention of the millennium.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Lithography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printing technology that dates back to 1798 when Alois Senenfelder developed a method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imaging limestone from which a print was produced. Based on the principle that oil and water do not mix,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aluminum or plastic plate is coated with a photopolymer film that is exposed to light through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photographic mask. The exposed areas are chemically "hardened," and the unexposed areas are dissolved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the plate is put through a chemical process, which is the next stage. When printing a page, the plate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dampened, and the water adheres only to the unexposed, non-image areas, which repel the greasy ink that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applied to the plate immediately thereafter.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Lithography ("writing on stone") is accomplished according to the same principle today, but the stone has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been replaced by a metal plate and the technology of preparing the plate has become more sophisticated.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Lithography is less expensive than either letterpress or gravure printing and is a reasonable alternative,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particularly when an order calls for a short run.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Offset printing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Offset printing is a widely used technique where the inked image is transferred (or "offset") from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plate first to a rubber blanket, then to the printing surface. When used in combination with the lithographic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process, which is based on the repulsion of oil and water, the offset technique employs a flat image carrier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which the image to be printed obtains ink from ink rollers, while the non-printing area attracts a film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water, keeping the nonprinting areas ink-free.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advantages of offset printing include: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Consistent high image quality — sharper and cleaner than letterpress printing because the rubber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blanket conforms to the texture of the printing surface 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Usability on a wide range of printing surfaces in addition to smooth paper (e.g., wood, cloth, metal,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leather, rough paper)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Quick and easy production of printing plates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Longer plate life than on direct litho presses — because there is no direct contact between the plate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printing surface.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lithographic offset printing press was created in England around 1875 and was designed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printing on metal. The offset cylinder was covered with specially treated cardboard that transferred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printed image from the litho stone to the surface of the metal. About five years later, the cardboard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covering of the offset cylinder was changed to rubber, which is still the most commonly used material.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person to use an offset press to print on paper was most likely American Ira Washington Rubel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1903. Roughly at the same time, a German engineer by the name of Christopher Hermann invented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similar machine. He got the idea accidentally by noticing that whenever a sheet of paper was not fed into 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lithographic press during operation, the stone printed its image to the rubber-covered impression cylinder,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next impression had an image on both sides: direct litho on the front and an image from the rubber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blanket on the back. Rubel then noticed that the image on the back of the sheet was much sharper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clearer than the direct litho image because the soft rubber was able to press the image onto the paper better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than the hard stone. He soon decided to build a press which printed every image from the plate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blanket and then to the paper. Brothers Charles and Albert Harris independently observed this process 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about the same time and developed an offset press for the Harris Automatic Press Company soon after.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Harris designed his offset press around a rotary letterpress machine. It used a metal plate bent around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cylinder at the top of the machine that pressed against ink and water rollers. A blanket cylinder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positioned directly below, and in contact with, the plate cylinder. The impression cylinder below pressed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paper to the blanket in order to transfer the image to the sheet (see diagram). While this basic process is still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used today, refinements include two-sided printing and web feeding (using rolls of paper rather than sheets).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During the 1950s, offset printing became the most popular form of commercial printing as improvements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made in plates, inks and paper, maximizing the technique's superior production speed and plate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durability. Today, the majority of printing, including newspapers, is done by the offset process.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Photo offset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most common kind of offset printing is derived from photo offset process. In such cases,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documents to be printed are first recorded on film negatives. Images from such negatives are then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transferred to photomechanical printing plates much the same way as photographs are developed.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measured amount of light is allowed to pass through the negatives and exposed the printing plate.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chemical reaction then occurs that allows an ink-receptive coating to be activated, thus transferring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image from the negative to the plate.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Present day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Offset printing is the most common form of high volume commercial printing, due to advantages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quality and efficiency in high volume jobs. However, modern digital "presses" (inkjet based) are getting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closer to the cost/benefit of offset for high quality work. However, they have not yet been able to compete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sheer volume of product that an offset press can produce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Desktop publishing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requires a desktop publishing program, such as PageMaker or Quark Express, a large monitor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laser printer. The term "desktop publishing" was very popular when personal computers began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proliferate in the 1980s.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desktop publishing program (DTP), also called a "page layout program," provides complete page design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capabilities, including magazine style columns, rules and borders, page, chapter and caption numbering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well as precise typographic alignment. A key feature is its ability to flow text around graphic objects in a </a:t>
            </a:r>
            <a:endParaRPr lang="ko-KR" altLang="en-US" dirty="0" smtClean="0" sz="1097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variety of ways. Although many word processing programs offer most of these features, a desktop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publishing program provides ultimate flexibility.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Original text and graphics may be created in a desktop publishing program, but graphics tools especially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often elementary. Typically, text is created in a word processing program, and illustrations are created in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CAD, drawing or paint program. Then, the text and images are imported into the publishing program.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laser printer may be used for final output, but shaded drawings and photographs print better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commercial high-resolution image setters. For transfer to a commercial printer, documents are generally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saved in their native page layout format such as PageMaker and Quark Express or as PDF files.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publishing on the Web, PDF files have become the de facto standard for documents that are downloaded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read independently of the HTML pages on the site. </a:t>
            </a:r>
            <a:endParaRPr lang="ko-KR" altLang="en-US" dirty="0" smtClean="0" sz="1097"/>
          </a:p>
          <a:p>
            <a:pPr marL="0" indent="0" defTabSz="15240" algn="l">
              <a:lnSpc>
                <a:spcPts val="55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19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EFFECTS OF PRINT MEDIA ON SOCIETY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rapid growth of print media in almost all the major parts of the world was bound to create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across-the-board changes in the life of people for it was after centuries that people were exposed to secular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ideas and the grip of the church in most parts of the Europe and America in manipulating social life started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losing ground. Since the massive change in communication occurred at a time when industrial revolution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also brought about change of thought process, the role of media triggered a bigger than expected changes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social life of the masses.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Language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to benefit from the printed words was the language itself. Due to distance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literature getting into limited hands, common people were far from knowing a standard language of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land. The printing of books and letters in high number standardized the languages and make them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effective tool of communication by setting certain meanings of words, phrases, symbols and signs. It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due to print impression that some of the sign got international recognition.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Economic ideas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breaking down of church’s control over written communication, and involving more people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print communication by the early newspapers and periodicals, money generation methods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increasing trade became common topics. The growth of economies due to understanding of monetary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fiscal matters by more people further weaken the forces of religion in the west and the society continued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bend towards a material world.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Knowledge of science and technology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newspapers and manuals proved a great success in highlighting the work of scientists and new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ideas on technologies. Spreading the science ideas across the European continent, the print media worked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a catalyst to gear up the industrialization which was based on the new technologies worked out during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centuries. The invention of steam engine in return gave boost to the print media by spreading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printed words to far flung areas and thus encouraging people from the small towns to participate in debates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science ideas and cause a great thrust in the growth of industries.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Politics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sixteenth century the world knew little about democracy and civil rights. But with the world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civil rights spreading and voices were raised by sociologists. The sharing of political ideas grew in size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extent that in many countries a revolution against the dictatorial government and monarchs took place.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setting up of parliaments and reports of deliberations from inside the parliament has always an interest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common people. Till today most politics are done through media which is regarded as the forth pillar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democracy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Education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print media has been largely responsible for running educational campaign for ordinary people.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only pieces of information or news are conveyed to readers, experts from almost all the major fields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life – medicine, education, environment, economists and religious scholars – write in the print media. This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enormous thing to be done by the media.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Wars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has stood firm at the times of war or invasion by the enemy. It tells people what to do at war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 and keep the nation’s spirit high.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Sports and entertainment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that the media is always busy in serious and rather sober matters of education and politics,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has done a great deal of entertainment by reporting articles and information about music, sports and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recreational activities.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Bring world closer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media has been responsible to bring the world closer. It tells similarities in human living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differences so that people intending to travel due to business, health or educational purposes know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advance about the new land. It tells interesting features, discoveries and historical heritage to urge people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visit each other’s lands and thus know each other better than before.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Historic perspective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discovery and establishment of the printing of books with moveable type marks a paradigm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shift in the way information was transferred in Europe. The impact of printing is comparable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development of language, the invention of the alphabet, and the invention of the computer as far as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effects on the society.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Gutenberg's findings not only allowed a much broader audience to read Martin Luther's German translation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Bible, it also helped spread Luther's other writings, greatly accelerating the pace of Protestant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Reformation. They also led to the establishment of a community of scientists (previously scientists were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mostly isolated) that could easily communicate their discoveries, bringing on the scientific revolution. Also,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early texts were printed in Latin, books were soon produced in common European vernacular,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leading to the decline of the Latin language.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Korea and China, there were no texts similar to the Bible which could guarantee a printer return on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high capital investment of a printing press, and so the primary form of printing was wood block printing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was more suited for short runs of texts for which the return was uncertain.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Because of the printing press, authorship became more meaningful. It was suddenly important who had said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written what, and what the precise formulation and time of composition was. This allowed the exact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citing of references and producing the rule. Before the author was less important, since a copy of Aristotle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made in Paris might not be identical to one made in Bologna. For many works prior to the printing press,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name of the author was entirely lost. Because the printing process ensured that the same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fell on the same pages, page numbering, tables of contents, and indices became common. The process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reading was also changed, gradually changing from oral readings to silent, private reading. This gradually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raised the literacy level as well, revolutionizing education.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can also be argued that printing changed the way Europeans thought. With the older illuminated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manuscripts, the emphasis was on the images and the beauty of the page. Early printed works emphasized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principally the text and the line of argument. In the sciences, the introduction of the printing press marked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move from the medieval language of metaphors to the adoption of the scientific method.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general, knowledge came closer to the hands of the people, since printed books could be sold for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fraction of the cost of illuminated manuscripts. There were also more copies of each book available, so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people could discuss them. Within 50-60 years, the entire library of "classical" knowledge had been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printed on the new presses. The spread of works also led to the creation of copies by other parties than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original author, leading to the formulation of copyright laws. Furthermore, as the books spread into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hands of the people, Latin was gradually replaced by the national languages. This development was one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keys to the creation of modern nations.  </a:t>
            </a:r>
            <a:endParaRPr lang="ko-KR" altLang="en-US" dirty="0" smtClean="0" sz="1097"/>
          </a:p>
          <a:p>
            <a:pPr marL="0" indent="0" defTabSz="15240" algn="l">
              <a:lnSpc>
                <a:spcPts val="16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20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– HAND IN HAND WITH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area which benefited the most from the extraordinary growth of mass media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seventeenth century is advertising. Advertising generally means announcing new products and services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commercial interest and which people can use as part of their daily life.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Always present before the mass media, advertisements were, however, few and far between. People would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know little about the products and services available to them within a society. Verbal announcements on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beat of drums or distribution of hand-written bills were common mode of telling the people around about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something pertaining to them. It was never an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the time printing process introduced in the middle of the fifteenth century no one would have thought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the new invention would lead to entirely a new industry which would create jobs for millions of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around the world and generate enormous business.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only the mass media helped the advertising industry grow, the later reciprocated in equal terms and 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present stage has come when outlets of mass media are opened only after ensuring that ample support from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advertising business is available. Fact is that the two areas – mass communication and advertising –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essential for each other’s survival.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Here we will examine the rise of advertising business as part of mass communication, its impact on society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help, it provides to mass media.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Historical background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colonial period, advertisements were primarily signboards on inns, coffeehouses,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likes. Travelers needed information about inns, but locals did not need advertisements in order to find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blacksmith for instance.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newspaper to appear continuously, the Boston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News-Letter,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was established in 1704. It contained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sporadic advertisements. Real estate advertisements, rewards for runaway apprentices, and notices of slaves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sale were all common, as were announcements of sale of articles, wine, and cloth. These advertisements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limited to text; they contained no photographs or drawings obviously.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Publisher Benjamin Franklin founded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		Pennsylvania Gazette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 1728.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		Gazette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included more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advertisements than did any other colonial newspaper, with up to half the pages devoted to advertising.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Franklin is credited with introducing the use of large-point headings, using white space to separate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advertisements from the text, and, after 1750, including illustrations, say some sort of cartoons etc.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the next century, there was little subsequent change in advertising. Advertisements provided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 about goods for sale, arrivals and departures of ships, and coach-schedules.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 advertisements were confined primarily within column rules; advertisements spanning more than one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column were yet to come.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1860s, newspaper circulation increased, and magazine and periodical advertising began.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volume increased markedly. Multicolumn display advertisements were designed; their first use was to call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attention to the transcontinental railroad bonds that were being sold to the public. By the 1870s,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multicolumn advertisements had become common in most European and American newspapers.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in the backdrop of Industrialization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Since advertisements were assuming a very formal shape along with the newspapers and magazines,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diffusion of steam power in the 1850s paved the way for a wave of technological change in the 1870s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1880s.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mass production characterized much of the west manufacturing by 1890. Increased mechanization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generated increased fixed costs, creating an economic incentive to build large factories that could enjoy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economies of scale in production but which were dependent on mass demand.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transcontinental railroad allowed relatively low-cost shipment of goods, making regional or 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markets economically feasible. Telegraph wires allowed low-cost and fast nationwide transmission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information. Manufacturers created brand names and sought to familiarize buyers nationally with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product. Where a housewife had once ordered a pound of generic baking powder, now she was encouraged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insist on known quality by requesting only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Royal Baking Powder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Interestingly, manufacturers believed that buyers were primarily interested in the quality of the product;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competition by price was uncommon. National firms included drawings of sprawling factories and factory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owners in their advertisements; the larger the factory and thus the more successful the firm, the higher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quality the merchandise could be presumed to be. Singer Sewing Machines, Steinway Pianos,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McCormick Harvesters and Reapers all produced advertisements of this sort.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need to maintain demand became especially apparent during the 1893–1897 economic depression.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businesses failed; many more came close. Businesses needed methods to insulate themselves 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cyclical downturns in sales and production. Advertising was one tactic they employed.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Urbanization and commercials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U.S. only 20 percent of the population lived in urban areas in 1860, increasing to nearly 40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percent by 1900. The need for easy provision of consumer goods increased as more people therefore lived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divorced from the land. It is observed that in most cases it is the population in big cities and towns which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targeted by the advertisers. The trend was stemmed in the beginning.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By 1900, advertising in newspapers was supplemented by advertising on streetcars, on billboards, and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magazines. Full-page advertisements, especially in women's magazines, sought to influence women's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choices.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Ladies' Home Journal,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established in 1883 by Cyrus H. K. Curtis, led the way. The Crowell Publishing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Company founded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			Women's Home Companion.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William Randolph Hearst began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			Cosmopolitan, Good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Housekeeping,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and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	Harper's BAZAAR.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Between 1890 and 1905 the monthly circulation of periodicals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increased from 18 million to 64 million.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Agencies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agents were middlemen in 1850. They bought advertising space from newspapers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resold it at a profit to a company seeking to place an advertisement.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Beginning in about 1880, N. W. Ayer and Son of Philadelphia offered its customers an "open contract"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 which Ayer would be the company's sole advertising agent and, in exchange, would price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space at cost plus a fixed-rate commission. The idea caught on. Manufacturers were soon blocked 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buying advertising space without an agent.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1893, the American Newspaper Publishers Association agreed to not allow discounts on space sold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 advertisers. Curtis Publishing Company, publishers of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Ladies' Home Journal,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inaugurated the same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practice in 1901, and other magazine publishers soon followed suit. The cost-plus-commission basis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agency was accepted industry wide in 1919, with the commission standardized at 15 percent.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Until the 1890s, conceptualization and preparation of advertising copy were the responsibility of the firm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placing the advertisement. But as companies followed N. W. Ayer &amp; Son's cost-plus-commission pricing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policy, agents could no longer compete with each other on price; they needed some other means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distinguishing their services from those of competing agents.  </a:t>
            </a:r>
            <a:endParaRPr lang="ko-KR" altLang="en-US" dirty="0" smtClean="0" sz="1097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agents—soon to be known as advertising agencies—took on their modern form: writing copy;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creating trademarks, logos, and slogans; and overseeing preparation of artwork. Ayer hired a full-time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copywriter in 1892; Procter and Collier of Cincinnati did so by 1896; Lord Thomas of Chicago did so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1898. By 1910, advertising agencies were universally characterized by the presence of full-time copywriters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artists.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step in convincing others that advertising was a profession to be taken seriously was the 1917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formation of the American Association of Advertising Agencies.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Association crafted broadly defined industry standards. Thereafter, the industry was quickly afforded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respect it desired. In 1926, President Calvin Coolidge addressed the Association's annual convention.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its ability to create mass demand, he credited advertising with the success of the American industrial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system.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Modern Advertising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Modern advertising—advertising with the goal of creating desire for a product where none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previously existed—began in the early twentieth century. With the blessing of leaders in the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industry, academic psychologists had begun applying principles of psychology to advertising content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late 1890s.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1901, psychologist Walter Dill Scott, speaking on the psychology of advertising, addressed a gathering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businessmen. His book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The Theory of Advertising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appeared in 1903. Advertisers were initially skeptical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Scott's thesis that psychological principles, especially the concept of suggestion, could be effectively applied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advertising.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Public service advertising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same advertising techniques used to promote commercial goods and services can be used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inform, educate and motivate the public about non-commercial issues, such as AIDS, political ideology,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energy conservation, religious recruitment, and deforestation advertising, in its non-commercial guise, is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powerful educational tool capable of reaching and motivating large audiences.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service advertising, non-commercial advertising, public interest advertising, cause marketing,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social marketing are different terms for (or aspects of) the use of sophisticated advertising and marketing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communications techniques (generally associated with commercial enterprise) on behalf of non-commercial,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interest issues and initiatives.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United States, the granting of television and radio licenses is contingent upon the station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broadcasting a certain amount of public service advertising. To meet these requirements, many broadcast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stations in America air the bulk of their required Public Service Announcements during the late night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early morning when the smallest percentage of viewers are watching, leaving more day and prime time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commercial slots available for high-paying advertisers.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service advertising reached its height during World Wars I and II under the direction of several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Advertisement impact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ongoing conflict thus arose in the early twentieth century between two types of advertising: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"reason-why" and "atmosphere" advertising. Dominant in the late nineteenth century, reason-why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consisted of long, detailed discourses on the features of a product. Atmosphere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reflected psychology's influence; it emphasized visual imagery that evoked emotions. The conflict between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two types of advertising was especially intense in the decade before World War I (1914–1918).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1909, the advertisers of Colgate toothpaste took the conflict directly to consumers, giving them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opportunity to decide "Which Is the Better Ad?"—the one that offered a detailed explanation of the health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08505" y="6910070"/>
            <a:ext cx="3718560" cy="32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advantages of Colgate toothpaste, or the one that used illustrations to associate the use of Colgate with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happy family life.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Most practitioners and advertisers were won over by about 1910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Psychologists were judged correct; advertising could change needs and desires. After 1910, most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copy emphasized buyers' needs and desires rather than the product's objectively described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characteristics.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WWI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Advertising's success during World War I fully settled the issue. Most advertisements sounded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patriotic pitch as they sought to sell Liberty and Victory Bonds, raise money for the Red Cross, and more.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advertising historians even credited the industry with shortening the war.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Textbooks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number of advertising textbooks appeared in the 1920s, authored by professors of psychology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whose academic affiliations were often with schools of business. Surveys sought to ascertain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fundamental wants or desires of human beings. A typical list would include appetite, love, sexual attraction,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vanity, and approval by others. Atmosphere advertisements emphasized how a product could satisfy these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desires.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Advertisers increasingly looked upon themselves as quite set apart from the consumers who saw their ads. Copywriters were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male. Consumers were female. Roland Marchand, author of Advertising the American Dream (1985), found that advertisers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in the 1920s and 1930s were predominantly male, white, Christian, upper-class, well-educated people who frequently employed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servants and even chauffeurs, and whose cultural tastes ran to modern art, opera, and symphonies. They saw their audience as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female, fickle, debased, emotional, possessing a natural inferiority complex, having inarticulate longings, low intelligence, and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bad taste, and being culturally backward. The copy and visual imagery created by these advertising men often emphasized the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woman's desire to be loved or her desire to be a good mother.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Criticism on advertisements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is often charged with creating a culture of consumerism in which people define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themselves by the goods they buy. Certainly the first big boom in advertising volume and the rise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consumerism are coincidental: Consumerism first characterized the United States in the early twentieth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century; advertising volume increased at an annual rate of nearly 9 percent between 1900 and 1920.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Moreover, it was in this period that advertising first began emphasizing the ability of goods to meet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emotional needs and, more to the point, first began its efforts to create needs where none had previously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been felt.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business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U.S. Census Bureau,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Statistical Abstract of the United States: 2001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YEAR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AMOUNT-GROWTH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PERCENTAGE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Garamond"/>
                <a:ea typeface="Garamond"/>
              </a:rPr>
              <a:t>(billions of dollars) 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1900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0.5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—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1920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2.9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8.8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1929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3.4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1.7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1946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003.3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0.1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1960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011.9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9.5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1970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019.6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5.1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1990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129.6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9.9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2000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236.3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Garamond"/>
                <a:ea typeface="Garamond"/>
              </a:rPr>
              <a:t>6.2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NOTE: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 The most recent media development, the Internet, was advertisement-free until the first banner advertisements were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sold in 1994. Ownership of computers and use of the Internet are both increasing rapidly; by 1999, 34 percent of adults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nationwide claimed access to the Internet or an online service. Internet advertising increases apace.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Legislation on advertisements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Consumer’s objections to advertising and its tactics have resulted in legislation, lawsuits,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voluntary restraint. The 1914 Federal Trade Commission Act empowered the Federal Trade Commission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(FTC) with the authority to regulate "unfair methods of competition." The 1938 Wheeler-Lea Amendment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extended the FTC's powers to "unfair or deceptive acts or practices." The detrimental effects of billboards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the countryside inspired the federal Highway Beautification Act in 1965, which regulated placement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billboards near interstate highways. The "Joe Camel" campaign for Camel cigarettes introduced by R. J.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Reynolds in the 1970s resulted in a 1990s federal lawsuit because of the campaign's alleged attempt to hook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kids on smoking. A voluntary ban on television advertising by the Distilled Spirits Council of the United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States was just one part of its Code of Good Practice regarding marketing and advertising, first adopted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1934. Political advertising, with the goal of swaying voters rather than consumers, enjoys First Amendment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protection but does face some constraints under state laws and under the Federal Communications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Commission's Equal Access Law as well as the Federal Election Campaign Act.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Legislation was also done in almost all the European states, in Asia and Australia of similar nature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regulate the business of advertising.  </a:t>
            </a:r>
            <a:endParaRPr lang="ko-KR" altLang="en-US" dirty="0" smtClean="0" sz="1097"/>
          </a:p>
          <a:p>
            <a:pPr marL="0" indent="0" defTabSz="15240" algn="l">
              <a:lnSpc>
                <a:spcPts val="5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21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RENAISSANCE AND SCIENTIFIC REVOLUTION: ROLE OF PRINT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13th century a rediscovery of Greek and Roman literature occurred across Europe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eventually led to the development of the humanist movement in the next century. In addition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emphasizing Greek and Latin scholarship, humanists believed that each individual had significance within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society. The growth of an interest in humanism led to the changes in the arts and sciences that form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common conceptions of the Renaissance.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Revival of ideas spread through print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14th century to the 16th century – during which time printing process was invented and which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led to pace up the print media communication -  was a period of economic flux in Europe; the most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extensive changes took place in Italy. After the death of King Frederick II in 1250, emperors lost power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Italy and throughout Europe; none of Frederick's successors equaled him. Power fell instead into the hands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various popes.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During the Renaissance small Italian republics developed into dictatorships as the centers of power moved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the landed estates to the cities. Europe itself slowly developed into groups of self-sufficient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compartments. At the height of the Renaissance there were five major city-states in Italy: the combined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state of Naples and Sicily, the Papal State, Florence, Milan, and Venice.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Science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Beginning in the latter half of the 15th century, a humanist faith in classical scholarship led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search for ancient (hand-written) texts that would increase current scientific knowledge.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Among the works rediscovered were Galen's physiological and anatomical studies and Ptolemy's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Geography. Botany, zoology, magic and astrology were developed during the Renaissance as a result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study of ancient texts.  Since printing techniques were available, it made the task of sending the old research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still safe in hand written texts, to scholars living distant countries. Scientific thinkers such as Leonardo da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Vinci, Nicolaus Copernicus, Galileo and Johannes Kepler attempted to refine earlier thought on astronomy.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Among Leonardo's discoveries were the revelation that thrown or shot projectiles move in one curved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trajectory rather than two; metallurgical techniques that allowed him to make great sculptures;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anatomical observations that increased the accuracy of his drawings. The work done on old ideas kept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appearing in books printed in different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1543 Copernicus wrote De revolutionibus, a work that placed the sun at the center of the universe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planets in order around it; his work was an attempt to revise the earlier writings of Ptolemy. Galileo's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 famous invention was an accurate telescope through which he observed the heavens; he recorded 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findings in Siderius nuncius [starry messenger]. Galileo's Dialogo...sopra i due massimi sistemi del mondo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[dialogue concerning the two chief world systems] (1632), for which he was denounced by the pope,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resulted in his living under house arrest for the rest of his life.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Tycho Brahe gave an accurate estimate of planetary positions and refuted the Aristotelian theory that placed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planets within crystal spheres. Kepler was the first astronomer to suggest that planetary orbits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elliptical.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Literature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Printing technique was now helping the scholars in the west greatly who produced books one after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other to create a mark on the thinking of people about the physical things and the motion of moons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stars. These were the initial phase when the world was about to embark on mass communication through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printed words.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Humanism in Renaissance rhetoric was a reaction to Aristotelian scholasticism, as espoused by Francis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Bacon, Averroës, and Albertus Magnus, among others. While the scholastics claimed a logical connection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between word and thought, the humanists differentiated between physical utterance and intangible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meditation; they gave common usage priority over sets of logical rules.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humanists also sought to emulate classical values. Joseph Webbe wrote textbooks that taught Latin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through reconstruction of the sentences of classical authors from individual phrases and clauses. Roger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Ascham taught that one could learn to speak effectively by studying the speeches of ancient orators.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Thomas Elyot wrote The Book Named the Governor, which suggested rules for effective statesmanship.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Thomas More's most significant contribution to humanism was Utopia, a design for an ideal society based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primarily on works by classical authors.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effect of humanism on English literature was wide and far-reaching. It is evidenced, for example,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works of Ben Jonson and William Shakespeare. The poems and plays of Jonson often center on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difference between virtue and vice; Jonson considers sincerity, honesty, self-discipline, and concern to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chief virtues, while dissimulation, lying, or masking of identity is vicious behavior. His Volpone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Alchemist exemplify humanist values. In a play such as Shakespeare's Tempest, a main character (Prospero)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embodies a full range of human abilities: father, creator, ruler, magician, master, and scholar. In addition,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Shakespeare took subject matter for many plays from classical sources (e.g., Coriolanus, Troilus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Cressida, and Julius Caesar).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France Michel de Montaigne and François Rabelais were the most important proponents of humanist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thought. Montaigne's essays are memorable for their clear statement of an individual's beliefs and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careful examination of society. In “On the Education of Children,” he suggests a remaking of secondary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education according to classical models. The Renaissance Italian Leone Battista Alberti is famed for a series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dialogues in which he teaches classical virtues in a vernacular tongue. Niccolò Machiavelli wrote Principe,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which he memorably described the various shapes a ruler must assume in order to become an effective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leader, and Discorsi [the discourses], in which he studies Livy in a search for classical values. The Book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Courtier by Baldassare Castiglione is essentially about Castiglione himself; in it the author delineates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characteristics of a perfect gentleman.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what was done in the literature books was printed and books traveled from one point of the continent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another and read widely because high number of printed version made it possible for more people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participate in discussions on new ideas in natural and social sciences.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Scientific changes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event which most historians of science call the scientific revolution can be dated roughly 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having begun in 1543, the year in which Nicolaus Copernicus published his De revolutionibus orbium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coelestium (On the Revolutions of the Heavenly Spheres) and Andreas Vesalius published his De humani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corporis fabrica (On the Fabric of the Human body). As with many historical demarcations, historians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science disagree about its boundaries, some seeing elements contributing to the revolution as early as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14th century and finding its last stages in chemistry and biology in the 18th and 19th centuries. There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general agreement, however, that the intervening period saw a fundamental transformation in scientific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ideas in physics, astronomy and biology, in institutions supporting scientific investigation, and in the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widely held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 picture of the universe.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Emergence of the revolution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Since the time of Voltaire, some observers have considered that a revolutionary change in thought,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called in recent times a scientific revolution, took place around the year 1600; that is, that there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dramatic and historically rapid changes in the ways in which scholars thought about the physical world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studied it. Science, as it is treated in this account, is essentially understood and practiced in the modern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world; with various "other narratives" or alternate ways of knowing omitted.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Alexandre Koyré coined the term and definition of 'The Scientific Revolution' in 1939, which later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influenced the work of traditional historians A. Rupert Hall and J.D. Bernal and subsequent historiography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the subject (Steven Shapin, The Scientific Revolution, 1996). To some extent, this arises from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conceptions of what the revolution was; some of the rancor and cross-purposes in such debates may arise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lack of recognition of these fundamental differences. But it also and more crucially arises from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disagreements over the historical facts about different theories and their logical analysis, e.g. Did Aristotle's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dynamics deny the principle of inertia or not? Did science become mechanistic?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 Ideas and People who emerged: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Nicolaus Copernicus (1473-1543) published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Concerning the Revolutions of the Celestial Spheres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 1543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argued for the heliocentric theory of the solar system.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Andreas Vesalius (1514-1564) published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De Humani Corporis Fabrica (On the Fabric of the Human Body)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(1543), which discredited Galen's views. He found that the circulation of blood resolved from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pumping of the heart. He also assembled the first human skeleton from cutting open cadavers.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William Gilbert (1544-1603) published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On the Magnet and Magnetic Bodies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and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That Great Magnet the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Earth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 1600.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Tycho Brahe (1546-1601) made extensive and more accurate naked eye observations of the planets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late 1500's which became the basic data for Kepler's studies.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Sir Francis Bacon (1561-1626), whose greatest scientific experiment amounted to stuffing snow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into a dead chicken, nevertheless penned inductive reasoning, proceeding from observation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experimentation.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Galileo (1564-1642) improved the telescope and made several astonishing (for the time)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astronomical observations such as the phases of Venus and the moons of Jupiter, which 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published in 1610. He developed the laws for falling bodies based on pioneering quantitative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Johannes Kepler (1571-1630) published the first two of his three laws of planetary motion in 1609.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William Harvey (1578-1657) demonstrated that blood circulates via dissections and various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experimental techniques.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René Descartes (1596-1650) pioneered deductive reasoning, publishing in 1637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Discourse on Method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Antony van Leeuwenhoek (1632-1723) constructed powerful single lens microscopes and made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extensive observations that he published in about 1660 began to open up the micro-world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biology.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Isaac Newton (1642-1727) built upon the work of Kepler and Galileo. His development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calculus opened up new applications of the methods of mathematics to science. He showed that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inverse square law for gravity explained the elliptical orbits of the planets, and advanced the theory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Universal Gravitation. Newton believed that scientific theory should be coupled with rigid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experimentation.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Theoretical developments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1543 Copernicus' work on the heliocentric model of the solar system was published, in which 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tried to prove that the sun was the center of the universe. Ironically, this was at the behest of the Catholic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Church as part of the Catholic Reformation efforts for a means of creating a more accurate calendar for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activities. For almost two millennia, the geocentric model had been accepted by all but a few astronomers.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idea that the earth moved around the sun, as advocated by Copernicus, was to most of 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contemporaries preposterous. It contradicted not only the virtually unquestioned Aristotelian philosophy,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also common sense. For suppose the earth turns about its own axis. Then, surely, if we were to drop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stone from a high tower, the earth would rotate beneath it while it fell, thus causing the stone to land some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space away from the tower's bottom. This effect is not observed.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no wonder, then, that although some astronomers used the Copernican system to calculate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movement of the planets, only a handful actually accepted it as true theory. It took the efforts of two men,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Johannes Kepler and Galileo, to give it credibility. Kepler was a brilliant astronomer who, using the very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accurate observations of Tycho Brahe, realized that the planets move around the sun not in circular orbits,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in elliptical ones. Together with his other laws of planetary motion, this allowed him to create a model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solar system that was a huge improvement over Copernicus' original system. Galileo's main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contributions to the acceptance of the heliocentric system were his mechanics and the observations 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made with his telescope, as well as his detailed presentation of the case for the system (which led to 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condemnation by the Inquisition). Using an early theory of inertia, Galileo could explain why rocks dropped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a tower fall straight down even if the earth rotates. His observations of the moons of Jupiter, the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67</a:t>
            </a:r>
            <a:endParaRPr lang="ko-KR" altLang="en-US" dirty="0" smtClean="0" sz="1200"/>
          </a:p>
        </p:txBody>
      </p:sp>
      <p:sp>
        <p:nvSpPr>
          <p:cNvPr id="152" name="Rect 3"/>
          <p:cNvSpPr>
            <a:spLocks noGrp="1" noChangeArrowheads="1"/>
          </p:cNvSpPr>
          <p:nvPr/>
        </p:nvSpPr>
        <p:spPr>
          <a:xfrm rot="0">
            <a:off x="1645920" y="3810000"/>
            <a:ext cx="2653030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experiments which he analyzed mathematically. 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phases of Venus, the spots on the sun, and mountains on the moon all helped to discredit the Aristotelian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philosophy and the Ptolemaic theory of the solar system. Through their combined discoveries,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heliocentric system gained more and more support, and at the end of the 17th century it was generally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accepted by astronomers.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Both Kepler's laws of planetary motion and Galileo's mechanics culminated in the work of Isaac Newton.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His laws of motion were to be the solid foundation of mechanics; his law of universal gravitation combined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terrestrial and celestial mechanics into one great system that seemed to be able to describe the whole world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mathematical formulae.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only astronomy and mechanics were greatly changed. Optics, for instance, was revolutionized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like Robert Hooke, Christiaan Huygens, René Descartes and, once again, Isaac Newton, who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developed mathematical theories of light as either waves (Huygens) or particles (Newton). Similar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developments could be seen in chemistry, biology and other sciences, although their full development into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modern science was delayed for a century or more. </a:t>
            </a:r>
            <a:endParaRPr lang="ko-KR" altLang="en-US" dirty="0" smtClean="0" sz="1097"/>
          </a:p>
          <a:p>
            <a:pPr marL="0" indent="0" defTabSz="15240" algn="l">
              <a:lnSpc>
                <a:spcPts val="5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22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RECAP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– sending of a message from one person to another, in simplest terms - has been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of the oldest characteristics of human life. Even when formal languages were not available, people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able to make each other understand their feelings and gestures to accomplish routine tasks.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Why we need communication?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Categorization of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Elements of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Books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writing letters to very many people on one subject, the next move was to write books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matters of social life, philosophies, religion, health and scientific advancements. The hand-written books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continued to rule the world for centuries by taking views of writers to hundreds and thousands of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across countries. For instance, the central church in ROME had employed hundreds of clerics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purpose of writing copies of bible for taking the message of Christianity to its followers. Almost the same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had been the practice by other religions to convey their teachings to the masses by hand-written copies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holy inscriptions. Many a museums in the world are proud to have some hand-written copies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religious or scientific works done centuries ago.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Printing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Major breakthrough in mass communication occurred when printing process was invented.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revolutionary invention makes an interesting study: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printing press is a mechanical device for printing many copies of a text paper. First invented in China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1041, the printing press as we know it today was invented in the West by a German goldsmith, Johann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Gutenberg in the 1440s. Dutch Laurens Janszoon Coster has also been credited with this invention.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Printing Press 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Æ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Johannes Gottenberg, 15th century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Communication Model 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69</a:t>
            </a:r>
            <a:endParaRPr lang="ko-KR" altLang="en-US" dirty="0" smtClean="0" sz="1200"/>
          </a:p>
        </p:txBody>
      </p:sp>
      <p:sp>
        <p:nvSpPr>
          <p:cNvPr id="157" name="Rect 3"/>
          <p:cNvSpPr>
            <a:spLocks noGrp="1" noChangeArrowheads="1"/>
          </p:cNvSpPr>
          <p:nvPr/>
        </p:nvSpPr>
        <p:spPr>
          <a:xfrm rot="0">
            <a:off x="1645920" y="1898650"/>
            <a:ext cx="1884680" cy="6983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Survival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Co-operation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Relationship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Persuasion &amp; Influence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Power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Social needs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Intra personal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 personal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Organizational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Group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Mass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Sender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Channel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Receiver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Interpreter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Feedback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Context </a:t>
            </a:r>
            <a:endParaRPr lang="ko-KR" altLang="en-US" dirty="0" smtClean="0" sz="1097"/>
          </a:p>
          <a:p>
            <a:pPr marL="0" indent="0" defTabSz="15240" algn="l">
              <a:lnSpc>
                <a:spcPts val="2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Block Printing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39495" y="3188335"/>
            <a:ext cx="5224145" cy="122491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92150" y="6934200"/>
            <a:ext cx="5601970" cy="19538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experts have long been striving to arrange elements of communication into some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graphic arrangement so that all the complexities of communication may come in view in a glance. But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we try to examine them lets try to understand what a model is.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What is a Model?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somewhat arbitrary by their nature.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freeze an essentially dynamic interactive or transitive process into a static picture.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Shannon-Weaver’s Model of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The Shannon-Weaver’s model is typical of what are often referred to as transmission models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communication. Claude Shannon and Warren Weaver were two different entities that jointly produced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model known after their names.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Claude Shannon and Warren Weaver produced a general model of communication:  </a:t>
            </a:r>
            <a:endParaRPr lang="ko-KR" altLang="en-US" dirty="0" smtClean="0" sz="1097"/>
          </a:p>
          <a:p>
            <a:pPr marL="0" indent="0" defTabSz="15240" algn="l">
              <a:lnSpc>
                <a:spcPts val="9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model is now known after them as the Shannon-Weaver’s Model. Although they were principally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concerned with communication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technology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their model has become one which is frequently introduced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students of human communication early in their study.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Shannon-Weaver’s Model (1947) proposes that all communication processes must include following six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elements: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Source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Encoder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Channel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Decoder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Receiver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Lasswell Formula (1948) 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Verdana"/>
                <a:ea typeface="Verdana"/>
              </a:rPr>
              <a:t>W ho?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Verdana"/>
                <a:ea typeface="Verdana"/>
              </a:rPr>
              <a:t>Says W hat?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Verdana"/>
                <a:ea typeface="Verdana"/>
              </a:rPr>
              <a:t>I n W hat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Verdana"/>
                <a:ea typeface="Verdana"/>
              </a:rPr>
              <a:t>To W hom?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Verdana"/>
                <a:ea typeface="Verdana"/>
              </a:rPr>
              <a:t>W ith w hat </a:t>
            </a:r>
            <a:endParaRPr lang="ko-KR" altLang="en-US" dirty="0" smtClean="0" sz="105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Verdana"/>
                <a:ea typeface="Verdana"/>
              </a:rPr>
              <a:t>Channel?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50" b="1">
                <a:solidFill>
                  <a:srgbClr val="000000"/>
                </a:solidFill>
                <a:latin typeface="Verdana"/>
                <a:ea typeface="Verdana"/>
              </a:rPr>
              <a:t>Effect? </a:t>
            </a:r>
            <a:endParaRPr lang="ko-KR" altLang="en-US" dirty="0" smtClean="0" sz="1050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Verdana"/>
                <a:ea typeface="Verdana"/>
              </a:rPr>
              <a:t>Communicator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Verdana"/>
                <a:ea typeface="Verdana"/>
              </a:rPr>
              <a:t>Message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Verdana"/>
                <a:ea typeface="Verdana"/>
              </a:rPr>
              <a:t>Channel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Verdana"/>
                <a:ea typeface="Verdana"/>
              </a:rPr>
              <a:t>Receiver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Verdana"/>
                <a:ea typeface="Verdana"/>
              </a:rPr>
              <a:t>Effect </a:t>
            </a:r>
            <a:endParaRPr lang="ko-KR" altLang="en-US" dirty="0" smtClean="0" sz="1050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Verdana"/>
                <a:ea typeface="Verdana"/>
              </a:rPr>
              <a:t>Control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Verdana"/>
                <a:ea typeface="Verdana"/>
              </a:rPr>
              <a:t>Content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Verdana"/>
                <a:ea typeface="Verdana"/>
              </a:rPr>
              <a:t>Medium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Verdana"/>
                <a:ea typeface="Verdana"/>
              </a:rPr>
              <a:t>Audience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Verdana"/>
                <a:ea typeface="Verdana"/>
              </a:rPr>
              <a:t>Effects </a:t>
            </a:r>
            <a:endParaRPr lang="ko-KR" altLang="en-US" dirty="0" smtClean="0" sz="105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Verdana"/>
                <a:ea typeface="Verdana"/>
              </a:rPr>
              <a:t>Research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Verdana"/>
                <a:ea typeface="Verdana"/>
              </a:rPr>
              <a:t>Research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Verdana"/>
                <a:ea typeface="Verdana"/>
              </a:rPr>
              <a:t>Research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Verdana"/>
                <a:ea typeface="Verdana"/>
              </a:rPr>
              <a:t>Research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050">
                <a:solidFill>
                  <a:srgbClr val="000000"/>
                </a:solidFill>
                <a:latin typeface="Verdana"/>
                <a:ea typeface="Verdana"/>
              </a:rPr>
              <a:t>Research </a:t>
            </a:r>
            <a:endParaRPr lang="ko-KR" altLang="en-US" dirty="0" smtClean="0" sz="10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70</a:t>
            </a:r>
            <a:endParaRPr lang="ko-KR" altLang="en-US" dirty="0" smtClean="0" sz="1200"/>
          </a:p>
        </p:txBody>
      </p:sp>
      <p:sp>
        <p:nvSpPr>
          <p:cNvPr id="160" name="Rect 3"/>
          <p:cNvSpPr>
            <a:spLocks noGrp="1" noChangeArrowheads="1"/>
          </p:cNvSpPr>
          <p:nvPr/>
        </p:nvSpPr>
        <p:spPr>
          <a:xfrm rot="0">
            <a:off x="1188720" y="1429385"/>
            <a:ext cx="5457190" cy="787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 model is a systematic representation of an object or event in idealized and abstract form. Models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Communication models are merely pictures; they’re even distorting pictures, because they stop or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Models are metaphors. They allow us to see one thing in terms of another. </a:t>
            </a:r>
            <a:endParaRPr lang="ko-KR" altLang="en-US" dirty="0" smtClean="0" sz="1097"/>
          </a:p>
          <a:p>
            <a:pPr marL="0" indent="0" defTabSz="15240" algn="l">
              <a:lnSpc>
                <a:spcPts val="5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Who?-------------------- Sender/ Communicator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Says what?------------------ Message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88720" y="4260850"/>
            <a:ext cx="5330825" cy="19723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58240" y="1615440"/>
            <a:ext cx="5611495" cy="234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Schramm-Osgood’s Interactive Model, 1954 </a:t>
            </a:r>
            <a:endParaRPr lang="ko-KR" altLang="en-US" dirty="0" smtClean="0" sz="1097" b="1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Field of Experience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Field of Experience </a:t>
            </a:r>
            <a:endParaRPr lang="ko-KR" altLang="en-US" dirty="0" smtClean="0" sz="1097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Source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Encoder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Decoder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Destination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Noise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a. Background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Wilbur Schramm (1954) was one of the first to alter the mathematical model of Shannon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Weaver. He conceived of decoding and encoding as activities maintained simultaneously by sender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receiver; he also made provisions for a two-way interchange of messages. Notice also the inclusion of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“interpreter” as an abstract representation of the problem of meaning.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strong points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1. This model provided the additional notion of a “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field of experience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,” or the psychological frame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reference; this refers to the type of orientation or attitudes that interacting people maintain toward each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2.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Included Feedback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is reciprocal, two-way, even though the feedback may be delayed.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someone.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nose and scratch your head when a message is too abstract, or shift your body position when you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think it’s your turn to talk.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71</a:t>
            </a:r>
            <a:endParaRPr lang="ko-KR" altLang="en-US" dirty="0" smtClean="0" sz="1200"/>
          </a:p>
        </p:txBody>
      </p:sp>
      <p:sp>
        <p:nvSpPr>
          <p:cNvPr id="163" name="Rect 3"/>
          <p:cNvSpPr>
            <a:spLocks noGrp="1" noChangeArrowheads="1"/>
          </p:cNvSpPr>
          <p:nvPr/>
        </p:nvSpPr>
        <p:spPr>
          <a:xfrm rot="0">
            <a:off x="1645920" y="643255"/>
            <a:ext cx="5457190" cy="8634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what channel? ------------- Channel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whom? -------------- Receiver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what effect? ------------ Effect </a:t>
            </a:r>
            <a:endParaRPr lang="ko-KR" altLang="en-US" dirty="0" smtClean="0" sz="1097"/>
          </a:p>
          <a:p>
            <a:pPr marL="0" indent="0" defTabSz="15240" algn="l">
              <a:lnSpc>
                <a:spcPts val="9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Signal</a:t>
            </a:r>
            <a:endParaRPr lang="ko-KR" altLang="en-US" dirty="0" smtClean="0" sz="1097" b="1"/>
          </a:p>
          <a:p>
            <a:pPr marL="0" indent="0" defTabSz="15240" algn="l">
              <a:lnSpc>
                <a:spcPts val="45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Some of these methods of communication are very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direct,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as when you talk in direct response to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Others are only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moderately direct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; you might squirm when a speaker drones on and on, wrinkle your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Still other kinds of feedback are completely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indirect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90015" y="1276985"/>
            <a:ext cx="4718050" cy="17252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Berlo's S-M-C-R Model (1960)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David Berlo's SMCR Model (1960) proposes that there are five elements within both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source/encoder and the receiver/decoder which will affect fidelity.  </a:t>
            </a:r>
            <a:endParaRPr lang="ko-KR" altLang="en-US" dirty="0" smtClean="0" sz="1097"/>
          </a:p>
          <a:p>
            <a:pPr marL="0" indent="0" defTabSz="15240" algn="l">
              <a:lnSpc>
                <a:spcPts val="1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Two are encoding skills: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speaking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writing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Two are decoding skills: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listening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reading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fifth is crucial to both encoding and decoding: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thought or reasoning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Noise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Forms of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another way we can examine the communication process by dividing it into different forms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exchanging messages.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Message – Root of Communication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in communication holds the key in determining what a piece of communication is all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about. A slight change at the end from where a message is originating may lead to a yawning difference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understanding it at the end of receiver.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Division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Messages are generally divided into two categories: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Verbal Message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message composed in words – spoken or written – fall in this category. All we read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newspapers, magazines and books as well as listen to fellow beings face to face or radio, TV, telephone etc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clear examples of verbal messages.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72</a:t>
            </a:r>
            <a:endParaRPr lang="ko-KR" altLang="en-US" dirty="0" smtClean="0" sz="1200"/>
          </a:p>
        </p:txBody>
      </p:sp>
      <p:sp>
        <p:nvSpPr>
          <p:cNvPr id="166" name="Rect 3"/>
          <p:cNvSpPr>
            <a:spLocks noGrp="1" noChangeArrowheads="1"/>
          </p:cNvSpPr>
          <p:nvPr/>
        </p:nvSpPr>
        <p:spPr>
          <a:xfrm rot="0">
            <a:off x="1188720" y="4928870"/>
            <a:ext cx="1625600" cy="4404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Physical Barrier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Psychological Barrier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Semantic Barrier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Verbal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Non verbal </a:t>
            </a:r>
            <a:endParaRPr lang="ko-KR" altLang="en-US" dirty="0" smtClean="0" sz="1097"/>
          </a:p>
          <a:p>
            <a:pPr marL="0" indent="0" defTabSz="15240" algn="l">
              <a:lnSpc>
                <a:spcPts val="1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Verbal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Non verbal </a:t>
            </a:r>
            <a:endParaRPr lang="ko-KR" altLang="en-US" dirty="0" smtClean="0" sz="1097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Linguistic Barrier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Standard Meaning’s Problem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Non Verbal Message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messages we come across in our daily life are non verbal – not in words by in gestures,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symbols, signs etc. Here we will see how this part of communication takes place.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Composition of a Message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Effects of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 Physical discoveries.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 New ideas.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Communication and Culture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we start to examine as what factors are responsible to generate this debate, it seems only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logical that we understand what culture is.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Though no definition of culture exists on which all will agree, the one which is close to everyone’s belief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way people live, or say the living style of people of a particular area is denoted as their culture.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includes their living habits, eating and cooking style, dressing up, language they speak in, social values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traditions they observe along with the religion they follow. Well, for a student of communication – who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believes that a slight change on part of the sender or receiver may effect a huge change in the meaning of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– the definition of culture and its little explanation offers only an embarrassing situation for there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plenty in the name of change that can vary (or destroy) the meaning and hence the process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may face hurdles.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Enculturation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process of passing on culture from one generation to the next is referred to as enculturation.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Acculturation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process of adopting or learning the rules and norms of a culture different from one’s own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native culture is acculturation.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Culture/ Cultural Shock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anxiety and feelings felt when people have to operate within an entirely different culture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social environment.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Behaviours of language in communication: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73</a:t>
            </a:r>
            <a:endParaRPr lang="ko-KR" altLang="en-US" dirty="0" smtClean="0" sz="1200"/>
          </a:p>
        </p:txBody>
      </p:sp>
      <p:sp>
        <p:nvSpPr>
          <p:cNvPr id="169" name="Rect 3"/>
          <p:cNvSpPr>
            <a:spLocks noGrp="1" noChangeArrowheads="1"/>
          </p:cNvSpPr>
          <p:nvPr/>
        </p:nvSpPr>
        <p:spPr>
          <a:xfrm rot="0">
            <a:off x="1645920" y="643255"/>
            <a:ext cx="1567815" cy="86499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Written Message Confusion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Static Evaluation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Gestures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Signs and Symbols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Body Gestures (Language)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Voice Accentuation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Use of Standard language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Brevity of a message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Ethics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Discoveries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Social growth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Relationship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Stimulation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Helping out others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Relaxation </a:t>
            </a:r>
            <a:endParaRPr lang="ko-KR" altLang="en-US" dirty="0" smtClean="0" sz="1097"/>
          </a:p>
          <a:p>
            <a:pPr marL="0" indent="0" defTabSz="15240" algn="l">
              <a:lnSpc>
                <a:spcPts val="3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Polarization.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Labeling.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Stereotyping – a typical hurdle in mass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Stereotypes are ideas held by some individuals about members of particular groups, based solely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attitude. They are often used in a negative or prejudicial sense and are frequently used to justify certain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discriminatory behaviors.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Stereotypes are a generalization of characteristics; they reduce complexity, provide stability and also 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offer opportunities to identify themselves with others.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common practice we assume a certain attitude by a group of people and start using our assumption as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reality and thereafter all our analysis are based on our assumption. Problem is compounded when listeners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(receivers) also start taking the assumption for granted and so a wrong done once continues to cast shadows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our communication which at times results in complete disaster.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Stereotype Groups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Propaganda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Propaganda means to hammer that side of an issue which only suits one party.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Newspapers/ magazines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took almost two hundred years that the concept of regular publication appeared in the form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newspapers. There are conflicting ideas as who brought out the first newspaper in the world and how long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had sustained but according to the World Association of Newspapers, the first titled English language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private newspaper, The Corrant, was first published in London in 1621.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English daily newspaper, the Daily Courant, was founded by Samuel Buckley on 11 March 1702.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1631 The Gazette, the first French newspaper was founded. In 1690, Public Occurrences in Boston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became the first newspaper published in America. In 1803, just 15 years after the first British penal colony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established, Australia's military government published the Sydney Gazette and the New South Wales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Advertiser, Australia's first newspapers.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Newspapers in South Asia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Colonial Journalism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William Bolts, an ex-employee of the British East India Company attempted to start the first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 in India in 1776. Bolts had to beat a retreat under the disapproving gaze of the Court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Directors of the Company.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Bengal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Hickey's Bengal Gazette or the Calcutta General Advertiser was started by James Augustus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Hickey in 1780 and is regarded as the first regular publication from the Indian soil.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Calcutta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74</a:t>
            </a:r>
            <a:endParaRPr lang="ko-KR" altLang="en-US" dirty="0" smtClean="0" sz="1200"/>
          </a:p>
        </p:txBody>
      </p:sp>
      <p:sp>
        <p:nvSpPr>
          <p:cNvPr id="172" name="Rect 3"/>
          <p:cNvSpPr>
            <a:spLocks noGrp="1" noChangeArrowheads="1"/>
          </p:cNvSpPr>
          <p:nvPr/>
        </p:nvSpPr>
        <p:spPr>
          <a:xfrm rot="0">
            <a:off x="1188720" y="643255"/>
            <a:ext cx="3768090" cy="8531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Static meanings.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Indiscrimination.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Gossip.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Multiple meanings. </a:t>
            </a:r>
            <a:endParaRPr lang="ko-KR" altLang="en-US" dirty="0" smtClean="0" sz="1097"/>
          </a:p>
          <a:p>
            <a:pPr marL="0" indent="0" defTabSz="15240" algn="l">
              <a:lnSpc>
                <a:spcPts val="18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Race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Ethnicity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Religious beliefs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Gender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Social class  </a:t>
            </a:r>
            <a:endParaRPr lang="ko-KR" altLang="en-US" dirty="0" smtClean="0" sz="1097"/>
          </a:p>
          <a:p>
            <a:pPr marL="0" indent="0" defTabSz="15240" algn="l">
              <a:lnSpc>
                <a:spcPts val="3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B.Messink and Peter Reed were pliant publishers of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India Gazette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Madras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Madras Courier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was started in 1785 in the southern stronghold of Madras. Richard Johnson,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founder, was a government printer.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Madras got its second newspaper when, in 1791, Hugh Boyd, who was the editor of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Courier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quit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founded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Hurkaru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Urdu Press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1822 the Persian weekly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Jam-e-Jahan Numa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was first time published in Urdu.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January 14, 1850 Munshi Harsukh Rai started weekly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Kohinoor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With a circulation of only 350 it was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largest circulated newspaper of that time.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Urdu Guide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was the first daily newspaper, which was started by Maulvi Kabeeruddin from Kolkata in 1858.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very same year as a second daily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Roznamcha-e-Punjab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started from Lahore.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Zameendar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which was the best newspaper of that time, was started in 1903 from Lahore.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Magazine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magazine is a periodical publication containing a variety of articles, generally financed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advertising, purchased by readers, or both.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Telegraph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Telephone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Bell's interest in telephony was primarily derived from his background in vocal physiology and his speech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instruction to the deaf. His breakthrough experiment occurred on June 2, 1875. He and his assistant,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Thomas Watson, were working on a harmonic telegraph. When a reed stuck on Watson's transmitter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intermittent current was converted to a continuous current. Bell was able to hear the sound on his receiver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confirming his belief that sound could be transmitted and reconverted through an electric wire by using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continuous electric current.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original telephone design that Bell patented was much different than the phone we know today. In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real sense, it was just a modified version of a telegraph. The primary difference was that it could transmit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true sound. Bell continued to improve upon his design. After two years, he created a magnetic telephone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was the precursor to modern phones. This design consisted of a transmitter, receiver, and a magnet.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transmitter and receiver each contained a diaphragm, which is a metal disk. During a phone call,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vibrations of the caller's voice caused the diaphragm in the transmitter to move. This motion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transferred along the phone line to the receiver. The receiving diaphragm began vibrating thereby producing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sound and completing the call.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Telex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1935, message routing was the last great barrier to full automation. Large telegraphy providers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began to develop systems that used telephone-like rotary dialing to connect teletypes. These machines were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called "telex". Telex machines first performed rotary-telephone-style pulse dialing, and then sent baud dots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code. This "type A" telex routing functionally automated message routing. </a:t>
            </a:r>
            <a:endParaRPr lang="ko-KR" altLang="en-US" dirty="0" smtClean="0" sz="1097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75</a:t>
            </a:r>
            <a:endParaRPr lang="ko-KR" altLang="en-US" dirty="0" smtClean="0" sz="1200"/>
          </a:p>
        </p:txBody>
      </p:sp>
      <p:sp>
        <p:nvSpPr>
          <p:cNvPr id="175" name="Rect 3"/>
          <p:cNvSpPr>
            <a:spLocks noGrp="1" noChangeArrowheads="1"/>
          </p:cNvSpPr>
          <p:nvPr/>
        </p:nvSpPr>
        <p:spPr>
          <a:xfrm rot="0">
            <a:off x="1645920" y="643255"/>
            <a:ext cx="2768600" cy="5032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Bengal Journal.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Oriental Magazine of Calcutta Amusement. </a:t>
            </a:r>
            <a:endParaRPr lang="ko-KR" altLang="en-US" dirty="0" smtClean="0" sz="1097"/>
          </a:p>
          <a:p>
            <a:pPr marL="0" indent="0" defTabSz="15240" algn="l">
              <a:lnSpc>
                <a:spcPts val="2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Samuel F. B. Morse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May 14, 1844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Morse Code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Message sent from Baltimore to Washington D.C.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Message was: “What hath God wrought?”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Alexander Graham Bell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March 7, 1876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wide-coverage telex network was implemented in Germany during the 1930s. The network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used to communicate within the government. At the then-blinding rate of 45.5 bits per second, up to 25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telex channels could share a single long-distance telephone channel, making telex the least expensive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method of reliable long-distance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Press laws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Laws are the laws concerning the licensing of books and the liberty of expression in 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products of the printing-press, especially newspapers. The liberty of the press has always been regarded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political writers as of supreme importance.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the invention of printing, the Church assumed the right to control the expression of all opinion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distasteful to her. The Church and universities soon found the output of books beyond their control.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1496 Pope Alexander VI began to be restrictive, and in 1501 he issued a bill against unlicensed printing,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introduced the principle of censorship. Between 1524 and 1548 the Imperial Diet in Germany drew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up various stringent regulations; and in France, prohibited by edict, under penalty of death, the printing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books.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Censorship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Censorship was either restrictive or corrective, i.e., it interfered to restrict or prevent publication,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enforced penalties after publication. Repression of free discussion was regarded as so necessary a part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that Sir Thomas More in his Utopia makes it punishable with death for a private individual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criticize the conduct of the ruling power.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 Elizabeth the Star Chamber assumed the right to confine printing to London, Oxford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Cambridge, to limit the number of printers and presses, to prohibit all publications issued without proper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license, and to enter houses to search for unlicensed presses and publications.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Press Council of Pakistan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law states that the Code, which deal with issues as morality, plagiarism, fairness, accuracy,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privacy, sensationalism, confidentiality and privilege, will allow journalists to operate “in accordance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canons of decency, principles of professional conduct and precepts of freedom and responsibility,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serve the public interest by ensuring an unobstructed flow of news and views to the people envisaging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honesty, accuracy, objectivity and fairness shall be the guidelines for the press while serving the public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interest.”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Council will be an independent corporate entity, with its own staff, secretariat and budget and will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financed through an annual governmental grant-in-aid as well as other grants and donations and such fees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it may levy from registered newspapers and news agencies. This council is considered to be a euphemistic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connotation of censorship.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Freedom of Information Ordinance 2002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freedom of information ordinance introduced in 2002 contains some positive features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acknowledging citizens right to know. However, the 21st day time frame for the release of information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inclusion of courts and tribunals, among those require disclosing information mar its true spirit. Large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amounts of information are also not subject to disclosure under the ordinance, largely undermining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public’s right to know. Instead of applying to all records held by public bodies, the ordinance provides a,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restrictive list of public records subject to disclosure.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Article 19 of the Universal Declaration of Human Rights, states: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"Everyone has the right to freedom of opinion and expression; the right includes freedom to hold opinions without interference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and to seek, receive and impart information and ideas through any media regardless of frontiers."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Industrialization of Mass Media/ Print Media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76</a:t>
            </a:r>
            <a:endParaRPr lang="ko-KR" altLang="en-US" dirty="0" smtClean="0" sz="1200"/>
          </a:p>
        </p:txBody>
      </p:sp>
      <p:sp>
        <p:nvSpPr>
          <p:cNvPr id="178" name="Rect 3"/>
          <p:cNvSpPr>
            <a:spLocks noGrp="1" noChangeArrowheads="1"/>
          </p:cNvSpPr>
          <p:nvPr/>
        </p:nvSpPr>
        <p:spPr>
          <a:xfrm rot="0">
            <a:off x="1188720" y="8973185"/>
            <a:ext cx="1799590" cy="3321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Digital Technology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Lithography – written on stones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Renaissance and Scientific Revolution: Role of Print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13th century a rediscovery of Greek and Roman literature occurred across Europe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eventually led to the development of the humanist movement in the next century. In addition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emphasizing Greek and Latin scholarship, humanists believed that each individual had significance within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society. The growth of an interest in humanism led to the changes in the arts and sciences that form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common conceptions of the Renaissance.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Revival of ideas spread through print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14th century to the 16th century – during which time printing process was invented and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led to pace up the print media communication -  was a period of economic flux in Europe; the most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extensive changes took place in Italy. After the death of King Frederick II in 1250, emperors lost power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Italy and throughout Europe; none of Frederick's successors equaled him. Power fell instead into the hands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various popes.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During the Renaissance small Italian republics developed into dictatorships as the centers of power moved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the landed estates to the cities. Europe itself slowly developed into groups of self-sufficient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compartments. At the height of the Renaissance there were five major city-states in Italy: the combined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state of Naples and Sicily, the Papal State, Florence, Milan, and Venice.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 Ideas and People who emerged: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Nicolaus Copernicus (1473-1543) published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Concerning the Revolutions of the Celestial Spheres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 1543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argued for the heliocentric theory of the solar system.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Andreas Vesalius (1514-1564) published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De Humani Corporis Fabrica (On the Fabric of the Human Body)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(1543), which discredited Galen's views. He found that the circulation of blood resolved 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pumping of the heart. He also assembled the first human skeleton from cutting open cadavers.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William Gilbert (1544-1603) published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On the Magnet and Magnetic Bodies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and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That Great Magnet the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Earth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 1600.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Tycho Brahe (1546-1601) made extensive and more accurate naked eye observations of the planets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late 1500's which became the basic data for Kepler's studies.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Sir Francis Bacon (1561-1626), whose greatest scientific experiment amounted to stuffing snow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into a dead chicken, nevertheless penned inductive reasoning, proceeding from observation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experimentation.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Galileo (1564-1642) improved the telescope and made several astonishing (for the time)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astronomical observations such as the phases of Venus and the moons of Jupiter, which 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published in 1610. He developed the laws for falling bodies based on pioneering quantitative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experiments which he analyzed mathematically.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Johannes Kepler (1571-1630) published the first two of his three laws of planetary motion in 1609.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William Harvey (1578-1657) demonstrated that blood circulates via dissections and various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experimental techniques.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René Descartes (1596-1650) pioneered deductive reasoning, publishing in 1637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Discourse on Method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Antony van Leeuwenhoek (1632-1723) constructed powerful single lens microscopes and made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extensive observations that he published in about 1660 began to open up the micro-world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Isaac Newton (1642-1727) built upon the work of Kepler and Galileo. His development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calculus opened up new applications of the methods of mathematics to science. He showed that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inverse square law for gravity explained the elliptical orbits of the planets, and advanced the theory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Universal Gravitation. Newton believed that scientific theory should be coupled with rigid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experimentation.  </a:t>
            </a:r>
            <a:endParaRPr lang="ko-KR" altLang="en-US" dirty="0" smtClean="0" sz="1097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77</a:t>
            </a:r>
            <a:endParaRPr lang="ko-KR" altLang="en-US" dirty="0" smtClean="0" sz="1200"/>
          </a:p>
        </p:txBody>
      </p:sp>
      <p:sp>
        <p:nvSpPr>
          <p:cNvPr id="181" name="Rect 3"/>
          <p:cNvSpPr>
            <a:spLocks noGrp="1" noChangeArrowheads="1"/>
          </p:cNvSpPr>
          <p:nvPr/>
        </p:nvSpPr>
        <p:spPr>
          <a:xfrm rot="0">
            <a:off x="1645920" y="643255"/>
            <a:ext cx="1247775" cy="75012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Offset Printing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Photo Offset Printing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Desktop Publishing </a:t>
            </a:r>
            <a:endParaRPr lang="ko-KR" altLang="en-US" dirty="0" smtClean="0" sz="1097"/>
          </a:p>
          <a:p>
            <a:pPr marL="0" indent="0" defTabSz="15240" algn="l">
              <a:lnSpc>
                <a:spcPts val="5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biology. 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23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MEDIA MANAGEMENT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issue of media management was the next once newspapers and magazines became a known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entity in the society.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initial phase of print communication, publications were not very regular not only in the sense of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 the next day, or on a particular day in case of periodicals, but also in the sense of their layouts, design,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number of pages and the content.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media continued in this fashion by the end of 18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century. But in the meantime the world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and some modernization in the printing process had been introduced. The 19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saw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 media getting into a great discipline as dailies started fashioning themselves in the sense of contents,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regularity in publishing and observing the time of appearance in the market.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media management means to make sure that a publication meets its deadlines, keeps contents, generate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revenue and maintains its technical wing to be there in the hands of end-readers well in time.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manage print media is a hard task. Colleges and universities run special courses on media management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specialists are engaged to seek advice on matters to manage and maintain a publication.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Division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Any publication has three clear areas to manage: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Editorial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most important area of a daily is its editorial section. A large circulation daily has to follow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service structure to make sure that the people working in the editorial department are in a well defined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hierarchy.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staff is generally divided into two categories: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field staff comprises reports who are assigned beats (areas) like crime, politics, business, environment,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sports or some are assigned with special reports on different subjects.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other part of the editorial staff is supposed to mange the newsroom where ultimately every matter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taken care of that is to appear the next day. The part of the staff is supposed to write daily editorials,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articles, comments etc. All the staff is headed by an editor who is responsible for what report or comment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has appeared in the paper.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Writing for a newspaper is not an easy task. The writer has to take into account the policy of the paper, laws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regulations and the ethics which are generally observed in a society. Many a time writers face severe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reaction on their write-ups and have to go behind bars. The publications have to see closure for adhering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policy if it is against the government.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Business section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Every publication needs management of its finances. The revenue it generates and the money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spends. For revenue generation advertising and circulation departments are established. The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department keeps making campaign to generate revenue. It fixes rates of different type and size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advertisements appearing on the regular pages or special supplements.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78</a:t>
            </a:r>
            <a:endParaRPr lang="ko-KR" altLang="en-US" dirty="0" smtClean="0" sz="1200"/>
          </a:p>
        </p:txBody>
      </p:sp>
      <p:sp>
        <p:nvSpPr>
          <p:cNvPr id="184" name="Rect 3"/>
          <p:cNvSpPr>
            <a:spLocks noGrp="1" noChangeArrowheads="1"/>
          </p:cNvSpPr>
          <p:nvPr/>
        </p:nvSpPr>
        <p:spPr>
          <a:xfrm rot="0">
            <a:off x="1188720" y="4255135"/>
            <a:ext cx="1454785" cy="1965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Editorial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Business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Technical </a:t>
            </a:r>
            <a:endParaRPr lang="ko-KR" altLang="en-US" dirty="0" smtClean="0" sz="1097" b="1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Field staff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Newsroom and editorial</a:t>
            </a:r>
            <a:endParaRPr lang="ko-KR" altLang="en-US" dirty="0" smtClean="0" sz="1097" b="1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Two color ads and multicolor ads are charged differently. Likewise if an advertiser wants ad of its product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appear at a particular place and page, it is supposed to pay more. In big newspapers cost difference between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ordinary ad and the one at a particular spot is very high – to the extent of 400 per cent.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 which appear brief and usually in one column are called classified while others are noted as display ads.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Normally newspapers charge ad cost in advance. But in case of advertising agencies newspapers allow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credit for 90 days, though this period varies from publication to publication.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circulation department also meant to undertake exercises to increase the circulation of the publication.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not only helps generate finances but also goes to create a mark of the daily in the market. It is always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pride for a publication to note its high circulation.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accounts department in the business section is supposed to be taking care of disbursement of salaries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the staff, purchase of components of machines, paper, ink and the transport. This department also helps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company to maintain its audit reports.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Press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printing side of a newspaper or a periodical inside the office is referred to as press in the sense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printing press. All matters pertaining to printing press are referred to as press matters.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foremost task of this department is ensure that the newspaper would be printed at the desired time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(deadline) and available for distribution the next morning.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the press department which tells the directors (owners) about the newsprint (paper) requirement.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newsprint comes in the form of huge roles and its consumption depends on the size and volume – number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pages – printed every day. The newsprint has to be bought in enough quantity well in advance. The next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task is to keep camera for filming the copies pasted with news and ads and which are handed over to it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editorial department. And from filming to plate making and the inks used to print the final plates.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sounds little technical but then this is how the whole process of the printing press is managed for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regular publication.  This department usually operates in the night no matter it is cold, hot or raining. Any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small mistake here may ruin the whole work performed by other departments in the day.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management of print media is done more efficiently if the managers are fully acquainted with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working of all the three major sections of the publication. Normally newspapers hold regular training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sessions for the people who are to be assigned with the task of managing the publication. </a:t>
            </a:r>
            <a:endParaRPr lang="ko-KR" altLang="en-US" dirty="0" smtClean="0" sz="1097"/>
          </a:p>
          <a:p>
            <a:pPr marL="0" indent="0" defTabSz="15240" algn="l">
              <a:lnSpc>
                <a:spcPts val="2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24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IMAGES IN MASS COMMUNICATION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–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INVENTION OF PHOTOGRAPHY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almost four hundred years since the invention of printing press in 1443, the print media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relying on words for the purpose of mass communication. There had been also the use of sketches like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cartoons and illustrations but the media was totally devoid of photographs, something we can’t perhaps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think of in today’s world of print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Since the print media was divided into a number of languages even within the European continent,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written communication was not fully serving the purpose of news media and the analysis on events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significance reported in newspapers, magazines or even books produced in one language. The handicaps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verbal communication were strongly felt.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Though the desire was strong to communicate more effectively through the print media, there were no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photographs as the world did not know about photography till the middle of 19th century. Since still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photograph in the earlier part of mass communication through print and later motion pictures in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modes of mass communication became an integral part of the process of communication, we will see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following lines how this technique was invented and exploited by the media so vastly.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What is photography?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Method of recording permanent images by light on to a chemically sensitive material is called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photography. It was developed in the 19th century through the artistic aspirations of two Frenchmen,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Nicéphore Niepce and Louis-Jacques-Mandé Daguerre, whose combined discoveries led to the invention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commercially successful process, the daguerreotype in 1837.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1826 or 1827, a Frenchman, Joseph Niepce, had secured the world's earliest surviving photograph (now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lying at the University of Texas at Austin) on a plate sensitized with bitumen and exposed for eight hours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camera. From 1829 until his death in 1833, Niepce worked in partnership with another Frenchman, Louis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J. M. Daguerre, who in 1839 invented a means of taking photographs on copper plates lightly coated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sensitized silver and "developed" over mercury fumes.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Portrait photography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introduction in 1860 of portrait photographs mounted on cards--, or visiting-card style upped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a larger cabinet size in 1866--ended the reign of daguerreotype photography.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It also led to the creation of the family photo album and to a new public taste for flamboyantly posed portraits of celebrities,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using dramatic lights and props. As the name Brady dominated the daguerreotype era, it was Brady carte de visite of president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Abraham Lincoln, widely reproduced and distributed in the 1860 presidential campaign, that Lincoln later said helped elect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him president.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Impact of Early Photography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advent of the new process, came mass production and dissemination of photographic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prints. The inception of these visual documents of personal and public history engendered vast changes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people's perception of history, of time, and of themselves. The concept of privacy was greatly altered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cameras were used to record most areas of human life. The everywhere presence of photographic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machinery eventually changed humankind's sense of what was suitable for observation.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The photograph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was considered incontestable proof of an event, experience, or state of being.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fulfill the mounting and incessant demand for more images, photographers spread out to every corner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world, recording all the natural and manufactured phenomena they could find. By the last quarter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19th century, most households could boast respectable photographic collections. These were in three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main forms: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the family album,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which contained cabinet portraits and;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scrapbooks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containing large prints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views from various parts of the world; and boxes of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stereoscope cards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which in combination with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popular stereo viewer created an effective illusion of three-dimensionality.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Further Developments and scientific usages 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E. J. Marey, the painter Thomas Eakins, and Eadweard Muybridge all devised means for making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stop-action photographs that demonstrated the gap between what the mind thinks it sees and what the eye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actually perceives. Muybridge's major work, Animal Locomotion (1887), remains a basic source for artists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scientists alike. As accessory lenses were perfected, the camera's vision extended both telescopically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microscopically; the moon and the microorganism became accessible as photographic images.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Photographs come to news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introduction of the halftone process in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	1881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made possible the accurate reproduction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photographs in books and newspapers. In combination with new improvements in photographic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technology, including dry plates and smaller cameras, which made photographing faster and less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cumbersome, the halftone made immediate reportage feasible and paved the way for news photography.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George Eastman's introduction in 1888 of roll film and the simple Kodak box camera provided everyone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means of making photographs for themselves. Meanwhile, studies in sensitometers, the new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science of light-sensitive materials, made exposure and processing more practicable.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power of the photograph as record was demonstrated in the 19th century when William H. Jackson's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photographs of the Yellowstone area persuaded the U.S. Congress to set that territory aside as a 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park.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early 20th century photographers and journalists were beginning to use the medium to inform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on crucial issues in order to generate social change. Taking as their precedents the work of such men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Jackson and reporter Jacob Riis (whose photographs of New York City slums resulted in much-needed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legislation), documentarians like Lewis Hine and James Van Der Zee began to build a photographic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tradition whose central concerns had little to do with the concept of art. The photojournalist sought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build, strengthen, or change public opinion by means of novel, often shocking images.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Impact of New Technology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development of the 35-mm or “candid” camera by Oskar Barnack of the Ernst Leitz company,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marketed in 1925, made documentarians infinitely more mobile and less conspicuous, while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manufacture of faster black-and-white film enabled them to work without a flash in situations with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minimum of light.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Color film for transparencies (slides) was introduced in 1935 and color negative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film in 1942.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Portable lighting equipment was perfected, and in 1947 the Polaroid Land camera, which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could produce a positive print in seconds, was placed on the market. All of these technological advances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granted the photojournalist enormous and unprecedented versatility.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advent of large-circulation picture magazines, such as Life (begun 1936) and Look (begun 1937),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provided an outlet and a vast audience for documentary work. At the same time a steady stream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convulsive national and international events provided a wealth of material for the extended photo-essay,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documentarian's natural mode. One of these was the Great Depression of the 1930s, which proved to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source of an important body of documentary work. Under the leadership of Roy Stryker,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photographic division of the Farm Security Administration (FSA) began to make an archive of images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America during this epoch of crisis. Walker Evans, Arthur Rothstein, Russell Lee, and Dorothea Lange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FSA group photographed the cultural disintegration generated by the Depression and the associated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disappearance of rural lifestyles.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coming of World War II photographers, including Margaret Bourke-White, Edward Steichen, W.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Eugene Smith, Lee Miller, and Robert Capa, documented the global conflict. The war was a stimulus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photography in other ways as well. From the stress analysis of metals to aerial surveillance, the medium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crucial tool in many areas of the war effort, and, in the urgency of war, numerous technological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discoveries and advances were made that ultimately benefited all photographers.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Modern Photography </a:t>
            </a:r>
            <a:endParaRPr lang="ko-KR" altLang="en-US" dirty="0" smtClean="0" sz="1097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the war museums and art schools opened their doors to photography, a trend that has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continued to the present. Photographers began to break free of the oppressive structures of the straight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aesthetic and documentary modes of expression. As exemplified by Robert Frank in his highly influential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book-length photo-essay, The Americans (1959), the new documentarians commenced probing what has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been called the “social landscape,” often mirroring in their images the anxiety and alienation of urban life.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Such introspection naturally led to an increasingly personal form of documentary photography, as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works of J. H. Lartigue and Diane Arbus.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young photographers felt little inhibition against handwork, collage, multiple images, and other forms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were anathema to practitioners of the straight aesthetic. Since the 1960s photography has become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increasingly dominant medium within the visual arts. Many painters and printmakers, including Andy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Warhol, Robert Rauschenberg, and David Hockney have blended photography with other modes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expression, including computer imaging in mixed media compositions at both large and small scale.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Contemporary photographers who use more traditional methods to explore non-traditional subjects include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Cindy Sherman and Richard Prince.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Other Aspects of Photography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contemporary world the practical applications of the photographic medium are numerous: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an important tool in education, medicine, commerce, criminology, and the military. Its scientific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applications include aerial mapping and surveying, geology, reconnaissance, meteorology, archaeology,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anthropology. New techniques such as holography, a means of creating a three-dimensional image in space,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continue to expand the medium's technological and creative horizons. In astronomy the charge coupled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device (CCD) can detect and register even a single photon of light.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Digital Technology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the end of the 20th century digital imaging and processing and computer-based techniques had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made it possible to manipulate images in many ways, creating revolutionary changes in photography. Digital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technology allowed for a fundamental change in the nature of photographic technique. Instead of light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passing through a lens and striking emulsion on film, digital photography uses sensors and color filters.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technique three filters are arranged in a mosaic pattern on top of the photosensitive layer. Each filter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allows only one color (red, green, or blue) to pass through to the pixel beneath it. In the other technique,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three separate photosensitive layers are embedded in silicon. Since silicon absorbs different colors 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depths, each layer allows a different color to pass through. When stacked together, a full color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pixel results. In both techniques the photosensitive material converts images into a series of numbers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then translated back into tonal values and printed. Using computers, various numbers can easily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changed, thus altering colors, rearranging pictorial elements, or combining photographs with other kinds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images. Some digital cameras record directly onto computer disks or into a computer, where the images 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 manipulated at will. </a:t>
            </a:r>
            <a:endParaRPr lang="ko-KR" altLang="en-US" dirty="0" smtClean="0" sz="1097"/>
          </a:p>
          <a:p>
            <a:pPr marL="0" indent="0" defTabSz="15240" algn="l">
              <a:lnSpc>
                <a:spcPts val="2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93520" y="7534910"/>
            <a:ext cx="5242560" cy="59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32830" y="4462145"/>
            <a:ext cx="865505" cy="8413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25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MOTION PICTURES – A NEW WAY IN MASS COMMUNICATION-I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still photographs appeared frequently in the print media by the third quarter of the 19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newspersons showed extra-ordinary enthusiasm in exploiting the visual strength of images taken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through camera. The quality of images improved in the last quarter when halftone technique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discovered.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was hardly a world class newspaper or magazine in the last decade of the century which was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including camera pictures to convey one truth or the other to the readers. Some of the camera work,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discussed in the last lecture, was so strong that it had forced the American government to undertake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legislation to help people living in slums.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only the darker side of the life was in view of the print media, the newspapers and magazines were fully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exploiting the pictorial edge in the aesthetic sense, especially playing up female models. The trend continues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to-date and special fashion magazines are a common sight at most bookstalls. But scientists, inspired by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still camera images, had some other ideas as well. Why not to create a sense of motion by using a series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images. But how, was the question making them to scratch their heads. At this stage of history no one knew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what miracle in mass communication was in waiting.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Definition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Motion picture means movie-making as an art and an industry, including its production techniques,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 creative artists and the distribution and exhibition of its products.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Start in unbelievable fashion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started with a $25,000 bet, in 1877 that was a lot of money. Edward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Muybridge, an Englishman tuned American, needed to settle a bet. Some people argued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a galloping horse had all four feet off of the ground at the same time at some point;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others said this would be impossible. No feet touching the ground; how could that be?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problem was that galloping hooves move too fast for the eye to see. Or, maybe,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depending on your belief, just fast enough that you could see what you wanted to. To settle the bet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definitive proof was needed.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 an effort to settle the issue once and for all an experiment was set up in which a rapid sequence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photos was taken of a running horse. When the pictures were developed it was found that the horse did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indeed have all four feet off the ground during brief moments, thus, settling the bet. But, in doing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experiment they found out something else — something that becomes obvious from the illustrations below.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a series of still photos are presented sequentially, an illusion of motion is created. That discovery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would soon make that $25,000 look like pocket change.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series of eleven still photos shown below are presented sequentially at 0.1 second intervals to create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appearance of continuous motion. </a:t>
            </a:r>
            <a:endParaRPr lang="ko-KR" altLang="en-US" dirty="0" smtClean="0" sz="1097"/>
          </a:p>
          <a:p>
            <a:pPr marL="0" indent="0" defTabSz="15240" algn="l">
              <a:lnSpc>
                <a:spcPts val="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Later, we would give impressive names to the two factors that created this illusion of motion — the illusion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lies at the base of both motion pictures and television.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images in rapid succession,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an illusion of movement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created in the transition between the images.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our eyes hold one image long enough for the next one to take its place. 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83</a:t>
            </a:r>
            <a:endParaRPr lang="ko-KR" altLang="en-US" dirty="0" smtClean="0" sz="1200"/>
          </a:p>
        </p:txBody>
      </p:sp>
      <p:sp>
        <p:nvSpPr>
          <p:cNvPr id="195" name="Rect 3"/>
          <p:cNvSpPr>
            <a:spLocks noGrp="1" noChangeArrowheads="1"/>
          </p:cNvSpPr>
          <p:nvPr/>
        </p:nvSpPr>
        <p:spPr>
          <a:xfrm rot="0">
            <a:off x="1645920" y="8619490"/>
            <a:ext cx="5457190" cy="4908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phi phenomenon that explains why, when you view a series of slightly different still photos or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Persistence of vision, which explains why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intervals between the successive images merge into a single image </a:t>
            </a:r>
            <a:endParaRPr lang="ko-KR" altLang="en-US" dirty="0" smtClean="0" sz="1097" i="1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actual fact, there is nothing moving in motion pictures. It's all an illusion based on these two phenomena.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Note in the illustration on the left that an illusion of motion is created, even when successive pictures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presented at a relatively slow rate.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Motion picture projectors present images much faster, at 24-frames per-second, with each of those frames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flashed on the screen twice. This high speed makes the transition between images virtually invisible. So, as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result of a $25,000 bet, the foundation for motion pictures and television was inadvertently established.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Early days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Experiments in photographing movement had been made in both the United States and Europe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during the latter half of the 19th century with, at first, no exploitation of its technical and commercial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possibilities. Serial photographs of racehorses, intended to prove that all four hooves do leave the ground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simultaneously, were obtained (1867) in California by Eadweard Muybridge and J. D. Isaacs by setting up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row of cameras with shutters tripped by wires. The first motion pictures made with a single camera were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E. J. Marey, a French physician, in the 1880s, in the course of his study of motion.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1889 Thomas Edison and his staff developed the kinetograph, a camera using rolls of coated celluloid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film, and the Kinetoscope, a device for peep-show viewing using photographs that flipped in sequence.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Marketed in 1893, the Kinetoscope gained popularity in penny arcades, and experimentation turned to ways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which moving images might be shown to more than one person at a time. In France the Lumière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brothers created the first projection device, the Cinématographe (1895). In the United States, similar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machines, notably the Pantopticon and the Vitascope, were developed and first used in New York City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1896.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first the screenings formed part of variety  shows and arcades, but in 1902 a Los Angeles shop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showed only moving pictures had great success; soon “movie houses” (converted shop-rooms) sprang up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over the country. The first movie theater, complete with luxurious accessories and a piano, was built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Pittsburgh in 1905. A nickel was charged for admission, and the theater was called the nickelodeon.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industry developed to produce new material and the medium's potential for expressive ends began to assert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itself.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American studios were centered in the New York City area. Edison had claimed the patents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of the technical elements involved in filmmaking and, in 1909, formed the Motion Picture Patents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Company, an attempt at monopoly that worked to keep unlicensed companies out of production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distribution. To put distance between themselves and the Patents Company's sometimes violent tactics,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independents moved their operations to a suburb of Los Angeles; the location's proximity to Mexico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allowed these producers to flee possible legal injunctions. After 1913 Hollywood, Calif., became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American movie capital. At first, films were sold outright to exhibitors; later they were distributed on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rental basis through film exchanges.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Early on, actors were not known by name, but in 1910, the “star system” came into being via promotion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Vitagraph Co. actress Florence Lawrence, first known as The Vitagraph Girl. Other companies, noting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approach improved business, responded by attaching names to popular faces and “fan magazines”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quickly followed, providing plentiful, and free, publicity. Films had slowly been edging past the 20 minute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mark, but the drive to feature-length works began with the Italian “spectacle” film, of which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Quo Vadis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(1913), running nine reels or about two hours, was the most influential.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Directors, including D. W. Griffith, Thomas Ince, Maurice Tourneur, J. Stuart Blackton, and Mack Sennett,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became known to audiences as purveyors of certain kinds, or “genres,” of subject matter. The first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generation of star actors included Charlie Chaplin, Buster Keaton, Mary Pickford, Douglas Fairbanks, Marie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Dressler, Lillian Gish, William S. Hart, Greta Garbo, John Gilbert, Claudette Colbert, Rudolph Valentino,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Janet Gaynor, Ronald Colman, Clara Bow, Gloria Swanson, Lon Chaney, and Will Rogers. During World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War I the United States became dominant in the industry and the moving picture expanded into the realm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education and propaganda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Subjects in the beginning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earliest films were used primarily to chronicle contemporary attitudes, fashions, and events,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ran no longer than 10 minutes. At first, simple actions were filmed, then everyday scenes and, pivotally,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gag films, in which a practical joke is staged as a simple tableau. The camera was first used in a fixed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position, though soon it was pivoted, or panned, on its tripod or moved toward or away from a subject.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medium's potential as a storytelling mechanism was realized very early in its history. The Frenchman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George Méliès created the earliest special effects and built elaborate sets specifically to tell stories of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fantastic nature, usually as a series of tableaux. His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Cinderella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(1900) and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A Trip to the Moon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(1902) were major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innovative accomplishments. The American Edwin S. Porter demonstrated that action need not be staged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cinema screen as for theater and early realized that scenes photographed in widely separate locales could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 cut, or edited, together yet still not be confusing to the audience. His subject matter tended toward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depictions of modern life; his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Life of an American Fireman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(1902) and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The Great Train Robbery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(1903) are among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works to use editing as well as acting and stagecraft to tell their stories.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Business aspect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business increased, the demand for product was met by many new companies incorporated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create the supply. Cooperation among the early filmmakers yielded to the demands of the marketplace,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each company tried to secure continued success through innovations meant to distinguish its product. Out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these efforts developed the star system, the establishment of physical plants (studios) where the films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would be made, and the organization of the filmmaking process into interlocking crafts. The crafts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include actors, producers, cinematographers, writers, editors, and film laboratory technicians who work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interdependently in a production effort overseen and coordinated by the director.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year 1926 brought experiments in sound effects and music, and in 1927 spoken dialogue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successfully introduced in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The Jazz Singer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with Al Jolson. A year later the first all-talking picture,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Lights of New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York,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was shown. With the talkies new directors achieved prominence—King Vidor, Joseph Von Sternberg,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Rouben Mamoulian, Frank Capra, and John Ford.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Sound films gave a tremendous boost to the careers of some silent actors but destroyed many whose voices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not suited to recording. Among the most celebrated stars of the new era were Clark Gable, Jean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Harlow, Marlene Dietrich, Mae West, W. C. Fields, and the Marx Brothers. Also in 1927 The Motion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Picture Academy of Arts and Sciences was formed and began an annual awards ceremony. The prize,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figurine of a man grasping a star, was later dubbed Oscar. These awards did much to confer status upon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medium in that they asserted a definable quality of excellence analogous to literature and theater,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in which awards are given for excellence. The Academy Awards also offered the bonus of gathering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stars in one place and thus attracted immediate and widespread attention. The star system blossomed: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actors were recruited from the stage as well as trained in the Hollywood studios.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the 1930s until the early 1950s, the studios sponsored a host of talented actors, foremost among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whom were Ingrid Bergman, Joan Crawford, Bette Davis, Katharine Hepburn, Charles Laughton, Barbara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Stanwyck, William Powell, Spencer Tracy, Humphrey Bogart, Leslie Howard, Gary Cooper, James Stewart,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Cary Grant, Irene Dunne, Edward G. Robinson, Henry Fonda, Gregory Peck, James Cagney, Judy Garland,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Bob Hope, James Mason, Fred Astaire, and Gene Kelly. Producers and directors such as David O. Selznick,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Darryl F. Zanuck, Mervyn LeRoy, William Wyler, George Stevens, and Billy Wilder made significant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contributions to cinematic art.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be continued....... </a:t>
            </a:r>
            <a:endParaRPr lang="ko-KR" altLang="en-US" dirty="0" smtClean="0" sz="1097"/>
          </a:p>
          <a:p>
            <a:pPr marL="0" indent="0" defTabSz="15240" algn="l">
              <a:lnSpc>
                <a:spcPts val="9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26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MOTION PICTURES – A NEW WAY IN MASS COMMUNICATION (Cont...)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medium had, after nickelodeon days, converted many legitimate theaters into movie houses.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Later, during Hollywood's “golden age,” thousands of sumptuous movie palaces were erected all over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United States, and drive-in movie theaters became popular outside urban centers. Since their inception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movies have always been termed an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industry,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with good reason. In 1938 there were more than 80 million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single admissions per week (65% of the population). To meet the huge box-office demand, more than 500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films were produced that year.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From studios to film series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industry in its heyday (1930–49) was managed by a number of omnipotent studios, including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Metro-Goldwyn-Mayer, Warner Brothers, RKO, Paramount, Twentieth Century-Fox, and Universal. They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produced endless cycles of films in imitation of a few successful original types. The range of themes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included the criminal underworld, behind-the-scenes newspaper dramas, westerns, musicals, and costume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romances, character series such as the Charlie Chaplin films, prison stories, mysteries, comedies,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Broadway shows. Because of their enormous investments and gargantuan rewards (the film industry's gross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income for 1946, its best year, was nearly $2 billion), the studios were encouraged to repeat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conventionalized formula pictures.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Post-Studio Era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1950s, two developments ended the studios' grip on the entertainment business: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overwhelming popularity of television began to eat into studio profits and the studios were forced by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federal courts to yield the control of distribution and exhibition that they had maintained by means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massive conglomerate corporations. In 1962 box-office receipts were only $900 million; by 1968 only 20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million people per week were going to a movie (10% of the population). Independent distributors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theaters took a huge cut of the industry's income after World War II, and the studios cut wages and laid off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employees in a struggle to survive.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Challenges from TV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order to compete with television the studio heads strongly urged technological innovation.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1950s experiments abounded with wide-screen processes, such as Cinema Scope and Cinerama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stereophonic sound systems. The movies of the 1950s and 60s traded a bit of glamour for an increased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sense of realism, providing vehicles for new directors, including Elia Kazan, John Frankenheimer, Stanley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Kubrick, and Sidney Lumet, and for a great number of popular film stars, including Marlon Brando, Marilyn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Monroe, Burt Lancaster, Montgomery Clift, Judy Holliday, James Dean, Paul Newman, Elizabeth Taylor,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Charlton Heston, Doris Day, George C. Scott, Audrey Hepburn, and Sidney Poitier.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Eventually, 1956 many studios began to produce material especially for television, including commercials,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to sell their old films for television reruns. Independent production became the norm, with the studios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acting as distributors only, and new kinds of films emerged: horror, science fiction, and rock 'n' roll stories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aimed at teen-agers proliferated. Concurrently, larger studio-backed films eschewed romanticism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sentimentality, fighting the long-imposed bans on depictions of a harsher reality and a more explicit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sexuality.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trend away from the glamorous celebrity image that began in the 1960s gained momentum in the 70s.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principal stars of these years include Jane Fonda, Barbra Streisand, Dustin Hoffman, Steve McQueen,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Woody Allen. Important American directors of the 1970s, 80s, and 90s include Peter Bogdanovich,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Roman Polanski, Francis Ford Coppola, Robert Altman, and Martin Scorsese.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Jawsmarks the change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change came with the release of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Jaws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(1975), an unassuming suspense picture that unexpectedly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grossed over $100 million by appealing to all ages and both sexes. Filmmakers were now encouraged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speak to the widest possible audience. The result was a series of films given over to spectacle.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Star Wars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(1977) cracked the $200 million barrier, and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E.T.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(1982) earned over $300 million. While many of these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films aroused criticism for representing the triumph of special effects over any kind of human values,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net effect was to draw the audience back into movie theaters, and many movies, including those without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spectacular elements, succeeded during this period. This trend has continued into the 21st cent. The leading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directors are Steven Spielberg and George Lucas, the latter more active as a producer.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VCRs introduction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Two developments that greatly enhanced profitability in the 1980s were the development of low-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cost videocassette recorders (VCRs), which allow films to be shown at home, and the government's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relaxation of the decrees separating production from distribution. The studios first felt that videocassettes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would weaken the theatrical market; the reverse was true, as viewers became more interested in movie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entertainment in general.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Beginning in the 1960s, many of the old movie palaces began to be divided into two or more auditoriums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due to weakening attendance. When audiences returned in the 1980s, multiplexes, or theaters with multiple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auditoriums, became the norm and mushroomed in suburban shopping malls and urban centers.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early 1990s, however, the recession was reflected in movie attendance. By the turn of the decade, two major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studios, MGM and Orion, suffered financial difficulties, and two others, Columbia and Universal, were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bought by Japanese electronics companies, although Universal later became part of a French conglomerate.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of the few positive motion-picture trends during the late 20th and early 21st century was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development and proliferation of IMAX. The format, which debuted in Japan in 1970, utilizes special film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projectors, features a gigantic screen and huge sound system, and has been used to take viewers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ultra-realistic trips to earthly (e.g.,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Everest,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1998) and outer-space (e.g.,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Destiny in Space,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1994) destinations.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Censorship and ethics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several scandals led to the fear that the immorality perceived to be rampant in Hollywood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might appear on screen, the Motion Picture Producers and Distributors of America, headed by Will H.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Hays, was established in 1922 as a film review board. The Production Code, popularly known as the “Hays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Code,” a highly restrictive set of guidelines for movie content, was promulgated in 1934 and complied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virtually every Hollywood producer. In the late 1960s, the determination of what constituted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pornography was turned over to the states for enforcement at the same time that filmmakers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attempting to break away from the Production Code's bans on sexuality and violence.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In 1966, the Production Code was abandoned completely and succeeded by the Motion Picture Code and Rating Program.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Adopted to avoid a threatened state-controlled system, the program has characterized itself as providing guidance for parents,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not for filmmakers. The program initially assigned each film one of four ratings: G (general audiences, without restrictions), M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(mature audiences, parental guidance advised), R (restricted audiences, no one younger than 18 admitted without a parent or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guardian), and X (no one younger than 18 admitted). The age limit may be adjusted by individual state rulings. M was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eventually supplanted by PG (parental guidance suggested), PG-13, was introduced for films that might contain material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inappropriate for pre-teenagers, and NC-17 replaced X, which had become associated with pornographic films. </a:t>
            </a:r>
            <a:endParaRPr lang="ko-KR" altLang="en-US" dirty="0" smtClean="0" sz="1097" i="1"/>
          </a:p>
          <a:p>
            <a:pPr marL="0" indent="0" defTabSz="15240" algn="l">
              <a:lnSpc>
                <a:spcPts val="20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27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FILM MEDIA IN SUBCONTINENT AND PAKISTAN-I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 is a term that encompasses motion pictures as individual projects, as well as the field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general. The origin of the name comes from the fact that photographic film has historically been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primary medium for recording and displaying motion pictures.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other terms exist for an individual motion picture, including picture, picture show, and most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commonly, movie. Additional terms for the field in general include the big screen, the silver screen,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cinema and the movies.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Films are produced by recording actual people and objects with cameras, or by creating them using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animation techniques and/or special effects. They comprise a series of individual frames, but when these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images are shown rapidly in succession, the illusion of motion is given to the viewer. Flickering between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frames is not seen due to an effect known as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persistence of vision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— whereby the eye retains a visual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image for a fraction of a second after the source has been removed.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 true art-form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 is considered by many to be an important art form; films entertain, educate, enlighten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inspire audiences. The visual elements of cinema need no translation, giving the motion picture a universal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power of communication. Any film can become a worldwide attraction, especially with the addition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dubbing or subtitles that translate the dialogue. Films are also artifacts created by specific cultures, which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reflect those cultures, and, in turn, affect them.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Films come to subcontinent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Lumière Brothers of France exhibited their short films in December 1895 at Grande Cafe,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Paris. The following year, they brought the show to India and held its premiere at the Watson Hotel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Bombay on 7 July 1896. It was a package of 6 films viz, Entry of cinematograph, Arrival of the train,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sea bath, A demolition, Leaving the factory and Ladies and Soldiers on wheels. From 18 July 1896, films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released at the Novelty Theatre on a regular basis. Entrance tickets ranged from four anaas to one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rupee.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Raja Harishchandra (1913) was the first silent feature film made in subcontinent. It was made by Dadasaheb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Phalke. By the 1930s, the industry was producing over 200 films per annum. The first Indian sound film,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Ardeshir Irani's Alam Ara (1931), was a super hit. There was clearly a huge market for talkies and musicals;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Bollywood and all the regional film industries quickly switched to sound filming.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1930s and 1940s were tumultuous times: like the whole world the subcontinent was rocked by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Great Depression, World War II, the Indian independence movement, and the violence of the Partition.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were a number of filmmakers who tackled tough social issues, or used the struggle for independence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a backdrop for their plots. In late 1950s, Bollywood films moved from black-and-white to colour. Lavish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romantic musicals and melodramas were the staple fare at the cinema. Successful actors included Dev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Anand, Dilip Kumar and Raj Kapoor.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Controversies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Accusations of plagiarism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Constrained by rushed production schedules and small budgets, some writers and musicians have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been known to resort to plagiarism. They copy ideas, plot lines, tunes from sources Hollywood and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Western movies, Western pop hits).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past times, this could be done with impunity. Copyright enforcement was lax here. As for the Western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sources, the film industry was largely unknown to Westerners, who would not even be aware that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material was being copied. Audiences also may not have been aware of the plagiarism, since many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Indian audience were unfamiliar with Western films and tunes.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While copyright enforcements are more familiar with foreign movies and music, flagrant plagiarism may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have diminished -- however, there is no general agreement that it has.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Pre-cinema times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Telling stories from the epics using hand-drawn tableau images in scroll paintings,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accompanying live sounds have been an age old tradition. These tales, mostly the familiar stories of gods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goddesses, are revealed slowly through choreographic movements of painted glass slides in a lantern,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create illusions of movements. And so when the Lumière brothers' representatives held the first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showing at Mumbai's (Bombay) Watson's Hotel on July 7, 1896, the new phenomenon did not create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much of a stir here and no one in the audience ran out at the image of the train speeding towards them, as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did elsewhere. The viewer took the new experience as something already familiar to them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Calcutta, Hiralal Sen photographed scenes from some of the plays at the Classic Theatre. Such films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shown as added attractions after the stage performances or taken to distant venue where the stage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performers could not reach. The possibility of reaching a large audience through recorded images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could be projected several times through mechanical gadgets caught the fancy of people in the performing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arts and the stage and entertainment business. The first decade of the 20th century saw live and recorded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performances being clubbed together in the same program.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Influence of traditional arts – music, dance on cinema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strong influence of its traditional arts, music, dance and popular theatre – which was already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existence for the last about 80 years,  on the cinema movement in subcontinent in its early days, is probable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responsible for its characteristic enthusiasm for inserting song and dance sequences in subcontinent cinema,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 till today.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First local film showing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Raja Harish Chandra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Director Dada Saheb Phalke made a studio in Dadar Main Road, wrote the scenario, erected the set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started shooting for his first venture Raja Harishchandra in 1912. The first full-length story film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Phalke was completed in 1912 and released at the Coronation cinema on April 21, 1913, for special invitees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members of the Press. The film was widely acclaimed by one and all and proved to be a great success.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Phalke hailed from an orthodox Hindu household - a family of priests with strong religious roots. So, when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technology made it possible to tell stories through moving images, it was but natural that the film pioneer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turned to his own ancient epics for source material. The phenomenal success of Raja Harishchandra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kept up by Phalke with a series of mythological films that followed - Mohini Bhasmasur (1914), significant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introducing the first woman to act before the cameras - Kamalabai Gokhale. The significant titles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followed include - Satyawan Savitri (1914), Satyavadi Raja Harischandra (1917), Lanka Dahan (1917), Shri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Krishna Janma (1918) and Kalia Mardan (1919).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Regional Cinema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(Here we will discuss different regions in the subcontinent where the film art flourished. The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mention of Lahore as one very strong pocket which nurtured a film industry will be made in the next setting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along with cinema life in Pakistan).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South		subcontinent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film in Southern India was made in 1916 by R Nataraja Mudaliar- Keechaka Vadham.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title indicates the subject is again a mythological from the Mahabharata. Another film made in Madras -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Valli Thiru-Manam (1921) by Whittaker drew critical acclaim and box office success.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Bengal,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 region rich in culture and intellectual activity, the first Bengali feature film in 1917, was remake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Phalke's Raja Harishchandra. Titled Satyawadi Raja Harishchandra, it was directed by Rustomjee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Dotiwala. Less prolific than Bombay based film industry, around 122 feature films were made in Calcutta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Silent Era. 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feature film in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Tamil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also the first in entire South India, Keechakavatham was made during 1916-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17, directed by Nataraja Mudaliar.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Calcutta film Industry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Madan Theatres of Calcutta produced Shirin Farhad and Laila Majnu (1931) well composed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recorded musicals. Both films replete with songs had a tremendous impact on the audience and can be said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have established the unshakeable hold of songs on our films. Chandidas (1932, Bengali), the story of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Vaishnavite poet-priest who falls in love with a low caste washerwoman and defies convention, was a super-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hit. P C Barua produced Devdas (1935) based on Saratchandra Chatterjee's famous story about frustrated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love, influenced a generation of viewers and filmmakers.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Cinema Starts Talking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early thirties, the silent Indian cinema began to talk, sing and dance. Alam Ara produced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Ardeshir Irani, released on March 14, 1931 was the first Indian cinema with a sound track.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Mumbai became the hub of the Indian film industry having a number of self-contained production units.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thirties saw hits like Madhuri (1932), Indira, M A (1934), Anarkali (1935), Miss Frontier Mail (1936),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Punjab Mail (1939).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Hindu cast system was first to get attention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hindu culture based strongly on cast-divide and not be changed by long muslim rule, but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strongly felt by hindu scholars, was the first to get attention when a strong mass medium like film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invented.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Among the leading filmmakers of Mumbai during the forties, V Shantaram was arguably the most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innovative and ambitious. From his first Ayodhya ka Raja (1932) to Admi (1939), it was clear that he was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filmmaker with a distinct style. He dealt with issues like cast system, religious bigotry and women's rights.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 when Shantaram took up stories from the past, he used these as parables to highlight contemporary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situations. While Amirt Manthan (1934) opposed the senseless violence of Hindu rituals, Dharmatama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(1935) dealt with Brahmanical orthodoxy and cast system. Duniya Na Mane (1937) was about a young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woman's courageous resistance to a much older husband whom she had been tricked into marrying. Admi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(1939) was one of Shantaram's major works.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Tamil cinema emerged as a veritable entertainment industry in 1929 with the creation of General Picture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Corporation in Madras (Chennai). Most of the Tamil films produced were multilingual productions,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versions in Telugu, Malayalam and Kannada until film production units were established in Hyderabad,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Trivandrum and Bangalore. The first talkie of South India, Srinivas Kalyanam was made by A Narayanan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1934.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Mehboob Khan 40s to 50s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Mehboob made his films down to earth, dramatic, even melodramatic. Roti made in the early 1940s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inspired by the German Expressionism, is a real critique of Indian society with prophetic insight. It deals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two models - one of a millionaire, possessed by money and power in an industrial civilization, the other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a tribal couple living in a primeval state of nature. The millionaire is saved by the couple after an air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crash, the tribal couple immigrates to the city, do not find happiness and return. The millionaire is ruined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city, tries futilely to find salvation among the tribal.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Mehboob remade his film Aurat (1940) in colour and with drastically different imagery as Mother India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(1957), which was a massive success and later even acquired an epic status. The story revolves around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Radha, played by Nargis, one of the strongest woman characters of Indian cinema. Her husband having lost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both arms in an accident leaves her. Alone, she raises her children while fending off the financial as well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sexual pressure from a moneylender. One of her sons, Birju becomes a rebel and the other one Ramu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remains a dutiful son. In the end the long suffering mother kills her rebel son, as his blood fertilizes the soil. 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Highly successful and critically acclaimed, Mehboob's films often derive from clash between pre-capitalist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ruralism and an increasingly modernized state with its commercial-industrial practices and values.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Bimal Roy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Born in Dhaka, Bangladesh, Bimal Roy entered the field of cinema as a camera assistant. 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directorial debut was with Udayer Pathey (1944). He introduced a new era of post World War romantic-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realist melodramas that was an integration of the Bengal School style with that of De Sica. Do Bigha Zamin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(1953) and Sujata were two of the most notable films of Bimal Roy, who basically was a reformist,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humanist liberal. Do Bigha Zamin was one of the Indian first films to chart mass migration of rural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cities and their degradation in urban slums. Though the situation was tragic, Roy sought to relieve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starkness by brave and hopeful songs and dances. Sujata dealt with the disturbances created to a lost soul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the world of untouchable underclass who escaped accidentally to the world of the urban middle class.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Raj Kapoor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Born in Peshawar, now in Pakistan as son of Prithviraj Kapoor, Raj Kapoor acted the role of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megastar, successful producer and a director. He started as a clapper-boy in the Hindi film industry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latter became one of the most successful directors of the industry. He set up the R K Films in 1948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made his first directorial venture Aag. His earlier films Awara (1951) and Shri 420 (1955) evince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sentimental approach to social reforms, presenting political independence as a loss of innocence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exchange of stability.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Pakistan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Pakistan film history from 1896-1947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shared its film history with India from 1896 to 1947. Lahore produced many films and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big number of Pakistani artists debuted in this period.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Pakistani artists before 1947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silent film from Lahore was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The Daughter of Today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released in 1924 and the inaugural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Punjabi or talkie film from Lahore was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Heer Ranjha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 1932. (Alam Ara was released in 1931, which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means Lahore was going as fast and one top hum after Bombay for film making in the subcontinent.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be continued... </a:t>
            </a:r>
            <a:endParaRPr lang="ko-KR" altLang="en-US" dirty="0" smtClean="0" sz="1097"/>
          </a:p>
          <a:p>
            <a:pPr marL="0" indent="0" defTabSz="15240" algn="l">
              <a:lnSpc>
                <a:spcPts val="29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28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FILM MEDIA IN SUBCONTINENT AND PAKISTAN (II) &amp; ITS EFFECTS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activities of foreigners made Bombay the centre of film world right in the beginning. But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 of the subcontinent which spearheaded in film arts was Lahore. It will not be wrong to say that most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talent in direction, acting and singing was generated in the Lahore film studios before partition.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Here we will talk in detail how the film art flourished in Lahore before partition and how this one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distinguished mean of mass communication fared in Pakistan after independence.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Pakistan film history from 1896-1947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shared its film history with India (Bharat) from 1896 to 1947. Lahore produced many films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a big number of Pakistani artists debuted in this period.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Pakistani artists before 1947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silent film from Lahore was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The Daughter of Today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released in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1924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and the inaugural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Punjabi or talkie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film from Lahore was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Heer Ranjha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	in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 1932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(Alam Ara was released in 1931,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means Lahore was going as fast and one top film-home after Bombay in the subcontinent.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Some Memorable Movies from 1913-47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Raja Harishchandra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Daughter of Today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Alam Ara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Heer Ranjha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Khazanci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Anmol Gharri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Jugnu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First film made with cultural taboos- sans women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Raja Harishchandra was released for public viewing in Coronation theatres, Bombay. The first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Indian motion picture, D. G. Phalke’s mythological boasted of an all-male star-cast. Even the female lead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played by a man since no woman was willing to be part of the cast.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First ever silent feature film from Lahore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Premier Film Company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Daughter of Today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Released in: 1924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ever silent film from Punjab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Actors: A.K.Kardar, Wilayat Begum, M. Ismaeel, Vijay Kumar, Heera Lal and Master Ghulam Qadir, G.K.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Mehta.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M. Ismaeel started his film career from the first ever Lahore made silent film and he was an automatic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choice in the first talkie film from Lahore too.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Assistant Director: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Mian Abdur Rasheed Kardar,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was the man who started film making in Lahore. 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hero in first silent film and director of first talkie film.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Inaugural Urdu/Hindi Indo-Pak feature film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Imperial Film Company Presents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Alam Ara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Urdu/Hindi (124 minutes, black &amp; white)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Released on: Saturday, March 14, 1931 (Capital Cinema Lahore)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India's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first talkie film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was released at Bombay's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Majestic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cinema hall. It had seven songs and was 10,500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ft. long and ran for seven weeks. It was a costume drama and romantic film.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Story: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 period fantasy that told of the ageing king of Kamarpur, and his two rival queens, Navbahar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Dilbahar, and their rivalry when a fakir predicts that Navbahar will bear the king's heir. Dilbahar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unsuccessfully tries to seduce the army chief Adil (Vithal) and vengefully destroys his family, leaving his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daughter Alam Ara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(Zubaida)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to be raised by nomads. Eventually, Alam Ara's nomad friends invade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palace, expose Dilbahar's schemes, release Adil from the dungeon and she marries the prince of the realm.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Actors: Zubaida (Alam Ara), Master Vitthal (Adil), J. Sushila (as Sushila), Jillo Bai, Prithviraj Kapoor, Elizer,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Wazir Mohammed Khan, Jagdish Sethi and L.V. Prasad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Music: Feroz Shah and B. Irani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Singers: Zubaida, W.M. Khan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First ever Punjabi feature film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Heer Ranjha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Punjabi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Realesed in: 1932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ever Lahore made film.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Actors: Anwari Begum, Rafiq Ghazniv, Gul Hameed, Lala Yaqoob, M. Ismael, Fazal Shah, Walait Begum.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Anwari Begum and Rafiq Ghaznavi - the grand parent of Salma Agha - played title roles in this memorable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film. Rafiq Ghaznavi was a famous musician in the 30s and 40s and Anwari Begum appeared in many films,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of them was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Anmol Ghari.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Music: Rafiq Ghaznavi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Folk music comes to films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Pancholi Art Pictures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Khazanchi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Realesed in: 1941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Actors: Ramola, Naring, M. Ismael, Manorma, Ajmal, Janki Das, Durga Khote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Music: Revolutionary music director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Master Ghulam Haidar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changed the whole style of film music from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classical Bengali to folk Punjabi music in this mega hit film from Lahore.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	Master Ghulam Haidar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introduced Baby Noor Jehan as playback singer in this film first time. (He also introduced Indian diva Lata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Mangeshkar in film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Majboor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 1948).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Mehoboob Production Ltd. (Bombay-Lahore)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Anmol Gharri (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Urdu/Hindi)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Released in: 1946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Actors: Noor Jehan, Surender, Surayya, Zahoor Raja, Leela Mishra, Anwari Begum, Bhudo Anvari, Murad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Director: Mehboob Khan, one of the greatest film director in the history, was not formerly educated.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 is special because it brought almost a revolution in subcontinent film world.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Music:			One of the most memorable and melodious film by Noushad Ali from the 40s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. Naushad Ali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regarded as one of the greatest Music Directors of Indian Cinema.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Assistent: Ghulam Ahamd (Pakeeza fame)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Lyrics: Tanvir Naqvi was a relative of Madam Noor Jehan and a very successful lyricist....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Singers: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 Noor Jehan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was the most impressive film personality in the Indo-Pak film history. She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dominating since her debut as a child star (1935).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Surayya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was another famous singer/actress from the 40s and 50s. Born in Lahore, she debuted as a child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star with Taj Mahal (1941).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Shamshad Begum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was the first generation of top Punjabi film singers (followd by Zubaida Khanum (in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50s) and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Madam Noor Jehan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(from 40s-90s), respectively). One can’t forget Shamshad's mega hit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Punjabi songs as: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 Batti baal ke Banerey utte rakhni aan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 Meri lagdi kise na wekhi, te tutdi nu jugg janda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 Ni tutt jaye Rail Gadiye, too rok leya Chann mera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 Jutt Kurdian toon darda mara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Mohammad Rafi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and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Surindra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– all from Punjab, Lahore.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Film songs: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Tera Khilona tuta Balik, hai qismat ne tujh ko...  Mohammad Rafi 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Aaja meri barbad mohabbat ke sahare ...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Madam Noor Jehan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Mere bachpan ke saathi mujhe bhool na jana...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Madam Noor Jehan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Jawan hai mohabbat, haseen hai zamana...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Madam Noor Jehan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Kya mil geya Bhagwan tumhe dil ko dukha ke… Madam Noor Jehan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Last Big "Pakistani" film before partition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Shoukat Arts Productions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J U G N U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Urdu/Hindi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Released on: 1947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film was the last big film by Madam Noor Jehan and her husband director Shaukat Hussain Rizvi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partition. It was a big musical and romantic film. Madam Noor Jehan was on peak of her film career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singer and film heroine. Dillip Kumar and Mohammad Rafi got breakthrough from this film.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Actors: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Dilip Kumar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 the acting legend - got breakthrough from this mega hit film. He was born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Peshawar...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Music: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Feroz Nizami,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completed hat trick of three great musical film, first Jugnu in 1947, then Chann We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1951 and Dopatta 1952 - all with Noor Jehan, &amp;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G. A. Chishti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was a legendry musician in Punjabi films.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 dominated Pakistani film music until the beginning of the 70s.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Singers: Madam Noor Jehan, Shamshad Begum.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Mohammad Rafi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was a legend and he left behind a rich legacy of songs in Urdu/Hindi, Punjabi and many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languages. Started his singing career from Lahore...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Roshan Ara Begum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was acclaimed the best exponent of Kirana gharana style of khayal singing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subcontinent...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Pakistani artists started their film careers before 1947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A.R.Kardar (actor/director)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Daughters of Today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1924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M. Ismael (actor)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Daughters of Today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1924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Rafiq Ghaznavi (musician)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Heer Ranjha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1932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Ghulam Mohammad (actor)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Madhuri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1933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Zahoor Shah (actor)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Majnoo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1935/1933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Mukhtar Begum (singer/actress)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Naveli Dulhan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1933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Noor Mohammad Charlie (comedian)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Nadra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1933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A. Shah Shikarpuri (comedian)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Fadaye Toheed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1934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Nazir (actor/director)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Aab-e-Hayyat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1934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Master Ghulam Haidar (musician)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Sanjog ki Seerhi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1935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Najmul Hassan (actor)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Jawani ki hawa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Noor Jehan (singer/actress)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Pind di Kurri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1935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S.M. Yousuf (director)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Bharat ka Laal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1935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Rekha (actress)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Neela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Kumar (actor)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Hamari Betian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1936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Ajay Kumar (actor)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Mard ka Bacha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1936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G.A.Chishti (musician)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Sohni Mehinwal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1937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Agha Salim Raza (actor)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Gul Bakawli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1939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Ajmal (actor)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Gul Bakawli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1939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Khursheed Anwar (musician)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Kurmai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Gul Zaman (actor)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Mard-e-Punjab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Najam Naqvi (director)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Puttar Millan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Zahoor Raja (actor)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Pooja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Majeed (actor)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Sandesa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Ragni (actress)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Himmat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W.Z. Ahmad (director)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Ek Raat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1942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Masood Pervez (actor/director)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Mangti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1942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Shoukat Hussain Rizvi (director)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Khandan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1942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Hamaliya Wala (actor)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Kis ki Bivi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1942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M. Sadiq (director)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Namastey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1943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Sheikh Iqbal (actor)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Champa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1945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Sharif Nayyar (director)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Laila Majnu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1945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Rasheed Attre (musician)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Sheerin Farhad 1945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Meena Shori (actress)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Rutt Rangeeli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Asha Posley (actress)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Champa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1945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Renuka Devi (actress)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Ghulami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1945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Feroz Nizami (musician)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Ammar Raj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1946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Master Inayat Hussain (musician)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Kamli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1946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Luqman (director)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Hamjoli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1946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Nisar Bazmi (musician)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Jamna Paar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1946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Nashaad (musician)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Dildar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1947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Nasreen (actress)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Ek Roz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1947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Shah Nawaz (actor)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1947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Sudhir (actor)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Farz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1947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Santosh (actor)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Ahensa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1947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Rehana (actress)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Saajan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1947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Talish (actor)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Saraye ke baad 1947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Ilyas Kashmiri (actor)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Malka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1947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Tufail Farooqi (musician)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Dekho Jee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1947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Fateh Ali Khan (musician)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Director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1947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First Color film: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Ardeshir Irani's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Kisan Kanya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(1937) was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the first color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film. Sohrab Modi's Jhansi Ki Rani (1953) was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Techni-color film shot in India.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After partition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1948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Inaugural Pakistani film.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Teri Yaad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(Urdu)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Teri Yaad became the first ever released film but not the first film production in Pakistan. It was completed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 record time. Lahore was the third biggest film center in sub-continent - after Bombay and Calcutta -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there were many films under production in 1947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Released in: Perbhat (Sanober) Cinema, Lahore on August 7th, 1948. It was an Eid-ul-Fittar Day.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Teri Yaad was a dead flop film and the only attraction was film hero Nasir Khan, who was brother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legendry Dillip Kumar. Asha Poslay was introduced as heroine, but she never became a successful film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heroine. Her father Nath, was music director of this film.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Music: Inayat Ali Naath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Lyrics: Qateel Shafai became the first film poet in Pakistan. He had a long and successful film career...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Singers: Munawar Sultana, Asha Poslay &amp; Ali Bakhsh Zahoor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1949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Pheray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Silver Jubilee Punjabi Film.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ever Punjabi and the sixth film in the list of released Pakistani films celebrated a great success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cinemas. Veteran Producer and Director Nazir got the honour to become the first Silver Jubilee film maker.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 was also the only choice as hero in 1949.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Pakistans first ever produced Punjabi film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Pheray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was a re-make of Nazirs Indian urdu/hindi film "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Gaon ki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Gori" (1945)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It was a big musical hit and the Music Director G. A. Chishti wrote, composed and recorded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six songs of this film in a single day! Chishti was also the most productive Music Director in the first 25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years of Pakistan.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Music: G. A. Chishti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Singers: Munawar Sultana &amp; Inayat Hussain Bhatti 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Changes the films brought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Entertainment.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Cinema houses - a new business.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Jobs in thousands for acting, direction, music, sets, lighting, recording, cinematography etc.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Billboards all over in so much color - landscape changed.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Manifested culture and in return influenced culture – dresses, languages, living style, harmony etc.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Strong expression against hated figures in society, oppressors- at least can see on screen.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Boldness, vulgarity, obscenity – the dark side of films. </a:t>
            </a:r>
            <a:endParaRPr lang="ko-KR" altLang="en-US" dirty="0" smtClean="0" sz="1097"/>
          </a:p>
          <a:p>
            <a:pPr marL="0" indent="0" defTabSz="15240" algn="l">
              <a:lnSpc>
                <a:spcPts val="58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29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PROPAGANDA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conveyed in order to support and spread a particular opinion or point of view, engaging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emotions of the audience. In another manner it could be said as the planned dissemination of news,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information, special arguments, and appeals designed to influence the beliefs, thoughts, and actions of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specific group."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term propaganda carries many definitions. Harold Lasswell, a pioneer of propaganda studies, defines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"the management of collective attitudes by the manipulation of significant symbols." Like other social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scientists, he emphasizes its psychological elements: propaganda was a subconscious manipulation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psychological symbols to accomplish secret objectives. Subsequent analysts stressed that propaganda was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planned and deliberate act of opinion management.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History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term comes from Congregatio de Propaganda Fide (Congregation for the Propagation of the Faith),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missionary organization established by the Pope in 1622. Propagandists emphasize the elements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 that support their position and de-emphasize or exclude those that do not. Misleading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statements and even lies may be used to create the desired effect in the public audience. Lobbying,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advertising, and missionary activity are all forms of propaganda, but the term is most commonly used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political arena.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Prior to the 20th century, pictures and the written media were the principal instruments of propaganda;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radio, television, motion pictures, and the internet later joined their ranks.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Interestingly, authoritarian and totalitarian regimes use propaganda to win and keep the support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populace. In wartime, propaganda directed by a country at its own civilian population and military forces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can boost morale; propaganda aimed at the enemy is an element of psychological warfare.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Types of Propaganda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Modern practitioners of propaganda utilize various schemes to classify different types of propaganda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activities. One such categorization classifies propaganda as: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White Propaganda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Grey Propaganda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Black Propaganda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White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propaganda is correctly attributed to the sponsor and the source is truthfully identified. (The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government, Voice of America, for example, broadcasts white propaganda.)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Grey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propaganda, on the other hand, is un-attributed to the sponsor and conceals the real source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propaganda. The objective of grey propaganda is to advance viewpoints that are in the interest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originator but that would be more acceptable to target audiences than official statements. The reasoning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propaganda materials from an identified propaganda agency might convince few, but the same ideas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presented by seemingly neutral outlets would be more persuasive.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Un-attributed publications, such as articles in newspapers written by a disguised source, are part of grey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propaganda. Other tactics involve wide dissemination of ideas put forth by others—by foreign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governments, by national and international media outlets, or by private groups, individuals, and institutions.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Grey propaganda also includes material assistance provided to groups that put forth views deemed useful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propagandist. This type is very common in news world. E.g. some people have expressed disliking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or, people have appreciated government move to ban opposition rallies on the roads etc.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Black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propaganda also masks the sponsor's participation. But while grey propaganda is un-attributed, black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propaganda is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falsely attributed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Black propaganda is subversive and provocative; it is usually designed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appear to have originated from a hostile source, in order to cause that source embarrassment, to damage its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prestige, to undermine its credibility, or to get it to take actions that it might not otherwise. Black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propaganda is usually prepared by secret agents or an intelligence service because it would be damaging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originating government if it were discovered. It routinely employs underground newspapers, forged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documents, planted gossip or rumors, jokes, slogans, and visual symbols. For instance, a newspaper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publishes a letter by a prominent politician to another asking for certain action. The letter may serve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purpose of some interested group. The fact is that there has been no such letter ever existed. But damage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has been done especially if it is done during election days.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Types in another manner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categorization distinguishes between "fast" and "slow" propaganda operations, based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type of media employed and the immediacy of the effect desired. Fast media are designed to exert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short-term impact on public opinion, while the use of slow media cultivates public opinion over the long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period. Fast media typically include radio, newspapers, speeches, television, moving pictures, and e-mail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internet. These forms of communication are able to exert an almost instantaneous effect on selected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audiences.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Books, cultural exhibitions, and educational exchanges and activities, on the other hand are slow media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seek to inculcate ideas and attitudes over time.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Revolution, War, and Propaganda to 1917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Propaganda has a long history. War propaganda is as ancient as war itself. Anthropologists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unearthed evidence that primitive peoples used pictures and symbols to impress others with their hunting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fighting capabilities. The Assyrian, Greek, and Roman empires employed storytelling, poems, religious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symbols, monuments, speeches, documents, and other means of communication to mobilize their armed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forces or demoralize those of their enemies. As early as the fifth century B.C., the Chinese military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philosopher Sun Tzu advocated various techniques to maintain fighting morale and to destroy the enemy's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will to fight. The nineteenth-century German military strategist Carl von Clausewitz identified psychological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forces as decisive elements of modern war.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Thus, propaganda is not, as it is sometimes believed, a twentieth-century phenomenon born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electronic communications revolution. Although the concept is often associated with dictatorship, political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propaganda has been an essential ingredient of the democratic process, as politicians and political parties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have employed a range of communication techniques to win public support for their ideas and policies.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&amp; public relations used as propaganda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Similarly, countless private groups—from early antislavery societies to modern political action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committees—have turned to propaganda techniques to push their agendas. Advertising and public relations,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fields that came into fruition during the early twentieth century, have made commercial propaganda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permanent feature of the cultural landscape.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Propaganda in revolutions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Propaganda and agitation were essential components of the American Revolution. Prior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outbreak of hostilities, propaganda played a pivotal role in creating the intellectual and psychological climate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revolution itself.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Philip Davidson, in his history of the propaganda of the American Revolution, documented a remarkably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sophisticated grasp of propaganda techniques among the leading organizers of the Revolution.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evidence of a conscious, systematic effort by colonial leaders to gain public support for their ideas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unmistakable.  George Washington advocated the release of information "in a manner calculated to attract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attention and impress the minds of the people." Thomas Paine was the Revolution's most famous (and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radical) propagandist. He wrote numerous pamphlets articulating with rhetorical to flourish the ideological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justification for the Revolution.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Several revolutionaries employed the tactics that would later be known as grey propaganda. They wrote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articles, letters, and pamphlets under pseudonyms to disguise their identities and to create the impression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opposition to British policies was much greater than it was. Samuel Adams, for example, wrote under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twenty-five different pseudonyms in numerous publications. Benjamin Franklin articulated a shrewd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understanding of the techniques of propaganda, including the use of grey and black materials. He remarked,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"The facility with which the same truths may be repeatedly enforced by placing them daily in different lights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newspapers…gives a great chance of establishing them. And we now find that it is not only right to strike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while the iron is hot but that it may be very practicable to heat it by continually striking."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In 1777 he distributed a phony letter, purportedly written by a German commander of Hessian mercenaries, indicating that the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British government advised him to let wounded soldiers die. The letter caused a sensation in France and also induced numerous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desertions by the Hessian mercenaries. Franklin also forged an entire issue of the Boston Independent, which contained a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fabricated account of British scalp hunting. The story touched off a public uproar in Britain and was used by opposition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politicians to attack the conduct of the war. The historian Oliver Thomson described these efforts as "one of the most thorough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campaigns of diplomatic isolation by propaganda ever mounted."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World Wars - 1914–1945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Notwithstanding this early experience with propaganda, it was primarily the age of total war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inducted Governments in to the business of propaganda. During World War I, national governments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employed propaganda on an unprecedented scale. The arrival of the modern mass media together with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requirements of total war made propaganda an indispensable element of wartime mobilization. All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major belligerents turned to propaganda to woo neutrals, demoralize enemies, boost the morale of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troops, and mobilize the support of civilians.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of the most vital of all World War I propaganda battles was the struggle between Germany and Britain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the sympathy of the American people. The German government organized a program of propaganda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United States that was so heavy-handed it did more to alienate American public opinion than to win it.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British government, on the other hand, conducted most of its propaganda in the United States covertly,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through a secret propaganda bureau directed by the Foreign Office. The British adopted a low-key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approach that selectively released news and information to win American sympathies. The publication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Zimmerman telegram in 1917 (in which Germany sought to enlist Mexico in a war with the United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States) was undoubtedly the most important propaganda achievement of the British, and it helped to bring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Americans into the war on the Allied side.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week after declaring war, President Woodrow Wilson established the first official propaganda agency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U.S. government to manage public opinion at home and abroad—the Committee on Public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Information. Headed by the muckraking journalist George Creel, the committee was responsible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censorship, propaganda, and general information about the war effort. The Creel committee focused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mobilizing support on the home front, but it also conducted an extensive campaign of propaganda abroad,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overseeing operations in more than thirty overseas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committee bombarded foreign media outlets with news, official statements, and features on the war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effort and on American life, using leaflets, motion pictures, photographs, cartoons, posters, and signboards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promote its messages. The committee established reading rooms abroad, brought foreign journalists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United States, crafted special appeals for teachers and labor groups, and sponsored lectures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seminars.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Democratic governments &amp; Propaganda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series of investigations in the 1920s exposed the nature and scope of Britain's propaganda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campaign in the United States, including revelations that the British had fabricated numerous stories about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German atrocities. Many Americans came to blame British propaganda for bringing the United States into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wasteful and ruinous war, and the practice of propaganda became associated with deceit and trickery. It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thus in the aftermath of World War I that propaganda acquired its negative connotations—a development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stemmed from the employment of propaganda by a democracy, not, as is generally supposed, from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a dictatorship.  </a:t>
            </a:r>
            <a:endParaRPr lang="ko-KR" altLang="en-US" dirty="0" smtClean="0" sz="1097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propaganda campaigns affected the United States in other ways as well. The belief that Americans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had been tricked into participating in the First World War delayed U.S. intervention in the second.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Moreover, news of Nazi atrocities connected to the Holocaust were greeted incredulously by the American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in part because of the exaggerated and fabricated atrocity propaganda released by the British two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decades earlier.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development of radio revolutionized the practice of propaganda by making it possible to reach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audiences of unprecedented size instantaneously. A short-wave propaganda battle began in the mid-1920s 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Soviet Union, Germany, Japan, and Britain developed international broadcasting capabilities.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early part of 1941, as war appeared imminent, Roosevelt created several additional agencies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disseminate propaganda at home and abroad. In 1942 these various information programs were combined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into the Office of War Information (OWI) under the direction of the well-known journalist and broadcaster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Elmer Davis. Roosevelt also established the Office of Strategic Services (OSS), the forerunner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Central Intelligence Agency, and authorized it to engage in black and gray propaganda abroad, mostly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connection with military operations.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Psychological warfare – a new name for propaganda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December 1942, General Dwight D. Eisenhower created a separate psychological warfare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branch of the army to participate in the Allied invasion of North Africa. In 1944 he created an even larger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organization, the Psychological Warfare Division of the Supreme Headquarters, Allied Expeditionary Force,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prepare propaganda for the D-Day invasion. Psychological warfare was especially important in the Pacific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theater, where U.S. propaganda sought to convince Japanese soldiers—who had been taught by their army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to surrender meant relinquishing their place as members of Japanese society—to cease resistance.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Cold War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1950, Truman called for an intensified program of propaganda known as the Campaign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Truth. In a speech delivered to the American Society of Newspaper Editors, Truman articulated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perennial domestic justification for official U.S. propaganda: in order to combat enemy lies, the U.S. needed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promote the truth. Under the Campaign of Truth cartoons depicting bloodthirsty communists,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vituperative anticommunist polemics, and sensational commentary was made at a massive scale.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April 1951, Truman created the Psychological Strategy Board to coordinate the American psychological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warfare effort. The board acted as a coordinating body for all nonmilitary Cold War activities, including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covert operations. It supervised programs for aggressive clandestine warfare and propaganda measures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against the Soviet bloc and it developed "psychological strategy" plans for dozens of countries in Western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Europe, Asia, and the Middle East. By the time Truman left office, the U.S. government had established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far-reaching apparatus for influencing public opinion in both friendly and hostile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CIA also conducted clandestine propaganda operations in allied and neutral areas. The agency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subsidized noncommunist labor unions, journalists, political parties, politicians, and student groups.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Western Europe the CIA conducted a secret program of cultural and ideological propaganda through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Congress for Cultural Freedom, a purportedly private, but CIA-funded, organization that supported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 of anticommunist liberals. Through the Congress for Cultural Freedom, the agency published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than twenty prestigious magazines, held art exhibitions, operated a news and feature service, organized high-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profile international conferences, published numerous books, and sponsored public performances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musicians and artists.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During the Korean War, sensationalized charges that the United States had been waging bacteriological warfare, accounts of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Soviet brainwashing techniques, and communist-inspired "peace" campaigns, focused American attention on psychological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warfare as a mysterious Cold War weapon. During the 1952 presidential campaign, Eisenhower repeatedly called for an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expansive and coordinated psychological warfare effort on a national scale. In San Francisco he delivered a major speech on the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subject, arguing that every significant act of government should reflect psychological warfare calculations. He emphasized that the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Cold War was a struggle of ideas and argued that the United States must develop every psychological weapon available to win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the hearts and minds of the world's peoples </a:t>
            </a:r>
            <a:endParaRPr lang="ko-KR" altLang="en-US" dirty="0" smtClean="0" sz="1097" i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Propaganda, Diplomacy, and International Public Opinion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Cold War inaugurated a paradigm shift in the practice of diplomacy that reflected changes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nature of diplomatic activity worldwide. Through propaganda, policy initiatives, and covert action,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agents of the governments acted directly to influence the ideas, values, beliefs, opinions, actions, politics,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culture of other countries. Foreign affairs personnel not only observed and reported, they also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participated in events or tried to influence the way that they happened. The old maxim that one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does not interfere in the internal affairs of another had been swept aside.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pattern of international relations was further transformed by the electronic communications revolution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emergence of popular opinion as a significant force in foreign affairs. Foreign policy could no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longer be pursued as it had during the nineteenth century, when diplomacy was the exclusive area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diplomats. Developments in mass communication and the increased attentiveness to domestic audiences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abroad to foreign affairs meant that the target of diplomacy had now widened to include popular opinion 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much, if not more so, than traditional diplomatic activities. </a:t>
            </a:r>
            <a:endParaRPr lang="ko-KR" altLang="en-US" dirty="0" smtClean="0" sz="1097"/>
          </a:p>
          <a:p>
            <a:pPr marL="0" indent="0" defTabSz="15240" algn="l">
              <a:lnSpc>
                <a:spcPts val="5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30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– A BREAKTHROUGH IN MASS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around the world were benefiting from the newspapers as one fine mean of mass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since the middle of 15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that in the last decade of the 19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scientists came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close to opening gates for an entirely different means of communication which would require no paper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printing press and transportation of the publication. It was a mean to carry your voice to million others in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flash of an eye. It was the invention of radio.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was a miracle in the field of mass communication that a person could address a very number of audiences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that too, to a distance of thousands of kilometers away.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What is radio?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is a technology that allows the transmission of signals by modulation of electromagnetic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waves with frequencies below those of light.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Science of Radio waves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waves are a form of electromagnetic radiation, and are created whenever a charged object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accelerates with a frequency that lies in the radio frequency (RF) portion of the electromagnetic spectrum.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is the range from a few tens of hertz to a few giga hertz. Electromagnetic radiation travels by means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oscillating electric and magnetic fields that pass through the air and the vacuum of space equally well,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does not require a medium of transport.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contrast, other types of electromagnetic radiation, with frequencies above the RF range are gamma rays,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X-rays, and infrared, ultraviolet and visible light.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How the miracle came about?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theoretical basis of the propagation of electromagnetic waves was first described in 1873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James Clerk Maxwell in his paper to the Royal Society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A dynamical theory of the electromagnetic field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followed his work between 1861 and 1865.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1878 David E. Hughes was the first to transmit and receive radio waves when he noticed that 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induction balance caused noise in the receiver of his homemade telephone. He demonstrated his discovery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the Royal Society in 1880 but was told it was merely induction.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was Heinrich Rudolf Hertz who, between 1886 and 1888, first validated Maxwell's theory through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experiment, demonstrating that radio radiation had all the properties of waves. A great achievement indeed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proved to be.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Marconi recognized as radio inventor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1896 Guglielmo Marconi was awarded what is sometimes recognized as the world's first patent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radio with British Patent 12039,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Improvements in transmitting electrical impulses and signals and in apparatus there-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for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In 1897 he established the world's first Radio Station on the Isle of Wight, England. The same year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USA, some key developments in radio's early history were created and patented by Nikola Tesla.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 Patent Office reversed its decision in 1904, awarding Guglielmo Marconi a patent for the invention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radio, possibly influenced by Marconi's financial backers in the States, who included Thomas Edison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Andrew Carnegie. Some believe this was done to allow the US Government to avoid having to pay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royalties that were being claimed by Nikola Tesla for use of his patents.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1909 Marconi, with Karl Ferdinand Braun, was also awarded the Nobel Prize in Physics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"contributions to the development of wireless telegraphy". Marconi opened the world's first "wireless"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factory in Hall Street, Chelmsford, England in 1898, employing around 50 people. Around 1900, Tesla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opened the Wardenclyffe Tower facility and advertised services. By 1903, the tower structure neared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completion. Various theories exist on how Tesla intended to achieve the goals of this wireless system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(reportedly, a 200 kW system). Tesla claimed that Wardenclyffe, as part of a World System of transmitters,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would have allowed secure multichannel transceiving of information, universal navigation, time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synchronization, and a global location system.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Others work acknowledgement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1894 British physicist Sir Oliver Lodge demonstrated the possibility of signaling using radio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waves using a detecting device called a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coherer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a tube filled with iron filings which had been invented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Temistocle Calzecchi-Onesti at Fermo in Italy in 1884. Edouard Branly of France and Alexander Popov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Russia later produced improved versions of the coherer. Popov, who developed a practical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system based on the coherer, is often considered by his own countrymen to have been the inventor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Christmas Eve, 1906, Reginald Fessenden (using his heterodyne principle) transmitted the first radio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audio broadcast in history from Brant Rock, Massachusetts. Ships at sea heard a broadcast that included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Fessenden playing the song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O Holy Night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on the violin and reading a passage from the Bible. The world's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radio news programme was broadcast August 31st 1920 by station 8MK in Detroit, Michigan.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world's first regular wireless broadcasts for entertainment commenced in 1922 from the Marconi Research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Centre at Writtle near Chelmsford, England, which was also the location of the world's first "wireless"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factory.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Early radios ran the entire power of the transmitter through a carbon microphone. While some early radios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used some type of amplification through electric current or battery, through the mid 1920s the most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common type of receiver was the Crystal set. In the 1920s, amplifying vacuum tubes revolutionized both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receivers and radio transmitters.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Advancement on radio technology continues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Aircraft used commercial AM radio stations for navigation. This continued through the early 1960s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VOR systems finally became widespread (though AM stations are still marked on United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early 1930s, single sideband and frequency modulation were invented by amateur radio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operators. By the end of the decade, they were established commercial modes.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was used to transmit pictures visible as television as early as the 1920s. Standard analog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1954, Regency introduced a pocket transistor radio, the TR-1, powered by a "standard 22.5V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Battery".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1960, Sony introduced their first transistorized radio, small enough to fit in a vest pocket,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able to be powered by a small battery. It was durable, because there were no tubes to burn out.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the next twenty years, transistors displaced tubes almost completely except for very high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power, or very high frequency, uses.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1963 color television was commercially transmitted, and the first (radio) communication satellite,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TELSTAR, was launched.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late 1960s, the U.S. long-distance telephone network began to convert to a digital network,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employing digital radios for many of its links.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1970s, LORAN became the premier radio navigation system. Soon, the U.S. Navy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experimented with satellite navigation, culminating in the invention and launch of the GPS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constellation in 1987.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early 1990s, amateur radio experimenters began to use personal computers with audio cards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process radio signals. In 1994, the U.S. Army and DARPA launched an aggressive, successful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project to construct a software radio that could become a different radio on the fly by changing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Digital transmissions began to be applied to broadcasting in the late 1990s. 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World grabs radio for a range of uses  </a:t>
            </a:r>
            <a:endParaRPr lang="ko-KR" altLang="en-US" dirty="0" smtClean="0" sz="1097" b="1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103</a:t>
            </a:r>
            <a:endParaRPr lang="ko-KR" altLang="en-US" dirty="0" smtClean="0" sz="1200"/>
          </a:p>
        </p:txBody>
      </p:sp>
      <p:sp>
        <p:nvSpPr>
          <p:cNvPr id="236" name="Rect 3"/>
          <p:cNvSpPr>
            <a:spLocks noGrp="1" noChangeArrowheads="1"/>
          </p:cNvSpPr>
          <p:nvPr/>
        </p:nvSpPr>
        <p:spPr>
          <a:xfrm rot="0">
            <a:off x="1645920" y="4873625"/>
            <a:ext cx="3625215" cy="35172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States aviation charts).  </a:t>
            </a:r>
            <a:endParaRPr lang="ko-KR" altLang="en-US" dirty="0" smtClean="0" sz="1097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transmissions started in North America and Europe in the 1940s.  </a:t>
            </a:r>
            <a:endParaRPr lang="ko-KR" altLang="en-US" dirty="0" smtClean="0" sz="1097"/>
          </a:p>
          <a:p>
            <a:pPr marL="0" indent="0" defTabSz="15240" algn="l">
              <a:lnSpc>
                <a:spcPts val="2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software. 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 broadcast radio sends music and voice in the Medium Frequency (MF -- 0.300 MHz to 3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MHz) radio spectrum. AM radio uses amplitude modulation, in which louder sounds at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microphone causes wider fluctuations in the transmitter power while the transmitter frequency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remains unchanged. Transmissions are affected by static because lightning and other sources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add their radio waves to the ones from the transmitter.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FM broadcast radio sends music and voice, with higher fidelity than AM radio. In frequency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modulation, louder sounds at the microphone cause the transmitter frequency to fluctuate farther,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transmitter power stays constant. FM is transmitted in the Very High Frequency (VHF -- 30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MHz to 300 MHz) radio spectrum. FM requires more radio frequency space than AM and there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frequencies available at higher frequencies, so there can be more stations, each sending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information. Another effect is that the shorter radio waves act more like light, travelling in straight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lines that are not reflected back towards the Earth by the ionosphere, resulting in a shorter effective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reception range.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Aviation voice radios use VHF AM. AM is used so that multiple stations on the same channel 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 received. (Use of FM would result in stronger stations blocking out reception of weaker stations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due to FM's capture effect). Aircraft are often so high that their radios can see hundreds of miles,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 though they are using VHF.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Marine voice radios can use AM in the shortwave High Frequency (HF -- 3 MHz to 30 MHz) radio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spectrum for very long ranges or narrowband FM in the VHF spectrum for much shorter ranges.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TETRA, Terrestrial Trunked Radio is a digital cell phone system for military, police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ambulances.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Civil and military HF (high frequency) voice services use shortwave radio to contact ships at sea,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aircraft and isolated settlements.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Government, police, fire and commercial voice services use narrowband FM on special frequencies.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Fidelity is sacrificed to use a smaller range of radio frequencies, usually five kilohertz of deviation (5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thousand cycles per second) for maximum pressure, rather than the 75 used by FM broadcasts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25 used by TV sound.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What to broadcast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Early radio stations faced the problem of target audience, especially in a pluralistic society.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economic growth in certain parts of the world also helped radio stations to shape their program. So a part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broadcast was meant to the specific nature of audience along side news and entertainment. In Pakistan all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stations begin their transmission with recitation from Quran due to specific nature of the audience.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societies with religious dominance do the same.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Distribution of time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religious programs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 and views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Entertainment ...   music, plays, children and women.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Education  ...   on health and common social life matters. </a:t>
            </a:r>
            <a:endParaRPr lang="ko-KR" altLang="en-US" dirty="0" smtClean="0" sz="1097"/>
          </a:p>
          <a:p>
            <a:pPr marL="0" indent="0" defTabSz="15240" algn="l">
              <a:lnSpc>
                <a:spcPts val="20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31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EFFECTS OF RADIO ON SOCIETY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proved far more effective in mass communication as compared to the print media.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property of radio which did not require transportation of the message drew immense attention of common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and investors in the field of mass media. Once the radio technology was recognized as an effective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mean of communication, there was a race among companies and individuals to have their own radio facility.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last chapter we had a detailed view of the growth of radio in the 20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century. In this chapter we will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see how radio programs and its other uses changed the lifestyle of people around the world.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Peace time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Entertainment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already mentioned, radio brought a unique entertainment opportunities to people, especially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those who could not afford the luxury of visiting places where entertainment was available only to the rich.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a radio set by their side, common people could also enjoy music and stayed informed about events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ordinary as a street robbery to change of governments and tug of war among political rivals to availability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commodities in the market. But it was the entertainment which made the radio popular on first instance.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Very soon the entertainment started moving in other areas than music. Comedy shows, gossip chat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answering letters from listeners made people crazy about radio enjoyments.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Information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served hugely the human instinct to know about events taking place around him and 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distant lands. No fairy tales, but the radio brought news from across the oceans and from inland without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distinction. A regular listener of radio news would get an impression as the whole world has shrunk –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feeling which print media would never had thought in around 400 years before the invention of the radio.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news aired regularly from different stations were followed by views and a much spicy discussion among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experts to generate more interest in events from social and political life. The announcements about weather,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trains/flights schedule has been an added advantage to radio listeners.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Education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radio continued to have its impression on the cultural outlook of the societies by pouring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opinions of experts in different fields of social life, it started special services to educate people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scores of issues foremost among those have been the healthcare matters. No other source would have been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proved handier than radio programs to educate mothers in particular on providing primary health points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babies and school going children.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Jobs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opened gates of jobs never known before. To become a broadcaster with a radio station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considered to have a prestigious job in the early days of radio. It still is. The news-readers, copy writers,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playwright for radio dramas, anchors for different discussion shows, musicians, recording engineers and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range of technical jobs came about so quickly that colleges and universities had to run degree programs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meet the requirement of radio stations to employee staff in its various sections.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helped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corporate sector sensed the importance of radio as one strong medium to reach very high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number of consumers of their products and services and started buying time for this purpose. Within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decade of radio broadcast, an advertising sector – far more organized than the world would know during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rapid growth of print media, was visible. Since the popularity of the commercial programs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dependent hugely on the entertaining side, the glamour was but to appear broad and loud. New trends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invented in music jingles, script writing and presentation.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Promotion of other industries like film industry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film industry which was also in its nascent stages was one noticeable area which benefited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tremendously from radio technology. Mainly, the film songs would resound the air all day instigating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ordinary people to visit theaters for watching movies the songs belong to. At one stage in 30s and 40s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appeared as the radio and film world are only two names of one same product. Not only the songs, the hot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talks about stars scandals and rise and fall of film stars would generate lot of interest for common listeners.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Still a number of radio and TV stations are heavily depended on matters related to film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Wartimes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People glued to radio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Wars among nations – particularly the great wars in the 20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century, have brought massive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destruction of societies. A nation at war has only one goal of fighting against the enemy. In this context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role of radio becomes all the more important. Radio news, commentary, announcements and war music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commodities in high demand by a society at war. Radio services have been fully exploited by countries 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war. The quickest source of telling people what to do, where to move and what instruction they must follow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have always come from radio. All important addresses by head of government to people are done on radio.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Special band used by armies to communicate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not the common people who benefit from radio services but the armies have been gaining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much advantage due to radio technology. Sending codes to different formations in the battlefield within no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 have been possible by developing a code and occupying a particular frequency for this purpose.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Communicating through codes is the common most practice during wartimes. – decoding of messages if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believed to be one strong point which led to German defeat in the WWII.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Ships, planes are connected through radio frequencies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not the activities of armies on the land which are linked with radio messages, ships in the deep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sea and the war planes in the air are also connected with radio frequencies.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Satellite using radio waves to detect enemies’ movement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the dispatch of satellite in the space in early 60s, the movement of armies of the enemy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now detected from the skies with the help of radio waves.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Propaganda – to morale boosting and demoralizing enemy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worst in wars occur in the form of propaganda at a wide scale to demoralize the enemy. And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the same time boosting morale of your own people and army.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Laws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invention and usage of radio has been instrumental in introducing laws which regulate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programs and ensure that no misuse of this technology takes place which may cause problems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social life.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Censorships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applied by the governments when a political crisis is visible. Dictatorial government have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always used censorships to ensure that a public opinion is not molded against them by certain interest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groups.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Jamming transmissions from hostile sources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Ethics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Cultural values promotion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Cultural conflicts – an essential angle of mass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8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32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TELEVISION – A NEW DIMENSION IN MASS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is the process of capturing photographic images, converting them into electrical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impulses, and then transmitting the signal to a decoding receiver. Conventional transmission is by means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electromagnetic radiation, using the methods of radio.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Among the technical developments that have come to dominate our lives, television is surely one of the top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few.  In the developed world, the average household watches television for seven hours per day, which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helps to explain why news, sports, and educational entities, as well as advertisers, value the device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device we call the television is really an image and sound receiver that is the end point of a broadcast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system that starts with a television camera or transmitter and requires a complicated network of transmitters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using ground-based towers, cables, and satellites to deliver the original picture to our living rooms.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TV came like a bang as the time distance between the invention of radio and television is not much. People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across the world were still amazed by the presence of radio in their lives that within years they were having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device which also showed images with sound – a great fun indeed.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How it started?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electronic way of communication was quite well know by the start of the 20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but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almost all cases it was limit to sending or receiving voice messages. Since most researchers and scientists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focusing on the voice transmission, the radio broadcast resulted almost simultaneously in many parts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world with the exception of a difference of few years. The name of Marconi, however, stands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distinguished in the eyes of many as the inventor of radio.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inventor of television, the device responsible for receiving voice as well as images, is John Logie Baird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Scotland.  But obviously the new invention has been the result of the extensive work done by scores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scientists as well.				 The development of the television occurred over a number of years, in many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countries, and using a wide application of sciences, including electricity, mechanical engineering,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electromagnetism, sound technology, and electrochemistry. No single person invented the television;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instead, it is a compilation of inventions perfected by fierce competition.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Early Discoveries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Chemicals that are conductors of electricity were among the first discoveries leading to the TV.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Baron </a:t>
            </a:r>
            <a:r>
              <a:rPr lang="en-US" altLang="ko-KR" dirty="0" smtClean="0" sz="1097">
                <a:solidFill>
                  <a:srgbClr val="000000"/>
                </a:solidFill>
                <a:latin typeface="Microsoft Sans Serif"/>
                <a:ea typeface="Microsoft Sans Serif"/>
              </a:rPr>
              <a:t>Ȯ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ns Berzelius of Sweden isolated selenium in 1817, and Louis May of Great Britain discovered,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1873, that the element is a strong electrical conductor. Sir William Crookes invented the cathode ray tube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1878, but these discoveries took many years to merge into the common ground of television.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Paul Nipkow of Germany made the first crude television in 1884. His mechanical system used a scanning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disk with small holes to pick up image fragments and imprint them on a light-sensitive selenium tube.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receiver reassembled the picture. In 1888, W. Hallwachs applied photoelectric cells in cameras; cathode rays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demonstrated as devices for reassembling the image at the receiver by Boris Rosing of Russia and 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A. Campbell-Swinton of Great Britain, both working independently in 1907. Countless radio pioneers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including Thomas Edison invented methods of broadcasting television signals.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Logie Baird had been developing his own methods of televised images for many years it was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1924 that he first demonstrated a mechanically scanned television system which transmitted objects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outline and went on the following year to show the head of a dummy, not just in outline but as a real image.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Pictures were shown on Sept 7, 1927.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TV changes some basic concepts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is largely responsible for bringing about so many social, cultural and economic changes-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too with rapid speed, and is considered as one major factor to help globalize human thinking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understanding on various matters by fully exploiting all the elements possible in visual communication,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say broadcasting. More on this aspect will be discussed in a coming lecture.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1935, mechanical systems for transmitting black-and-white images were replaced completely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electronic methods that could generate hundreds of horizontal bands at 30 frames per second. Vladimir K.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Zworykin, a Russian immigrant who first worked for Westinghouse, patented an electronic camera tube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based on the cathode tube. Philo T. Farnsworth and Allen B. Dumont, both Americans, developed a pickup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tube that became the home television receiver by 1939.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From Black and White to color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Columbia Broadcasting System (CBS) had entered the color TV fray and battled with RCA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perfect color television, initially with mechanical methods until an all-electronic color system could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developed. Rival broadcasts appeared throughout the 1940s although progress was slowed by both World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War II and the Korean War. The first CBS color broadcast on June 25, 1951, featured Ed Sullivan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stars of the network.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Commercial color television broadcasts were underway in the United States by 1954.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December of 1954, RCA introduced their 21" color TV.  Although the number recorded in history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books is 5,000 units sold, the common belief (amongst collectors) is that the actual number sold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was considerably less.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1950-1959 was an exciting time period for television.  In the USA, B&amp;W television exploded onto the scene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the beginning of the decade, mid-decade saw electronic color television and remote controls launched,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at the end of the decade the public witnessed some interesting styling changes and the introduction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transistorized television.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II World War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sudden outbreak of WW2 halted to some extent progress on TV transmissions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improvement in technological advancement in making TV a household item for most. The B/W limited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scale TV transmission continued to excite people. The images of war ridden and ravaged sites on mini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screens of old-fashioned TV sets would pull crowd to watch those and get influenced by the devastation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mad war.  Seeing is believing, worked to make people understand as who was winning the war and who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controlling the known cities at different stages of the years long fighting. It was a sight not to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forgotten for those who first witnessed defeat of German armies at different fronts and marching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allied forces on the German land towards the last days of the war.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TV Programs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program pattern remained like the ones seen on radio broadcast. Classification of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transmission has been made in the following manner.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Comedy shows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Live shows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Sports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are currently 3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main television transmission standards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used throughout the world: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NTSC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 National Television Standards Committee. The oldest existing standard, developed in the USA.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used in 1954. Consists of 525 horizontal lines of display and 60 vertical lines.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SECAM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 Système Électronique pour Couleur avec Mémoire. Developed in France. First used in 1967.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625-line vertical, 50-line horizontal display.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PAL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 Phase Alternating Line. Developed by German engineer Walter Bruch who patented his invention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1963 and the first commercial application of the PAL system was in August 1967. Also a 625/50-line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display and alternative of NTSC. Proponents call it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"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erfection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L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ast."  </a:t>
            </a:r>
            <a:endParaRPr lang="ko-KR" altLang="en-US" dirty="0" smtClean="0" sz="1097" i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Broadcast, Cable, and Satellite Television Transmission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programs may be transmitted either “live” or from a recording. The principle means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recording television programs for future use is videotape recording. Videotape recording is similar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conventional tape recording .The sound is recorded along with the video signal on the same tape.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a television program is broadcast, the varying electrical signals are then amplified and used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modulate a carrier wave the modulated carrier is usually fed to an antenna, where it is converted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electromagnetic waves and broadcast over a large region. The waves are sensed by antennas connected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receivers.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range of waves suitable for radio and television transmission is divided into channels, which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assigned to broadcast companies or services.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 television viewers across the world no longer receive signals by using antennas; instead, they receive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programming via cable television. Cable delivery of television started as a way to improve reception.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single, well-placed community antenna received the broadcast signals and distributed them over coaxial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fiber-optic cables to areas that otherwise would not be able to receive them. Today, cable television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popular because of the wide variety of programming it can deliver. Many systems now provide more than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100 channels of programming. Typically, a cable television company receives signals relayed from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communications satellite and sends those signals to its subscribers.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transatlantic television broadcast was accomplished by such a satellite, called Telstar, on July 10,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1962. Some television viewers use small satellite dishes to receive signals directly from satellites. Most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satellite-delivered signals are scrambled and require a special decoder to receive them clearly.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Future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future of television seems bright. More research is going into this process. High Definition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(HDTV) was developed by the Japanese Broadcast Corporation and first demonstrated in 1982.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system produces a movie-quality picture by using a 1,125-line picture on a "letter-box" format screen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a 16 to nine width to height ratio. High-quality, flat screens suitable for HDTV, are being perfected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using synthetic diamond film to emit electrons in the first application of synthetic diamonds in electronic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components.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developments in the receiver include gold-plated jacks, an internal polarity switch on large screens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compensates for the effect of Earth's magnetic field on image reception, accessories to eliminate ghosts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the screen. Liquid crystal display (LCD) technology is also advancing rapidly as an alternative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cumbersome television screen. Assorted computer chips add functions like channel labeling, time and data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displays, swap and freeze motions, parental channel control, touch screens, and a range of channel-surfing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Digital television of the future will allow the viewer to manipulate the angle of the camera, communicate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sports commentator, and merge and edit movies on screen. Two-way TV will also be possible.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Current screens may be used thanks to converter boxes that change the analog signal that presently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energizes the phosphors on the back of your television screen to digital signals that are subject to less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distortion—and are the language of computers. Computer technology will then allow a world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manipulation of the data as well as broadcast of six times as much data. </a:t>
            </a:r>
            <a:endParaRPr lang="ko-KR" altLang="en-US" dirty="0" smtClean="0" sz="1097"/>
          </a:p>
          <a:p>
            <a:pPr marL="0" indent="0" defTabSz="15240" algn="l">
              <a:lnSpc>
                <a:spcPts val="1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33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TV IN PAKISTAN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electronic media was well known in Pakistan after independence in 1947. Not only radio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broadcast was being made from Lahore and Peshawar but it was growing steadily.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the world at this point of time was familiar with a black &amp; white television broadcast, particularly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West and the USA, TV seemed a remote possibility in the newborn country.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the early 60s there had been a talk to start television broadcast in Pakistan. Planning continued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various departments prepared their reports about the feasibility of a complete TV broadcasting station.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Main obstacle in setting up a TV station was not the money, but non availability of the technical staff which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must run the broadcasting house on sound footings.  The efforts continued, however, and bore fruit when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Nov 26, 1964 country’s first TV station was set up in Lahore.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this time TV had advanced to color transmission in a number of countries, the PTV was a B/W version.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Nonetheless the enthusiasm of starting a TV broadcasting house was overflowing and the staff – both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technical as well as programming sides, showed determination to make this venture a success.  No one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would have imagined at that point of time, that this small box would bring a revolution in mass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in this part of the world where other means of mass communication were proving relatively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costlier.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Enthusiasm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Watching the moving images at your drawing room was a real treat. TV sets were not frequently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available in the markets and the ones available for sale were expensive and only the rich could afford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cost of getting a set. A status symbol it was to have a set indeed. Relatives and neighbors would gather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around the box much before the broadcast. Women would finish cooking early and the students would do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homework well before the TV would start playing its typical signature tune and showing its insignia.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sight of the announcer was cheered and voices were raised to call others to come as </a:t>
            </a:r>
            <a:r>
              <a:rPr lang="en-US" altLang="ko-KR" dirty="0" smtClean="0" sz="1097" u="sng" i="1">
                <a:solidFill>
                  <a:srgbClr val="000000"/>
                </a:solidFill>
                <a:latin typeface="Garamond"/>
              </a:rPr>
              <a:t>it has started </a:t>
            </a:r>
            <a:endParaRPr lang="ko-KR" altLang="en-US" dirty="0" smtClean="0" sz="1097" u="sng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 i="1">
                <a:solidFill>
                  <a:srgbClr val="000000"/>
                </a:solidFill>
                <a:latin typeface="Garamond"/>
                <a:ea typeface="Garamond"/>
              </a:rPr>
              <a:t>now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It is irrefutably difficult to forget those moments of history by the ones who had witnessed them.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not limit to household activity; TV transmission was also watched at the monitoring rooms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for getting the latest from around the world. Sometime a snap of some very interesting footage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also had, though picture so taken lacked in quality.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Evening Transmission only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broadcast was limit to five hours, from 6 pm to 11 pm with one weekly holiday on Monday.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would sit in front of the set from the signature tune, women would finish household errands,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children doing their homework much before the first images of the day, usually recitation from the holy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Quran. Hardly a person would move away till the national anthem was played to mark end of the day’s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transmission. Due to the immense interest for watching the moving images and the restricted timings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transmission, the work-schedule of many was now changed.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Live Broadcast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most prominent feature of PTV’s early years was the live transmission for it did not have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recording facilities. It was not the news to be read in real time only, but the talks, plays and music was also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broadcast live. It was a unique experience for all the directors, producers, performers and the technical staff.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Hardly one can imagine now that there had been such an exceptional time in PTV’s life.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 Many radio artists seemed moving to and fro between radio station and the PTV building next door to accomplish the task of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live transmission and rehearsals.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PTV and the unforgettable War of Sept 1965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September 1965 war with India was a testing time for the whole nation. Nothing was above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country’s defense. The PTV Lahore station did the heroics it still gets credit for. Its OB teams went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borders and captured some incredible images of the battlefield. Nothing more could have excited people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seeing with their own eyes Pakistan Army’s jawans invading Indian posts, destroying them and capturing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enemy’s land across the border. With madam Noor Jahan’s spirited national songs in the backdrop,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PTV’s showings worked as a catalyst to fuel the passion for national defense.  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National Microwave Network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major breakthrough was achieved in 1973 when all the TV stations in the country were linked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microwave network, enabling live telecast of different programs which helped the PTV save time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money. Now a drama at Lahore station could be watched by viewers in Karachi and Islamabad at the same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 and similar transmission from Karachi could be made for the upcountry stations. This facility was fully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exploited at the time of Lahore Islamic Summit of Feb 1974. The Karachi and Rawalpindi stations,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functioning since 1967, were linked with the live coverage of the events from Lahore. It was due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 that at one stage it looked as the whole nation was involved and a part of the unprecedented events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summit. From Shalimar Gardens civic reception to saying prayers at the historic Badshahi Mosque,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the public meeting at the Qaddafi stadium – also addressed by Libya’s president Col Qaddafi,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business meetings at the Punjab Assembly floor was a great job done by the PTV in a commendably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organized way.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PTV goes colored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Though the Islamic conference coverage was very successful, many thought it would have been far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better had it been a colored transmission.  Another reason to do away with the black and white broadcast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that in most part of the world the TV transmission was getting colored and companies were now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making parts for the equipment used in the B/W transmission. The day came soon when in 1976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COLOUR TRANSMISSION STARTED on experimental basis.  Regular Color transmission started 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Feb 18, 1982.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More Developments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1987 – Federal TV centre at Islamabad commissioned.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1992 – Second TV channel for education commissioned.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1996 – Local area transmission from four (4) stations started.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1998 – Transmission of PTV world programmes started.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Ptv-1 - Area covered: 38%, population covered: 86.48 %.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Ptv-2/ Ptv World - area covered: 24.19 %, population covered: 55.83 %.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Dramas – the source of strength to PTV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 excelled in broadcasting various programs – news analysis, talk shows especially for the youth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entertainment purposes. But what earned it distinction was its drama production. To mention a few;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Parchhaian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Aik muhabat sua afsanay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Shama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Waris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Alpha bravo Charlie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Tanhayian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Alif noon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Sona chandi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Khuda ki basti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Dhoop kinaray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Another area where TV in Pakistan has been a major source of entertainment is the coverage of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sporting events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. From the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times of making special arrangements to show live boxing bouts of all time great Muhammad Ali to all major sporting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activities these days, PTV keeps people glued for hours to watch sports of their interest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.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It also brings business to TV. </a:t>
            </a:r>
            <a:endParaRPr lang="ko-KR" altLang="en-US" dirty="0" smtClean="0" sz="1097" i="1"/>
          </a:p>
          <a:p>
            <a:pPr marL="0" indent="0" defTabSz="15240" algn="l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34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EFFECTS OF TELEVISION ON SOCIETY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broadcast has broad effects on the society all around the world. The strong verbal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non verbal combination and the facility to highlight different subject matters created one of the most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important impressions in mass media.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are so many angles to see as to what extent TV has brought about changes in daily life of people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nations as well.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Here we will see some of the key changes affected by TV transmissions in general.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Seeing is believing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authenticity of news and other informative material has never been more acceptable to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through other means of communication than the one available on TV. People already informed about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event still like to see the news along with footage on TV. For instance, the winning run scored by your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favorite team in an exciting match is something people would like to see again and again although they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know the outcome of the match. So is about visuals on accidents and unusual events like hanging of Iraqi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leader Saddam Hussain etc.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Changes in timings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 people have tuned their daily timings in accordance with their popular programs. Students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tend to finish their homework before their favorite show. Housewives would make their cooking schedule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not to miss the soap tonight. Men would get ready for relaxing by watching programs of their interest.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Much noticeable change is in bed-timings. Early to bed... dictum seems to have lost its meaning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watching TV till late night has become a norm at most households until children get a gaze from parents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tend to fight sleep only to watch a play or a show and discuss it next day with class-mates.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Fashion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Working on the psyche of youth, especially young ladies, TV plays and shows have concentrated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the years in introducing new and trendy dresses, particularly in the advertisements which are integral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 of TV transmissions all across the world. The new hair styles, dresses, make up and even body gestures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very quickly gain currency and after any popular show or a drama serial its fashion effects are easily seen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people.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Household entity and change in habits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has become one essential household entity. You remove TV from the house and everybody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starts feeling as something is missing. It is this strong feeling of TV presence that is helping change habits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pertaining to talking style, eating timings, and seeing relatives etc.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Increasing general know-how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Being a strong medium TV has remarkably worked to increase general know-how on various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matters of daily life. Though you are not concentrating hard on a program on health matters, the visuals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shown are telling you how to clean you teeth or apply a medicine or take exercises. Watching a documentary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wild-life, even casually, makes you much more informed about so many aspects of ecological system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habitat.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Cultural changes and influences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Perhaps most affected of all areas due to watching TV is the cultural changes that have come about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the years. TV dramas and discussion programs have largely influenced the thought process of many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normal living to acculturation by seeing the blaze of exotic life style. That is one reason that intellectuals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always campaign to show as much of a local culture on TV broadcast as possible so that cultural identity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particular region, tribe, nation or clan be kept in its traditional way.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have been long debates on the influence of other cultures, especially the ones from the west, on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living style of other societies through TV programs. Smelling a deliberate attempt to seduce the youth of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conservative societies to the sparkling and bold images of the west, there rages a strong debate under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title of cultural imperialism. Of late, these debates are paying off as there is an element of awareness to resist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such manipulations and to keep one’s culture well defended against such invasions. Nonetheless,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conflict of influencing cultures through TV showings during news, entertainment and sports is going strong.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Institutional transformation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has been chiefly responsible for the decline of cinema and stage. The time for gathering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family members for the matinee show is long over. The unique exercise of going to a huge cinema house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braving extreme weather and other odds and watching action on large silver screen is no more with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same zeal. In most cases it is an interesting TV drama, musical show or a cricket match which is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allowing family members or friends to go out for entertainment. And how can it be if almost free of cost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high quality and at times, a real time entertainment is available at home.  In many countries, and Pakistan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 exception, theaters have seen a steep decline in their business. Many a theaters have been demolished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only to be rebuild as commercial plazas and their have been chaotic voices from different corners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entertainment industry for the government to undertake some steps to save the cinema life.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Case Study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nation's established mass media—radio, films, and newspapers—reacted differently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television's sudden presence in the American home. Radio felt the effects first, as audiences for radio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programs, particularly in the evening, dropped sharply in the first half of the 1950s. Radio's relative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portability allowed some recovery, especially with the development of the transistor. Then, too,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1950s, most Americans only owned one television. Those unhappy with what another family member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insisted on watching could listen to a radio elsewhere in the house. Moreover, radio could be a diversion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those doing the dishes or cleaning a room. At the same time, radio listening while driving became much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common as more automobiles were equipped with radios, and the percentage of Americans who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owned cars increased. In addition, some radio stations broke with an older industry tradition by targeting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demographic subgroup of listeners, specifically, adolescents. Stations hired disc jockeys who continuously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played rock and roll music. Television stations and networks could only offer a few programs tailored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teens. Advertisers prized their parents more. Radio, in that regard, anticipated the direction of television's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competitors after the 1960s. Radio stations continued to narrow their formats by age, race, and politics.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presented an enormous challenge to the film industry. Theater attendance dropped sharply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late 1940s and early 1950s. However, box office receipts were declining even before television arrived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communities. With marginal theaters closing, the studios responded by reducing the number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movies produced per year. To compete with TV, more films had elaborate special effects and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produced in color. (Not until 1972 did most homes have color televisions.) The collapse of film censorship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mid-1960s gave Hollywood another edge: violence and sexual situations could be portrayed with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unprecedented explicitness that TV producers could only envy.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most large studios at first resisted cooperating with the television networks, by the mid-1950s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virtually every movie company was involved in some TV production. With some exceptions, most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Hollywood's initial video work resembled the old "B" movie, the cheaper theatrical release of the 1930s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1940s produced as the second feature for a twin billing or for the smaller theaters, most of which had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ceased operations in the late 1950s. In the late 1960s, motion picture firms began producing TV movies,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is, two-hour films specifically for television. At first, they were fairly cheaply mounted and forgettable.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a few had enormous impact. ABC's Roots, telecast in 1977, chronicled the history of an African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American family and prompted a new appreciation for family history. Although the TV films remained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popular through the 1980s, higher costs caused the networks to lose their enthusiasm for the genre,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but disappeared from the small screen in the 1990s.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Newspapers: the next victim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availability of latest news on the small box every hour, people seem to have lost interest in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going through the time consuming exercise of reading lengthy columns to find news in newspapers.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TV becoming popular mode of learning latest on the news front, many newspapers appear struggling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their survival. Almost all the major newspapers have noticed a decline in their circulation or stagnation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their expansion plans.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print industry – newspapers, magazines, books etc – have experienced a huge cut in their revenue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 part of the advertising budgets by the corporate sector and individual business organizations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been diverted to TV where the outcome is more rewarding as compared to the advertising campaigns run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print media.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Politics and TV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Aware of the strength of TV, many politicians and political parties are more interested in buying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 on television and find themselves in a far easier position to address masses in their TV lounges instead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taking pain all the time of going out, arranging public meetings and braving hardships. TV seems to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dramatically changed the political environment and now people can talk to their leaders who frequently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appear on different TV talk shows.  </a:t>
            </a:r>
            <a:endParaRPr lang="ko-KR" altLang="en-US" dirty="0" smtClean="0" sz="1097"/>
          </a:p>
          <a:p>
            <a:pPr marL="0" indent="0" defTabSz="15240" algn="l">
              <a:lnSpc>
                <a:spcPts val="5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35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PUBLIC RELATIONS AND MASS COMMUNICATION - I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Ask a person secret of his success and among answers you may notice mention of his PR. Have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good rather strong public relation approach and climb up the ladder of promotion quickly. A person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bad PR, though good in many other respects, may suffer and make slow progress as compared to a person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possessing matching qualities but having excellent PR. This clearly indicates the importance of the public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relation in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Almost same holds true about the organizations and the companies as they tend to wield this tool on more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scientific lines. The presence of PR in mass communication is mainly due to corporate sector which has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the decades exploited PR for the promotion of their products, personalities and services.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Here we will see what purpose is served by the PR in mass communication.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Definition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attention.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publics to build, manage and sustain a positive image.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Relations is a management function which tabulates public attitudes, defines the policies,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procedures and interest of an organization followed by executing a program of action to earn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understanding and acceptance. 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planned effort to influence opinion through good character and responsible performance based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upon mutual satisfactory two-way communication".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History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Precursors to public relations are found in publicists who specialized in promoting circuses,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theatrical performances, and other public spectacles. In the United States, where public relations has its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origins, many early PR practices were developed in support of the expansive power of the railroads. In fact,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scholars believe that the first appearance of the term "public relations" appeared in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1897 Year Book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of Railway Literature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Mass media-men employed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Later, PR practitioners were—and are still often—recruited from the ranks of journalism. Some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journalists, concerned with ethics, criticize former colleagues for using their inside understanding of news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to help clients receive favorable media coverage.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Despite many journalists' discomfort with the field of public relations, well-paid PR positions remain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popular choice for reporters and editors forced into a career change by the instability of the print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electronic media industry. PR historians say the first PR firm, the Publicity Bureau, was established in 1900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former newspapermen, with Harvard University as its first client.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WW I pushed PR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World War also helped stimulate the development of public relations as a profession.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of the first PR professionals, including Ivy Lee, Edward Bernays, and Carl Byoir, got their start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Committee on Public Information (also known as the Creel Commission), which organized publicity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behalf of U.S. objectives during World War I.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Some historians regard Ivy Lee as the first real practitioner of public relations, but Edward Bernays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generally regarded today as the profession's founder. In describing the origin of the term Public Relations,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115</a:t>
            </a:r>
            <a:endParaRPr lang="ko-KR" altLang="en-US" dirty="0" smtClean="0" sz="1200"/>
          </a:p>
        </p:txBody>
      </p:sp>
      <p:sp>
        <p:nvSpPr>
          <p:cNvPr id="261" name="Rect 3"/>
          <p:cNvSpPr>
            <a:spLocks noGrp="1" noChangeArrowheads="1"/>
          </p:cNvSpPr>
          <p:nvPr/>
        </p:nvSpPr>
        <p:spPr>
          <a:xfrm rot="0">
            <a:off x="1645920" y="3154680"/>
            <a:ext cx="5457190" cy="19475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Aspect of communications that involves promoting a desirable image for a person or group seeking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Public relations (PR) is the art of managing communication between an organization and its key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One of the earliest definitions of PR was coined by Edward Bernays. According to him, "Public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According to two American PR professionals Scott M. Cutlips and Allen H. Center, "PR is a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 to propaganda, yes to PR.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Bernays commented,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"When I came back to the United States, I decided that if you could use propaganda for war, you could certainly use it for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peace. And propaganda got to be a bad word because of the Germans using it. So what I did was to try to find some other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words, so we found the words Council on Public Relations".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Case Study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of Bernays' early clients was the tobacco industry. In 1929, he orchestrated a legendary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publicity stunt aimed at persuading women to take up cigarette smoking, which was then considered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unfeminine and inappropriate for women with any social standing. To counter this image, Bernays arranged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New York City a march in that year's Easter Day Parade, defiantly smoking cigarettes as a statement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rebellion against the norms of a male-dominated society. Photographs of what Bernays dubbed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"Torches of Liberty Brigade" were sent to newspapers, convincing many women to equate smoking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women's rights. Some women went so far as to demand membership in all-male smoking clubs, a highly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controversial act at the time.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 standards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1950 PRSA enacts the first "Professional Standards for the Practice of Public Relations,"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forerunner to the current Code of Ethics, last revised in 2000 to include six core values and six code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provisions. The six core values are "Advocacy, Honesty, Expertise, Independence, Loyalty, and Fairness."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six code provisions are "Free Flow of Information, Competition, Disclosure of Information,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Safeguarding Confidences, Conflicts of Interest, and Enhancing the Profession."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Methodology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relations describes the various methods a company uses to disseminate messages about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products, services, or overall image to its customers, employees, stockholders, suppliers, or other interested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members of the community. The point of public relations is to make the public think favorably about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company and its offerings.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Tools employed for PR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Commonly used tools of public relations include: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Difference between PR and Advertisement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advertising is closely related to public relations—as it too is concerned with promoting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gaining public acceptance for the company's products—the goal of advertising is generating sales, while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goal of public relations is generating good will. The effect of good public relations is to lessen the gap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between how an organization sees itself and how others outside the organization perceive it.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Two way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relations involve two-way communication between an organization and its public. It requires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listening to the constituencies on which an organization depends as well as analyzing and understanding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attitudes and behaviors of those audiences. Only then can an organization undertake an effective public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relations campaign. </a:t>
            </a:r>
            <a:endParaRPr lang="ko-KR" altLang="en-US" dirty="0" smtClean="0" sz="1097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Responsibility of PR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small business owners elect to handle the public relations activities for their own companies,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while others choose to hire a public relations specialist. Managers of somewhat larger firms, on the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hand, frequently contract with external public relations or advertising agencies to enhance their corporate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116</a:t>
            </a:r>
            <a:endParaRPr lang="ko-KR" altLang="en-US" dirty="0" smtClean="0" sz="1200"/>
          </a:p>
        </p:txBody>
      </p:sp>
      <p:sp>
        <p:nvSpPr>
          <p:cNvPr id="264" name="Rect 3"/>
          <p:cNvSpPr>
            <a:spLocks noGrp="1" noChangeArrowheads="1"/>
          </p:cNvSpPr>
          <p:nvPr/>
        </p:nvSpPr>
        <p:spPr>
          <a:xfrm rot="0">
            <a:off x="1188720" y="5672455"/>
            <a:ext cx="1659255" cy="688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News releases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Press conferences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Speaking engagements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Community service programs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image. But whatever option is chosen, the head of a company is ultimately responsible for its public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relations.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Goals of Public Relations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Goals of public relations are to create, maintain, and protect the organization's reputation, enhance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 prestige, and present a favorable image. Studies have shown that consumers often base their purchase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decisions on a company's reputation, so public relations can have a definite impact on sales and revenue.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Public relations can be an effective part of a company's overall marketing strategy. In the case of a for-profit company, public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relations and marketing should be coordinated to be sure they are working to achieve the same objectives.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major public relations goal is to create good will for the organization. This involves such functions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employee relations, stockholder and investor relations, media relations, and community relations.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relations may function to educate certain audiences about many things relevant to the organization—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including the business in general, new legislation, and how to use a particular product—as well as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overcome misconceptions and prejudices. For example, a nonprofit organization may attempt to educate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public regarding a certain point of view, while trade associations may undertake educational programs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regarding particular industries and their products and practices.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 Campaign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Effective public relations require a knowledge, based on analysis and understanding, of all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factors that influence public attitudes toward the organization. While a specific public relations project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campaign may be undertaken proactively or reactively (to manage some sort of image crisis), the first basic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step in either case involves analysis and research to identify all the relevant factors of the situation. In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step, the organization gains an understanding of its various constituencies and the key factors that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influencing their perceptions of the organization.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second step, the organization establishes an overall policy with respect to the campaign. This involves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defining goals and desired outcomes, as well as the constraints under which the campaign will operate. It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necessary to establish such policy guidelines in order to evaluate proposed strategies and tactics as well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overall success of the campaign.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step three, the organization outlines its strategies and tactics. Using its knowledge of the target audiences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its own established policies, the organization develops specific programs to achieve the desired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objectives. Finally, step four involves actual communication with the targeted public. The organization then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employs specific public relations techniques, such as press conferences or special events, to reach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intended audience.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step five the organization receives feedback from its public. How have they reacted to the public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relations campaign? Are there some unexpected developments? In the final step, the organization assesses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program and makes any necessary adjustments.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Public relations involves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1.								Evaluation of public attitudes and opinions.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2.								Formulation and implementation of an organization's procedures and policy regarding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with its publics.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3.								Coordination of communications programs.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4.								Developing rapport and good-will through a two way communication process.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5.								Fostering a positive relationship between an organization and its public constituents.  </a:t>
            </a:r>
            <a:endParaRPr lang="ko-KR" altLang="en-US" dirty="0" smtClean="0" sz="1097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Examples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Corporations use marketing public relations (MPR) to convey information about the products they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manufacture or services they provide to potential customers to support their direct sales efforts.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Typically, they support sales in the short and long term, establishing and burnishing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corporation's branding for a strong, ongoing market. 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Corporations also use public-relations as a vehicle to reach legislators and other politicians, seeking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favorable tax, regulatory, and other treatment, and they may use public relations to portray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Non-profit organizations, including schools and universities, hospitals, and human and social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service agencies, use public relations in support of awareness programs, fund-raising programs,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staff recruiting, and to increase patronage of their services.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Politicians use public relations to attract votes and raise money, and, when successful at the ballot box,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promote and defend their service in office, with an eye to the next election or, at career’s their legacy.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Industry today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According to the U.S. Bureau of Labor Statistics, there were approximately 122,000 public relations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specialists in the United States in 1998, while there were approximately 485,000 advertising, marketing,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relations managers working in all industries. Public relations practitioners deliver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through the media to target audiences or, with the advent of the Internet, directly to specific stakeholder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groups. Because similar opinions tend to be shared by a group of people rather than an entire society,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research may be conducted to determine a range of things such as target audiences, appeal, as well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strategies for coordinated message presentation. PR may target different audiences with different messages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achieve an overall goal. Public Relations sets out to effect widespread opinion and behavior changes.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Modern public relations uses a variety of techniques including opinion polling and focus groups to evaluate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opinion, combined with a variety of high-tech techniques for distributing information on behalf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clients, including satellite feeds, the Internet, broadcast faxes, and database-driven phone banks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recruit supporters for a client's cause. According to the PRSA,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"Examples of the knowledge that may be required in the professional practice of public relations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include communication arts, psychology, social psychology, sociology, political science, economics,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principles of management and ethics. Technical knowledge and skills are required for opinion research,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issues analysis, media relations, direct mail, institutional advertising, publications, film/video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productions, special events, speeches, and presentations."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Job specialization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public relations professionals are stereotypically seen as corporate servants, the reality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almost any organization that has a stake in how it is portrayed in the public arena employs at least one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 manager. Large organizations may even have dedicated communications departments.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agencies, trade associations, and other non-profit organizations commonly carry out PR activities.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relations should be seen as a management function in any organization. An effective communication,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public relations, plan for an organization is developed to communicate to an audience (whether internal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external publics) in such a way the message coincides with organizational goals and seeks to benefit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mutual interests whenever possible. </a:t>
            </a:r>
            <a:endParaRPr lang="ko-KR" altLang="en-US" dirty="0" smtClean="0" sz="1097"/>
          </a:p>
          <a:p>
            <a:pPr marL="0" indent="0" defTabSz="15240" algn="l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118</a:t>
            </a:r>
            <a:endParaRPr lang="ko-KR" altLang="en-US" dirty="0" smtClean="0" sz="1200"/>
          </a:p>
        </p:txBody>
      </p:sp>
      <p:sp>
        <p:nvSpPr>
          <p:cNvPr id="269" name="Rect 3"/>
          <p:cNvSpPr>
            <a:spLocks noGrp="1" noChangeArrowheads="1"/>
          </p:cNvSpPr>
          <p:nvPr/>
        </p:nvSpPr>
        <p:spPr>
          <a:xfrm rot="0">
            <a:off x="1188720" y="944880"/>
            <a:ext cx="4951095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themselves as enlightened employers, in support of human-resources recruiting programs. 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36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PUBLIC RELATIONS AND MASS COMMUNICATION - II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Specialization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this chapter we will continue our discussion on various other areas of public relations and mass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communication. As is the case with most areas of studies and practices PR has also been categorized into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sections with each section having its own characteristics and business value.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specialization in PR is the case in view here.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Specializations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Property development &amp; real estate PR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Retail sector PR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Agricultural PR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Food service PR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Health care PR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Technology/IT PR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affairs PR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On-line PR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Financial/investor relations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Not-for-profit PR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Crisis communication PR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these categories are managed by experts who specialize in their relative fields.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number of specialties exist within the field of public relations, including: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Crisis management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Reputation management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Issue management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Investor relations and labor relations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Grassroots PR (sometimes referred to as Astroturf PR)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Methods, tools and tactics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relations and publicity are not synonyms. Publicity is the spreading of information to gain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awareness in a product, service, candidate, etc. It is just one technique of public relations as listed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Audience targeting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fundamental technique used in public relations is to identify the target audience, and to tailor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every message to appeal to that audience. It can be a general, nationwide or worldwide audience, but it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often a segment of a population. Marketers often refer to economy-driven "demographics," such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"white males 18-49," but in public relations an audience is more fluid, being whoever someone wants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reach.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addition to audiences, there are usually stakeholders, literally people who have a "stake" in a given issue.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audiences are stakeholders, but not all stakeholders are audiences. For example, a charity commissions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 agency to create an advertising campaign to raise money to find a cure for a disease. The charity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with the disease are stakeholders, but the audience is anyone who is likely to donate money.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Sometimes the interests of differing audiences and stakeholders common to a PR effort necessitate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creation of several distinct but still complementary messages. This is not always easy to do, and sometimes –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especially in politics – a spokesperson or client says something to one audience that angers another audience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group of stakeholders.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Press conferences 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press conference consists of someone speaking to the media at a predetermined time and place.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conferences provide an opportunity for speakers to control information and who gets it; depending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the circumstances, speakers may hand-pick the journalists they invite to the conference instead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making themselves available to any journalist who wishes to attend.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also assumed that the speaker will answer journalists' questions at a press conference, although they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obliged to. However, someone who holds several press conferences on a topic will be asked questions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the press, regardless of whether they indicate they will entertain them, and the more conferences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person holds, the more aggressive the questioning may become. Therefore, it is in a speaker's interest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answer journalists' questions at a press conference to avoid appearing as if they have something to hide.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questions from reporters – especially hostile reporters – detracts from the control a speaker has over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information they give out. For even more control, but less interactivity, a person may choose to issue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release.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Press releases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typical press release announces that the statement is "FOR IMMEDIATE RELEASE" across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top (some may instead be embargoed until a certain date), and lists the issuing organization's media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contacts directly below. The media contacts are the people that the release's issuer wants to make available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the media: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Five "Ws and an "H"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There are 6 vital facts to convey in the first paragraph of a release to ensure that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doesn't end up in the bin.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Who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What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0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Why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press release is a written statement distributed to the media. It is a fundamental tool of public relations.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Very often the information in a press release finds its way verbatim or minimally altered, to print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broadcast reports.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text of a release is usually (but not always) written in the style of a news story, with an eye-catching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headline and text written standard journalistic inverted pyramid style. This style of news writing makes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easier for reporters to quickly grasp the message. Journalists are free to use the information verbatim,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alter it as they see fit. PR practitioners research and write releases that encourage as much "lifting"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possible.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Since press releases reflect their issuer's preferred interpretation or positive packaging of a story, journalists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often skeptical of their contents. The level of skepticism depends on what the story is and who's telling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it. Newsrooms receive so many press releases that, unless it is a story that the media are already paying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attention to, a press release alone often isn't enough to catch a journalist's attention.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advent of modern electronic media and new technology, press releases now have equivalents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media, video news releases and audio news releases.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 new kind of press release—"optimized" for the Internet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advent of the Internet has ushered in a new kind of press release known as an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optimized press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release.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Unlike conventional press releases of yore, written for journalists' eyes only, in hopes the editor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reporter would find the content compelling enough to turn it into print or electronic news coverage,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optimized press release is posted on an online news portal. Here the writer carefully selects keywords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keyword phrases relevant to the press release contents. If written skillfully, the press release can rank highly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searches on Google News, Yahoo or MSN News (or the many other minor news portals) for the chosen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keyword phrases. </a:t>
            </a:r>
            <a:endParaRPr lang="ko-KR" altLang="en-US" dirty="0" smtClean="0" sz="1097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120</a:t>
            </a:r>
            <a:endParaRPr lang="ko-KR" altLang="en-US" dirty="0" smtClean="0" sz="1200"/>
          </a:p>
        </p:txBody>
      </p:sp>
      <p:sp>
        <p:nvSpPr>
          <p:cNvPr id="274" name="Rect 3"/>
          <p:cNvSpPr>
            <a:spLocks noGrp="1" noChangeArrowheads="1"/>
          </p:cNvSpPr>
          <p:nvPr/>
        </p:nvSpPr>
        <p:spPr>
          <a:xfrm rot="0">
            <a:off x="1188720" y="4416425"/>
            <a:ext cx="418465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When  </a:t>
            </a:r>
            <a:endParaRPr lang="ko-KR" altLang="en-US" dirty="0" smtClean="0" sz="1097"/>
          </a:p>
        </p:txBody>
      </p:sp>
      <p:sp>
        <p:nvSpPr>
          <p:cNvPr id="275" name="Rect 3"/>
          <p:cNvSpPr>
            <a:spLocks noGrp="1" noChangeArrowheads="1"/>
          </p:cNvSpPr>
          <p:nvPr/>
        </p:nvSpPr>
        <p:spPr>
          <a:xfrm rot="0">
            <a:off x="960120" y="4572000"/>
            <a:ext cx="680720" cy="155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>
                <a:solidFill>
                  <a:srgbClr val="000000"/>
                </a:solidFill>
                <a:latin typeface="Symbol"/>
              </a:rPr>
              <a:t>•</a:t>
            </a:r>
            <a:endParaRPr lang="ko-KR" altLang="en-US" dirty="0" smtClean="0" sz="1002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Readers of optimized press releases constitute far more than journalists. In the days before news search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engines, a press release would have landed only in the hands of a news reporter or an editor who would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make the decision about whether the content warranted news coverage. Although the news media is always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privy to online press releases in the search engines, most readers are end-users. Optimized press releases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circumvent the mainstream media which is formerly—but no longer—the gatekeeper of the news.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Lobby groups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Lobby groups are established to influence government policy, corporate policy, or public opinion.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groups purport to represent a particular interest. When a lobby group hides its true purpose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support base it is known as a front group.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Astroturfing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Creating an artificial "grassroots" movement is known as astroturfing. A typical example would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writing of letters to multiple newspaper editors under different names to express an opinion on an issue,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creating the impression of widespread public feeling but being controlled by one central entity.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Spin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public relations,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spin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a, sometimes critical term signifying a heavily biased portrayal in one's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 favor of an event or situation. While traditional public relations may also rely on creative presentation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facts, "spin" often, though not always, implies, deceptive and/or highly manipulative tactics.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Politicians are often accused of spin by commentators and political opponents, when they produce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counter argument or position.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term is borrowed from ball sports such as cricket, where a spin bowler may impart spin on the ball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during a delivery so that it will curve through the air or bounce in an advantageous manner.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State-run media in many countries also engage in spin by selectively allowing news stories that are favorable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the government while censoring anything that could be considered critical. They may also use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propaganda to indoctrinate or actively influence citizens' opinions.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Other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Publicity events or publicity stunts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talk show circuit. A PR spokesperson (or his/her client) "does the circuit" by being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interviewed on television and radio talk shows with audiences that the client wishes to reach.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Books and other writings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a PR practitioner has been working in the field for a while, he or she accumulates a list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contacts in the media and elsewhere in the public affairs sphere. This "Rolodex" becomes a prized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asset, and job announcements sometimes even ask for candidates with an existing Rolodex,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especially those in the media relations area of PR.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 communication (carrying messages directly to constituents, rather than through the mass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media) with, e.g., newsletters – in print and e-letters.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Speeches to constituent groups and professional organizations; receptions; seminars, and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events; personal appearances.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process of public relations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Experts Scott Cutlip, Allen Center and Glen Broom describe the public relations process in four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steps (1994).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step is "Defining Public Relations Problems," usually in terms of a "situational analysis," or what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relations professionals call a SWOT analysis (strengths, weaknesses, opportunities, threats).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According to them this should answer the question, "What's happening now?"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next step in the public relations process is "Planning and Programming," where the main focus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"strategy," Cutlip, Center and Broom argue that this step should answer the question "What should we do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say, and why?" The third step in the public relations process is "Taking action and Communicating,"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also known as "Implementation;" this step should answer the question "How and when do we do and say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it?" The final step in Cutlip, Center and Broom's Four-Step Public Relations Process is "Evaluating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Program," making a final "assessment," which should answer the question "How did we do," this is where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relations professionals make a final analysis of the success of their campaign or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who are professionals in public relations use different methods for analyzing the results of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 such as focus groups, surveys, and one-on-one interviews. These same methods are used in defining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what medium of communication will be used in the process of strategy and what tools will be used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relaying the message, such as press releases, brochures, Web sites, media packs, video news releases, news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conferences and in-house publications.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Politics and civil society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tactic used in political campaigns is known as "defining one's opponent". Opponents can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candidates, organizations and other groups of people.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Managing language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If a politician or organization can use an apt phrase in relation to an issue, such as in interviews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 releases, the news media will often repeat it verbatim, thus furthering the message. Recent examples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include: "death tax" for estate tax, "racial preferences" for affirmative action, "faith-based" instead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religious, "climate change" for global warming, and "partial-birth abortion" for pro-choice.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Entertainment and celebrity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Celebrities tend to be fans of the dictum "any publicity is good publicity". If a celebrity says or does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something embarrassing, he or she will often turn it into a strength and make it part of his or her "image."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tactic is used just as much with favorable situations as much as with unfavorable ones.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Branching out – to live through PR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Oscar Wilde is supposed to have said, the only thing worse than being talked about is not to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talked about at all. Many celebrities seem to take this truism to heart, because when their popularity (and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income) wanes, they take on new projects that attract media attention. Considering that a celebrity's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celebrity is a brand unto itself, many celebrities are under constant pressure to "reinvent" themselves, as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prophylactic against obscurity.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current trend among American celebrities is the transformation of musicians, comedians, and almost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every other sort of performer into children's book authors. Madonna, Jay Leno, Billy Crystal, Ricky Gervais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several other celebrities have recently written children's books, accompanied by much media coverage.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more traditional way of branching out is the celebrity restaurant. This is especially common among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professional athletes, whose time in the spotlight is often limited by the physical demands of their jobs.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Basketball player Michael Jordan opened a restaurant in Chicago, and singer Britney Spears opened an ill-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fated eatery in New York which closed a few months later.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Male celebrities like Tim Robbins, Sean Penn and Charlton Heston seem to gravitate toward politics,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some female celebrities, such as Susan Sarandon and Barbra Streisand, also become strong political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voices.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Younger female celebrities on the other hand are often drawn into the fashion world. Hotel heiress Paris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Hilton recently announced that she was starting her own line of jewelry, and Jennifer Lopez has started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line of clothing. And fading star Elizabeth Taylor launched a fragrance called "White Diamonds" several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years ago, bringing renewed interest from the media. Britney Spears also kept herself in the public eye when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she had her secretive marriage to Kevin Federline Although neither topic has to do with her career,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audiences seemed to be just as intrigued to know about her personal life.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Ethical and social issues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of the techniques used by PR firms are drawn from the institutions and practices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democracy itself. Persuasion, advocacy, and education are instruments through which individuals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organizations are entitled to express themselves in a free society, and many public relations practitioners are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engaged in practices that are widely considered as beneficial, such as publicizing scientific research,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promoting charities, raising awareness of public health concerns and other issues in civil society.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of the most controversial practices in public relations is the use of front groups—organizations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purport to serve a public cause while actually serving the interests of a client whose sponsorship may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obscured or concealed. The creation of front groups is an example of what PR practitioners sometimes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term the third party technique—the art of "putting your words in someone else's mouth." PR Watch, a non-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profit organization that monitors PR activities it considers to be deceptive, has published numerous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examples of this technique in practice. Critics of the public relations industry, such as PR Watch, have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contended that Public Relations involves a "multi-billion dollar propaganda-for-hire industry"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"concocts and spins the news, organizes phony 'grassroots' front groups, , and conspires with lobbyists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politicians to thwart democracy."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Current issues in ethical and social arenas have been brought to the attention of people from all strata of the population when it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was found that more than one journalist with a platform had received money from a Public Relations firm for espousing a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certain point of view.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Public relations in fiction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Absolutely Fabulous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(1992 - 2004) is a British sitcom written by and starring Jennifer Saunders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Joanna Lumley.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Absolute Power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(2000 - ) is a British comedy series, set in the offices of Prentiss McCabe, a fictional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Wag the dog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(1997), an American movie about a PR-consultant (Robert De Niro) that teams up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movie-producer (Dustin Hoffman) to cover up a presidential sex scandal by creating a fictional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Thank You For Smoking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(1994), an American satirical novel by Christopher Buckley, about a shyster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PR-Consultant/tobacco-lobbyist (Nick Naylor) during the 1990s. It was later adapted into a movie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same title in 2006.  </a:t>
            </a:r>
            <a:endParaRPr lang="ko-KR" altLang="en-US" dirty="0" smtClean="0" sz="1097"/>
          </a:p>
          <a:p>
            <a:pPr marL="0" indent="0" defTabSz="15240" algn="l">
              <a:lnSpc>
                <a:spcPts val="35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123</a:t>
            </a:r>
            <a:endParaRPr lang="ko-KR" altLang="en-US" dirty="0" smtClean="0" sz="1200"/>
          </a:p>
        </p:txBody>
      </p:sp>
      <p:sp>
        <p:nvSpPr>
          <p:cNvPr id="282" name="Rect 3"/>
          <p:cNvSpPr>
            <a:spLocks noGrp="1" noChangeArrowheads="1"/>
          </p:cNvSpPr>
          <p:nvPr/>
        </p:nvSpPr>
        <p:spPr>
          <a:xfrm rot="0">
            <a:off x="1645920" y="3938270"/>
            <a:ext cx="2089150" cy="6369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public relations company in London. 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war to divert the media. 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37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BEYOND PRINT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Moving on from the point when we were discussing advertising in the print media, we observe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human instinct to persuade fellow beings to buy commodities and ideas on commercial or non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commercial basis by using means other than newspapers and magazines has also been there.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Here we will examine different ways employed by men to further the cause of advertising.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Commercial Advertising Media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Wall paintings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Billboards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Street furniture components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Printed flyers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Cinema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Web banners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Web popups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Skywriting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Bus stop benches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Town criers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Sides of buses, taxicab doors and roof mounts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Musical stage shows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Subway platforms and trains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Elastic bands on disposable diapers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Stickers on apples in supermarkets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opening section of streaming audio and video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Posters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Back of event tickets and supermarket receipts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Covert advertising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embedded in other entertainment media is known as product placement.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more recent version of this is advertising in film, by having a main character use an item or other of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definite brand - an example is in the movie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Minority Report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where Tom Cruise's character Tom Anderton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owns a computer with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Nokia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logo clearly written in the top corner, or his watch engraved with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Bulgari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logo. Another example of advertising in film is in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I, Robot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where main character played by Will Smith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mentions his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Converse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shoes several times, calling them "classics," because the film is set far in the future.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Cadillac chose to advertise in the movie The Matrix Reloaded, which as a result contained many scenes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Cadillac cars were used. Similarly, product placement for Omega Watches, BMW and Aston-Martin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cars are featured in recent James Bond films, most notably,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Casino Royale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commercial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radio commercial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(often called an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advert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 the United Kingdom, or a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spot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to people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business) is a form of advertising in which goods, services, organizations, ideas, etc. are promoted via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medium of radio. Many commercials are produced by an outside ad agency and, airtime is purchased from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station or network in exchange for sponsorship of its programming.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commercials are frequently sold in either 30 second or 60 second increments. While a :60 radio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commercial is twice as long as a :30 radio commercial, it is rarely sold at twice the price. While practices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vary, most radio stations only charge 20-30% more for the longer spot.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While many commercials are professionally produced, radio is not out of reach for the small retail business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owner. Most local radio stations have the ability to produce radio commercials in house using their own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announcers. At times local radio stations will write and even produce the radio commercials for local retail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advertisers at no additional cost when the merchant purchases a schedule of "spots" on the station.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radio commercial is credited to WEAF, New York on August 28, 1922 for the Queens Boro real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estate corporation. The ten-minute live commercial was voiced by H.M. Blackwell, a representative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Queensboro.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Media—Audio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most common audio advertising media is FM radio. Placement of an advertisement on FM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costs about as much as an advertisement placed in a metropolitan newspaper. However, radio is more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dynamic than print alternatives because it allows the advertiser essentially to talk with the consumer. Indeed,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small business consultants believe that an entertaining and informative radio advertising campaign can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 a major asset. Nonetheless, some analysts contend that small business owners should proceed cautiously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deciding to rely exclusively on radio advertising. Indeed, most businesses incorporate a media mix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attempting to sell their products or services, utilizing radio advertising in concert with print and other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media. The key for small business owners is to study what types of advertising best suits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products and services and to use that media to spearhead their advertising campaign.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Advantages and Disadvantages of Radio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stations feature many different programming emphases. These range from music-oriented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formats such as country, adult contemporary, classic rock, and alternative rock to news-or talk-oriented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formats. Since these different formats attract different demographic segments of the total audience,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business owners can take appreciable measures to reach their target audience simply by buying time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appropriate stations. Another major advantage of radio advertising is that it is inexpensive to place and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produce, allowing small business owners to place advertisements on more than one station in a given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market. In addition, radio advertising content can be changed quickly to meet changes in the market or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reflect new business objectives. Finally, radio reaches large numbers of commuters, income-generating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who often pay more attention to radio advertising than to other advertising media, especially if they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driving alone.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costs associated with purchasing radio advertising time reflect this emphasis on reaching the commuter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audience. The four time slots, or "day parts," offered for advertisers by most radio stations are the morning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drive, daytime, afternoon drive, and evening. The two most expensive—but also most effective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slots—are the morning and afternoon drive times.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radio advertising is effective, there are drawbacks to consider when deciding whether to create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place a radio spot. Aspects to consider include competitor clutter, the cumulative costs associated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long-term radio spots, and the fleeting nature of a radio message. In addition to these drawbacks, several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legal and procedural guidelines need to be considered.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Nation's Business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writer Phil Hill provided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rundown of some of these concerns in his article "Make Listeners Your Customers":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1.								If celebrity sound-alike is used, make sure a clear disclaimer is included in the advertisement, saying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the sound-alike is not the actual celebrities.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2.								If working with a station to create an advertisement, always work with a contract.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3.								Treat the competition fairly. Federal law mandates that advertisers must accurately depict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competition.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4.								Be prepared to run a radio advertisement often. Industry analysts indicate that an advertisement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needs to be heard by a consumer on several occasions before it is likely to generate a response.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5.								Be cautious about excessive reliance on one station. There may be some instances in which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business's products or services are compatible with only one station (i.e., a dealer in sports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paraphernalia may want to limit his or her radio advertising to the lone sports-talk station in town),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small businesses that offer less niche-oriented services or products can dramatically expand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audience they reach if they use more than one station for their audio advertising.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TV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TV commercial is generally considered the most effective mass-market advertising format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is reflected by the high prices TV networks charge for commercial airtime during popular TV events.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annual Super Bowl football game in the United States is known as much for its commercial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advertisements as for the game itself, and the average cost of a single thirty-second TV spot during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game has reached $2.5 million (as of 2006).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Virtual advertisements may be inserted into regular television programming through computer graphics.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typically inserted into otherwise blank backdrops or used to replace local billboards that are not relevant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the remote broadcast audience. More controversially, virtual billboards may be inserted into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background where none existing in real-life. Virtual product placement is also possible. Increasingly,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mediums such as those discussed below are overtaking television due to a shift towards consumer's usage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Internet.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vast majority of television commercials today consist of brief advertising spots, ranging in length from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few seconds to several minutes.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Commercials of this sort have been used to sell every product imaginable over the years, from household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products to goods and services, to political campaigns. The effect of television commercials upon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viewing public has been so successful and so pervasive that it is considered impossible for a politician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wage a successful election campaign, in the United States, without airing a good television commerciale.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Characteristics of commercials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television commercials feature catchy jingles (songs or melodies) or catch-phrases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generate sustained appeal, which may remain in the minds of television viewers long after the span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campaign. These long-lasting advertising elements may therefore be said to have taken a place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pop culture history of the demographic to which they have appeared.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Few examples,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Aiy Khuda meray abbu salamat rahain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Yey dil mangay aur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Aur sonao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Talk shawk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catching attention of consumers, communication agencies make wide use of humour. In fact, many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psychological studies tried to demonstrate the effect of humour and indicate the way to empower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persuasion.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Animation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Animation is often used in commercials. Techniques can vary from hand-drawn traditional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animation to different forms of computer animation. By using animated characters, a commercial may have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certain appeal that is difficult to achieve with actors or mere product displays. For this reason, an animated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commercial (or a series of such commercials) can be very long-running, several decades in many instances.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animated character talking to a real one, is a common sight these days.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Computer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on the World Wide Web is a recent phenomenon. Prices of Web-based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space are dependent on the "relevance" of the surrounding web content and the traffic that the website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receives.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E-mail advertising is another recent phenomenon. Unsolicited bulk E-mail advertising is known as "spam".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Others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companies have proposed to place messages or corporate logos on the side of booster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rockets and the International Space Station. Controversy exists on the effectiveness of subliminal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advertising), and the pervasiveness of mass messages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Unpaid advertising (also called word of mouth advertising), can provide good exposure at minimal cost.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Personal recommendations ("bring a friend", "sell it"), spreading buzz, or achieving the feat of equating a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brand with a common noun ("Xerox" = "photocopier", "Kleenex" = tissue, and "Vaseline" = petroleum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jelly) -- these are the pinnacles of any advertising campaign. However, some companies oppose the use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brand name to label an object.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Rating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most common method for measuring the impact of mass media advertising is the use of the rating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point (RP) or the more accurate target rating point (TRP). These two measures refer to the percentage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universe of the existing base of audience members that can be reached by the use of each media outlet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 particular moment in time. The difference between the two is that the rating point refers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percentage to the entire universe while the target rating point refers to the percentage to a particular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segment or target. This becomes very useful when focusing advertising efforts on a particular group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example, think of an advertising campaign targeting a female audience aged 25 to 45. While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overall rating of a TV show might be well over 10 rating points it might very well happen that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same show in the same moment of time is generating only 2.5 trps (being the target: women 25-45).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would mean that while the show has a large universe of viewers it is not necessarily reaching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large universe of women in the ages of 25 to 45 making it a less desirable location to place an ad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advertiser looking for this particular demographic. Conversely, a TV show with a low overall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rating point may be more successful at selling ads when its target rating points are high.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Evaluation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Once the advertising campaign is over, companies normally evaluate it compared to the established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goals. An effective tactic in measuring the usefulness of the advertising campaign is to measure the pre-and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post-sales of the company's product. In order to make this more effective, some companies divide up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country into regions and run the advertising campaigns only in some areas. The different geographic areas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then compared (advertising versus non-advertising), and a detailed analysis is performed to provide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evaluation of the campaign's effectiveness. Depending on the results, a company will modify future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efforts in order to maximize effectiveness.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Summary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is the paid, non-personal promotion of a cause, idea, product, or service by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identified sponsor attempting to inform or persuade a particular target audience. Advertising has evolved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take a variety of forms and has permeated nearly every aspect of modern society. The various delivery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mechanisms for advertising include banners at sporting events, billboards, Internet Web sites, logos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clothing, magazines, newspapers, radio spots, and television commercials. While advertising can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successful at getting the message out, it does have several limitations, including its inability to (1) focus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individual consumer's specific needs, (2) provide in-depth information about a product, and (3) be cost-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effective for small companies. Other factors, such as objectives, budgets, approaches, and evaluation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methods must all be considered.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late 1980s and early 1990s saw the introduction of cable television and particularly MTV. Pioneering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concept of the music video, MTV ushered in a new type of advertising: the consumer tunes in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for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advertisement, rather than it being a byproduct or afterthought. As cable (and later satellite) television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became increasingly prevalent, "specialty" channels began to emerge, and eventually entire channels, such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QVC and Home Shopping Network and ShopTV, devoted to advertising merchandise, where again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consumer tuned in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for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 ads.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Marketing through the Internet opened new frontiers for advertisers and led to the "dot-com" boom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1990s. Entire corporations operated solely on advertising revenue, offering everything from coupons to free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Internet access. At the turn of the 21st century, the search engine Google revolutionized online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emphasizing contextually relevant, unobtrusive ads intended to help, rather than inundate, users.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has led to a plethora of similar efforts and an increasing trend of interactive advertising.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recent advertising innovation is "guerrilla promotions", which involve unusual approaches such as staged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encounters in public places, giveaways of products such as cars that are covered with brand messages,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interactive advertising where the viewer can respond to become part of the advertising message. This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reflects an increasing trend of interactive and "embedded" ads, such as via product placement, having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consumers vote through text messages, and various innovations utilizing social networking sites.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advertising campaign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a series of advertisement messages that share a single idea and theme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make up an integrated marketing communication (IMC). Advertising campaigns appear in different media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across a specific time frame.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critical part of making an advertising campaign is determining a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campaign theme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as it sets the tone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individual advertisements and other forms of marketing communications that will be used. The campaign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theme is the central message that will be communicated in the promotional activities. The campaign themes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usually developed with the intention of being used for a substantial period but many of them are short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lived due to factors such as being ineffective or market conditions and/or competition in the marketplace.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Forms of Advertising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can take a number of forms, including advocacy, comparative, cooperative, and direct-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mail, informational, institutional, outdoor, persuasive, product, reminder, point-of-purchase, and specialty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Advocacy Advertising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Advocacy advertising is normally thought of as any advertisement, message, or public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regarding economic, political, or social issues. The advertising campaign is designed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persuade public opinion regarding a specific issue important in the public arena. The ultimate goal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advocacy advertising usually relates to the passage of pending state or federal legislation. Almost 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nonprofit groups use some form of advocacy advertising to influence the public's attitude toward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particular issue. One of the largest and most powerful nonprofit advocacy groups is the American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Association of Retired Persons (AARP). The AARP fights to protect social programs such as Medicare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Social Security for senior citizens by encouraging its members to write their legislators, using television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advertisements to appeal to emotions, and publishing a monthly newsletter describing recent state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federal legislative action. Other major nonprofit advocacy groups include the environmental organization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Green-peace, Mothers Against Drunk Driving (MADD), and the National Rifle Association (NRA).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Comparative Advertising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Comparative advertising compares one brand directly or indirectly with one or more competing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brands. This advertising technique is very common and is used by nearly every major industry, including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airlines and automobile manufacturers. One drawback of comparative advertising is that customers have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become more skeptical about claims made by a company about its competitors because accurate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 has not always been provided, thus making the effectiveness of comparison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questionable. In addition, companies that engage in comparative advertising must be careful not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misinform the public about a competitor's product. Incorrect or misleading information may trigger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lawsuit by the aggrieved company or regulatory action by a governmental agency such as the Federal Trade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Commission (FTC).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Cooperative Advertising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Cooperative advertising is a system that allows two parties to share advertising costs. Manufacturers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distributors, because of their shared interest in selling the product, usually use this cooperative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technique. An example might be when a soft-drink manufacturer and a local grocery store split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cost of advertising the manufacturer's soft drinks; both the manufacturer and the store benefit 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increased store traffic and its associated sales. Cooperative advertising is especially appealing to small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storeowners who, on their own, could not afford to advertise the product adequately.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Direct-Mail Advertising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Catalogues, flyers, letters, and postcards are just a few of the direct-mail advertising options. Direct-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mail advertising has several advantages, including detail of information, personalization, selectivity, and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speed. But while direct mail has advantages, it carries an expensive per-head price, is dependent on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appropriateness of the mailing list, and is resented by some customers, who consider it "junk mail."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Informational Advertising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informational advertising, which is used when a new product is first being introduced,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emphasis is on promoting the product name, benefits, and possible uses. Car manufacturers used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strategy when sport utility vehicles (SUVs) were first introduced.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Institutional Advertising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Institutional advertising takes a much broader approach, concentrating on the benefits, concept,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idea, or philosophy of a particular industry. Companies often use it to promote image-building activities,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such an environmentally friendly business practices or new community-based programs that it sponsors.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Institutional advertising is closely related to public relations, since both are interested in promoting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positive image of the company to the public. As an example, a large lumber company may develop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theme around its practice of planting trees in areas where they have just been harvested.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theme of this nature keeps the company's name in a positive light with the general public because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replanting of trees is viewed positively by most people.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Outdoor Advertising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Billboards and messages painted on the side of buildings are common forms of outdoor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advertising, which is often used when quick, simple ideas are being promoted. Since repetition is the key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successful promotion, outdoor advertising is most effective when located along heavily traveled city streets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when the product being promoted can be purchased locally. Only about 1 percent of advertising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conducted in this manner.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Persuasive Advertising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Persuasive advertising is used after a product has been introduced to customers. The primary goal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for a company to build selective demand for its product. For example, automobile manufacturers often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produce special advertisements promoting the safety features of their vehicles. This type of advertisement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could allow automobile manufactures to charge more for their products because of the perceived higher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quality the safety features afford.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Product Advertising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 advertising pertains to non-personal selling of a specific product. An example is a regular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commercial promoting a soft drink. The primary purpose of the advertisement is to promote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specific soft drink, not the entire soft-drink line of a company.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Reminder Advertising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Reminder advertising is used for products that have entered the mature stage of the product life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cycle. The advertisements are simply designed to remind customers about the product and to maintain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awareness. For example, detergent producers spend a considerable amount of money each year promoting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products to remind customers that their products are still available and for sale.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Point-of-Purchase Advertising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Point-of-purchase advertising uses displays or other promotional items near the product that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being sold. The primary motivation is to attract customers to the display so that they will purchase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product. Stores are more likely to use point-of-purchase displays if they have help from the manufacturer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setting them up or if the manufacturer provides easy instructions on how to use the displays. Thus,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promotional items from manufacturers who provide the best instructions or help are more likely to be used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the retail stores.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Specialty Advertising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Specialty advertising is a form of sales promotion designed to increase public recognition of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company's name. A company can have its name put on a variety of items, such as caps, glassware, gym bags,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jackets, key chains, and pens. The value of specialty advertising varies depending on how long the items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used in the effort last. Most companies are successful in achieving their goals for increasing public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recognition and sales through these efforts. </a:t>
            </a:r>
            <a:endParaRPr lang="ko-KR" altLang="en-US" dirty="0" smtClean="0" sz="1097"/>
          </a:p>
          <a:p>
            <a:pPr marL="0" indent="0" defTabSz="15240" algn="l">
              <a:lnSpc>
                <a:spcPts val="6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38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IMPACT OF ADVERTISING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Objectives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objectives are the communication tasks to be accomplished with specific customers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a company is trying to reach during a particular time frame. A company that advertises usually strives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achieve one of four advertising objectives: trial, continuity, brand switching, and switchback. Which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four advertising objectives is selected usually depends on where the product is in its life cycle.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Trial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purpose of the trial objective is to encourage customers to make an initial purchase of a new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product. Companies will typically employ creative advertising strategies in order to cut through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competing advertisements. The reason is simple: Without that first trial of a product by customers, there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will not be any re peat purchases.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Continuity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Continuity advertising is a strategy to keep current customers using a particular product. Existing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customers are targeted and are usually provided new and different information about a product that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designed to build consumer loyalty.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Brand Switching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Companies adopt brand switching as an objective when they want customers to switch from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competitors' brands to their brands. A common strategy is for a company to compare product price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quality in order to convince customers to switch to its product brand.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Switchback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Companies subscribe to this advertising objective when they want to get back former users of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 brand. A company might highlight new product features, price reductions, or other important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 information in order to get former customers of its product to switchback.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Budget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Once an advertising objective has been selected, companies must then set an advertising budget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each product. Developing such a budget can be a difficult process because brand managers want to receive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large resource allocation to promote their products. Overall, the advertising budget should be established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 as to be congruent with overall company objectives. Before establishing an advertising budget,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companies must take into consideration other market factors, such as advertising frequency, competition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clutter, market share, product differentiation, and stage in the product life cycle.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Frequency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frequency refers to the number of times an advertisement is repeated during a given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 period to promote a product's name, message, and other important information. A larger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budget is required in order to achieve a high advertising frequency: Estimates have been put forward that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consumer needs to come in contact with an advertising message nine times before it will be remembered.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Competition and Clutter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Highly competitive product markets, such as the soft-drink industry, require higher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budgets just to stay even with competitors. If a company wants to be a leader in an industry, then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substantial advertising budget must be earmarked every year. Examples abound of companies that spend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millions of dollars on advertising in order to be key players in their respective industries (e.g., Coca Cola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General Motors).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Market Share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Desired market share is also an important factor in establishing an advertising budget. Increasing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market share normally requires a large advertising budget because a company's competitors counterattack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their own advertising blitz. Successfully increasing market share depends on advertisement quality,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competitor responses, and product demand and quality.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Product Differentiation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 customers perceive products is also important to the budget-setting process. Product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differentiation is often necessary in competitive markets where customers have a hard time differentiating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between products. For example, product differentiation might be necessary when a new laundry detergent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advertised: Since so many brands of detergent already exist, an aggressive advertising campaign would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required. Without this aggressive advertising, customers would not be aware of the product's availability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 it differs from other products on the market. The advertising budget is higher in order to pay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additional advertising.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Stage in the Product Life Cycle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 product offerings require considerably more advertising to make customers aware of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existence. As a product moves through the product life cycle, fewer and fewer advertising resources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needed because the product has become known and has developed an established buyer base.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budgets are typically highest for a particular product during the introduction stage and gradually decline 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product matures.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Selecting the Right Advertising Approach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Once a company decides what type of specific advertising campaign it wants to use, it must decide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what approach should carry the message. A company is interested in a number of areas regarding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advertising, such as frequency, media impact, media timing, and reach.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Frequency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Frequency refers to the average number of times that an average consumer is exposed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campaign. A company usually establishes frequency goals, which can vary for each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campaign. For example, a company might want to have the average consumer exposed to the message 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least six times during the advertising campaign. This number might seem high, but in a crowded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competitive market repetition is one of the best methods to increase the product's visibility and to 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company sales. The more exposure a company desires for its product, the more expensive the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campaign. Thus, often only large companies can afford to have high-frequency advertisements during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campaign.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Media Impact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impact generally refers to how effective advertising will be through the various media outlets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(e.g., television, Internet, print). A company must decide, based on its product, the best method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maximize consumer interest and awareness. For example, a company promoting a new laundry detergent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might fare better with television commercials rather than simple print ads because more consumers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likely to see the television commercial. Similarly, a company such as Mercedes-Benz, which markets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expensive products, might advertise in specialty car magazines to reach a high percentage of its potential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customers. Before any money is spent on any advertising media, a thorough analysis is done of each one's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strengths and weaknesses in comparison to the cost. Once the analysis is done, the company will make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best decision possible and embark on its advertising campaign.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Media Timing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major consideration for any company engaging in an advertising campaign is when to run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advertisements. For example, some companies run ads during the holidays to promote season-specific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products. The other major consideration for a company is whether it wants to employ a continuous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pulsing pattern of advertisements. Continuous refers to advertisements that are run on a scheduled basis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given time period. The advantage of this tactic is that an advertising campaign can run longer and might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provide more exposure over time. For example, a company could run an advertising campaign for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particular product that lasts years with the hope of keeping the product in the minds of customers. Pulsing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indicates that advertisements will be scheduled in a disproportionate manner within a given time frame.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Thus, a company could run thirty-two television commercials over a three-or six-month period to promote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specific product is wants to sell. The advantage with the pulsing strategy is twofold. The company could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spend less money on advertising over a shorter time period but still gain the same recognition because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campaign is more intense.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Reach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Reach refers to the percentage of customers in the target market who are exposed to the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campaign for a given time period. A company might have a goal of reaching at least 80 percent of its target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audience during a given time frame. The goal is to be as close to 100 percent as possible, because the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target audience is exposed to the message, the higher the chance of future sales.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impact of advertising has been a matter of considerable debate and many different claims have been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made in different contexts. During debates about the banning of cigarette advertising, a common claim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cigarette manufacturers was that cigarette advertising does not encourage people to smoke who would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otherwise. The (eventually successful) opponents of advertising, on the other hand, claim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does in fact increase consumption.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According to many media sources, the past experience and state of mind of the person subjected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may determine the impact that advertising has. Children under the age of four may be unable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distinguish advertising from other television programs, whilst the ability to determine the truthfulness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may not be developed until the age of 8.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Public perception of the medium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advertising and marketing efforts become increasingly ubiquitous in modern Western societies,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industry has come under criticism of culture jamming which criticizes the media and consumerism using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advertising's own techniques. The industry is accused of being one of the engines powering a convoluted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economic mass production system which promotes consumption. Recognizing the social impact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advertising, Media-watch-uk, a British special interest group, works to educate consumers about how they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can register their concerns with advertisers and regulators. It has developed educational materials for use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schools. The award-winning book, Made You Look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How Advertising Works and Why You Should Know,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former Media-watch (a feminist organisation founded by Ann Simonton not linked to media-watch-uk)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president Shari Graydon, provides context for these issues for young readers.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Compensation demanded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interest groups are increasingly suggesting that access to the mental space targeted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advertisers should be taxed, in that at the present moment that space is being freely taken advantage of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advertisers with no compensation paid to the members of the public who are thus being intruded upon.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kind of tax would act to reduce what is now increasingly seen as a public nuisance.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Efforts to that end are gathering momentum, with Arkansas and Maine considering bills to implement such taxation. Florida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enacted such a tax in 1987 but was forced to repeal it after six months, as a result of a concerted effort by national commercial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interests, which withdrew planned conventions, causing major losses to the tourism industry, and cancelled advertising, causing a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loss of 12 million dollars to the broadcast industry alone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Negative effects on communication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extensively documented effect is the control and vetoing of free information by the advertisers.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Any negative information on a company or its products or operations often results in pressures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company to withdraw such information lines, threatening to cut their ads. This behavior makes the editors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media self-censor content that might upset their ad payers. The bigger both companies are, the bigger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relation gets, maximizing control over single information.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Advertisers may try to minimize information about or from consumer groups, or consumer controlled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purchasing initiatives or consumer controlled quality information systems.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indirect effect of advertising is to modify the very nature of the communication media where it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shown. Media that get most of their revenues from publicity try to make their medium a good place for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communicating ads before anything else. The clearest example is television, where this means trying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make the public stay for a long time and in a mental state that encourages spectators not to switch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channel through the ads. Programs that are low in mental stimulus and require light concentration and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varied are best for long sitting times. These make for much easier emotional jumps to ads, which can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become more entertaining than regular shows. A simple way to understand the objectives in television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programming is to compare contents from channels paid and chosen by the viewer with channels that get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income mainly from advertisements.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Future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dawn of the Internet have come many new advertising opportunities. Pop-up, Flash,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banner, adver-gaming, and email advertisements (the last often being a form of spam) abound.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Each year, greater sums are paid to obtain a commercial spot during super sporting events like cricket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football championships. Companies attempt to make these commercials sufficiently entertaining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members of the public will actually want to watch them.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problem is people recording shows on DVRs (ex. TiVo). These devices allow users to record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programs for later viewing enabling them to fast forward through commercials. Additionally, as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seasons or “Boxed Sets” come out of Television shows; fewer people are watching their shows on TV.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However, the fact that these sets are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sold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means that the company will additionally receive profits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sales of these sets. To counter this effect, many advertisers have opted for product placement (prize during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shows).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Particularly since the rise of "entertaining" advertising, some people may like an advert enough that they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wish to watch it later or show a friend. In general, the advertising community has not yet made this easy,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some have used the Internet to widely distribute their adverts to anyone wishing to see or hear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them. </a:t>
            </a:r>
            <a:endParaRPr lang="ko-KR" altLang="en-US" dirty="0" smtClean="0" sz="1097"/>
          </a:p>
          <a:p>
            <a:pPr marL="0" indent="0" defTabSz="15240" algn="l">
              <a:lnSpc>
                <a:spcPts val="37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39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MEDIA THEORIES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term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media theory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refers to a model that explains the relationship between media and social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reality. Media as an enterprise holds a unique  status – from one way it is like an industry which gives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products and service and earn money but from another way media is supposed to talk about society, people,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attitude, interaction, guidance and the most crucial and sensitive, criticism.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criticism media does-on individuals, business sector and the governments, pinches many in many ways.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If media does not perform this function, it is rendered redundant.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 media is seen, controlled and dealt with, will be outlined in the following paragraphs through the study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four distinct theories which generally command on media behaviour and its outlook in different societies.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Authoritarian Theory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Long before the democratic societies could think of matters pertaining to freedom of speech, there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existed a thought that the emergence of media should not challenge the writ of the government which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in dictatorial form and less they looked like democracies. The media was forced to remain under state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control. It had following features which, in non democratic governments still rule on media.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ruling-class.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approach is designed to protect the established social order, setting clear limits to media freedom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ensure that it is not the media which must talk about people and their problems in any manner.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Libertarian Theory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is just in contrast to the authoritarian approach to media. Here media enjoys an absolute freedom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expression. Its prominent features go like this: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rights or the legitimate claims of the society.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minorities, evens the security of the state no infringement accepted from media.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Such an extensive freedom is also a problem as all people have the right to speak and receive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freely, but no one takes responsibility of the wrong doings. The ethics in multicultural or pluralistic societies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vary from place to place; hence there is always complaint against the media of each other’s society. </a:t>
            </a:r>
            <a:endParaRPr lang="ko-KR" altLang="en-US" dirty="0" smtClean="0" sz="1097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Soviet Theory 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135</a:t>
            </a:r>
            <a:endParaRPr lang="ko-KR" altLang="en-US" dirty="0" smtClean="0" sz="1200"/>
          </a:p>
        </p:txBody>
      </p:sp>
      <p:sp>
        <p:nvSpPr>
          <p:cNvPr id="307" name="Rect 3"/>
          <p:cNvSpPr>
            <a:spLocks noGrp="1" noChangeArrowheads="1"/>
          </p:cNvSpPr>
          <p:nvPr/>
        </p:nvSpPr>
        <p:spPr>
          <a:xfrm rot="0">
            <a:off x="1645920" y="3785870"/>
            <a:ext cx="5457190" cy="4032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Direct governmental control of the media.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Typical to pre-democratic societies, where the government consists of a very limited and small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No printing that could undermine the established authority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No offense to existing political set up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government may punish anyone who questions the state's ideology.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 professionals are not allowed to have any independence within the media organization.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Registration of the media by the state. </a:t>
            </a:r>
            <a:endParaRPr lang="ko-KR" altLang="en-US" dirty="0" smtClean="0" sz="1097"/>
          </a:p>
          <a:p>
            <a:pPr marL="0" indent="0" defTabSz="15240" algn="l">
              <a:lnSpc>
                <a:spcPts val="1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Competitive exposure of alternative viewpoints.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Attacks on the government's policies are accepted and even encouraged: the media as a watchdog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Journalists and media professionals ought to have full autonomy within the media organization.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There is no explicit connection between the government and the media.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press is free from censorship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It is accountable to the law for any consequences of its activities that infringe other individuals’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protection of dignity, reputation, property, privacy, moral development of individuals, groups,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revolution in Russia in 1917, and practice of Marxism, there appeared a very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approach to deal with media. The media was tied to overall communist ideas and defined in a very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way. The theory to control media possessed following features: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soviet theory does not favor free expression, but proposes a positive role for the media, the society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world.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Social Responsibility Theory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theory keeps certain areas free for the Press but at the same time puts lot of responsibility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media. As discussed in the beginning that the media is not just seen as an enterprise like others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business sector of any society, but due to its unique nature, society expects a particular role which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must play in getting rid of social evils, educating people, criticizing government policies and exposing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wrong doings in a society. The sense of responsibility has been emphasized more in this theory as compared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any other.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Theories and open debate on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confined to the extent of theories, the media always faces (and is open to) criticism and social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scientists always keep this debate open as how best media could be used to improve functioning of civil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society and promotion of democratic sense and practices.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In their view If people's knowledge, understandings, capabilities, and actions are manufactured,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simultaneously follows that they can be developed, improved, and individualized in proper (ideal-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democratic) circumstances.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Among these circumstances, proper communication networks are inevitable.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Because of new developments, the relationship among the state, private sectors, markets, and civil society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profoundly changed during the 1980s.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politically and economically advanced societies the change is based on new information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telecommunications technologies, which affected the media industries in terms of economic restructuring,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on a new social and political environment, as reflected by media contents.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basic question is: Who gave media the right to do the things they do?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Like to investigate wrongdoings by public officials, to delve into the private lives of public figures and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report on the shortcomings of government and institutions are all forms of the criticism media face all over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world.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Purpose of talking on this topic is to make people linked with mass media to understand the relationship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between media and society and how the media is understood by the scholars in the society. </a:t>
            </a:r>
            <a:endParaRPr lang="ko-KR" altLang="en-US" dirty="0" smtClean="0" sz="1097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136</a:t>
            </a:r>
            <a:endParaRPr lang="ko-KR" altLang="en-US" dirty="0" smtClean="0" sz="1200"/>
          </a:p>
        </p:txBody>
      </p:sp>
      <p:sp>
        <p:nvSpPr>
          <p:cNvPr id="310" name="Rect 3"/>
          <p:cNvSpPr>
            <a:spLocks noGrp="1" noChangeArrowheads="1"/>
          </p:cNvSpPr>
          <p:nvPr/>
        </p:nvSpPr>
        <p:spPr>
          <a:xfrm rot="0">
            <a:off x="1188720" y="1271270"/>
            <a:ext cx="5146040" cy="36391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Closely tied to the communist ideology.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media is collective agitator, propagandist and educator in the building of communism.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No private ownership of the media.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government is superior to the media institutions.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media is supposed to be serious </a:t>
            </a:r>
            <a:endParaRPr lang="ko-KR" altLang="en-US" dirty="0" smtClean="0" sz="1097"/>
          </a:p>
          <a:p>
            <a:pPr marL="0" indent="0" defTabSz="15240" algn="l">
              <a:lnSpc>
                <a:spcPts val="1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 has certain obligations to society: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It must show truth, accuracy, objectivity, and balance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media should be free but self-regulated (codes of conduct, and ethics)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media is pluralistic: diversity of society, various points of view, forum for ideas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media ownership is a public trust. The journalist is accountable to his audience / readers. 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41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 MEDIA IN MASS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 Media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a term that describes traditional forms of media that have been transformed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advancements in digital technology and digital computing.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distinction between "New Media" and Old media is sometimes perceived to be a difficult one to make,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because new media does not so much represent an entirely new creation, but the re-conceptualization of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current, an most likely popular source of information in a newly digital format. This relationship of old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 media is concerned with transformations of the apparatus (social machine) of language, from more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basic forms of oral communication to the establishment of literacy, and from literacy to the digital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adaptation of speech. New Media must therefore be understood within the context of not only established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institutional practices, but also within the processes by which institutions establish their public and private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identities as well.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What is classed as New Media?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Web Sites including Blogs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Email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CD/DVD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Electronic kiosks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0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Internet Telephony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Mobile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Pod-cast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Hypertext Fiction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Technology forcing changes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were settled in their own way of communication by the start of the 20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century. When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came radio, and people were able to get news quicker than print media, the newspapers turned more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interpretative. When TV tried to outplay radio by showing images of distant event, radio started working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hard on new formats of music, light discussion and telling jokes (FM style). Now, to compete with internet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is going for high-definition technology to display things in digital formats at the same time.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On-line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Since the Internet was transformed into a mass medium, around the mid-90s, journalists and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theoreticians have tried to define what online journalism is. One thing is for sure; internet is the new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modern times.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Unlike other media, which are greatly defined by their form (paper, sound, picture), online media are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clear about their form. Very conditionally we can say that their form is limited by the computer screen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speakers, since they also have a category of speed, unknown to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old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 which extend in real time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space. This means that the instrument we use to receive information considerably affects how it is imparted.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From end users’ perspective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television program is the same regardless of the size of your TV screen, just as a radio program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does not change depending on whether you are listening to it on a transistor radio or an expensive stereo.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are defined in the printing house and are such regardless of who reads them and where.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But an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Internet site must take into account both those who access it through a high density network with screens 15 inches and larger,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as well as those who view it on the screens of their mobile phones with a modest access speed of 9,600 bps.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fact that more and more people are using mobile phones (how many people do you know that do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have them and for what reason do they not have them) means that the information market is moving to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side and that it is only a question of technological and social compromise how quickly these devices will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surpass short text messages in favor of audio/video contents broadcast in real time.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137</a:t>
            </a:r>
            <a:endParaRPr lang="ko-KR" altLang="en-US" dirty="0" smtClean="0" sz="1200"/>
          </a:p>
        </p:txBody>
      </p:sp>
      <p:sp>
        <p:nvSpPr>
          <p:cNvPr id="313" name="Rect 3"/>
          <p:cNvSpPr>
            <a:spLocks noGrp="1" noChangeArrowheads="1"/>
          </p:cNvSpPr>
          <p:nvPr/>
        </p:nvSpPr>
        <p:spPr>
          <a:xfrm rot="0">
            <a:off x="1645920" y="3801110"/>
            <a:ext cx="863600" cy="158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Virtual worlds  </a:t>
            </a:r>
            <a:endParaRPr lang="ko-KR" altLang="en-US" dirty="0" smtClean="0" sz="1097"/>
          </a:p>
        </p:txBody>
      </p:sp>
      <p:sp>
        <p:nvSpPr>
          <p:cNvPr id="314" name="Rect 3"/>
          <p:cNvSpPr>
            <a:spLocks noGrp="1" noChangeArrowheads="1"/>
          </p:cNvSpPr>
          <p:nvPr/>
        </p:nvSpPr>
        <p:spPr>
          <a:xfrm rot="0">
            <a:off x="1417320" y="3956050"/>
            <a:ext cx="1491615" cy="155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>
                <a:solidFill>
                  <a:srgbClr val="000000"/>
                </a:solidFill>
                <a:latin typeface="Symbol"/>
              </a:rPr>
              <a:t>•</a:t>
            </a:r>
            <a:endParaRPr lang="ko-KR" altLang="en-US" dirty="0" smtClean="0" sz="1002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Blogs are not formal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Internet blogs are not journalism since they do not require any journalistic knowledge or experience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write (create) them. Even the fact that behind the blogs stand a journalist does not mean that the product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his observations posted on the Internet is journalism. Journalism is not a profession that can be done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privacy of one’s room; it requires a newsroom. Experience teaches us that no good result comes out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something which, with the exception of the author, is not read/seen/heard before it is published/broadcast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anyone else, or at least no one with the power to stop or delay it being published/broadcast if necessary.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new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media, unfortunately, offer this possibility. With the wholehearted help of legislation, or lack of it,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 media cultivate this jungle.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Is it really new?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article taken from a newspaper must take into account printing technology, which means that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cannot be transformed, without major editorial changes, into a form acceptable, for example,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Internet. This would entail significant shortening of the article, emphasizing key words, breaking it up into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sections connected with hyperlinks (which would not have to be written all over if they already exist on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net). Therefore, this is a task for which there is usually not enough time or people or resources. The result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what we see on the net and what we call online journalism is actually only a projection of the old media,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only contribution being a technological one. Now we can read our favorite newspapers at the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end of the world, at almost no charge, simultaneously with readers in the city they are published in.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content is the same.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Old wine in new bottle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Any form of transfer of information can be used to distribute news reports. After all, at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beginning of the 90s major media outlets had their own Tele-fax editions, for subscribers living far away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who had no patience for air distribution. Tele-faxes were replaced several years ago by e-mail since they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much more suitable and rather less expensive.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changes in distribution have not been accompanied sufficiently by changes in journalistic expression.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Mostly because the limitations of new technologies have not been restraining. A long newsletter that you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receive by electronic mail is not “comfortable” to read, but nothing prevents the author from creating it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way and sending it out. Quite the opposite, in contrast to the old media, the new media practically have no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spatial or time limitations, except the mentioned transfer speed. This, instead of being an advantage,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becomes their disadvantage.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Disadvantages in the Use of New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While most advertising and marketing agencies have cited the use of New Media as a positive force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reaching new and old customers alike, a prevalent concern amongst companies that wish to remain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competitive in today's digital markets is the rapid rate at which new media changes, and can be changed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any number of sources. While the new level of communication between customers and those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providing any kind of service is generally beneficial, it also allows for more methods by which unhappy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consumers may disproportionately voice their concerns, in relation to their actual overall sampling size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amongst consumers as a whole.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negative result of the implementation of new media advertising and marketing is generally regarded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being cost-related. As New Media forms are almost exclusively digital in nature, the cost of initial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establishment and then the upkeep of the equipment, resources, and manpower needed may pose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significant problem for smaller businesses. It has been said that in this way, the worldwide trend towards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reliance on New Media for such means may very well be a move towards further corporate globalization,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downfall of smaller businesses that can't compete with such new technological means. </a:t>
            </a:r>
            <a:endParaRPr lang="ko-KR" altLang="en-US" dirty="0" smtClean="0" sz="1097"/>
          </a:p>
          <a:p>
            <a:pPr marL="0" indent="0" defTabSz="15240" algn="l">
              <a:lnSpc>
                <a:spcPts val="8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41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GLOBALIZATION OF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Globalization is a buzz word these days. It is more heard in the arena of economics where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transnational corporations are widening their scope of activities and earning massively. So strong is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thrust for expansionism by the world corporate sectors that governments and other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organizations like the UNO etc also at times seem to be only working for the cause of this sector. The wave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globalization is not without criticism such as it is designed to make a few rich and the rest poor not only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financial sense but also culturally. The debate is raging high.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as an international entity – both as a corporate sector and as a tool to represent culture of the region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belongs to – is also caught in the globalization campaign as many fear the new trend may prove to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much horrific for the developing countries and regional cultures.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Here below we will examine various aspects of the globalization of media.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Media and consumerism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media and communication industries are a leading sector in facilitating overall globalization.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place, the role of telecommunication is critical to globalize production strategies. It is inconceivable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the pace and depth of globalization could have been sustained over the past decades in the absence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sophisticated telecommunications networking. Furthermore, content (or “copyright”) industries, such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television, music, video, film and the Internet, directly through advertising and indirectly through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promotion of consumerist and individualistic lifestyles, are at the forefront of cultural preparation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consumerism, an essential precondition and accompaniment to the opening up of new markets for a huge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variety of products, and to the breaking down of cultural and other barriers.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factor in the globalization of the media and communication sector is as a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powerful agent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	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transformation of social, cultural and political structures. This is, of course, partly the flip side of media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communications as a means of opening new markets and softening up cultures for consumerism, although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is more to it than that. It is this set of (often unintended) side effects of the globalization of media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have the most impact of all, namely the evolving cumulative impact of the gradual commercialization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and communications on critical social functions, such as the formation of individual and community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identity, cultural and language diversity, the capacity to participate in the political process and the integrity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public sphere, the availability of information and knowledge in the public domain, and the use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for development, educational and human rights purposes.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Dominance of TNCs backed by governments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Analyzing the effects of many historic, economic and political factors to have influenced the most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important characteristics of globalization of media systems in the last 15 years, and that what can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observed is a domination of large countries and powerful transnational companies (TNC) which, according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the effects of market laws, also affect the sphere of media industry and media systems.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Media centralization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Global Media experts maintain that these processes directly influence general commercialization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in the world and thereby most certainly democracy, both as an idea and system of governance.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Although, in their opinion, global media systems do not develop linearly in this direction, their trend is,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gradually and more or less, to become a part of the process of media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centralization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spearheaded by some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30 TNCs with the aim of taking control over the media. In this regard, economic interests unreservedly help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political structures in large countries, which thus watch over the information and ideological orientation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inside nations, and in regions and on continents as well.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providing a short historic overview of the appearance and development of the first massive medium –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– and its historic predecessors, from early times  gazettes, pamphlets, annals, to the first newspaper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editions in today’s meaning, all the way to the appearance of the first electronic medium and development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television and internet  experts analyze the dynamics of the global media market and explain the strategy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funding of major media corporations, such as Time Warner, Disney, Bertelsmann, Viacom, and News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Corporation, which primarily have big film and television productions.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TNCs are top players on the global media market, as one can see have imposing data indicating these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companies’ clear profile, first of all their financial wealth measured in billions of dollars in annual income.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(For example, Time Warner, the biggest media corporation, had an income of close to $25 billion, Disney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had $24 billion, and News Corporation had $10 billion).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economic power is primarily thanks to a broad range of production and publishing activities, i.e.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internal growth, but also thanks to acquisitions and mergers.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(The biggest media corporation, Time Warner, was created in 1989 as a result of a merger between Time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Incorporated and Warner Communications Incorporated).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Media freedom and objectivity declining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slogans under which the first media appeared, freedom of expression, freedom of writing,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principles of truthfulness, accuracy, objectivity or, even better, fair reporting, are today thrown into question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the fact that commercial values in the media have taken root with primacy.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precisely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economic market relations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– which guide transnational companies, after integrating with one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in the above two ways, to ruthlessly enter national and international arenas –that have a fatal affect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the character and structure of media programs. As a result, the general trend of media insistence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entertainment and light contents is a consequence of the almost completed commercialization of the media.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famous saying that the media create the culture of entertainment is now at work. This has a negative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effect on program quality and the demands of public opinion which is under its influence, and it promotes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elitist consumer culture within the broader society.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Poor and less developed regions in terms of information and communications experience a particularly big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effect on this character of the modern media. The local cultural and political media landscape of these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countries is strongly affected by the operation of political and media systems of wealthy countries.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IMF blamed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Edward S. Herman and Robert W. McChesney, the two American university professors, say all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processes in media systems, along with countries which TNC and their influences originate from,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also supported by economic giants such as the International Monetary Fund (IMF) which, through some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 programs, facilitates media penetration of the great powers into underdeveloped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marketing – media – TNC – IMF scheme operates throughout the global system, stimulating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application of neo-liberal rules based on penetration of private investments and reduced social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appropriations that can be a very dangerous combination in a system of extreme inequality.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Hapless media standardization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Standardization of media, first of all through the structure and content of programs in all types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media, may influence the particularity and sustainability of authentic characteristics of national cultures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succumb to the consumer spirit of the media industry conglomerate. But these processes may result,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are already resulting in a loss of public journalism and criticism of journalists, who often face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dilemma of whether to write truthfully and accurately (?) or not to allow themselves to be neutral in writing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the sake of – higher interests of the media giants they work for. Instead of civil journalism, what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present is new journalism with products which constitute commodities, with journalists who balance among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neutrality, hushing up truth and a media system insensitive to the local and the regional needs. </a:t>
            </a:r>
            <a:endParaRPr lang="ko-KR" altLang="en-US" dirty="0" smtClean="0" sz="1097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How to combat the alternate media? </a:t>
            </a:r>
            <a:endParaRPr lang="ko-KR" altLang="en-US" dirty="0" smtClean="0" sz="1097" b="1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solution to preserving national and media authenticity and pluralism is in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alternative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non-profit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which would form a non-profit public sphere. Consequently, decentralization of global media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economic giants is possible through concentration of alternative media markets.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Alternate media could be developed at local level, and after that at a higher level.  </a:t>
            </a:r>
            <a:endParaRPr lang="ko-KR" altLang="en-US" dirty="0" smtClean="0" sz="1097"/>
          </a:p>
          <a:p>
            <a:pPr marL="0" indent="0" defTabSz="15240" algn="l">
              <a:lnSpc>
                <a:spcPts val="6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42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MEDIA MERGENCE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Every time a new technology is introduced in the sphere of mass media and a new media organ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created, there appears a situation where new form of mass communication gets its source material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organs already in vogue.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mediated communication which is always based on certain technology also needs contents which must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 made the main area of mass communication. Hardly there has been a situation when a new technology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has also brought altogether new topics to be talked about with the help of new science. Here we will see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 the advent of various technologies has led to media combination.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From Print to Electronic Amalgamation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 media had been enjoying a unique distinction in the society for almost four hundred years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in the first quarter of the 20th century radio was introduced on the basis of electromagnetic waves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technology. It was first time that the people experienced a wireless communication at massive scale.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brought with it listening pleasure – music, talks and news etc. But the nature of contents in news, talk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shows, discussions, educational programmes and comments was not new. More or less it was dealing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same content people had been familiar with over the years because of print media. The only change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new technology. Contents were the same. So one can say that radio was a mergence of print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electronic media as far content were concerned.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Radio, TV mergence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TV was also based on radio wave technology, the carrying of images through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electromagnetic waves gave it a unique distinction and in the eyes of common people TV has been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entity.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on the content side, TV picked many ideas from radio formats like group discussions, musical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programmes, and commentary on sporting events, and presentation of news. The changes were only due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presence of images.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TV and computer getting one - IPT (Internet protocol TV)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third quarter of the 20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scientists were successful in using the digital technology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carrying contents which were earlier carried only through analog techniques. This led to a marriage between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analog and digital technologies and it is here that the subject of mergence of media has emerged.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new combination is exclusive in the sense that it not only brings the contents of sound and images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together and all the formats of programme remain intact, it at the same time brings the two technologies 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point.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coming years you would be able to use your computer as TV and if you desire, TV set could also be used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computer because most TV sets manufactured after 2006, or so, would carry a chip which would enable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decoding of messages transmitted through digital technology.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So, when we say that the media will converge, we mean that current television shows will merge into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hybrid with World Wide Web style content.  Television shows will have other types of media like text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merged into them, and World Wide Web pages will begin to be temporal entities that tell a story.  Another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way of looking at this is that both your television and your computer will be running a similar super browser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will allow the same content to be viewed on both devices.  Also, to say that the two converge it is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enough to say that you will be able to watch television on your computer-- that merely means that television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content is a sub-set of computer content and is already possible today.  For the two to truly converge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content that can be received by both devices should be the same.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we say that the media will not converge, we mean that television shows and world wide web content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will remain distinct media forms, and that you will use your television for watching television shows, and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your computer to view and browse web content.  While both media types may have evolved, they will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remain different from one another.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People will cease distinguishing between computers and televisions: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second topic for the debate will be that the computers and televisions as devices will merge. 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case the argument is that sometime in the future there won't be "televisions" and "computers", but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new device that encapsulates the behavior of both.  This "viewer" will come in different sizes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shapes, but will be thought of as one item, just like little TVs and big TVs in people's minds are considered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type of device.  While you may be more inclined to use the "viewer" on your desk to browse the web,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"viewer" in the home theater to watch movies, you would be willing to do either task on either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device.  In other words, if you were at your desk working on a "viewer" and a friend called up telling you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check out a show, you would just switch the "viewer" to that show, rather than going into another room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find a "TV viewer".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Non-convergence in this case is the argument that, while TVs may take on some computer-like functionality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vice versa, fundamentally the two will be thought of as different devices.  Doing research and browsing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web will be done on a computer, and watching shows and movies will be done on a television.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Finally, it is important to make one final point on the debate framework.  There are always extreme points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adoption of technology.  Since there is no technical reason why a television can't have the same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functionality as a computer, or vice versa, it is quite likely that both computer powered TVs and computers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can display television will be around in the future.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Nature of program remains a question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account of this, the debate will center on what functionality the majority of televisions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computers will have, and what types of media will be broadcast for a majority of broadcast hours. 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main question we consider is whether televisions and computers will come to be more similar on average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 goes on, or whether they will evolve along mostly independent paths.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Economic reasons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convergence is an economic strategy in which communications companies seek financial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benefit by making the various media properties they own work together. The strategy is a product of three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elements: 1) corporate concentration, whereby fewer large companies own more and more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properties; 2) digitization, whereby media content produced in a universal computer language can be easily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adapted for use in any medium; and 3) government deregulation, which has increasingly allowed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conglomerates to own different kinds of media (e.g., television and radio stations and newspapers)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same markets, and which has permitted content carriage companies (e.g., cable TV suppliers) to own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content producers (e.g., specialty TV channels). The strategy allows companies to reduce labour,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administrative and material costs, to use the same media content across several media outlets, to attract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increased advertising by providing advertisers with package deals and one-stop shopping for a number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platforms, and to increase brand recognition and brand loyalty among audiences through cross-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promotion and cross-selling. At the same time, it raises significantly the barriers to newcomers seeking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enter media markets, thus limiting competition for converged companies.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DI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Digital Cinemas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CINEMA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have become increasingly interested in studying new aesthetic forms that have emerged in response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the potentials of digital media. One such area of interest is digital cinema. Digital cinema can refer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different things, ranging from the use of digital cameras in film production or digital projection in film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exhibition to the use of the web as a delivery system for films. The Digital Cinema conference explored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different aspects of this topic.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SDTV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Standard digital television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HDTV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High definition television </a:t>
            </a:r>
            <a:endParaRPr lang="ko-KR" altLang="en-US" dirty="0" smtClean="0" sz="1097"/>
          </a:p>
          <a:p>
            <a:pPr marL="0" indent="0" defTabSz="15240" algn="l">
              <a:lnSpc>
                <a:spcPts val="6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43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MASS MEDIA IN PRESENT 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Books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Magazines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organs are surviving, no one wiped out, everyone has a role and its own audience/readers/users.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Common man is getting an overall impact of all of these.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Books – still a charm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Fiction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Science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Poetry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Children / women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Travelogue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Albums / stamp collections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Text books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Economics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Medicine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History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Dictionaries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E-books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descending order of number of new titles per year, as of 1996.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1.								United Kingdom (1996) 107,263, (2005) 206,000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2.								China (1994) 100,951 (close second)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3.								United States (1996) 68,175, (2005) 172,000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4.								Germany (1996) 71,515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5.								Japan (1996) 56,221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6.								Spain (1996) 46,330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7.								Russian Federation (1996) 36,237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8.								Italy (1996) 35,236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9.								France (1995) 34,766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10.				Netherlands (1993) 34,067 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[</a:t>
            </a:r>
            <a:endParaRPr lang="ko-KR" altLang="en-US" dirty="0" smtClean="0" sz="70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Magazine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Types of magazines: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Academic journals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Architecture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Art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Business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Car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Children's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Computer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Health and fitness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History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Home and furniture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Humor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Inspirational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Literacy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Literary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Luxury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Men's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Music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News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Online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Pet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Politics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Pornographic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Pulp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Railroad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Regional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Religion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Satirical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Sport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Science magazines and scientific journals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Teen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Wildlife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	Women's magazines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demographic, specific, weather, trains, flights services more, entertaining, talk style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attractive, interactive – telephone calls, free on mobile phones, FM popular on the increase, also on internet.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TV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Flat screen, LDCs, Plazma,digital, IPT, channels increasing. People get a media mix, influenced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every category according to age, education etc. All mass com organs intact only fluctuation none died.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Mass media – overall impact on people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Having an over all impact on politics, democracy, people’s rights, economics, culture, globalization,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conflict resolving, bringing people closer. </a:t>
            </a:r>
            <a:endParaRPr lang="ko-KR" altLang="en-US" dirty="0" smtClean="0" sz="1097"/>
          </a:p>
          <a:p>
            <a:pPr marL="0" indent="0" defTabSz="15240" algn="l">
              <a:lnSpc>
                <a:spcPts val="29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44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CRITICISM ON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Mass media has been having its influence on societies in a number of ways. Due to its colossal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impact in shaping up the society it at the same time faces severe criticism from all around. People who resist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change in lifestyle and social norms are not seeing the mass media as doing more service to society as it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proving destructive.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previous chapters we have studied how the media has been beneficial in pushing up economic activities,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boosting literacy and bringing about political awareness and democracy. Here below we will examine what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areas of mass communication are target of general criticism.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Conceals more than it reveals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foremost charge on the media, especially the news media, is that it only tells people half-truth.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Better part of a story is falling victim to gate-keepers or those who filter facts before passing them on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common people. At crisis times like wars or political chaos media only tells facts which the interest groups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want to appear before masses. Media hardly believe, or make an effort, to tell the whole truth about any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matter of general interest. Leaving people guessing about the untold part of the story is tantamount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serious offense. 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Exaggerates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has become a habit of media to blow up out of proportion some issues of sensitive nature which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creates so much panic among the people (authorities) who than instead finding a lasting solution of those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issues just try to hush up the matters. Government departments and many other agencies which counter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situations frequently are finding no way out to stop media from doing so.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Sensationalize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Perhaps the most commonly leveled charge against media is its chronic approach to sensationalize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matters of routine life. In a murder story the media would go to find some juicy thing out of nothing.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small tip from any person around may make a media person to build a spicy story which may attract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common people. More than often, the facts on which media build story prove wrong by later investigations.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 world and leading sportspersons are always worried as media would quickly fabricate a story on finding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small bit of something like shaking hands with certain people by a film star; - think if a top police officer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inviting a noted film personality over a cup of tea – a storm is likely to be made in the media.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Damages cultural and family traditions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way certain things appear in the mass media is seen a direct attack on peoples’ lifestyle, belief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normal social life. Bold pictures of women in the name of esthetics, out of proportion images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sportspersons – again women especially, behaviour of characters in a radio or TV drama, dances in films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smoking and drinking actions – all have invited severe disapproval of common people who strongly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argue that such an attitude of media is hurting the cultural norms and the family set up. As a result people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 not allow certain TV channels be tuned, or some magazines to be dropped at their homes. Certain music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not liked to be played at family gatherings and there is always uproar when an offensive or bold billboard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appears on a busy thoroughfare.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Biasness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bias at times is too clear to be ignored. Siding with political parties, or showing despise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certain government functionaries, at times persons like ministers – is a common sight. But it works both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sides; the government controlled media in all the countries show a visible tilt towards the government while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giving a bashing to the opposition and on the other hand private sector media – newspapers and TV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channels, remain occupies to lash out at the government actions and allowing the opposition to drag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matters in the public which should have been talked about in the parliament. The media bias some time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visible on regional, ethnic and linguistic grounds only damaging a society rather than bringing people closer.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Sold to interest groups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is generally done covertly. Media is under fire all across the world for selling space to interest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groups-political people in the developing countries and the economic interests in the advanced countries.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Commercialism-trend is to mislead people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it is little modern phenomenon, media is largely considering its commercial interest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than what common people expect from it on pure professional ground. With huge money given to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way of, generally speaking, advertisements are one way of molding media in the favour of rich.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can’t openly say against individuals and corporate sector even if a scam of billions of rupees (and dollars)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takes place. Land grabbers, tax evaders and the ones misappropriating authority can easily gag media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currency wads.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Pictures of killings – unethical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True it may be but sometime revealing a fact in an ugly manners leave a bad taste in the mouth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many. Large part of media blatantly refutes to follow ethics which may cause intense pain to common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people. At the time of breakfast when you are starting the day, if you find body of a slain person dipped in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pool of blood is enough to haunt you all day at your working place. Not only this, some headlines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describe a crime in most horrible way also leave a mark on your mind which remains occupied by the ugly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side of the event which could have been easily avoided had media followed professional way of putting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forward the matter.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Private life, obscenity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people, including the ones living in hall-of-fame have a private life. Media for its personal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interest keep peeping into the private life affairs of famous people and report matters to public which may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ruin life of the stars. Female coming at the top of show biz are the most-hunted target. Media does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hesitate in playing up their images which look highly offensive if put on newspapers or magazines pages, no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matter those poses were meant for a momentary demand for certain actions during a shoot of feature films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even a commercial camerawork.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Blackmails governments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is blamed for blackmailing even strongest of governments. At times autocratic governments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find no way but get blackmailed by popular media. Little wonder if there is a general perception that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stand for arm-twisting of people who are at the helm of political or financial authority. </a:t>
            </a:r>
            <a:endParaRPr lang="ko-KR" altLang="en-US" dirty="0" smtClean="0" sz="1097"/>
          </a:p>
          <a:p>
            <a:pPr marL="0" indent="0" defTabSz="15240" algn="l">
              <a:lnSpc>
                <a:spcPts val="30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32830" y="4779010"/>
            <a:ext cx="865505" cy="8413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45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RECAP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What is photography?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Method of recording permanent images by light on to a chemically sensitive material is called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photography. It was developed in the 19th century through the artistic aspirations of two Frenchmen,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Nicéphore Niepce and Louis-Jacques-Mandé Daguerre, whose combined discoveries led to the invention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commercially successful process, the daguerreotype in 1837.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Stop-Action Photography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E. J. Marey, the painter Thomas Eakins, and Eadweard Muybridge all devised means for making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stop-action photographs that demonstrated the gap between what the mind thinks it sees and what the eye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actually perceives.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1881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 Halftone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1888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 George Eastman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 Introduction of roll film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Motion Pictures – A New Way in Mass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Definition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Motion picture means movie-making as an art and an industry, including its production techniques,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 creative artists and the distribution and exhibition of its products.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Start in unbelievable fashion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started with a $25,000 bet, in 1877 that was a lot of money. Edward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Muybridge, an Englishman tuned American, needed to settle a bet. Some people argued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a galloping horse had all four feet off of the ground at the same time at some point;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others said this would be impossible. No feet touching the ground; how could that be?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problem was that galloping hooves move too fast for the eye to see. Or, maybe,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depending on your belief, just fast enough that you could see what you wanted to. To settle the bet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definitive proof was needed.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 an effort to settle the issue once and for all an experiment was set up in which a rapid sequence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photos was taken of a running horse. When the pictures were developed it was found that the horse did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indeed have all four feet off the ground during brief moments, thus, settling the bet. But, in doing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experiment they found out something else — something that becomes obvious from the illustrations below.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a series of still photos are presented sequentially, an illusion of motion is created. That discovery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would soon make that $25,000 look like pocket change.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1889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Thomas Edison and his staff developed the kinetograph, a camera using rolls of coated celluloid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film, and the Kinetoscope, a device for peep-show viewing using photographs that flipped in sequence.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1895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Lumière brothers, France, created the first projection device, the Cinematograph.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1905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movie theater, complete with luxurious accessories and a piano, was built in Pittsburgh.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nickel was charged for admission, and the theater was called the nickelodeon.  </a:t>
            </a:r>
            <a:endParaRPr lang="ko-KR" altLang="en-US" dirty="0" smtClean="0" sz="1097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Films had slowly been edging past the 20 minute mark, but the drive to feature-length works began with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Italian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Spectacle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(1913), running nine reels or about two hours.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American Edwin S. Porter realized and demonstrated that scenes photographed in widely separate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locales could be cut/ edited, together yet still not be confusing to the audience. His subject matter tended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toward depictions of modern life; his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Life of an American Fireman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(1902) and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The Great Train Robbery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(1903)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among the first works to use editing as well as acting and stagecraft to tell their stories.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1926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Successful experiments in sound effects and music.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1927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1927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ceremony.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Measures taken by the Film industry to beat Television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Motion Picture/Film in South Asia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Paris. The following year, they brought the show to India and held its premiere at the Watson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Hotel in Bombay on 7th July 1896.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Phalke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200 films were produced.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Calcutta,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Hira lal Sen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photographed scenes from some of the plays at the Classic Theatre. Such films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shown as added attractions after the stage performances.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Mohini Bhasmasur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(1914), significant for introducing the first woman to act before the cameras – Kamala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bai Gokhale.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Madan Theatres of Calcutta produced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Shirin Farhad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and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Laila Majnu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(1931).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Legends of South Asian Film Industry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V. Shantaram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Ayodhya ka Raja (1932)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Admi (1939)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Duniya Na Mane (1937)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Mehboob Khan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Roti (early 1940s)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Aurat (1940)  </a:t>
            </a:r>
            <a:endParaRPr lang="ko-KR" altLang="en-US" dirty="0" smtClean="0" sz="1097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150</a:t>
            </a:r>
            <a:endParaRPr lang="ko-KR" altLang="en-US" dirty="0" smtClean="0" sz="1200"/>
          </a:p>
        </p:txBody>
      </p:sp>
      <p:sp>
        <p:nvSpPr>
          <p:cNvPr id="341" name="Rect 3"/>
          <p:cNvSpPr>
            <a:spLocks noGrp="1" noChangeArrowheads="1"/>
          </p:cNvSpPr>
          <p:nvPr/>
        </p:nvSpPr>
        <p:spPr>
          <a:xfrm rot="0">
            <a:off x="1188720" y="2529840"/>
            <a:ext cx="5457190" cy="40112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Spoken dialogue was successfully introduced in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The Jazz Singer. </a:t>
            </a:r>
            <a:endParaRPr lang="ko-KR" altLang="en-US" dirty="0" smtClean="0" sz="1097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Lights of New York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got more popular among public. 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Motion Picture Academy of Arts and Sciences was formed and began an annual awards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Oscar Award.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Stereophonic sound system was introduced.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Cinemascope film.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Introduction of glamour in movies.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Diverse topics/ subjects. 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Lumier Brothers of France exhibited their short films in December 1895 at Grande Cafe,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 package of 6 films.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Raja Harishchandra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(1913) – first silent feature film of subcontinent, made by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	Dadasaheb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1913-1930s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Ardeshir Irani's Alam Ara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(1931) – first talky film.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Mother India (1957)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Bimal Roy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Udayer Pathey (1944)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 Bigha Zamin (1953)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Raj Kapoor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Aag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Awara (1951)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Pakistan film industry’s shared-history from 1896-1947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silent film from Lahore was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The Daughter of Today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released in 1924 and the inaugural Punjabi talkie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 from Lahore was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Heer Ranjha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 1932.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Daughter of Today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Premier Film Company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Released in: 1924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The first ever silent film from Punjab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Actors: A.K.Kardar, Wilayat Begum, M. Ismael, Vijay Kumar, Heera Lal, Master Ghulam Qadir, G.K.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Mehta.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Alam Ara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Inaugural Urdu/Hindi Indo-Pak feature film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Imperial Film Company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Urdu/Hindi (124 minutes; black &amp; white)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Released on: Saturday, March 14, 1931 (Capital cinema Lahore)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Actors: Zubaida (Alam Ara), Master Vitthal (Adil), J. Sushila (as Sushila), Jillo Bai, Prithviraj Kapoor,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Elizer, Wazir Mohammed Khan, Jagdish Sethi and L.V. Prasad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Music:  Ferozshah and B. Irani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Heer Ranjha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First ever Punjabi feature film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Realesed in: 1932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Actors: Anwari Begum, Rafiq Ghazniv, Gul Hameed, Lala Yaqoob, M. Ismael, Fazal Shah, Walait Begum.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Khazanchi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Pancholi Art Pictures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Released in: 1941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Music director: 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Master Ghulam Haidar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Introduced baby Noor Jehan as playback singer.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Anmol Gharri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Mehboob Production Ltd. (Bombay-Lahore)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Urdu/Hindi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Realesed in: 1946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Actors: Noor Jehan, Surender, Surayya, Zahoor Raja, Leela Mishra, Anwari Begum, Bhudo Anvari,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Murad.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Music:		Naushad Ali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Lyrics: Tanvir Naqvi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Shamshad Begum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	(born in Lahore) was the first generation of top Punjabi film singers. (followed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Zubaida Khanum (in the 50s) and Madam Noor Jehan (from 40s-90s), respectively).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Mohammad Rafi,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famous singer of Indian film industry, was from Punjab, Lahore.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Shukat Hussain Rizvi, Director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J U G N U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last Big "Pakistani" film before partition 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Shoukat Arts Productions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Urdu/Hindi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Released in: 1946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Actors: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Yousaf Khan (Dilip Kumar), Noor Jahan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Singers: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Madam Noor Jehan, Mohammad Rafi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Teri Yaad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Released on: Saturday, August 7, 1948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Phairay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Producer and Director: Nazir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 - Music: G. A. Chishti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Changes Introduced by Films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Propaganda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conveyed in order to support and spread a particular opinion or point of view, engaging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emotions of the audience. In another manner it could be said as the planned dissemination of news,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information, special arguments, and appeals designed to influence the beliefs, thoughts, and actions of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specific group."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term propaganda carries many definitions. Harold Lasswell, a pioneer of propaganda studies, defines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"the management of collective attitudes by the manipulation of significant symbols." Like other social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scientists, he emphasizes its psychological elements: propaganda was a subconscious manipulation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psychological symbols to accomplish secret objectives. Subsequent analysts stressed that propaganda was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planned and deliberate act of opinion management.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Types of Propaganda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Modern practitioners of propaganda utilize various schemes to classify different types of propaganda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activities. One such categorization classifies propaganda as: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White Propaganda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Grey Propaganda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Black Propaganda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Marconi recognized as radio inventor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1896 Guglielmo Marconi was awarded what is sometimes recognized as the world's first patent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radio with British Patent 12039,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Improvements in transmitting electrical impulses and signals and in apparatus there-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for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In 1897 he established the world's first Radio Station on the Isle of Wight, England. The same year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USA, some key developments in radio's early history were created and patented by Nikola Tesla.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 Patent Office reversed its decision in 1904, awarding Guglielmo Marconi a patent for the invention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radio, possibly influenced by Marconi's financial backers in the States, who included Thomas Edison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Andrew Carnegie. Some believe this was done to allow the US Government to avoid having to pay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royalties that were being claimed by Nikola Tesla for use of his patents.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Effects of Radio on society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proved far more effective in mass communication as compared to the print media.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property of radio which did not require transportation of the message drew immense attention of common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152</a:t>
            </a:r>
            <a:endParaRPr lang="ko-KR" altLang="en-US" dirty="0" smtClean="0" sz="1200"/>
          </a:p>
        </p:txBody>
      </p:sp>
      <p:sp>
        <p:nvSpPr>
          <p:cNvPr id="346" name="Rect 3"/>
          <p:cNvSpPr>
            <a:spLocks noGrp="1" noChangeArrowheads="1"/>
          </p:cNvSpPr>
          <p:nvPr/>
        </p:nvSpPr>
        <p:spPr>
          <a:xfrm rot="0">
            <a:off x="1188720" y="2843530"/>
            <a:ext cx="5332095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Entertainment.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Cinema houses - a new business.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Jobs in thousands for acting, direction, music, sets, lighting, recording, cinematography etc.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Billboards all over in so much color - landscape changed.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Manifested culture and in return influenced culture – dresses, languages, living style, harmony etc.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Strong expression against hated figures in society, oppressors - at least can see on screen.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Boldness, vulgarity, obscenity – the dark side of films.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and investors in the field of mass media. Once the radio technology was recognized as an effective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mean of communication, there was a race among companies and individuals to have their own radio facility.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Television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is the process of capturing photographic images, converting them into electrical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impulses, and then transmitting the signal to a decoding receiver. Conventional transmission is by means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electromagnetic radiation, using the methods of radio.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Among the technical developments that have come to dominate our lives, television is surely one of the top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few.  In the developed world, the average household watches television for seven hours per day,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helps to explain why news, sports, and educational entities, as well as advertisers, value the device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TV changes some basic concepts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is largely responsible for bringing about so many social, cultural and economic changes-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too with rapid speed, and is considered as one major factor to help globalize human thinking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understanding on various matters by fully exploiting all the elements possible in visual communication,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say broadcasting. More on this aspect will be discussed in a coming lecture.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1935, mechanical systems for transmitting black-and-white images were replaced completely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electronic methods that could generate hundreds of horizontal bands at 30 frames per second. Vladimir K.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Zworykin, a Russian immigrant who first worked for Westinghouse, patented an electronic camera tube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based on the cathode tube. Philo T. Farnsworth and Allen B. Dumont, both Americans, developed a pickup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tube that became the home television receiver by 1939.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are currently 3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main television transmission standards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used throughout the world: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NTSC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 National Television Standards Committee. The oldest existing standard, developed in the USA.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used in 1954. Consists of 525 horizontal lines of display and 60 vertical lines.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SECAM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 Système Électronique pour Couleur avec Mémoire. Developed in France. First used in 1967.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625-line vertical, 50-line horizontal display.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PAL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- Phase Alternating Line. Developed by German engineer Walter Bruch who patented his invention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1963 and the first commercial application of the PAL system was in August 1967. Also a 625/50-line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display and alternative of NTSC. Proponents call it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"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erfection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L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ast." 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Television in Pakistan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Evening Transmission only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broadcast was limit to five hours, from 6 pm to 11 pm with one weekly holiday on Monday.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would sit in front of the set from the signature tune, women would finish household errands,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children doing their homework much before the first images of the day, usually recitation from the holy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Quran. Hardly a person would move away till the national anthem was played to mark end of the day’s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transmission. Due to the immense interest for watching the moving images and the restricted timings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transmission, the work-schedule of many was now changed.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Live Broadcast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most prominent feature of PTV’s early years was the live transmission for it did not have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recording facilities. It was not the news to be read in real time only, but the talks, plays and music was also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broadcast live. It was a unique experience for all the directors, producers, performers and the technical staff.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Hardly one can imagine now that there had been such an exceptional time in PTV’s life.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Many radio artists seemed moving to and fro between radio station and the PTV building next door to accomplish the task of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live transmission and rehearsals.</a:t>
            </a:r>
            <a:endParaRPr lang="ko-KR" altLang="en-US" dirty="0" smtClean="0" sz="1097" i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153</a:t>
            </a:r>
            <a:endParaRPr lang="ko-KR" altLang="en-US" dirty="0" smtClean="0" sz="1200"/>
          </a:p>
        </p:txBody>
      </p:sp>
      <p:sp>
        <p:nvSpPr>
          <p:cNvPr id="349" name="Rect 3"/>
          <p:cNvSpPr>
            <a:spLocks noGrp="1" noChangeArrowheads="1"/>
          </p:cNvSpPr>
          <p:nvPr/>
        </p:nvSpPr>
        <p:spPr>
          <a:xfrm rot="0">
            <a:off x="1645920" y="956945"/>
            <a:ext cx="643890" cy="33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Peace time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War time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PTV and the unforgettable War of Sept. 1965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September 1965 war with India was a testing time for the whole nation. Nothing was above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country’s defense. The PTV Lahore station did the heroics it still gets credit for. Its OB teams went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borders and captured some incredible images of the battlefield. Nothing more could have excited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seeing with their own eyes Pakistan Army’s jawans invading Indian posts, destroying them and capturing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enemy’s land across the border. With madam Noor Jahan’s spirited national songs in the backdrop,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PTV’s showings worked as a catalyst to fuel the passion for national defense.  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PTV goes colored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Though the Islamic conference coverage was very successful, many thought it would have been far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better had it been a colored transmission.  Another reason to do away with the black and white broadcast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that in most part of the world the TV transmission was getting colored and companies were now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making parts for the equipment used in the B/W transmission. The day came soon when in 1976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COLOUR TRANSMISSION STARTED on experimental basis.  Regular Color transmission started from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Feb 18, 1982.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Effects of television on society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broadcast has broad effects on the society all around the world. The strong verbal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non verbal combination and the facility to highlight different subject matters created one of the most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important impressions in mass media.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are so many angles to see as to what extent TV has brought about changes in daily life of people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nations as well.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Here we will see some of the key changes affected by TV transmissions in general.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Public Relations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Definition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attention.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publics to build, manage and sustain a positive image.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Relations is a management function which tabulates public attitudes, defines the policies,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procedures and interest of an organization followed by executing a program of action to earn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understanding and acceptance. "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planned effort to influence opinion through good character and responsible performance based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upon mutual satisfactory two-way communication".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Methodology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relations describes the various methods a company uses to disseminate messages about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products, services, or overall image to its customers, employees, stockholders, suppliers, or other interested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members of the community. The point of public relations is to make the public think favorably about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company and its offerings.  </a:t>
            </a:r>
            <a:endParaRPr lang="ko-KR" altLang="en-US" dirty="0" smtClean="0" sz="1097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154</a:t>
            </a:r>
            <a:endParaRPr lang="ko-KR" altLang="en-US" dirty="0" smtClean="0" sz="1200"/>
          </a:p>
        </p:txBody>
      </p:sp>
      <p:sp>
        <p:nvSpPr>
          <p:cNvPr id="352" name="Rect 3"/>
          <p:cNvSpPr>
            <a:spLocks noGrp="1" noChangeArrowheads="1"/>
          </p:cNvSpPr>
          <p:nvPr/>
        </p:nvSpPr>
        <p:spPr>
          <a:xfrm rot="0">
            <a:off x="1188720" y="4258310"/>
            <a:ext cx="5457190" cy="3657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Seeing is believing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Changes in timings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Fashion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Household entity and change in habits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Increasing general know-how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Cultural changes and influences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Institutional transformation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Aspect of communications that involves promoting a desirable image for a person or group seeking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Public relations (PR) is the art of managing communication between an organization and its key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One of the earliest definitions of PR was coined by Edward Bernays. According to him, "Public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According to two American PR professionals Scott M. Cutlips and Allen H. Center, "PR is a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Tools employed for PR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Commonly used tools of public relations include: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Public relations involves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with its publics.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Specializations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Lobby groups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Lobby groups are established to influence government policy, corporate policy, or public opinion.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groups purport to represent a particular interest. When a lobby group hides its true purpose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support base it is known as a front group.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Astroturfing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Creating an artificial "grassroots" movement is known as astroturfing. A typical example would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writing of letters to multiple newspaper editors under different names to express an opinion on an issue,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creating the impression of widespread public feeling but being controlled by one central entity.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Spin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public relations,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spin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a, sometimes critical term signifying a heavily biased portrayal in one's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 favor of an event or situation. While traditional public relations may also rely on creative presentation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facts, "spin" often, though not always, implies, deceptive and/or highly manipulative tactics.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Politicians are often accused of spin by commentators and political opponents, when they produce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counter argument or position.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beyond Print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Covert advertising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embedded in other entertainment media is known as product placement.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more recent version of this is advertising in film, by having a main character use an item or other of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definite brand - an example is in the movie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Minority Report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where Tom Cruise's character Tom Anderton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owns a computer with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Nokia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logo clearly written in the top corner, or his watch engraved with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Bulgari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logo. Another example of advertising in film is in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I, Robot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where main character played by Will Smith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155</a:t>
            </a:r>
            <a:endParaRPr lang="ko-KR" altLang="en-US" dirty="0" smtClean="0" sz="1200"/>
          </a:p>
        </p:txBody>
      </p:sp>
      <p:sp>
        <p:nvSpPr>
          <p:cNvPr id="355" name="Rect 3"/>
          <p:cNvSpPr>
            <a:spLocks noGrp="1" noChangeArrowheads="1"/>
          </p:cNvSpPr>
          <p:nvPr/>
        </p:nvSpPr>
        <p:spPr>
          <a:xfrm rot="0">
            <a:off x="1645920" y="956945"/>
            <a:ext cx="5454015" cy="4309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News releases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Press conferences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Speaking engagements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Community service programs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Evaluation of public attitudes and opinions.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Formulation and implementation of an organization's procedures and policy regarding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Coordination of communications programs.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Developing rapport and good-will through a two way communication process.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Fostering a positive relationship between an organization and its public constituents. 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Property development &amp; real estate PR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Retail sector PR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Agricultural PR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Food service PR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Health care PR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Technology/IT PR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Public affairs PR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On-line PR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Financial/investor relations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Not-for-profit PR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Crisis communication PR 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mentions his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Converse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shoes several times, calling them "classics," because the film is set far in the future.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Cadillac chose to advertise in the movie The Matrix Reloaded, which as a result contained many scenes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Cadillac cars were used. Similarly, product placement for Omega Watches, BMW and Aston-Martin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cars are featured in recent James Bond films, most notably,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Casino Royale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Media—Audio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most common audio advertising media is FM radio. Placement of an advertisement on FM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costs about as much as an advertisement placed in a metropolitan newspaper. However, radio is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dynamic than print alternatives because it allows the advertiser essentially to talk with the consumer. Indeed,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small business consultants believe that an entertaining and informative radio advertising campaign can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 a major asset. Nonetheless, some analysts contend that small business owners should proceed cautiously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deciding to rely exclusively on radio advertising. Indeed, most businesses incorporate a media mix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attempting to sell their products or services, utilizing radio advertising in concert with print and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media. The key for small business owners is to study what types of advertising best suits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products and services and to use that media to spearhead their advertising campaign.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TV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TV commercial is generally considered the most effective mass-market advertising format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is reflected by the high prices TV networks charge for commercial airtime during popular TV events.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annual Super Bowl football game in the United States is known as much for its commercial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advertisements as for the game itself, and the average cost of a single thirty-second TV spot during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game has reached $2.5 million (as of 2006).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Virtual advertisements may be inserted into regular television programming through computer graphics.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typically inserted into otherwise blank backdrops or used to replace local billboards that are not relevant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the remote broadcast audience. More controversially, virtual billboards may be inserted into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background where none existing in real-life. Virtual product placement is also possible. Increasingly,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mediums such as those discussed below are overtaking television due to a shift towards consumer's usage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Internet.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Evaluation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Once the advertising campaign is over, companies normally evaluate it compared to the established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goals. An effective tactic in measuring the usefulness of the advertising campaign is to measure the pre-and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post-sales of the company's product. In order to make this more effective, some companies divide up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country into regions and run the advertising campaigns only in some areas. The different geographic areas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then compared (advertising versus non-advertising), and a detailed analysis is performed to provide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evaluation of the campaign's effectiveness. Depending on the results, a company will modify future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efforts in order to maximize effectiveness.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Campaign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advertising campaign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a series of advertisement messages that share a single idea and theme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make up an integrated marketing communication (IMC). Advertising campaigns appear in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across a specific time frame.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critical part of making an advertising campaign is determining a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campaign theme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as it sets the tone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individual advertisements and other forms of marketing communications that will be used. The campaign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theme is the central message that will be communicated in the promotional activities. The campaign themes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usually developed with the intention of being used for a substantial period but many of them are short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lived due to factors such as being ineffective or market conditions and/or competition in the marketplace.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Forms of Advertising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can take a number of forms, including advocacy, comparative, cooperative, and direct-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mail, informational, institutional, outdoor, persuasive, product, reminder, point-of-purchase, and specialty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156</a:t>
            </a:r>
            <a:endParaRPr lang="ko-KR" altLang="en-US" dirty="0" smtClean="0" sz="1200"/>
          </a:p>
        </p:txBody>
      </p:sp>
      <p:sp>
        <p:nvSpPr>
          <p:cNvPr id="358" name="Rect 3"/>
          <p:cNvSpPr>
            <a:spLocks noGrp="1" noChangeArrowheads="1"/>
          </p:cNvSpPr>
          <p:nvPr/>
        </p:nvSpPr>
        <p:spPr>
          <a:xfrm rot="0">
            <a:off x="1188720" y="8973185"/>
            <a:ext cx="1449070" cy="3321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Advocacy Advertising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Comparative Advertising 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Objectives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objectives are the communication tasks to be accomplished with specific customers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a company is trying to reach during a particular time frame. A company that advertises usually strives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achieve one of four advertising objectives: trial, continuity, brand switching, and switchback. Which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four advertising objectives is selected usually depends on where the product is in its life cycle.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Public perception of the medium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advertising and marketing efforts become increasingly ubiquitous in modern Western societies,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industry has come under criticism of culture jamming which criticizes the media and consumerism using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advertising's own techniques. The industry is accused of being one of the engines powering a convoluted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economic mass production system which promotes consumption. Recognizing the social impact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advertising, Media-watch-uk, a British special interest group, works to educate consumers about how they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can register their concerns with advertisers and regulators. It has developed educational materials for use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schools. The award-winning book, Made You Look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How Advertising Works and Why You Should Know,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former Media-watch (a feminist organisation founded by Ann Simonton not linked to media-watch-uk)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president Shari Graydon, provides context for these issues for young readers.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Media Theories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term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media theory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refers to a model that explains the relationship between media and social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reality. Media as an enterprise holds a unique  status – from one way it is like an industry which gives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products and service and earn money but from another way media is supposed to talk about society, people,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attitude, interaction, guidance and the most crucial and sensitive, criticism.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criticism media does-on individuals, business sector and the governments, pinches many in many ways.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If media does not perform this function, it is rendered redundant.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 Media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a term that describes traditional forms of media that have been transformed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advancements in digital technology and digital computing.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What is classed as New Media?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Web Sites including Blogs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Email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CD/DVD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Electronic kiosks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Virtual worlds 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157</a:t>
            </a:r>
            <a:endParaRPr lang="ko-KR" altLang="en-US" dirty="0" smtClean="0" sz="1200"/>
          </a:p>
        </p:txBody>
      </p:sp>
      <p:sp>
        <p:nvSpPr>
          <p:cNvPr id="361" name="Rect 3"/>
          <p:cNvSpPr>
            <a:spLocks noGrp="1" noChangeArrowheads="1"/>
          </p:cNvSpPr>
          <p:nvPr/>
        </p:nvSpPr>
        <p:spPr>
          <a:xfrm rot="0">
            <a:off x="1645920" y="643255"/>
            <a:ext cx="1741170" cy="6546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Cooperative Advertising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Direct-Mail Advertising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Informational Advertising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Institutional Advertising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Outdoor Advertising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Persuasive Advertising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Product Advertising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Reminder Advertising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Point-of-Purchase Advertising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Specialty Advertising  </a:t>
            </a:r>
            <a:endParaRPr lang="ko-KR" altLang="en-US" dirty="0" smtClean="0" sz="1097"/>
          </a:p>
          <a:p>
            <a:pPr marL="0" indent="0" defTabSz="15240" algn="l">
              <a:lnSpc>
                <a:spcPts val="3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Authoritarian Theory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Libertarian Theory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Soviet Theory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Social Responsibility Theory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Interactive Television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Internet Telephony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Mobile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Pod-cast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Hypertext Fiction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Disadvantages in the Use of New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While most advertising and marketing agencies have cited the use of New Media as a positive force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reaching new and old customers alike, a prevalent concern amongst companies that wish to remain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competitive in today's digital markets is the rapid rate at which new media changes, and can be changed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any number of sources. While the new level of communication between customers and those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providing any kind of service is generally beneficial, it also allows for more methods by which unhappy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consumers may disproportionately voice their concerns, in relation to their actual overall sampling size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amongst consumers as a whole.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negative result of the implementation of new media advertising and marketing is generally regarded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being cost-related. As New Media forms are almost exclusively digital in nature, the cost of initial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establishment and then the upkeep of the equipment, resources, and manpower needed may pose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significant problem for smaller businesses. It has been said that in this way, the worldwide trend towards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reliance on New Media for such means may very well be a move towards further corporate globalization,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downfall of smaller businesses that can't compete with such new technological means.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Globalization of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Globalization is a buzz word these days. It is more heard in the arena of economics where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transnational corporations are widening their scope of activities and earning massively. So strong is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thrust for expansionism by the world corporate sectors that governments and other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organizations like the UNO etc also at times seem to be only working for the cause of this sector. The wave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globalization is not without criticism such as it is designed to make a few rich and the rest poor not only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financial sense but also culturally. The debate is raging high.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Media Mergence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Every time a new technology is introduced in the sphere of mass media and a new media organ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created, there appears a situation where new form of mass communication gets its source material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organs already in vogue.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mediated communication which is always based on certain technology also needs contents which must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 made the main area of mass communication. Hardly there has been a situation when a new technology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has also brought altogether new topics to be talked about with the help of new science.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From Print to Electronic Amalgamation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 media had been enjoying a unique distinction in the society for almost four hundred years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in the first quarter of the 20th century radio was introduced on the basis of electromagnetic waves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technology. It was first time that the people experienced a wireless communication at massive scale.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brought with it listening pleasure – music, talks and news etc. But the nature of contents in news, talk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shows, discussions, educational programmes and comments was not new. More or less it was dealing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same content people had been familiar with over the years because of print media. The only change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new technology. Contents were the same. So one can say that radio was a mergence of print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electronic media as far content were concerned.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Radio, TV mergence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TV was also based on radio wave technology, the carrying of images through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electromagnetic waves gave it a unique distinction and in the eyes of common people TV has been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entity. </a:t>
            </a:r>
            <a:endParaRPr lang="ko-KR" altLang="en-US" dirty="0" smtClean="0" sz="1097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on the content side, TV picked many ideas from radio formats like group discussions, musical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programmes, and commentary on sporting events, and presentation of news. The changes were only due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presence of images.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TV and computer getting one - IPT (Internet protocol TV)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third quarter of the 20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scientists were successful in using the digital technology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carrying contents which were earlier carried only through analog techniques. This led to a marriage between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analog and digital technologies and it is here that the subject of mergence of media has emerged.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new combination is exclusive in the sense that it not only brings the contents of sound and images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together and all the formats of programme remain intact, it at the same time brings the two technologies 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point.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coming years you would be able to use your computer as TV and if you desire, TV set could also be used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computer because most TV sets manufactured after 2006, or so, would carry a chip which would enable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decoding of messages transmitted through digital technology.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So, when we say that the media will converge, we mean that current television shows will merge into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hybrid with World Wide Web style content.  Television shows will have other types of media like text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merged into them, and World Wide Web pages will begin to be temporal entities that tell a story.  Another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way of looking at this is that both your television and your computer will be running a similar super browser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will allow the same content to be viewed on both devices.  Also, to say that the two converge it is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enough to say that you will be able to watch television on your computer-- that merely means that television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content is a sub-set of computer content and is already possible today.  For the two to truly converge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content that can be received by both devices should be the same.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we say that the media will not converge, we mean that television shows and world wide web content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will remain distinct media forms, and that you will use your television for watching television shows,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your computer to view and browse web content.  While both media types may have evolved, they will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remain different from one another.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Criticism on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159</a:t>
            </a:r>
            <a:endParaRPr lang="ko-KR" altLang="en-US" dirty="0" smtClean="0" sz="1200"/>
          </a:p>
        </p:txBody>
      </p:sp>
      <p:sp>
        <p:nvSpPr>
          <p:cNvPr id="366" name="Rect 3"/>
          <p:cNvSpPr>
            <a:spLocks noGrp="1" noChangeArrowheads="1"/>
          </p:cNvSpPr>
          <p:nvPr/>
        </p:nvSpPr>
        <p:spPr>
          <a:xfrm rot="0">
            <a:off x="1645920" y="5672455"/>
            <a:ext cx="2345055" cy="175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Conceals more than it reveals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Exaggerates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Sensationalize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Damages cultural and family traditions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Biasness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Sold to interest groups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Commercialism-trend is to mislead people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Pictures of killings – unethical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Private life, obscenity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Blackmails governments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Introduction to Mass Communication – MCM 101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ulim"/>
        <a:ea typeface=""/>
        <a:cs typeface=""/>
        <a:font script="Jpan" typeface="MS PGothic"/>
        <a:font script="Hang" typeface="Gulim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Oox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ulim"/>
        <a:ea typeface=""/>
        <a:cs typeface=""/>
        <a:font script="Jpan" typeface="MS PGothic"/>
        <a:font script="Hang" typeface="Gulim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PDF Converter</Application>
  <PresentationFormat>On-screen Show</PresentationFormat>
  <Paragraphs>0</Paragraphs>
  <Slides>1</Slides>
  <Notes>0</Notes>
  <HiddenSlides>0</HiddenSlides>
  <MMClips>0</MMClips>
  <HeadingPairs>
    <vt:vector size="4" baseType="variant">
      <vt:variant>
        <vt:lpstr>Theme</vt:lpstr>
      </vt:variant>
      <vt:variant>
        <vt:i4>0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Title text</vt:lpstr>
    </vt:vector>
  </TitlesOfParts>
  <Company>PDFConverter, Inc.</Company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modified xsi:type="dcterms:W3CDTF">2010-06-24T10:54:49Z</dcterms:modified>
</cp:coreProperties>
</file>