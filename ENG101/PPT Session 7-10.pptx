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32"/>
  </p:notesMasterIdLst>
  <p:handoutMasterIdLst>
    <p:handoutMasterId r:id="rId33"/>
  </p:handoutMasterIdLst>
  <p:sldIdLst>
    <p:sldId id="333" r:id="rId2"/>
    <p:sldId id="301" r:id="rId3"/>
    <p:sldId id="346" r:id="rId4"/>
    <p:sldId id="347" r:id="rId5"/>
    <p:sldId id="348" r:id="rId6"/>
    <p:sldId id="350" r:id="rId7"/>
    <p:sldId id="351" r:id="rId8"/>
    <p:sldId id="352" r:id="rId9"/>
    <p:sldId id="349" r:id="rId10"/>
    <p:sldId id="353" r:id="rId11"/>
    <p:sldId id="354" r:id="rId12"/>
    <p:sldId id="355" r:id="rId13"/>
    <p:sldId id="356" r:id="rId14"/>
    <p:sldId id="357" r:id="rId15"/>
    <p:sldId id="358" r:id="rId16"/>
    <p:sldId id="359" r:id="rId17"/>
    <p:sldId id="360" r:id="rId18"/>
    <p:sldId id="361" r:id="rId19"/>
    <p:sldId id="363" r:id="rId20"/>
    <p:sldId id="364" r:id="rId21"/>
    <p:sldId id="365" r:id="rId22"/>
    <p:sldId id="366" r:id="rId23"/>
    <p:sldId id="368" r:id="rId24"/>
    <p:sldId id="369" r:id="rId25"/>
    <p:sldId id="370" r:id="rId26"/>
    <p:sldId id="362" r:id="rId27"/>
    <p:sldId id="372" r:id="rId28"/>
    <p:sldId id="373" r:id="rId29"/>
    <p:sldId id="371" r:id="rId30"/>
    <p:sldId id="334" r:id="rId31"/>
  </p:sldIdLst>
  <p:sldSz cx="9144000" cy="6858000" type="screen4x3"/>
  <p:notesSz cx="6954838" cy="93091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p:cViewPr>
        <p:scale>
          <a:sx n="75" d="100"/>
          <a:sy n="75" d="100"/>
        </p:scale>
        <p:origin x="-1356"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5138"/>
          </a:xfrm>
          <a:prstGeom prst="rect">
            <a:avLst/>
          </a:prstGeom>
        </p:spPr>
        <p:txBody>
          <a:bodyPr vert="horz" lIns="93177" tIns="46589" rIns="93177" bIns="46589"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sz="quarter" idx="1"/>
          </p:nvPr>
        </p:nvSpPr>
        <p:spPr>
          <a:xfrm>
            <a:off x="3940175" y="0"/>
            <a:ext cx="3013075" cy="465138"/>
          </a:xfrm>
          <a:prstGeom prst="rect">
            <a:avLst/>
          </a:prstGeom>
        </p:spPr>
        <p:txBody>
          <a:bodyPr vert="horz" lIns="93177" tIns="46589" rIns="93177" bIns="46589" rtlCol="0"/>
          <a:lstStyle>
            <a:lvl1pPr algn="r" fontAlgn="auto">
              <a:spcBef>
                <a:spcPts val="0"/>
              </a:spcBef>
              <a:spcAft>
                <a:spcPts val="0"/>
              </a:spcAft>
              <a:defRPr sz="1200">
                <a:latin typeface="+mn-lt"/>
                <a:cs typeface="+mn-cs"/>
              </a:defRPr>
            </a:lvl1pPr>
          </a:lstStyle>
          <a:p>
            <a:pPr>
              <a:defRPr/>
            </a:pPr>
            <a:fld id="{90AD5F6D-02C0-4060-9367-A1D1D41DA688}" type="datetimeFigureOut">
              <a:rPr lang="en-US"/>
              <a:pPr>
                <a:defRPr/>
              </a:pPr>
              <a:t>5/8/2018</a:t>
            </a:fld>
            <a:endParaRPr lang="en-US"/>
          </a:p>
        </p:txBody>
      </p:sp>
      <p:sp>
        <p:nvSpPr>
          <p:cNvPr id="4" name="Footer Placeholder 3"/>
          <p:cNvSpPr>
            <a:spLocks noGrp="1"/>
          </p:cNvSpPr>
          <p:nvPr>
            <p:ph type="ftr" sz="quarter" idx="2"/>
          </p:nvPr>
        </p:nvSpPr>
        <p:spPr>
          <a:xfrm>
            <a:off x="0" y="8842375"/>
            <a:ext cx="3013075" cy="465138"/>
          </a:xfrm>
          <a:prstGeom prst="rect">
            <a:avLst/>
          </a:prstGeom>
        </p:spPr>
        <p:txBody>
          <a:bodyPr vert="horz" lIns="93177" tIns="46589" rIns="93177" bIns="46589"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940175" y="8842375"/>
            <a:ext cx="3013075" cy="465138"/>
          </a:xfrm>
          <a:prstGeom prst="rect">
            <a:avLst/>
          </a:prstGeom>
        </p:spPr>
        <p:txBody>
          <a:bodyPr vert="horz" lIns="93177" tIns="46589" rIns="93177" bIns="46589" rtlCol="0" anchor="b"/>
          <a:lstStyle>
            <a:lvl1pPr algn="r" fontAlgn="auto">
              <a:spcBef>
                <a:spcPts val="0"/>
              </a:spcBef>
              <a:spcAft>
                <a:spcPts val="0"/>
              </a:spcAft>
              <a:defRPr sz="1200">
                <a:latin typeface="+mn-lt"/>
                <a:cs typeface="+mn-cs"/>
              </a:defRPr>
            </a:lvl1pPr>
          </a:lstStyle>
          <a:p>
            <a:pPr>
              <a:defRPr/>
            </a:pPr>
            <a:fld id="{0B2A07A4-49E2-4E27-9BF3-5DA6B903AFBA}" type="slidenum">
              <a:rPr lang="en-US"/>
              <a:pPr>
                <a:defRPr/>
              </a:pPr>
              <a:t>‹#›</a:t>
            </a:fld>
            <a:endParaRPr lang="en-US"/>
          </a:p>
        </p:txBody>
      </p:sp>
    </p:spTree>
    <p:extLst>
      <p:ext uri="{BB962C8B-B14F-4D97-AF65-F5344CB8AC3E}">
        <p14:creationId xmlns:p14="http://schemas.microsoft.com/office/powerpoint/2010/main" val="32838953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5138"/>
          </a:xfrm>
          <a:prstGeom prst="rect">
            <a:avLst/>
          </a:prstGeom>
        </p:spPr>
        <p:txBody>
          <a:bodyPr vert="horz" lIns="93177" tIns="46589" rIns="93177" bIns="46589"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940175" y="0"/>
            <a:ext cx="3013075" cy="465138"/>
          </a:xfrm>
          <a:prstGeom prst="rect">
            <a:avLst/>
          </a:prstGeom>
        </p:spPr>
        <p:txBody>
          <a:bodyPr vert="horz" lIns="93177" tIns="46589" rIns="93177" bIns="46589" rtlCol="0"/>
          <a:lstStyle>
            <a:lvl1pPr algn="r" fontAlgn="auto">
              <a:spcBef>
                <a:spcPts val="0"/>
              </a:spcBef>
              <a:spcAft>
                <a:spcPts val="0"/>
              </a:spcAft>
              <a:defRPr sz="1200">
                <a:latin typeface="+mn-lt"/>
                <a:cs typeface="+mn-cs"/>
              </a:defRPr>
            </a:lvl1pPr>
          </a:lstStyle>
          <a:p>
            <a:pPr>
              <a:defRPr/>
            </a:pPr>
            <a:fld id="{8011EF63-2516-4888-817B-3CCA9242EC9A}" type="datetimeFigureOut">
              <a:rPr lang="en-US"/>
              <a:pPr>
                <a:defRPr/>
              </a:pPr>
              <a:t>5/8/2018</a:t>
            </a:fld>
            <a:endParaRPr lang="en-US"/>
          </a:p>
        </p:txBody>
      </p:sp>
      <p:sp>
        <p:nvSpPr>
          <p:cNvPr id="4" name="Slide Image Placeholder 3"/>
          <p:cNvSpPr>
            <a:spLocks noGrp="1" noRot="1" noChangeAspect="1"/>
          </p:cNvSpPr>
          <p:nvPr>
            <p:ph type="sldImg" idx="2"/>
          </p:nvPr>
        </p:nvSpPr>
        <p:spPr>
          <a:xfrm>
            <a:off x="1150938" y="698500"/>
            <a:ext cx="4652962" cy="3490913"/>
          </a:xfrm>
          <a:prstGeom prst="rect">
            <a:avLst/>
          </a:prstGeom>
          <a:noFill/>
          <a:ln w="12700">
            <a:solidFill>
              <a:prstClr val="black"/>
            </a:solidFill>
          </a:ln>
        </p:spPr>
        <p:txBody>
          <a:bodyPr vert="horz" lIns="93177" tIns="46589" rIns="93177" bIns="46589" rtlCol="0" anchor="ctr"/>
          <a:lstStyle/>
          <a:p>
            <a:pPr lvl="0"/>
            <a:endParaRPr lang="en-US" noProof="0"/>
          </a:p>
        </p:txBody>
      </p:sp>
      <p:sp>
        <p:nvSpPr>
          <p:cNvPr id="5" name="Notes Placeholder 4"/>
          <p:cNvSpPr>
            <a:spLocks noGrp="1"/>
          </p:cNvSpPr>
          <p:nvPr>
            <p:ph type="body" sz="quarter" idx="3"/>
          </p:nvPr>
        </p:nvSpPr>
        <p:spPr>
          <a:xfrm>
            <a:off x="695325" y="4421188"/>
            <a:ext cx="5564188" cy="4189412"/>
          </a:xfrm>
          <a:prstGeom prst="rect">
            <a:avLst/>
          </a:prstGeom>
        </p:spPr>
        <p:txBody>
          <a:bodyPr vert="horz" lIns="93177" tIns="46589" rIns="93177" bIns="46589"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842375"/>
            <a:ext cx="3013075" cy="465138"/>
          </a:xfrm>
          <a:prstGeom prst="rect">
            <a:avLst/>
          </a:prstGeom>
        </p:spPr>
        <p:txBody>
          <a:bodyPr vert="horz" lIns="93177" tIns="46589" rIns="93177" bIns="46589"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940175" y="8842375"/>
            <a:ext cx="3013075" cy="465138"/>
          </a:xfrm>
          <a:prstGeom prst="rect">
            <a:avLst/>
          </a:prstGeom>
        </p:spPr>
        <p:txBody>
          <a:bodyPr vert="horz" lIns="93177" tIns="46589" rIns="93177" bIns="46589" rtlCol="0" anchor="b"/>
          <a:lstStyle>
            <a:lvl1pPr algn="r" fontAlgn="auto">
              <a:spcBef>
                <a:spcPts val="0"/>
              </a:spcBef>
              <a:spcAft>
                <a:spcPts val="0"/>
              </a:spcAft>
              <a:defRPr sz="1200">
                <a:latin typeface="+mn-lt"/>
                <a:cs typeface="+mn-cs"/>
              </a:defRPr>
            </a:lvl1pPr>
          </a:lstStyle>
          <a:p>
            <a:pPr>
              <a:defRPr/>
            </a:pPr>
            <a:fld id="{1443BE2F-994E-44FE-AE5A-87D9ADA160E8}" type="slidenum">
              <a:rPr lang="en-US"/>
              <a:pPr>
                <a:defRPr/>
              </a:pPr>
              <a:t>‹#›</a:t>
            </a:fld>
            <a:endParaRPr lang="en-US"/>
          </a:p>
        </p:txBody>
      </p:sp>
    </p:spTree>
    <p:extLst>
      <p:ext uri="{BB962C8B-B14F-4D97-AF65-F5344CB8AC3E}">
        <p14:creationId xmlns:p14="http://schemas.microsoft.com/office/powerpoint/2010/main" val="10621611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4" name="Date Placeholder 29"/>
          <p:cNvSpPr>
            <a:spLocks noGrp="1"/>
          </p:cNvSpPr>
          <p:nvPr>
            <p:ph type="dt" sz="half" idx="10"/>
          </p:nvPr>
        </p:nvSpPr>
        <p:spPr/>
        <p:txBody>
          <a:bodyPr/>
          <a:lstStyle>
            <a:lvl1pPr>
              <a:defRPr/>
            </a:lvl1pPr>
          </a:lstStyle>
          <a:p>
            <a:pPr>
              <a:defRPr/>
            </a:pPr>
            <a:fld id="{916952CD-F53E-4113-9265-90F1D19BDA84}" type="datetimeFigureOut">
              <a:rPr lang="en-US"/>
              <a:pPr>
                <a:defRPr/>
              </a:pPr>
              <a:t>5/8/2018</a:t>
            </a:fld>
            <a:endParaRPr lang="en-US"/>
          </a:p>
        </p:txBody>
      </p:sp>
      <p:sp>
        <p:nvSpPr>
          <p:cNvPr id="5" name="Footer Placeholder 18"/>
          <p:cNvSpPr>
            <a:spLocks noGrp="1"/>
          </p:cNvSpPr>
          <p:nvPr>
            <p:ph type="ftr" sz="quarter" idx="11"/>
          </p:nvPr>
        </p:nvSpPr>
        <p:spPr/>
        <p:txBody>
          <a:bodyPr/>
          <a:lstStyle>
            <a:lvl1pPr>
              <a:defRPr/>
            </a:lvl1pPr>
          </a:lstStyle>
          <a:p>
            <a:pPr>
              <a:defRPr/>
            </a:pPr>
            <a:endParaRPr lang="en-US"/>
          </a:p>
        </p:txBody>
      </p:sp>
      <p:sp>
        <p:nvSpPr>
          <p:cNvPr id="6" name="Slide Number Placeholder 26"/>
          <p:cNvSpPr>
            <a:spLocks noGrp="1"/>
          </p:cNvSpPr>
          <p:nvPr>
            <p:ph type="sldNum" sz="quarter" idx="12"/>
          </p:nvPr>
        </p:nvSpPr>
        <p:spPr/>
        <p:txBody>
          <a:bodyPr/>
          <a:lstStyle>
            <a:lvl1pPr>
              <a:defRPr/>
            </a:lvl1pPr>
          </a:lstStyle>
          <a:p>
            <a:pPr>
              <a:defRPr/>
            </a:pPr>
            <a:fld id="{3818F6CE-251B-44F0-8502-E8610895B411}"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91E09E5F-8BB5-47DB-94C5-04323DF106F7}" type="datetimeFigureOut">
              <a:rPr lang="en-US"/>
              <a:pPr>
                <a:defRPr/>
              </a:pPr>
              <a:t>5/8/2018</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70340E0E-4D21-4B70-9F86-7E7CDAED917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9F5B082-E304-4BB5-BB40-49AF82255956}" type="datetimeFigureOut">
              <a:rPr lang="en-US"/>
              <a:pPr>
                <a:defRPr/>
              </a:pPr>
              <a:t>5/8/2018</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75533A-AC19-455C-A1E0-A5461E6EFD03}"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fld id="{9FEF4102-112F-464F-A685-C025D2FB5CD2}" type="datetimeFigureOut">
              <a:rPr lang="en-US"/>
              <a:pPr>
                <a:defRPr/>
              </a:pPr>
              <a:t>5/8/2018</a:t>
            </a:fld>
            <a:endParaRPr lang="en-US"/>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6D27196A-8238-46E3-8606-FE41D741BA6F}"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9"/>
          <p:cNvSpPr>
            <a:spLocks noGrp="1"/>
          </p:cNvSpPr>
          <p:nvPr>
            <p:ph type="dt" sz="half" idx="10"/>
          </p:nvPr>
        </p:nvSpPr>
        <p:spPr/>
        <p:txBody>
          <a:bodyPr/>
          <a:lstStyle>
            <a:lvl1pPr>
              <a:defRPr/>
            </a:lvl1pPr>
          </a:lstStyle>
          <a:p>
            <a:pPr>
              <a:defRPr/>
            </a:pPr>
            <a:fld id="{78B16039-F495-4505-99E9-3070E9ADA64D}" type="datetimeFigureOut">
              <a:rPr lang="en-US"/>
              <a:pPr>
                <a:defRPr/>
              </a:pPr>
              <a:t>5/8/2018</a:t>
            </a:fld>
            <a:endParaRPr lang="en-US"/>
          </a:p>
        </p:txBody>
      </p:sp>
      <p:sp>
        <p:nvSpPr>
          <p:cNvPr id="8" name="Footer Placeholder 21"/>
          <p:cNvSpPr>
            <a:spLocks noGrp="1"/>
          </p:cNvSpPr>
          <p:nvPr>
            <p:ph type="ftr" sz="quarter" idx="11"/>
          </p:nvPr>
        </p:nvSpPr>
        <p:spPr/>
        <p:txBody>
          <a:bodyPr/>
          <a:lstStyle>
            <a:lvl1pPr>
              <a:defRPr/>
            </a:lvl1pPr>
          </a:lstStyle>
          <a:p>
            <a:pPr>
              <a:defRPr/>
            </a:pPr>
            <a:endParaRPr lang="en-US"/>
          </a:p>
        </p:txBody>
      </p:sp>
      <p:sp>
        <p:nvSpPr>
          <p:cNvPr id="9" name="Slide Number Placeholder 17"/>
          <p:cNvSpPr>
            <a:spLocks noGrp="1"/>
          </p:cNvSpPr>
          <p:nvPr>
            <p:ph type="sldNum" sz="quarter" idx="12"/>
          </p:nvPr>
        </p:nvSpPr>
        <p:spPr/>
        <p:txBody>
          <a:bodyPr/>
          <a:lstStyle>
            <a:lvl1pPr>
              <a:defRPr/>
            </a:lvl1pPr>
          </a:lstStyle>
          <a:p>
            <a:pPr>
              <a:defRPr/>
            </a:pPr>
            <a:fld id="{74C0362C-4CDC-4C2F-8B71-083F3154A2B4}"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Date Placeholder 9"/>
          <p:cNvSpPr>
            <a:spLocks noGrp="1"/>
          </p:cNvSpPr>
          <p:nvPr>
            <p:ph type="dt" sz="half" idx="10"/>
          </p:nvPr>
        </p:nvSpPr>
        <p:spPr/>
        <p:txBody>
          <a:bodyPr/>
          <a:lstStyle>
            <a:lvl1pPr>
              <a:defRPr/>
            </a:lvl1pPr>
          </a:lstStyle>
          <a:p>
            <a:pPr>
              <a:defRPr/>
            </a:pPr>
            <a:fld id="{82486384-4310-4FE7-A27F-76000068401C}" type="datetimeFigureOut">
              <a:rPr lang="en-US"/>
              <a:pPr>
                <a:defRPr/>
              </a:pPr>
              <a:t>5/8/2018</a:t>
            </a:fld>
            <a:endParaRPr lang="en-US"/>
          </a:p>
        </p:txBody>
      </p:sp>
      <p:sp>
        <p:nvSpPr>
          <p:cNvPr id="4" name="Footer Placeholder 21"/>
          <p:cNvSpPr>
            <a:spLocks noGrp="1"/>
          </p:cNvSpPr>
          <p:nvPr>
            <p:ph type="ftr" sz="quarter" idx="11"/>
          </p:nvPr>
        </p:nvSpPr>
        <p:spPr/>
        <p:txBody>
          <a:bodyPr/>
          <a:lstStyle>
            <a:lvl1pPr>
              <a:defRPr/>
            </a:lvl1pPr>
          </a:lstStyle>
          <a:p>
            <a:pPr>
              <a:defRPr/>
            </a:pPr>
            <a:endParaRPr lang="en-US"/>
          </a:p>
        </p:txBody>
      </p:sp>
      <p:sp>
        <p:nvSpPr>
          <p:cNvPr id="5" name="Slide Number Placeholder 17"/>
          <p:cNvSpPr>
            <a:spLocks noGrp="1"/>
          </p:cNvSpPr>
          <p:nvPr>
            <p:ph type="sldNum" sz="quarter" idx="12"/>
          </p:nvPr>
        </p:nvSpPr>
        <p:spPr/>
        <p:txBody>
          <a:bodyPr/>
          <a:lstStyle>
            <a:lvl1pPr>
              <a:defRPr/>
            </a:lvl1pPr>
          </a:lstStyle>
          <a:p>
            <a:pPr>
              <a:defRPr/>
            </a:pPr>
            <a:fld id="{C9CDFC6B-EFF3-406F-BEB1-045325C3EC3D}"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E113D775-0C5D-4406-9BA7-27D221F490A1}" type="datetimeFigureOut">
              <a:rPr lang="en-US"/>
              <a:pPr>
                <a:defRPr/>
              </a:pPr>
              <a:t>5/8/2018</a:t>
            </a:fld>
            <a:endParaRPr lang="en-US"/>
          </a:p>
        </p:txBody>
      </p:sp>
      <p:sp>
        <p:nvSpPr>
          <p:cNvPr id="3" name="Footer Placeholder 21"/>
          <p:cNvSpPr>
            <a:spLocks noGrp="1"/>
          </p:cNvSpPr>
          <p:nvPr>
            <p:ph type="ftr" sz="quarter" idx="11"/>
          </p:nvPr>
        </p:nvSpPr>
        <p:spPr/>
        <p:txBody>
          <a:bodyPr/>
          <a:lstStyle>
            <a:lvl1pPr>
              <a:defRPr/>
            </a:lvl1pPr>
          </a:lstStyle>
          <a:p>
            <a:pPr>
              <a:defRPr/>
            </a:pPr>
            <a:endParaRPr lang="en-US"/>
          </a:p>
        </p:txBody>
      </p:sp>
      <p:sp>
        <p:nvSpPr>
          <p:cNvPr id="4" name="Slide Number Placeholder 17"/>
          <p:cNvSpPr>
            <a:spLocks noGrp="1"/>
          </p:cNvSpPr>
          <p:nvPr>
            <p:ph type="sldNum" sz="quarter" idx="12"/>
          </p:nvPr>
        </p:nvSpPr>
        <p:spPr/>
        <p:txBody>
          <a:bodyPr/>
          <a:lstStyle>
            <a:lvl1pPr>
              <a:defRPr/>
            </a:lvl1pPr>
          </a:lstStyle>
          <a:p>
            <a:pPr>
              <a:defRPr/>
            </a:pPr>
            <a:fld id="{9BE9C15F-A088-4CA2-BC6D-D22ED651012C}"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fld id="{50FFFD69-DB9E-42B0-BEB2-EE3B61C4652A}" type="datetimeFigureOut">
              <a:rPr lang="en-US"/>
              <a:pPr>
                <a:defRPr/>
              </a:pPr>
              <a:t>5/8/2018</a:t>
            </a:fld>
            <a:endParaRPr lang="en-US"/>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03FD29F6-89F0-4E04-B7C1-1C9F92F793CD}"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8"/>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ight Triangle 11"/>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8"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smtClean="0"/>
              <a:t>Click to edit Master title style</a:t>
            </a:r>
            <a:endParaRPr lang="en-US"/>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smtClean="0"/>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smtClean="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fld id="{CE557122-ED19-473B-AC9E-3A15FDAE8A81}" type="datetimeFigureOut">
              <a:rPr lang="en-US"/>
              <a:pPr>
                <a:defRPr/>
              </a:pPr>
              <a:t>5/8/2018</a:t>
            </a:fld>
            <a:endParaRPr lang="en-US"/>
          </a:p>
        </p:txBody>
      </p:sp>
      <p:sp>
        <p:nvSpPr>
          <p:cNvPr id="10" name="Footer Placeholder 5"/>
          <p:cNvSpPr>
            <a:spLocks noGrp="1"/>
          </p:cNvSpPr>
          <p:nvPr>
            <p:ph type="ftr" sz="quarter" idx="11"/>
          </p:nvPr>
        </p:nvSpPr>
        <p:spPr/>
        <p:txBody>
          <a:bodyPr/>
          <a:lstStyle>
            <a:lvl1pPr>
              <a:defRPr/>
            </a:lvl1pPr>
          </a:lstStyle>
          <a:p>
            <a:pPr>
              <a:defRPr/>
            </a:pPr>
            <a:endParaRPr lang="en-US"/>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pPr>
              <a:defRPr/>
            </a:pPr>
            <a:fld id="{AD5C5913-0F77-46D0-A888-F54E2427D8A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1C53D99D-D85D-45E9-B763-A1F8F39E5710}" type="datetimeFigureOut">
              <a:rPr lang="en-US"/>
              <a:pPr>
                <a:defRPr/>
              </a:pPr>
              <a:t>5/8/2018</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C17F6542-CAF9-4D42-A039-B45424BBFEAE}"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9C63E26D-2BF9-4331-A37E-42F9241CC1A8}" type="datetimeFigureOut">
              <a:rPr lang="en-US"/>
              <a:pPr>
                <a:defRPr/>
              </a:pPr>
              <a:t>5/8/2018</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FC439AE1-0C44-49F1-8AAD-A7038D5CD2C3}"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028" name="Title Placeholder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en-US" smtClean="0"/>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fld id="{265D2A5C-EBB9-4B66-8947-F513A60979DF}" type="datetimeFigureOut">
              <a:rPr lang="en-US"/>
              <a:pPr>
                <a:defRPr/>
              </a:pPr>
              <a:t>5/8/2018</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fld id="{0F24B4C8-FB93-481A-8A37-2991E693C86E}" type="slidenum">
              <a:rPr lang="en-US"/>
              <a:pPr>
                <a:defRPr/>
              </a:pPr>
              <a:t>‹#›</a:t>
            </a:fld>
            <a:endParaRPr lang="en-US"/>
          </a:p>
        </p:txBody>
      </p:sp>
      <p:grpSp>
        <p:nvGrpSpPr>
          <p:cNvPr id="103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grpSp>
    </p:spTree>
  </p:cSld>
  <p:clrMap bg1="lt1" tx1="dk1" bg2="lt2" tx2="dk2" accent1="accent1" accent2="accent2" accent3="accent3" accent4="accent4" accent5="accent5" accent6="accent6" hlink="hlink" folHlink="folHlink"/>
  <p:sldLayoutIdLst>
    <p:sldLayoutId id="2147483816" r:id="rId1"/>
    <p:sldLayoutId id="2147483808" r:id="rId2"/>
    <p:sldLayoutId id="2147483817" r:id="rId3"/>
    <p:sldLayoutId id="2147483809" r:id="rId4"/>
    <p:sldLayoutId id="2147483810" r:id="rId5"/>
    <p:sldLayoutId id="2147483811" r:id="rId6"/>
    <p:sldLayoutId id="2147483812" r:id="rId7"/>
    <p:sldLayoutId id="2147483813" r:id="rId8"/>
    <p:sldLayoutId id="2147483818" r:id="rId9"/>
    <p:sldLayoutId id="2147483814" r:id="rId10"/>
    <p:sldLayoutId id="2147483815" r:id="rId11"/>
  </p:sldLayoutIdLst>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defRPr>
      </a:lvl2pPr>
      <a:lvl3pPr algn="l" rtl="0" eaLnBrk="0" fontAlgn="base" hangingPunct="0">
        <a:spcBef>
          <a:spcPct val="0"/>
        </a:spcBef>
        <a:spcAft>
          <a:spcPct val="0"/>
        </a:spcAft>
        <a:defRPr sz="5000">
          <a:solidFill>
            <a:schemeClr val="tx2"/>
          </a:solidFill>
          <a:latin typeface="Calibri" pitchFamily="34" charset="0"/>
        </a:defRPr>
      </a:lvl3pPr>
      <a:lvl4pPr algn="l" rtl="0" eaLnBrk="0" fontAlgn="base" hangingPunct="0">
        <a:spcBef>
          <a:spcPct val="0"/>
        </a:spcBef>
        <a:spcAft>
          <a:spcPct val="0"/>
        </a:spcAft>
        <a:defRPr sz="5000">
          <a:solidFill>
            <a:schemeClr val="tx2"/>
          </a:solidFill>
          <a:latin typeface="Calibri" pitchFamily="34" charset="0"/>
        </a:defRPr>
      </a:lvl4pPr>
      <a:lvl5pPr algn="l" rtl="0" eaLnBrk="0" fontAlgn="base" hangingPunct="0">
        <a:spcBef>
          <a:spcPct val="0"/>
        </a:spcBef>
        <a:spcAft>
          <a:spcPct val="0"/>
        </a:spcAft>
        <a:defRPr sz="5000">
          <a:solidFill>
            <a:schemeClr val="tx2"/>
          </a:solidFill>
          <a:latin typeface="Calibri" pitchFamily="34" charset="0"/>
        </a:defRPr>
      </a:lvl5pPr>
      <a:lvl6pPr marL="457200" algn="l" rtl="0" fontAlgn="base">
        <a:spcBef>
          <a:spcPct val="0"/>
        </a:spcBef>
        <a:spcAft>
          <a:spcPct val="0"/>
        </a:spcAft>
        <a:defRPr sz="5000">
          <a:solidFill>
            <a:schemeClr val="tx2"/>
          </a:solidFill>
          <a:latin typeface="Calibri" pitchFamily="34" charset="0"/>
        </a:defRPr>
      </a:lvl6pPr>
      <a:lvl7pPr marL="914400" algn="l" rtl="0" fontAlgn="base">
        <a:spcBef>
          <a:spcPct val="0"/>
        </a:spcBef>
        <a:spcAft>
          <a:spcPct val="0"/>
        </a:spcAft>
        <a:defRPr sz="5000">
          <a:solidFill>
            <a:schemeClr val="tx2"/>
          </a:solidFill>
          <a:latin typeface="Calibri" pitchFamily="34" charset="0"/>
        </a:defRPr>
      </a:lvl7pPr>
      <a:lvl8pPr marL="1371600" algn="l" rtl="0" fontAlgn="base">
        <a:spcBef>
          <a:spcPct val="0"/>
        </a:spcBef>
        <a:spcAft>
          <a:spcPct val="0"/>
        </a:spcAft>
        <a:defRPr sz="5000">
          <a:solidFill>
            <a:schemeClr val="tx2"/>
          </a:solidFill>
          <a:latin typeface="Calibri" pitchFamily="34" charset="0"/>
        </a:defRPr>
      </a:lvl8pPr>
      <a:lvl9pPr marL="1828800" algn="l" rtl="0" fontAlgn="base">
        <a:spcBef>
          <a:spcPct val="0"/>
        </a:spcBef>
        <a:spcAft>
          <a:spcPct val="0"/>
        </a:spcAft>
        <a:defRPr sz="5000">
          <a:solidFill>
            <a:schemeClr val="tx2"/>
          </a:solidFill>
          <a:latin typeface="Calibri" pitchFamily="34" charset="0"/>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66800"/>
            <a:ext cx="8458200" cy="4876800"/>
          </a:xfrm>
        </p:spPr>
        <p:txBody>
          <a:bodyPr/>
          <a:lstStyle/>
          <a:p>
            <a:pPr eaLnBrk="1" hangingPunct="1">
              <a:defRPr/>
            </a:pPr>
            <a:endParaRPr lang="en-US" dirty="0" smtClean="0"/>
          </a:p>
          <a:p>
            <a:pPr eaLnBrk="1" hangingPunct="1">
              <a:defRPr/>
            </a:pPr>
            <a:endParaRPr lang="en-US" dirty="0" smtClean="0"/>
          </a:p>
          <a:p>
            <a:pPr marL="0" indent="0" algn="ctr" eaLnBrk="1" hangingPunct="1">
              <a:buFont typeface="Wingdings 2" pitchFamily="18" charset="2"/>
              <a:buNone/>
              <a:defRPr/>
            </a:pPr>
            <a:endParaRPr lang="en-US" b="1" dirty="0" smtClean="0">
              <a:latin typeface="Times New Roman" panose="02020603050405020304" pitchFamily="18" charset="0"/>
              <a:cs typeface="Times New Roman" panose="02020603050405020304" pitchFamily="18" charset="0"/>
            </a:endParaRPr>
          </a:p>
          <a:p>
            <a:pPr marL="0" indent="0" algn="ctr" eaLnBrk="1" hangingPunct="1">
              <a:buFont typeface="Wingdings 2" pitchFamily="18" charset="2"/>
              <a:buNone/>
              <a:defRPr/>
            </a:pPr>
            <a:r>
              <a:rPr lang="en-US" b="1" dirty="0" smtClean="0">
                <a:latin typeface="Times New Roman" panose="02020603050405020304" pitchFamily="18" charset="0"/>
                <a:cs typeface="Times New Roman" panose="02020603050405020304" pitchFamily="18" charset="0"/>
              </a:rPr>
              <a:t>ENG-101</a:t>
            </a:r>
          </a:p>
          <a:p>
            <a:pPr marL="0" indent="0" algn="ctr" eaLnBrk="1" hangingPunct="1">
              <a:buFont typeface="Wingdings 2" pitchFamily="18" charset="2"/>
              <a:buNone/>
              <a:defRPr/>
            </a:pPr>
            <a:r>
              <a:rPr lang="en-US" b="1" dirty="0" smtClean="0">
                <a:latin typeface="Times New Roman" panose="02020603050405020304" pitchFamily="18" charset="0"/>
                <a:cs typeface="Times New Roman" panose="02020603050405020304" pitchFamily="18" charset="0"/>
              </a:rPr>
              <a:t>English Comprehension</a:t>
            </a:r>
          </a:p>
          <a:p>
            <a:pPr marL="0" indent="0" algn="ctr" eaLnBrk="1" hangingPunct="1">
              <a:buFont typeface="Wingdings 2" pitchFamily="18" charset="2"/>
              <a:buNone/>
              <a:defRPr/>
            </a:pPr>
            <a:endParaRPr lang="en-US" b="1" dirty="0" smtClean="0">
              <a:latin typeface="Times New Roman" panose="02020603050405020304" pitchFamily="18" charset="0"/>
              <a:cs typeface="Times New Roman" panose="02020603050405020304" pitchFamily="18" charset="0"/>
            </a:endParaRPr>
          </a:p>
          <a:p>
            <a:pPr marL="0" indent="0" algn="ctr" eaLnBrk="1" hangingPunct="1">
              <a:buFont typeface="Wingdings 2" pitchFamily="18" charset="2"/>
              <a:buNone/>
              <a:defRPr/>
            </a:pPr>
            <a:r>
              <a:rPr lang="en-US" b="1" dirty="0" smtClean="0">
                <a:latin typeface="Times New Roman" panose="02020603050405020304" pitchFamily="18" charset="0"/>
                <a:cs typeface="Times New Roman" panose="02020603050405020304" pitchFamily="18" charset="0"/>
              </a:rPr>
              <a:t>Lessons: 07-10</a:t>
            </a:r>
            <a:endParaRPr lang="en-US" b="1" dirty="0">
              <a:latin typeface="Times New Roman" panose="02020603050405020304" pitchFamily="18" charset="0"/>
              <a:cs typeface="Times New Roman" panose="02020603050405020304" pitchFamily="18" charset="0"/>
            </a:endParaRPr>
          </a:p>
          <a:p>
            <a:pPr algn="ctr" eaLnBrk="1" hangingPunct="1">
              <a:defRPr/>
            </a:pPr>
            <a:endParaRPr lang="en-US" dirty="0" smtClean="0">
              <a:latin typeface="Times New Roman" panose="02020603050405020304" pitchFamily="18" charset="0"/>
              <a:cs typeface="Times New Roman" panose="02020603050405020304" pitchFamily="18" charset="0"/>
            </a:endParaRPr>
          </a:p>
          <a:p>
            <a:pPr marL="0" indent="0" algn="ctr" eaLnBrk="1" hangingPunct="1">
              <a:buFont typeface="Wingdings 2" pitchFamily="18" charset="2"/>
              <a:buNone/>
              <a:defRPr/>
            </a:pPr>
            <a:r>
              <a:rPr lang="en-US" sz="3200" b="1" dirty="0" smtClean="0">
                <a:latin typeface="Times New Roman" panose="02020603050405020304" pitchFamily="18" charset="0"/>
                <a:cs typeface="Times New Roman" panose="02020603050405020304" pitchFamily="18" charset="0"/>
              </a:rPr>
              <a:t>Virtual University of Pakistan</a:t>
            </a:r>
          </a:p>
          <a:p>
            <a:pPr eaLnBrk="1" hangingPunct="1">
              <a:defRPr/>
            </a:pP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a:xfrm>
            <a:off x="381000" y="1905000"/>
            <a:ext cx="8229600" cy="2133600"/>
          </a:xfrm>
        </p:spPr>
        <p:txBody>
          <a:bodyPr/>
          <a:lstStyle/>
          <a:p>
            <a:pPr algn="ctr" eaLnBrk="1" hangingPunct="1"/>
            <a:r>
              <a:rPr lang="en-US" sz="3600" dirty="0" smtClean="0">
                <a:solidFill>
                  <a:schemeClr val="tx1"/>
                </a:solidFill>
                <a:latin typeface="Times New Roman" pitchFamily="18" charset="0"/>
                <a:cs typeface="Times New Roman" pitchFamily="18" charset="0"/>
              </a:rPr>
              <a:t>	</a:t>
            </a:r>
            <a:r>
              <a:rPr lang="en-US" sz="3600" b="1" u="sng" dirty="0" smtClean="0">
                <a:solidFill>
                  <a:schemeClr val="tx1"/>
                </a:solidFill>
                <a:latin typeface="Times New Roman" pitchFamily="18" charset="0"/>
                <a:cs typeface="Times New Roman" pitchFamily="18" charset="0"/>
              </a:rPr>
              <a:t>Word Formation: Suffix</a:t>
            </a:r>
            <a:r>
              <a:rPr lang="en-US" sz="3600" b="1" dirty="0" smtClean="0">
                <a:solidFill>
                  <a:schemeClr val="tx1"/>
                </a:solidFill>
                <a:latin typeface="Times New Roman" pitchFamily="18" charset="0"/>
                <a:cs typeface="Times New Roman" pitchFamily="18" charset="0"/>
              </a:rPr>
              <a:t/>
            </a:r>
            <a:br>
              <a:rPr lang="en-US" sz="3600" b="1" dirty="0" smtClean="0">
                <a:solidFill>
                  <a:schemeClr val="tx1"/>
                </a:solidFill>
                <a:latin typeface="Times New Roman" pitchFamily="18" charset="0"/>
                <a:cs typeface="Times New Roman" pitchFamily="18" charset="0"/>
              </a:rPr>
            </a:br>
            <a:r>
              <a:rPr lang="en-US" sz="3600" b="1" dirty="0" smtClean="0">
                <a:solidFill>
                  <a:schemeClr val="tx1"/>
                </a:solidFill>
                <a:latin typeface="Times New Roman" pitchFamily="18" charset="0"/>
                <a:cs typeface="Times New Roman" pitchFamily="18" charset="0"/>
              </a:rPr>
              <a:t>          Lesson No. 07</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p:nvPr>
        </p:nvSpPr>
        <p:spPr>
          <a:xfrm>
            <a:off x="457200" y="704850"/>
            <a:ext cx="8229600" cy="742950"/>
          </a:xfrm>
        </p:spPr>
        <p:txBody>
          <a:bodyPr/>
          <a:lstStyle/>
          <a:p>
            <a:pPr algn="ctr"/>
            <a:r>
              <a:rPr lang="en-GB" altLang="en-US" sz="4000" b="1" u="sng" dirty="0" smtClean="0"/>
              <a:t/>
            </a:r>
            <a:br>
              <a:rPr lang="en-GB" altLang="en-US" sz="4000" b="1" u="sng" dirty="0" smtClean="0"/>
            </a:br>
            <a:r>
              <a:rPr lang="en-GB" altLang="en-US" sz="2800" b="1" dirty="0" smtClean="0">
                <a:solidFill>
                  <a:schemeClr val="tx1"/>
                </a:solidFill>
                <a:latin typeface="Times New Roman" panose="02020603050405020304" pitchFamily="18" charset="0"/>
                <a:cs typeface="Times New Roman" panose="02020603050405020304" pitchFamily="18" charset="0"/>
              </a:rPr>
              <a:t>Word Formation</a:t>
            </a:r>
            <a:endParaRPr lang="en-US" altLang="en-US" sz="2800" b="1" dirty="0" smtClean="0">
              <a:solidFill>
                <a:schemeClr val="tx1"/>
              </a:solidFill>
              <a:latin typeface="Times New Roman" panose="02020603050405020304" pitchFamily="18" charset="0"/>
              <a:cs typeface="Times New Roman" panose="02020603050405020304" pitchFamily="18" charset="0"/>
            </a:endParaRPr>
          </a:p>
        </p:txBody>
      </p:sp>
      <p:sp>
        <p:nvSpPr>
          <p:cNvPr id="28675" name="Rectangle 3"/>
          <p:cNvSpPr>
            <a:spLocks noGrp="1"/>
          </p:cNvSpPr>
          <p:nvPr>
            <p:ph type="body" idx="1"/>
          </p:nvPr>
        </p:nvSpPr>
        <p:spPr>
          <a:xfrm>
            <a:off x="457200" y="1676401"/>
            <a:ext cx="8229600" cy="4648200"/>
          </a:xfrm>
        </p:spPr>
        <p:txBody>
          <a:bodyPr/>
          <a:lstStyle/>
          <a:p>
            <a:pPr algn="just">
              <a:lnSpc>
                <a:spcPct val="90000"/>
              </a:lnSpc>
              <a:buFont typeface="Wingdings" panose="05000000000000000000" pitchFamily="2" charset="2"/>
              <a:buChar char="§"/>
            </a:pPr>
            <a:r>
              <a:rPr lang="en-GB" altLang="en-US" sz="2400" dirty="0" smtClean="0"/>
              <a:t>    </a:t>
            </a:r>
            <a:r>
              <a:rPr lang="en-GB" altLang="en-US" sz="2400" dirty="0" smtClean="0">
                <a:latin typeface="Times New Roman" panose="02020603050405020304" pitchFamily="18" charset="0"/>
                <a:cs typeface="Times New Roman" panose="02020603050405020304" pitchFamily="18" charset="0"/>
              </a:rPr>
              <a:t>When you are reading, you will come across unfamiliar words. It is often possible to guess the meanings of these words if you understand the way words are generally formed in English. Learning the use and meaning of words in English can be made easier, and even enjoyable, if you understand something about the way in which many English words are formed. </a:t>
            </a:r>
          </a:p>
          <a:p>
            <a:pPr>
              <a:lnSpc>
                <a:spcPct val="90000"/>
              </a:lnSpc>
              <a:buFont typeface="Arial" charset="0"/>
              <a:buNone/>
            </a:pPr>
            <a:endParaRPr lang="en-GB" altLang="en-US" sz="2400" dirty="0" smtClean="0">
              <a:latin typeface="Times New Roman" panose="02020603050405020304" pitchFamily="18" charset="0"/>
              <a:cs typeface="Times New Roman" panose="02020603050405020304" pitchFamily="18" charset="0"/>
            </a:endParaRPr>
          </a:p>
          <a:p>
            <a:pPr>
              <a:lnSpc>
                <a:spcPct val="90000"/>
              </a:lnSpc>
            </a:pPr>
            <a:r>
              <a:rPr lang="en-GB" altLang="en-US" sz="2400" dirty="0" smtClean="0">
                <a:latin typeface="Times New Roman" panose="02020603050405020304" pitchFamily="18" charset="0"/>
                <a:cs typeface="Times New Roman" panose="02020603050405020304" pitchFamily="18" charset="0"/>
              </a:rPr>
              <a:t>An English word can be divided into three parts:</a:t>
            </a:r>
            <a:endParaRPr lang="en-US" altLang="en-US" sz="2400" dirty="0" smtClean="0">
              <a:latin typeface="Times New Roman" panose="02020603050405020304" pitchFamily="18" charset="0"/>
              <a:cs typeface="Times New Roman" panose="02020603050405020304" pitchFamily="18" charset="0"/>
            </a:endParaRPr>
          </a:p>
          <a:p>
            <a:pPr>
              <a:lnSpc>
                <a:spcPct val="90000"/>
              </a:lnSpc>
            </a:pPr>
            <a:r>
              <a:rPr lang="en-GB" altLang="en-US" sz="2400" dirty="0" smtClean="0">
                <a:latin typeface="Times New Roman" panose="02020603050405020304" pitchFamily="18" charset="0"/>
                <a:cs typeface="Times New Roman" panose="02020603050405020304" pitchFamily="18" charset="0"/>
              </a:rPr>
              <a:t>Prefix</a:t>
            </a:r>
            <a:endParaRPr lang="en-US" altLang="en-US" sz="2400" dirty="0" smtClean="0">
              <a:latin typeface="Times New Roman" panose="02020603050405020304" pitchFamily="18" charset="0"/>
              <a:cs typeface="Times New Roman" panose="02020603050405020304" pitchFamily="18" charset="0"/>
            </a:endParaRPr>
          </a:p>
          <a:p>
            <a:pPr>
              <a:lnSpc>
                <a:spcPct val="90000"/>
              </a:lnSpc>
            </a:pPr>
            <a:r>
              <a:rPr lang="en-GB" altLang="en-US" sz="2400" dirty="0" smtClean="0">
                <a:latin typeface="Times New Roman" panose="02020603050405020304" pitchFamily="18" charset="0"/>
                <a:cs typeface="Times New Roman" panose="02020603050405020304" pitchFamily="18" charset="0"/>
              </a:rPr>
              <a:t>Stem </a:t>
            </a:r>
            <a:endParaRPr lang="en-US" altLang="en-US" sz="2400" dirty="0" smtClean="0">
              <a:latin typeface="Times New Roman" panose="02020603050405020304" pitchFamily="18" charset="0"/>
              <a:cs typeface="Times New Roman" panose="02020603050405020304" pitchFamily="18" charset="0"/>
            </a:endParaRPr>
          </a:p>
          <a:p>
            <a:pPr>
              <a:lnSpc>
                <a:spcPct val="90000"/>
              </a:lnSpc>
            </a:pPr>
            <a:r>
              <a:rPr lang="en-GB" altLang="en-US" sz="2400" dirty="0" smtClean="0">
                <a:latin typeface="Times New Roman" panose="02020603050405020304" pitchFamily="18" charset="0"/>
                <a:cs typeface="Times New Roman" panose="02020603050405020304" pitchFamily="18" charset="0"/>
              </a:rPr>
              <a:t>Suffix. </a:t>
            </a:r>
            <a:endParaRPr lang="en-US" altLang="en-US" sz="2400" dirty="0" smtClean="0">
              <a:latin typeface="Times New Roman" panose="02020603050405020304" pitchFamily="18" charset="0"/>
              <a:cs typeface="Times New Roman" panose="02020603050405020304" pitchFamily="18" charset="0"/>
            </a:endParaRPr>
          </a:p>
          <a:p>
            <a:pPr>
              <a:lnSpc>
                <a:spcPct val="90000"/>
              </a:lnSpc>
              <a:buFont typeface="Arial" charset="0"/>
              <a:buNone/>
            </a:pPr>
            <a:endParaRPr lang="en-US" altLang="en-US" sz="2400" dirty="0" smtClean="0"/>
          </a:p>
        </p:txBody>
      </p:sp>
    </p:spTree>
    <p:extLst>
      <p:ext uri="{BB962C8B-B14F-4D97-AF65-F5344CB8AC3E}">
        <p14:creationId xmlns:p14="http://schemas.microsoft.com/office/powerpoint/2010/main" val="36638848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a:xfrm>
            <a:off x="457200" y="704850"/>
            <a:ext cx="8229600" cy="666750"/>
          </a:xfrm>
        </p:spPr>
        <p:txBody>
          <a:bodyPr/>
          <a:lstStyle/>
          <a:p>
            <a:pPr algn="ctr"/>
            <a:r>
              <a:rPr lang="en-GB" altLang="en-US" sz="3000" b="1" dirty="0" smtClean="0">
                <a:solidFill>
                  <a:schemeClr val="tx1"/>
                </a:solidFill>
                <a:latin typeface="Times New Roman" panose="02020603050405020304" pitchFamily="18" charset="0"/>
                <a:cs typeface="Times New Roman" panose="02020603050405020304" pitchFamily="18" charset="0"/>
              </a:rPr>
              <a:t>Word Formation</a:t>
            </a:r>
            <a:endParaRPr lang="en-US" altLang="en-US" sz="3000" b="1" dirty="0" smtClean="0">
              <a:solidFill>
                <a:schemeClr val="tx1"/>
              </a:solidFill>
              <a:latin typeface="Times New Roman" panose="02020603050405020304" pitchFamily="18" charset="0"/>
              <a:cs typeface="Times New Roman" panose="02020603050405020304" pitchFamily="18" charset="0"/>
            </a:endParaRPr>
          </a:p>
        </p:txBody>
      </p:sp>
      <p:sp>
        <p:nvSpPr>
          <p:cNvPr id="29699" name="Rectangle 3"/>
          <p:cNvSpPr>
            <a:spLocks noGrp="1"/>
          </p:cNvSpPr>
          <p:nvPr>
            <p:ph type="body" idx="1"/>
          </p:nvPr>
        </p:nvSpPr>
        <p:spPr>
          <a:xfrm>
            <a:off x="457200" y="1600201"/>
            <a:ext cx="8229600" cy="4724400"/>
          </a:xfrm>
        </p:spPr>
        <p:txBody>
          <a:bodyPr/>
          <a:lstStyle/>
          <a:p>
            <a:pPr>
              <a:lnSpc>
                <a:spcPct val="80000"/>
              </a:lnSpc>
            </a:pPr>
            <a:r>
              <a:rPr lang="en-GB" altLang="en-US" sz="2400" b="1" dirty="0" smtClean="0">
                <a:latin typeface="Times New Roman" panose="02020603050405020304" pitchFamily="18" charset="0"/>
                <a:cs typeface="Times New Roman" panose="02020603050405020304" pitchFamily="18" charset="0"/>
              </a:rPr>
              <a:t>Prefix</a:t>
            </a:r>
            <a:endParaRPr lang="en-GB" altLang="en-US" sz="2400" dirty="0" smtClean="0">
              <a:latin typeface="Times New Roman" panose="02020603050405020304" pitchFamily="18" charset="0"/>
              <a:cs typeface="Times New Roman" panose="02020603050405020304" pitchFamily="18" charset="0"/>
            </a:endParaRPr>
          </a:p>
          <a:p>
            <a:pPr>
              <a:lnSpc>
                <a:spcPct val="80000"/>
              </a:lnSpc>
            </a:pPr>
            <a:r>
              <a:rPr lang="en-GB" altLang="en-US" sz="2400" dirty="0" smtClean="0">
                <a:latin typeface="Times New Roman" panose="02020603050405020304" pitchFamily="18" charset="0"/>
                <a:cs typeface="Times New Roman" panose="02020603050405020304" pitchFamily="18" charset="0"/>
              </a:rPr>
              <a:t>Pre-means ‘before’ and therefore, is what comes before the stem.</a:t>
            </a:r>
            <a:endParaRPr lang="en-GB" altLang="en-US" sz="2400" b="1" dirty="0" smtClean="0">
              <a:latin typeface="Times New Roman" panose="02020603050405020304" pitchFamily="18" charset="0"/>
              <a:cs typeface="Times New Roman" panose="02020603050405020304" pitchFamily="18" charset="0"/>
            </a:endParaRPr>
          </a:p>
          <a:p>
            <a:pPr>
              <a:lnSpc>
                <a:spcPct val="80000"/>
              </a:lnSpc>
            </a:pPr>
            <a:r>
              <a:rPr lang="en-GB" altLang="en-US" sz="2400" b="1" dirty="0" smtClean="0">
                <a:latin typeface="Times New Roman" panose="02020603050405020304" pitchFamily="18" charset="0"/>
                <a:cs typeface="Times New Roman" panose="02020603050405020304" pitchFamily="18" charset="0"/>
              </a:rPr>
              <a:t>Example</a:t>
            </a:r>
            <a:endParaRPr lang="en-GB" altLang="en-US" sz="2400" dirty="0" smtClean="0">
              <a:latin typeface="Times New Roman" panose="02020603050405020304" pitchFamily="18" charset="0"/>
              <a:cs typeface="Times New Roman" panose="02020603050405020304" pitchFamily="18" charset="0"/>
            </a:endParaRPr>
          </a:p>
          <a:p>
            <a:pPr>
              <a:lnSpc>
                <a:spcPct val="80000"/>
              </a:lnSpc>
            </a:pPr>
            <a:r>
              <a:rPr lang="en-GB" altLang="en-US" sz="2400" dirty="0" smtClean="0">
                <a:latin typeface="Times New Roman" panose="02020603050405020304" pitchFamily="18" charset="0"/>
                <a:cs typeface="Times New Roman" panose="02020603050405020304" pitchFamily="18" charset="0"/>
              </a:rPr>
              <a:t>Consider as an example, the prefix de-(meaning ‘reduce’ or ‘reverse’) in a word like demagnetize (‘to deprive of magnetism’). </a:t>
            </a:r>
            <a:endParaRPr lang="en-GB" altLang="en-US" sz="2400" b="1" dirty="0" smtClean="0">
              <a:latin typeface="Times New Roman" panose="02020603050405020304" pitchFamily="18" charset="0"/>
              <a:cs typeface="Times New Roman" panose="02020603050405020304" pitchFamily="18" charset="0"/>
            </a:endParaRPr>
          </a:p>
          <a:p>
            <a:pPr>
              <a:lnSpc>
                <a:spcPct val="80000"/>
              </a:lnSpc>
            </a:pPr>
            <a:r>
              <a:rPr lang="en-GB" altLang="en-US" sz="2400" b="1" dirty="0" smtClean="0">
                <a:latin typeface="Times New Roman" panose="02020603050405020304" pitchFamily="18" charset="0"/>
                <a:cs typeface="Times New Roman" panose="02020603050405020304" pitchFamily="18" charset="0"/>
              </a:rPr>
              <a:t>Suffix</a:t>
            </a:r>
            <a:endParaRPr lang="en-GB" altLang="en-US" sz="2400" dirty="0" smtClean="0">
              <a:latin typeface="Times New Roman" panose="02020603050405020304" pitchFamily="18" charset="0"/>
              <a:cs typeface="Times New Roman" panose="02020603050405020304" pitchFamily="18" charset="0"/>
            </a:endParaRPr>
          </a:p>
          <a:p>
            <a:pPr>
              <a:lnSpc>
                <a:spcPct val="80000"/>
              </a:lnSpc>
            </a:pPr>
            <a:r>
              <a:rPr lang="en-GB" altLang="en-US" sz="2400" dirty="0" smtClean="0">
                <a:latin typeface="Times New Roman" panose="02020603050405020304" pitchFamily="18" charset="0"/>
                <a:cs typeface="Times New Roman" panose="02020603050405020304" pitchFamily="18" charset="0"/>
              </a:rPr>
              <a:t>A </a:t>
            </a:r>
            <a:r>
              <a:rPr lang="en-GB" altLang="en-US" sz="2400" b="1" dirty="0" smtClean="0">
                <a:latin typeface="Times New Roman" panose="02020603050405020304" pitchFamily="18" charset="0"/>
                <a:cs typeface="Times New Roman" panose="02020603050405020304" pitchFamily="18" charset="0"/>
              </a:rPr>
              <a:t>suffix</a:t>
            </a:r>
            <a:r>
              <a:rPr lang="en-GB" altLang="en-US" sz="2400" dirty="0" smtClean="0">
                <a:latin typeface="Times New Roman" panose="02020603050405020304" pitchFamily="18" charset="0"/>
                <a:cs typeface="Times New Roman" panose="02020603050405020304" pitchFamily="18" charset="0"/>
              </a:rPr>
              <a:t> is what is attached to the end of the stem. </a:t>
            </a:r>
            <a:endParaRPr lang="en-GB" altLang="en-US" sz="2400" b="1" dirty="0" smtClean="0">
              <a:latin typeface="Times New Roman" panose="02020603050405020304" pitchFamily="18" charset="0"/>
              <a:cs typeface="Times New Roman" panose="02020603050405020304" pitchFamily="18" charset="0"/>
            </a:endParaRPr>
          </a:p>
          <a:p>
            <a:pPr>
              <a:lnSpc>
                <a:spcPct val="80000"/>
              </a:lnSpc>
            </a:pPr>
            <a:r>
              <a:rPr lang="en-GB" altLang="en-US" sz="2400" b="1" dirty="0" smtClean="0">
                <a:latin typeface="Times New Roman" panose="02020603050405020304" pitchFamily="18" charset="0"/>
                <a:cs typeface="Times New Roman" panose="02020603050405020304" pitchFamily="18" charset="0"/>
              </a:rPr>
              <a:t>Example</a:t>
            </a:r>
            <a:endParaRPr lang="en-GB" altLang="en-US" sz="2400" dirty="0" smtClean="0">
              <a:latin typeface="Times New Roman" panose="02020603050405020304" pitchFamily="18" charset="0"/>
              <a:cs typeface="Times New Roman" panose="02020603050405020304" pitchFamily="18" charset="0"/>
            </a:endParaRPr>
          </a:p>
          <a:p>
            <a:pPr>
              <a:lnSpc>
                <a:spcPct val="80000"/>
              </a:lnSpc>
            </a:pPr>
            <a:r>
              <a:rPr lang="en-GB" altLang="en-US" sz="2400" dirty="0" smtClean="0">
                <a:latin typeface="Times New Roman" panose="02020603050405020304" pitchFamily="18" charset="0"/>
                <a:cs typeface="Times New Roman" panose="02020603050405020304" pitchFamily="18" charset="0"/>
              </a:rPr>
              <a:t>Consider as an example the suffix -</a:t>
            </a:r>
            <a:r>
              <a:rPr lang="en-GB" altLang="en-US" sz="2400" dirty="0" err="1" smtClean="0">
                <a:latin typeface="Times New Roman" panose="02020603050405020304" pitchFamily="18" charset="0"/>
                <a:cs typeface="Times New Roman" panose="02020603050405020304" pitchFamily="18" charset="0"/>
              </a:rPr>
              <a:t>er</a:t>
            </a:r>
            <a:r>
              <a:rPr lang="en-GB" altLang="en-US" sz="2400" dirty="0" smtClean="0">
                <a:latin typeface="Times New Roman" panose="02020603050405020304" pitchFamily="18" charset="0"/>
                <a:cs typeface="Times New Roman" panose="02020603050405020304" pitchFamily="18" charset="0"/>
              </a:rPr>
              <a:t> (meaning (‘someone who’) in programmer (‘the person who programs’).</a:t>
            </a:r>
          </a:p>
          <a:p>
            <a:pPr>
              <a:lnSpc>
                <a:spcPct val="80000"/>
              </a:lnSpc>
            </a:pPr>
            <a:r>
              <a:rPr lang="en-GB" altLang="en-US" sz="2400" dirty="0" smtClean="0">
                <a:latin typeface="Times New Roman" panose="02020603050405020304" pitchFamily="18" charset="0"/>
                <a:cs typeface="Times New Roman" panose="02020603050405020304" pitchFamily="18" charset="0"/>
              </a:rPr>
              <a:t>Both prefixes and suffixes are referred to as </a:t>
            </a:r>
            <a:r>
              <a:rPr lang="en-GB" altLang="en-US" sz="2400" b="1" dirty="0" smtClean="0">
                <a:latin typeface="Times New Roman" panose="02020603050405020304" pitchFamily="18" charset="0"/>
                <a:cs typeface="Times New Roman" panose="02020603050405020304" pitchFamily="18" charset="0"/>
              </a:rPr>
              <a:t>affixes.</a:t>
            </a:r>
            <a:r>
              <a:rPr lang="en-GB" altLang="en-US" sz="2400" dirty="0" smtClean="0">
                <a:latin typeface="Times New Roman" panose="02020603050405020304" pitchFamily="18" charset="0"/>
                <a:cs typeface="Times New Roman" panose="02020603050405020304" pitchFamily="18" charset="0"/>
              </a:rPr>
              <a:t> </a:t>
            </a:r>
            <a:endParaRPr lang="en-US" altLang="en-US"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46215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p:nvPr>
        </p:nvSpPr>
        <p:spPr>
          <a:xfrm>
            <a:off x="457200" y="685800"/>
            <a:ext cx="8229600" cy="685800"/>
          </a:xfrm>
        </p:spPr>
        <p:txBody>
          <a:bodyPr/>
          <a:lstStyle/>
          <a:p>
            <a:pPr algn="ctr"/>
            <a:r>
              <a:rPr lang="en-GB" altLang="en-US" sz="4000" b="1" dirty="0" smtClean="0"/>
              <a:t/>
            </a:r>
            <a:br>
              <a:rPr lang="en-GB" altLang="en-US" sz="4000" b="1" dirty="0" smtClean="0"/>
            </a:br>
            <a:r>
              <a:rPr lang="en-GB" altLang="en-US" sz="4000" b="1" dirty="0"/>
              <a:t/>
            </a:r>
            <a:br>
              <a:rPr lang="en-GB" altLang="en-US" sz="4000" b="1" dirty="0"/>
            </a:br>
            <a:r>
              <a:rPr lang="en-GB" altLang="en-US" sz="4000" b="1" dirty="0" smtClean="0"/>
              <a:t/>
            </a:r>
            <a:br>
              <a:rPr lang="en-GB" altLang="en-US" sz="4000" b="1" dirty="0" smtClean="0"/>
            </a:br>
            <a:r>
              <a:rPr lang="en-GB" altLang="en-US" sz="4000" b="1" dirty="0"/>
              <a:t/>
            </a:r>
            <a:br>
              <a:rPr lang="en-GB" altLang="en-US" sz="4000" b="1" dirty="0"/>
            </a:br>
            <a:r>
              <a:rPr lang="en-GB" altLang="en-US" sz="4000" b="1" dirty="0" smtClean="0"/>
              <a:t/>
            </a:r>
            <a:br>
              <a:rPr lang="en-GB" altLang="en-US" sz="4000" b="1" dirty="0" smtClean="0"/>
            </a:br>
            <a:r>
              <a:rPr lang="en-GB" altLang="en-US" sz="4000" b="1" dirty="0"/>
              <a:t/>
            </a:r>
            <a:br>
              <a:rPr lang="en-GB" altLang="en-US" sz="4000" b="1" dirty="0"/>
            </a:br>
            <a:r>
              <a:rPr lang="en-GB" altLang="en-US" sz="4000" b="1" dirty="0" smtClean="0"/>
              <a:t/>
            </a:r>
            <a:br>
              <a:rPr lang="en-GB" altLang="en-US" sz="4000" b="1" dirty="0" smtClean="0"/>
            </a:br>
            <a:r>
              <a:rPr lang="en-GB" altLang="en-US" sz="4000" b="1" dirty="0"/>
              <a:t/>
            </a:r>
            <a:br>
              <a:rPr lang="en-GB" altLang="en-US" sz="4000" b="1" dirty="0"/>
            </a:br>
            <a:r>
              <a:rPr lang="en-GB" altLang="en-US" sz="4000" b="1" dirty="0" smtClean="0"/>
              <a:t/>
            </a:r>
            <a:br>
              <a:rPr lang="en-GB" altLang="en-US" sz="4000" b="1" dirty="0" smtClean="0"/>
            </a:br>
            <a:r>
              <a:rPr lang="en-GB" altLang="en-US" sz="4000" b="1" dirty="0" smtClean="0"/>
              <a:t> </a:t>
            </a:r>
            <a:br>
              <a:rPr lang="en-GB" altLang="en-US" sz="4000" b="1" dirty="0" smtClean="0"/>
            </a:br>
            <a:r>
              <a:rPr lang="en-GB" altLang="en-US" sz="4000" b="1" dirty="0"/>
              <a:t/>
            </a:r>
            <a:br>
              <a:rPr lang="en-GB" altLang="en-US" sz="4000" b="1" dirty="0"/>
            </a:br>
            <a:r>
              <a:rPr lang="en-GB" altLang="en-US" sz="4000" b="1" dirty="0" smtClean="0"/>
              <a:t/>
            </a:r>
            <a:br>
              <a:rPr lang="en-GB" altLang="en-US" sz="4000" b="1" dirty="0" smtClean="0"/>
            </a:br>
            <a:r>
              <a:rPr lang="en-GB" altLang="en-US" sz="4000" b="1" dirty="0"/>
              <a:t/>
            </a:r>
            <a:br>
              <a:rPr lang="en-GB" altLang="en-US" sz="4000" b="1" dirty="0"/>
            </a:br>
            <a:r>
              <a:rPr lang="en-GB" altLang="en-US" sz="4000" dirty="0" smtClean="0"/>
              <a:t/>
            </a:r>
            <a:br>
              <a:rPr lang="en-GB" altLang="en-US" sz="4000" dirty="0" smtClean="0"/>
            </a:br>
            <a:r>
              <a:rPr lang="en-GB" altLang="en-US" sz="3000" b="1" dirty="0" smtClean="0">
                <a:solidFill>
                  <a:schemeClr val="tx1"/>
                </a:solidFill>
                <a:latin typeface="Times New Roman" panose="02020603050405020304" pitchFamily="18" charset="0"/>
                <a:cs typeface="Times New Roman" panose="02020603050405020304" pitchFamily="18" charset="0"/>
              </a:rPr>
              <a:t>Stem</a:t>
            </a:r>
            <a:endParaRPr lang="en-US" altLang="en-US" sz="3000" b="1" dirty="0" smtClean="0">
              <a:solidFill>
                <a:schemeClr val="tx1"/>
              </a:solidFill>
              <a:latin typeface="Times New Roman" panose="02020603050405020304" pitchFamily="18" charset="0"/>
              <a:cs typeface="Times New Roman" panose="02020603050405020304" pitchFamily="18" charset="0"/>
            </a:endParaRPr>
          </a:p>
        </p:txBody>
      </p:sp>
      <p:sp>
        <p:nvSpPr>
          <p:cNvPr id="30723" name="Rectangle 3"/>
          <p:cNvSpPr>
            <a:spLocks noGrp="1"/>
          </p:cNvSpPr>
          <p:nvPr>
            <p:ph type="body" idx="1"/>
          </p:nvPr>
        </p:nvSpPr>
        <p:spPr>
          <a:xfrm>
            <a:off x="457200" y="1600200"/>
            <a:ext cx="8229600" cy="5029199"/>
          </a:xfrm>
        </p:spPr>
        <p:txBody>
          <a:bodyPr/>
          <a:lstStyle/>
          <a:p>
            <a:pPr algn="just">
              <a:buFont typeface="Wingdings" panose="05000000000000000000" pitchFamily="2" charset="2"/>
              <a:buChar char="§"/>
            </a:pPr>
            <a:r>
              <a:rPr lang="en-GB" altLang="en-US" sz="2800" dirty="0" smtClean="0"/>
              <a:t>    </a:t>
            </a:r>
            <a:r>
              <a:rPr lang="en-GB" altLang="en-US" sz="2800" dirty="0" smtClean="0">
                <a:latin typeface="Times New Roman" panose="02020603050405020304" pitchFamily="18" charset="0"/>
                <a:cs typeface="Times New Roman" panose="02020603050405020304" pitchFamily="18" charset="0"/>
              </a:rPr>
              <a:t>The </a:t>
            </a:r>
            <a:r>
              <a:rPr lang="en-GB" altLang="en-US" sz="2800" b="1" dirty="0" smtClean="0">
                <a:latin typeface="Times New Roman" panose="02020603050405020304" pitchFamily="18" charset="0"/>
                <a:cs typeface="Times New Roman" panose="02020603050405020304" pitchFamily="18" charset="0"/>
              </a:rPr>
              <a:t>stem</a:t>
            </a:r>
            <a:r>
              <a:rPr lang="en-GB" altLang="en-US" sz="2800" dirty="0" smtClean="0">
                <a:latin typeface="Times New Roman" panose="02020603050405020304" pitchFamily="18" charset="0"/>
                <a:cs typeface="Times New Roman" panose="02020603050405020304" pitchFamily="18" charset="0"/>
              </a:rPr>
              <a:t> of a word is its basic form, the fundamental element which is common to all the other forms of the word. A </a:t>
            </a:r>
            <a:r>
              <a:rPr lang="en-GB" altLang="en-US" sz="2800" b="1" dirty="0" smtClean="0">
                <a:latin typeface="Times New Roman" panose="02020603050405020304" pitchFamily="18" charset="0"/>
                <a:cs typeface="Times New Roman" panose="02020603050405020304" pitchFamily="18" charset="0"/>
              </a:rPr>
              <a:t>prefix</a:t>
            </a:r>
            <a:r>
              <a:rPr lang="en-GB" altLang="en-US" sz="2800" dirty="0" smtClean="0">
                <a:latin typeface="Times New Roman" panose="02020603050405020304" pitchFamily="18" charset="0"/>
                <a:cs typeface="Times New Roman" panose="02020603050405020304" pitchFamily="18" charset="0"/>
              </a:rPr>
              <a:t> is a form which is fixed to the beginning of a stem; a suffix is a form which is fixed to the end of a stem. </a:t>
            </a:r>
          </a:p>
          <a:p>
            <a:pPr algn="just">
              <a:buFont typeface="Wingdings" panose="05000000000000000000" pitchFamily="2" charset="2"/>
              <a:buChar char="§"/>
            </a:pPr>
            <a:endParaRPr lang="en-GB" altLang="en-US" sz="2800" b="1" dirty="0" smtClean="0">
              <a:latin typeface="Times New Roman" panose="02020603050405020304" pitchFamily="18" charset="0"/>
              <a:cs typeface="Times New Roman" panose="02020603050405020304" pitchFamily="18" charset="0"/>
            </a:endParaRPr>
          </a:p>
          <a:p>
            <a:r>
              <a:rPr lang="en-GB" altLang="en-US" sz="2800" b="1" dirty="0" smtClean="0">
                <a:latin typeface="Times New Roman" panose="02020603050405020304" pitchFamily="18" charset="0"/>
                <a:cs typeface="Times New Roman" panose="02020603050405020304" pitchFamily="18" charset="0"/>
              </a:rPr>
              <a:t>Example</a:t>
            </a:r>
            <a:endParaRPr lang="en-GB" altLang="en-US" sz="2800" dirty="0" smtClean="0">
              <a:latin typeface="Times New Roman" panose="02020603050405020304" pitchFamily="18" charset="0"/>
              <a:cs typeface="Times New Roman" panose="02020603050405020304" pitchFamily="18" charset="0"/>
            </a:endParaRPr>
          </a:p>
          <a:p>
            <a:r>
              <a:rPr lang="en-GB" altLang="en-US" sz="2800" dirty="0" smtClean="0">
                <a:latin typeface="Times New Roman" panose="02020603050405020304" pitchFamily="18" charset="0"/>
                <a:cs typeface="Times New Roman" panose="02020603050405020304" pitchFamily="18" charset="0"/>
              </a:rPr>
              <a:t>Stem = measure</a:t>
            </a:r>
          </a:p>
          <a:p>
            <a:r>
              <a:rPr lang="en-GB" altLang="en-US" sz="2800" dirty="0" smtClean="0">
                <a:latin typeface="Times New Roman" panose="02020603050405020304" pitchFamily="18" charset="0"/>
                <a:cs typeface="Times New Roman" panose="02020603050405020304" pitchFamily="18" charset="0"/>
              </a:rPr>
              <a:t>Suffix= measurable</a:t>
            </a:r>
          </a:p>
          <a:p>
            <a:r>
              <a:rPr lang="en-GB" altLang="en-US" sz="2800" dirty="0" smtClean="0">
                <a:latin typeface="Times New Roman" panose="02020603050405020304" pitchFamily="18" charset="0"/>
                <a:cs typeface="Times New Roman" panose="02020603050405020304" pitchFamily="18" charset="0"/>
              </a:rPr>
              <a:t>Prefix =immeasurable</a:t>
            </a:r>
            <a:endParaRPr lang="en-US" altLang="en-US" sz="28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44929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410200"/>
          </a:xfrm>
        </p:spPr>
        <p:txBody>
          <a:bodyPr/>
          <a:lstStyle/>
          <a:p>
            <a:pPr eaLnBrk="1" hangingPunct="1">
              <a:defRPr/>
            </a:pPr>
            <a:r>
              <a:rPr lang="en-US" b="1" dirty="0" smtClean="0">
                <a:latin typeface="Times New Roman" panose="02020603050405020304" pitchFamily="18" charset="0"/>
                <a:cs typeface="Times New Roman" panose="02020603050405020304" pitchFamily="18" charset="0"/>
              </a:rPr>
              <a:t>Difference between Prefix and Suffix</a:t>
            </a:r>
          </a:p>
          <a:p>
            <a:pPr eaLnBrk="1" hangingPunct="1">
              <a:defRPr/>
            </a:pPr>
            <a:endParaRPr lang="en-US" b="1"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v"/>
              <a:defRPr/>
            </a:pPr>
            <a:r>
              <a:rPr lang="en-US" b="1" dirty="0" smtClean="0">
                <a:latin typeface="Times New Roman" panose="02020603050405020304" pitchFamily="18" charset="0"/>
                <a:cs typeface="Times New Roman" panose="02020603050405020304" pitchFamily="18" charset="0"/>
              </a:rPr>
              <a:t>Prefix: </a:t>
            </a:r>
            <a:r>
              <a:rPr lang="en-US" dirty="0" smtClean="0">
                <a:latin typeface="Times New Roman" panose="02020603050405020304" pitchFamily="18" charset="0"/>
                <a:cs typeface="Times New Roman" panose="02020603050405020304" pitchFamily="18" charset="0"/>
              </a:rPr>
              <a:t>it changes the meaning of the word</a:t>
            </a:r>
          </a:p>
          <a:p>
            <a:pPr eaLnBrk="1" hangingPunct="1">
              <a:buFont typeface="Wingdings" panose="05000000000000000000" pitchFamily="2" charset="2"/>
              <a:buChar char="v"/>
              <a:defRPr/>
            </a:pPr>
            <a:endParaRPr lang="en-US" dirty="0">
              <a:latin typeface="Times New Roman" panose="02020603050405020304" pitchFamily="18" charset="0"/>
              <a:cs typeface="Times New Roman" panose="02020603050405020304" pitchFamily="18" charset="0"/>
            </a:endParaRPr>
          </a:p>
          <a:p>
            <a:pPr marL="0" indent="0" eaLnBrk="1" hangingPunct="1">
              <a:buFont typeface="Wingdings 2" pitchFamily="18" charset="2"/>
              <a:buNone/>
              <a:defRPr/>
            </a:pPr>
            <a:r>
              <a:rPr lang="en-US" dirty="0" smtClean="0">
                <a:latin typeface="Times New Roman" panose="02020603050405020304" pitchFamily="18" charset="0"/>
                <a:cs typeface="Times New Roman" panose="02020603050405020304" pitchFamily="18" charset="0"/>
              </a:rPr>
              <a:t>	Example: Pleasant/un-pleasant</a:t>
            </a:r>
          </a:p>
          <a:p>
            <a:pPr eaLnBrk="1" hangingPunct="1">
              <a:buFont typeface="Wingdings" panose="05000000000000000000" pitchFamily="2" charset="2"/>
              <a:buChar char="v"/>
              <a:defRPr/>
            </a:pPr>
            <a:endParaRPr lang="en-US"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v"/>
              <a:defRPr/>
            </a:pPr>
            <a:r>
              <a:rPr lang="en-US" b="1" dirty="0" smtClean="0">
                <a:latin typeface="Times New Roman" panose="02020603050405020304" pitchFamily="18" charset="0"/>
                <a:cs typeface="Times New Roman" panose="02020603050405020304" pitchFamily="18" charset="0"/>
              </a:rPr>
              <a:t>Suffix: </a:t>
            </a:r>
            <a:r>
              <a:rPr lang="en-US" dirty="0" smtClean="0">
                <a:latin typeface="Times New Roman" panose="02020603050405020304" pitchFamily="18" charset="0"/>
                <a:cs typeface="Times New Roman" panose="02020603050405020304" pitchFamily="18" charset="0"/>
              </a:rPr>
              <a:t>it changes the form of the word.</a:t>
            </a:r>
          </a:p>
          <a:p>
            <a:pPr marL="0" indent="0" eaLnBrk="1" hangingPunct="1">
              <a:buFont typeface="Wingdings 2" pitchFamily="18" charset="2"/>
              <a:buNone/>
              <a:defRPr/>
            </a:pPr>
            <a:r>
              <a:rPr lang="en-US" dirty="0" smtClean="0">
                <a:latin typeface="Times New Roman" panose="02020603050405020304" pitchFamily="18" charset="0"/>
                <a:cs typeface="Times New Roman" panose="02020603050405020304" pitchFamily="18" charset="0"/>
              </a:rPr>
              <a:t>	Example: Follow/follow-</a:t>
            </a:r>
            <a:r>
              <a:rPr lang="en-US" dirty="0" err="1" smtClean="0">
                <a:latin typeface="Times New Roman" panose="02020603050405020304" pitchFamily="18" charset="0"/>
                <a:cs typeface="Times New Roman" panose="02020603050405020304" pitchFamily="18" charset="0"/>
              </a:rPr>
              <a:t>ed</a:t>
            </a:r>
            <a:endParaRPr lang="en-US" dirty="0" smtClean="0">
              <a:latin typeface="Times New Roman" panose="02020603050405020304" pitchFamily="18" charset="0"/>
              <a:cs typeface="Times New Roman" panose="02020603050405020304" pitchFamily="18" charset="0"/>
            </a:endParaRPr>
          </a:p>
          <a:p>
            <a:pPr marL="0" indent="0" eaLnBrk="1" hangingPunct="1">
              <a:buFont typeface="Wingdings 2" pitchFamily="18" charset="2"/>
              <a:buNone/>
              <a:defRPr/>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5261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382000" cy="5562600"/>
          </a:xfrm>
        </p:spPr>
        <p:txBody>
          <a:bodyPr/>
          <a:lstStyle/>
          <a:p>
            <a:pPr eaLnBrk="1" hangingPunct="1">
              <a:defRPr/>
            </a:pPr>
            <a:r>
              <a:rPr lang="en-US" sz="2800" b="1" dirty="0" smtClean="0">
                <a:latin typeface="Times New Roman" panose="02020603050405020304" pitchFamily="18" charset="0"/>
                <a:cs typeface="Times New Roman" panose="02020603050405020304" pitchFamily="18" charset="0"/>
              </a:rPr>
              <a:t>Examples of some Suffixes</a:t>
            </a:r>
            <a:endParaRPr lang="en-US" sz="2800" b="1" dirty="0" smtClean="0">
              <a:latin typeface="Times New Roman" panose="02020603050405020304" pitchFamily="18" charset="0"/>
              <a:cs typeface="Times New Roman" panose="02020603050405020304" pitchFamily="18" charset="0"/>
            </a:endParaRPr>
          </a:p>
          <a:p>
            <a:pPr marL="0" indent="0" eaLnBrk="1" hangingPunct="1">
              <a:buFont typeface="Wingdings 2" pitchFamily="18" charset="2"/>
              <a:buNone/>
              <a:defRPr/>
            </a:pPr>
            <a:r>
              <a:rPr lang="en-US" sz="2800" b="1" dirty="0" smtClean="0">
                <a:latin typeface="Times New Roman" panose="02020603050405020304" pitchFamily="18" charset="0"/>
                <a:cs typeface="Times New Roman" panose="02020603050405020304" pitchFamily="18" charset="0"/>
              </a:rPr>
              <a:t>   Nouns</a:t>
            </a:r>
            <a:r>
              <a:rPr lang="en-US" sz="2800" b="1" dirty="0">
                <a:latin typeface="Times New Roman" panose="02020603050405020304" pitchFamily="18" charset="0"/>
                <a:cs typeface="Times New Roman" panose="02020603050405020304" pitchFamily="18" charset="0"/>
              </a:rPr>
              <a:t>	</a:t>
            </a:r>
            <a:r>
              <a:rPr lang="en-US" sz="2800" b="1" dirty="0" smtClean="0">
                <a:latin typeface="Times New Roman" panose="02020603050405020304" pitchFamily="18" charset="0"/>
                <a:cs typeface="Times New Roman" panose="02020603050405020304" pitchFamily="18" charset="0"/>
              </a:rPr>
              <a:t>Verbs  	Adjectives</a:t>
            </a:r>
            <a:r>
              <a:rPr lang="en-US" sz="2800" b="1" dirty="0">
                <a:latin typeface="Times New Roman" panose="02020603050405020304" pitchFamily="18" charset="0"/>
                <a:cs typeface="Times New Roman" panose="02020603050405020304" pitchFamily="18" charset="0"/>
              </a:rPr>
              <a:t>	</a:t>
            </a:r>
            <a:r>
              <a:rPr lang="en-US" sz="2800" b="1" dirty="0" smtClean="0">
                <a:latin typeface="Times New Roman" panose="02020603050405020304" pitchFamily="18" charset="0"/>
                <a:cs typeface="Times New Roman" panose="02020603050405020304" pitchFamily="18" charset="0"/>
              </a:rPr>
              <a:t>	Adverb</a:t>
            </a:r>
            <a:endParaRPr lang="en-US" sz="2800" dirty="0">
              <a:latin typeface="Times New Roman" panose="02020603050405020304" pitchFamily="18" charset="0"/>
              <a:cs typeface="Times New Roman" panose="02020603050405020304" pitchFamily="18" charset="0"/>
            </a:endParaRPr>
          </a:p>
          <a:p>
            <a:pPr marL="0" indent="0" eaLnBrk="1" hangingPunct="1">
              <a:buFont typeface="Wingdings 2" pitchFamily="18" charset="2"/>
              <a:buNone/>
              <a:defRPr/>
            </a:pPr>
            <a:r>
              <a:rPr lang="en-US" sz="2800" dirty="0" smtClean="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ance</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ize</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able	</a:t>
            </a:r>
            <a:r>
              <a:rPr lang="en-US" sz="2800" dirty="0" smtClean="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ly</a:t>
            </a:r>
          </a:p>
          <a:p>
            <a:pPr marL="0" indent="0" eaLnBrk="1" hangingPunct="1">
              <a:buFont typeface="Wingdings 2" pitchFamily="18" charset="2"/>
              <a:buNone/>
              <a:defRPr/>
            </a:pP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ence</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ate		</a:t>
            </a:r>
            <a:r>
              <a:rPr lang="en-US" sz="2800" dirty="0" smtClean="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ible</a:t>
            </a:r>
            <a:endParaRPr lang="en-US" sz="2800" dirty="0">
              <a:latin typeface="Times New Roman" panose="02020603050405020304" pitchFamily="18" charset="0"/>
              <a:cs typeface="Times New Roman" panose="02020603050405020304" pitchFamily="18" charset="0"/>
            </a:endParaRPr>
          </a:p>
          <a:p>
            <a:pPr marL="0" indent="0" eaLnBrk="1" hangingPunct="1">
              <a:buFont typeface="Wingdings 2" pitchFamily="18" charset="2"/>
              <a:buNone/>
              <a:defRPr/>
            </a:pP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or		-</a:t>
            </a:r>
            <a:r>
              <a:rPr lang="en-US" sz="2800" dirty="0" err="1">
                <a:latin typeface="Times New Roman" panose="02020603050405020304" pitchFamily="18" charset="0"/>
                <a:cs typeface="Times New Roman" panose="02020603050405020304" pitchFamily="18" charset="0"/>
              </a:rPr>
              <a:t>fy</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less</a:t>
            </a:r>
          </a:p>
          <a:p>
            <a:pPr marL="0" indent="0" eaLnBrk="1" hangingPunct="1">
              <a:buFont typeface="Wingdings 2" pitchFamily="18" charset="2"/>
              <a:buNone/>
              <a:defRPr/>
            </a:pPr>
            <a:r>
              <a:rPr lang="de-DE" sz="2800" dirty="0" smtClean="0">
                <a:latin typeface="Times New Roman" panose="02020603050405020304" pitchFamily="18" charset="0"/>
                <a:cs typeface="Times New Roman" panose="02020603050405020304" pitchFamily="18" charset="0"/>
              </a:rPr>
              <a:t> -</a:t>
            </a:r>
            <a:r>
              <a:rPr lang="de-DE" sz="2800" dirty="0">
                <a:latin typeface="Times New Roman" panose="02020603050405020304" pitchFamily="18" charset="0"/>
                <a:cs typeface="Times New Roman" panose="02020603050405020304" pitchFamily="18" charset="0"/>
              </a:rPr>
              <a:t>er		-en		</a:t>
            </a:r>
            <a:r>
              <a:rPr lang="de-DE" sz="2800" dirty="0" smtClean="0">
                <a:latin typeface="Times New Roman" panose="02020603050405020304" pitchFamily="18" charset="0"/>
                <a:cs typeface="Times New Roman" panose="02020603050405020304" pitchFamily="18" charset="0"/>
              </a:rPr>
              <a:t>-</a:t>
            </a:r>
            <a:r>
              <a:rPr lang="de-DE" sz="2800" dirty="0">
                <a:latin typeface="Times New Roman" panose="02020603050405020304" pitchFamily="18" charset="0"/>
                <a:cs typeface="Times New Roman" panose="02020603050405020304" pitchFamily="18" charset="0"/>
              </a:rPr>
              <a:t>ic</a:t>
            </a:r>
            <a:endParaRPr lang="en-US" sz="2800" dirty="0">
              <a:latin typeface="Times New Roman" panose="02020603050405020304" pitchFamily="18" charset="0"/>
              <a:cs typeface="Times New Roman" panose="02020603050405020304" pitchFamily="18" charset="0"/>
            </a:endParaRPr>
          </a:p>
          <a:p>
            <a:pPr marL="0" indent="0" eaLnBrk="1" hangingPunct="1">
              <a:buFont typeface="Wingdings 2" pitchFamily="18" charset="2"/>
              <a:buNone/>
              <a:defRPr/>
            </a:pPr>
            <a:r>
              <a:rPr lang="de-DE" sz="2800" dirty="0" smtClean="0">
                <a:latin typeface="Times New Roman" panose="02020603050405020304" pitchFamily="18" charset="0"/>
                <a:cs typeface="Times New Roman" panose="02020603050405020304" pitchFamily="18" charset="0"/>
              </a:rPr>
              <a:t> -</a:t>
            </a:r>
            <a:r>
              <a:rPr lang="de-DE" sz="2800" dirty="0">
                <a:latin typeface="Times New Roman" panose="02020603050405020304" pitchFamily="18" charset="0"/>
                <a:cs typeface="Times New Roman" panose="02020603050405020304" pitchFamily="18" charset="0"/>
              </a:rPr>
              <a:t>ist		-ify		</a:t>
            </a:r>
            <a:r>
              <a:rPr lang="de-DE" sz="2800" dirty="0" smtClean="0">
                <a:latin typeface="Times New Roman" panose="02020603050405020304" pitchFamily="18" charset="0"/>
                <a:cs typeface="Times New Roman" panose="02020603050405020304" pitchFamily="18" charset="0"/>
              </a:rPr>
              <a:t>-</a:t>
            </a:r>
            <a:r>
              <a:rPr lang="de-DE" sz="2800" dirty="0" smtClean="0">
                <a:latin typeface="Times New Roman" panose="02020603050405020304" pitchFamily="18" charset="0"/>
                <a:cs typeface="Times New Roman" panose="02020603050405020304" pitchFamily="18" charset="0"/>
              </a:rPr>
              <a:t>ical</a:t>
            </a:r>
          </a:p>
          <a:p>
            <a:pPr marL="0" indent="0" eaLnBrk="1" hangingPunct="1">
              <a:buFont typeface="Wingdings 2" pitchFamily="18" charset="2"/>
              <a:buNone/>
              <a:defRPr/>
            </a:pPr>
            <a:r>
              <a:rPr lang="en-US" sz="2800" dirty="0" smtClean="0">
                <a:latin typeface="Times New Roman" panose="02020603050405020304" pitchFamily="18" charset="0"/>
                <a:cs typeface="Times New Roman" panose="02020603050405020304" pitchFamily="18" charset="0"/>
              </a:rPr>
              <a:t> -ness		-d		</a:t>
            </a:r>
            <a:r>
              <a:rPr lang="en-US" sz="2800" dirty="0" smtClean="0">
                <a:latin typeface="Times New Roman" panose="02020603050405020304" pitchFamily="18" charset="0"/>
                <a:cs typeface="Times New Roman" panose="02020603050405020304" pitchFamily="18" charset="0"/>
              </a:rPr>
              <a:t>-</a:t>
            </a:r>
            <a:r>
              <a:rPr lang="en-US" sz="2800" dirty="0" err="1" smtClean="0">
                <a:latin typeface="Times New Roman" panose="02020603050405020304" pitchFamily="18" charset="0"/>
                <a:cs typeface="Times New Roman" panose="02020603050405020304" pitchFamily="18" charset="0"/>
              </a:rPr>
              <a:t>ish</a:t>
            </a:r>
            <a:endParaRPr lang="en-US" sz="2800" dirty="0" smtClean="0">
              <a:latin typeface="Times New Roman" panose="02020603050405020304" pitchFamily="18" charset="0"/>
              <a:cs typeface="Times New Roman" panose="02020603050405020304" pitchFamily="18" charset="0"/>
            </a:endParaRPr>
          </a:p>
          <a:p>
            <a:pPr marL="0" indent="0" eaLnBrk="1" hangingPunct="1">
              <a:buFont typeface="Wingdings 2" pitchFamily="18" charset="2"/>
              <a:buNone/>
              <a:defRPr/>
            </a:pP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ment</a:t>
            </a:r>
            <a:r>
              <a:rPr lang="en-US" sz="28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3977767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791200"/>
          </a:xfrm>
        </p:spPr>
        <p:txBody>
          <a:bodyPr/>
          <a:lstStyle/>
          <a:p>
            <a:pPr marL="0" indent="0" algn="ctr">
              <a:buNone/>
            </a:pPr>
            <a:r>
              <a:rPr lang="en-US" sz="2800" b="1" dirty="0" smtClean="0">
                <a:latin typeface="Times New Roman" panose="02020603050405020304" pitchFamily="18" charset="0"/>
                <a:cs typeface="Times New Roman" panose="02020603050405020304" pitchFamily="18" charset="0"/>
              </a:rPr>
              <a:t>P  R  A  C  T  I  C  E</a:t>
            </a:r>
          </a:p>
          <a:p>
            <a:pPr marL="0" indent="0">
              <a:lnSpc>
                <a:spcPct val="150000"/>
              </a:lnSpc>
              <a:buNone/>
            </a:pPr>
            <a:r>
              <a:rPr lang="en-US" b="1" u="sng" dirty="0" smtClean="0">
                <a:latin typeface="Times New Roman" panose="02020603050405020304" pitchFamily="18" charset="0"/>
                <a:cs typeface="Times New Roman" panose="02020603050405020304" pitchFamily="18" charset="0"/>
              </a:rPr>
              <a:t>Nation</a:t>
            </a:r>
          </a:p>
          <a:p>
            <a:pPr marL="0" indent="0">
              <a:lnSpc>
                <a:spcPct val="150000"/>
              </a:lnSpc>
              <a:buNone/>
            </a:pPr>
            <a:r>
              <a:rPr lang="en-US" dirty="0" smtClean="0">
                <a:latin typeface="Times New Roman" panose="02020603050405020304" pitchFamily="18" charset="0"/>
                <a:cs typeface="Times New Roman" panose="02020603050405020304" pitchFamily="18" charset="0"/>
              </a:rPr>
              <a:t>Nation </a:t>
            </a:r>
            <a:r>
              <a:rPr lang="en-US" dirty="0" smtClean="0">
                <a:latin typeface="Times New Roman" panose="02020603050405020304" pitchFamily="18" charset="0"/>
                <a:cs typeface="Times New Roman" panose="02020603050405020304" pitchFamily="18" charset="0"/>
              </a:rPr>
              <a:t>(Noun)</a:t>
            </a:r>
          </a:p>
          <a:p>
            <a:pPr marL="0" indent="0">
              <a:lnSpc>
                <a:spcPct val="150000"/>
              </a:lnSpc>
              <a:buNone/>
            </a:pPr>
            <a:r>
              <a:rPr lang="en-US" dirty="0" smtClean="0">
                <a:latin typeface="Times New Roman" panose="02020603050405020304" pitchFamily="18" charset="0"/>
                <a:cs typeface="Times New Roman" panose="02020603050405020304" pitchFamily="18" charset="0"/>
              </a:rPr>
              <a:t>Nation-</a:t>
            </a:r>
            <a:r>
              <a:rPr lang="en-US" u="sng" dirty="0" smtClean="0">
                <a:latin typeface="Times New Roman" panose="02020603050405020304" pitchFamily="18" charset="0"/>
                <a:cs typeface="Times New Roman" panose="02020603050405020304" pitchFamily="18" charset="0"/>
              </a:rPr>
              <a:t>al</a:t>
            </a:r>
            <a:r>
              <a:rPr lang="en-US" dirty="0" smtClean="0">
                <a:latin typeface="Times New Roman" panose="02020603050405020304" pitchFamily="18" charset="0"/>
                <a:cs typeface="Times New Roman" panose="02020603050405020304" pitchFamily="18" charset="0"/>
              </a:rPr>
              <a:t> (Adjective)</a:t>
            </a:r>
          </a:p>
          <a:p>
            <a:pPr marL="0" indent="0">
              <a:lnSpc>
                <a:spcPct val="150000"/>
              </a:lnSpc>
              <a:buNone/>
            </a:pPr>
            <a:r>
              <a:rPr lang="en-US" dirty="0" smtClean="0">
                <a:latin typeface="Times New Roman" panose="02020603050405020304" pitchFamily="18" charset="0"/>
                <a:cs typeface="Times New Roman" panose="02020603050405020304" pitchFamily="18" charset="0"/>
              </a:rPr>
              <a:t>Nation-al-</a:t>
            </a:r>
            <a:r>
              <a:rPr lang="en-US" u="sng" dirty="0" err="1" smtClean="0">
                <a:latin typeface="Times New Roman" panose="02020603050405020304" pitchFamily="18" charset="0"/>
                <a:cs typeface="Times New Roman" panose="02020603050405020304" pitchFamily="18" charset="0"/>
              </a:rPr>
              <a:t>ity</a:t>
            </a:r>
            <a:r>
              <a:rPr lang="en-US" dirty="0" smtClean="0">
                <a:latin typeface="Times New Roman" panose="02020603050405020304" pitchFamily="18" charset="0"/>
                <a:cs typeface="Times New Roman" panose="02020603050405020304" pitchFamily="18" charset="0"/>
              </a:rPr>
              <a:t> (Noun)</a:t>
            </a:r>
          </a:p>
          <a:p>
            <a:pPr marL="0" indent="0">
              <a:lnSpc>
                <a:spcPct val="150000"/>
              </a:lnSpc>
              <a:buNone/>
            </a:pPr>
            <a:r>
              <a:rPr lang="en-US" dirty="0" smtClean="0">
                <a:latin typeface="Times New Roman" panose="02020603050405020304" pitchFamily="18" charset="0"/>
                <a:cs typeface="Times New Roman" panose="02020603050405020304" pitchFamily="18" charset="0"/>
              </a:rPr>
              <a:t>Nation-al-</a:t>
            </a:r>
            <a:r>
              <a:rPr lang="en-US" u="sng" dirty="0" err="1" smtClean="0">
                <a:latin typeface="Times New Roman" panose="02020603050405020304" pitchFamily="18" charset="0"/>
                <a:cs typeface="Times New Roman" panose="02020603050405020304" pitchFamily="18" charset="0"/>
              </a:rPr>
              <a:t>ize</a:t>
            </a:r>
            <a:r>
              <a:rPr lang="en-US" dirty="0" smtClean="0">
                <a:latin typeface="Times New Roman" panose="02020603050405020304" pitchFamily="18" charset="0"/>
                <a:cs typeface="Times New Roman" panose="02020603050405020304" pitchFamily="18" charset="0"/>
              </a:rPr>
              <a:t> (Verb)</a:t>
            </a:r>
          </a:p>
          <a:p>
            <a:pPr marL="0" indent="0">
              <a:lnSpc>
                <a:spcPct val="150000"/>
              </a:lnSpc>
              <a:buNone/>
            </a:pPr>
            <a:r>
              <a:rPr lang="en-US" dirty="0" smtClean="0">
                <a:latin typeface="Times New Roman" panose="02020603050405020304" pitchFamily="18" charset="0"/>
                <a:cs typeface="Times New Roman" panose="02020603050405020304" pitchFamily="18" charset="0"/>
              </a:rPr>
              <a:t>Nation-al-</a:t>
            </a:r>
            <a:r>
              <a:rPr lang="en-US" dirty="0" err="1" smtClean="0">
                <a:latin typeface="Times New Roman" panose="02020603050405020304" pitchFamily="18" charset="0"/>
                <a:cs typeface="Times New Roman" panose="02020603050405020304" pitchFamily="18" charset="0"/>
              </a:rPr>
              <a:t>iz</a:t>
            </a:r>
            <a:r>
              <a:rPr lang="en-US" dirty="0" smtClean="0">
                <a:latin typeface="Times New Roman" panose="02020603050405020304" pitchFamily="18" charset="0"/>
                <a:cs typeface="Times New Roman" panose="02020603050405020304" pitchFamily="18" charset="0"/>
              </a:rPr>
              <a:t>-</a:t>
            </a:r>
            <a:r>
              <a:rPr lang="en-US" u="sng" dirty="0" err="1" smtClean="0">
                <a:latin typeface="Times New Roman" panose="02020603050405020304" pitchFamily="18" charset="0"/>
                <a:cs typeface="Times New Roman" panose="02020603050405020304" pitchFamily="18" charset="0"/>
              </a:rPr>
              <a:t>ation</a:t>
            </a:r>
            <a:r>
              <a:rPr lang="en-US" dirty="0" smtClean="0">
                <a:latin typeface="Times New Roman" panose="02020603050405020304" pitchFamily="18" charset="0"/>
                <a:cs typeface="Times New Roman" panose="02020603050405020304" pitchFamily="18" charset="0"/>
              </a:rPr>
              <a:t> (Noun)</a:t>
            </a:r>
          </a:p>
          <a:p>
            <a:pPr marL="0" indent="0">
              <a:lnSpc>
                <a:spcPct val="150000"/>
              </a:lnSpc>
              <a:buNone/>
            </a:pPr>
            <a:r>
              <a:rPr lang="en-US" dirty="0" smtClean="0">
                <a:latin typeface="Times New Roman" panose="02020603050405020304" pitchFamily="18" charset="0"/>
                <a:cs typeface="Times New Roman" panose="02020603050405020304" pitchFamily="18" charset="0"/>
              </a:rPr>
              <a:t>Nation-al-</a:t>
            </a:r>
            <a:r>
              <a:rPr lang="en-US" u="sng" dirty="0" smtClean="0">
                <a:latin typeface="Times New Roman" panose="02020603050405020304" pitchFamily="18" charset="0"/>
                <a:cs typeface="Times New Roman" panose="02020603050405020304" pitchFamily="18" charset="0"/>
              </a:rPr>
              <a:t>ism</a:t>
            </a:r>
            <a:r>
              <a:rPr lang="en-US" dirty="0" smtClean="0">
                <a:latin typeface="Times New Roman" panose="02020603050405020304" pitchFamily="18" charset="0"/>
                <a:cs typeface="Times New Roman" panose="02020603050405020304" pitchFamily="18" charset="0"/>
              </a:rPr>
              <a:t> (Noun)</a:t>
            </a:r>
          </a:p>
          <a:p>
            <a:pPr marL="0" indent="0">
              <a:lnSpc>
                <a:spcPct val="150000"/>
              </a:lnSpc>
              <a:buNone/>
            </a:pPr>
            <a:r>
              <a:rPr lang="en-US" u="sng" dirty="0" smtClean="0">
                <a:latin typeface="Times New Roman" panose="02020603050405020304" pitchFamily="18" charset="0"/>
                <a:cs typeface="Times New Roman" panose="02020603050405020304" pitchFamily="18" charset="0"/>
              </a:rPr>
              <a:t>Inter</a:t>
            </a:r>
            <a:r>
              <a:rPr lang="en-US" dirty="0" smtClean="0">
                <a:latin typeface="Times New Roman" panose="02020603050405020304" pitchFamily="18" charset="0"/>
                <a:cs typeface="Times New Roman" panose="02020603050405020304" pitchFamily="18" charset="0"/>
              </a:rPr>
              <a:t>-nation-al-</a:t>
            </a:r>
            <a:r>
              <a:rPr lang="en-US" u="sng" dirty="0" smtClean="0">
                <a:latin typeface="Times New Roman" panose="02020603050405020304" pitchFamily="18" charset="0"/>
                <a:cs typeface="Times New Roman" panose="02020603050405020304" pitchFamily="18" charset="0"/>
              </a:rPr>
              <a:t>ly</a:t>
            </a:r>
            <a:r>
              <a:rPr lang="en-US" dirty="0" smtClean="0">
                <a:latin typeface="Times New Roman" panose="02020603050405020304" pitchFamily="18" charset="0"/>
                <a:cs typeface="Times New Roman" panose="02020603050405020304" pitchFamily="18" charset="0"/>
              </a:rPr>
              <a:t> (Adverb)</a:t>
            </a:r>
          </a:p>
          <a:p>
            <a:pPr marL="0" indent="0">
              <a:buNone/>
            </a:pPr>
            <a:r>
              <a:rPr lang="en-US" sz="2800" b="1" u="sng" dirty="0" smtClean="0"/>
              <a:t> </a:t>
            </a:r>
          </a:p>
        </p:txBody>
      </p:sp>
    </p:spTree>
    <p:extLst>
      <p:ext uri="{BB962C8B-B14F-4D97-AF65-F5344CB8AC3E}">
        <p14:creationId xmlns:p14="http://schemas.microsoft.com/office/powerpoint/2010/main" val="6855022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a:xfrm>
            <a:off x="457200" y="704850"/>
            <a:ext cx="8229600" cy="590550"/>
          </a:xfrm>
        </p:spPr>
        <p:txBody>
          <a:bodyPr/>
          <a:lstStyle/>
          <a:p>
            <a:pPr algn="ctr"/>
            <a:r>
              <a:rPr lang="en-US" altLang="en-US" sz="3000" b="1" dirty="0" smtClean="0">
                <a:solidFill>
                  <a:schemeClr val="tx1"/>
                </a:solidFill>
                <a:latin typeface="Times New Roman" panose="02020603050405020304" pitchFamily="18" charset="0"/>
                <a:cs typeface="Times New Roman" panose="02020603050405020304" pitchFamily="18" charset="0"/>
              </a:rPr>
              <a:t>Locating Base Words</a:t>
            </a:r>
          </a:p>
        </p:txBody>
      </p:sp>
      <p:sp>
        <p:nvSpPr>
          <p:cNvPr id="31747" name="Rectangle 3"/>
          <p:cNvSpPr>
            <a:spLocks noGrp="1"/>
          </p:cNvSpPr>
          <p:nvPr>
            <p:ph type="body" idx="1"/>
          </p:nvPr>
        </p:nvSpPr>
        <p:spPr>
          <a:xfrm>
            <a:off x="457200" y="1524001"/>
            <a:ext cx="8229600" cy="4800600"/>
          </a:xfrm>
        </p:spPr>
        <p:txBody>
          <a:bodyPr/>
          <a:lstStyle/>
          <a:p>
            <a:pPr marL="609600" indent="-609600">
              <a:lnSpc>
                <a:spcPct val="90000"/>
              </a:lnSpc>
            </a:pPr>
            <a:r>
              <a:rPr lang="en-US" altLang="en-US" sz="2400" dirty="0" smtClean="0"/>
              <a:t> </a:t>
            </a:r>
            <a:r>
              <a:rPr lang="en-US" altLang="en-US" sz="2400" dirty="0" smtClean="0">
                <a:latin typeface="Times New Roman" panose="02020603050405020304" pitchFamily="18" charset="0"/>
                <a:cs typeface="Times New Roman" panose="02020603050405020304" pitchFamily="18" charset="0"/>
              </a:rPr>
              <a:t>It is sometimes difficult to locate base word, because   their spellings frequently change when suffixes are added to them. </a:t>
            </a:r>
          </a:p>
          <a:p>
            <a:pPr marL="609600" indent="-609600">
              <a:lnSpc>
                <a:spcPct val="90000"/>
              </a:lnSpc>
            </a:pPr>
            <a:r>
              <a:rPr lang="en-US" altLang="en-US" sz="2400" dirty="0" smtClean="0">
                <a:latin typeface="Times New Roman" panose="02020603050405020304" pitchFamily="18" charset="0"/>
                <a:cs typeface="Times New Roman" panose="02020603050405020304" pitchFamily="18" charset="0"/>
              </a:rPr>
              <a:t>If a base word ends in e, the e may be dropped when a suffix is added to it.</a:t>
            </a:r>
          </a:p>
          <a:p>
            <a:pPr marL="609600" indent="-609600">
              <a:lnSpc>
                <a:spcPct val="90000"/>
              </a:lnSpc>
            </a:pPr>
            <a:r>
              <a:rPr lang="en-US" altLang="en-US" sz="2400" dirty="0" smtClean="0">
                <a:latin typeface="Times New Roman" panose="02020603050405020304" pitchFamily="18" charset="0"/>
                <a:cs typeface="Times New Roman" panose="02020603050405020304" pitchFamily="18" charset="0"/>
              </a:rPr>
              <a:t>	Mature +it y=maturity</a:t>
            </a:r>
          </a:p>
          <a:p>
            <a:pPr marL="609600" indent="-609600">
              <a:lnSpc>
                <a:spcPct val="90000"/>
              </a:lnSpc>
            </a:pPr>
            <a:r>
              <a:rPr lang="en-US" altLang="en-US" sz="2400" dirty="0" smtClean="0">
                <a:latin typeface="Times New Roman" panose="02020603050405020304" pitchFamily="18" charset="0"/>
                <a:cs typeface="Times New Roman" panose="02020603050405020304" pitchFamily="18" charset="0"/>
              </a:rPr>
              <a:t>If a base word ends in y, the y may be changed to </a:t>
            </a:r>
            <a:r>
              <a:rPr lang="en-US" altLang="en-US" sz="2400" dirty="0" err="1" smtClean="0">
                <a:latin typeface="Times New Roman" panose="02020603050405020304" pitchFamily="18" charset="0"/>
                <a:cs typeface="Times New Roman" panose="02020603050405020304" pitchFamily="18" charset="0"/>
              </a:rPr>
              <a:t>i</a:t>
            </a:r>
            <a:r>
              <a:rPr lang="en-US" altLang="en-US" sz="2400" dirty="0" smtClean="0">
                <a:latin typeface="Times New Roman" panose="02020603050405020304" pitchFamily="18" charset="0"/>
                <a:cs typeface="Times New Roman" panose="02020603050405020304" pitchFamily="18" charset="0"/>
              </a:rPr>
              <a:t> ,when a suffix is added to it:</a:t>
            </a:r>
          </a:p>
          <a:p>
            <a:pPr marL="609600" indent="-609600">
              <a:lnSpc>
                <a:spcPct val="90000"/>
              </a:lnSpc>
            </a:pPr>
            <a:r>
              <a:rPr lang="en-US" altLang="en-US" sz="2400" dirty="0" smtClean="0">
                <a:latin typeface="Times New Roman" panose="02020603050405020304" pitchFamily="18" charset="0"/>
                <a:cs typeface="Times New Roman" panose="02020603050405020304" pitchFamily="18" charset="0"/>
              </a:rPr>
              <a:t> harmony +</a:t>
            </a:r>
            <a:r>
              <a:rPr lang="en-US" altLang="en-US" sz="2400" dirty="0" err="1" smtClean="0">
                <a:latin typeface="Times New Roman" panose="02020603050405020304" pitchFamily="18" charset="0"/>
                <a:cs typeface="Times New Roman" panose="02020603050405020304" pitchFamily="18" charset="0"/>
              </a:rPr>
              <a:t>ous</a:t>
            </a:r>
            <a:r>
              <a:rPr lang="en-US" altLang="en-US" sz="2400" dirty="0" smtClean="0">
                <a:latin typeface="Times New Roman" panose="02020603050405020304" pitchFamily="18" charset="0"/>
                <a:cs typeface="Times New Roman" panose="02020603050405020304" pitchFamily="18" charset="0"/>
              </a:rPr>
              <a:t>=harmonious</a:t>
            </a:r>
          </a:p>
          <a:p>
            <a:pPr marL="609600" indent="-609600">
              <a:lnSpc>
                <a:spcPct val="90000"/>
              </a:lnSpc>
            </a:pPr>
            <a:r>
              <a:rPr lang="en-US" altLang="en-US" sz="2400" dirty="0" smtClean="0">
                <a:latin typeface="Times New Roman" panose="02020603050405020304" pitchFamily="18" charset="0"/>
                <a:cs typeface="Times New Roman" panose="02020603050405020304" pitchFamily="18" charset="0"/>
              </a:rPr>
              <a:t>Base words may undergo other spelling changes when suffixes are added to them:</a:t>
            </a:r>
          </a:p>
          <a:p>
            <a:pPr marL="609600" indent="-609600">
              <a:lnSpc>
                <a:spcPct val="90000"/>
              </a:lnSpc>
            </a:pP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reclaim+ation</a:t>
            </a:r>
            <a:r>
              <a:rPr lang="en-US" altLang="en-US" sz="2400" dirty="0" smtClean="0">
                <a:latin typeface="Times New Roman" panose="02020603050405020304" pitchFamily="18" charset="0"/>
                <a:cs typeface="Times New Roman" panose="02020603050405020304" pitchFamily="18" charset="0"/>
              </a:rPr>
              <a:t>=reclamation (the I in reclaim is dropped)</a:t>
            </a:r>
          </a:p>
        </p:txBody>
      </p:sp>
    </p:spTree>
    <p:extLst>
      <p:ext uri="{BB962C8B-B14F-4D97-AF65-F5344CB8AC3E}">
        <p14:creationId xmlns:p14="http://schemas.microsoft.com/office/powerpoint/2010/main" val="7486650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666750"/>
          </a:xfrm>
        </p:spPr>
        <p:txBody>
          <a:bodyPr/>
          <a:lstStyle/>
          <a:p>
            <a:pPr algn="ctr"/>
            <a:r>
              <a:rPr lang="en-US" sz="3000" dirty="0" smtClean="0">
                <a:solidFill>
                  <a:schemeClr val="tx1"/>
                </a:solidFill>
                <a:latin typeface="Times New Roman" panose="02020603050405020304" pitchFamily="18" charset="0"/>
                <a:cs typeface="Times New Roman" panose="02020603050405020304" pitchFamily="18" charset="0"/>
              </a:rPr>
              <a:t>Recap </a:t>
            </a: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lstStyle/>
          <a:p>
            <a:pPr algn="just">
              <a:lnSpc>
                <a:spcPct val="150000"/>
              </a:lnSpc>
            </a:pPr>
            <a:r>
              <a:rPr lang="en-US" sz="2800" dirty="0">
                <a:latin typeface="Times New Roman" panose="02020603050405020304" pitchFamily="18" charset="0"/>
                <a:cs typeface="Times New Roman" panose="02020603050405020304" pitchFamily="18" charset="0"/>
              </a:rPr>
              <a:t>An English word can be divided into three parts: a prefix, a stem and a suffix. </a:t>
            </a:r>
            <a:r>
              <a:rPr lang="en-US" sz="2800" i="1" dirty="0">
                <a:latin typeface="Times New Roman" panose="02020603050405020304" pitchFamily="18" charset="0"/>
                <a:cs typeface="Times New Roman" panose="02020603050405020304" pitchFamily="18" charset="0"/>
              </a:rPr>
              <a:t>Prefix </a:t>
            </a:r>
            <a:r>
              <a:rPr lang="en-US" sz="2800" dirty="0">
                <a:latin typeface="Times New Roman" panose="02020603050405020304" pitchFamily="18" charset="0"/>
                <a:cs typeface="Times New Roman" panose="02020603050405020304" pitchFamily="18" charset="0"/>
              </a:rPr>
              <a:t>is what comes before the stem. A </a:t>
            </a:r>
            <a:r>
              <a:rPr lang="en-US" sz="2800" i="1" dirty="0">
                <a:latin typeface="Times New Roman" panose="02020603050405020304" pitchFamily="18" charset="0"/>
                <a:cs typeface="Times New Roman" panose="02020603050405020304" pitchFamily="18" charset="0"/>
              </a:rPr>
              <a:t>suffix </a:t>
            </a:r>
            <a:r>
              <a:rPr lang="en-US" sz="2800" dirty="0">
                <a:latin typeface="Times New Roman" panose="02020603050405020304" pitchFamily="18" charset="0"/>
                <a:cs typeface="Times New Roman" panose="02020603050405020304" pitchFamily="18" charset="0"/>
              </a:rPr>
              <a:t>is what is attached to the end of the stem. A stem is the root of the word. Both prefixes and suffixes are referred to as </a:t>
            </a:r>
            <a:r>
              <a:rPr lang="en-US" sz="2800" dirty="0" smtClean="0">
                <a:latin typeface="Times New Roman" panose="02020603050405020304" pitchFamily="18" charset="0"/>
                <a:cs typeface="Times New Roman" panose="02020603050405020304" pitchFamily="18" charset="0"/>
              </a:rPr>
              <a:t>Affixes.</a:t>
            </a:r>
          </a:p>
        </p:txBody>
      </p:sp>
    </p:spTree>
    <p:extLst>
      <p:ext uri="{BB962C8B-B14F-4D97-AF65-F5344CB8AC3E}">
        <p14:creationId xmlns:p14="http://schemas.microsoft.com/office/powerpoint/2010/main" val="40063614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p:txBody>
          <a:bodyPr/>
          <a:lstStyle/>
          <a:p>
            <a:pPr marL="0" indent="0">
              <a:buNone/>
            </a:pPr>
            <a:r>
              <a:rPr lang="en-GB" b="1" dirty="0"/>
              <a:t> </a:t>
            </a:r>
            <a:endParaRPr lang="en-GB" b="1" dirty="0" smtClean="0"/>
          </a:p>
          <a:p>
            <a:pPr marL="0" indent="0">
              <a:buNone/>
            </a:pPr>
            <a:endParaRPr lang="en-GB" b="1" u="sng" dirty="0"/>
          </a:p>
          <a:p>
            <a:pPr marL="0" indent="0" algn="ctr">
              <a:buNone/>
            </a:pPr>
            <a:r>
              <a:rPr lang="en-GB" sz="3600" b="1" u="sng" dirty="0" smtClean="0">
                <a:latin typeface="Times New Roman" panose="02020603050405020304" pitchFamily="18" charset="0"/>
                <a:cs typeface="Times New Roman" panose="02020603050405020304" pitchFamily="18" charset="0"/>
              </a:rPr>
              <a:t>Word </a:t>
            </a:r>
            <a:r>
              <a:rPr lang="en-GB" sz="3600" b="1" u="sng" dirty="0">
                <a:latin typeface="Times New Roman" panose="02020603050405020304" pitchFamily="18" charset="0"/>
                <a:cs typeface="Times New Roman" panose="02020603050405020304" pitchFamily="18" charset="0"/>
              </a:rPr>
              <a:t>Formation- Prefixes</a:t>
            </a:r>
            <a:endParaRPr lang="en-US" sz="3600" dirty="0">
              <a:latin typeface="Times New Roman" panose="02020603050405020304" pitchFamily="18" charset="0"/>
              <a:cs typeface="Times New Roman" panose="02020603050405020304" pitchFamily="18" charset="0"/>
            </a:endParaRPr>
          </a:p>
          <a:p>
            <a:pPr marL="0" indent="0" algn="ctr">
              <a:buNone/>
            </a:pPr>
            <a:r>
              <a:rPr lang="en-GB" sz="3600" b="1" u="sng" dirty="0">
                <a:latin typeface="Times New Roman" panose="02020603050405020304" pitchFamily="18" charset="0"/>
                <a:cs typeface="Times New Roman" panose="02020603050405020304" pitchFamily="18" charset="0"/>
              </a:rPr>
              <a:t>Lesson -08</a:t>
            </a:r>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40275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666750"/>
          </a:xfrm>
        </p:spPr>
        <p:txBody>
          <a:bodyPr/>
          <a:lstStyle/>
          <a:p>
            <a:pPr algn="ctr"/>
            <a:r>
              <a:rPr lang="en-US" sz="3000" b="1" dirty="0">
                <a:solidFill>
                  <a:schemeClr val="tx1"/>
                </a:solidFill>
                <a:latin typeface="Times New Roman" panose="02020603050405020304" pitchFamily="18" charset="0"/>
                <a:cs typeface="Times New Roman" panose="02020603050405020304" pitchFamily="18" charset="0"/>
              </a:rPr>
              <a:t>P</a:t>
            </a:r>
            <a:r>
              <a:rPr lang="en-US" sz="3000" b="1" dirty="0" smtClean="0">
                <a:solidFill>
                  <a:schemeClr val="tx1"/>
                </a:solidFill>
                <a:latin typeface="Times New Roman" panose="02020603050405020304" pitchFamily="18" charset="0"/>
                <a:cs typeface="Times New Roman" panose="02020603050405020304" pitchFamily="18" charset="0"/>
              </a:rPr>
              <a:t>refix</a:t>
            </a: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lstStyle/>
          <a:p>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prefix</a:t>
            </a:r>
            <a:r>
              <a:rPr lang="en-US" dirty="0">
                <a:latin typeface="Times New Roman" panose="02020603050405020304" pitchFamily="18" charset="0"/>
                <a:cs typeface="Times New Roman" panose="02020603050405020304" pitchFamily="18" charset="0"/>
              </a:rPr>
              <a:t> is a letter or group of letters that is added to the beginning of a stem/ base word e.g. in</a:t>
            </a:r>
            <a:r>
              <a:rPr lang="en-US" i="1" dirty="0">
                <a:latin typeface="Times New Roman" panose="02020603050405020304" pitchFamily="18" charset="0"/>
                <a:cs typeface="Times New Roman" panose="02020603050405020304" pitchFamily="18" charset="0"/>
              </a:rPr>
              <a:t> untrue </a:t>
            </a:r>
            <a:r>
              <a:rPr lang="en-US" dirty="0">
                <a:latin typeface="Times New Roman" panose="02020603050405020304" pitchFamily="18" charset="0"/>
                <a:cs typeface="Times New Roman" panose="02020603050405020304" pitchFamily="18" charset="0"/>
              </a:rPr>
              <a:t>the prefix is </a:t>
            </a:r>
            <a:r>
              <a:rPr lang="en-US" i="1" dirty="0">
                <a:latin typeface="Times New Roman" panose="02020603050405020304" pitchFamily="18" charset="0"/>
                <a:cs typeface="Times New Roman" panose="02020603050405020304" pitchFamily="18" charset="0"/>
              </a:rPr>
              <a:t>un</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and </a:t>
            </a:r>
            <a:r>
              <a:rPr lang="en-US" dirty="0">
                <a:latin typeface="Times New Roman" panose="02020603050405020304" pitchFamily="18" charset="0"/>
                <a:cs typeface="Times New Roman" panose="02020603050405020304" pitchFamily="18" charset="0"/>
              </a:rPr>
              <a:t>the stem/base word is </a:t>
            </a:r>
            <a:r>
              <a:rPr lang="en-US" i="1" dirty="0">
                <a:latin typeface="Times New Roman" panose="02020603050405020304" pitchFamily="18" charset="0"/>
                <a:cs typeface="Times New Roman" panose="02020603050405020304" pitchFamily="18" charset="0"/>
              </a:rPr>
              <a:t>true. </a:t>
            </a:r>
            <a:endParaRPr lang="en-US" i="1" dirty="0" smtClean="0">
              <a:latin typeface="Times New Roman" panose="02020603050405020304" pitchFamily="18" charset="0"/>
              <a:cs typeface="Times New Roman" panose="02020603050405020304" pitchFamily="18" charset="0"/>
            </a:endParaRPr>
          </a:p>
          <a:p>
            <a:endParaRPr lang="en-US" i="1" dirty="0" smtClean="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They change the meaning of the base word. Un + happy = unhappy Re + do = redo Prefixes </a:t>
            </a:r>
          </a:p>
          <a:p>
            <a:endParaRPr lang="en-US" dirty="0"/>
          </a:p>
        </p:txBody>
      </p:sp>
    </p:spTree>
    <p:extLst>
      <p:ext uri="{BB962C8B-B14F-4D97-AF65-F5344CB8AC3E}">
        <p14:creationId xmlns:p14="http://schemas.microsoft.com/office/powerpoint/2010/main" val="38152144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http://image.slidesharecdn.com/stress-patterns-in-prefixes-1225480763605306-8/95/slide-6-728.jpg?1225473826"/>
          <p:cNvPicPr>
            <a:picLocks noGrp="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p:spPr>
      </p:pic>
    </p:spTree>
    <p:extLst>
      <p:ext uri="{BB962C8B-B14F-4D97-AF65-F5344CB8AC3E}">
        <p14:creationId xmlns:p14="http://schemas.microsoft.com/office/powerpoint/2010/main" val="19928391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http://www.ilmoamal.org/bms/attachments/course_pics/5prefix.suffix.JPG"/>
          <p:cNvPicPr>
            <a:picLocks noGrp="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0" y="-152400"/>
            <a:ext cx="9144000" cy="6857999"/>
          </a:xfrm>
          <a:prstGeom prst="rect">
            <a:avLst/>
          </a:prstGeom>
          <a:noFill/>
          <a:ln>
            <a:noFill/>
          </a:ln>
        </p:spPr>
      </p:pic>
    </p:spTree>
    <p:extLst>
      <p:ext uri="{BB962C8B-B14F-4D97-AF65-F5344CB8AC3E}">
        <p14:creationId xmlns:p14="http://schemas.microsoft.com/office/powerpoint/2010/main" val="32698051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590550"/>
          </a:xfrm>
        </p:spPr>
        <p:txBody>
          <a:bodyPr/>
          <a:lstStyle/>
          <a:p>
            <a:pPr algn="ctr"/>
            <a:r>
              <a:rPr lang="en-GB" sz="3000" b="1" dirty="0">
                <a:solidFill>
                  <a:schemeClr val="tx1"/>
                </a:solidFill>
                <a:latin typeface="Times New Roman" panose="02020603050405020304" pitchFamily="18" charset="0"/>
                <a:cs typeface="Times New Roman" panose="02020603050405020304" pitchFamily="18" charset="0"/>
              </a:rPr>
              <a:t>Synonyms</a:t>
            </a: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457200" y="1524001"/>
            <a:ext cx="8229600" cy="4800600"/>
          </a:xfrm>
        </p:spPr>
        <p:txBody>
          <a:bodyPr>
            <a:normAutofit/>
          </a:bodyPr>
          <a:lstStyle/>
          <a:p>
            <a:pPr marL="0" indent="0" algn="just">
              <a:buNone/>
            </a:pPr>
            <a:r>
              <a:rPr lang="en-GB" b="1" dirty="0">
                <a:latin typeface="Times New Roman" panose="02020603050405020304" pitchFamily="18" charset="0"/>
                <a:cs typeface="Times New Roman" panose="02020603050405020304" pitchFamily="18" charset="0"/>
              </a:rPr>
              <a:t>Synonyms</a:t>
            </a:r>
            <a:r>
              <a:rPr lang="en-GB" dirty="0">
                <a:latin typeface="Times New Roman" panose="02020603050405020304" pitchFamily="18" charset="0"/>
                <a:cs typeface="Times New Roman" panose="02020603050405020304" pitchFamily="18" charset="0"/>
              </a:rPr>
              <a:t> are words that have the same or nearly the same meaning. For example, big large, huge, enormous monumental, gigantic, immense, and colossal are synonyms</a:t>
            </a:r>
            <a:r>
              <a:rPr lang="en-GB" dirty="0" smtClean="0">
                <a:latin typeface="Times New Roman" panose="02020603050405020304" pitchFamily="18" charset="0"/>
                <a:cs typeface="Times New Roman" panose="02020603050405020304" pitchFamily="18" charset="0"/>
              </a:rPr>
              <a:t>.</a:t>
            </a:r>
          </a:p>
          <a:p>
            <a:pPr marL="0" indent="0" algn="just">
              <a:buNone/>
            </a:pPr>
            <a:r>
              <a:rPr lang="en-GB" dirty="0">
                <a:latin typeface="Times New Roman" panose="02020603050405020304" pitchFamily="18" charset="0"/>
                <a:cs typeface="Times New Roman" panose="02020603050405020304" pitchFamily="18" charset="0"/>
              </a:rPr>
              <a:t>Synonyms have two characteristics</a:t>
            </a:r>
            <a:endParaRPr lang="en-GB" dirty="0" smtClean="0">
              <a:latin typeface="Times New Roman" panose="02020603050405020304" pitchFamily="18" charset="0"/>
              <a:cs typeface="Times New Roman" panose="02020603050405020304" pitchFamily="18" charset="0"/>
            </a:endParaRPr>
          </a:p>
          <a:p>
            <a:pPr marL="0" indent="0" algn="just">
              <a:buNone/>
            </a:pPr>
            <a:r>
              <a:rPr lang="en-GB" dirty="0" smtClean="0">
                <a:latin typeface="Times New Roman" panose="02020603050405020304" pitchFamily="18" charset="0"/>
                <a:cs typeface="Times New Roman" panose="02020603050405020304" pitchFamily="18" charset="0"/>
              </a:rPr>
              <a:t>1.Most  </a:t>
            </a:r>
            <a:r>
              <a:rPr lang="en-GB" dirty="0">
                <a:latin typeface="Times New Roman" panose="02020603050405020304" pitchFamily="18" charset="0"/>
                <a:cs typeface="Times New Roman" panose="02020603050405020304" pitchFamily="18" charset="0"/>
              </a:rPr>
              <a:t>synonyms have similar meanings in only</a:t>
            </a:r>
            <a:r>
              <a:rPr lang="en-GB" u="sng" dirty="0">
                <a:latin typeface="Times New Roman" panose="02020603050405020304" pitchFamily="18" charset="0"/>
                <a:cs typeface="Times New Roman" panose="02020603050405020304" pitchFamily="18" charset="0"/>
              </a:rPr>
              <a:t> one</a:t>
            </a:r>
            <a:r>
              <a:rPr lang="en-GB" dirty="0">
                <a:latin typeface="Times New Roman" panose="02020603050405020304" pitchFamily="18" charset="0"/>
                <a:cs typeface="Times New Roman" panose="02020603050405020304" pitchFamily="18" charset="0"/>
              </a:rPr>
              <a:t> of their </a:t>
            </a:r>
            <a:r>
              <a:rPr lang="en-GB" dirty="0" smtClean="0">
                <a:latin typeface="Times New Roman" panose="02020603050405020304" pitchFamily="18" charset="0"/>
                <a:cs typeface="Times New Roman" panose="02020603050405020304" pitchFamily="18" charset="0"/>
              </a:rPr>
              <a:t>senses e.g., </a:t>
            </a:r>
            <a:r>
              <a:rPr lang="en-GB" i="1" dirty="0" smtClean="0">
                <a:latin typeface="Times New Roman" panose="02020603050405020304" pitchFamily="18" charset="0"/>
                <a:cs typeface="Times New Roman" panose="02020603050405020304" pitchFamily="18" charset="0"/>
              </a:rPr>
              <a:t>appropriate </a:t>
            </a:r>
            <a:r>
              <a:rPr lang="en-GB" dirty="0">
                <a:latin typeface="Times New Roman" panose="02020603050405020304" pitchFamily="18" charset="0"/>
                <a:cs typeface="Times New Roman" panose="02020603050405020304" pitchFamily="18" charset="0"/>
              </a:rPr>
              <a:t>and </a:t>
            </a:r>
            <a:r>
              <a:rPr lang="en-GB" u="sng" dirty="0">
                <a:latin typeface="Times New Roman" panose="02020603050405020304" pitchFamily="18" charset="0"/>
                <a:cs typeface="Times New Roman" panose="02020603050405020304" pitchFamily="18" charset="0"/>
              </a:rPr>
              <a:t>apt</a:t>
            </a:r>
            <a:r>
              <a:rPr lang="en-GB" dirty="0">
                <a:latin typeface="Times New Roman" panose="02020603050405020304" pitchFamily="18" charset="0"/>
                <a:cs typeface="Times New Roman" panose="02020603050405020304" pitchFamily="18" charset="0"/>
              </a:rPr>
              <a:t> are synonyms when they are used to indicate that something is </a:t>
            </a:r>
            <a:r>
              <a:rPr lang="en-GB" u="sng" dirty="0">
                <a:latin typeface="Times New Roman" panose="02020603050405020304" pitchFamily="18" charset="0"/>
                <a:cs typeface="Times New Roman" panose="02020603050405020304" pitchFamily="18" charset="0"/>
              </a:rPr>
              <a:t>‘fit’</a:t>
            </a:r>
            <a:r>
              <a:rPr lang="en-GB" dirty="0">
                <a:latin typeface="Times New Roman" panose="02020603050405020304" pitchFamily="18" charset="0"/>
                <a:cs typeface="Times New Roman" panose="02020603050405020304" pitchFamily="18" charset="0"/>
              </a:rPr>
              <a:t> for a specific purpose.</a:t>
            </a:r>
            <a:endParaRPr lang="en-US" dirty="0">
              <a:latin typeface="Times New Roman" panose="02020603050405020304" pitchFamily="18" charset="0"/>
              <a:cs typeface="Times New Roman" panose="02020603050405020304" pitchFamily="18" charset="0"/>
            </a:endParaRPr>
          </a:p>
          <a:p>
            <a:pPr algn="just"/>
            <a:r>
              <a:rPr lang="en-GB" dirty="0">
                <a:latin typeface="Times New Roman" panose="02020603050405020304" pitchFamily="18" charset="0"/>
                <a:cs typeface="Times New Roman" panose="02020603050405020304" pitchFamily="18" charset="0"/>
              </a:rPr>
              <a:t>He made an </a:t>
            </a:r>
            <a:r>
              <a:rPr lang="en-GB" i="1" dirty="0">
                <a:latin typeface="Times New Roman" panose="02020603050405020304" pitchFamily="18" charset="0"/>
                <a:cs typeface="Times New Roman" panose="02020603050405020304" pitchFamily="18" charset="0"/>
              </a:rPr>
              <a:t>appropriate</a:t>
            </a:r>
            <a:r>
              <a:rPr lang="en-GB" dirty="0">
                <a:latin typeface="Times New Roman" panose="02020603050405020304" pitchFamily="18" charset="0"/>
                <a:cs typeface="Times New Roman" panose="02020603050405020304" pitchFamily="18" charset="0"/>
              </a:rPr>
              <a:t> remark</a:t>
            </a:r>
            <a:endParaRPr lang="en-US" dirty="0">
              <a:latin typeface="Times New Roman" panose="02020603050405020304" pitchFamily="18" charset="0"/>
              <a:cs typeface="Times New Roman" panose="02020603050405020304" pitchFamily="18" charset="0"/>
            </a:endParaRPr>
          </a:p>
          <a:p>
            <a:pPr algn="just"/>
            <a:r>
              <a:rPr lang="en-GB" dirty="0">
                <a:latin typeface="Times New Roman" panose="02020603050405020304" pitchFamily="18" charset="0"/>
                <a:cs typeface="Times New Roman" panose="02020603050405020304" pitchFamily="18" charset="0"/>
              </a:rPr>
              <a:t>He made an </a:t>
            </a:r>
            <a:r>
              <a:rPr lang="en-GB" i="1" dirty="0">
                <a:latin typeface="Times New Roman" panose="02020603050405020304" pitchFamily="18" charset="0"/>
                <a:cs typeface="Times New Roman" panose="02020603050405020304" pitchFamily="18" charset="0"/>
              </a:rPr>
              <a:t>apt </a:t>
            </a:r>
            <a:r>
              <a:rPr lang="en-GB" dirty="0">
                <a:latin typeface="Times New Roman" panose="02020603050405020304" pitchFamily="18" charset="0"/>
                <a:cs typeface="Times New Roman" panose="02020603050405020304" pitchFamily="18" charset="0"/>
              </a:rPr>
              <a:t>remark</a:t>
            </a:r>
            <a:endParaRPr lang="en-US" dirty="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9169152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666750"/>
          </a:xfrm>
        </p:spPr>
        <p:txBody>
          <a:bodyPr/>
          <a:lstStyle/>
          <a:p>
            <a:pPr algn="ctr"/>
            <a:r>
              <a:rPr lang="en-GB" sz="3000" b="1" dirty="0">
                <a:solidFill>
                  <a:schemeClr val="tx1"/>
                </a:solidFill>
                <a:latin typeface="Times New Roman" panose="02020603050405020304" pitchFamily="18" charset="0"/>
                <a:cs typeface="Times New Roman" panose="02020603050405020304" pitchFamily="18" charset="0"/>
              </a:rPr>
              <a:t>Synonyms</a:t>
            </a: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457200" y="1600201"/>
            <a:ext cx="8229600" cy="4724400"/>
          </a:xfrm>
        </p:spPr>
        <p:txBody>
          <a:bodyPr/>
          <a:lstStyle/>
          <a:p>
            <a:pPr marL="0" indent="0">
              <a:buNone/>
            </a:pPr>
            <a:r>
              <a:rPr lang="en-GB" dirty="0" smtClean="0">
                <a:latin typeface="Times New Roman" panose="02020603050405020304" pitchFamily="18" charset="0"/>
                <a:cs typeface="Times New Roman" panose="02020603050405020304" pitchFamily="18" charset="0"/>
              </a:rPr>
              <a:t>2.Synonyms </a:t>
            </a:r>
            <a:r>
              <a:rPr lang="en-GB" dirty="0">
                <a:latin typeface="Times New Roman" panose="02020603050405020304" pitchFamily="18" charset="0"/>
                <a:cs typeface="Times New Roman" panose="02020603050405020304" pitchFamily="18" charset="0"/>
              </a:rPr>
              <a:t>often have shades of meaning in addition to </a:t>
            </a:r>
            <a:r>
              <a:rPr lang="en-GB" dirty="0" smtClean="0">
                <a:latin typeface="Times New Roman" panose="02020603050405020304" pitchFamily="18" charset="0"/>
                <a:cs typeface="Times New Roman" panose="02020603050405020304" pitchFamily="18" charset="0"/>
              </a:rPr>
              <a:t>the meaning </a:t>
            </a:r>
            <a:r>
              <a:rPr lang="en-GB" dirty="0">
                <a:latin typeface="Times New Roman" panose="02020603050405020304" pitchFamily="18" charset="0"/>
                <a:cs typeface="Times New Roman" panose="02020603050405020304" pitchFamily="18" charset="0"/>
              </a:rPr>
              <a:t>they share</a:t>
            </a:r>
            <a:r>
              <a:rPr lang="en-GB" dirty="0" smtClean="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a:p>
            <a:pPr algn="just"/>
            <a:r>
              <a:rPr lang="en-GB" dirty="0">
                <a:latin typeface="Times New Roman" panose="02020603050405020304" pitchFamily="18" charset="0"/>
                <a:cs typeface="Times New Roman" panose="02020603050405020304" pitchFamily="18" charset="0"/>
              </a:rPr>
              <a:t> For instance </a:t>
            </a:r>
            <a:r>
              <a:rPr lang="en-GB" i="1" dirty="0">
                <a:latin typeface="Times New Roman" panose="02020603050405020304" pitchFamily="18" charset="0"/>
                <a:cs typeface="Times New Roman" panose="02020603050405020304" pitchFamily="18" charset="0"/>
              </a:rPr>
              <a:t>blame</a:t>
            </a:r>
            <a:r>
              <a:rPr lang="en-GB" dirty="0">
                <a:latin typeface="Times New Roman" panose="02020603050405020304" pitchFamily="18" charset="0"/>
                <a:cs typeface="Times New Roman" panose="02020603050405020304" pitchFamily="18" charset="0"/>
              </a:rPr>
              <a:t> and </a:t>
            </a:r>
            <a:r>
              <a:rPr lang="en-GB" i="1" dirty="0">
                <a:latin typeface="Times New Roman" panose="02020603050405020304" pitchFamily="18" charset="0"/>
                <a:cs typeface="Times New Roman" panose="02020603050405020304" pitchFamily="18" charset="0"/>
              </a:rPr>
              <a:t>denounce</a:t>
            </a:r>
            <a:r>
              <a:rPr lang="en-GB" dirty="0">
                <a:latin typeface="Times New Roman" panose="02020603050405020304" pitchFamily="18" charset="0"/>
                <a:cs typeface="Times New Roman" panose="02020603050405020304" pitchFamily="18" charset="0"/>
              </a:rPr>
              <a:t> are synonyms that refer to the act of making an unfavourable judgement. However, to blame is to fix the responsibility for an error whereas to denounce is to state intense disapproval in public.</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925641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838200"/>
          </a:xfrm>
        </p:spPr>
        <p:txBody>
          <a:bodyPr/>
          <a:lstStyle/>
          <a:p>
            <a:pPr algn="ctr"/>
            <a:r>
              <a:rPr lang="en-GB" b="1" dirty="0" smtClean="0"/>
              <a:t/>
            </a:r>
            <a:br>
              <a:rPr lang="en-GB" b="1" dirty="0" smtClean="0"/>
            </a:br>
            <a:r>
              <a:rPr lang="en-GB" b="1" dirty="0"/>
              <a:t/>
            </a:r>
            <a:br>
              <a:rPr lang="en-GB" b="1" dirty="0"/>
            </a:br>
            <a:r>
              <a:rPr lang="en-US" dirty="0"/>
              <a:t/>
            </a:r>
            <a:br>
              <a:rPr lang="en-US" dirty="0"/>
            </a:br>
            <a:r>
              <a:rPr lang="en-US" sz="3000" dirty="0" smtClean="0">
                <a:solidFill>
                  <a:schemeClr val="tx1"/>
                </a:solidFill>
                <a:latin typeface="Times New Roman" panose="02020603050405020304" pitchFamily="18" charset="0"/>
                <a:cs typeface="Times New Roman" panose="02020603050405020304" pitchFamily="18" charset="0"/>
              </a:rPr>
              <a:t>Recap</a:t>
            </a: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935163"/>
            <a:ext cx="8229600" cy="3475037"/>
          </a:xfrm>
        </p:spPr>
        <p:txBody>
          <a:bodyPr/>
          <a:lstStyle/>
          <a:p>
            <a:endParaRPr lang="en-GB" dirty="0" smtClean="0"/>
          </a:p>
          <a:p>
            <a:r>
              <a:rPr lang="en-GB" sz="2800" dirty="0" smtClean="0">
                <a:latin typeface="Times New Roman" panose="02020603050405020304" pitchFamily="18" charset="0"/>
                <a:cs typeface="Times New Roman" panose="02020603050405020304" pitchFamily="18" charset="0"/>
              </a:rPr>
              <a:t>We </a:t>
            </a:r>
            <a:r>
              <a:rPr lang="en-GB" sz="2800" dirty="0">
                <a:latin typeface="Times New Roman" panose="02020603050405020304" pitchFamily="18" charset="0"/>
                <a:cs typeface="Times New Roman" panose="02020603050405020304" pitchFamily="18" charset="0"/>
              </a:rPr>
              <a:t>have dealt with </a:t>
            </a:r>
            <a:r>
              <a:rPr lang="en-GB" sz="2800" dirty="0" smtClean="0">
                <a:latin typeface="Times New Roman" panose="02020603050405020304" pitchFamily="18" charset="0"/>
                <a:cs typeface="Times New Roman" panose="02020603050405020304" pitchFamily="18" charset="0"/>
              </a:rPr>
              <a:t>“Vocabulary Building” </a:t>
            </a:r>
            <a:r>
              <a:rPr lang="en-GB" sz="2800" dirty="0">
                <a:latin typeface="Times New Roman" panose="02020603050405020304" pitchFamily="18" charset="0"/>
                <a:cs typeface="Times New Roman" panose="02020603050405020304" pitchFamily="18" charset="0"/>
              </a:rPr>
              <a:t>in this lesson by focussing on </a:t>
            </a:r>
            <a:r>
              <a:rPr lang="en-GB" sz="2800" b="1" dirty="0" smtClean="0">
                <a:latin typeface="Times New Roman" panose="02020603050405020304" pitchFamily="18" charset="0"/>
                <a:cs typeface="Times New Roman" panose="02020603050405020304" pitchFamily="18" charset="0"/>
              </a:rPr>
              <a:t>Affixes-Prefixes</a:t>
            </a:r>
            <a:r>
              <a:rPr lang="en-GB"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endParaRPr lang="en-US" dirty="0"/>
          </a:p>
        </p:txBody>
      </p:sp>
      <p:sp>
        <p:nvSpPr>
          <p:cNvPr id="4" name="Rectangle 3"/>
          <p:cNvSpPr/>
          <p:nvPr/>
        </p:nvSpPr>
        <p:spPr>
          <a:xfrm>
            <a:off x="2286000" y="2690336"/>
            <a:ext cx="4572000" cy="369332"/>
          </a:xfrm>
          <a:prstGeom prst="rect">
            <a:avLst/>
          </a:prstGeom>
        </p:spPr>
        <p:txBody>
          <a:bodyPr>
            <a:spAutoFit/>
          </a:bodyPr>
          <a:lstStyle/>
          <a:p>
            <a:r>
              <a:rPr lang="en-GB" dirty="0"/>
              <a:t> </a:t>
            </a:r>
            <a:endParaRPr lang="en-US" dirty="0"/>
          </a:p>
        </p:txBody>
      </p:sp>
    </p:spTree>
    <p:extLst>
      <p:ext uri="{BB962C8B-B14F-4D97-AF65-F5344CB8AC3E}">
        <p14:creationId xmlns:p14="http://schemas.microsoft.com/office/powerpoint/2010/main" val="6237827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gn="ctr">
              <a:buNone/>
            </a:pPr>
            <a:endParaRPr lang="en-US" dirty="0" smtClean="0"/>
          </a:p>
          <a:p>
            <a:pPr marL="0" indent="0" algn="ctr">
              <a:buNone/>
            </a:pPr>
            <a:r>
              <a:rPr lang="en-US" sz="3600" b="1" u="sng" dirty="0" smtClean="0">
                <a:latin typeface="Times New Roman" panose="02020603050405020304" pitchFamily="18" charset="0"/>
                <a:cs typeface="Times New Roman" panose="02020603050405020304" pitchFamily="18" charset="0"/>
              </a:rPr>
              <a:t>Reading</a:t>
            </a:r>
            <a:r>
              <a:rPr lang="en-US" sz="3600" b="1" u="sng" dirty="0">
                <a:latin typeface="Times New Roman" panose="02020603050405020304" pitchFamily="18" charset="0"/>
                <a:cs typeface="Times New Roman" panose="02020603050405020304" pitchFamily="18" charset="0"/>
              </a:rPr>
              <a:t>: Description, Locating Information, Organizing </a:t>
            </a:r>
            <a:r>
              <a:rPr lang="en-US" sz="3600" b="1" u="sng" dirty="0" smtClean="0">
                <a:latin typeface="Times New Roman" panose="02020603050405020304" pitchFamily="18" charset="0"/>
                <a:cs typeface="Times New Roman" panose="02020603050405020304" pitchFamily="18" charset="0"/>
              </a:rPr>
              <a:t>Information</a:t>
            </a:r>
          </a:p>
          <a:p>
            <a:pPr marL="0" indent="0" algn="ctr">
              <a:buNone/>
            </a:pPr>
            <a:endParaRPr lang="en-US" sz="3600" b="1" u="sng" dirty="0" smtClean="0">
              <a:latin typeface="Times New Roman" panose="02020603050405020304" pitchFamily="18" charset="0"/>
              <a:cs typeface="Times New Roman" panose="02020603050405020304" pitchFamily="18" charset="0"/>
            </a:endParaRPr>
          </a:p>
          <a:p>
            <a:pPr marL="0" indent="0" algn="ctr">
              <a:buNone/>
            </a:pPr>
            <a:r>
              <a:rPr lang="en-US" sz="3600" b="1" u="sng" dirty="0" smtClean="0">
                <a:latin typeface="Times New Roman" panose="02020603050405020304" pitchFamily="18" charset="0"/>
                <a:cs typeface="Times New Roman" panose="02020603050405020304" pitchFamily="18" charset="0"/>
              </a:rPr>
              <a:t>Lesson No.09</a:t>
            </a:r>
            <a:endParaRPr lang="en-US" sz="36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800929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819150"/>
          </a:xfrm>
        </p:spPr>
        <p:txBody>
          <a:bodyPr/>
          <a:lstStyle/>
          <a:p>
            <a:pPr algn="ctr"/>
            <a:r>
              <a:rPr lang="en-US" dirty="0" smtClean="0"/>
              <a:t> </a:t>
            </a:r>
            <a:r>
              <a:rPr lang="en-US" sz="3000" b="1" dirty="0" smtClean="0">
                <a:solidFill>
                  <a:schemeClr val="tx1"/>
                </a:solidFill>
                <a:latin typeface="Times New Roman" panose="02020603050405020304" pitchFamily="18" charset="0"/>
                <a:cs typeface="Times New Roman" panose="02020603050405020304" pitchFamily="18" charset="0"/>
              </a:rPr>
              <a:t>Characteristics</a:t>
            </a:r>
            <a:endParaRPr lang="en-US" sz="30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524001"/>
            <a:ext cx="8229600" cy="4800600"/>
          </a:xfrm>
        </p:spPr>
        <p:txBody>
          <a:bodyPr/>
          <a:lstStyle/>
          <a:p>
            <a:r>
              <a:rPr lang="en-US" dirty="0" smtClean="0">
                <a:latin typeface="Times New Roman" panose="02020603050405020304" pitchFamily="18" charset="0"/>
                <a:cs typeface="Times New Roman" panose="02020603050405020304" pitchFamily="18" charset="0"/>
              </a:rPr>
              <a:t>When you read a text about some topic like an article, you need to do the following things to locate some information.</a:t>
            </a:r>
          </a:p>
          <a:p>
            <a:endParaRPr lang="en-US" dirty="0" smtClean="0">
              <a:latin typeface="Times New Roman" panose="02020603050405020304" pitchFamily="18" charset="0"/>
              <a:cs typeface="Times New Roman" panose="02020603050405020304" pitchFamily="18" charset="0"/>
            </a:endParaRPr>
          </a:p>
          <a:p>
            <a:pPr marL="938213" lvl="1" indent="-571500">
              <a:buFont typeface="+mj-lt"/>
              <a:buAutoNum type="romanLcPeriod"/>
            </a:pPr>
            <a:r>
              <a:rPr lang="en-US" sz="2600" i="1" dirty="0">
                <a:latin typeface="Times New Roman" panose="02020603050405020304" pitchFamily="18" charset="0"/>
                <a:cs typeface="Times New Roman" panose="02020603050405020304" pitchFamily="18" charset="0"/>
              </a:rPr>
              <a:t>remember to try and understand the meaning of new words and expressions from the context</a:t>
            </a:r>
            <a:r>
              <a:rPr lang="en-US" sz="2600" i="1" dirty="0" smtClean="0">
                <a:latin typeface="Times New Roman" panose="02020603050405020304" pitchFamily="18" charset="0"/>
                <a:cs typeface="Times New Roman" panose="02020603050405020304" pitchFamily="18" charset="0"/>
              </a:rPr>
              <a:t>.</a:t>
            </a:r>
          </a:p>
          <a:p>
            <a:pPr marL="938213" lvl="1" indent="-571500">
              <a:buFont typeface="+mj-lt"/>
              <a:buAutoNum type="romanLcPeriod"/>
            </a:pPr>
            <a:endParaRPr lang="en-US" sz="2600" i="1" dirty="0" smtClean="0">
              <a:latin typeface="Times New Roman" panose="02020603050405020304" pitchFamily="18" charset="0"/>
              <a:cs typeface="Times New Roman" panose="02020603050405020304" pitchFamily="18" charset="0"/>
            </a:endParaRPr>
          </a:p>
          <a:p>
            <a:pPr marL="938213" lvl="1" indent="-571500">
              <a:buFont typeface="+mj-lt"/>
              <a:buAutoNum type="romanLcPeriod"/>
            </a:pPr>
            <a:r>
              <a:rPr lang="en-US" sz="2600" i="1" dirty="0">
                <a:latin typeface="Times New Roman" panose="02020603050405020304" pitchFamily="18" charset="0"/>
                <a:cs typeface="Times New Roman" panose="02020603050405020304" pitchFamily="18" charset="0"/>
              </a:rPr>
              <a:t>Don</a:t>
            </a:r>
            <a:r>
              <a:rPr lang="en-US" sz="2600" dirty="0">
                <a:latin typeface="Times New Roman" panose="02020603050405020304" pitchFamily="18" charset="0"/>
                <a:cs typeface="Times New Roman" panose="02020603050405020304" pitchFamily="18" charset="0"/>
              </a:rPr>
              <a:t>’</a:t>
            </a:r>
            <a:r>
              <a:rPr lang="en-US" sz="2600" i="1" dirty="0">
                <a:latin typeface="Times New Roman" panose="02020603050405020304" pitchFamily="18" charset="0"/>
                <a:cs typeface="Times New Roman" panose="02020603050405020304" pitchFamily="18" charset="0"/>
              </a:rPr>
              <a:t>t check new words in the dictionary until you have read the whole text.</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10496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1"/>
            <a:ext cx="8229600" cy="5410200"/>
          </a:xfrm>
        </p:spPr>
        <p:txBody>
          <a:bodyPr/>
          <a:lstStyle/>
          <a:p>
            <a:pPr marL="0" indent="0" eaLnBrk="1" hangingPunct="1">
              <a:buFont typeface="Wingdings" pitchFamily="2" charset="2"/>
              <a:buNone/>
              <a:defRPr/>
            </a:pPr>
            <a:r>
              <a:rPr lang="en-US" sz="2800" b="1" dirty="0" smtClean="0">
                <a:latin typeface="Times New Roman" panose="02020603050405020304" pitchFamily="18" charset="0"/>
                <a:cs typeface="Times New Roman" panose="02020603050405020304" pitchFamily="18" charset="0"/>
              </a:rPr>
              <a:t>Context </a:t>
            </a:r>
            <a:r>
              <a:rPr lang="en-US" sz="2800" b="1" dirty="0">
                <a:latin typeface="Times New Roman" panose="02020603050405020304" pitchFamily="18" charset="0"/>
                <a:cs typeface="Times New Roman" panose="02020603050405020304" pitchFamily="18" charset="0"/>
              </a:rPr>
              <a:t>clues used to find word meaning: </a:t>
            </a:r>
            <a:endParaRPr lang="en-US" sz="2800" b="1" dirty="0" smtClean="0">
              <a:latin typeface="Times New Roman" panose="02020603050405020304" pitchFamily="18" charset="0"/>
              <a:cs typeface="Times New Roman" panose="02020603050405020304" pitchFamily="18" charset="0"/>
            </a:endParaRPr>
          </a:p>
          <a:p>
            <a:pPr marL="0" indent="0" eaLnBrk="1" hangingPunct="1">
              <a:buFont typeface="Wingdings" pitchFamily="2" charset="2"/>
              <a:buNone/>
              <a:defRPr/>
            </a:pPr>
            <a:endParaRPr lang="en-US" sz="2800" dirty="0"/>
          </a:p>
          <a:p>
            <a:pPr marL="1189038" lvl="4" indent="0" eaLnBrk="1" hangingPunct="1">
              <a:defRPr/>
            </a:pPr>
            <a:r>
              <a:rPr lang="en-US" sz="2800" dirty="0" smtClean="0">
                <a:latin typeface="Times New Roman" panose="02020603050405020304" pitchFamily="18" charset="0"/>
                <a:cs typeface="Times New Roman" panose="02020603050405020304" pitchFamily="18" charset="0"/>
              </a:rPr>
              <a:t>the </a:t>
            </a:r>
            <a:r>
              <a:rPr lang="en-US" sz="2800" dirty="0">
                <a:latin typeface="Times New Roman" panose="02020603050405020304" pitchFamily="18" charset="0"/>
                <a:cs typeface="Times New Roman" panose="02020603050405020304" pitchFamily="18" charset="0"/>
              </a:rPr>
              <a:t>surrounding text </a:t>
            </a:r>
          </a:p>
          <a:p>
            <a:pPr marL="1189038" lvl="4" indent="0" eaLnBrk="1" hangingPunct="1">
              <a:defRPr/>
            </a:pPr>
            <a:r>
              <a:rPr lang="en-US" sz="2800" dirty="0">
                <a:latin typeface="Times New Roman" panose="02020603050405020304" pitchFamily="18" charset="0"/>
                <a:cs typeface="Times New Roman" panose="02020603050405020304" pitchFamily="18" charset="0"/>
              </a:rPr>
              <a:t>examples of the new word </a:t>
            </a:r>
          </a:p>
          <a:p>
            <a:pPr marL="1189038" lvl="4" indent="0" eaLnBrk="1" hangingPunct="1">
              <a:defRPr/>
            </a:pPr>
            <a:r>
              <a:rPr lang="en-US" sz="2800" dirty="0">
                <a:latin typeface="Times New Roman" panose="02020603050405020304" pitchFamily="18" charset="0"/>
                <a:cs typeface="Times New Roman" panose="02020603050405020304" pitchFamily="18" charset="0"/>
              </a:rPr>
              <a:t>synonyms: a word that means the same as another word </a:t>
            </a:r>
          </a:p>
          <a:p>
            <a:pPr marL="1189038" lvl="4" indent="0" eaLnBrk="1" hangingPunct="1">
              <a:defRPr/>
            </a:pPr>
            <a:r>
              <a:rPr lang="en-US" sz="2800" dirty="0">
                <a:latin typeface="Times New Roman" panose="02020603050405020304" pitchFamily="18" charset="0"/>
                <a:cs typeface="Times New Roman" panose="02020603050405020304" pitchFamily="18" charset="0"/>
              </a:rPr>
              <a:t>antonyms: a word opposite in meaning to another word </a:t>
            </a:r>
          </a:p>
          <a:p>
            <a:endParaRPr lang="en-US" dirty="0"/>
          </a:p>
        </p:txBody>
      </p:sp>
    </p:spTree>
    <p:extLst>
      <p:ext uri="{BB962C8B-B14F-4D97-AF65-F5344CB8AC3E}">
        <p14:creationId xmlns:p14="http://schemas.microsoft.com/office/powerpoint/2010/main" val="220819290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idx="4294967295"/>
          </p:nvPr>
        </p:nvSpPr>
        <p:spPr/>
        <p:txBody>
          <a:bodyPr/>
          <a:lstStyle/>
          <a:p>
            <a:pPr algn="ctr" eaLnBrk="1" hangingPunct="1">
              <a:defRPr/>
            </a:pPr>
            <a:r>
              <a:rPr lang="en-US" sz="3000" b="1" dirty="0" smtClean="0">
                <a:solidFill>
                  <a:schemeClr val="tx1"/>
                </a:solidFill>
                <a:latin typeface="Times New Roman" panose="02020603050405020304" pitchFamily="18" charset="0"/>
                <a:cs typeface="Times New Roman" panose="02020603050405020304" pitchFamily="18" charset="0"/>
              </a:rPr>
              <a:t>Locating Information</a:t>
            </a:r>
            <a:br>
              <a:rPr lang="en-US" sz="3000" b="1" dirty="0" smtClean="0">
                <a:solidFill>
                  <a:schemeClr val="tx1"/>
                </a:solidFill>
                <a:latin typeface="Times New Roman" panose="02020603050405020304" pitchFamily="18" charset="0"/>
                <a:cs typeface="Times New Roman" panose="02020603050405020304" pitchFamily="18" charset="0"/>
              </a:rPr>
            </a:br>
            <a:r>
              <a:rPr lang="en-US" sz="3000" b="1" dirty="0" smtClean="0">
                <a:solidFill>
                  <a:schemeClr val="tx1"/>
                </a:solidFill>
                <a:latin typeface="Times New Roman" panose="02020603050405020304" pitchFamily="18" charset="0"/>
                <a:cs typeface="Times New Roman" panose="02020603050405020304" pitchFamily="18" charset="0"/>
              </a:rPr>
              <a:t>Exercise-1 </a:t>
            </a:r>
            <a:endParaRPr lang="en-US" sz="3000" dirty="0" smtClean="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4294967295"/>
          </p:nvPr>
        </p:nvSpPr>
        <p:spPr>
          <a:xfrm>
            <a:off x="457200" y="2057400"/>
            <a:ext cx="8229600" cy="4389437"/>
          </a:xfrm>
        </p:spPr>
        <p:txBody>
          <a:bodyPr/>
          <a:lstStyle/>
          <a:p>
            <a:pPr marL="0" indent="0" algn="just" eaLnBrk="1" hangingPunct="1">
              <a:buFont typeface="Wingdings" pitchFamily="2" charset="2"/>
              <a:buNone/>
              <a:defRPr/>
            </a:pPr>
            <a:r>
              <a:rPr lang="en-US" sz="2800" b="1" dirty="0" smtClean="0">
                <a:latin typeface="Times New Roman" panose="02020603050405020304" pitchFamily="18" charset="0"/>
                <a:cs typeface="Times New Roman" panose="02020603050405020304" pitchFamily="18" charset="0"/>
              </a:rPr>
              <a:t>Using the surrounding text, choose the meaning of the bold-faced word. </a:t>
            </a:r>
          </a:p>
          <a:p>
            <a:pPr marL="0" indent="0" algn="just" eaLnBrk="1" hangingPunct="1">
              <a:buFont typeface="Wingdings" pitchFamily="2" charset="2"/>
              <a:buNone/>
              <a:defRPr/>
            </a:pPr>
            <a:r>
              <a:rPr lang="en-US" sz="2800" dirty="0" smtClean="0">
                <a:latin typeface="Times New Roman" panose="02020603050405020304" pitchFamily="18" charset="0"/>
                <a:cs typeface="Times New Roman" panose="02020603050405020304" pitchFamily="18" charset="0"/>
              </a:rPr>
              <a:t>On an </a:t>
            </a:r>
            <a:r>
              <a:rPr lang="en-US" sz="2800" b="1" u="sng" dirty="0" smtClean="0">
                <a:latin typeface="Times New Roman" panose="02020603050405020304" pitchFamily="18" charset="0"/>
                <a:cs typeface="Times New Roman" panose="02020603050405020304" pitchFamily="18" charset="0"/>
              </a:rPr>
              <a:t>impulse</a:t>
            </a:r>
            <a:r>
              <a:rPr lang="en-US" sz="2800" dirty="0" smtClean="0">
                <a:latin typeface="Times New Roman" panose="02020603050405020304" pitchFamily="18" charset="0"/>
                <a:cs typeface="Times New Roman" panose="02020603050405020304" pitchFamily="18" charset="0"/>
              </a:rPr>
              <a:t>, Carla bought a lot of merchandise at the store’s “going out of business” sale. She later regretted that she hadn’t planned her purchases more carefully. </a:t>
            </a:r>
          </a:p>
          <a:p>
            <a:pPr marL="0" indent="0" algn="just" eaLnBrk="1" hangingPunct="1">
              <a:buFont typeface="Wingdings" pitchFamily="2" charset="2"/>
              <a:buNone/>
              <a:defRPr/>
            </a:pPr>
            <a:r>
              <a:rPr lang="en-US" sz="2800" dirty="0" smtClean="0">
                <a:latin typeface="Times New Roman" panose="02020603050405020304" pitchFamily="18" charset="0"/>
                <a:cs typeface="Times New Roman" panose="02020603050405020304" pitchFamily="18" charset="0"/>
              </a:rPr>
              <a:t>1. dare </a:t>
            </a:r>
          </a:p>
          <a:p>
            <a:pPr marL="0" indent="0" algn="just" eaLnBrk="1" hangingPunct="1">
              <a:buFont typeface="Wingdings" pitchFamily="2" charset="2"/>
              <a:buNone/>
              <a:defRPr/>
            </a:pPr>
            <a:r>
              <a:rPr lang="en-US" sz="2800" dirty="0" smtClean="0">
                <a:latin typeface="Times New Roman" panose="02020603050405020304" pitchFamily="18" charset="0"/>
                <a:cs typeface="Times New Roman" panose="02020603050405020304" pitchFamily="18" charset="0"/>
              </a:rPr>
              <a:t>2. review </a:t>
            </a:r>
          </a:p>
          <a:p>
            <a:pPr marL="0" indent="0" algn="just" eaLnBrk="1" hangingPunct="1">
              <a:buFont typeface="Wingdings" pitchFamily="2" charset="2"/>
              <a:buNone/>
              <a:defRPr/>
            </a:pPr>
            <a:r>
              <a:rPr lang="en-US" sz="2800" dirty="0" smtClean="0">
                <a:latin typeface="Times New Roman" panose="02020603050405020304" pitchFamily="18" charset="0"/>
                <a:cs typeface="Times New Roman" panose="02020603050405020304" pitchFamily="18" charset="0"/>
              </a:rPr>
              <a:t>3. sudden wish or urge </a:t>
            </a:r>
          </a:p>
          <a:p>
            <a:pPr marL="0" indent="0" eaLnBrk="1" hangingPunct="1">
              <a:defRPr/>
            </a:pPr>
            <a:endParaRPr lang="en-US" dirty="0" smtClean="0">
              <a:latin typeface="Palatino Linotype" pitchFamily="18" charset="0"/>
            </a:endParaRPr>
          </a:p>
        </p:txBody>
      </p:sp>
    </p:spTree>
    <p:extLst>
      <p:ext uri="{BB962C8B-B14F-4D97-AF65-F5344CB8AC3E}">
        <p14:creationId xmlns:p14="http://schemas.microsoft.com/office/powerpoint/2010/main" val="23737246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idx="4294967295"/>
          </p:nvPr>
        </p:nvSpPr>
        <p:spPr/>
        <p:txBody>
          <a:bodyPr/>
          <a:lstStyle/>
          <a:p>
            <a:pPr algn="ctr" eaLnBrk="1" hangingPunct="1">
              <a:defRPr/>
            </a:pPr>
            <a:r>
              <a:rPr lang="en-US" sz="3000" b="1" dirty="0" smtClean="0">
                <a:solidFill>
                  <a:schemeClr val="tx1"/>
                </a:solidFill>
                <a:latin typeface="Times New Roman" panose="02020603050405020304" pitchFamily="18" charset="0"/>
                <a:cs typeface="Times New Roman" panose="02020603050405020304" pitchFamily="18" charset="0"/>
              </a:rPr>
              <a:t>Exercise-2</a:t>
            </a:r>
          </a:p>
        </p:txBody>
      </p:sp>
      <p:sp>
        <p:nvSpPr>
          <p:cNvPr id="6147" name="Content Placeholder 2"/>
          <p:cNvSpPr>
            <a:spLocks noGrp="1"/>
          </p:cNvSpPr>
          <p:nvPr>
            <p:ph idx="4294967295"/>
          </p:nvPr>
        </p:nvSpPr>
        <p:spPr/>
        <p:txBody>
          <a:bodyPr/>
          <a:lstStyle/>
          <a:p>
            <a:pPr marL="0" indent="0" eaLnBrk="1" hangingPunct="1">
              <a:buFont typeface="Wingdings" pitchFamily="2" charset="2"/>
              <a:buNone/>
              <a:defRPr/>
            </a:pPr>
            <a:r>
              <a:rPr lang="en-US" b="1" dirty="0" smtClean="0">
                <a:latin typeface="Times New Roman" panose="02020603050405020304" pitchFamily="18" charset="0"/>
                <a:cs typeface="Times New Roman" panose="02020603050405020304" pitchFamily="18" charset="0"/>
              </a:rPr>
              <a:t>Using the surrounding text, choose the meaning of the bold-faced word. </a:t>
            </a:r>
          </a:p>
          <a:p>
            <a:pPr marL="0" indent="0" eaLnBrk="1" hangingPunct="1">
              <a:buFont typeface="Wingdings" pitchFamily="2" charset="2"/>
              <a:buNone/>
              <a:defRPr/>
            </a:pPr>
            <a:endParaRPr lang="en-US" dirty="0" smtClean="0">
              <a:latin typeface="Times New Roman" panose="02020603050405020304" pitchFamily="18" charset="0"/>
              <a:cs typeface="Times New Roman" panose="02020603050405020304" pitchFamily="18" charset="0"/>
            </a:endParaRPr>
          </a:p>
          <a:p>
            <a:pPr marL="0" indent="0" eaLnBrk="1" hangingPunct="1">
              <a:buFont typeface="Wingdings" pitchFamily="2" charset="2"/>
              <a:buNone/>
              <a:defRPr/>
            </a:pPr>
            <a:r>
              <a:rPr lang="en-US" dirty="0" smtClean="0">
                <a:latin typeface="Times New Roman" panose="02020603050405020304" pitchFamily="18" charset="0"/>
                <a:cs typeface="Times New Roman" panose="02020603050405020304" pitchFamily="18" charset="0"/>
              </a:rPr>
              <a:t>“Mr. Allen,” said the instructor, “please </a:t>
            </a:r>
            <a:r>
              <a:rPr lang="en-US" b="1" u="sng" dirty="0" smtClean="0">
                <a:latin typeface="Times New Roman" panose="02020603050405020304" pitchFamily="18" charset="0"/>
                <a:cs typeface="Times New Roman" panose="02020603050405020304" pitchFamily="18" charset="0"/>
              </a:rPr>
              <a:t>cease</a:t>
            </a:r>
            <a:r>
              <a:rPr lang="en-US" b="1"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cracking your gum in class.” </a:t>
            </a:r>
          </a:p>
          <a:p>
            <a:pPr marL="0" indent="0" eaLnBrk="1" hangingPunct="1">
              <a:buFont typeface="Wingdings" pitchFamily="2" charset="2"/>
              <a:buNone/>
              <a:defRPr/>
            </a:pPr>
            <a:r>
              <a:rPr lang="en-US" dirty="0" smtClean="0">
                <a:latin typeface="Times New Roman" panose="02020603050405020304" pitchFamily="18" charset="0"/>
                <a:cs typeface="Times New Roman" panose="02020603050405020304" pitchFamily="18" charset="0"/>
              </a:rPr>
              <a:t>1. enjoy </a:t>
            </a:r>
          </a:p>
          <a:p>
            <a:pPr marL="0" indent="0" eaLnBrk="1" hangingPunct="1">
              <a:buFont typeface="Wingdings" pitchFamily="2" charset="2"/>
              <a:buNone/>
              <a:defRPr/>
            </a:pPr>
            <a:r>
              <a:rPr lang="en-US" dirty="0" smtClean="0">
                <a:latin typeface="Times New Roman" panose="02020603050405020304" pitchFamily="18" charset="0"/>
                <a:cs typeface="Times New Roman" panose="02020603050405020304" pitchFamily="18" charset="0"/>
              </a:rPr>
              <a:t>2. begin </a:t>
            </a:r>
          </a:p>
          <a:p>
            <a:pPr marL="0" indent="0" eaLnBrk="1" hangingPunct="1">
              <a:buFont typeface="Wingdings" pitchFamily="2" charset="2"/>
              <a:buNone/>
              <a:defRPr/>
            </a:pPr>
            <a:r>
              <a:rPr lang="en-US" dirty="0" smtClean="0">
                <a:latin typeface="Times New Roman" panose="02020603050405020304" pitchFamily="18" charset="0"/>
                <a:cs typeface="Times New Roman" panose="02020603050405020304" pitchFamily="18" charset="0"/>
              </a:rPr>
              <a:t>3. stop </a:t>
            </a:r>
          </a:p>
          <a:p>
            <a:pPr marL="0" indent="0" eaLnBrk="1" hangingPunct="1">
              <a:buFont typeface="Wingdings" pitchFamily="2" charset="2"/>
              <a:buNone/>
              <a:defRPr/>
            </a:pPr>
            <a:endParaRPr lang="en-US" dirty="0" smtClean="0"/>
          </a:p>
        </p:txBody>
      </p:sp>
    </p:spTree>
    <p:extLst>
      <p:ext uri="{BB962C8B-B14F-4D97-AF65-F5344CB8AC3E}">
        <p14:creationId xmlns:p14="http://schemas.microsoft.com/office/powerpoint/2010/main" val="388306582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24580"/>
            <a:ext cx="8382000" cy="523220"/>
          </a:xfrm>
          <a:prstGeom prst="rect">
            <a:avLst/>
          </a:prstGeom>
        </p:spPr>
        <p:txBody>
          <a:bodyPr wrap="square">
            <a:spAutoFit/>
          </a:bodyPr>
          <a:lstStyle/>
          <a:p>
            <a:pPr algn="ctr"/>
            <a:r>
              <a:rPr lang="en-US" sz="2800" b="1" dirty="0">
                <a:latin typeface="Times New Roman" panose="02020603050405020304" pitchFamily="18" charset="0"/>
                <a:cs typeface="Times New Roman" panose="02020603050405020304" pitchFamily="18" charset="0"/>
              </a:rPr>
              <a:t>Organizing Information</a:t>
            </a:r>
            <a:endParaRPr lang="en-US" sz="2800" dirty="0">
              <a:latin typeface="Times New Roman" panose="02020603050405020304" pitchFamily="18" charset="0"/>
              <a:cs typeface="Times New Roman" panose="02020603050405020304" pitchFamily="18" charset="0"/>
            </a:endParaRPr>
          </a:p>
        </p:txBody>
      </p:sp>
      <p:sp>
        <p:nvSpPr>
          <p:cNvPr id="3" name="Content Placeholder 2"/>
          <p:cNvSpPr txBox="1">
            <a:spLocks/>
          </p:cNvSpPr>
          <p:nvPr/>
        </p:nvSpPr>
        <p:spPr bwMode="auto">
          <a:xfrm>
            <a:off x="457200" y="1524001"/>
            <a:ext cx="822960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gn="just">
              <a:lnSpc>
                <a:spcPct val="150000"/>
              </a:lnSpc>
            </a:pPr>
            <a:r>
              <a:rPr lang="en-US" dirty="0">
                <a:latin typeface="Times New Roman" panose="02020603050405020304" pitchFamily="18" charset="0"/>
                <a:cs typeface="Times New Roman" panose="02020603050405020304" pitchFamily="18" charset="0"/>
              </a:rPr>
              <a:t>A paragraph is a group of related sentences that develop an idea. In nearly every paragraph, there is one idea that is more important than others. This idea is called the main idea of the paragraph and is usually found at the beginning of the paragraph</a:t>
            </a:r>
            <a:r>
              <a:rPr lang="en-US" dirty="0" smtClean="0"/>
              <a:t>.</a:t>
            </a:r>
          </a:p>
          <a:p>
            <a:pPr algn="just"/>
            <a:endParaRPr lang="en-US" dirty="0"/>
          </a:p>
          <a:p>
            <a:pPr marL="0" indent="0" algn="just" eaLnBrk="1" hangingPunct="1">
              <a:buFont typeface="Wingdings" pitchFamily="2" charset="2"/>
              <a:buNone/>
              <a:defRPr/>
            </a:pPr>
            <a:endParaRPr lang="en-US" dirty="0" smtClean="0"/>
          </a:p>
        </p:txBody>
      </p:sp>
    </p:spTree>
    <p:extLst>
      <p:ext uri="{BB962C8B-B14F-4D97-AF65-F5344CB8AC3E}">
        <p14:creationId xmlns:p14="http://schemas.microsoft.com/office/powerpoint/2010/main" val="338382914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166843"/>
            <a:ext cx="8153400" cy="4924425"/>
          </a:xfrm>
          <a:prstGeom prst="rect">
            <a:avLst/>
          </a:prstGeom>
        </p:spPr>
        <p:txBody>
          <a:bodyPr wrap="square">
            <a:spAutoFit/>
          </a:bodyPr>
          <a:lstStyle/>
          <a:p>
            <a:pPr algn="ctr"/>
            <a:r>
              <a:rPr lang="en-US" sz="2800" b="1" dirty="0">
                <a:latin typeface="Times New Roman" panose="02020603050405020304" pitchFamily="18" charset="0"/>
                <a:cs typeface="Times New Roman" panose="02020603050405020304" pitchFamily="18" charset="0"/>
              </a:rPr>
              <a:t>Sample </a:t>
            </a:r>
            <a:r>
              <a:rPr lang="en-US" sz="2800" b="1" dirty="0" smtClean="0">
                <a:latin typeface="Times New Roman" panose="02020603050405020304" pitchFamily="18" charset="0"/>
                <a:cs typeface="Times New Roman" panose="02020603050405020304" pitchFamily="18" charset="0"/>
              </a:rPr>
              <a:t>Paragraph</a:t>
            </a:r>
            <a:endParaRPr lang="en-US" sz="2800" dirty="0">
              <a:latin typeface="Times New Roman" panose="02020603050405020304" pitchFamily="18" charset="0"/>
              <a:cs typeface="Times New Roman" panose="02020603050405020304" pitchFamily="18" charset="0"/>
            </a:endParaRPr>
          </a:p>
          <a:p>
            <a:pPr algn="just"/>
            <a:r>
              <a:rPr lang="en-US" sz="2600" b="1" dirty="0">
                <a:latin typeface="Times New Roman" panose="02020603050405020304" pitchFamily="18" charset="0"/>
                <a:cs typeface="Times New Roman" panose="02020603050405020304" pitchFamily="18" charset="0"/>
              </a:rPr>
              <a:t> </a:t>
            </a:r>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It is the incredible speed of computers along with their memory capacity that make them so useful and valuable. Computers can solve problems in a fraction of time. For this reason, they are used in business to keep the record of accounts and airlines, train lines and bus lines use them to keep track of ticket sales. As for memory, modern computers can store information with high accuracy and reliability. A computer can put data into its ‘memory’ and retrieve it in a few millionths of a second. It also has a storage capacity for as many as a million items. </a:t>
            </a:r>
          </a:p>
        </p:txBody>
      </p:sp>
    </p:spTree>
    <p:extLst>
      <p:ext uri="{BB962C8B-B14F-4D97-AF65-F5344CB8AC3E}">
        <p14:creationId xmlns:p14="http://schemas.microsoft.com/office/powerpoint/2010/main" val="163939528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685800"/>
            <a:ext cx="8229600" cy="5693866"/>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If you were to organize this paragraph into its three components, it would look like this:</a:t>
            </a:r>
          </a:p>
          <a:p>
            <a:endParaRPr lang="en-US" sz="2600" dirty="0">
              <a:latin typeface="Times New Roman" panose="02020603050405020304" pitchFamily="18" charset="0"/>
              <a:cs typeface="Times New Roman" panose="02020603050405020304" pitchFamily="18" charset="0"/>
            </a:endParaRPr>
          </a:p>
          <a:p>
            <a:pPr algn="just"/>
            <a:r>
              <a:rPr lang="en-US" sz="2600" b="1" dirty="0">
                <a:latin typeface="Times New Roman" panose="02020603050405020304" pitchFamily="18" charset="0"/>
                <a:cs typeface="Times New Roman" panose="02020603050405020304" pitchFamily="18" charset="0"/>
              </a:rPr>
              <a:t>Main idea:</a:t>
            </a:r>
            <a:r>
              <a:rPr lang="en-US" sz="2600" dirty="0">
                <a:latin typeface="Times New Roman" panose="02020603050405020304" pitchFamily="18" charset="0"/>
                <a:cs typeface="Times New Roman" panose="02020603050405020304" pitchFamily="18" charset="0"/>
              </a:rPr>
              <a:t> It is the incredible speed of computers along with their memory capacity that make them so useful and valuable</a:t>
            </a:r>
          </a:p>
          <a:p>
            <a:pPr algn="just"/>
            <a:r>
              <a:rPr lang="en-US" sz="2600" b="1" dirty="0">
                <a:latin typeface="Times New Roman" panose="02020603050405020304" pitchFamily="18" charset="0"/>
                <a:cs typeface="Times New Roman" panose="02020603050405020304" pitchFamily="18" charset="0"/>
              </a:rPr>
              <a:t>Major details:</a:t>
            </a:r>
            <a:r>
              <a:rPr lang="en-US" sz="2600" dirty="0">
                <a:latin typeface="Times New Roman" panose="02020603050405020304" pitchFamily="18" charset="0"/>
                <a:cs typeface="Times New Roman" panose="02020603050405020304" pitchFamily="18" charset="0"/>
              </a:rPr>
              <a:t> a. Computers can solve problems in a fraction of time </a:t>
            </a:r>
          </a:p>
          <a:p>
            <a:pPr algn="just"/>
            <a:r>
              <a:rPr lang="en-US" sz="2600" dirty="0">
                <a:latin typeface="Times New Roman" panose="02020603050405020304" pitchFamily="18" charset="0"/>
                <a:cs typeface="Times New Roman" panose="02020603050405020304" pitchFamily="18" charset="0"/>
              </a:rPr>
              <a:t>b. As for memory, modern computers can store information with high accuracy and reliability</a:t>
            </a:r>
          </a:p>
          <a:p>
            <a:pPr algn="just"/>
            <a:r>
              <a:rPr lang="en-US" sz="2600" b="1" dirty="0">
                <a:latin typeface="Times New Roman" panose="02020603050405020304" pitchFamily="18" charset="0"/>
                <a:cs typeface="Times New Roman" panose="02020603050405020304" pitchFamily="18" charset="0"/>
              </a:rPr>
              <a:t>Minor Details:</a:t>
            </a:r>
            <a:r>
              <a:rPr lang="en-US" sz="2600" dirty="0">
                <a:latin typeface="Times New Roman" panose="02020603050405020304" pitchFamily="18" charset="0"/>
                <a:cs typeface="Times New Roman" panose="02020603050405020304" pitchFamily="18" charset="0"/>
              </a:rPr>
              <a:t>  a. Computers are used in business to keep their accounts.</a:t>
            </a:r>
          </a:p>
          <a:p>
            <a:pPr algn="just"/>
            <a:r>
              <a:rPr lang="en-US" sz="2600" dirty="0">
                <a:latin typeface="Times New Roman" panose="02020603050405020304" pitchFamily="18" charset="0"/>
                <a:cs typeface="Times New Roman" panose="02020603050405020304" pitchFamily="18" charset="0"/>
              </a:rPr>
              <a:t>b. Airlines train lines bus lines use them to keep track of ticket sales</a:t>
            </a:r>
          </a:p>
        </p:txBody>
      </p:sp>
    </p:spTree>
    <p:extLst>
      <p:ext uri="{BB962C8B-B14F-4D97-AF65-F5344CB8AC3E}">
        <p14:creationId xmlns:p14="http://schemas.microsoft.com/office/powerpoint/2010/main" val="16911780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smtClean="0"/>
          </a:p>
          <a:p>
            <a:pPr marL="0" indent="0" algn="ctr">
              <a:buNone/>
            </a:pPr>
            <a:r>
              <a:rPr lang="en-US" sz="3600" b="1" u="sng" dirty="0"/>
              <a:t>Reading: Word Forms, Contextual </a:t>
            </a:r>
            <a:r>
              <a:rPr lang="en-US" sz="3600" b="1" u="sng" dirty="0" smtClean="0"/>
              <a:t>References</a:t>
            </a:r>
          </a:p>
          <a:p>
            <a:pPr marL="0" indent="0" algn="ctr">
              <a:buNone/>
            </a:pPr>
            <a:r>
              <a:rPr lang="en-US" sz="3600" b="1" u="sng" dirty="0" smtClean="0"/>
              <a:t>Lesson No.10</a:t>
            </a:r>
            <a:endParaRPr lang="en-US" sz="3600" b="1" u="sng" dirty="0"/>
          </a:p>
        </p:txBody>
      </p:sp>
    </p:spTree>
    <p:extLst>
      <p:ext uri="{BB962C8B-B14F-4D97-AF65-F5344CB8AC3E}">
        <p14:creationId xmlns:p14="http://schemas.microsoft.com/office/powerpoint/2010/main" val="397737321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09600"/>
          </a:xfrm>
        </p:spPr>
        <p:txBody>
          <a:bodyPr/>
          <a:lstStyle/>
          <a:p>
            <a:pPr algn="ctr"/>
            <a:r>
              <a:rPr lang="en-US" sz="2800" b="1" dirty="0" smtClean="0">
                <a:solidFill>
                  <a:schemeClr val="tx1"/>
                </a:solidFill>
                <a:latin typeface="Times New Roman" panose="02020603050405020304" pitchFamily="18" charset="0"/>
                <a:cs typeface="Times New Roman" panose="02020603050405020304" pitchFamily="18" charset="0"/>
              </a:rPr>
              <a:t>Words Forms</a:t>
            </a:r>
            <a:endParaRPr lang="en-US" sz="28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143000"/>
            <a:ext cx="8229600" cy="5334000"/>
          </a:xfrm>
        </p:spPr>
        <p:txBody>
          <a:bodyPr/>
          <a:lstStyle/>
          <a:p>
            <a:r>
              <a:rPr lang="en-US" b="1" dirty="0">
                <a:latin typeface="Times New Roman" panose="02020603050405020304" pitchFamily="18" charset="0"/>
                <a:cs typeface="Times New Roman" panose="02020603050405020304" pitchFamily="18" charset="0"/>
              </a:rPr>
              <a:t>First choose the appropriate form of the words to complete the sentences. Then check the differences of meaning in your dictionary. </a:t>
            </a:r>
            <a:endParaRPr lang="en-US" dirty="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measurement</a:t>
            </a:r>
            <a:r>
              <a:rPr lang="en-US" b="1" dirty="0">
                <a:latin typeface="Times New Roman" panose="02020603050405020304" pitchFamily="18" charset="0"/>
                <a:cs typeface="Times New Roman" panose="02020603050405020304" pitchFamily="18" charset="0"/>
              </a:rPr>
              <a:t>, measure, measured, </a:t>
            </a:r>
            <a:r>
              <a:rPr lang="en-US" b="1" dirty="0" smtClean="0">
                <a:latin typeface="Times New Roman" panose="02020603050405020304" pitchFamily="18" charset="0"/>
                <a:cs typeface="Times New Roman" panose="02020603050405020304" pitchFamily="18" charset="0"/>
              </a:rPr>
              <a:t>measurable</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 The analog computer is essentially used for problems is involving ……………</a:t>
            </a:r>
          </a:p>
          <a:p>
            <a:pPr marL="0" indent="0">
              <a:buNone/>
            </a:pPr>
            <a:r>
              <a:rPr lang="en-US" dirty="0" smtClean="0">
                <a:latin typeface="Times New Roman" panose="02020603050405020304" pitchFamily="18" charset="0"/>
                <a:cs typeface="Times New Roman" panose="02020603050405020304" pitchFamily="18" charset="0"/>
              </a:rPr>
              <a:t>b</a:t>
            </a:r>
            <a:r>
              <a:rPr lang="en-US" dirty="0">
                <a:latin typeface="Times New Roman" panose="02020603050405020304" pitchFamily="18" charset="0"/>
                <a:cs typeface="Times New Roman" panose="02020603050405020304" pitchFamily="18" charset="0"/>
              </a:rPr>
              <a:t>. Because computer equipment is often bulky, the area used for a computer installation must be………… out carefully. </a:t>
            </a:r>
          </a:p>
          <a:p>
            <a:pPr marL="0" indent="0">
              <a:buNone/>
            </a:pPr>
            <a:r>
              <a:rPr lang="en-US" dirty="0">
                <a:latin typeface="Times New Roman" panose="02020603050405020304" pitchFamily="18" charset="0"/>
                <a:cs typeface="Times New Roman" panose="02020603050405020304" pitchFamily="18" charset="0"/>
              </a:rPr>
              <a:t>c. The number of employees a computer company has can be seen as a…….. of its success in the business world.</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299177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1"/>
            <a:ext cx="8229600" cy="5410200"/>
          </a:xfrm>
        </p:spPr>
        <p:txBody>
          <a:bodyPr/>
          <a:lstStyle/>
          <a:p>
            <a:r>
              <a:rPr lang="en-US" b="1" dirty="0" smtClean="0">
                <a:latin typeface="Times New Roman" panose="02020603050405020304" pitchFamily="18" charset="0"/>
                <a:cs typeface="Times New Roman" panose="02020603050405020304" pitchFamily="18" charset="0"/>
              </a:rPr>
              <a:t>Answers:</a:t>
            </a:r>
          </a:p>
          <a:p>
            <a:pPr marL="514350" indent="-514350">
              <a:buAutoNum type="alphaLcPeriod"/>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analog computer is essentially used for problems is involving </a:t>
            </a:r>
            <a:r>
              <a:rPr lang="en-US" b="1" u="sng" dirty="0" smtClean="0">
                <a:latin typeface="Times New Roman" panose="02020603050405020304" pitchFamily="18" charset="0"/>
                <a:cs typeface="Times New Roman" panose="02020603050405020304" pitchFamily="18" charset="0"/>
              </a:rPr>
              <a:t>measurement</a:t>
            </a:r>
            <a:r>
              <a:rPr lang="en-US" dirty="0" smtClean="0">
                <a:latin typeface="Times New Roman" panose="02020603050405020304" pitchFamily="18" charset="0"/>
                <a:cs typeface="Times New Roman" panose="02020603050405020304" pitchFamily="18" charset="0"/>
              </a:rPr>
              <a:t>.</a:t>
            </a:r>
          </a:p>
          <a:p>
            <a:pPr marL="514350" indent="-514350">
              <a:buAutoNum type="alphaLcPeriod"/>
            </a:pPr>
            <a:endParaRPr lang="en-US" dirty="0" smtClean="0">
              <a:latin typeface="Times New Roman" panose="02020603050405020304" pitchFamily="18" charset="0"/>
              <a:cs typeface="Times New Roman" panose="02020603050405020304" pitchFamily="18" charset="0"/>
            </a:endParaRPr>
          </a:p>
          <a:p>
            <a:pPr marL="514350" indent="-514350">
              <a:buAutoNum type="alphaLcPeriod"/>
            </a:pPr>
            <a:r>
              <a:rPr lang="en-US" dirty="0" smtClean="0">
                <a:latin typeface="Times New Roman" panose="02020603050405020304" pitchFamily="18" charset="0"/>
                <a:cs typeface="Times New Roman" panose="02020603050405020304" pitchFamily="18" charset="0"/>
              </a:rPr>
              <a:t>b</a:t>
            </a:r>
            <a:r>
              <a:rPr lang="en-US" dirty="0">
                <a:latin typeface="Times New Roman" panose="02020603050405020304" pitchFamily="18" charset="0"/>
                <a:cs typeface="Times New Roman" panose="02020603050405020304" pitchFamily="18" charset="0"/>
              </a:rPr>
              <a:t>. Because computer equipment is often bulky, the area used for a computer </a:t>
            </a:r>
            <a:r>
              <a:rPr lang="en-US" dirty="0" smtClean="0">
                <a:latin typeface="Times New Roman" panose="02020603050405020304" pitchFamily="18" charset="0"/>
                <a:cs typeface="Times New Roman" panose="02020603050405020304" pitchFamily="18" charset="0"/>
              </a:rPr>
              <a:t>installation must be </a:t>
            </a:r>
            <a:r>
              <a:rPr lang="en-US" b="1" u="sng" dirty="0" smtClean="0">
                <a:latin typeface="Times New Roman" panose="02020603050405020304" pitchFamily="18" charset="0"/>
                <a:cs typeface="Times New Roman" panose="02020603050405020304" pitchFamily="18" charset="0"/>
              </a:rPr>
              <a:t>measured</a:t>
            </a:r>
            <a:r>
              <a:rPr lang="en-US" dirty="0" smtClean="0">
                <a:latin typeface="Times New Roman" panose="02020603050405020304" pitchFamily="18" charset="0"/>
                <a:cs typeface="Times New Roman" panose="02020603050405020304" pitchFamily="18" charset="0"/>
              </a:rPr>
              <a:t> out carefully.</a:t>
            </a:r>
          </a:p>
          <a:p>
            <a:pPr marL="514350" indent="-514350">
              <a:buAutoNum type="alphaLcPeriod"/>
            </a:pPr>
            <a:endParaRPr lang="en-US" dirty="0">
              <a:latin typeface="Times New Roman" panose="02020603050405020304" pitchFamily="18" charset="0"/>
              <a:cs typeface="Times New Roman" panose="02020603050405020304" pitchFamily="18" charset="0"/>
            </a:endParaRPr>
          </a:p>
          <a:p>
            <a:pPr marL="514350" indent="-514350">
              <a:buAutoNum type="alphaLcPeriod"/>
            </a:pPr>
            <a:r>
              <a:rPr lang="en-US" dirty="0" smtClean="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number of employees a computer company has can be seen as a </a:t>
            </a:r>
            <a:r>
              <a:rPr lang="en-US" b="1" u="sng" dirty="0" smtClean="0">
                <a:latin typeface="Times New Roman" panose="02020603050405020304" pitchFamily="18" charset="0"/>
                <a:cs typeface="Times New Roman" panose="02020603050405020304" pitchFamily="18" charset="0"/>
              </a:rPr>
              <a:t>measure</a:t>
            </a:r>
            <a:r>
              <a:rPr lang="en-US" dirty="0" smtClean="0">
                <a:latin typeface="Times New Roman" panose="02020603050405020304" pitchFamily="18" charset="0"/>
                <a:cs typeface="Times New Roman" panose="02020603050405020304" pitchFamily="18" charset="0"/>
              </a:rPr>
              <a:t> of </a:t>
            </a:r>
            <a:r>
              <a:rPr lang="en-US" dirty="0">
                <a:latin typeface="Times New Roman" panose="02020603050405020304" pitchFamily="18" charset="0"/>
                <a:cs typeface="Times New Roman" panose="02020603050405020304" pitchFamily="18" charset="0"/>
              </a:rPr>
              <a:t>its success in the business world.</a:t>
            </a:r>
          </a:p>
          <a:p>
            <a:endParaRPr lang="en-US" b="1" dirty="0" smtClean="0"/>
          </a:p>
          <a:p>
            <a:endParaRPr lang="en-US" b="1" dirty="0"/>
          </a:p>
        </p:txBody>
      </p:sp>
    </p:spTree>
    <p:extLst>
      <p:ext uri="{BB962C8B-B14F-4D97-AF65-F5344CB8AC3E}">
        <p14:creationId xmlns:p14="http://schemas.microsoft.com/office/powerpoint/2010/main" val="42300715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514350"/>
          </a:xfrm>
        </p:spPr>
        <p:txBody>
          <a:bodyPr/>
          <a:lstStyle/>
          <a:p>
            <a:pPr algn="ctr"/>
            <a:r>
              <a:rPr lang="en-US" sz="2800" b="1" dirty="0" smtClean="0">
                <a:solidFill>
                  <a:schemeClr val="tx1"/>
                </a:solidFill>
                <a:latin typeface="Times New Roman" panose="02020603050405020304" pitchFamily="18" charset="0"/>
                <a:cs typeface="Times New Roman" panose="02020603050405020304" pitchFamily="18" charset="0"/>
              </a:rPr>
              <a:t>Contextual Reference</a:t>
            </a:r>
            <a:endParaRPr lang="en-US" sz="28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447800"/>
            <a:ext cx="8229600" cy="5105399"/>
          </a:xfrm>
        </p:spPr>
        <p:txBody>
          <a:bodyPr/>
          <a:lstStyle/>
          <a:p>
            <a:pPr marL="571500" indent="-571500">
              <a:buFont typeface="+mj-lt"/>
              <a:buAutoNum type="romanLcPeriod"/>
            </a:pPr>
            <a:r>
              <a:rPr lang="en-US" i="1" dirty="0">
                <a:latin typeface="Times New Roman" panose="02020603050405020304" pitchFamily="18" charset="0"/>
                <a:cs typeface="Times New Roman" panose="02020603050405020304" pitchFamily="18" charset="0"/>
              </a:rPr>
              <a:t>The </a:t>
            </a:r>
            <a:r>
              <a:rPr lang="en-US" i="1" u="sng" dirty="0">
                <a:latin typeface="Times New Roman" panose="02020603050405020304" pitchFamily="18" charset="0"/>
                <a:cs typeface="Times New Roman" panose="02020603050405020304" pitchFamily="18" charset="0"/>
              </a:rPr>
              <a:t>students</a:t>
            </a:r>
            <a:r>
              <a:rPr lang="en-US" i="1" dirty="0">
                <a:latin typeface="Times New Roman" panose="02020603050405020304" pitchFamily="18" charset="0"/>
                <a:cs typeface="Times New Roman" panose="02020603050405020304" pitchFamily="18" charset="0"/>
              </a:rPr>
              <a:t> have spent many hours studying for </a:t>
            </a:r>
            <a:r>
              <a:rPr lang="en-US" i="1" u="sng" dirty="0">
                <a:latin typeface="Times New Roman" panose="02020603050405020304" pitchFamily="18" charset="0"/>
                <a:cs typeface="Times New Roman" panose="02020603050405020304" pitchFamily="18" charset="0"/>
              </a:rPr>
              <a:t>their</a:t>
            </a:r>
            <a:r>
              <a:rPr lang="en-US" i="1" dirty="0">
                <a:latin typeface="Times New Roman" panose="02020603050405020304" pitchFamily="18" charset="0"/>
                <a:cs typeface="Times New Roman" panose="02020603050405020304" pitchFamily="18" charset="0"/>
              </a:rPr>
              <a:t> examinations. </a:t>
            </a:r>
            <a:r>
              <a:rPr lang="en-US" dirty="0">
                <a:latin typeface="Times New Roman" panose="02020603050405020304" pitchFamily="18" charset="0"/>
                <a:cs typeface="Times New Roman" panose="02020603050405020304" pitchFamily="18" charset="0"/>
              </a:rPr>
              <a:t>The antecedent of </a:t>
            </a:r>
            <a:r>
              <a:rPr lang="en-US" i="1" dirty="0">
                <a:latin typeface="Times New Roman" panose="02020603050405020304" pitchFamily="18" charset="0"/>
                <a:cs typeface="Times New Roman" panose="02020603050405020304" pitchFamily="18" charset="0"/>
              </a:rPr>
              <a:t>‘their’</a:t>
            </a:r>
            <a:r>
              <a:rPr lang="en-US" dirty="0">
                <a:latin typeface="Times New Roman" panose="02020603050405020304" pitchFamily="18" charset="0"/>
                <a:cs typeface="Times New Roman" panose="02020603050405020304" pitchFamily="18" charset="0"/>
              </a:rPr>
              <a:t> is </a:t>
            </a:r>
            <a:r>
              <a:rPr lang="en-US" i="1" dirty="0">
                <a:latin typeface="Times New Roman" panose="02020603050405020304" pitchFamily="18" charset="0"/>
                <a:cs typeface="Times New Roman" panose="02020603050405020304" pitchFamily="18" charset="0"/>
              </a:rPr>
              <a:t>‘students</a:t>
            </a:r>
            <a:r>
              <a:rPr lang="en-US" i="1" dirty="0" smtClean="0">
                <a:latin typeface="Times New Roman" panose="02020603050405020304" pitchFamily="18" charset="0"/>
                <a:cs typeface="Times New Roman" panose="02020603050405020304" pitchFamily="18" charset="0"/>
              </a:rPr>
              <a:t>’</a:t>
            </a:r>
            <a:r>
              <a:rPr lang="en-US" dirty="0" smtClean="0">
                <a:latin typeface="Times New Roman" panose="02020603050405020304" pitchFamily="18" charset="0"/>
                <a:cs typeface="Times New Roman" panose="02020603050405020304" pitchFamily="18" charset="0"/>
              </a:rPr>
              <a:t>.</a:t>
            </a:r>
          </a:p>
          <a:p>
            <a:pPr marL="571500" indent="-571500">
              <a:buFont typeface="+mj-lt"/>
              <a:buAutoNum type="romanLcPeriod"/>
            </a:pPr>
            <a:endParaRPr lang="en-US" dirty="0" smtClean="0">
              <a:latin typeface="Times New Roman" panose="02020603050405020304" pitchFamily="18" charset="0"/>
              <a:cs typeface="Times New Roman" panose="02020603050405020304" pitchFamily="18" charset="0"/>
            </a:endParaRPr>
          </a:p>
          <a:p>
            <a:pPr marL="681038" indent="-571500" eaLnBrk="1" hangingPunct="1">
              <a:buFont typeface="+mj-lt"/>
              <a:buAutoNum type="romanLcPeriod"/>
            </a:pPr>
            <a:r>
              <a:rPr lang="en-US" dirty="0" smtClean="0">
                <a:latin typeface="Times New Roman" panose="02020603050405020304" pitchFamily="18" charset="0"/>
                <a:cs typeface="Times New Roman" panose="02020603050405020304" pitchFamily="18" charset="0"/>
              </a:rPr>
              <a:t>Each </a:t>
            </a:r>
            <a:r>
              <a:rPr lang="en-US" dirty="0">
                <a:latin typeface="Times New Roman" panose="02020603050405020304" pitchFamily="18" charset="0"/>
                <a:cs typeface="Times New Roman" panose="02020603050405020304" pitchFamily="18" charset="0"/>
              </a:rPr>
              <a:t>of the wild horses raced for </a:t>
            </a:r>
            <a:r>
              <a:rPr lang="en-US" u="sng" dirty="0">
                <a:latin typeface="Times New Roman" pitchFamily="18" charset="0"/>
                <a:cs typeface="Times New Roman" pitchFamily="18" charset="0"/>
              </a:rPr>
              <a:t>its</a:t>
            </a:r>
            <a:r>
              <a:rPr lang="en-US" dirty="0">
                <a:latin typeface="Times New Roman" pitchFamily="18" charset="0"/>
                <a:cs typeface="Times New Roman" pitchFamily="18" charset="0"/>
              </a:rPr>
              <a:t> freedom</a:t>
            </a:r>
            <a:r>
              <a:rPr lang="en-US" dirty="0" smtClean="0">
                <a:latin typeface="Times New Roman" pitchFamily="18" charset="0"/>
                <a:cs typeface="Times New Roman" pitchFamily="18" charset="0"/>
              </a:rPr>
              <a:t>.</a:t>
            </a:r>
          </a:p>
          <a:p>
            <a:pPr marL="681038" indent="-571500" eaLnBrk="1" hangingPunct="1">
              <a:buFont typeface="+mj-lt"/>
              <a:buAutoNum type="romanLcPeriod"/>
            </a:pPr>
            <a:endParaRPr lang="en-US" dirty="0">
              <a:latin typeface="Times New Roman" pitchFamily="18" charset="0"/>
              <a:cs typeface="Times New Roman" pitchFamily="18" charset="0"/>
            </a:endParaRPr>
          </a:p>
          <a:p>
            <a:pPr marL="681038" indent="-571500" eaLnBrk="1" hangingPunct="1">
              <a:buFont typeface="+mj-lt"/>
              <a:buAutoNum type="romanLcPeriod"/>
            </a:pPr>
            <a:r>
              <a:rPr lang="en-US" dirty="0" smtClean="0">
                <a:latin typeface="Times New Roman" pitchFamily="18" charset="0"/>
                <a:cs typeface="Times New Roman" pitchFamily="18" charset="0"/>
              </a:rPr>
              <a:t>Neither </a:t>
            </a:r>
            <a:r>
              <a:rPr lang="en-US" dirty="0">
                <a:latin typeface="Times New Roman" pitchFamily="18" charset="0"/>
                <a:cs typeface="Times New Roman" pitchFamily="18" charset="0"/>
              </a:rPr>
              <a:t>of my </a:t>
            </a:r>
            <a:r>
              <a:rPr lang="en-US" u="sng" dirty="0">
                <a:latin typeface="Times New Roman" pitchFamily="18" charset="0"/>
                <a:cs typeface="Times New Roman" pitchFamily="18" charset="0"/>
              </a:rPr>
              <a:t>sons</a:t>
            </a:r>
            <a:r>
              <a:rPr lang="en-US" dirty="0">
                <a:latin typeface="Times New Roman" pitchFamily="18" charset="0"/>
                <a:cs typeface="Times New Roman" pitchFamily="18" charset="0"/>
              </a:rPr>
              <a:t> ever feels like cleaning </a:t>
            </a:r>
            <a:r>
              <a:rPr lang="en-US" u="sng" dirty="0">
                <a:latin typeface="Times New Roman" pitchFamily="18" charset="0"/>
                <a:cs typeface="Times New Roman" pitchFamily="18" charset="0"/>
              </a:rPr>
              <a:t>his</a:t>
            </a:r>
            <a:r>
              <a:rPr lang="en-US" dirty="0">
                <a:latin typeface="Times New Roman" panose="02020603050405020304" pitchFamily="18" charset="0"/>
                <a:cs typeface="Times New Roman" panose="02020603050405020304" pitchFamily="18" charset="0"/>
              </a:rPr>
              <a:t> room</a:t>
            </a:r>
            <a:r>
              <a:rPr lang="en-US" dirty="0" smtClean="0">
                <a:latin typeface="Times New Roman" panose="02020603050405020304" pitchFamily="18" charset="0"/>
                <a:cs typeface="Times New Roman" panose="02020603050405020304" pitchFamily="18" charset="0"/>
              </a:rPr>
              <a:t>.</a:t>
            </a:r>
          </a:p>
          <a:p>
            <a:pPr marL="109538" indent="0" eaLnBrk="1" hangingPunct="1">
              <a:buNone/>
            </a:pPr>
            <a:r>
              <a:rPr lang="en-US" dirty="0" smtClean="0">
                <a:latin typeface="Times New Roman" panose="02020603050405020304" pitchFamily="18" charset="0"/>
                <a:cs typeface="Times New Roman" panose="02020603050405020304" pitchFamily="18" charset="0"/>
              </a:rPr>
              <a:t> </a:t>
            </a:r>
          </a:p>
          <a:p>
            <a:pPr marL="681228" indent="-571500" eaLnBrk="1" fontAlgn="auto" hangingPunct="1">
              <a:spcAft>
                <a:spcPts val="0"/>
              </a:spcAft>
              <a:buClr>
                <a:schemeClr val="accent3"/>
              </a:buClr>
              <a:buFont typeface="Wingdings" panose="05000000000000000000" pitchFamily="2" charset="2"/>
              <a:buChar char="§"/>
              <a:defRPr/>
            </a:pPr>
            <a:r>
              <a:rPr lang="en-US" i="1" dirty="0" smtClean="0">
                <a:latin typeface="Times New Roman" panose="02020603050405020304" pitchFamily="18" charset="0"/>
                <a:cs typeface="Times New Roman" panose="02020603050405020304" pitchFamily="18" charset="0"/>
              </a:rPr>
              <a:t>The </a:t>
            </a:r>
            <a:r>
              <a:rPr lang="en-US" i="1" dirty="0">
                <a:latin typeface="Times New Roman" panose="02020603050405020304" pitchFamily="18" charset="0"/>
                <a:cs typeface="Times New Roman" panose="02020603050405020304" pitchFamily="18" charset="0"/>
              </a:rPr>
              <a:t>worst thing about my note writing letters is that you never get any back. </a:t>
            </a:r>
          </a:p>
          <a:p>
            <a:pPr marL="1047941" lvl="1" indent="-571500" eaLnBrk="1" fontAlgn="auto" hangingPunct="1">
              <a:spcAft>
                <a:spcPts val="0"/>
              </a:spcAft>
              <a:buClr>
                <a:schemeClr val="accent3"/>
              </a:buClr>
              <a:buFont typeface="+mj-lt"/>
              <a:buAutoNum type="romanLcPeriod"/>
              <a:defRPr/>
            </a:pPr>
            <a:r>
              <a:rPr lang="en-US" i="1" dirty="0" smtClean="0">
                <a:latin typeface="Times New Roman" panose="02020603050405020304" pitchFamily="18" charset="0"/>
                <a:cs typeface="Times New Roman" panose="02020603050405020304" pitchFamily="18" charset="0"/>
              </a:rPr>
              <a:t>The </a:t>
            </a:r>
            <a:r>
              <a:rPr lang="en-US" i="1" dirty="0">
                <a:latin typeface="Times New Roman" panose="02020603050405020304" pitchFamily="18" charset="0"/>
                <a:cs typeface="Times New Roman" panose="02020603050405020304" pitchFamily="18" charset="0"/>
              </a:rPr>
              <a:t>writer begins with the first person pronoun </a:t>
            </a:r>
            <a:r>
              <a:rPr lang="en-US" i="1" u="sng" dirty="0">
                <a:latin typeface="Times New Roman" panose="02020603050405020304" pitchFamily="18" charset="0"/>
                <a:cs typeface="Times New Roman" panose="02020603050405020304" pitchFamily="18" charset="0"/>
              </a:rPr>
              <a:t>my</a:t>
            </a:r>
            <a:r>
              <a:rPr lang="en-US" i="1" dirty="0">
                <a:latin typeface="Times New Roman" panose="02020603050405020304" pitchFamily="18" charset="0"/>
                <a:cs typeface="Times New Roman" panose="02020603050405020304" pitchFamily="18" charset="0"/>
              </a:rPr>
              <a:t>, but then shifts to the second person pronoun </a:t>
            </a:r>
            <a:r>
              <a:rPr lang="en-US" i="1" u="sng" dirty="0">
                <a:latin typeface="Times New Roman" panose="02020603050405020304" pitchFamily="18" charset="0"/>
                <a:cs typeface="Times New Roman" panose="02020603050405020304" pitchFamily="18" charset="0"/>
              </a:rPr>
              <a:t>you).</a:t>
            </a:r>
            <a:r>
              <a:rPr lang="en-US" i="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109538" indent="0" eaLnBrk="1" hangingPunct="1">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61476440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thanks.bmp"/>
          <p:cNvPicPr>
            <a:picLocks noGrp="1" noChangeAspect="1"/>
          </p:cNvPicPr>
          <p:nvPr>
            <p:ph idx="1"/>
          </p:nvPr>
        </p:nvPicPr>
        <p:blipFill>
          <a:blip r:embed="rId2"/>
          <a:stretch>
            <a:fillRect/>
          </a:stretch>
        </p:blipFill>
        <p:spPr>
          <a:xfrm>
            <a:off x="533400" y="990600"/>
            <a:ext cx="8153399" cy="5410200"/>
          </a:xfrm>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2735</TotalTime>
  <Words>1229</Words>
  <Application>Microsoft Office PowerPoint</Application>
  <PresentationFormat>On-screen Show (4:3)</PresentationFormat>
  <Paragraphs>161</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Flow</vt:lpstr>
      <vt:lpstr>PowerPoint Presentation</vt:lpstr>
      <vt:lpstr> Word Formation: Suffix           Lesson No. 07</vt:lpstr>
      <vt:lpstr> Word Formation</vt:lpstr>
      <vt:lpstr>Word Formation</vt:lpstr>
      <vt:lpstr>               Stem</vt:lpstr>
      <vt:lpstr>PowerPoint Presentation</vt:lpstr>
      <vt:lpstr>PowerPoint Presentation</vt:lpstr>
      <vt:lpstr>PowerPoint Presentation</vt:lpstr>
      <vt:lpstr>Locating Base Words</vt:lpstr>
      <vt:lpstr>Recap </vt:lpstr>
      <vt:lpstr>PowerPoint Presentation</vt:lpstr>
      <vt:lpstr>Prefix</vt:lpstr>
      <vt:lpstr>PowerPoint Presentation</vt:lpstr>
      <vt:lpstr>PowerPoint Presentation</vt:lpstr>
      <vt:lpstr>Synonyms</vt:lpstr>
      <vt:lpstr>Synonyms</vt:lpstr>
      <vt:lpstr>   Recap</vt:lpstr>
      <vt:lpstr>PowerPoint Presentation</vt:lpstr>
      <vt:lpstr> Characteristics</vt:lpstr>
      <vt:lpstr>PowerPoint Presentation</vt:lpstr>
      <vt:lpstr>Locating Information Exercise-1 </vt:lpstr>
      <vt:lpstr>Exercise-2</vt:lpstr>
      <vt:lpstr>PowerPoint Presentation</vt:lpstr>
      <vt:lpstr>PowerPoint Presentation</vt:lpstr>
      <vt:lpstr>PowerPoint Presentation</vt:lpstr>
      <vt:lpstr>PowerPoint Presentation</vt:lpstr>
      <vt:lpstr>Words Forms</vt:lpstr>
      <vt:lpstr>PowerPoint Presentation</vt:lpstr>
      <vt:lpstr>Contextual Reference</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 Session</dc:title>
  <dc:creator>Afshan Asghar</dc:creator>
  <cp:lastModifiedBy>Muhammad Imran</cp:lastModifiedBy>
  <cp:revision>284</cp:revision>
  <cp:lastPrinted>2015-01-30T10:06:46Z</cp:lastPrinted>
  <dcterms:created xsi:type="dcterms:W3CDTF">2014-05-05T06:45:13Z</dcterms:created>
  <dcterms:modified xsi:type="dcterms:W3CDTF">2018-05-08T04:39:51Z</dcterms:modified>
</cp:coreProperties>
</file>